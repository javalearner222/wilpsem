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80" r:id="rId3"/>
    <p:sldMasterId id="2147483687" r:id="rId4"/>
  </p:sldMasterIdLst>
  <p:notesMasterIdLst>
    <p:notesMasterId r:id="rId90"/>
  </p:notesMasterIdLst>
  <p:sldIdLst>
    <p:sldId id="260" r:id="rId5"/>
    <p:sldId id="257" r:id="rId6"/>
    <p:sldId id="312" r:id="rId7"/>
    <p:sldId id="313" r:id="rId8"/>
    <p:sldId id="314" r:id="rId9"/>
    <p:sldId id="315" r:id="rId10"/>
    <p:sldId id="316" r:id="rId11"/>
    <p:sldId id="317" r:id="rId12"/>
    <p:sldId id="318" r:id="rId13"/>
    <p:sldId id="319" r:id="rId14"/>
    <p:sldId id="320" r:id="rId15"/>
    <p:sldId id="321" r:id="rId16"/>
    <p:sldId id="322" r:id="rId17"/>
    <p:sldId id="323" r:id="rId18"/>
    <p:sldId id="270" r:id="rId19"/>
    <p:sldId id="324" r:id="rId20"/>
    <p:sldId id="325" r:id="rId21"/>
    <p:sldId id="326" r:id="rId22"/>
    <p:sldId id="327" r:id="rId23"/>
    <p:sldId id="330" r:id="rId24"/>
    <p:sldId id="331" r:id="rId25"/>
    <p:sldId id="332" r:id="rId26"/>
    <p:sldId id="333" r:id="rId27"/>
    <p:sldId id="334" r:id="rId28"/>
    <p:sldId id="335" r:id="rId29"/>
    <p:sldId id="336" r:id="rId30"/>
    <p:sldId id="337" r:id="rId31"/>
    <p:sldId id="338" r:id="rId32"/>
    <p:sldId id="339" r:id="rId33"/>
    <p:sldId id="340" r:id="rId34"/>
    <p:sldId id="341" r:id="rId35"/>
    <p:sldId id="342" r:id="rId36"/>
    <p:sldId id="343" r:id="rId37"/>
    <p:sldId id="344" r:id="rId38"/>
    <p:sldId id="345" r:id="rId39"/>
    <p:sldId id="346" r:id="rId40"/>
    <p:sldId id="349" r:id="rId41"/>
    <p:sldId id="350" r:id="rId42"/>
    <p:sldId id="351" r:id="rId43"/>
    <p:sldId id="352" r:id="rId44"/>
    <p:sldId id="353" r:id="rId45"/>
    <p:sldId id="354" r:id="rId46"/>
    <p:sldId id="355" r:id="rId47"/>
    <p:sldId id="390" r:id="rId48"/>
    <p:sldId id="465" r:id="rId49"/>
    <p:sldId id="466" r:id="rId50"/>
    <p:sldId id="467" r:id="rId51"/>
    <p:sldId id="468" r:id="rId52"/>
    <p:sldId id="469" r:id="rId53"/>
    <p:sldId id="470" r:id="rId54"/>
    <p:sldId id="397" r:id="rId55"/>
    <p:sldId id="398" r:id="rId56"/>
    <p:sldId id="399" r:id="rId57"/>
    <p:sldId id="357" r:id="rId58"/>
    <p:sldId id="306" r:id="rId59"/>
    <p:sldId id="358" r:id="rId60"/>
    <p:sldId id="307" r:id="rId61"/>
    <p:sldId id="258" r:id="rId62"/>
    <p:sldId id="259" r:id="rId63"/>
    <p:sldId id="396" r:id="rId64"/>
    <p:sldId id="387" r:id="rId65"/>
    <p:sldId id="386" r:id="rId66"/>
    <p:sldId id="388" r:id="rId67"/>
    <p:sldId id="263" r:id="rId68"/>
    <p:sldId id="262" r:id="rId69"/>
    <p:sldId id="264" r:id="rId70"/>
    <p:sldId id="265" r:id="rId71"/>
    <p:sldId id="266" r:id="rId72"/>
    <p:sldId id="274" r:id="rId73"/>
    <p:sldId id="389" r:id="rId74"/>
    <p:sldId id="276" r:id="rId75"/>
    <p:sldId id="277" r:id="rId76"/>
    <p:sldId id="278" r:id="rId77"/>
    <p:sldId id="279" r:id="rId78"/>
    <p:sldId id="280" r:id="rId79"/>
    <p:sldId id="281" r:id="rId80"/>
    <p:sldId id="282" r:id="rId81"/>
    <p:sldId id="395" r:id="rId82"/>
    <p:sldId id="391" r:id="rId83"/>
    <p:sldId id="289" r:id="rId84"/>
    <p:sldId id="455" r:id="rId85"/>
    <p:sldId id="456" r:id="rId86"/>
    <p:sldId id="458" r:id="rId87"/>
    <p:sldId id="460" r:id="rId88"/>
    <p:sldId id="356" r:id="rId8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94660"/>
  </p:normalViewPr>
  <p:slideViewPr>
    <p:cSldViewPr>
      <p:cViewPr varScale="1">
        <p:scale>
          <a:sx n="64" d="100"/>
          <a:sy n="64" d="100"/>
        </p:scale>
        <p:origin x="142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1:06:06.826"/>
    </inkml:context>
    <inkml:brush xml:id="br0">
      <inkml:brushProperty name="width" value="0.05292" units="cm"/>
      <inkml:brushProperty name="height" value="0.05292" units="cm"/>
    </inkml:brush>
  </inkml:definitions>
  <inkml:trace contextRef="#ctx0" brushRef="#br0">3500 7178 868 0,'-12'-4'216'0,"12"4"-10"0,0 0-14 15,-8-6-37-15,0 2 4 0,8 4-11 16,0 0-4-16,-6-7-23 0,1-1-11 15,5 8-33-15,0 0 8 0,0 0-10 16,0 0-13-16,0 0 9 0,0 0 22 0,-8 4 35 16,-1 0-18-16,3 3-12 0,2 3-18 15,4-10-3-15,-7 8-4 0,1 0-19 16,6-8 18-16,0 0 6 0,0 0 8 0,8 10 3 16,-1 0-4-16,10-10-5 0,16 0 0 15,4-6-24-15,3 1-13 0,11-2-2 0,4 0-11 16,4 0 1-16,2-1 34 15,5 1-56-15,0-3-2 0,2 4 0 0,1-1 10 16,4 1 13-16,3 0 22 0,0-2-30 16,4 3 4-16,-1-3-3 0,-3 1-8 0,0 1-4 15,-4 0-24-15,-4 0 31 0,-2 3-3 16,-7-2-1-16,-2 5-9 0,-2-3 0 0,-8 1-5 16,-3 0 20-16,-3 2-17 0,-7 2 2 15,0-2 0-15,-18 2-2 0,5-2-4 0,5 0 32 16,-8-2-11-16,1 0 8 0,-1 2 5 15,-3 0 4-15,-15 0-8 0,15 0 1 16,-1 0-9-16,-14 0 13 0,0 0-1 0,0 0-5 16,16-1-4-16,-2 1-13 0,-14 0 9 15,0 0 3-15,0 0-2 0,0 0-3 0,0 0-7 16,0 0-4-16,0 0-34 16,0 0 36-16,0 0 0 0,0 0-2 0,0 0 0 15,0 0 2-15,0 0 14 0,0 0-28 16,0 0 9-16,0 0-3 0,0 0-4 0,0 0 5 15,0 0 16-15,0 0-26 0,0 0 4 16,0 0 6-16,0 0-2 0,0 0 2 0,0 0-17 16,0 0 17-16,0 0-3 0,0 0 6 15,0 0-2-15,0 0 1 0,0 0-5 0,0 0-40 16,0 0 42-16,0 0 9 0,0 0-2 16,0 0-1-16,0 0-4 0,0 0 18 15,0 0-26-15,0 0 4 0,0 0 2 16,0 0 0-16,0 0-4 0,0 0 3 15,0 0-8-15,0 0 7 0,0 0-3 0,0 0 0 0,0 0-8 16,0 0-10-16,0 0-8 16,0 0-12-16,0 0-4 0,0 0-3 0,0 0-34 15,0 0-54-15,0 0-34 0,0 0-56 16,0 0-52-16,0 0-20 0,0 0-62 0,0 0-68 16,0 0-408-16,0 0-416 0</inkml:trace>
  <inkml:trace contextRef="#ctx0" brushRef="#br0" timeOffset="517.71">5742 7224 923 0,'-13'7'213'15,"13"-7"-1"-15,0 0-55 0,0 0-30 16,0 0-19-16,0 0-20 0,0 0-23 0,0 0-73 16,0 0-47-16,0 0-162 0,-6-6-259 15,-2 1 85-15</inkml:trace>
  <inkml:trace contextRef="#ctx0" brushRef="#br0" timeOffset="3966.35">3328 8022 834 0,'10'-16'240'16,"-10"16"-25"-16,0 0-19 0,0 0-54 15,0 0 22-15,0 0-12 0,0 0-13 0,0 0-9 16,0 0-13-16,0 0 4 0,0 0-29 15,0 0 5-15,0 0-13 0,0 0-15 0,0 0-4 16,0 0 4-16,0 0 15 16,0 0-14-16,0 0-13 0,-5 9 0 0,2 1 2 15,3-10 1-15,0 0 14 0,0 0-22 16,0 0-7-16,0 0-2 0,0 0 0 0,0 0-3 16,0 0-6-16,0 0 6 0,0 0 4 15,0 0-1-15,0 0 0 0,13 7-2 0,-3-2 1 16,5-5-9-16,0 0-6 0,-1 0 0 15,6 2-7-15,3-4 4 0,15 0-5 0,-8-1 44 16,6 0-53-16,7-1-4 0,3 1 3 16,9-1-4-16,2 1 0 0,7 3 11 15,2 0-12-15,1-7 0 0,7 5-60 0,6 4-1 16,-3 2 17-16,2-1 7 16,-4-3 19-16,-3 0-3 0,-7-5 8 0,-7 5 2 15,-3-2 0-15,-4 2 7 0,-7-2 12 16,-3 4-7-16,-5-2 6 0,-4-2 1 0,-5 2 3 15,-12 0-2-15,6 0 38 0,-1-2-45 16,-6 1 1-16,1-2 4 0,-15 3-1 0,15 0 3 16,4 0 15-16,-19 0-16 0,8-3 1 15,2 1 0-15,-10 2 0 0,0 0-4 0,0 0-42 16,0 0 49-16,0 0-3 0,0 0-1 16,0 0-6-16,14 0 2 0,0 2-4 0,-14-2 15 15,0 0-19-15,0 0 4 16,0 0-1-16,0 0-5 0,0 0 4 0,0 0 39 15,0 0-50-15,0 0 0 0,0 0 0 16,0 0-6-16,0 0-33 0,0 0-18 16,0 0-79-16,0 0-59 0,0 0-36 0,0 0-49 15,0 0-107-15,0 0-444 0,-6-8-420 16</inkml:trace>
  <inkml:trace contextRef="#ctx0" brushRef="#br0" timeOffset="4149.64">5210 7945 797 0,'-25'-7'106'15,"25"7"-110"-15,0 0-261 0,0 0 81 16</inkml:trace>
  <inkml:trace contextRef="#ctx0" brushRef="#br0" timeOffset="7116.29">5602 7074 893 0,'0'0'202'0,"0"0"-38"15,0 0-55-15,0 0 1 0,0 0-26 16,0 0-7-16,0 0-9 0,0 0-8 15,0 0-10-15,0 0-3 0,0 0-3 16,0 0-3-16,0 0-5 0,0 0-10 0,0 0 2 16,0 0-13-16,0 0 1 0,0 0-7 15,0 0 2-15,0 0-1 0,0 0-3 0,0 0 3 16,0 0-6-16,0 0-2 0,0 0 1 16,0 0 1-16,0 0-1 0,0 0 7 15,0 0-13-15,0 0-1 0,0 0 5 0,0 0 0 16,0 0 4-16,0 0 13 0,0 0-26 15,0 0 8-15,0 0-6 0,0 0 4 16,0 0-3-16,0 0 1 0,0 0 4 0,0 0-2 16,0 0 0-16,0 0-9 0,0 0-30 15,0 0-27-15,0 0-48 0,0 0-53 16,0 0-86-16,0 0-184 0,0 0 152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BC2109B-72DF-4EC1-80D1-BF11B8731837}" type="datetimeFigureOut">
              <a:rPr lang="en-IN" smtClean="0"/>
              <a:t>28-11-2025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726B1A4-8527-4C6A-86F3-292081682720}" type="slidenum">
              <a:rPr lang="en-IN" smtClean="0"/>
              <a:t>‹#›</a:t>
            </a:fld>
            <a:endParaRPr lang="en-IN"/>
          </a:p>
        </p:txBody>
      </p:sp>
    </p:spTree>
    <p:extLst>
      <p:ext uri="{BB962C8B-B14F-4D97-AF65-F5344CB8AC3E}">
        <p14:creationId xmlns:p14="http://schemas.microsoft.com/office/powerpoint/2010/main" val="2861680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1844f2ff69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g1844f2ff692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BA6DE978-516C-42BD-BF15-9FE2C6AA20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a:extLst>
              <a:ext uri="{FF2B5EF4-FFF2-40B4-BE49-F238E27FC236}">
                <a16:creationId xmlns:a16="http://schemas.microsoft.com/office/drawing/2014/main" id="{832A5681-AF23-48C7-8792-DDA40E9107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4452" name="Slide Number Placeholder 3">
            <a:extLst>
              <a:ext uri="{FF2B5EF4-FFF2-40B4-BE49-F238E27FC236}">
                <a16:creationId xmlns:a16="http://schemas.microsoft.com/office/drawing/2014/main" id="{C66D9C82-0E0E-4981-AAD3-C07428B0C6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AD642F8-FE0D-450D-867E-3D12AE2B6DAC}"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7FF545B4-41E4-45BD-B0DD-19DC8D424B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a:extLst>
              <a:ext uri="{FF2B5EF4-FFF2-40B4-BE49-F238E27FC236}">
                <a16:creationId xmlns:a16="http://schemas.microsoft.com/office/drawing/2014/main" id="{30A3B27E-EEB4-46F2-9488-DFD9A71F4A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6500" name="Slide Number Placeholder 3">
            <a:extLst>
              <a:ext uri="{FF2B5EF4-FFF2-40B4-BE49-F238E27FC236}">
                <a16:creationId xmlns:a16="http://schemas.microsoft.com/office/drawing/2014/main" id="{ED30FBDB-62C7-48E1-80E5-D25E3BF65B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C0DEFFE-5107-4BAC-9BF1-5036D0C71D6D}"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D779A5FB-122E-4AEB-ADDC-BDBCF95735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a:extLst>
              <a:ext uri="{FF2B5EF4-FFF2-40B4-BE49-F238E27FC236}">
                <a16:creationId xmlns:a16="http://schemas.microsoft.com/office/drawing/2014/main" id="{D6B3D044-5025-4C36-8B95-9D1A856E71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8548" name="Slide Number Placeholder 3">
            <a:extLst>
              <a:ext uri="{FF2B5EF4-FFF2-40B4-BE49-F238E27FC236}">
                <a16:creationId xmlns:a16="http://schemas.microsoft.com/office/drawing/2014/main" id="{132DAB76-D11B-4666-886B-6B74D2FC92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A6E03C8-DB8B-42F3-B1EB-EC0C5C683DB7}"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73F7BD7-89F3-4505-BE23-E3A2AD3702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a:extLst>
              <a:ext uri="{FF2B5EF4-FFF2-40B4-BE49-F238E27FC236}">
                <a16:creationId xmlns:a16="http://schemas.microsoft.com/office/drawing/2014/main" id="{53476673-5E43-445A-B2C5-9C648165E0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0596" name="Slide Number Placeholder 3">
            <a:extLst>
              <a:ext uri="{FF2B5EF4-FFF2-40B4-BE49-F238E27FC236}">
                <a16:creationId xmlns:a16="http://schemas.microsoft.com/office/drawing/2014/main" id="{52C77667-3B01-4884-859B-48C2762837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53DED2E-F429-43DB-A69F-F7A215BF248C}"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FFEAA705-D248-4818-856C-AC7EEE9B7A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a:extLst>
              <a:ext uri="{FF2B5EF4-FFF2-40B4-BE49-F238E27FC236}">
                <a16:creationId xmlns:a16="http://schemas.microsoft.com/office/drawing/2014/main" id="{4ACEDA72-EA8F-462C-8182-64AAC21716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44" name="Slide Number Placeholder 3">
            <a:extLst>
              <a:ext uri="{FF2B5EF4-FFF2-40B4-BE49-F238E27FC236}">
                <a16:creationId xmlns:a16="http://schemas.microsoft.com/office/drawing/2014/main" id="{93530A2D-D7BF-4739-9677-2C84B2DA56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2CFBD27-BFF5-4048-BBAA-E2D6C00F01F1}"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258F09E6-508C-4C53-BA68-61D7D7B930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a:extLst>
              <a:ext uri="{FF2B5EF4-FFF2-40B4-BE49-F238E27FC236}">
                <a16:creationId xmlns:a16="http://schemas.microsoft.com/office/drawing/2014/main" id="{71140857-CBDC-4309-ADB1-D66FB745A8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4692" name="Slide Number Placeholder 3">
            <a:extLst>
              <a:ext uri="{FF2B5EF4-FFF2-40B4-BE49-F238E27FC236}">
                <a16:creationId xmlns:a16="http://schemas.microsoft.com/office/drawing/2014/main" id="{81E90611-04AC-41C3-A1EC-9363F33FD2C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0970008-AAB7-4BF2-9CA7-03D4920BAAB4}"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7DD3F237-9C8B-4558-9763-BB867DAD41A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a:extLst>
              <a:ext uri="{FF2B5EF4-FFF2-40B4-BE49-F238E27FC236}">
                <a16:creationId xmlns:a16="http://schemas.microsoft.com/office/drawing/2014/main" id="{36EC2CA0-5801-4209-A8ED-680609AA3F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6740" name="Slide Number Placeholder 3">
            <a:extLst>
              <a:ext uri="{FF2B5EF4-FFF2-40B4-BE49-F238E27FC236}">
                <a16:creationId xmlns:a16="http://schemas.microsoft.com/office/drawing/2014/main" id="{EB132520-5AA9-4814-AA27-EBB84EAD4E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2B1073C-3AAF-4EEB-B018-3A4F99021BFE}"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15A6CC4E-B7F6-442F-8123-B5BE494CE2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a:extLst>
              <a:ext uri="{FF2B5EF4-FFF2-40B4-BE49-F238E27FC236}">
                <a16:creationId xmlns:a16="http://schemas.microsoft.com/office/drawing/2014/main" id="{CDDB7BE0-1C96-4001-9275-AA577EFE05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8788" name="Slide Number Placeholder 3">
            <a:extLst>
              <a:ext uri="{FF2B5EF4-FFF2-40B4-BE49-F238E27FC236}">
                <a16:creationId xmlns:a16="http://schemas.microsoft.com/office/drawing/2014/main" id="{F865477C-21AB-4F00-B5E6-2091E144D9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4D9A417-4A79-487F-ACCC-A356BE570A3E}"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7131D9C3-CADA-4289-89D1-A9C8D0F5DD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a:extLst>
              <a:ext uri="{FF2B5EF4-FFF2-40B4-BE49-F238E27FC236}">
                <a16:creationId xmlns:a16="http://schemas.microsoft.com/office/drawing/2014/main" id="{5F672E87-11F0-4DCE-8AB9-9E6BAD772D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0836" name="Slide Number Placeholder 3">
            <a:extLst>
              <a:ext uri="{FF2B5EF4-FFF2-40B4-BE49-F238E27FC236}">
                <a16:creationId xmlns:a16="http://schemas.microsoft.com/office/drawing/2014/main" id="{0C3B456C-54E8-4DDD-84B4-D3580DECAB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080FFBD-3B4F-426C-A5C5-F974D112D00B}"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D9487E95-DE28-46B8-BF4A-983FA73276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a:extLst>
              <a:ext uri="{FF2B5EF4-FFF2-40B4-BE49-F238E27FC236}">
                <a16:creationId xmlns:a16="http://schemas.microsoft.com/office/drawing/2014/main" id="{2815C659-9C36-43DB-99C9-7E4A3E6E823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2884" name="Slide Number Placeholder 3">
            <a:extLst>
              <a:ext uri="{FF2B5EF4-FFF2-40B4-BE49-F238E27FC236}">
                <a16:creationId xmlns:a16="http://schemas.microsoft.com/office/drawing/2014/main" id="{EDA9DCC8-A7CE-45A4-8180-2851EA2FDA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BF83719-6715-40F1-8442-4956E6F99602}"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4913CF0C-3033-42A2-BEDE-E8B39A9453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0980924-F6DD-4E2A-B8C9-6CA918FF9B6E}"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1986" name="Rectangle 2">
            <a:extLst>
              <a:ext uri="{FF2B5EF4-FFF2-40B4-BE49-F238E27FC236}">
                <a16:creationId xmlns:a16="http://schemas.microsoft.com/office/drawing/2014/main" id="{AE0F5E20-5882-4703-94B3-1166BCD65604}"/>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92806BCD-049A-418E-B059-F7A37AE530B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tx1"/>
                </a:solidFill>
                <a:latin typeface="Calibri"/>
                <a:cs typeface="Calibri"/>
              </a:defRPr>
            </a:lvl1pPr>
          </a:lstStyle>
          <a:p>
            <a:pPr marL="12700">
              <a:lnSpc>
                <a:spcPts val="1240"/>
              </a:lnSpc>
            </a:pPr>
            <a:r>
              <a:rPr spc="-5" dirty="0"/>
              <a:t>Object-Oriented Programming </a:t>
            </a:r>
            <a:r>
              <a:rPr dirty="0"/>
              <a:t>(CS</a:t>
            </a:r>
            <a:r>
              <a:rPr spc="-55" dirty="0"/>
              <a:t> </a:t>
            </a:r>
            <a:r>
              <a:rPr dirty="0"/>
              <a:t>F213)</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400" b="1" i="1">
                <a:solidFill>
                  <a:srgbClr val="FF0000"/>
                </a:solidFill>
                <a:latin typeface="Arial Rounded MT Bold"/>
                <a:cs typeface="Arial Rounded MT Bold"/>
              </a:defRPr>
            </a:lvl1pPr>
          </a:lstStyle>
          <a:p>
            <a:endParaRPr/>
          </a:p>
        </p:txBody>
      </p:sp>
      <p:sp>
        <p:nvSpPr>
          <p:cNvPr id="3" name="Holder 3"/>
          <p:cNvSpPr>
            <a:spLocks noGrp="1"/>
          </p:cNvSpPr>
          <p:nvPr>
            <p:ph type="body" idx="1"/>
          </p:nvPr>
        </p:nvSpPr>
        <p:spPr/>
        <p:txBody>
          <a:bodyPr lIns="0" tIns="0" rIns="0" bIns="0"/>
          <a:lstStyle>
            <a:lvl1pPr>
              <a:defRPr sz="18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tx1"/>
                </a:solidFill>
                <a:latin typeface="Calibri"/>
                <a:cs typeface="Calibri"/>
              </a:defRPr>
            </a:lvl1pPr>
          </a:lstStyle>
          <a:p>
            <a:pPr marL="12700">
              <a:lnSpc>
                <a:spcPts val="1240"/>
              </a:lnSpc>
            </a:pPr>
            <a:r>
              <a:rPr spc="-5" dirty="0"/>
              <a:t>Object-Oriented Programming </a:t>
            </a:r>
            <a:r>
              <a:rPr dirty="0"/>
              <a:t>(CS</a:t>
            </a:r>
            <a:r>
              <a:rPr spc="-55" dirty="0"/>
              <a:t> </a:t>
            </a:r>
            <a:r>
              <a:rPr dirty="0"/>
              <a:t>F213)</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400" b="1" i="1">
                <a:solidFill>
                  <a:srgbClr val="FF0000"/>
                </a:solidFill>
                <a:latin typeface="Arial Rounded MT Bold"/>
                <a:cs typeface="Arial Rounded MT Bold"/>
              </a:defRPr>
            </a:lvl1pPr>
          </a:lstStyle>
          <a:p>
            <a:endParaRPr/>
          </a:p>
        </p:txBody>
      </p:sp>
      <p:sp>
        <p:nvSpPr>
          <p:cNvPr id="3" name="Holder 3"/>
          <p:cNvSpPr>
            <a:spLocks noGrp="1"/>
          </p:cNvSpPr>
          <p:nvPr>
            <p:ph sz="half" idx="2"/>
          </p:nvPr>
        </p:nvSpPr>
        <p:spPr>
          <a:xfrm>
            <a:off x="993444" y="2024633"/>
            <a:ext cx="3533775" cy="4050665"/>
          </a:xfrm>
          <a:prstGeom prst="rect">
            <a:avLst/>
          </a:prstGeom>
        </p:spPr>
        <p:txBody>
          <a:bodyPr wrap="square" lIns="0" tIns="0" rIns="0" bIns="0">
            <a:spAutoFit/>
          </a:bodyPr>
          <a:lstStyle>
            <a:lvl1pPr>
              <a:defRPr sz="1100" b="1" i="0">
                <a:solidFill>
                  <a:schemeClr val="tx1"/>
                </a:solidFill>
                <a:latin typeface="Arial"/>
                <a:cs typeface="Arial"/>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chemeClr val="tx1"/>
                </a:solidFill>
                <a:latin typeface="Calibri"/>
                <a:cs typeface="Calibri"/>
              </a:defRPr>
            </a:lvl1pPr>
          </a:lstStyle>
          <a:p>
            <a:pPr marL="12700">
              <a:lnSpc>
                <a:spcPts val="1240"/>
              </a:lnSpc>
            </a:pPr>
            <a:r>
              <a:rPr spc="-5" dirty="0"/>
              <a:t>Object-Oriented Programming </a:t>
            </a:r>
            <a:r>
              <a:rPr dirty="0"/>
              <a:t>(CS</a:t>
            </a:r>
            <a:r>
              <a:rPr spc="-55" dirty="0"/>
              <a:t> </a:t>
            </a:r>
            <a:r>
              <a:rPr dirty="0"/>
              <a:t>F213)</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7" name="Holder 7"/>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400" b="1" i="1">
                <a:solidFill>
                  <a:srgbClr val="FF0000"/>
                </a:solidFill>
                <a:latin typeface="Arial Rounded MT Bold"/>
                <a:cs typeface="Arial Rounded MT Bold"/>
              </a:defRPr>
            </a:lvl1pPr>
          </a:lstStyle>
          <a:p>
            <a:endParaRPr/>
          </a:p>
        </p:txBody>
      </p:sp>
      <p:sp>
        <p:nvSpPr>
          <p:cNvPr id="3" name="Holder 3"/>
          <p:cNvSpPr>
            <a:spLocks noGrp="1"/>
          </p:cNvSpPr>
          <p:nvPr>
            <p:ph type="ftr" sz="quarter" idx="5"/>
          </p:nvPr>
        </p:nvSpPr>
        <p:spPr/>
        <p:txBody>
          <a:bodyPr lIns="0" tIns="0" rIns="0" bIns="0"/>
          <a:lstStyle>
            <a:lvl1pPr>
              <a:defRPr sz="1200" b="1" i="0">
                <a:solidFill>
                  <a:schemeClr val="tx1"/>
                </a:solidFill>
                <a:latin typeface="Calibri"/>
                <a:cs typeface="Calibri"/>
              </a:defRPr>
            </a:lvl1pPr>
          </a:lstStyle>
          <a:p>
            <a:pPr marL="12700">
              <a:lnSpc>
                <a:spcPts val="1240"/>
              </a:lnSpc>
            </a:pPr>
            <a:r>
              <a:rPr spc="-5" dirty="0"/>
              <a:t>Object-Oriented Programming </a:t>
            </a:r>
            <a:r>
              <a:rPr dirty="0"/>
              <a:t>(CS</a:t>
            </a:r>
            <a:r>
              <a:rPr spc="-55" dirty="0"/>
              <a:t> </a:t>
            </a:r>
            <a:r>
              <a:rPr dirty="0"/>
              <a:t>F213)</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5" name="Holder 5"/>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0" y="3352800"/>
            <a:ext cx="8686800" cy="2743200"/>
          </a:xfrm>
          <a:custGeom>
            <a:avLst/>
            <a:gdLst/>
            <a:ahLst/>
            <a:cxnLst/>
            <a:rect l="l" t="t" r="r" b="b"/>
            <a:pathLst>
              <a:path w="8686800" h="2743200">
                <a:moveTo>
                  <a:pt x="8686800" y="0"/>
                </a:moveTo>
                <a:lnTo>
                  <a:pt x="0" y="0"/>
                </a:lnTo>
                <a:lnTo>
                  <a:pt x="0" y="2743200"/>
                </a:lnTo>
                <a:lnTo>
                  <a:pt x="8686800" y="2743200"/>
                </a:lnTo>
                <a:lnTo>
                  <a:pt x="8686800" y="0"/>
                </a:lnTo>
                <a:close/>
              </a:path>
            </a:pathLst>
          </a:custGeom>
          <a:solidFill>
            <a:srgbClr val="0F1141"/>
          </a:solidFill>
        </p:spPr>
        <p:txBody>
          <a:bodyPr wrap="square" lIns="0" tIns="0" rIns="0" bIns="0" rtlCol="0"/>
          <a:lstStyle/>
          <a:p>
            <a:endParaRPr/>
          </a:p>
        </p:txBody>
      </p:sp>
      <p:sp>
        <p:nvSpPr>
          <p:cNvPr id="18" name="bg object 18"/>
          <p:cNvSpPr/>
          <p:nvPr/>
        </p:nvSpPr>
        <p:spPr>
          <a:xfrm>
            <a:off x="28956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a:p>
        </p:txBody>
      </p:sp>
      <p:sp>
        <p:nvSpPr>
          <p:cNvPr id="19" name="bg object 19"/>
          <p:cNvSpPr/>
          <p:nvPr/>
        </p:nvSpPr>
        <p:spPr>
          <a:xfrm>
            <a:off x="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a:p>
        </p:txBody>
      </p:sp>
      <p:sp>
        <p:nvSpPr>
          <p:cNvPr id="20" name="bg object 20"/>
          <p:cNvSpPr/>
          <p:nvPr/>
        </p:nvSpPr>
        <p:spPr>
          <a:xfrm>
            <a:off x="57912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a:p>
        </p:txBody>
      </p:sp>
      <p:sp>
        <p:nvSpPr>
          <p:cNvPr id="21" name="bg object 21"/>
          <p:cNvSpPr/>
          <p:nvPr/>
        </p:nvSpPr>
        <p:spPr>
          <a:xfrm>
            <a:off x="76200" y="3352800"/>
            <a:ext cx="2057400" cy="1979676"/>
          </a:xfrm>
          <a:prstGeom prst="rect">
            <a:avLst/>
          </a:prstGeom>
          <a:blipFill>
            <a:blip r:embed="rId3"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1" i="0">
                <a:solidFill>
                  <a:schemeClr val="tx1"/>
                </a:solidFill>
                <a:latin typeface="Calibri"/>
                <a:cs typeface="Calibri"/>
              </a:defRPr>
            </a:lvl1pPr>
          </a:lstStyle>
          <a:p>
            <a:pPr marL="12700">
              <a:lnSpc>
                <a:spcPts val="1240"/>
              </a:lnSpc>
            </a:pPr>
            <a:r>
              <a:rPr spc="-5" dirty="0"/>
              <a:t>Object-Oriented Programming </a:t>
            </a:r>
            <a:r>
              <a:rPr dirty="0"/>
              <a:t>(CS</a:t>
            </a:r>
            <a:r>
              <a:rPr spc="-55" dirty="0"/>
              <a:t> </a:t>
            </a:r>
            <a:r>
              <a:rPr dirty="0"/>
              <a:t>F213)</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4" name="Holder 4"/>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D2F31-780F-3A93-06B8-81691B353FA3}"/>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6D57CB00-7FF9-018D-63BA-6CE43676366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C95BF1C1-F1FB-495F-1048-F7510A605982}"/>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F21EF4D-330A-BD41-2F92-F56FD1C471E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5428B64-9414-24E0-E067-A150ECF38FB8}"/>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8B793E7D-86AA-0696-CCC5-DBFD48D69F9A}"/>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CE3D1701-5331-1104-1924-B0AC3960320A}"/>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ctr">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75246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89698F-2BE9-74C4-A2E8-CE611F808D01}"/>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BA7083BB-0576-B56A-821C-5FEC97FBBC17}"/>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6A1780D-E7FC-95E5-FE39-A3283677569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17E8558-DFE4-4633-F75E-7973D2DFB05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90D22DD-2F4E-9DF2-C1FD-09BA0B74F161}"/>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D62C0FF4-9075-0615-AA8D-B1196F49DA77}"/>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6FFF3C7B-7D78-2778-7694-EC45A2F7EB97}"/>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439572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BCF791C7-726C-8E84-7872-FE8AA4CA732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2EC83615-E269-8423-8AED-FA69FEB4E61E}"/>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3A68D957-DEBF-B80F-BB4D-BA95EA6BE98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E290557-CDDE-5E5E-B3F1-8DDCEAB73E3B}"/>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590930B-2914-848E-2956-D7E8E668B025}"/>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0EFB1FAB-481A-6DC1-718D-D6CD52A0CE74}"/>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794BB935-79E0-9C77-FC1A-E90584166384}"/>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1C9835B-E329-CF53-A671-86B6991C3A46}"/>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78677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9962B3-B0FA-7ACB-BADB-8C57F5828D3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4" name="Group 11">
            <a:extLst>
              <a:ext uri="{FF2B5EF4-FFF2-40B4-BE49-F238E27FC236}">
                <a16:creationId xmlns:a16="http://schemas.microsoft.com/office/drawing/2014/main" id="{5A3F60FF-DADB-3FEB-DE6F-68A49F44F898}"/>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9389637-2014-8CAB-512B-0402228D156A}"/>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9D2CC9D-345F-A820-148F-29D7E5066271}"/>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AD358C06-5B3D-4FDB-A844-BA3824C76E6F}"/>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DAE63506-FE50-D6BE-6090-E475C08B004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7BA044BF-32D7-F6A5-B7BF-7EF7936F8ACA}"/>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68C9D937-1399-BF58-F9BD-3465295B0B7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6C6DEC7-0688-AEE3-A278-C1C64362AA6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8758B83-0390-FB5F-7200-67A20822452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BA87D3C-A073-531F-A1C7-535ACADB7BE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3E17A165-FD08-B408-49A1-0191125871E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3A7B3042-44AF-3E9F-B665-08523455027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6DF3BA92-E294-2A4F-E315-3BB25773AD2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10933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768DD7B-FCF9-C3C3-F51E-F73F817B8C8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06EFEB7A-C6DC-C8F2-B099-A93E788E9C7B}"/>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2C135F59-CF4B-63CF-E4E6-E8D36EE483F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034883A-BAD3-2416-7778-C9EFC9666E2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2E056742-0E35-6ED2-BA18-C5D4821E6EB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C8706305-4A7B-9D21-D29B-48100022BD86}"/>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1FDA4114-157C-BDA1-0A07-D6A79DD316A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BEBF9E64-F97A-4CB8-E325-8723FFFC33D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805994CF-9984-7C66-E6FC-6BD42AA824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70268226-22F3-DEA7-D141-02B3785E5A8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14931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9164FA94-BCAD-057A-427E-965529451B2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91E9B8F7-5671-7D86-C56F-0F2D0178B2D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FE6CF87F-D6CC-87FB-A40F-2AA2D171BF3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06E1A3F-7A69-9FFC-7210-03B9CB6387B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602ED944-785E-2D42-438A-AC8FCB731B9D}"/>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B84269D8-F709-50C0-2B19-9F9B5A5506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A35D7C33-AFB2-7DF2-0F04-6E9E67B6D8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851D8A46-8D93-FA10-043B-EE60B601F63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3" descr="Picture 7.png">
            <a:extLst>
              <a:ext uri="{FF2B5EF4-FFF2-40B4-BE49-F238E27FC236}">
                <a16:creationId xmlns:a16="http://schemas.microsoft.com/office/drawing/2014/main" id="{6E005737-8205-E040-1BE4-7A9395D9701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AB5F34AA-3A58-E825-FDB3-AEFD14C5A80E}"/>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30680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A3D3F42-0D36-DFF9-0EB5-6371E8229B4A}"/>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190D3E31-89D1-2457-D73F-478FA2B5AEA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D379A579-F031-6A8D-A252-B6A953B92F6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D4CC4CA-F073-0A30-74A2-B7A1C4288FD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8F84F4BF-B44D-2C28-F81F-5C53A65ED015}"/>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42125B84-B2B8-DD21-ADD2-3DCCE8DB4C9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7F814E11-055E-7DF7-0D85-39EB67962CA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73F09244-8093-6D3E-00EC-AB9D6B40585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C9378DDA-09BD-66A0-DBF2-3A8AE287B81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2D0CC58-7B2A-FA7C-9F38-0474081480E2}"/>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78496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8765FB91-C32C-21B8-C8F8-F1C32ACEA29C}"/>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35155572-0C9B-4A98-6C86-DD4696E81B1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65695AD-D8D1-44BA-7030-B5F4DA1787F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CC50E30-90A8-67FF-40E0-C6B1A7D77DC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563219FC-BF31-A7EF-590F-380743CC31CA}"/>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E6CA1FF-3819-8BD1-163B-0E25900BF14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87F2347-EBA9-1866-58AC-4ECCC76275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7F80CC5-4402-ACB1-4EDF-604C9EC5415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95DF0734-E45E-E908-0705-1006F060799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4E1FD027-02F2-F1B4-BD56-46D38483DEC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5008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092EEAC6-00EC-650D-4B04-55F7D9F2E2A9}"/>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CDCBADFB-A57D-5D14-D37E-1D3B79F3CDB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9F8B2E83-010B-8C67-EE90-2CB1E797C6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3D18854-1B0D-6021-6365-20E94A1B4D1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A9D01C2B-0153-0B55-CB8C-98F390AA9233}"/>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20219917-48AD-E0B5-5F38-1E1723A22A7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28E1DE18-14E5-66E5-D9E4-FA526D24034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7224B2F3-38D2-BABA-81F8-937A8837ABB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7ECBE88E-FC10-D75B-0B8A-8FC59D53C83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8E4FA241-7380-5CE4-E223-22740E3FB88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17425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35E1E351-2F0E-8BA1-7E11-D2FD7AB06755}"/>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88C45386-1DAC-B685-49DA-FDDD80DB9EC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C36B6BA-C270-7D4B-759E-023E13139E7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FBF6EDC-084A-EBCE-4645-978681553CD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DAC62562-50D7-C2BE-89B8-C0652435446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81881FB1-95E1-E85A-DBA3-329248E5591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81C33162-69E6-8E4F-BFC0-D582B513E4C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5E717241-0DC5-5B2F-767D-1F59757C407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DAFFA84F-FA16-6763-4D10-D4B19DD3BB5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751FAF1B-F753-BEFB-BD65-CEBEC925EB5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93075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EE48EF3E-DE87-0E87-971A-A50A357F9AEC}"/>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A03734C1-F40F-B99A-E7D7-8175CEBB6B63}"/>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3E900D06-AB1D-2DEE-7C87-7C0EB1A6902C}"/>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3D517F8-3D5A-5BD3-A731-7D3356A9B9D8}"/>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4B372EFE-F5E3-3B17-55DB-B550703E5D2D}"/>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39213C5-2D83-9E32-6A36-8B9D6D7032AA}"/>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900" b="1">
                <a:solidFill>
                  <a:srgbClr val="101141"/>
                </a:solidFill>
                <a:cs typeface="Arial" charset="0"/>
              </a:rPr>
              <a:t>BITS </a:t>
            </a:r>
            <a:r>
              <a:rPr lang="en-US" sz="900">
                <a:solidFill>
                  <a:srgbClr val="101141"/>
                </a:solidFill>
                <a:cs typeface="Arial" charset="0"/>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722116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94E4E3-3BAF-6A6A-4FCD-A07199BDC5AA}"/>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4" name="Group 11">
            <a:extLst>
              <a:ext uri="{FF2B5EF4-FFF2-40B4-BE49-F238E27FC236}">
                <a16:creationId xmlns:a16="http://schemas.microsoft.com/office/drawing/2014/main" id="{1E1E98AC-F8D3-F1C9-D1A2-B498A39C3DC8}"/>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2F71EA6-E530-C4B1-3F8C-0596D144A64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9FBA980-A763-DF18-E68C-2423EF4A3FE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F804117-B3D0-C494-57B6-22F50CA9F6C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ECFC12DC-C0A3-8076-285F-3B336499C6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5F0EC896-BE6B-ABE6-B155-F0DB12EC810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F9FDEDFA-BBA1-7B1D-DE25-DCE801622B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406043E-B4CA-4A24-A33B-626548D6B15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3D3751B9-4180-9DA9-BC8E-9ADD437B6AF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60F296D-4DF1-0EDD-D9A5-C42BDEA82CB2}"/>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F6BE085E-8FA1-DF4F-B886-B6EA78983C6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8ADAD0B0-1C80-C500-A21B-AB5214F8E32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C9945315-FD6C-FEDA-3890-480BC3A5F92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21" name="Title 20"/>
          <p:cNvSpPr>
            <a:spLocks noGrp="1"/>
          </p:cNvSpPr>
          <p:nvPr>
            <p:ph type="title"/>
          </p:nvPr>
        </p:nvSpPr>
        <p:spPr/>
        <p:txBody>
          <a:bodyPr/>
          <a:lstStyle/>
          <a:p>
            <a:r>
              <a:rPr lang="en-US"/>
              <a:t>Click to edit Master title style</a:t>
            </a:r>
          </a:p>
        </p:txBody>
      </p:sp>
      <p:sp>
        <p:nvSpPr>
          <p:cNvPr id="17" name="Date Placeholder 17">
            <a:extLst>
              <a:ext uri="{FF2B5EF4-FFF2-40B4-BE49-F238E27FC236}">
                <a16:creationId xmlns:a16="http://schemas.microsoft.com/office/drawing/2014/main" id="{3EC6D0CC-3E5A-9F30-8239-7D3811F523D1}"/>
              </a:ext>
            </a:extLst>
          </p:cNvPr>
          <p:cNvSpPr>
            <a:spLocks noGrp="1"/>
          </p:cNvSpPr>
          <p:nvPr>
            <p:ph type="dt" sz="half" idx="11"/>
          </p:nvPr>
        </p:nvSpPr>
        <p:spPr/>
        <p:txBody>
          <a:bodyPr/>
          <a:lstStyle>
            <a:lvl1pPr>
              <a:defRPr/>
            </a:lvl1pPr>
          </a:lstStyle>
          <a:p>
            <a:pPr>
              <a:defRPr/>
            </a:pPr>
            <a:endParaRPr lang="en-US"/>
          </a:p>
        </p:txBody>
      </p:sp>
      <p:sp>
        <p:nvSpPr>
          <p:cNvPr id="18" name="Slide Number Placeholder 18">
            <a:extLst>
              <a:ext uri="{FF2B5EF4-FFF2-40B4-BE49-F238E27FC236}">
                <a16:creationId xmlns:a16="http://schemas.microsoft.com/office/drawing/2014/main" id="{EBEFDC80-A374-65D6-3A66-367A465663A2}"/>
              </a:ext>
            </a:extLst>
          </p:cNvPr>
          <p:cNvSpPr>
            <a:spLocks noGrp="1"/>
          </p:cNvSpPr>
          <p:nvPr>
            <p:ph type="sldNum" sz="quarter" idx="12"/>
          </p:nvPr>
        </p:nvSpPr>
        <p:spPr/>
        <p:txBody>
          <a:bodyPr/>
          <a:lstStyle>
            <a:lvl1pPr>
              <a:defRPr/>
            </a:lvl1pPr>
          </a:lstStyle>
          <a:p>
            <a:pPr>
              <a:defRPr/>
            </a:pPr>
            <a:fld id="{B824DBDA-2CA4-4380-BED9-ACFB6FE98218}" type="slidenum">
              <a:rPr lang="en-US" altLang="en-US"/>
              <a:pPr>
                <a:defRPr/>
              </a:pPr>
              <a:t>‹#›</a:t>
            </a:fld>
            <a:endParaRPr lang="en-US" altLang="en-US"/>
          </a:p>
        </p:txBody>
      </p:sp>
      <p:sp>
        <p:nvSpPr>
          <p:cNvPr id="19" name="Footer Placeholder 19">
            <a:extLst>
              <a:ext uri="{FF2B5EF4-FFF2-40B4-BE49-F238E27FC236}">
                <a16:creationId xmlns:a16="http://schemas.microsoft.com/office/drawing/2014/main" id="{758E596B-3958-CCF4-C4B4-BB66D11831D3}"/>
              </a:ext>
            </a:extLst>
          </p:cNvPr>
          <p:cNvSpPr>
            <a:spLocks noGrp="1"/>
          </p:cNvSpPr>
          <p:nvPr>
            <p:ph type="ftr" sz="quarter" idx="13"/>
          </p:nvPr>
        </p:nvSpPr>
        <p:spPr/>
        <p:txBody>
          <a:bodyPr/>
          <a:lstStyle>
            <a:lvl1pPr>
              <a:defRPr/>
            </a:lvl1pPr>
          </a:lstStyle>
          <a:p>
            <a:pPr>
              <a:defRPr/>
            </a:pPr>
            <a:endParaRPr lang="en-US"/>
          </a:p>
        </p:txBody>
      </p:sp>
    </p:spTree>
    <p:extLst>
      <p:ext uri="{BB962C8B-B14F-4D97-AF65-F5344CB8AC3E}">
        <p14:creationId xmlns:p14="http://schemas.microsoft.com/office/powerpoint/2010/main" val="24054460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31"/>
        <p:cNvGrpSpPr/>
        <p:nvPr/>
      </p:nvGrpSpPr>
      <p:grpSpPr>
        <a:xfrm>
          <a:off x="0" y="0"/>
          <a:ext cx="0" cy="0"/>
          <a:chOff x="0" y="0"/>
          <a:chExt cx="0" cy="0"/>
        </a:xfrm>
      </p:grpSpPr>
      <p:sp>
        <p:nvSpPr>
          <p:cNvPr id="32" name="Google Shape;32;g1844f2ff692_0_95"/>
          <p:cNvSpPr txBox="1">
            <a:spLocks noGrp="1"/>
          </p:cNvSpPr>
          <p:nvPr>
            <p:ph type="body" idx="1"/>
          </p:nvPr>
        </p:nvSpPr>
        <p:spPr>
          <a:xfrm>
            <a:off x="152401" y="1417319"/>
            <a:ext cx="8839200" cy="4907400"/>
          </a:xfrm>
          <a:prstGeom prst="rect">
            <a:avLst/>
          </a:prstGeom>
          <a:gradFill>
            <a:gsLst>
              <a:gs pos="0">
                <a:srgbClr val="F9F7FB">
                  <a:alpha val="34509"/>
                </a:srgbClr>
              </a:gs>
              <a:gs pos="35000">
                <a:srgbClr val="F5F8EF">
                  <a:alpha val="37647"/>
                </a:srgbClr>
              </a:gs>
              <a:gs pos="100000">
                <a:srgbClr val="FFFFFF">
                  <a:alpha val="52549"/>
                </a:srgbClr>
              </a:gs>
            </a:gsLst>
            <a:lin ang="16200038" scaled="0"/>
          </a:gradFill>
          <a:ln>
            <a:noFill/>
          </a:ln>
        </p:spPr>
        <p:txBody>
          <a:bodyPr spcFirstLastPara="1" wrap="square" lIns="72000" tIns="36000" rIns="72000" bIns="36000" anchor="t" anchorCtr="0">
            <a:normAutofit/>
          </a:bodyPr>
          <a:lstStyle>
            <a:lvl1pPr marL="430790" marR="0" lvl="0" indent="-215395" algn="l">
              <a:lnSpc>
                <a:spcPct val="100000"/>
              </a:lnSpc>
              <a:spcBef>
                <a:spcPts val="452"/>
              </a:spcBef>
              <a:spcAft>
                <a:spcPts val="0"/>
              </a:spcAft>
              <a:buClr>
                <a:srgbClr val="101141"/>
              </a:buClr>
              <a:buSzPts val="2400"/>
              <a:buFont typeface="Arial"/>
              <a:buNone/>
              <a:defRPr sz="2262">
                <a:latin typeface="Arial"/>
                <a:ea typeface="Arial"/>
                <a:cs typeface="Arial"/>
                <a:sym typeface="Arial"/>
              </a:defRPr>
            </a:lvl1pPr>
            <a:lvl2pPr marL="861579" marR="0" lvl="1" indent="-358992" algn="l">
              <a:lnSpc>
                <a:spcPct val="100000"/>
              </a:lnSpc>
              <a:spcBef>
                <a:spcPts val="452"/>
              </a:spcBef>
              <a:spcAft>
                <a:spcPts val="0"/>
              </a:spcAft>
              <a:buClr>
                <a:schemeClr val="dk1"/>
              </a:buClr>
              <a:buSzPts val="2400"/>
              <a:buFont typeface="Arial"/>
              <a:buChar char="–"/>
              <a:defRPr sz="2262">
                <a:latin typeface="Arial"/>
                <a:ea typeface="Arial"/>
                <a:cs typeface="Arial"/>
                <a:sym typeface="Arial"/>
              </a:defRPr>
            </a:lvl2pPr>
            <a:lvl3pPr marL="1292369" lvl="2" indent="-335059" algn="l">
              <a:lnSpc>
                <a:spcPct val="100000"/>
              </a:lnSpc>
              <a:spcBef>
                <a:spcPts val="377"/>
              </a:spcBef>
              <a:spcAft>
                <a:spcPts val="0"/>
              </a:spcAft>
              <a:buClr>
                <a:schemeClr val="dk1"/>
              </a:buClr>
              <a:buSzPts val="2000"/>
              <a:buChar char="•"/>
              <a:defRPr sz="1885"/>
            </a:lvl3pPr>
            <a:lvl4pPr marL="1723159" lvl="3" indent="-335059" algn="l">
              <a:lnSpc>
                <a:spcPct val="100000"/>
              </a:lnSpc>
              <a:spcBef>
                <a:spcPts val="377"/>
              </a:spcBef>
              <a:spcAft>
                <a:spcPts val="0"/>
              </a:spcAft>
              <a:buClr>
                <a:schemeClr val="dk1"/>
              </a:buClr>
              <a:buSzPts val="2000"/>
              <a:buChar char="–"/>
              <a:defRPr/>
            </a:lvl4pPr>
            <a:lvl5pPr marL="2153948" lvl="4" indent="-335059" algn="l">
              <a:lnSpc>
                <a:spcPct val="100000"/>
              </a:lnSpc>
              <a:spcBef>
                <a:spcPts val="377"/>
              </a:spcBef>
              <a:spcAft>
                <a:spcPts val="0"/>
              </a:spcAft>
              <a:buClr>
                <a:schemeClr val="dk1"/>
              </a:buClr>
              <a:buSzPts val="2000"/>
              <a:buChar char="»"/>
              <a:defRPr/>
            </a:lvl5pPr>
            <a:lvl6pPr marL="2584738" lvl="5" indent="-323093" algn="l">
              <a:lnSpc>
                <a:spcPct val="100000"/>
              </a:lnSpc>
              <a:spcBef>
                <a:spcPts val="339"/>
              </a:spcBef>
              <a:spcAft>
                <a:spcPts val="0"/>
              </a:spcAft>
              <a:buClr>
                <a:schemeClr val="dk1"/>
              </a:buClr>
              <a:buSzPts val="1800"/>
              <a:buChar char="•"/>
              <a:defRPr/>
            </a:lvl6pPr>
            <a:lvl7pPr marL="3015528" lvl="6" indent="-323093" algn="l">
              <a:lnSpc>
                <a:spcPct val="100000"/>
              </a:lnSpc>
              <a:spcBef>
                <a:spcPts val="339"/>
              </a:spcBef>
              <a:spcAft>
                <a:spcPts val="0"/>
              </a:spcAft>
              <a:buClr>
                <a:schemeClr val="dk1"/>
              </a:buClr>
              <a:buSzPts val="1800"/>
              <a:buChar char="•"/>
              <a:defRPr/>
            </a:lvl7pPr>
            <a:lvl8pPr marL="3446317" lvl="7" indent="-323093" algn="l">
              <a:lnSpc>
                <a:spcPct val="100000"/>
              </a:lnSpc>
              <a:spcBef>
                <a:spcPts val="339"/>
              </a:spcBef>
              <a:spcAft>
                <a:spcPts val="0"/>
              </a:spcAft>
              <a:buClr>
                <a:schemeClr val="dk1"/>
              </a:buClr>
              <a:buSzPts val="1800"/>
              <a:buChar char="•"/>
              <a:defRPr/>
            </a:lvl8pPr>
            <a:lvl9pPr marL="3877107" lvl="8" indent="-323093" algn="l">
              <a:lnSpc>
                <a:spcPct val="100000"/>
              </a:lnSpc>
              <a:spcBef>
                <a:spcPts val="339"/>
              </a:spcBef>
              <a:spcAft>
                <a:spcPts val="0"/>
              </a:spcAft>
              <a:buClr>
                <a:schemeClr val="dk1"/>
              </a:buClr>
              <a:buSzPts val="1800"/>
              <a:buChar char="•"/>
              <a:defRPr/>
            </a:lvl9pPr>
          </a:lstStyle>
          <a:p>
            <a:endParaRPr/>
          </a:p>
        </p:txBody>
      </p:sp>
      <p:grpSp>
        <p:nvGrpSpPr>
          <p:cNvPr id="33" name="Google Shape;33;g1844f2ff692_0_95"/>
          <p:cNvGrpSpPr/>
          <p:nvPr/>
        </p:nvGrpSpPr>
        <p:grpSpPr>
          <a:xfrm>
            <a:off x="2083888" y="6550672"/>
            <a:ext cx="7060186" cy="48601"/>
            <a:chOff x="2083888" y="6550671"/>
            <a:chExt cx="7060186" cy="48601"/>
          </a:xfrm>
        </p:grpSpPr>
        <p:sp>
          <p:nvSpPr>
            <p:cNvPr id="34" name="Google Shape;34;g1844f2ff692_0_95"/>
            <p:cNvSpPr/>
            <p:nvPr/>
          </p:nvSpPr>
          <p:spPr>
            <a:xfrm>
              <a:off x="4630476" y="6550672"/>
              <a:ext cx="23286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35" name="Google Shape;35;g1844f2ff692_0_95"/>
            <p:cNvSpPr/>
            <p:nvPr/>
          </p:nvSpPr>
          <p:spPr>
            <a:xfrm>
              <a:off x="6907874" y="6550671"/>
              <a:ext cx="22362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36" name="Google Shape;36;g1844f2ff692_0_95"/>
            <p:cNvSpPr/>
            <p:nvPr/>
          </p:nvSpPr>
          <p:spPr>
            <a:xfrm>
              <a:off x="2083888" y="6550672"/>
              <a:ext cx="25806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pic>
        <p:nvPicPr>
          <p:cNvPr id="37" name="Google Shape;37;g1844f2ff692_0_95" descr="Picture 7.png"/>
          <p:cNvPicPr preferRelativeResize="0"/>
          <p:nvPr/>
        </p:nvPicPr>
        <p:blipFill rotWithShape="1">
          <a:blip r:embed="rId2">
            <a:alphaModFix/>
          </a:blip>
          <a:srcRect l="1921" b="5338"/>
          <a:stretch/>
        </p:blipFill>
        <p:spPr>
          <a:xfrm>
            <a:off x="6950808" y="0"/>
            <a:ext cx="2193193" cy="692697"/>
          </a:xfrm>
          <a:prstGeom prst="rect">
            <a:avLst/>
          </a:prstGeom>
          <a:noFill/>
          <a:ln>
            <a:noFill/>
          </a:ln>
        </p:spPr>
      </p:pic>
      <p:grpSp>
        <p:nvGrpSpPr>
          <p:cNvPr id="38" name="Google Shape;38;g1844f2ff692_0_95"/>
          <p:cNvGrpSpPr/>
          <p:nvPr/>
        </p:nvGrpSpPr>
        <p:grpSpPr>
          <a:xfrm>
            <a:off x="2133600" y="6553200"/>
            <a:ext cx="7010409" cy="45600"/>
            <a:chOff x="1905000" y="6553200"/>
            <a:chExt cx="7010409" cy="45600"/>
          </a:xfrm>
        </p:grpSpPr>
        <p:sp>
          <p:nvSpPr>
            <p:cNvPr id="39" name="Google Shape;39;g1844f2ff692_0_95"/>
            <p:cNvSpPr/>
            <p:nvPr/>
          </p:nvSpPr>
          <p:spPr>
            <a:xfrm>
              <a:off x="4267200" y="6553200"/>
              <a:ext cx="23286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0" name="Google Shape;40;g1844f2ff692_0_95"/>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1" name="Google Shape;41;g1844f2ff692_0_95"/>
            <p:cNvSpPr/>
            <p:nvPr/>
          </p:nvSpPr>
          <p:spPr>
            <a:xfrm>
              <a:off x="6586809" y="6553200"/>
              <a:ext cx="23286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grpSp>
        <p:nvGrpSpPr>
          <p:cNvPr id="42" name="Google Shape;42;g1844f2ff692_0_95"/>
          <p:cNvGrpSpPr/>
          <p:nvPr/>
        </p:nvGrpSpPr>
        <p:grpSpPr>
          <a:xfrm>
            <a:off x="1" y="1295400"/>
            <a:ext cx="7010409" cy="45600"/>
            <a:chOff x="1905000" y="6553200"/>
            <a:chExt cx="7010409" cy="45600"/>
          </a:xfrm>
        </p:grpSpPr>
        <p:sp>
          <p:nvSpPr>
            <p:cNvPr id="43" name="Google Shape;43;g1844f2ff692_0_95"/>
            <p:cNvSpPr/>
            <p:nvPr/>
          </p:nvSpPr>
          <p:spPr>
            <a:xfrm>
              <a:off x="4267200" y="6553200"/>
              <a:ext cx="23286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4" name="Google Shape;44;g1844f2ff692_0_95"/>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5" name="Google Shape;45;g1844f2ff692_0_95"/>
            <p:cNvSpPr/>
            <p:nvPr/>
          </p:nvSpPr>
          <p:spPr>
            <a:xfrm>
              <a:off x="6586809" y="6553200"/>
              <a:ext cx="23286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sp>
        <p:nvSpPr>
          <p:cNvPr id="46" name="Google Shape;46;g1844f2ff692_0_95" descr="Large confetti"/>
          <p:cNvSpPr txBox="1">
            <a:spLocks noGrp="1"/>
          </p:cNvSpPr>
          <p:nvPr>
            <p:ph type="title"/>
          </p:nvPr>
        </p:nvSpPr>
        <p:spPr>
          <a:xfrm>
            <a:off x="66239" y="26442"/>
            <a:ext cx="6791700" cy="1192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3600"/>
              <a:buFont typeface="Arial"/>
              <a:buNone/>
              <a:defRPr sz="3392">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6580765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391159"/>
            <a:ext cx="8376919" cy="57404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040"/>
                </a:solidFill>
                <a:latin typeface="Arial" panose="020B0604020202020204"/>
                <a:cs typeface="Arial" panose="020B0604020202020204"/>
              </a:defRPr>
            </a:lvl1pPr>
          </a:lstStyle>
          <a:p>
            <a:pPr marL="12700">
              <a:lnSpc>
                <a:spcPts val="1315"/>
              </a:lnSpc>
            </a:pPr>
            <a:r>
              <a:rPr b="1" spc="-5" dirty="0">
                <a:latin typeface="Arial" panose="020B0604020202020204"/>
                <a:cs typeface="Arial" panose="020B0604020202020204"/>
              </a:rPr>
              <a:t>BITS </a:t>
            </a:r>
            <a:r>
              <a:rPr spc="-5" dirty="0"/>
              <a:t>Pilani, Hyderabad</a:t>
            </a:r>
            <a:r>
              <a:rPr spc="-10" dirty="0"/>
              <a:t> </a:t>
            </a:r>
            <a:r>
              <a:rPr spc="-5"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20995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040"/>
                </a:solidFill>
                <a:latin typeface="Arial" panose="020B0604020202020204"/>
                <a:cs typeface="Arial" panose="020B0604020202020204"/>
              </a:defRPr>
            </a:lvl1pPr>
          </a:lstStyle>
          <a:p>
            <a:pPr marL="12700">
              <a:lnSpc>
                <a:spcPts val="1315"/>
              </a:lnSpc>
            </a:pPr>
            <a:r>
              <a:rPr b="1" spc="-5" dirty="0">
                <a:latin typeface="Arial" panose="020B0604020202020204"/>
                <a:cs typeface="Arial" panose="020B0604020202020204"/>
              </a:rPr>
              <a:t>BITS </a:t>
            </a:r>
            <a:r>
              <a:rPr spc="-5" dirty="0"/>
              <a:t>Pilani, Hyderabad</a:t>
            </a:r>
            <a:r>
              <a:rPr spc="-10" dirty="0"/>
              <a:t> </a:t>
            </a:r>
            <a:r>
              <a:rPr spc="-5"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139735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030470" y="1376679"/>
            <a:ext cx="3634740" cy="4423410"/>
          </a:xfrm>
          <a:prstGeom prst="rect">
            <a:avLst/>
          </a:prstGeom>
        </p:spPr>
        <p:txBody>
          <a:bodyPr wrap="square" lIns="0" tIns="0" rIns="0" bIns="0">
            <a:spAutoFit/>
          </a:bodyPr>
          <a:lstStyle>
            <a:lvl1pPr>
              <a:defRPr sz="2400" b="0" i="0">
                <a:solidFill>
                  <a:srgbClr val="FF0000"/>
                </a:solidFill>
                <a:latin typeface="Arial" panose="020B0604020202020204"/>
                <a:cs typeface="Arial" panose="020B0604020202020204"/>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040"/>
                </a:solidFill>
                <a:latin typeface="Arial" panose="020B0604020202020204"/>
                <a:cs typeface="Arial" panose="020B0604020202020204"/>
              </a:defRPr>
            </a:lvl1pPr>
          </a:lstStyle>
          <a:p>
            <a:pPr marL="12700">
              <a:lnSpc>
                <a:spcPts val="1315"/>
              </a:lnSpc>
            </a:pPr>
            <a:r>
              <a:rPr b="1" spc="-5" dirty="0">
                <a:latin typeface="Arial" panose="020B0604020202020204"/>
                <a:cs typeface="Arial" panose="020B0604020202020204"/>
              </a:rPr>
              <a:t>BITS </a:t>
            </a:r>
            <a:r>
              <a:rPr spc="-5" dirty="0"/>
              <a:t>Pilani, Hyderabad</a:t>
            </a:r>
            <a:r>
              <a:rPr spc="-10" dirty="0"/>
              <a:t> </a:t>
            </a:r>
            <a:r>
              <a:rPr spc="-5" dirty="0"/>
              <a:t>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5940962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040"/>
                </a:solidFill>
                <a:latin typeface="Arial" panose="020B0604020202020204"/>
                <a:cs typeface="Arial" panose="020B0604020202020204"/>
              </a:defRPr>
            </a:lvl1pPr>
          </a:lstStyle>
          <a:p>
            <a:pPr marL="12700">
              <a:lnSpc>
                <a:spcPts val="1315"/>
              </a:lnSpc>
            </a:pPr>
            <a:r>
              <a:rPr b="1" spc="-5" dirty="0">
                <a:latin typeface="Arial" panose="020B0604020202020204"/>
                <a:cs typeface="Arial" panose="020B0604020202020204"/>
              </a:rPr>
              <a:t>BITS </a:t>
            </a:r>
            <a:r>
              <a:rPr spc="-5" dirty="0"/>
              <a:t>Pilani, Hyderabad</a:t>
            </a:r>
            <a:r>
              <a:rPr spc="-10" dirty="0"/>
              <a:t> </a:t>
            </a:r>
            <a:r>
              <a:rPr spc="-5" dirty="0"/>
              <a:t>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4399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040"/>
                </a:solidFill>
                <a:latin typeface="Arial" panose="020B0604020202020204"/>
                <a:cs typeface="Arial" panose="020B0604020202020204"/>
              </a:defRPr>
            </a:lvl1pPr>
          </a:lstStyle>
          <a:p>
            <a:pPr marL="12700">
              <a:lnSpc>
                <a:spcPts val="1315"/>
              </a:lnSpc>
            </a:pPr>
            <a:r>
              <a:rPr b="1" spc="-5" dirty="0">
                <a:latin typeface="Arial" panose="020B0604020202020204"/>
                <a:cs typeface="Arial" panose="020B0604020202020204"/>
              </a:rPr>
              <a:t>BITS </a:t>
            </a:r>
            <a:r>
              <a:rPr spc="-5" dirty="0"/>
              <a:t>Pilani, Hyderabad</a:t>
            </a:r>
            <a:r>
              <a:rPr spc="-10" dirty="0"/>
              <a:t> </a:t>
            </a:r>
            <a:r>
              <a:rPr spc="-5" dirty="0"/>
              <a:t>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789169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D3E26C6-F8B7-42FB-8C53-FF5C7BB29276}"/>
              </a:ext>
            </a:extLst>
          </p:cNvPr>
          <p:cNvSpPr>
            <a:spLocks noGrp="1" noChangeArrowheads="1"/>
          </p:cNvSpPr>
          <p:nvPr>
            <p:ph type="dt" sz="half" idx="10"/>
          </p:nvPr>
        </p:nvSpPr>
        <p:spPr>
          <a:ln/>
        </p:spPr>
        <p:txBody>
          <a:bodyPr/>
          <a:lstStyle>
            <a:lvl1pPr>
              <a:defRPr/>
            </a:lvl1pPr>
          </a:lstStyle>
          <a:p>
            <a:fld id="{C2BDA288-09E2-4146-8DD1-D8BEBFB67826}" type="datetime1">
              <a:rPr lang="en-US" altLang="en-US"/>
              <a:pPr/>
              <a:t>11/28/2025</a:t>
            </a:fld>
            <a:endParaRPr lang="en-US" altLang="en-US"/>
          </a:p>
        </p:txBody>
      </p:sp>
      <p:sp>
        <p:nvSpPr>
          <p:cNvPr id="6" name="Rectangle 5">
            <a:extLst>
              <a:ext uri="{FF2B5EF4-FFF2-40B4-BE49-F238E27FC236}">
                <a16:creationId xmlns:a16="http://schemas.microsoft.com/office/drawing/2014/main" id="{20B80649-63C2-4EA1-B1E9-50B1F240D9A5}"/>
              </a:ext>
            </a:extLst>
          </p:cNvPr>
          <p:cNvSpPr>
            <a:spLocks noGrp="1" noChangeArrowheads="1"/>
          </p:cNvSpPr>
          <p:nvPr>
            <p:ph type="ftr" sz="quarter" idx="11"/>
          </p:nvPr>
        </p:nvSpPr>
        <p:spPr>
          <a:ln/>
        </p:spPr>
        <p:txBody>
          <a:bodyPr/>
          <a:lstStyle>
            <a:lvl1pPr>
              <a:defRPr/>
            </a:lvl1pPr>
          </a:lstStyle>
          <a:p>
            <a:pPr>
              <a:defRPr/>
            </a:pPr>
            <a:r>
              <a:rPr lang="en-US"/>
              <a:t>SOBUZ</a:t>
            </a:r>
          </a:p>
        </p:txBody>
      </p:sp>
      <p:sp>
        <p:nvSpPr>
          <p:cNvPr id="7" name="Rectangle 6">
            <a:extLst>
              <a:ext uri="{FF2B5EF4-FFF2-40B4-BE49-F238E27FC236}">
                <a16:creationId xmlns:a16="http://schemas.microsoft.com/office/drawing/2014/main" id="{3B8A0E34-D1E6-4C98-93E3-ECD0A0612025}"/>
              </a:ext>
            </a:extLst>
          </p:cNvPr>
          <p:cNvSpPr>
            <a:spLocks noGrp="1" noChangeArrowheads="1"/>
          </p:cNvSpPr>
          <p:nvPr>
            <p:ph type="sldNum" sz="quarter" idx="12"/>
          </p:nvPr>
        </p:nvSpPr>
        <p:spPr>
          <a:ln/>
        </p:spPr>
        <p:txBody>
          <a:bodyPr/>
          <a:lstStyle>
            <a:lvl1pPr>
              <a:defRPr/>
            </a:lvl1pPr>
          </a:lstStyle>
          <a:p>
            <a:fld id="{BDF8EDE8-124C-459D-BB30-F31FB0C55334}" type="slidenum">
              <a:rPr lang="en-US" altLang="en-US"/>
              <a:pPr/>
              <a:t>‹#›</a:t>
            </a:fld>
            <a:endParaRPr lang="en-US" altLang="en-US"/>
          </a:p>
        </p:txBody>
      </p:sp>
    </p:spTree>
    <p:extLst>
      <p:ext uri="{BB962C8B-B14F-4D97-AF65-F5344CB8AC3E}">
        <p14:creationId xmlns:p14="http://schemas.microsoft.com/office/powerpoint/2010/main" val="5557070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E095A9-80B4-4FE7-9E61-C6EE1FF79106}"/>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sz="1350" dirty="0">
              <a:latin typeface="Arial" pitchFamily="34" charset="0"/>
              <a:cs typeface="Arial" pitchFamily="34" charset="0"/>
            </a:endParaRPr>
          </a:p>
        </p:txBody>
      </p:sp>
      <p:sp>
        <p:nvSpPr>
          <p:cNvPr id="4" name="Rectangle 3">
            <a:extLst>
              <a:ext uri="{FF2B5EF4-FFF2-40B4-BE49-F238E27FC236}">
                <a16:creationId xmlns:a16="http://schemas.microsoft.com/office/drawing/2014/main" id="{B242F09A-29F4-4136-BA54-3F52094931FE}"/>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5" name="Rectangle 4">
            <a:extLst>
              <a:ext uri="{FF2B5EF4-FFF2-40B4-BE49-F238E27FC236}">
                <a16:creationId xmlns:a16="http://schemas.microsoft.com/office/drawing/2014/main" id="{523E645D-696E-4271-85DC-9B442C1119FC}"/>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8CCB3FD6-873F-4A9C-B46C-7F1027DC3546}"/>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7" name="Picture 10" descr="BITS_university_logo_whitevert.png">
            <a:extLst>
              <a:ext uri="{FF2B5EF4-FFF2-40B4-BE49-F238E27FC236}">
                <a16:creationId xmlns:a16="http://schemas.microsoft.com/office/drawing/2014/main" id="{2ACA944D-1DD9-4988-B63E-4A8183BC888E}"/>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2"/>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3AC746F-2FB4-4259-9EE0-AC5F3D6540F9}"/>
              </a:ext>
            </a:extLst>
          </p:cNvPr>
          <p:cNvSpPr txBox="1"/>
          <p:nvPr/>
        </p:nvSpPr>
        <p:spPr>
          <a:xfrm>
            <a:off x="-76200" y="5257800"/>
            <a:ext cx="2209800" cy="427040"/>
          </a:xfrm>
          <a:prstGeom prst="rect">
            <a:avLst/>
          </a:prstGeom>
          <a:noFill/>
        </p:spPr>
        <p:txBody>
          <a:bodyPr>
            <a:spAutoFit/>
          </a:bodyPr>
          <a:lstStyle/>
          <a:p>
            <a:pPr algn="ctr" eaLnBrk="1" fontAlgn="auto" hangingPunct="1">
              <a:spcBef>
                <a:spcPts val="0"/>
              </a:spcBef>
              <a:spcAft>
                <a:spcPts val="0"/>
              </a:spcAft>
              <a:defRPr/>
            </a:pPr>
            <a:r>
              <a:rPr lang="en-US" sz="2175" b="1" spc="-113" dirty="0">
                <a:solidFill>
                  <a:schemeClr val="bg1"/>
                </a:solidFill>
                <a:latin typeface="Arial"/>
                <a:cs typeface="Arial"/>
              </a:rPr>
              <a:t>BITS</a:t>
            </a:r>
            <a:r>
              <a:rPr lang="en-US" sz="2175" spc="-113" dirty="0">
                <a:solidFill>
                  <a:schemeClr val="bg1"/>
                </a:solidFill>
                <a:latin typeface="Arial"/>
                <a:cs typeface="Arial"/>
              </a:rPr>
              <a:t> Pilani</a:t>
            </a:r>
          </a:p>
        </p:txBody>
      </p:sp>
      <p:sp>
        <p:nvSpPr>
          <p:cNvPr id="9" name="TextBox 8">
            <a:extLst>
              <a:ext uri="{FF2B5EF4-FFF2-40B4-BE49-F238E27FC236}">
                <a16:creationId xmlns:a16="http://schemas.microsoft.com/office/drawing/2014/main" id="{463DEAFC-3E12-4A36-80AD-C15D30572DE1}"/>
              </a:ext>
            </a:extLst>
          </p:cNvPr>
          <p:cNvSpPr txBox="1">
            <a:spLocks noChangeArrowheads="1"/>
          </p:cNvSpPr>
          <p:nvPr/>
        </p:nvSpPr>
        <p:spPr bwMode="auto">
          <a:xfrm>
            <a:off x="152400" y="5667376"/>
            <a:ext cx="1905000" cy="230832"/>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900">
                <a:solidFill>
                  <a:srgbClr val="FFFFFF"/>
                </a:solidFill>
                <a:cs typeface="Arial" charset="0"/>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ctr">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489481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9FA685-348D-49D7-9443-CF21857A163E}"/>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latin typeface="Arial" pitchFamily="34" charset="0"/>
              <a:cs typeface="Arial" pitchFamily="34" charset="0"/>
            </a:endParaRPr>
          </a:p>
        </p:txBody>
      </p:sp>
      <p:sp>
        <p:nvSpPr>
          <p:cNvPr id="5" name="Rectangle 4">
            <a:extLst>
              <a:ext uri="{FF2B5EF4-FFF2-40B4-BE49-F238E27FC236}">
                <a16:creationId xmlns:a16="http://schemas.microsoft.com/office/drawing/2014/main" id="{6A18A412-4A29-45F6-AC3E-39A472DD9C28}"/>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A502A174-2EDA-4C68-828F-4DE9FEB92067}"/>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6209AC46-D467-4B34-BD6B-EC694E9C319D}"/>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9" name="Picture 10" descr="BITS_university_logo_whitevert.png">
            <a:extLst>
              <a:ext uri="{FF2B5EF4-FFF2-40B4-BE49-F238E27FC236}">
                <a16:creationId xmlns:a16="http://schemas.microsoft.com/office/drawing/2014/main" id="{B0FE7FE6-E8D0-4E8A-AFFC-D0E7FCFCFF85}"/>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2"/>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5D1DE81-2CFF-4CFE-BB52-74BAF09DB18A}"/>
              </a:ext>
            </a:extLst>
          </p:cNvPr>
          <p:cNvSpPr txBox="1"/>
          <p:nvPr/>
        </p:nvSpPr>
        <p:spPr>
          <a:xfrm>
            <a:off x="-76200" y="5257800"/>
            <a:ext cx="2209800" cy="427040"/>
          </a:xfrm>
          <a:prstGeom prst="rect">
            <a:avLst/>
          </a:prstGeom>
          <a:noFill/>
        </p:spPr>
        <p:txBody>
          <a:bodyPr>
            <a:spAutoFit/>
          </a:bodyPr>
          <a:lstStyle/>
          <a:p>
            <a:pPr algn="ctr" eaLnBrk="1" fontAlgn="auto" hangingPunct="1">
              <a:spcBef>
                <a:spcPts val="0"/>
              </a:spcBef>
              <a:spcAft>
                <a:spcPts val="0"/>
              </a:spcAft>
              <a:defRPr/>
            </a:pPr>
            <a:r>
              <a:rPr lang="en-US" sz="2175" b="1" spc="-113" dirty="0">
                <a:solidFill>
                  <a:schemeClr val="bg1"/>
                </a:solidFill>
                <a:latin typeface="Arial"/>
                <a:cs typeface="Arial"/>
              </a:rPr>
              <a:t>BITS</a:t>
            </a:r>
            <a:r>
              <a:rPr lang="en-US" sz="2175" spc="-113" dirty="0">
                <a:solidFill>
                  <a:schemeClr val="bg1"/>
                </a:solidFill>
                <a:latin typeface="Arial"/>
                <a:cs typeface="Arial"/>
              </a:rPr>
              <a:t> Pilani</a:t>
            </a:r>
          </a:p>
        </p:txBody>
      </p:sp>
      <p:sp>
        <p:nvSpPr>
          <p:cNvPr id="11" name="TextBox 10">
            <a:extLst>
              <a:ext uri="{FF2B5EF4-FFF2-40B4-BE49-F238E27FC236}">
                <a16:creationId xmlns:a16="http://schemas.microsoft.com/office/drawing/2014/main" id="{C04A0771-4556-4F4D-98FE-48C5C2806F3E}"/>
              </a:ext>
            </a:extLst>
          </p:cNvPr>
          <p:cNvSpPr txBox="1">
            <a:spLocks noChangeArrowheads="1"/>
          </p:cNvSpPr>
          <p:nvPr/>
        </p:nvSpPr>
        <p:spPr bwMode="auto">
          <a:xfrm>
            <a:off x="152400" y="5667376"/>
            <a:ext cx="1905000" cy="230832"/>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900">
                <a:solidFill>
                  <a:srgbClr val="FFFFFF"/>
                </a:solidFill>
                <a:cs typeface="Arial"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59683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B0AE1769-8368-43FD-A555-4ADA093A8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9DF74E82-16ED-45F0-BF97-F624735DDFB4}"/>
              </a:ext>
            </a:extLst>
          </p:cNvPr>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5" name="Picture 8" descr="Picture 7.png">
            <a:extLst>
              <a:ext uri="{FF2B5EF4-FFF2-40B4-BE49-F238E27FC236}">
                <a16:creationId xmlns:a16="http://schemas.microsoft.com/office/drawing/2014/main" id="{46933116-D7C8-4F5B-824C-A50BAD6B7C66}"/>
              </a:ext>
            </a:extLst>
          </p:cNvPr>
          <p:cNvPicPr>
            <a:picLocks noChangeAspect="1"/>
          </p:cNvPicPr>
          <p:nvPr/>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6C7E231C-4086-4B6B-A13C-949769C36041}"/>
              </a:ext>
            </a:extLst>
          </p:cNvPr>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F75F3444-DD01-4772-9256-E957950BF6F4}"/>
              </a:ext>
            </a:extLst>
          </p:cNvPr>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EC80CFF7-C6AD-4D1F-B7E4-B7CBF02FB2AF}"/>
              </a:ext>
            </a:extLst>
          </p:cNvPr>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TextBox 8">
            <a:extLst>
              <a:ext uri="{FF2B5EF4-FFF2-40B4-BE49-F238E27FC236}">
                <a16:creationId xmlns:a16="http://schemas.microsoft.com/office/drawing/2014/main" id="{A81A7872-2C8C-40AA-BF80-3505B36BC4A4}"/>
              </a:ext>
            </a:extLst>
          </p:cNvPr>
          <p:cNvSpPr txBox="1"/>
          <p:nvPr/>
        </p:nvSpPr>
        <p:spPr>
          <a:xfrm>
            <a:off x="6858000" y="762000"/>
            <a:ext cx="2209800" cy="427040"/>
          </a:xfrm>
          <a:prstGeom prst="rect">
            <a:avLst/>
          </a:prstGeom>
          <a:noFill/>
        </p:spPr>
        <p:txBody>
          <a:bodyPr>
            <a:spAutoFit/>
          </a:bodyPr>
          <a:lstStyle/>
          <a:p>
            <a:pPr algn="ctr" eaLnBrk="1" fontAlgn="auto" hangingPunct="1">
              <a:spcBef>
                <a:spcPts val="0"/>
              </a:spcBef>
              <a:spcAft>
                <a:spcPts val="0"/>
              </a:spcAft>
              <a:defRPr/>
            </a:pPr>
            <a:r>
              <a:rPr lang="en-US" sz="2175" b="1" spc="-113" dirty="0">
                <a:solidFill>
                  <a:schemeClr val="bg1"/>
                </a:solidFill>
                <a:latin typeface="Arial"/>
                <a:cs typeface="Arial"/>
              </a:rPr>
              <a:t>BITS</a:t>
            </a:r>
            <a:r>
              <a:rPr lang="en-US" sz="2175" spc="-113" dirty="0">
                <a:solidFill>
                  <a:schemeClr val="bg1"/>
                </a:solidFill>
                <a:latin typeface="Arial"/>
                <a:cs typeface="Arial"/>
              </a:rPr>
              <a:t> Pilani</a:t>
            </a:r>
          </a:p>
        </p:txBody>
      </p:sp>
      <p:sp>
        <p:nvSpPr>
          <p:cNvPr id="10" name="TextBox 9">
            <a:extLst>
              <a:ext uri="{FF2B5EF4-FFF2-40B4-BE49-F238E27FC236}">
                <a16:creationId xmlns:a16="http://schemas.microsoft.com/office/drawing/2014/main" id="{32F02DE3-BEEE-4543-BA00-EFA78AA2EC9F}"/>
              </a:ext>
            </a:extLst>
          </p:cNvPr>
          <p:cNvSpPr txBox="1">
            <a:spLocks noChangeArrowheads="1"/>
          </p:cNvSpPr>
          <p:nvPr/>
        </p:nvSpPr>
        <p:spPr bwMode="auto">
          <a:xfrm>
            <a:off x="7086600" y="1171576"/>
            <a:ext cx="1905000" cy="230832"/>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900">
                <a:solidFill>
                  <a:srgbClr val="FFFFFF"/>
                </a:solidFill>
                <a:cs typeface="Arial"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40650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362858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a:extLst>
              <a:ext uri="{FF2B5EF4-FFF2-40B4-BE49-F238E27FC236}">
                <a16:creationId xmlns:a16="http://schemas.microsoft.com/office/drawing/2014/main" id="{2684CF1E-9052-4FF3-8F29-36C0008F6B2A}"/>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9">
            <a:extLst>
              <a:ext uri="{FF2B5EF4-FFF2-40B4-BE49-F238E27FC236}">
                <a16:creationId xmlns:a16="http://schemas.microsoft.com/office/drawing/2014/main" id="{88656BD9-E4E8-48A4-A2B6-D1968F980762}"/>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A3B3D130-314C-4CF0-A2D3-957B05470C7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DB8A3A31-3102-41AF-B6CE-93BE8F39516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Rectangle 8">
              <a:extLst>
                <a:ext uri="{FF2B5EF4-FFF2-40B4-BE49-F238E27FC236}">
                  <a16:creationId xmlns:a16="http://schemas.microsoft.com/office/drawing/2014/main" id="{CEB57AE4-C902-4A8B-9FAD-D9F85D1FA85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0" name="Group 28">
            <a:extLst>
              <a:ext uri="{FF2B5EF4-FFF2-40B4-BE49-F238E27FC236}">
                <a16:creationId xmlns:a16="http://schemas.microsoft.com/office/drawing/2014/main" id="{6B0383E2-DD00-4D45-A35B-5761A3AEBD3E}"/>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FAA32FE9-725D-4A85-9BC2-E2162C9EB7D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F0A97CF1-8E11-4DB0-B179-A3343C39B36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9C0C765E-D274-42D5-AB01-541B18D8810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14" name="TextBox 13">
            <a:extLst>
              <a:ext uri="{FF2B5EF4-FFF2-40B4-BE49-F238E27FC236}">
                <a16:creationId xmlns:a16="http://schemas.microsoft.com/office/drawing/2014/main" id="{C3052C1A-016F-449B-A856-228B84E1C53C}"/>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346693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a:extLst>
              <a:ext uri="{FF2B5EF4-FFF2-40B4-BE49-F238E27FC236}">
                <a16:creationId xmlns:a16="http://schemas.microsoft.com/office/drawing/2014/main" id="{B7B9A9F0-ED90-4008-9A21-F6F712834E33}"/>
              </a:ext>
            </a:extLst>
          </p:cNvPr>
          <p:cNvGrpSpPr>
            <a:grpSpLocks/>
          </p:cNvGrpSpPr>
          <p:nvPr/>
        </p:nvGrpSpPr>
        <p:grpSpPr bwMode="auto">
          <a:xfrm>
            <a:off x="0" y="1295400"/>
            <a:ext cx="7010400" cy="46038"/>
            <a:chOff x="1905000" y="6553200"/>
            <a:chExt cx="7010400" cy="45719"/>
          </a:xfrm>
        </p:grpSpPr>
        <p:sp>
          <p:nvSpPr>
            <p:cNvPr id="8" name="Rectangle 7">
              <a:extLst>
                <a:ext uri="{FF2B5EF4-FFF2-40B4-BE49-F238E27FC236}">
                  <a16:creationId xmlns:a16="http://schemas.microsoft.com/office/drawing/2014/main" id="{1B82BED9-A771-4B71-BD41-E80DDDF4207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Rectangle 8">
              <a:extLst>
                <a:ext uri="{FF2B5EF4-FFF2-40B4-BE49-F238E27FC236}">
                  <a16:creationId xmlns:a16="http://schemas.microsoft.com/office/drawing/2014/main" id="{55980D4D-05F5-4C6C-B5C9-48647B534EE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F84C7FCD-67BF-44ED-9D02-C100493977F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2" name="Group 15">
            <a:extLst>
              <a:ext uri="{FF2B5EF4-FFF2-40B4-BE49-F238E27FC236}">
                <a16:creationId xmlns:a16="http://schemas.microsoft.com/office/drawing/2014/main" id="{7412E3EF-823F-4651-B453-AF3B5AA1459E}"/>
              </a:ext>
            </a:extLst>
          </p:cNvPr>
          <p:cNvGrpSpPr>
            <a:grpSpLocks/>
          </p:cNvGrpSpPr>
          <p:nvPr/>
        </p:nvGrpSpPr>
        <p:grpSpPr bwMode="auto">
          <a:xfrm>
            <a:off x="2133600" y="6553200"/>
            <a:ext cx="7010400" cy="46038"/>
            <a:chOff x="1905000" y="6553200"/>
            <a:chExt cx="7010400" cy="45719"/>
          </a:xfrm>
        </p:grpSpPr>
        <p:sp>
          <p:nvSpPr>
            <p:cNvPr id="13" name="Rectangle 12">
              <a:extLst>
                <a:ext uri="{FF2B5EF4-FFF2-40B4-BE49-F238E27FC236}">
                  <a16:creationId xmlns:a16="http://schemas.microsoft.com/office/drawing/2014/main" id="{9F1818FA-88A0-4053-AFA6-26D8F3B92C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4" name="Rectangle 13">
              <a:extLst>
                <a:ext uri="{FF2B5EF4-FFF2-40B4-BE49-F238E27FC236}">
                  <a16:creationId xmlns:a16="http://schemas.microsoft.com/office/drawing/2014/main" id="{52B0EA17-CA0B-4005-9EAF-60D4B8762B0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F2A70B7F-831D-44A3-9394-2D9F1F143A1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16" name="Picture 14" descr="Picture 7.png">
            <a:extLst>
              <a:ext uri="{FF2B5EF4-FFF2-40B4-BE49-F238E27FC236}">
                <a16:creationId xmlns:a16="http://schemas.microsoft.com/office/drawing/2014/main" id="{996B9B91-0E43-4776-9A2C-B6AF4B8D4A9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26CA5596-B9ED-417B-B1E0-C32698F8423B}"/>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247741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a:extLst>
              <a:ext uri="{FF2B5EF4-FFF2-40B4-BE49-F238E27FC236}">
                <a16:creationId xmlns:a16="http://schemas.microsoft.com/office/drawing/2014/main" id="{6921A934-B042-41FE-9C5F-9EAADCDF0CE9}"/>
              </a:ext>
            </a:extLst>
          </p:cNvPr>
          <p:cNvGrpSpPr>
            <a:grpSpLocks/>
          </p:cNvGrpSpPr>
          <p:nvPr/>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938613DC-B6A0-4876-AF25-8D384186B8D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62F74794-EFF5-47BA-ABCE-FA873958EC6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9C0877DF-3963-4497-8EC7-A3D8E24CB8C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8" name="Group 10">
            <a:extLst>
              <a:ext uri="{FF2B5EF4-FFF2-40B4-BE49-F238E27FC236}">
                <a16:creationId xmlns:a16="http://schemas.microsoft.com/office/drawing/2014/main" id="{FCE1F628-C90C-47D7-A501-8ED98CA575A9}"/>
              </a:ext>
            </a:extLst>
          </p:cNvPr>
          <p:cNvGrpSpPr>
            <a:grpSpLocks/>
          </p:cNvGrpSpPr>
          <p:nvPr/>
        </p:nvGrpSpPr>
        <p:grpSpPr bwMode="auto">
          <a:xfrm>
            <a:off x="2133600" y="6553200"/>
            <a:ext cx="7010400" cy="46038"/>
            <a:chOff x="1905000" y="6553200"/>
            <a:chExt cx="7010400" cy="45719"/>
          </a:xfrm>
        </p:grpSpPr>
        <p:sp>
          <p:nvSpPr>
            <p:cNvPr id="9" name="Rectangle 8">
              <a:extLst>
                <a:ext uri="{FF2B5EF4-FFF2-40B4-BE49-F238E27FC236}">
                  <a16:creationId xmlns:a16="http://schemas.microsoft.com/office/drawing/2014/main" id="{DC395C1F-6EA8-4AC8-A6A5-152F36554DC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0" name="Rectangle 9">
              <a:extLst>
                <a:ext uri="{FF2B5EF4-FFF2-40B4-BE49-F238E27FC236}">
                  <a16:creationId xmlns:a16="http://schemas.microsoft.com/office/drawing/2014/main" id="{47C73B0C-C074-4AE8-9861-A6623513B5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ED9DABC8-C4D9-42D2-BBB2-20ABABBF19C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12" name="Picture 14" descr="Picture 7.png">
            <a:extLst>
              <a:ext uri="{FF2B5EF4-FFF2-40B4-BE49-F238E27FC236}">
                <a16:creationId xmlns:a16="http://schemas.microsoft.com/office/drawing/2014/main" id="{ED21E0F8-59AE-4098-9AEB-079CF742FC5F}"/>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1039035E-6E9E-4180-B962-AB1777BB0877}"/>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346524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a:extLst>
              <a:ext uri="{FF2B5EF4-FFF2-40B4-BE49-F238E27FC236}">
                <a16:creationId xmlns:a16="http://schemas.microsoft.com/office/drawing/2014/main" id="{37DF5DB4-2B25-47FB-BEEB-360E8B4AE98B}"/>
              </a:ext>
            </a:extLst>
          </p:cNvPr>
          <p:cNvGrpSpPr>
            <a:grpSpLocks/>
          </p:cNvGrpSpPr>
          <p:nvPr/>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9DCF59F4-EAA6-40F6-BFC4-D106BCA3C8C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7997095B-7B10-4C94-AF02-000B368B336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Rectangle 8">
              <a:extLst>
                <a:ext uri="{FF2B5EF4-FFF2-40B4-BE49-F238E27FC236}">
                  <a16:creationId xmlns:a16="http://schemas.microsoft.com/office/drawing/2014/main" id="{F57C78FF-D919-4FFB-88F7-5BCD52945A0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0" name="Group 13">
            <a:extLst>
              <a:ext uri="{FF2B5EF4-FFF2-40B4-BE49-F238E27FC236}">
                <a16:creationId xmlns:a16="http://schemas.microsoft.com/office/drawing/2014/main" id="{75DBD920-CCE8-4A77-96B7-A77992985E05}"/>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A0A4134A-F307-4458-873B-0555D484311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4CD0B241-DA75-4DCD-A8E8-22243D42474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D828F3B0-BBBB-4CE7-984A-3CCCA86BE8A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14" name="Picture 14" descr="Picture 7.png">
            <a:extLst>
              <a:ext uri="{FF2B5EF4-FFF2-40B4-BE49-F238E27FC236}">
                <a16:creationId xmlns:a16="http://schemas.microsoft.com/office/drawing/2014/main" id="{F15ED457-BEB5-4588-A50E-29B76CD242D2}"/>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05D660D4-6A3D-4890-98F4-E79D29F6E32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526959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411B6259-1CB3-416E-AB8D-3A43D4D50D3B}"/>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E9624D06-7EF0-4532-8F1E-FC0126D45C7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A49E44EB-7F47-444F-815C-7D565BF5B12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Rectangle 8">
              <a:extLst>
                <a:ext uri="{FF2B5EF4-FFF2-40B4-BE49-F238E27FC236}">
                  <a16:creationId xmlns:a16="http://schemas.microsoft.com/office/drawing/2014/main" id="{4FB3B02F-3F98-4C3E-A2EC-86F4E431AB2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0" name="Group 10">
            <a:extLst>
              <a:ext uri="{FF2B5EF4-FFF2-40B4-BE49-F238E27FC236}">
                <a16:creationId xmlns:a16="http://schemas.microsoft.com/office/drawing/2014/main" id="{5031C8E8-9E3F-4891-8C47-11040A69CA30}"/>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CBBEFEA3-24FC-4979-B444-659A975BFF8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5790A994-8FA0-48B7-8F35-A27CFFD279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733756B5-C44C-419F-B218-FA8CE3E8E7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14" name="Picture 14" descr="Picture 7.png">
            <a:extLst>
              <a:ext uri="{FF2B5EF4-FFF2-40B4-BE49-F238E27FC236}">
                <a16:creationId xmlns:a16="http://schemas.microsoft.com/office/drawing/2014/main" id="{70D77250-19B7-4AFE-8ACD-F7D6D0CE5B26}"/>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5930859A-AC15-41FF-BF51-4F6F8F49E339}"/>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934334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a:extLst>
              <a:ext uri="{FF2B5EF4-FFF2-40B4-BE49-F238E27FC236}">
                <a16:creationId xmlns:a16="http://schemas.microsoft.com/office/drawing/2014/main" id="{1E671B92-54D2-46FD-8C28-BC38563DE2B6}"/>
              </a:ext>
            </a:extLst>
          </p:cNvPr>
          <p:cNvGrpSpPr>
            <a:grpSpLocks/>
          </p:cNvGrpSpPr>
          <p:nvPr/>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A6F21680-303D-4944-BE4A-F1B498DE674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729E2841-229F-437C-8C87-147F7590C0B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4A140775-8697-4E34-93D3-9F82479D013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8" name="Group 24">
            <a:extLst>
              <a:ext uri="{FF2B5EF4-FFF2-40B4-BE49-F238E27FC236}">
                <a16:creationId xmlns:a16="http://schemas.microsoft.com/office/drawing/2014/main" id="{DC318521-F7A8-4895-B1EE-F36BBF47A1B7}"/>
              </a:ext>
            </a:extLst>
          </p:cNvPr>
          <p:cNvGrpSpPr>
            <a:grpSpLocks/>
          </p:cNvGrpSpPr>
          <p:nvPr/>
        </p:nvGrpSpPr>
        <p:grpSpPr bwMode="auto">
          <a:xfrm>
            <a:off x="2133600" y="6553200"/>
            <a:ext cx="7010400" cy="46038"/>
            <a:chOff x="1905000" y="6553200"/>
            <a:chExt cx="7010400" cy="45719"/>
          </a:xfrm>
        </p:grpSpPr>
        <p:sp>
          <p:nvSpPr>
            <p:cNvPr id="9" name="Rectangle 8">
              <a:extLst>
                <a:ext uri="{FF2B5EF4-FFF2-40B4-BE49-F238E27FC236}">
                  <a16:creationId xmlns:a16="http://schemas.microsoft.com/office/drawing/2014/main" id="{2EE4EB7D-0007-4396-9CAD-2B9EDFDD36A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0" name="Rectangle 9">
              <a:extLst>
                <a:ext uri="{FF2B5EF4-FFF2-40B4-BE49-F238E27FC236}">
                  <a16:creationId xmlns:a16="http://schemas.microsoft.com/office/drawing/2014/main" id="{8ADD2DC1-5CDD-460D-9711-01619A5FFBE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814364F-D668-4BCE-BB8E-E9AB73F66B2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12" name="Picture 14" descr="Picture 7.png">
            <a:extLst>
              <a:ext uri="{FF2B5EF4-FFF2-40B4-BE49-F238E27FC236}">
                <a16:creationId xmlns:a16="http://schemas.microsoft.com/office/drawing/2014/main" id="{F7424A7E-E8A9-4292-BEA0-07A0FC7A94BE}"/>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F5C67708-1998-45A2-A5D4-40082D705453}"/>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04649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2A3FA2FF-124E-418A-816A-22DCA04AD1B6}"/>
              </a:ext>
            </a:extLst>
          </p:cNvPr>
          <p:cNvGrpSpPr>
            <a:grpSpLocks/>
          </p:cNvGrpSpPr>
          <p:nvPr/>
        </p:nvGrpSpPr>
        <p:grpSpPr bwMode="auto">
          <a:xfrm rot="5400000">
            <a:off x="5006182" y="2567783"/>
            <a:ext cx="5181600" cy="46037"/>
            <a:chOff x="1905000" y="6553200"/>
            <a:chExt cx="7010400" cy="45719"/>
          </a:xfrm>
        </p:grpSpPr>
        <p:sp>
          <p:nvSpPr>
            <p:cNvPr id="5" name="Rectangle 4">
              <a:extLst>
                <a:ext uri="{FF2B5EF4-FFF2-40B4-BE49-F238E27FC236}">
                  <a16:creationId xmlns:a16="http://schemas.microsoft.com/office/drawing/2014/main" id="{A161177A-762B-4496-B8FD-263C476E2256}"/>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14D305FC-90DE-4ABC-BA7A-74C62CC15C9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D1676177-D11F-42A4-92BB-BA4E677A5309}"/>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0" descr="Picture 7.png">
            <a:extLst>
              <a:ext uri="{FF2B5EF4-FFF2-40B4-BE49-F238E27FC236}">
                <a16:creationId xmlns:a16="http://schemas.microsoft.com/office/drawing/2014/main" id="{AAEE1496-EC23-4E0A-A021-62833EBB774D}"/>
              </a:ext>
            </a:extLst>
          </p:cNvPr>
          <p:cNvPicPr>
            <a:picLocks noChangeAspect="1"/>
          </p:cNvPicPr>
          <p:nvPr/>
        </p:nvPicPr>
        <p:blipFill>
          <a:blip r:embed="rId2">
            <a:extLst>
              <a:ext uri="{28A0092B-C50C-407E-A947-70E740481C1C}">
                <a14:useLocalDpi xmlns:a14="http://schemas.microsoft.com/office/drawing/2010/main" val="0"/>
              </a:ext>
            </a:extLst>
          </a:blip>
          <a:srcRect l="5336" t="1923"/>
          <a:stretch>
            <a:fillRect/>
          </a:stretch>
        </p:blipFill>
        <p:spPr bwMode="auto">
          <a:xfrm>
            <a:off x="-7937" y="381002"/>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2B98BE4-181B-4972-8322-5EA4ABED571C}"/>
              </a:ext>
            </a:extLst>
          </p:cNvPr>
          <p:cNvSpPr txBox="1">
            <a:spLocks noChangeArrowheads="1"/>
          </p:cNvSpPr>
          <p:nvPr/>
        </p:nvSpPr>
        <p:spPr bwMode="auto">
          <a:xfrm rot="5400000">
            <a:off x="-2794793" y="3826196"/>
            <a:ext cx="5867400" cy="196208"/>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675" b="1">
                <a:solidFill>
                  <a:srgbClr val="101141"/>
                </a:solidFill>
                <a:cs typeface="Arial" charset="0"/>
              </a:rPr>
              <a:t>BITS </a:t>
            </a:r>
            <a:r>
              <a:rPr lang="en-US" sz="675">
                <a:solidFill>
                  <a:srgbClr val="101141"/>
                </a:solidFill>
                <a:cs typeface="Arial" charset="0"/>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779138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8CE0C3-E20C-4C8C-85A6-06C370893A14}"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6A159D-AB44-4511-A275-1233B812CEB6}" type="slidenum">
              <a:rPr lang="en-IN" smtClean="0"/>
              <a:t>‹#›</a:t>
            </a:fld>
            <a:endParaRPr lang="en-IN"/>
          </a:p>
        </p:txBody>
      </p:sp>
    </p:spTree>
    <p:extLst>
      <p:ext uri="{BB962C8B-B14F-4D97-AF65-F5344CB8AC3E}">
        <p14:creationId xmlns:p14="http://schemas.microsoft.com/office/powerpoint/2010/main" val="37654898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CE0C3-E20C-4C8C-85A6-06C370893A14}"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6A159D-AB44-4511-A275-1233B812CEB6}" type="slidenum">
              <a:rPr lang="en-IN" smtClean="0"/>
              <a:t>‹#›</a:t>
            </a:fld>
            <a:endParaRPr lang="en-IN"/>
          </a:p>
        </p:txBody>
      </p:sp>
    </p:spTree>
    <p:extLst>
      <p:ext uri="{BB962C8B-B14F-4D97-AF65-F5344CB8AC3E}">
        <p14:creationId xmlns:p14="http://schemas.microsoft.com/office/powerpoint/2010/main" val="21203352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64E40-F632-4757-9361-4C0373E261F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62450115-1B16-4A15-B0C4-A9FBDC8BED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719780C-79F9-4E49-9456-2B9AA2DC3A09}"/>
              </a:ext>
            </a:extLst>
          </p:cNvPr>
          <p:cNvSpPr>
            <a:spLocks noGrp="1"/>
          </p:cNvSpPr>
          <p:nvPr>
            <p:ph type="dt" sz="half" idx="10"/>
          </p:nvPr>
        </p:nvSpPr>
        <p:spPr/>
        <p:txBody>
          <a:bodyPr/>
          <a:lstStyle/>
          <a:p>
            <a:fld id="{908CE0C3-E20C-4C8C-85A6-06C370893A14}" type="datetimeFigureOut">
              <a:rPr lang="en-IN" smtClean="0"/>
              <a:t>28-11-2025</a:t>
            </a:fld>
            <a:endParaRPr lang="en-IN"/>
          </a:p>
        </p:txBody>
      </p:sp>
      <p:sp>
        <p:nvSpPr>
          <p:cNvPr id="5" name="Footer Placeholder 4">
            <a:extLst>
              <a:ext uri="{FF2B5EF4-FFF2-40B4-BE49-F238E27FC236}">
                <a16:creationId xmlns:a16="http://schemas.microsoft.com/office/drawing/2014/main" id="{8C3B7CBC-FCC8-46DA-9C63-281FAC4121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4826A5-64A0-43E7-8790-326DF9559D92}"/>
              </a:ext>
            </a:extLst>
          </p:cNvPr>
          <p:cNvSpPr>
            <a:spLocks noGrp="1"/>
          </p:cNvSpPr>
          <p:nvPr>
            <p:ph type="sldNum" sz="quarter" idx="12"/>
          </p:nvPr>
        </p:nvSpPr>
        <p:spPr/>
        <p:txBody>
          <a:bodyPr/>
          <a:lstStyle/>
          <a:p>
            <a:fld id="{ED6A159D-AB44-4511-A275-1233B812CEB6}" type="slidenum">
              <a:rPr lang="en-IN" smtClean="0"/>
              <a:t>‹#›</a:t>
            </a:fld>
            <a:endParaRPr lang="en-IN"/>
          </a:p>
        </p:txBody>
      </p:sp>
    </p:spTree>
    <p:extLst>
      <p:ext uri="{BB962C8B-B14F-4D97-AF65-F5344CB8AC3E}">
        <p14:creationId xmlns:p14="http://schemas.microsoft.com/office/powerpoint/2010/main" val="5590475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slideLayout" Target="../slideLayouts/slideLayout21.xml"/><Relationship Id="rId7"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4.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17" name="bg object 17"/>
          <p:cNvSpPr/>
          <p:nvPr/>
        </p:nvSpPr>
        <p:spPr>
          <a:xfrm>
            <a:off x="6908292"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18" name="bg object 18"/>
          <p:cNvSpPr/>
          <p:nvPr/>
        </p:nvSpPr>
        <p:spPr>
          <a:xfrm>
            <a:off x="2083307"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19" name="bg object 19"/>
          <p:cNvSpPr/>
          <p:nvPr/>
        </p:nvSpPr>
        <p:spPr>
          <a:xfrm>
            <a:off x="6629400" y="0"/>
            <a:ext cx="2193036" cy="693420"/>
          </a:xfrm>
          <a:prstGeom prst="rect">
            <a:avLst/>
          </a:prstGeom>
          <a:blipFill>
            <a:blip r:embed="rId7" cstate="print"/>
            <a:stretch>
              <a:fillRect/>
            </a:stretch>
          </a:blipFill>
        </p:spPr>
        <p:txBody>
          <a:bodyPr wrap="square" lIns="0" tIns="0" rIns="0" bIns="0" rtlCol="0"/>
          <a:lstStyle/>
          <a:p>
            <a:endParaRPr/>
          </a:p>
        </p:txBody>
      </p:sp>
      <p:sp>
        <p:nvSpPr>
          <p:cNvPr id="20" name="bg object 20"/>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1" name="bg object 21"/>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2" name="bg object 22"/>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1986788" y="3027882"/>
            <a:ext cx="5170423" cy="1311910"/>
          </a:xfrm>
          <a:prstGeom prst="rect">
            <a:avLst/>
          </a:prstGeom>
        </p:spPr>
        <p:txBody>
          <a:bodyPr wrap="square" lIns="0" tIns="0" rIns="0" bIns="0">
            <a:spAutoFit/>
          </a:bodyPr>
          <a:lstStyle>
            <a:lvl1pPr>
              <a:defRPr sz="8400" b="1" i="1">
                <a:solidFill>
                  <a:srgbClr val="FF0000"/>
                </a:solidFill>
                <a:latin typeface="Arial Rounded MT Bold"/>
                <a:cs typeface="Arial Rounded MT Bold"/>
              </a:defRPr>
            </a:lvl1pPr>
          </a:lstStyle>
          <a:p>
            <a:endParaRPr/>
          </a:p>
        </p:txBody>
      </p:sp>
      <p:sp>
        <p:nvSpPr>
          <p:cNvPr id="3" name="Holder 3"/>
          <p:cNvSpPr>
            <a:spLocks noGrp="1"/>
          </p:cNvSpPr>
          <p:nvPr>
            <p:ph type="body" idx="1"/>
          </p:nvPr>
        </p:nvSpPr>
        <p:spPr>
          <a:xfrm>
            <a:off x="762406" y="1935226"/>
            <a:ext cx="5268595" cy="2860675"/>
          </a:xfrm>
          <a:prstGeom prst="rect">
            <a:avLst/>
          </a:prstGeom>
        </p:spPr>
        <p:txBody>
          <a:bodyPr wrap="square" lIns="0" tIns="0" rIns="0" bIns="0">
            <a:spAutoFit/>
          </a:bodyPr>
          <a:lstStyle>
            <a:lvl1pPr>
              <a:defRPr sz="18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505459" y="6660895"/>
            <a:ext cx="2560955" cy="177800"/>
          </a:xfrm>
          <a:prstGeom prst="rect">
            <a:avLst/>
          </a:prstGeom>
        </p:spPr>
        <p:txBody>
          <a:bodyPr wrap="square" lIns="0" tIns="0" rIns="0" bIns="0">
            <a:spAutoFit/>
          </a:bodyPr>
          <a:lstStyle>
            <a:lvl1pPr>
              <a:defRPr sz="1200" b="1" i="0">
                <a:solidFill>
                  <a:schemeClr val="tx1"/>
                </a:solidFill>
                <a:latin typeface="Calibri"/>
                <a:cs typeface="Calibri"/>
              </a:defRPr>
            </a:lvl1pPr>
          </a:lstStyle>
          <a:p>
            <a:pPr marL="12700">
              <a:lnSpc>
                <a:spcPts val="1240"/>
              </a:lnSpc>
            </a:pPr>
            <a:r>
              <a:rPr spc="-5" dirty="0"/>
              <a:t>Object-Oriented Programming </a:t>
            </a:r>
            <a:r>
              <a:rPr dirty="0"/>
              <a:t>(CS</a:t>
            </a:r>
            <a:r>
              <a:rPr spc="-55" dirty="0"/>
              <a:t> </a:t>
            </a:r>
            <a:r>
              <a:rPr dirty="0"/>
              <a:t>F213)</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a:xfrm>
            <a:off x="53339" y="6660895"/>
            <a:ext cx="153670" cy="177800"/>
          </a:xfrm>
          <a:prstGeom prst="rect">
            <a:avLst/>
          </a:prstGeom>
        </p:spPr>
        <p:txBody>
          <a:bodyPr wrap="square" lIns="0" tIns="0" rIns="0" bIns="0">
            <a:spAutoFit/>
          </a:bodyPr>
          <a:lstStyle>
            <a:lvl1pPr>
              <a:defRPr sz="1200" b="1" i="0">
                <a:solidFill>
                  <a:schemeClr val="tx1"/>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6B3F27-A009-3C37-F7B8-23962E435EC0}"/>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4A666154-CEF0-BC63-F349-5773762BD2F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EC8770D-23B0-423B-1986-44F24B9613C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5" name="Footer Placeholder 4">
            <a:extLst>
              <a:ext uri="{FF2B5EF4-FFF2-40B4-BE49-F238E27FC236}">
                <a16:creationId xmlns:a16="http://schemas.microsoft.com/office/drawing/2014/main" id="{60ADC0C5-8256-D32D-3793-F5C628C3DFA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1AB31777-1B0D-AF52-6AA8-64314F36D69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pPr>
              <a:defRPr/>
            </a:pPr>
            <a:fld id="{F67F5692-F8CD-46C3-934B-C91DAD78F1E2}" type="slidenum">
              <a:rPr lang="en-US" altLang="en-US"/>
              <a:pPr>
                <a:defRPr/>
              </a:pPr>
              <a:t>‹#›</a:t>
            </a:fld>
            <a:endParaRPr lang="en-US" altLang="en-US"/>
          </a:p>
        </p:txBody>
      </p:sp>
    </p:spTree>
    <p:extLst>
      <p:ext uri="{BB962C8B-B14F-4D97-AF65-F5344CB8AC3E}">
        <p14:creationId xmlns:p14="http://schemas.microsoft.com/office/powerpoint/2010/main" val="283327385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hf hdr="0" ftr="0" dt="0"/>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362200" y="1295400"/>
            <a:ext cx="2327910" cy="45720"/>
          </a:xfrm>
          <a:custGeom>
            <a:avLst/>
            <a:gdLst/>
            <a:ahLst/>
            <a:cxnLst/>
            <a:rect l="l" t="t" r="r" b="b"/>
            <a:pathLst>
              <a:path w="2327910" h="45719">
                <a:moveTo>
                  <a:pt x="2327910" y="0"/>
                </a:moveTo>
                <a:lnTo>
                  <a:pt x="0" y="0"/>
                </a:lnTo>
                <a:lnTo>
                  <a:pt x="0" y="45720"/>
                </a:lnTo>
                <a:lnTo>
                  <a:pt x="2327910" y="45720"/>
                </a:lnTo>
                <a:close/>
              </a:path>
            </a:pathLst>
          </a:custGeom>
          <a:solidFill>
            <a:srgbClr val="75C1E4"/>
          </a:solidFill>
        </p:spPr>
        <p:txBody>
          <a:bodyPr wrap="square" lIns="0" tIns="0" rIns="0" bIns="0" rtlCol="0"/>
          <a:lstStyle/>
          <a:p>
            <a:endParaRPr/>
          </a:p>
        </p:txBody>
      </p:sp>
      <p:sp>
        <p:nvSpPr>
          <p:cNvPr id="17" name="bg object 17"/>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close/>
              </a:path>
            </a:pathLst>
          </a:custGeom>
          <a:solidFill>
            <a:srgbClr val="FBAF16"/>
          </a:solidFill>
        </p:spPr>
        <p:txBody>
          <a:bodyPr wrap="square" lIns="0" tIns="0" rIns="0" bIns="0" rtlCol="0"/>
          <a:lstStyle/>
          <a:p>
            <a:endParaRPr/>
          </a:p>
        </p:txBody>
      </p:sp>
      <p:sp>
        <p:nvSpPr>
          <p:cNvPr id="18" name="bg object 18"/>
          <p:cNvSpPr/>
          <p:nvPr/>
        </p:nvSpPr>
        <p:spPr>
          <a:xfrm>
            <a:off x="4681220" y="1295400"/>
            <a:ext cx="2329180" cy="45720"/>
          </a:xfrm>
          <a:custGeom>
            <a:avLst/>
            <a:gdLst/>
            <a:ahLst/>
            <a:cxnLst/>
            <a:rect l="l" t="t" r="r" b="b"/>
            <a:pathLst>
              <a:path w="2329179" h="45719">
                <a:moveTo>
                  <a:pt x="2329179" y="0"/>
                </a:moveTo>
                <a:lnTo>
                  <a:pt x="0" y="0"/>
                </a:lnTo>
                <a:lnTo>
                  <a:pt x="0" y="45720"/>
                </a:lnTo>
                <a:lnTo>
                  <a:pt x="2329179" y="45720"/>
                </a:lnTo>
                <a:close/>
              </a:path>
            </a:pathLst>
          </a:custGeom>
          <a:solidFill>
            <a:srgbClr val="FF0000"/>
          </a:solidFill>
        </p:spPr>
        <p:txBody>
          <a:bodyPr wrap="square" lIns="0" tIns="0" rIns="0" bIns="0" rtlCol="0"/>
          <a:lstStyle/>
          <a:p>
            <a:endParaRPr/>
          </a:p>
        </p:txBody>
      </p:sp>
      <p:sp>
        <p:nvSpPr>
          <p:cNvPr id="19" name="bg object 19"/>
          <p:cNvSpPr/>
          <p:nvPr/>
        </p:nvSpPr>
        <p:spPr>
          <a:xfrm>
            <a:off x="4495800" y="6553200"/>
            <a:ext cx="2327910" cy="45720"/>
          </a:xfrm>
          <a:custGeom>
            <a:avLst/>
            <a:gdLst/>
            <a:ahLst/>
            <a:cxnLst/>
            <a:rect l="l" t="t" r="r" b="b"/>
            <a:pathLst>
              <a:path w="2327909" h="45720">
                <a:moveTo>
                  <a:pt x="2327909" y="0"/>
                </a:moveTo>
                <a:lnTo>
                  <a:pt x="0" y="0"/>
                </a:lnTo>
                <a:lnTo>
                  <a:pt x="0" y="45720"/>
                </a:lnTo>
                <a:lnTo>
                  <a:pt x="2327909" y="45720"/>
                </a:lnTo>
                <a:close/>
              </a:path>
            </a:pathLst>
          </a:custGeom>
          <a:solidFill>
            <a:srgbClr val="75C1E4"/>
          </a:solidFill>
        </p:spPr>
        <p:txBody>
          <a:bodyPr wrap="square" lIns="0" tIns="0" rIns="0" bIns="0" rtlCol="0"/>
          <a:lstStyle/>
          <a:p>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close/>
              </a:path>
            </a:pathLst>
          </a:custGeom>
          <a:solidFill>
            <a:srgbClr val="FBAF16"/>
          </a:solidFill>
        </p:spPr>
        <p:txBody>
          <a:bodyPr wrap="square" lIns="0" tIns="0" rIns="0" bIns="0" rtlCol="0"/>
          <a:lstStyle/>
          <a:p>
            <a:endParaRPr/>
          </a:p>
        </p:txBody>
      </p:sp>
      <p:sp>
        <p:nvSpPr>
          <p:cNvPr id="21" name="bg object 21"/>
          <p:cNvSpPr/>
          <p:nvPr/>
        </p:nvSpPr>
        <p:spPr>
          <a:xfrm>
            <a:off x="6814820" y="6553200"/>
            <a:ext cx="2329180" cy="45720"/>
          </a:xfrm>
          <a:custGeom>
            <a:avLst/>
            <a:gdLst/>
            <a:ahLst/>
            <a:cxnLst/>
            <a:rect l="l" t="t" r="r" b="b"/>
            <a:pathLst>
              <a:path w="2329179" h="45720">
                <a:moveTo>
                  <a:pt x="2329179" y="0"/>
                </a:moveTo>
                <a:lnTo>
                  <a:pt x="0" y="0"/>
                </a:lnTo>
                <a:lnTo>
                  <a:pt x="0" y="45720"/>
                </a:lnTo>
                <a:lnTo>
                  <a:pt x="2329179" y="45720"/>
                </a:lnTo>
                <a:close/>
              </a:path>
            </a:pathLst>
          </a:custGeom>
          <a:solidFill>
            <a:srgbClr val="FF0000"/>
          </a:solidFill>
        </p:spPr>
        <p:txBody>
          <a:bodyPr wrap="square" lIns="0" tIns="0" rIns="0" bIns="0" rtlCol="0"/>
          <a:lstStyle/>
          <a:p>
            <a:endParaRPr/>
          </a:p>
        </p:txBody>
      </p:sp>
      <p:sp>
        <p:nvSpPr>
          <p:cNvPr id="22" name="bg object 22"/>
          <p:cNvSpPr/>
          <p:nvPr/>
        </p:nvSpPr>
        <p:spPr>
          <a:xfrm>
            <a:off x="6629400" y="1270"/>
            <a:ext cx="2193290" cy="692150"/>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154939" y="232409"/>
            <a:ext cx="8834120" cy="1031240"/>
          </a:xfrm>
          <a:prstGeom prst="rect">
            <a:avLst/>
          </a:prstGeom>
        </p:spPr>
        <p:txBody>
          <a:bodyPr wrap="square" lIns="0" tIns="0" rIns="0" bIns="0">
            <a:spAutoFit/>
          </a:bodyPr>
          <a:lstStyle>
            <a:lvl1pPr>
              <a:defRPr sz="3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0" y="1318260"/>
            <a:ext cx="7927975" cy="22161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021830" y="6642633"/>
            <a:ext cx="2044700" cy="181609"/>
          </a:xfrm>
          <a:prstGeom prst="rect">
            <a:avLst/>
          </a:prstGeom>
        </p:spPr>
        <p:txBody>
          <a:bodyPr wrap="square" lIns="0" tIns="0" rIns="0" bIns="0">
            <a:spAutoFit/>
          </a:bodyPr>
          <a:lstStyle>
            <a:lvl1pPr>
              <a:defRPr sz="1100" b="0" i="0">
                <a:solidFill>
                  <a:srgbClr val="0F1040"/>
                </a:solidFill>
                <a:latin typeface="Arial" panose="020B0604020202020204"/>
                <a:cs typeface="Arial" panose="020B0604020202020204"/>
              </a:defRPr>
            </a:lvl1pPr>
          </a:lstStyle>
          <a:p>
            <a:pPr marL="12700">
              <a:lnSpc>
                <a:spcPts val="1315"/>
              </a:lnSpc>
            </a:pPr>
            <a:r>
              <a:rPr b="1" spc="-5" dirty="0">
                <a:latin typeface="Arial" panose="020B0604020202020204"/>
                <a:cs typeface="Arial" panose="020B0604020202020204"/>
              </a:rPr>
              <a:t>BITS </a:t>
            </a:r>
            <a:r>
              <a:rPr spc="-5" dirty="0"/>
              <a:t>Pilani, Hyderabad</a:t>
            </a:r>
            <a:r>
              <a:rPr spc="-10" dirty="0"/>
              <a:t> </a:t>
            </a:r>
            <a:r>
              <a:rPr spc="-5" dirty="0"/>
              <a:t>Campus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416552816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4D699C-CD20-4363-866C-D74A71DA2722}"/>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2F3C7842-B578-4803-BDD3-9758CCC4B6CF}"/>
              </a:ext>
            </a:extLst>
          </p:cNvPr>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EC608E5-2647-474F-BAE0-0699095C8F7C}"/>
              </a:ext>
            </a:extLst>
          </p:cNvPr>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fld id="{908CE0C3-E20C-4C8C-85A6-06C370893A14}" type="datetimeFigureOut">
              <a:rPr lang="en-IN" smtClean="0"/>
              <a:t>28-11-2025</a:t>
            </a:fld>
            <a:endParaRPr lang="en-IN"/>
          </a:p>
        </p:txBody>
      </p:sp>
      <p:sp>
        <p:nvSpPr>
          <p:cNvPr id="5" name="Footer Placeholder 4">
            <a:extLst>
              <a:ext uri="{FF2B5EF4-FFF2-40B4-BE49-F238E27FC236}">
                <a16:creationId xmlns:a16="http://schemas.microsoft.com/office/drawing/2014/main" id="{532AE654-750B-42A8-9CED-A23976FA2F24}"/>
              </a:ext>
            </a:extLst>
          </p:cNvPr>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endParaRPr lang="en-IN"/>
          </a:p>
        </p:txBody>
      </p:sp>
      <p:sp>
        <p:nvSpPr>
          <p:cNvPr id="6" name="Slide Number Placeholder 5">
            <a:extLst>
              <a:ext uri="{FF2B5EF4-FFF2-40B4-BE49-F238E27FC236}">
                <a16:creationId xmlns:a16="http://schemas.microsoft.com/office/drawing/2014/main" id="{0CCED701-BCB7-45F1-970B-10CDD37F954B}"/>
              </a:ext>
            </a:extLst>
          </p:cNvPr>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cs typeface="Arial" panose="020B0604020202020204" pitchFamily="34" charset="0"/>
              </a:defRPr>
            </a:lvl1pPr>
          </a:lstStyle>
          <a:p>
            <a:fld id="{ED6A159D-AB44-4511-A275-1233B812CEB6}" type="slidenum">
              <a:rPr lang="en-IN" smtClean="0"/>
              <a:t>‹#›</a:t>
            </a:fld>
            <a:endParaRPr lang="en-IN"/>
          </a:p>
        </p:txBody>
      </p:sp>
    </p:spTree>
    <p:extLst>
      <p:ext uri="{BB962C8B-B14F-4D97-AF65-F5344CB8AC3E}">
        <p14:creationId xmlns:p14="http://schemas.microsoft.com/office/powerpoint/2010/main" val="268411885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txStyles>
    <p:titleStyle>
      <a:lvl1pPr algn="l" rtl="0" eaLnBrk="1" fontAlgn="base" hangingPunct="1">
        <a:spcBef>
          <a:spcPct val="0"/>
        </a:spcBef>
        <a:spcAft>
          <a:spcPct val="0"/>
        </a:spcAft>
        <a:defRPr sz="3000" b="1" kern="1200" spc="-113">
          <a:solidFill>
            <a:schemeClr val="tx1"/>
          </a:solidFill>
          <a:latin typeface="Arial" pitchFamily="34" charset="0"/>
          <a:ea typeface="+mj-ea"/>
          <a:cs typeface="Arial" pitchFamily="34" charset="0"/>
        </a:defRPr>
      </a:lvl1pPr>
      <a:lvl2pPr algn="l" rtl="0" eaLnBrk="1" fontAlgn="base" hangingPunct="1">
        <a:spcBef>
          <a:spcPct val="0"/>
        </a:spcBef>
        <a:spcAft>
          <a:spcPct val="0"/>
        </a:spcAft>
        <a:defRPr sz="3000" b="1">
          <a:solidFill>
            <a:schemeClr val="tx1"/>
          </a:solidFill>
          <a:latin typeface="Arial" charset="0"/>
          <a:cs typeface="Arial" charset="0"/>
        </a:defRPr>
      </a:lvl2pPr>
      <a:lvl3pPr algn="l" rtl="0" eaLnBrk="1" fontAlgn="base" hangingPunct="1">
        <a:spcBef>
          <a:spcPct val="0"/>
        </a:spcBef>
        <a:spcAft>
          <a:spcPct val="0"/>
        </a:spcAft>
        <a:defRPr sz="3000" b="1">
          <a:solidFill>
            <a:schemeClr val="tx1"/>
          </a:solidFill>
          <a:latin typeface="Arial" charset="0"/>
          <a:cs typeface="Arial" charset="0"/>
        </a:defRPr>
      </a:lvl3pPr>
      <a:lvl4pPr algn="l" rtl="0" eaLnBrk="1" fontAlgn="base" hangingPunct="1">
        <a:spcBef>
          <a:spcPct val="0"/>
        </a:spcBef>
        <a:spcAft>
          <a:spcPct val="0"/>
        </a:spcAft>
        <a:defRPr sz="3000" b="1">
          <a:solidFill>
            <a:schemeClr val="tx1"/>
          </a:solidFill>
          <a:latin typeface="Arial" charset="0"/>
          <a:cs typeface="Arial" charset="0"/>
        </a:defRPr>
      </a:lvl4pPr>
      <a:lvl5pPr algn="l" rtl="0" eaLnBrk="1" fontAlgn="base" hangingPunct="1">
        <a:spcBef>
          <a:spcPct val="0"/>
        </a:spcBef>
        <a:spcAft>
          <a:spcPct val="0"/>
        </a:spcAft>
        <a:defRPr sz="3000" b="1">
          <a:solidFill>
            <a:schemeClr val="tx1"/>
          </a:solidFill>
          <a:latin typeface="Arial" charset="0"/>
          <a:cs typeface="Arial" charset="0"/>
        </a:defRPr>
      </a:lvl5pPr>
      <a:lvl6pPr marL="342900" algn="l" rtl="0" eaLnBrk="1" fontAlgn="base" hangingPunct="1">
        <a:spcBef>
          <a:spcPct val="0"/>
        </a:spcBef>
        <a:spcAft>
          <a:spcPct val="0"/>
        </a:spcAft>
        <a:defRPr sz="3000" b="1">
          <a:solidFill>
            <a:schemeClr val="tx1"/>
          </a:solidFill>
          <a:latin typeface="Arial" charset="0"/>
          <a:cs typeface="Arial" charset="0"/>
        </a:defRPr>
      </a:lvl6pPr>
      <a:lvl7pPr marL="685800" algn="l" rtl="0" eaLnBrk="1" fontAlgn="base" hangingPunct="1">
        <a:spcBef>
          <a:spcPct val="0"/>
        </a:spcBef>
        <a:spcAft>
          <a:spcPct val="0"/>
        </a:spcAft>
        <a:defRPr sz="3000" b="1">
          <a:solidFill>
            <a:schemeClr val="tx1"/>
          </a:solidFill>
          <a:latin typeface="Arial" charset="0"/>
          <a:cs typeface="Arial" charset="0"/>
        </a:defRPr>
      </a:lvl7pPr>
      <a:lvl8pPr marL="1028700" algn="l" rtl="0" eaLnBrk="1" fontAlgn="base" hangingPunct="1">
        <a:spcBef>
          <a:spcPct val="0"/>
        </a:spcBef>
        <a:spcAft>
          <a:spcPct val="0"/>
        </a:spcAft>
        <a:defRPr sz="3000" b="1">
          <a:solidFill>
            <a:schemeClr val="tx1"/>
          </a:solidFill>
          <a:latin typeface="Arial" charset="0"/>
          <a:cs typeface="Arial" charset="0"/>
        </a:defRPr>
      </a:lvl8pPr>
      <a:lvl9pPr marL="1371600" algn="l" rtl="0" eaLnBrk="1" fontAlgn="base" hangingPunct="1">
        <a:spcBef>
          <a:spcPct val="0"/>
        </a:spcBef>
        <a:spcAft>
          <a:spcPct val="0"/>
        </a:spcAft>
        <a:defRPr sz="3000" b="1">
          <a:solidFill>
            <a:schemeClr val="tx1"/>
          </a:solidFill>
          <a:latin typeface="Arial" charset="0"/>
          <a:cs typeface="Arial" charset="0"/>
        </a:defRPr>
      </a:lvl9pPr>
    </p:titleStyle>
    <p:bodyStyle>
      <a:lvl1pPr marL="257175" indent="-257175"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Font typeface="Arial" panose="020B0604020202020204" pitchFamily="34" charset="0"/>
        <a:buChar char="–"/>
        <a:defRPr sz="2100" kern="1200">
          <a:solidFill>
            <a:schemeClr val="tx1"/>
          </a:solidFill>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beginnersbook.com/2013/12/java-string-charat-method-example/" TargetMode="External"/><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3" Type="http://schemas.openxmlformats.org/officeDocument/2006/relationships/hyperlink" Target="https://beginnersbook.com/2013/12/java-string-equals-and-equalsignorecase-methods-example/" TargetMode="External"/><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openxmlformats.org/officeDocument/2006/relationships/hyperlink" Target="https://beginnersbook.com/2013/12/java-string-comparetoignorecase-method-example/" TargetMode="External"/><Relationship Id="rId4" Type="http://schemas.openxmlformats.org/officeDocument/2006/relationships/hyperlink" Target="https://beginnersbook.com/2013/12/java-string-compareto-method-example/"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beginnersbook.com/2013/12/java-string-startswith-method-example/" TargetMode="External"/><Relationship Id="rId2" Type="http://schemas.openxmlformats.org/officeDocument/2006/relationships/notesSlide" Target="../notesSlides/notesSlide4.xml"/><Relationship Id="rId1" Type="http://schemas.openxmlformats.org/officeDocument/2006/relationships/slideLayout" Target="../slideLayouts/slideLayout28.xml"/><Relationship Id="rId5" Type="http://schemas.openxmlformats.org/officeDocument/2006/relationships/hyperlink" Target="https://beginnersbook.com/2013/12/java-string-indexof-method-example/" TargetMode="External"/><Relationship Id="rId4" Type="http://schemas.openxmlformats.org/officeDocument/2006/relationships/hyperlink" Target="https://beginnersbook.com/2013/12/java-string-endswith-method-example/"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beginnersbook.com/2013/12/java-string-lastindexof-method-example/" TargetMode="External"/><Relationship Id="rId2" Type="http://schemas.openxmlformats.org/officeDocument/2006/relationships/notesSlide" Target="../notesSlides/notesSlide5.xml"/><Relationship Id="rId1" Type="http://schemas.openxmlformats.org/officeDocument/2006/relationships/slideLayout" Target="../slideLayouts/slideLayout28.xml"/><Relationship Id="rId6" Type="http://schemas.openxmlformats.org/officeDocument/2006/relationships/hyperlink" Target="https://beginnersbook.com/2013/12/java-string-replace-replacefirst-replaceall-method-examples/" TargetMode="External"/><Relationship Id="rId5" Type="http://schemas.openxmlformats.org/officeDocument/2006/relationships/hyperlink" Target="https://beginnersbook.com/2013/12/java-string-concat-method-example/" TargetMode="External"/><Relationship Id="rId4" Type="http://schemas.openxmlformats.org/officeDocument/2006/relationships/hyperlink" Target="https://beginnersbook.com/2013/12/java-string-substring-method-example/"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beginnersbook.com/2013/12/java-string-tolowercase-method-example/" TargetMode="External"/><Relationship Id="rId7" Type="http://schemas.openxmlformats.org/officeDocument/2006/relationships/hyperlink" Target="https://beginnersbook.com/2013/12/java-string-getchars-method-example/" TargetMode="External"/><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hyperlink" Target="https://beginnersbook.com/2013/12/java-string-copyvalueof-method-example/" TargetMode="External"/><Relationship Id="rId5" Type="http://schemas.openxmlformats.org/officeDocument/2006/relationships/hyperlink" Target="https://beginnersbook.com/2013/12/java-string-tochararray-method-example/" TargetMode="External"/><Relationship Id="rId4" Type="http://schemas.openxmlformats.org/officeDocument/2006/relationships/hyperlink" Target="https://beginnersbook.com/2013/12/java-string-trim-and-hashcode-methods/"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www.edureka.co/blog/array-of-objects-in-java/" TargetMode="External"/><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24.xml"/><Relationship Id="rId5" Type="http://schemas.openxmlformats.org/officeDocument/2006/relationships/image" Target="../media/image4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7CAF60-8228-80A9-9DB1-A0F0F47586B7}"/>
              </a:ext>
            </a:extLst>
          </p:cNvPr>
          <p:cNvSpPr>
            <a:spLocks noGrp="1"/>
          </p:cNvSpPr>
          <p:nvPr>
            <p:ph type="title"/>
          </p:nvPr>
        </p:nvSpPr>
        <p:spPr>
          <a:xfrm>
            <a:off x="1905000" y="3429000"/>
            <a:ext cx="6732588" cy="1524000"/>
          </a:xfrm>
        </p:spPr>
        <p:txBody>
          <a:bodyPr/>
          <a:lstStyle/>
          <a:p>
            <a:pPr algn="ctr" eaLnBrk="1" fontAlgn="auto" hangingPunct="1">
              <a:spcAft>
                <a:spcPts val="0"/>
              </a:spcAft>
              <a:defRPr/>
            </a:pPr>
            <a:r>
              <a:rPr lang="en-US" sz="3400" dirty="0"/>
              <a:t>Object Oriented Programming </a:t>
            </a:r>
            <a:br>
              <a:rPr lang="en-US" sz="3400" dirty="0"/>
            </a:br>
            <a:r>
              <a:rPr lang="en-US" sz="3400" dirty="0"/>
              <a:t>and Design</a:t>
            </a:r>
          </a:p>
        </p:txBody>
      </p:sp>
      <p:sp>
        <p:nvSpPr>
          <p:cNvPr id="2" name="Google Shape;339;p1">
            <a:extLst>
              <a:ext uri="{FF2B5EF4-FFF2-40B4-BE49-F238E27FC236}">
                <a16:creationId xmlns:a16="http://schemas.microsoft.com/office/drawing/2014/main" id="{47EBC2A6-2ED9-C7D7-6E2A-7EAFF88D6656}"/>
              </a:ext>
            </a:extLst>
          </p:cNvPr>
          <p:cNvSpPr txBox="1">
            <a:spLocks/>
          </p:cNvSpPr>
          <p:nvPr/>
        </p:nvSpPr>
        <p:spPr bwMode="auto">
          <a:xfrm>
            <a:off x="4114800" y="5410200"/>
            <a:ext cx="451485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9" tIns="34275" rIns="68569" bIns="34275" anchor="b"/>
          <a:lstStyle>
            <a:lvl1pPr defTabSz="6858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914400" indent="-342900" defTabSz="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371600" indent="-342900" defTabSz="6858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828800" indent="-342900" defTabSz="6858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286000" indent="-342900" defTabSz="6858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7432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32004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6576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41148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a:spcBef>
                <a:spcPct val="0"/>
              </a:spcBef>
              <a:buClr>
                <a:srgbClr val="FFFFFF"/>
              </a:buClr>
              <a:buSzPts val="2400"/>
              <a:buFont typeface="Arial" panose="020B0604020202020204" pitchFamily="34" charset="0"/>
              <a:buNone/>
            </a:pPr>
            <a:r>
              <a:rPr lang="en-US" altLang="en-US" sz="1600" b="1" dirty="0">
                <a:solidFill>
                  <a:srgbClr val="FFFFFF"/>
                </a:solidFill>
              </a:rPr>
              <a:t>Presented by </a:t>
            </a:r>
          </a:p>
          <a:p>
            <a:pPr algn="r">
              <a:spcBef>
                <a:spcPct val="0"/>
              </a:spcBef>
              <a:buClr>
                <a:srgbClr val="FFFFFF"/>
              </a:buClr>
              <a:buSzPts val="2400"/>
              <a:buFont typeface="Arial" panose="020B0604020202020204" pitchFamily="34" charset="0"/>
              <a:buNone/>
            </a:pPr>
            <a:r>
              <a:rPr lang="en-US" altLang="en-US" sz="1600" b="1" dirty="0">
                <a:solidFill>
                  <a:srgbClr val="FFFFFF"/>
                </a:solidFill>
              </a:rPr>
              <a:t>Dr Ramya Devi M</a:t>
            </a:r>
          </a:p>
          <a:p>
            <a:pPr algn="r">
              <a:spcBef>
                <a:spcPct val="0"/>
              </a:spcBef>
              <a:buClr>
                <a:srgbClr val="FFFFFF"/>
              </a:buClr>
              <a:buSzPts val="2400"/>
              <a:buFont typeface="Arial" panose="020B0604020202020204" pitchFamily="34" charset="0"/>
              <a:buNone/>
            </a:pPr>
            <a:r>
              <a:rPr lang="en-US" altLang="en-US" sz="1600" b="1" dirty="0">
                <a:solidFill>
                  <a:srgbClr val="FFFFFF"/>
                </a:solidFill>
              </a:rPr>
              <a:t>mramyadevi@wilp.bits-pilani.ac.in </a:t>
            </a:r>
          </a:p>
          <a:p>
            <a:pPr algn="r">
              <a:spcBef>
                <a:spcPct val="0"/>
              </a:spcBef>
              <a:buClr>
                <a:srgbClr val="FFFFFF"/>
              </a:buClr>
              <a:buSzPts val="2000"/>
              <a:buFont typeface="Arial" panose="020B0604020202020204" pitchFamily="34" charset="0"/>
              <a:buNone/>
            </a:pPr>
            <a:r>
              <a:rPr lang="en-US" altLang="en-US" sz="1600" b="1" dirty="0">
                <a:solidFill>
                  <a:srgbClr val="FFFFFF"/>
                </a:solidFill>
              </a:rPr>
              <a:t>CS - 07 : 09</a:t>
            </a:r>
            <a:r>
              <a:rPr lang="en-US" altLang="en-US" sz="1600" b="1" baseline="30000" dirty="0">
                <a:solidFill>
                  <a:srgbClr val="FFFFFF"/>
                </a:solidFill>
              </a:rPr>
              <a:t>th</a:t>
            </a:r>
            <a:r>
              <a:rPr lang="en-US" altLang="en-US" sz="1600" b="1" dirty="0">
                <a:solidFill>
                  <a:srgbClr val="FFFFFF"/>
                </a:solidFill>
              </a:rPr>
              <a:t> Aug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1844f2ff692_0_0"/>
          <p:cNvSpPr txBox="1">
            <a:spLocks noGrp="1"/>
          </p:cNvSpPr>
          <p:nvPr>
            <p:ph type="title" idx="4294967295"/>
          </p:nvPr>
        </p:nvSpPr>
        <p:spPr>
          <a:xfrm>
            <a:off x="0" y="228600"/>
            <a:ext cx="6794307" cy="1076936"/>
          </a:xfrm>
          <a:prstGeom prst="rect">
            <a:avLst/>
          </a:prstGeom>
          <a:noFill/>
          <a:ln>
            <a:noFill/>
          </a:ln>
        </p:spPr>
        <p:txBody>
          <a:bodyPr spcFirstLastPara="1" wrap="square" lIns="86141" tIns="43059" rIns="86141" bIns="43059" anchor="ctr" anchorCtr="0">
            <a:normAutofit/>
          </a:bodyPr>
          <a:lstStyle/>
          <a:p>
            <a:pPr algn="ctr" rtl="0">
              <a:buClr>
                <a:schemeClr val="dk1"/>
              </a:buClr>
              <a:buSzPts val="4400"/>
            </a:pPr>
            <a:r>
              <a:rPr lang="en-US" sz="6000" b="1" i="0" dirty="0"/>
              <a:t>  IMP Note to Self</a:t>
            </a:r>
            <a:endParaRPr sz="6000" b="1" i="0" dirty="0"/>
          </a:p>
        </p:txBody>
      </p:sp>
      <p:pic>
        <p:nvPicPr>
          <p:cNvPr id="395" name="Google Shape;395;g1844f2ff692_0_0"/>
          <p:cNvPicPr preferRelativeResize="0"/>
          <p:nvPr/>
        </p:nvPicPr>
        <p:blipFill rotWithShape="1">
          <a:blip r:embed="rId3">
            <a:alphaModFix/>
          </a:blip>
          <a:srcRect/>
          <a:stretch/>
        </p:blipFill>
        <p:spPr>
          <a:xfrm>
            <a:off x="1586776" y="2207772"/>
            <a:ext cx="6377525" cy="312091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306546"/>
            <a:ext cx="8072120" cy="5025390"/>
          </a:xfrm>
          <a:prstGeom prst="rect">
            <a:avLst/>
          </a:prstGeom>
        </p:spPr>
        <p:txBody>
          <a:bodyPr vert="horz" wrap="square" lIns="0" tIns="73025" rIns="0" bIns="0" rtlCol="0">
            <a:spAutoFit/>
          </a:bodyPr>
          <a:lstStyle/>
          <a:p>
            <a:pPr marL="355600" indent="-342900">
              <a:lnSpc>
                <a:spcPct val="100000"/>
              </a:lnSpc>
              <a:spcBef>
                <a:spcPts val="575"/>
              </a:spcBef>
              <a:buClr>
                <a:srgbClr val="0F1141"/>
              </a:buClr>
              <a:buChar char="•"/>
              <a:tabLst>
                <a:tab pos="354965" algn="l"/>
                <a:tab pos="355600" algn="l"/>
              </a:tabLst>
            </a:pPr>
            <a:r>
              <a:rPr sz="2000" spc="-5" dirty="0">
                <a:latin typeface="Arial"/>
                <a:cs typeface="Arial"/>
              </a:rPr>
              <a:t>Represents character </a:t>
            </a:r>
            <a:r>
              <a:rPr sz="2000" dirty="0">
                <a:latin typeface="Arial"/>
                <a:cs typeface="Arial"/>
              </a:rPr>
              <a:t>strings such </a:t>
            </a:r>
            <a:r>
              <a:rPr sz="2000" spc="-5" dirty="0">
                <a:latin typeface="Arial"/>
                <a:cs typeface="Arial"/>
              </a:rPr>
              <a:t>as </a:t>
            </a:r>
            <a:r>
              <a:rPr sz="2000" dirty="0">
                <a:latin typeface="Arial"/>
                <a:cs typeface="Arial"/>
              </a:rPr>
              <a:t>“a”, </a:t>
            </a:r>
            <a:r>
              <a:rPr sz="2000" spc="-5" dirty="0">
                <a:latin typeface="Arial"/>
                <a:cs typeface="Arial"/>
              </a:rPr>
              <a:t>“David”, </a:t>
            </a:r>
            <a:r>
              <a:rPr sz="2000" dirty="0">
                <a:latin typeface="Arial"/>
                <a:cs typeface="Arial"/>
              </a:rPr>
              <a:t>“Mike”</a:t>
            </a:r>
            <a:r>
              <a:rPr sz="2000" spc="-170" dirty="0">
                <a:latin typeface="Arial"/>
                <a:cs typeface="Arial"/>
              </a:rPr>
              <a:t> </a:t>
            </a:r>
            <a:r>
              <a:rPr sz="2000" dirty="0">
                <a:latin typeface="Arial"/>
                <a:cs typeface="Arial"/>
              </a:rPr>
              <a:t>etc</a:t>
            </a:r>
            <a:endParaRPr sz="2000">
              <a:latin typeface="Arial"/>
              <a:cs typeface="Arial"/>
            </a:endParaRPr>
          </a:p>
          <a:p>
            <a:pPr marL="355600" marR="214629" indent="-342900">
              <a:lnSpc>
                <a:spcPct val="100000"/>
              </a:lnSpc>
              <a:spcBef>
                <a:spcPts val="480"/>
              </a:spcBef>
              <a:buClr>
                <a:srgbClr val="0F1141"/>
              </a:buClr>
              <a:buChar char="•"/>
              <a:tabLst>
                <a:tab pos="354965" algn="l"/>
                <a:tab pos="355600" algn="l"/>
              </a:tabLst>
            </a:pPr>
            <a:r>
              <a:rPr sz="2000" spc="-5" dirty="0">
                <a:latin typeface="Arial"/>
                <a:cs typeface="Arial"/>
              </a:rPr>
              <a:t>Every </a:t>
            </a:r>
            <a:r>
              <a:rPr sz="2000" dirty="0">
                <a:latin typeface="Arial"/>
                <a:cs typeface="Arial"/>
              </a:rPr>
              <a:t>String </a:t>
            </a:r>
            <a:r>
              <a:rPr sz="2000" spc="-5" dirty="0">
                <a:latin typeface="Arial"/>
                <a:cs typeface="Arial"/>
              </a:rPr>
              <a:t>literal </a:t>
            </a:r>
            <a:r>
              <a:rPr sz="2000" dirty="0">
                <a:latin typeface="Arial"/>
                <a:cs typeface="Arial"/>
              </a:rPr>
              <a:t>(such as “123”, “Ram”, </a:t>
            </a:r>
            <a:r>
              <a:rPr sz="2000" spc="-20" dirty="0">
                <a:latin typeface="Arial"/>
                <a:cs typeface="Arial"/>
              </a:rPr>
              <a:t>“151103” </a:t>
            </a:r>
            <a:r>
              <a:rPr sz="2000" spc="-5" dirty="0">
                <a:latin typeface="Arial"/>
                <a:cs typeface="Arial"/>
              </a:rPr>
              <a:t>etc.) is </a:t>
            </a:r>
            <a:r>
              <a:rPr sz="2000" dirty="0">
                <a:latin typeface="Arial"/>
                <a:cs typeface="Arial"/>
              </a:rPr>
              <a:t>a</a:t>
            </a:r>
            <a:r>
              <a:rPr sz="2000" spc="-200" dirty="0">
                <a:latin typeface="Arial"/>
                <a:cs typeface="Arial"/>
              </a:rPr>
              <a:t> </a:t>
            </a:r>
            <a:r>
              <a:rPr sz="2000" dirty="0">
                <a:latin typeface="Arial"/>
                <a:cs typeface="Arial"/>
              </a:rPr>
              <a:t>String  </a:t>
            </a:r>
            <a:r>
              <a:rPr sz="2000" spc="-5" dirty="0">
                <a:latin typeface="Arial"/>
                <a:cs typeface="Arial"/>
              </a:rPr>
              <a:t>type </a:t>
            </a:r>
            <a:r>
              <a:rPr sz="2000" dirty="0">
                <a:latin typeface="Arial"/>
                <a:cs typeface="Arial"/>
              </a:rPr>
              <a:t>object in Java and hence any String class method can be  </a:t>
            </a:r>
            <a:r>
              <a:rPr sz="2000" spc="-5" dirty="0">
                <a:latin typeface="Arial"/>
                <a:cs typeface="Arial"/>
              </a:rPr>
              <a:t>invoked via </a:t>
            </a:r>
            <a:r>
              <a:rPr sz="2000" dirty="0">
                <a:latin typeface="Arial"/>
                <a:cs typeface="Arial"/>
              </a:rPr>
              <a:t>string </a:t>
            </a:r>
            <a:r>
              <a:rPr sz="2000" spc="-5" dirty="0">
                <a:latin typeface="Arial"/>
                <a:cs typeface="Arial"/>
              </a:rPr>
              <a:t>type literals also. </a:t>
            </a:r>
            <a:r>
              <a:rPr sz="2000" dirty="0">
                <a:latin typeface="Arial"/>
                <a:cs typeface="Arial"/>
              </a:rPr>
              <a:t>For </a:t>
            </a:r>
            <a:r>
              <a:rPr sz="2000" spc="-5" dirty="0">
                <a:latin typeface="Arial"/>
                <a:cs typeface="Arial"/>
              </a:rPr>
              <a:t>Example, </a:t>
            </a:r>
            <a:r>
              <a:rPr sz="2000" dirty="0">
                <a:latin typeface="Arial"/>
                <a:cs typeface="Arial"/>
              </a:rPr>
              <a:t>“abc”.length(),  </a:t>
            </a:r>
            <a:r>
              <a:rPr sz="2000" spc="-5" dirty="0">
                <a:latin typeface="Arial"/>
                <a:cs typeface="Arial"/>
              </a:rPr>
              <a:t>“abc”.equals(“ABC”);</a:t>
            </a:r>
            <a:endParaRPr sz="2000">
              <a:latin typeface="Arial"/>
              <a:cs typeface="Arial"/>
            </a:endParaRPr>
          </a:p>
          <a:p>
            <a:pPr marL="355600" indent="-342900">
              <a:lnSpc>
                <a:spcPct val="100000"/>
              </a:lnSpc>
              <a:spcBef>
                <a:spcPts val="480"/>
              </a:spcBef>
              <a:buClr>
                <a:srgbClr val="0F1141"/>
              </a:buClr>
              <a:buChar char="•"/>
              <a:tabLst>
                <a:tab pos="354965" algn="l"/>
                <a:tab pos="355600" algn="l"/>
              </a:tabLst>
            </a:pPr>
            <a:r>
              <a:rPr sz="2000" dirty="0">
                <a:latin typeface="Arial"/>
                <a:cs typeface="Arial"/>
              </a:rPr>
              <a:t>String str = “abc”; , or String str = new String(“abc”); are</a:t>
            </a:r>
            <a:r>
              <a:rPr sz="2000" spc="-275" dirty="0">
                <a:latin typeface="Arial"/>
                <a:cs typeface="Arial"/>
              </a:rPr>
              <a:t> </a:t>
            </a:r>
            <a:r>
              <a:rPr sz="2000" dirty="0">
                <a:latin typeface="Arial"/>
                <a:cs typeface="Arial"/>
              </a:rPr>
              <a:t>equivalent</a:t>
            </a:r>
            <a:endParaRPr sz="2000">
              <a:latin typeface="Arial"/>
              <a:cs typeface="Arial"/>
            </a:endParaRPr>
          </a:p>
          <a:p>
            <a:pPr marL="355600">
              <a:lnSpc>
                <a:spcPct val="100000"/>
              </a:lnSpc>
              <a:spcBef>
                <a:spcPts val="5"/>
              </a:spcBef>
            </a:pPr>
            <a:r>
              <a:rPr sz="2000" dirty="0">
                <a:latin typeface="Arial"/>
                <a:cs typeface="Arial"/>
              </a:rPr>
              <a:t>statements</a:t>
            </a:r>
            <a:endParaRPr sz="2000">
              <a:latin typeface="Arial"/>
              <a:cs typeface="Arial"/>
            </a:endParaRPr>
          </a:p>
          <a:p>
            <a:pPr marL="355600" indent="-342900">
              <a:lnSpc>
                <a:spcPct val="100000"/>
              </a:lnSpc>
              <a:spcBef>
                <a:spcPts val="480"/>
              </a:spcBef>
              <a:buClr>
                <a:srgbClr val="0F1141"/>
              </a:buClr>
              <a:buChar char="•"/>
              <a:tabLst>
                <a:tab pos="354965" algn="l"/>
                <a:tab pos="355600" algn="l"/>
              </a:tabLst>
            </a:pPr>
            <a:r>
              <a:rPr sz="2000" dirty="0">
                <a:latin typeface="Arial"/>
                <a:cs typeface="Arial"/>
              </a:rPr>
              <a:t>Strings in Java represents immutable</a:t>
            </a:r>
            <a:r>
              <a:rPr sz="2000" spc="-125" dirty="0">
                <a:latin typeface="Arial"/>
                <a:cs typeface="Arial"/>
              </a:rPr>
              <a:t> </a:t>
            </a:r>
            <a:r>
              <a:rPr sz="2000" dirty="0">
                <a:latin typeface="Arial"/>
                <a:cs typeface="Arial"/>
              </a:rPr>
              <a:t>strings</a:t>
            </a:r>
            <a:endParaRPr sz="2000">
              <a:latin typeface="Arial"/>
              <a:cs typeface="Arial"/>
            </a:endParaRPr>
          </a:p>
          <a:p>
            <a:pPr marL="355600" indent="-342900">
              <a:lnSpc>
                <a:spcPct val="100000"/>
              </a:lnSpc>
              <a:spcBef>
                <a:spcPts val="480"/>
              </a:spcBef>
              <a:buClr>
                <a:srgbClr val="0F1141"/>
              </a:buClr>
              <a:buChar char="•"/>
              <a:tabLst>
                <a:tab pos="354965" algn="l"/>
                <a:tab pos="355600" algn="l"/>
              </a:tabLst>
            </a:pPr>
            <a:r>
              <a:rPr sz="2000" dirty="0">
                <a:latin typeface="Arial"/>
                <a:cs typeface="Arial"/>
              </a:rPr>
              <a:t>Every string has a length which can be retrieved using</a:t>
            </a:r>
            <a:r>
              <a:rPr sz="2000" spc="-165" dirty="0">
                <a:latin typeface="Arial"/>
                <a:cs typeface="Arial"/>
              </a:rPr>
              <a:t> </a:t>
            </a:r>
            <a:r>
              <a:rPr sz="2000" dirty="0">
                <a:solidFill>
                  <a:srgbClr val="FF0000"/>
                </a:solidFill>
                <a:latin typeface="Arial"/>
                <a:cs typeface="Arial"/>
              </a:rPr>
              <a:t>length()</a:t>
            </a:r>
            <a:endParaRPr sz="2000">
              <a:latin typeface="Arial"/>
              <a:cs typeface="Arial"/>
            </a:endParaRPr>
          </a:p>
          <a:p>
            <a:pPr marL="355600">
              <a:lnSpc>
                <a:spcPct val="100000"/>
              </a:lnSpc>
            </a:pPr>
            <a:r>
              <a:rPr sz="2000" spc="-5" dirty="0">
                <a:latin typeface="Arial"/>
                <a:cs typeface="Arial"/>
              </a:rPr>
              <a:t>method. </a:t>
            </a:r>
            <a:r>
              <a:rPr sz="2000" dirty="0">
                <a:latin typeface="Arial"/>
                <a:cs typeface="Arial"/>
              </a:rPr>
              <a:t>For </a:t>
            </a:r>
            <a:r>
              <a:rPr sz="2000" spc="-5" dirty="0">
                <a:latin typeface="Arial"/>
                <a:cs typeface="Arial"/>
              </a:rPr>
              <a:t>Example </a:t>
            </a:r>
            <a:r>
              <a:rPr sz="2000" dirty="0">
                <a:latin typeface="Arial"/>
                <a:cs typeface="Arial"/>
              </a:rPr>
              <a:t>“Mike”.length() returns</a:t>
            </a:r>
            <a:r>
              <a:rPr sz="2000" spc="-135" dirty="0">
                <a:latin typeface="Arial"/>
                <a:cs typeface="Arial"/>
              </a:rPr>
              <a:t> </a:t>
            </a:r>
            <a:r>
              <a:rPr sz="2000" dirty="0">
                <a:latin typeface="Arial"/>
                <a:cs typeface="Arial"/>
              </a:rPr>
              <a:t>4</a:t>
            </a:r>
            <a:endParaRPr sz="2000">
              <a:latin typeface="Arial"/>
              <a:cs typeface="Arial"/>
            </a:endParaRPr>
          </a:p>
          <a:p>
            <a:pPr marL="355600" marR="5080" indent="-342900" algn="just">
              <a:lnSpc>
                <a:spcPct val="100000"/>
              </a:lnSpc>
              <a:spcBef>
                <a:spcPts val="480"/>
              </a:spcBef>
              <a:buClr>
                <a:srgbClr val="0F1141"/>
              </a:buClr>
              <a:buChar char="•"/>
              <a:tabLst>
                <a:tab pos="355600" algn="l"/>
              </a:tabLst>
            </a:pPr>
            <a:r>
              <a:rPr sz="2000" dirty="0">
                <a:latin typeface="Arial"/>
                <a:cs typeface="Arial"/>
              </a:rPr>
              <a:t>Every </a:t>
            </a:r>
            <a:r>
              <a:rPr sz="2000" spc="-5" dirty="0">
                <a:latin typeface="Arial"/>
                <a:cs typeface="Arial"/>
              </a:rPr>
              <a:t>character </a:t>
            </a:r>
            <a:r>
              <a:rPr sz="2000" dirty="0">
                <a:latin typeface="Arial"/>
                <a:cs typeface="Arial"/>
              </a:rPr>
              <a:t>of String object </a:t>
            </a:r>
            <a:r>
              <a:rPr sz="2000" spc="-10" dirty="0">
                <a:latin typeface="Arial"/>
                <a:cs typeface="Arial"/>
              </a:rPr>
              <a:t>is </a:t>
            </a:r>
            <a:r>
              <a:rPr sz="2000" spc="-5" dirty="0">
                <a:latin typeface="Arial"/>
                <a:cs typeface="Arial"/>
              </a:rPr>
              <a:t>idexed and index </a:t>
            </a:r>
            <a:r>
              <a:rPr sz="2000" dirty="0">
                <a:latin typeface="Arial"/>
                <a:cs typeface="Arial"/>
              </a:rPr>
              <a:t>varies </a:t>
            </a:r>
            <a:r>
              <a:rPr sz="2000" spc="-5" dirty="0">
                <a:latin typeface="Arial"/>
                <a:cs typeface="Arial"/>
              </a:rPr>
              <a:t>from </a:t>
            </a:r>
            <a:r>
              <a:rPr sz="2000" dirty="0">
                <a:solidFill>
                  <a:srgbClr val="FF0000"/>
                </a:solidFill>
                <a:latin typeface="Arial"/>
                <a:cs typeface="Arial"/>
              </a:rPr>
              <a:t>0 </a:t>
            </a:r>
            <a:r>
              <a:rPr sz="2000" spc="-20" dirty="0">
                <a:latin typeface="Arial"/>
                <a:cs typeface="Arial"/>
              </a:rPr>
              <a:t>to </a:t>
            </a:r>
            <a:r>
              <a:rPr sz="2000" spc="-20" dirty="0">
                <a:solidFill>
                  <a:srgbClr val="FF0000"/>
                </a:solidFill>
                <a:latin typeface="Arial"/>
                <a:cs typeface="Arial"/>
              </a:rPr>
              <a:t> </a:t>
            </a:r>
            <a:r>
              <a:rPr sz="2000" dirty="0">
                <a:solidFill>
                  <a:srgbClr val="FF0000"/>
                </a:solidFill>
                <a:latin typeface="Arial"/>
                <a:cs typeface="Arial"/>
              </a:rPr>
              <a:t>L-1 </a:t>
            </a:r>
            <a:r>
              <a:rPr sz="2000" spc="-5" dirty="0">
                <a:latin typeface="Arial"/>
                <a:cs typeface="Arial"/>
              </a:rPr>
              <a:t>(Where </a:t>
            </a:r>
            <a:r>
              <a:rPr sz="2000" spc="-40" dirty="0">
                <a:latin typeface="Arial"/>
                <a:cs typeface="Arial"/>
              </a:rPr>
              <a:t>‘L’ </a:t>
            </a:r>
            <a:r>
              <a:rPr sz="2000" spc="-5" dirty="0">
                <a:latin typeface="Arial"/>
                <a:cs typeface="Arial"/>
              </a:rPr>
              <a:t>is length </a:t>
            </a:r>
            <a:r>
              <a:rPr sz="2000" spc="-10" dirty="0">
                <a:latin typeface="Arial"/>
                <a:cs typeface="Arial"/>
              </a:rPr>
              <a:t>of </a:t>
            </a:r>
            <a:r>
              <a:rPr sz="2000" dirty="0">
                <a:latin typeface="Arial"/>
                <a:cs typeface="Arial"/>
              </a:rPr>
              <a:t>String). </a:t>
            </a:r>
            <a:r>
              <a:rPr sz="2000" spc="-5" dirty="0">
                <a:latin typeface="Arial"/>
                <a:cs typeface="Arial"/>
              </a:rPr>
              <a:t>For </a:t>
            </a:r>
            <a:r>
              <a:rPr sz="2000" dirty="0">
                <a:latin typeface="Arial"/>
                <a:cs typeface="Arial"/>
              </a:rPr>
              <a:t>example, </a:t>
            </a:r>
            <a:r>
              <a:rPr sz="2000" spc="-5" dirty="0">
                <a:latin typeface="Arial"/>
                <a:cs typeface="Arial"/>
              </a:rPr>
              <a:t>string </a:t>
            </a:r>
            <a:r>
              <a:rPr sz="2000" spc="-5" dirty="0">
                <a:solidFill>
                  <a:srgbClr val="FF0000"/>
                </a:solidFill>
                <a:latin typeface="Arial"/>
                <a:cs typeface="Arial"/>
              </a:rPr>
              <a:t>“Mike” </a:t>
            </a:r>
            <a:r>
              <a:rPr sz="2000" spc="-15" dirty="0">
                <a:latin typeface="Arial"/>
                <a:cs typeface="Arial"/>
              </a:rPr>
              <a:t>has  </a:t>
            </a:r>
            <a:r>
              <a:rPr sz="2000" dirty="0">
                <a:latin typeface="Arial"/>
                <a:cs typeface="Arial"/>
              </a:rPr>
              <a:t>character </a:t>
            </a:r>
            <a:r>
              <a:rPr sz="2000" spc="-5" dirty="0">
                <a:solidFill>
                  <a:srgbClr val="FF0000"/>
                </a:solidFill>
                <a:latin typeface="Arial"/>
                <a:cs typeface="Arial"/>
              </a:rPr>
              <a:t>‘M’ </a:t>
            </a:r>
            <a:r>
              <a:rPr sz="2000" dirty="0">
                <a:latin typeface="Arial"/>
                <a:cs typeface="Arial"/>
              </a:rPr>
              <a:t>at index </a:t>
            </a:r>
            <a:r>
              <a:rPr sz="2000" dirty="0">
                <a:solidFill>
                  <a:srgbClr val="FF0000"/>
                </a:solidFill>
                <a:latin typeface="Arial"/>
                <a:cs typeface="Arial"/>
              </a:rPr>
              <a:t>0</a:t>
            </a:r>
            <a:r>
              <a:rPr sz="2000" dirty="0">
                <a:latin typeface="Arial"/>
                <a:cs typeface="Arial"/>
              </a:rPr>
              <a:t>, character </a:t>
            </a:r>
            <a:r>
              <a:rPr sz="2000" spc="-5" dirty="0">
                <a:solidFill>
                  <a:srgbClr val="FF0000"/>
                </a:solidFill>
                <a:latin typeface="Arial"/>
                <a:cs typeface="Arial"/>
              </a:rPr>
              <a:t>‘i’ </a:t>
            </a:r>
            <a:r>
              <a:rPr sz="2000" dirty="0">
                <a:latin typeface="Arial"/>
                <a:cs typeface="Arial"/>
              </a:rPr>
              <a:t>at index </a:t>
            </a:r>
            <a:r>
              <a:rPr sz="2000" dirty="0">
                <a:solidFill>
                  <a:srgbClr val="FF0000"/>
                </a:solidFill>
                <a:latin typeface="Arial"/>
                <a:cs typeface="Arial"/>
              </a:rPr>
              <a:t>1</a:t>
            </a:r>
            <a:r>
              <a:rPr sz="2000" spc="-320" dirty="0">
                <a:solidFill>
                  <a:srgbClr val="FF0000"/>
                </a:solidFill>
                <a:latin typeface="Arial"/>
                <a:cs typeface="Arial"/>
              </a:rPr>
              <a:t> </a:t>
            </a:r>
            <a:r>
              <a:rPr sz="2000" dirty="0">
                <a:latin typeface="Arial"/>
                <a:cs typeface="Arial"/>
              </a:rPr>
              <a:t>etc.</a:t>
            </a:r>
            <a:endParaRPr sz="2000">
              <a:latin typeface="Arial"/>
              <a:cs typeface="Arial"/>
            </a:endParaRPr>
          </a:p>
          <a:p>
            <a:pPr marL="355600" indent="-342900" algn="just">
              <a:lnSpc>
                <a:spcPct val="100000"/>
              </a:lnSpc>
              <a:spcBef>
                <a:spcPts val="480"/>
              </a:spcBef>
              <a:buClr>
                <a:srgbClr val="0F1141"/>
              </a:buClr>
              <a:buChar char="•"/>
              <a:tabLst>
                <a:tab pos="355600" algn="l"/>
              </a:tabLst>
            </a:pPr>
            <a:r>
              <a:rPr sz="2000" spc="-5" dirty="0">
                <a:latin typeface="Arial"/>
                <a:cs typeface="Arial"/>
              </a:rPr>
              <a:t>Getting</a:t>
            </a:r>
            <a:r>
              <a:rPr sz="2000" spc="545" dirty="0">
                <a:latin typeface="Arial"/>
                <a:cs typeface="Arial"/>
              </a:rPr>
              <a:t> </a:t>
            </a:r>
            <a:r>
              <a:rPr sz="2000" spc="-5" dirty="0">
                <a:latin typeface="Arial"/>
                <a:cs typeface="Arial"/>
              </a:rPr>
              <a:t>characters  out  </a:t>
            </a:r>
            <a:r>
              <a:rPr sz="2000" dirty="0">
                <a:latin typeface="Arial"/>
                <a:cs typeface="Arial"/>
              </a:rPr>
              <a:t>of </a:t>
            </a:r>
            <a:r>
              <a:rPr sz="2000" spc="-5" dirty="0">
                <a:latin typeface="Arial"/>
                <a:cs typeface="Arial"/>
              </a:rPr>
              <a:t>index  </a:t>
            </a:r>
            <a:r>
              <a:rPr sz="2000" dirty="0">
                <a:latin typeface="Arial"/>
                <a:cs typeface="Arial"/>
              </a:rPr>
              <a:t>will </a:t>
            </a:r>
            <a:r>
              <a:rPr sz="2000" spc="-5" dirty="0">
                <a:latin typeface="Arial"/>
                <a:cs typeface="Arial"/>
              </a:rPr>
              <a:t>results</a:t>
            </a:r>
            <a:r>
              <a:rPr sz="2000" spc="20" dirty="0">
                <a:latin typeface="Arial"/>
                <a:cs typeface="Arial"/>
              </a:rPr>
              <a:t> </a:t>
            </a:r>
            <a:r>
              <a:rPr sz="2000" spc="-5" dirty="0">
                <a:latin typeface="Arial"/>
                <a:cs typeface="Arial"/>
              </a:rPr>
              <a:t>in</a:t>
            </a:r>
            <a:endParaRPr sz="2000">
              <a:latin typeface="Arial"/>
              <a:cs typeface="Arial"/>
            </a:endParaRPr>
          </a:p>
          <a:p>
            <a:pPr marL="355600">
              <a:lnSpc>
                <a:spcPct val="100000"/>
              </a:lnSpc>
              <a:spcBef>
                <a:spcPts val="5"/>
              </a:spcBef>
            </a:pPr>
            <a:r>
              <a:rPr sz="2000" dirty="0">
                <a:solidFill>
                  <a:srgbClr val="FF0000"/>
                </a:solidFill>
                <a:latin typeface="Arial"/>
                <a:cs typeface="Arial"/>
              </a:rPr>
              <a:t>StringIndexOutofBoundsException.</a:t>
            </a:r>
            <a:endParaRPr sz="2000">
              <a:latin typeface="Arial"/>
              <a:cs typeface="Arial"/>
            </a:endParaRPr>
          </a:p>
        </p:txBody>
      </p:sp>
      <p:sp>
        <p:nvSpPr>
          <p:cNvPr id="3" name="object 3"/>
          <p:cNvSpPr txBox="1">
            <a:spLocks noGrp="1"/>
          </p:cNvSpPr>
          <p:nvPr>
            <p:ph type="title"/>
          </p:nvPr>
        </p:nvSpPr>
        <p:spPr>
          <a:xfrm>
            <a:off x="383540" y="379221"/>
            <a:ext cx="3792854" cy="574040"/>
          </a:xfrm>
          <a:prstGeom prst="rect">
            <a:avLst/>
          </a:prstGeom>
        </p:spPr>
        <p:txBody>
          <a:bodyPr vert="horz" wrap="square" lIns="0" tIns="12700" rIns="0" bIns="0" rtlCol="0">
            <a:spAutoFit/>
          </a:bodyPr>
          <a:lstStyle/>
          <a:p>
            <a:pPr marL="12700">
              <a:lnSpc>
                <a:spcPct val="100000"/>
              </a:lnSpc>
              <a:spcBef>
                <a:spcPts val="100"/>
              </a:spcBef>
            </a:pPr>
            <a:r>
              <a:rPr sz="3600" i="0" spc="-135" dirty="0">
                <a:solidFill>
                  <a:srgbClr val="000000"/>
                </a:solidFill>
                <a:latin typeface="Arial"/>
                <a:cs typeface="Arial"/>
              </a:rPr>
              <a:t>String</a:t>
            </a:r>
            <a:r>
              <a:rPr sz="3600" i="0" spc="-310" dirty="0">
                <a:solidFill>
                  <a:srgbClr val="000000"/>
                </a:solidFill>
                <a:latin typeface="Arial"/>
                <a:cs typeface="Arial"/>
              </a:rPr>
              <a:t> </a:t>
            </a:r>
            <a:r>
              <a:rPr sz="3600" i="0" spc="-145" dirty="0">
                <a:solidFill>
                  <a:srgbClr val="000000"/>
                </a:solidFill>
                <a:latin typeface="Arial"/>
                <a:cs typeface="Arial"/>
              </a:rPr>
              <a:t>Introduction</a:t>
            </a:r>
            <a:endParaRPr sz="36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4307"/>
            <a:ext cx="8432165" cy="4124960"/>
          </a:xfrm>
          <a:prstGeom prst="rect">
            <a:avLst/>
          </a:prstGeom>
        </p:spPr>
        <p:txBody>
          <a:bodyPr vert="horz" wrap="square" lIns="0" tIns="86360" rIns="0" bIns="0" rtlCol="0">
            <a:spAutoFit/>
          </a:bodyPr>
          <a:lstStyle/>
          <a:p>
            <a:pPr marL="469900" indent="-457200" algn="just">
              <a:lnSpc>
                <a:spcPct val="100000"/>
              </a:lnSpc>
              <a:spcBef>
                <a:spcPts val="680"/>
              </a:spcBef>
              <a:buClr>
                <a:srgbClr val="0F1141"/>
              </a:buClr>
              <a:buAutoNum type="arabicPeriod"/>
              <a:tabLst>
                <a:tab pos="469900" algn="l"/>
              </a:tabLst>
            </a:pPr>
            <a:r>
              <a:rPr sz="2400" dirty="0">
                <a:solidFill>
                  <a:srgbClr val="FF0000"/>
                </a:solidFill>
                <a:latin typeface="Arial"/>
                <a:cs typeface="Arial"/>
              </a:rPr>
              <a:t>String() </a:t>
            </a:r>
            <a:r>
              <a:rPr sz="2400" dirty="0">
                <a:latin typeface="Wingdings"/>
                <a:cs typeface="Wingdings"/>
              </a:rPr>
              <a:t></a:t>
            </a:r>
            <a:r>
              <a:rPr sz="2400" dirty="0">
                <a:latin typeface="Times New Roman"/>
                <a:cs typeface="Times New Roman"/>
              </a:rPr>
              <a:t> </a:t>
            </a:r>
            <a:r>
              <a:rPr sz="2400" spc="-5" dirty="0">
                <a:latin typeface="Arial"/>
                <a:cs typeface="Arial"/>
              </a:rPr>
              <a:t>Creates an Empty String, length</a:t>
            </a:r>
            <a:r>
              <a:rPr sz="2400" spc="-320" dirty="0">
                <a:latin typeface="Arial"/>
                <a:cs typeface="Arial"/>
              </a:rPr>
              <a:t> </a:t>
            </a:r>
            <a:r>
              <a:rPr sz="2400" dirty="0">
                <a:latin typeface="Arial"/>
                <a:cs typeface="Arial"/>
              </a:rPr>
              <a:t>=0</a:t>
            </a:r>
          </a:p>
          <a:p>
            <a:pPr marL="469900" indent="-457200" algn="just">
              <a:lnSpc>
                <a:spcPct val="100000"/>
              </a:lnSpc>
              <a:spcBef>
                <a:spcPts val="575"/>
              </a:spcBef>
              <a:buClr>
                <a:srgbClr val="0F1141"/>
              </a:buClr>
              <a:buAutoNum type="arabicPeriod"/>
              <a:tabLst>
                <a:tab pos="469900" algn="l"/>
              </a:tabLst>
            </a:pPr>
            <a:r>
              <a:rPr sz="2400" spc="-5" dirty="0">
                <a:solidFill>
                  <a:srgbClr val="FF0000"/>
                </a:solidFill>
                <a:latin typeface="Arial"/>
                <a:cs typeface="Arial"/>
              </a:rPr>
              <a:t>String(char[] </a:t>
            </a:r>
            <a:r>
              <a:rPr sz="2400" dirty="0">
                <a:solidFill>
                  <a:srgbClr val="FF0000"/>
                </a:solidFill>
                <a:latin typeface="Arial"/>
                <a:cs typeface="Arial"/>
              </a:rPr>
              <a:t>str) </a:t>
            </a:r>
            <a:r>
              <a:rPr sz="2400" dirty="0">
                <a:latin typeface="Wingdings"/>
                <a:cs typeface="Wingdings"/>
              </a:rPr>
              <a:t></a:t>
            </a:r>
            <a:r>
              <a:rPr sz="2400" dirty="0">
                <a:latin typeface="Times New Roman"/>
                <a:cs typeface="Times New Roman"/>
              </a:rPr>
              <a:t> </a:t>
            </a:r>
            <a:r>
              <a:rPr sz="2400" spc="-5" dirty="0">
                <a:latin typeface="Arial"/>
                <a:cs typeface="Arial"/>
              </a:rPr>
              <a:t>Creates a string </a:t>
            </a:r>
            <a:r>
              <a:rPr sz="2400" dirty="0">
                <a:latin typeface="Arial"/>
                <a:cs typeface="Arial"/>
              </a:rPr>
              <a:t>from </a:t>
            </a:r>
            <a:r>
              <a:rPr sz="2400" spc="-5" dirty="0">
                <a:latin typeface="Arial"/>
                <a:cs typeface="Arial"/>
              </a:rPr>
              <a:t>char</a:t>
            </a:r>
            <a:r>
              <a:rPr sz="2400" spc="220" dirty="0">
                <a:latin typeface="Arial"/>
                <a:cs typeface="Arial"/>
              </a:rPr>
              <a:t> </a:t>
            </a:r>
            <a:r>
              <a:rPr sz="2400" spc="-5" dirty="0">
                <a:latin typeface="Arial"/>
                <a:cs typeface="Arial"/>
              </a:rPr>
              <a:t>array</a:t>
            </a:r>
            <a:endParaRPr sz="2400" dirty="0">
              <a:latin typeface="Arial"/>
              <a:cs typeface="Arial"/>
            </a:endParaRPr>
          </a:p>
          <a:p>
            <a:pPr marL="469900" marR="5080" indent="-457200" algn="just">
              <a:lnSpc>
                <a:spcPct val="100299"/>
              </a:lnSpc>
              <a:spcBef>
                <a:spcPts val="570"/>
              </a:spcBef>
              <a:buClr>
                <a:srgbClr val="0F1141"/>
              </a:buClr>
              <a:buAutoNum type="arabicPeriod"/>
              <a:tabLst>
                <a:tab pos="469900" algn="l"/>
              </a:tabLst>
            </a:pPr>
            <a:r>
              <a:rPr sz="2400" spc="-5" dirty="0">
                <a:solidFill>
                  <a:srgbClr val="FF0000"/>
                </a:solidFill>
                <a:latin typeface="Arial"/>
                <a:cs typeface="Arial"/>
              </a:rPr>
              <a:t>String(char chars[],int start, int </a:t>
            </a:r>
            <a:r>
              <a:rPr sz="2400" dirty="0">
                <a:solidFill>
                  <a:srgbClr val="FF0000"/>
                </a:solidFill>
                <a:latin typeface="Arial"/>
                <a:cs typeface="Arial"/>
              </a:rPr>
              <a:t>numChars) </a:t>
            </a:r>
            <a:r>
              <a:rPr sz="2400" dirty="0">
                <a:latin typeface="Wingdings"/>
                <a:cs typeface="Wingdings"/>
              </a:rPr>
              <a:t></a:t>
            </a:r>
            <a:r>
              <a:rPr sz="2400" dirty="0">
                <a:latin typeface="Times New Roman"/>
                <a:cs typeface="Times New Roman"/>
              </a:rPr>
              <a:t> </a:t>
            </a:r>
            <a:r>
              <a:rPr sz="2400" spc="-5" dirty="0">
                <a:latin typeface="Arial"/>
                <a:cs typeface="Arial"/>
              </a:rPr>
              <a:t>Creates a  </a:t>
            </a:r>
            <a:r>
              <a:rPr sz="2400" dirty="0">
                <a:latin typeface="Arial"/>
                <a:cs typeface="Arial"/>
              </a:rPr>
              <a:t>String from </a:t>
            </a:r>
            <a:r>
              <a:rPr sz="2400" spc="-5" dirty="0">
                <a:solidFill>
                  <a:srgbClr val="FF0000"/>
                </a:solidFill>
                <a:latin typeface="Arial"/>
                <a:cs typeface="Arial"/>
              </a:rPr>
              <a:t>chars </a:t>
            </a:r>
            <a:r>
              <a:rPr sz="2400" spc="-5" dirty="0">
                <a:latin typeface="Arial"/>
                <a:cs typeface="Arial"/>
              </a:rPr>
              <a:t>array starting from index </a:t>
            </a:r>
            <a:r>
              <a:rPr sz="2400" spc="-5" dirty="0">
                <a:solidFill>
                  <a:srgbClr val="FF0000"/>
                </a:solidFill>
                <a:latin typeface="Arial"/>
                <a:cs typeface="Arial"/>
              </a:rPr>
              <a:t>‘start’ </a:t>
            </a:r>
            <a:r>
              <a:rPr sz="2400" dirty="0">
                <a:latin typeface="Arial"/>
                <a:cs typeface="Arial"/>
              </a:rPr>
              <a:t>to </a:t>
            </a:r>
            <a:r>
              <a:rPr sz="2400" spc="-5" dirty="0">
                <a:solidFill>
                  <a:srgbClr val="FF0000"/>
                </a:solidFill>
                <a:latin typeface="Arial"/>
                <a:cs typeface="Arial"/>
              </a:rPr>
              <a:t>‘start </a:t>
            </a:r>
            <a:r>
              <a:rPr sz="2400" dirty="0">
                <a:solidFill>
                  <a:srgbClr val="FF0000"/>
                </a:solidFill>
                <a:latin typeface="Arial"/>
                <a:cs typeface="Arial"/>
              </a:rPr>
              <a:t>+  </a:t>
            </a:r>
            <a:r>
              <a:rPr sz="2400" spc="-5" dirty="0">
                <a:solidFill>
                  <a:srgbClr val="FF0000"/>
                </a:solidFill>
                <a:latin typeface="Arial"/>
                <a:cs typeface="Arial"/>
              </a:rPr>
              <a:t>numChars </a:t>
            </a:r>
            <a:r>
              <a:rPr sz="2400" dirty="0">
                <a:solidFill>
                  <a:srgbClr val="FF0000"/>
                </a:solidFill>
                <a:latin typeface="Arial"/>
                <a:cs typeface="Arial"/>
              </a:rPr>
              <a:t>–</a:t>
            </a:r>
            <a:r>
              <a:rPr sz="2400" spc="5" dirty="0">
                <a:solidFill>
                  <a:srgbClr val="FF0000"/>
                </a:solidFill>
                <a:latin typeface="Arial"/>
                <a:cs typeface="Arial"/>
              </a:rPr>
              <a:t> </a:t>
            </a:r>
            <a:r>
              <a:rPr sz="2400" spc="-5" dirty="0">
                <a:solidFill>
                  <a:srgbClr val="FF0000"/>
                </a:solidFill>
                <a:latin typeface="Arial"/>
                <a:cs typeface="Arial"/>
              </a:rPr>
              <a:t>1’</a:t>
            </a:r>
            <a:endParaRPr sz="2400" dirty="0">
              <a:latin typeface="Arial"/>
              <a:cs typeface="Arial"/>
            </a:endParaRPr>
          </a:p>
          <a:p>
            <a:pPr marL="469900" indent="-457200" algn="just">
              <a:lnSpc>
                <a:spcPct val="100000"/>
              </a:lnSpc>
              <a:spcBef>
                <a:spcPts val="565"/>
              </a:spcBef>
              <a:buClr>
                <a:srgbClr val="0F1141"/>
              </a:buClr>
              <a:buAutoNum type="arabicPeriod"/>
              <a:tabLst>
                <a:tab pos="469900" algn="l"/>
              </a:tabLst>
            </a:pPr>
            <a:r>
              <a:rPr sz="2400" spc="-5" dirty="0">
                <a:solidFill>
                  <a:srgbClr val="FF0000"/>
                </a:solidFill>
                <a:latin typeface="Arial"/>
                <a:cs typeface="Arial"/>
              </a:rPr>
              <a:t>String(String </a:t>
            </a:r>
            <a:r>
              <a:rPr sz="2400" dirty="0">
                <a:solidFill>
                  <a:srgbClr val="FF0000"/>
                </a:solidFill>
                <a:latin typeface="Arial"/>
                <a:cs typeface="Arial"/>
              </a:rPr>
              <a:t>str) </a:t>
            </a:r>
            <a:r>
              <a:rPr sz="2400" dirty="0">
                <a:latin typeface="Wingdings"/>
                <a:cs typeface="Wingdings"/>
              </a:rPr>
              <a:t></a:t>
            </a:r>
            <a:r>
              <a:rPr sz="2400" dirty="0">
                <a:latin typeface="Times New Roman"/>
                <a:cs typeface="Times New Roman"/>
              </a:rPr>
              <a:t> </a:t>
            </a:r>
            <a:r>
              <a:rPr sz="2400" spc="-5" dirty="0">
                <a:latin typeface="Arial"/>
                <a:cs typeface="Arial"/>
              </a:rPr>
              <a:t>Creates a String </a:t>
            </a:r>
            <a:r>
              <a:rPr sz="2400" dirty="0">
                <a:latin typeface="Arial"/>
                <a:cs typeface="Arial"/>
              </a:rPr>
              <a:t>from </a:t>
            </a:r>
            <a:r>
              <a:rPr sz="2400" spc="-5" dirty="0">
                <a:latin typeface="Arial"/>
                <a:cs typeface="Arial"/>
              </a:rPr>
              <a:t>another</a:t>
            </a:r>
            <a:r>
              <a:rPr sz="2400" spc="114" dirty="0">
                <a:latin typeface="Arial"/>
                <a:cs typeface="Arial"/>
              </a:rPr>
              <a:t> </a:t>
            </a:r>
            <a:r>
              <a:rPr sz="2400" spc="-5" dirty="0">
                <a:latin typeface="Arial"/>
                <a:cs typeface="Arial"/>
              </a:rPr>
              <a:t>String</a:t>
            </a:r>
            <a:endParaRPr sz="2400" dirty="0">
              <a:latin typeface="Arial"/>
              <a:cs typeface="Arial"/>
            </a:endParaRPr>
          </a:p>
          <a:p>
            <a:pPr marL="469900" indent="-457200" algn="just">
              <a:lnSpc>
                <a:spcPct val="100000"/>
              </a:lnSpc>
              <a:spcBef>
                <a:spcPts val="575"/>
              </a:spcBef>
              <a:buClr>
                <a:srgbClr val="0F1141"/>
              </a:buClr>
              <a:buAutoNum type="arabicPeriod"/>
              <a:tabLst>
                <a:tab pos="469900" algn="l"/>
              </a:tabLst>
            </a:pPr>
            <a:r>
              <a:rPr sz="2400" dirty="0">
                <a:solidFill>
                  <a:srgbClr val="FF0000"/>
                </a:solidFill>
                <a:latin typeface="Arial"/>
                <a:cs typeface="Arial"/>
              </a:rPr>
              <a:t>String(byte[] bytes) </a:t>
            </a:r>
            <a:r>
              <a:rPr sz="2400" dirty="0">
                <a:latin typeface="Wingdings"/>
                <a:cs typeface="Wingdings"/>
              </a:rPr>
              <a:t></a:t>
            </a:r>
            <a:r>
              <a:rPr sz="2400" dirty="0">
                <a:latin typeface="Times New Roman"/>
                <a:cs typeface="Times New Roman"/>
              </a:rPr>
              <a:t> </a:t>
            </a:r>
            <a:r>
              <a:rPr sz="2400" spc="-5" dirty="0">
                <a:latin typeface="Arial"/>
                <a:cs typeface="Arial"/>
              </a:rPr>
              <a:t>Creats </a:t>
            </a:r>
            <a:r>
              <a:rPr sz="2400" dirty="0">
                <a:latin typeface="Arial"/>
                <a:cs typeface="Arial"/>
              </a:rPr>
              <a:t>a </a:t>
            </a:r>
            <a:r>
              <a:rPr sz="2400" spc="-5" dirty="0">
                <a:latin typeface="Arial"/>
                <a:cs typeface="Arial"/>
              </a:rPr>
              <a:t>String </a:t>
            </a:r>
            <a:r>
              <a:rPr sz="2400" dirty="0">
                <a:latin typeface="Arial"/>
                <a:cs typeface="Arial"/>
              </a:rPr>
              <a:t>from byte</a:t>
            </a:r>
            <a:r>
              <a:rPr sz="2400" spc="10" dirty="0">
                <a:latin typeface="Arial"/>
                <a:cs typeface="Arial"/>
              </a:rPr>
              <a:t> </a:t>
            </a:r>
            <a:r>
              <a:rPr sz="2400" dirty="0">
                <a:latin typeface="Arial"/>
                <a:cs typeface="Arial"/>
              </a:rPr>
              <a:t>array</a:t>
            </a:r>
          </a:p>
          <a:p>
            <a:pPr marL="469900" marR="5080" indent="-457200" algn="just">
              <a:lnSpc>
                <a:spcPct val="100200"/>
              </a:lnSpc>
              <a:spcBef>
                <a:spcPts val="570"/>
              </a:spcBef>
              <a:buClr>
                <a:srgbClr val="0F1141"/>
              </a:buClr>
              <a:buAutoNum type="arabicPeriod"/>
              <a:tabLst>
                <a:tab pos="469900" algn="l"/>
              </a:tabLst>
            </a:pPr>
            <a:r>
              <a:rPr sz="2400" spc="-5" dirty="0">
                <a:solidFill>
                  <a:srgbClr val="FF0000"/>
                </a:solidFill>
                <a:latin typeface="Arial"/>
                <a:cs typeface="Arial"/>
              </a:rPr>
              <a:t>String(byte bytes[],int start, int </a:t>
            </a:r>
            <a:r>
              <a:rPr sz="2400" dirty="0">
                <a:solidFill>
                  <a:srgbClr val="FF0000"/>
                </a:solidFill>
                <a:latin typeface="Arial"/>
                <a:cs typeface="Arial"/>
              </a:rPr>
              <a:t>numChars) </a:t>
            </a:r>
            <a:r>
              <a:rPr sz="2400" dirty="0">
                <a:latin typeface="Wingdings"/>
                <a:cs typeface="Wingdings"/>
              </a:rPr>
              <a:t></a:t>
            </a:r>
            <a:r>
              <a:rPr sz="2400" dirty="0">
                <a:latin typeface="Times New Roman"/>
                <a:cs typeface="Times New Roman"/>
              </a:rPr>
              <a:t> </a:t>
            </a:r>
            <a:r>
              <a:rPr sz="2400" dirty="0">
                <a:latin typeface="Arial"/>
                <a:cs typeface="Arial"/>
              </a:rPr>
              <a:t>Creats </a:t>
            </a:r>
            <a:r>
              <a:rPr sz="2400" spc="-5" dirty="0">
                <a:latin typeface="Arial"/>
                <a:cs typeface="Arial"/>
              </a:rPr>
              <a:t>a  String from </a:t>
            </a:r>
            <a:r>
              <a:rPr sz="2400" dirty="0">
                <a:solidFill>
                  <a:srgbClr val="FF0000"/>
                </a:solidFill>
                <a:latin typeface="Arial"/>
                <a:cs typeface="Arial"/>
              </a:rPr>
              <a:t>bytes </a:t>
            </a:r>
            <a:r>
              <a:rPr sz="2400" spc="-5" dirty="0">
                <a:latin typeface="Arial"/>
                <a:cs typeface="Arial"/>
              </a:rPr>
              <a:t>starting </a:t>
            </a:r>
            <a:r>
              <a:rPr sz="2400" dirty="0">
                <a:latin typeface="Arial"/>
                <a:cs typeface="Arial"/>
              </a:rPr>
              <a:t>from </a:t>
            </a:r>
            <a:r>
              <a:rPr sz="2400" spc="-5" dirty="0">
                <a:latin typeface="Arial"/>
                <a:cs typeface="Arial"/>
              </a:rPr>
              <a:t>index </a:t>
            </a:r>
            <a:r>
              <a:rPr sz="2400" dirty="0">
                <a:solidFill>
                  <a:srgbClr val="FF0000"/>
                </a:solidFill>
                <a:latin typeface="Arial"/>
                <a:cs typeface="Arial"/>
              </a:rPr>
              <a:t>‘start’ </a:t>
            </a:r>
            <a:r>
              <a:rPr sz="2400" dirty="0">
                <a:latin typeface="Arial"/>
                <a:cs typeface="Arial"/>
              </a:rPr>
              <a:t>to </a:t>
            </a:r>
            <a:r>
              <a:rPr sz="2400" spc="-5" dirty="0">
                <a:solidFill>
                  <a:srgbClr val="FF0000"/>
                </a:solidFill>
                <a:latin typeface="Arial"/>
                <a:cs typeface="Arial"/>
              </a:rPr>
              <a:t>‘start </a:t>
            </a:r>
            <a:r>
              <a:rPr sz="2400" dirty="0">
                <a:solidFill>
                  <a:srgbClr val="FF0000"/>
                </a:solidFill>
                <a:latin typeface="Arial"/>
                <a:cs typeface="Arial"/>
              </a:rPr>
              <a:t>+  numChars –</a:t>
            </a:r>
            <a:r>
              <a:rPr sz="2400" spc="-5" dirty="0">
                <a:solidFill>
                  <a:srgbClr val="FF0000"/>
                </a:solidFill>
                <a:latin typeface="Arial"/>
                <a:cs typeface="Arial"/>
              </a:rPr>
              <a:t> 1’</a:t>
            </a:r>
            <a:endParaRPr sz="2400" dirty="0">
              <a:latin typeface="Arial"/>
              <a:cs typeface="Arial"/>
            </a:endParaRPr>
          </a:p>
        </p:txBody>
      </p:sp>
      <p:sp>
        <p:nvSpPr>
          <p:cNvPr id="3" name="object 3"/>
          <p:cNvSpPr txBox="1">
            <a:spLocks noGrp="1"/>
          </p:cNvSpPr>
          <p:nvPr>
            <p:ph type="title"/>
          </p:nvPr>
        </p:nvSpPr>
        <p:spPr>
          <a:xfrm>
            <a:off x="383540" y="379221"/>
            <a:ext cx="6040120" cy="574040"/>
          </a:xfrm>
          <a:prstGeom prst="rect">
            <a:avLst/>
          </a:prstGeom>
        </p:spPr>
        <p:txBody>
          <a:bodyPr vert="horz" wrap="square" lIns="0" tIns="12700" rIns="0" bIns="0" rtlCol="0">
            <a:spAutoFit/>
          </a:bodyPr>
          <a:lstStyle/>
          <a:p>
            <a:pPr marL="12700">
              <a:lnSpc>
                <a:spcPct val="100000"/>
              </a:lnSpc>
              <a:spcBef>
                <a:spcPts val="100"/>
              </a:spcBef>
            </a:pPr>
            <a:r>
              <a:rPr sz="3600" i="0" spc="-145" dirty="0">
                <a:solidFill>
                  <a:srgbClr val="000000"/>
                </a:solidFill>
                <a:latin typeface="Arial"/>
                <a:cs typeface="Arial"/>
              </a:rPr>
              <a:t>Important </a:t>
            </a:r>
            <a:r>
              <a:rPr sz="3600" i="0" spc="-135" dirty="0">
                <a:solidFill>
                  <a:srgbClr val="000000"/>
                </a:solidFill>
                <a:latin typeface="Arial"/>
                <a:cs typeface="Arial"/>
              </a:rPr>
              <a:t>String</a:t>
            </a:r>
            <a:r>
              <a:rPr sz="3600" i="0" spc="-390" dirty="0">
                <a:solidFill>
                  <a:srgbClr val="000000"/>
                </a:solidFill>
                <a:latin typeface="Arial"/>
                <a:cs typeface="Arial"/>
              </a:rPr>
              <a:t> </a:t>
            </a:r>
            <a:r>
              <a:rPr sz="3600" i="0" spc="-145" dirty="0">
                <a:solidFill>
                  <a:srgbClr val="000000"/>
                </a:solidFill>
                <a:latin typeface="Arial"/>
                <a:cs typeface="Arial"/>
              </a:rPr>
              <a:t>Constructors</a:t>
            </a:r>
            <a:endParaRPr sz="36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9221"/>
            <a:ext cx="5984240" cy="574040"/>
          </a:xfrm>
          <a:prstGeom prst="rect">
            <a:avLst/>
          </a:prstGeom>
        </p:spPr>
        <p:txBody>
          <a:bodyPr vert="horz" wrap="square" lIns="0" tIns="12700" rIns="0" bIns="0" rtlCol="0">
            <a:spAutoFit/>
          </a:bodyPr>
          <a:lstStyle/>
          <a:p>
            <a:pPr marL="12700">
              <a:lnSpc>
                <a:spcPct val="100000"/>
              </a:lnSpc>
              <a:spcBef>
                <a:spcPts val="100"/>
              </a:spcBef>
            </a:pPr>
            <a:r>
              <a:rPr sz="3600" i="0" spc="-135" dirty="0">
                <a:solidFill>
                  <a:srgbClr val="000000"/>
                </a:solidFill>
                <a:latin typeface="Arial"/>
                <a:cs typeface="Arial"/>
              </a:rPr>
              <a:t>String </a:t>
            </a:r>
            <a:r>
              <a:rPr sz="3600" i="0" spc="-145" dirty="0">
                <a:solidFill>
                  <a:srgbClr val="000000"/>
                </a:solidFill>
                <a:latin typeface="Arial"/>
                <a:cs typeface="Arial"/>
              </a:rPr>
              <a:t>Constructors:</a:t>
            </a:r>
            <a:r>
              <a:rPr sz="3600" i="0" spc="-420" dirty="0">
                <a:solidFill>
                  <a:srgbClr val="000000"/>
                </a:solidFill>
                <a:latin typeface="Arial"/>
                <a:cs typeface="Arial"/>
              </a:rPr>
              <a:t> </a:t>
            </a:r>
            <a:r>
              <a:rPr sz="3600" i="0" spc="-140" dirty="0">
                <a:solidFill>
                  <a:srgbClr val="000000"/>
                </a:solidFill>
                <a:latin typeface="Arial"/>
                <a:cs typeface="Arial"/>
              </a:rPr>
              <a:t>Example</a:t>
            </a:r>
            <a:endParaRPr sz="3600">
              <a:latin typeface="Arial"/>
              <a:cs typeface="Arial"/>
            </a:endParaRPr>
          </a:p>
        </p:txBody>
      </p:sp>
      <p:sp>
        <p:nvSpPr>
          <p:cNvPr id="3" name="object 3"/>
          <p:cNvSpPr txBox="1"/>
          <p:nvPr/>
        </p:nvSpPr>
        <p:spPr>
          <a:xfrm>
            <a:off x="383540" y="1506093"/>
            <a:ext cx="2819400"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0000"/>
                </a:solidFill>
                <a:latin typeface="Calibri"/>
                <a:cs typeface="Calibri"/>
              </a:rPr>
              <a:t>// </a:t>
            </a:r>
            <a:r>
              <a:rPr sz="1400" b="1" spc="-5" dirty="0">
                <a:solidFill>
                  <a:srgbClr val="FF0000"/>
                </a:solidFill>
                <a:latin typeface="Calibri"/>
                <a:cs typeface="Calibri"/>
              </a:rPr>
              <a:t>Creating </a:t>
            </a:r>
            <a:r>
              <a:rPr sz="1400" b="1" dirty="0">
                <a:solidFill>
                  <a:srgbClr val="FF0000"/>
                </a:solidFill>
                <a:latin typeface="Calibri"/>
                <a:cs typeface="Calibri"/>
              </a:rPr>
              <a:t>Strings </a:t>
            </a:r>
            <a:r>
              <a:rPr sz="1400" b="1" spc="-5" dirty="0">
                <a:solidFill>
                  <a:srgbClr val="FF0000"/>
                </a:solidFill>
                <a:latin typeface="Calibri"/>
                <a:cs typeface="Calibri"/>
              </a:rPr>
              <a:t>from </a:t>
            </a:r>
            <a:r>
              <a:rPr sz="1400" b="1" dirty="0">
                <a:solidFill>
                  <a:srgbClr val="FF0000"/>
                </a:solidFill>
                <a:latin typeface="Calibri"/>
                <a:cs typeface="Calibri"/>
              </a:rPr>
              <a:t>String</a:t>
            </a:r>
            <a:r>
              <a:rPr sz="1400" b="1" spc="-160" dirty="0">
                <a:solidFill>
                  <a:srgbClr val="FF0000"/>
                </a:solidFill>
                <a:latin typeface="Calibri"/>
                <a:cs typeface="Calibri"/>
              </a:rPr>
              <a:t> </a:t>
            </a:r>
            <a:r>
              <a:rPr sz="1400" b="1" spc="-5" dirty="0">
                <a:solidFill>
                  <a:srgbClr val="FF0000"/>
                </a:solidFill>
                <a:latin typeface="Calibri"/>
                <a:cs typeface="Calibri"/>
              </a:rPr>
              <a:t>Literals</a:t>
            </a:r>
            <a:endParaRPr sz="1400">
              <a:latin typeface="Calibri"/>
              <a:cs typeface="Calibri"/>
            </a:endParaRPr>
          </a:p>
        </p:txBody>
      </p:sp>
      <p:sp>
        <p:nvSpPr>
          <p:cNvPr id="4" name="object 4"/>
          <p:cNvSpPr txBox="1"/>
          <p:nvPr/>
        </p:nvSpPr>
        <p:spPr>
          <a:xfrm>
            <a:off x="4041775" y="1719452"/>
            <a:ext cx="222377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Calibri"/>
                <a:cs typeface="Calibri"/>
              </a:rPr>
              <a:t>String </a:t>
            </a:r>
            <a:r>
              <a:rPr sz="1400" b="1" spc="-5" dirty="0">
                <a:latin typeface="Calibri"/>
                <a:cs typeface="Calibri"/>
              </a:rPr>
              <a:t>str </a:t>
            </a:r>
            <a:r>
              <a:rPr sz="1400" b="1" dirty="0">
                <a:latin typeface="Calibri"/>
                <a:cs typeface="Calibri"/>
              </a:rPr>
              <a:t>= </a:t>
            </a:r>
            <a:r>
              <a:rPr sz="1400" b="1" spc="-5" dirty="0">
                <a:latin typeface="Calibri"/>
                <a:cs typeface="Calibri"/>
              </a:rPr>
              <a:t>new</a:t>
            </a:r>
            <a:r>
              <a:rPr sz="1400" b="1" spc="-75" dirty="0">
                <a:latin typeface="Calibri"/>
                <a:cs typeface="Calibri"/>
              </a:rPr>
              <a:t> </a:t>
            </a:r>
            <a:r>
              <a:rPr sz="1400" b="1" spc="-5" dirty="0">
                <a:latin typeface="Calibri"/>
                <a:cs typeface="Calibri"/>
              </a:rPr>
              <a:t>String("abc");</a:t>
            </a:r>
            <a:endParaRPr sz="1400">
              <a:latin typeface="Calibri"/>
              <a:cs typeface="Calibri"/>
            </a:endParaRPr>
          </a:p>
        </p:txBody>
      </p:sp>
      <p:sp>
        <p:nvSpPr>
          <p:cNvPr id="5" name="object 5"/>
          <p:cNvSpPr txBox="1"/>
          <p:nvPr/>
        </p:nvSpPr>
        <p:spPr>
          <a:xfrm>
            <a:off x="383540" y="1719452"/>
            <a:ext cx="784860" cy="452755"/>
          </a:xfrm>
          <a:prstGeom prst="rect">
            <a:avLst/>
          </a:prstGeom>
        </p:spPr>
        <p:txBody>
          <a:bodyPr vert="horz" wrap="square" lIns="0" tIns="13335" rIns="0" bIns="0" rtlCol="0">
            <a:spAutoFit/>
          </a:bodyPr>
          <a:lstStyle/>
          <a:p>
            <a:pPr marL="12700" marR="5080">
              <a:lnSpc>
                <a:spcPct val="100000"/>
              </a:lnSpc>
              <a:spcBef>
                <a:spcPts val="105"/>
              </a:spcBef>
            </a:pPr>
            <a:r>
              <a:rPr sz="1400" b="1" dirty="0">
                <a:latin typeface="Calibri"/>
                <a:cs typeface="Calibri"/>
              </a:rPr>
              <a:t>String </a:t>
            </a:r>
            <a:r>
              <a:rPr sz="1400" b="1" spc="-5" dirty="0">
                <a:latin typeface="Calibri"/>
                <a:cs typeface="Calibri"/>
              </a:rPr>
              <a:t>str  </a:t>
            </a:r>
            <a:r>
              <a:rPr sz="1400" b="1" dirty="0">
                <a:latin typeface="Calibri"/>
                <a:cs typeface="Calibri"/>
              </a:rPr>
              <a:t>String</a:t>
            </a:r>
            <a:r>
              <a:rPr sz="1400" b="1" spc="-90" dirty="0">
                <a:latin typeface="Calibri"/>
                <a:cs typeface="Calibri"/>
              </a:rPr>
              <a:t> </a:t>
            </a:r>
            <a:r>
              <a:rPr sz="1400" b="1" spc="-5" dirty="0">
                <a:latin typeface="Calibri"/>
                <a:cs typeface="Calibri"/>
              </a:rPr>
              <a:t>str1</a:t>
            </a:r>
            <a:endParaRPr sz="1400">
              <a:latin typeface="Calibri"/>
              <a:cs typeface="Calibri"/>
            </a:endParaRPr>
          </a:p>
        </p:txBody>
      </p:sp>
      <p:sp>
        <p:nvSpPr>
          <p:cNvPr id="6" name="object 6"/>
          <p:cNvSpPr txBox="1"/>
          <p:nvPr/>
        </p:nvSpPr>
        <p:spPr>
          <a:xfrm>
            <a:off x="1298194" y="1719452"/>
            <a:ext cx="2007235" cy="452755"/>
          </a:xfrm>
          <a:prstGeom prst="rect">
            <a:avLst/>
          </a:prstGeom>
        </p:spPr>
        <p:txBody>
          <a:bodyPr vert="horz" wrap="square" lIns="0" tIns="13335" rIns="0" bIns="0" rtlCol="0">
            <a:spAutoFit/>
          </a:bodyPr>
          <a:lstStyle/>
          <a:p>
            <a:pPr marL="12700">
              <a:lnSpc>
                <a:spcPct val="100000"/>
              </a:lnSpc>
              <a:spcBef>
                <a:spcPts val="105"/>
              </a:spcBef>
              <a:tabLst>
                <a:tab pos="1841500" algn="l"/>
              </a:tabLst>
            </a:pPr>
            <a:r>
              <a:rPr sz="1400" b="1" dirty="0">
                <a:latin typeface="Calibri"/>
                <a:cs typeface="Calibri"/>
              </a:rPr>
              <a:t>=</a:t>
            </a:r>
            <a:r>
              <a:rPr sz="1400" b="1" spc="-10" dirty="0">
                <a:latin typeface="Calibri"/>
                <a:cs typeface="Calibri"/>
              </a:rPr>
              <a:t> </a:t>
            </a:r>
            <a:r>
              <a:rPr sz="1400" b="1" spc="-5" dirty="0">
                <a:latin typeface="Calibri"/>
                <a:cs typeface="Calibri"/>
              </a:rPr>
              <a:t>"</a:t>
            </a:r>
            <a:r>
              <a:rPr sz="1400" b="1" dirty="0">
                <a:latin typeface="Calibri"/>
                <a:cs typeface="Calibri"/>
              </a:rPr>
              <a:t>abc</a:t>
            </a:r>
            <a:r>
              <a:rPr sz="1400" b="1" spc="-5" dirty="0">
                <a:latin typeface="Calibri"/>
                <a:cs typeface="Calibri"/>
              </a:rPr>
              <a:t>"</a:t>
            </a:r>
            <a:r>
              <a:rPr sz="1400" b="1" dirty="0">
                <a:latin typeface="Calibri"/>
                <a:cs typeface="Calibri"/>
              </a:rPr>
              <a:t>;	</a:t>
            </a:r>
            <a:r>
              <a:rPr sz="1400" b="1" spc="-5" dirty="0">
                <a:latin typeface="Calibri"/>
                <a:cs typeface="Calibri"/>
              </a:rPr>
              <a:t>//</a:t>
            </a:r>
            <a:endParaRPr sz="1400">
              <a:latin typeface="Calibri"/>
              <a:cs typeface="Calibri"/>
            </a:endParaRPr>
          </a:p>
          <a:p>
            <a:pPr marL="12700">
              <a:lnSpc>
                <a:spcPct val="100000"/>
              </a:lnSpc>
            </a:pPr>
            <a:r>
              <a:rPr sz="1400" b="1" dirty="0">
                <a:latin typeface="Calibri"/>
                <a:cs typeface="Calibri"/>
              </a:rPr>
              <a:t>= </a:t>
            </a:r>
            <a:r>
              <a:rPr sz="1400" b="1" spc="-5" dirty="0">
                <a:latin typeface="Calibri"/>
                <a:cs typeface="Calibri"/>
              </a:rPr>
              <a:t>new</a:t>
            </a:r>
            <a:r>
              <a:rPr sz="1400" b="1" spc="-35" dirty="0">
                <a:latin typeface="Calibri"/>
                <a:cs typeface="Calibri"/>
              </a:rPr>
              <a:t> </a:t>
            </a:r>
            <a:r>
              <a:rPr sz="1400" b="1" spc="-5" dirty="0">
                <a:latin typeface="Calibri"/>
                <a:cs typeface="Calibri"/>
              </a:rPr>
              <a:t>String("abc");</a:t>
            </a:r>
            <a:endParaRPr sz="1400">
              <a:latin typeface="Calibri"/>
              <a:cs typeface="Calibri"/>
            </a:endParaRPr>
          </a:p>
        </p:txBody>
      </p:sp>
      <p:sp>
        <p:nvSpPr>
          <p:cNvPr id="7" name="object 7"/>
          <p:cNvSpPr txBox="1"/>
          <p:nvPr/>
        </p:nvSpPr>
        <p:spPr>
          <a:xfrm>
            <a:off x="365861" y="2434208"/>
            <a:ext cx="2708275" cy="452755"/>
          </a:xfrm>
          <a:prstGeom prst="rect">
            <a:avLst/>
          </a:prstGeom>
        </p:spPr>
        <p:txBody>
          <a:bodyPr vert="horz" wrap="square" lIns="0" tIns="13335" rIns="0" bIns="0" rtlCol="0">
            <a:spAutoFit/>
          </a:bodyPr>
          <a:lstStyle/>
          <a:p>
            <a:pPr marL="12700" marR="5080">
              <a:lnSpc>
                <a:spcPct val="100000"/>
              </a:lnSpc>
              <a:spcBef>
                <a:spcPts val="105"/>
              </a:spcBef>
              <a:tabLst>
                <a:tab pos="926465" algn="l"/>
              </a:tabLst>
            </a:pPr>
            <a:r>
              <a:rPr sz="1400" b="1" dirty="0">
                <a:solidFill>
                  <a:srgbClr val="FF0000"/>
                </a:solidFill>
                <a:latin typeface="Calibri"/>
                <a:cs typeface="Calibri"/>
              </a:rPr>
              <a:t>// </a:t>
            </a:r>
            <a:r>
              <a:rPr sz="1400" b="1" spc="-5" dirty="0">
                <a:solidFill>
                  <a:srgbClr val="FF0000"/>
                </a:solidFill>
                <a:latin typeface="Calibri"/>
                <a:cs typeface="Calibri"/>
              </a:rPr>
              <a:t>Creating </a:t>
            </a:r>
            <a:r>
              <a:rPr sz="1400" b="1" dirty="0">
                <a:solidFill>
                  <a:srgbClr val="FF0000"/>
                </a:solidFill>
                <a:latin typeface="Calibri"/>
                <a:cs typeface="Calibri"/>
              </a:rPr>
              <a:t>Strings </a:t>
            </a:r>
            <a:r>
              <a:rPr sz="1400" b="1" spc="-5" dirty="0">
                <a:solidFill>
                  <a:srgbClr val="FF0000"/>
                </a:solidFill>
                <a:latin typeface="Calibri"/>
                <a:cs typeface="Calibri"/>
              </a:rPr>
              <a:t>from </a:t>
            </a:r>
            <a:r>
              <a:rPr sz="1400" b="1" dirty="0">
                <a:solidFill>
                  <a:srgbClr val="FF0000"/>
                </a:solidFill>
                <a:latin typeface="Calibri"/>
                <a:cs typeface="Calibri"/>
              </a:rPr>
              <a:t>char[] </a:t>
            </a:r>
            <a:r>
              <a:rPr sz="1400" b="1" spc="-10" dirty="0">
                <a:solidFill>
                  <a:srgbClr val="FF0000"/>
                </a:solidFill>
                <a:latin typeface="Calibri"/>
                <a:cs typeface="Calibri"/>
              </a:rPr>
              <a:t>Array  </a:t>
            </a:r>
            <a:r>
              <a:rPr sz="1400" b="1" dirty="0">
                <a:latin typeface="Calibri"/>
                <a:cs typeface="Calibri"/>
              </a:rPr>
              <a:t>char[]	chs =</a:t>
            </a:r>
            <a:r>
              <a:rPr sz="1400" b="1" spc="-60" dirty="0">
                <a:latin typeface="Calibri"/>
                <a:cs typeface="Calibri"/>
              </a:rPr>
              <a:t> </a:t>
            </a:r>
            <a:r>
              <a:rPr sz="1400" b="1" spc="-5" dirty="0">
                <a:latin typeface="Calibri"/>
                <a:cs typeface="Calibri"/>
              </a:rPr>
              <a:t>{'o','b','j','e','c','t'};</a:t>
            </a:r>
            <a:endParaRPr sz="1400">
              <a:latin typeface="Calibri"/>
              <a:cs typeface="Calibri"/>
            </a:endParaRPr>
          </a:p>
        </p:txBody>
      </p:sp>
      <p:sp>
        <p:nvSpPr>
          <p:cNvPr id="8" name="object 8"/>
          <p:cNvSpPr txBox="1"/>
          <p:nvPr/>
        </p:nvSpPr>
        <p:spPr>
          <a:xfrm>
            <a:off x="365861" y="2861310"/>
            <a:ext cx="214249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Calibri"/>
                <a:cs typeface="Calibri"/>
              </a:rPr>
              <a:t>String </a:t>
            </a:r>
            <a:r>
              <a:rPr sz="1400" b="1" spc="-5" dirty="0">
                <a:latin typeface="Calibri"/>
                <a:cs typeface="Calibri"/>
              </a:rPr>
              <a:t>str2 </a:t>
            </a:r>
            <a:r>
              <a:rPr sz="1400" b="1" dirty="0">
                <a:latin typeface="Calibri"/>
                <a:cs typeface="Calibri"/>
              </a:rPr>
              <a:t>= </a:t>
            </a:r>
            <a:r>
              <a:rPr sz="1400" b="1" spc="-5" dirty="0">
                <a:latin typeface="Calibri"/>
                <a:cs typeface="Calibri"/>
              </a:rPr>
              <a:t>new</a:t>
            </a:r>
            <a:r>
              <a:rPr sz="1400" b="1" spc="-65" dirty="0">
                <a:latin typeface="Calibri"/>
                <a:cs typeface="Calibri"/>
              </a:rPr>
              <a:t> </a:t>
            </a:r>
            <a:r>
              <a:rPr sz="1400" b="1" spc="-5" dirty="0">
                <a:latin typeface="Calibri"/>
                <a:cs typeface="Calibri"/>
              </a:rPr>
              <a:t>String(chs);</a:t>
            </a:r>
            <a:endParaRPr sz="1400">
              <a:latin typeface="Calibri"/>
              <a:cs typeface="Calibri"/>
            </a:endParaRPr>
          </a:p>
        </p:txBody>
      </p:sp>
      <p:sp>
        <p:nvSpPr>
          <p:cNvPr id="9" name="object 9"/>
          <p:cNvSpPr txBox="1"/>
          <p:nvPr/>
        </p:nvSpPr>
        <p:spPr>
          <a:xfrm>
            <a:off x="3109341" y="2861310"/>
            <a:ext cx="1167765"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Calibri"/>
                <a:cs typeface="Calibri"/>
              </a:rPr>
              <a:t>//</a:t>
            </a:r>
            <a:r>
              <a:rPr sz="1400" b="1" spc="-70" dirty="0">
                <a:latin typeface="Calibri"/>
                <a:cs typeface="Calibri"/>
              </a:rPr>
              <a:t> </a:t>
            </a:r>
            <a:r>
              <a:rPr sz="1400" b="1" spc="-5" dirty="0">
                <a:latin typeface="Calibri"/>
                <a:cs typeface="Calibri"/>
              </a:rPr>
              <a:t>str2:“object"</a:t>
            </a:r>
            <a:endParaRPr sz="1400">
              <a:latin typeface="Calibri"/>
              <a:cs typeface="Calibri"/>
            </a:endParaRPr>
          </a:p>
        </p:txBody>
      </p:sp>
      <p:sp>
        <p:nvSpPr>
          <p:cNvPr id="10" name="object 10"/>
          <p:cNvSpPr txBox="1"/>
          <p:nvPr/>
        </p:nvSpPr>
        <p:spPr>
          <a:xfrm>
            <a:off x="365861" y="3288029"/>
            <a:ext cx="241300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Calibri"/>
                <a:cs typeface="Calibri"/>
              </a:rPr>
              <a:t>String </a:t>
            </a:r>
            <a:r>
              <a:rPr sz="1400" b="1" spc="-5" dirty="0">
                <a:latin typeface="Calibri"/>
                <a:cs typeface="Calibri"/>
              </a:rPr>
              <a:t>str3 </a:t>
            </a:r>
            <a:r>
              <a:rPr sz="1400" b="1" dirty="0">
                <a:latin typeface="Calibri"/>
                <a:cs typeface="Calibri"/>
              </a:rPr>
              <a:t>= </a:t>
            </a:r>
            <a:r>
              <a:rPr sz="1400" b="1" spc="-5" dirty="0">
                <a:latin typeface="Calibri"/>
                <a:cs typeface="Calibri"/>
              </a:rPr>
              <a:t>new</a:t>
            </a:r>
            <a:r>
              <a:rPr sz="1400" b="1" spc="-55" dirty="0">
                <a:latin typeface="Calibri"/>
                <a:cs typeface="Calibri"/>
              </a:rPr>
              <a:t> </a:t>
            </a:r>
            <a:r>
              <a:rPr sz="1400" b="1" spc="-5" dirty="0">
                <a:latin typeface="Calibri"/>
                <a:cs typeface="Calibri"/>
              </a:rPr>
              <a:t>String(chs,2,4);</a:t>
            </a:r>
            <a:endParaRPr sz="1400">
              <a:latin typeface="Calibri"/>
              <a:cs typeface="Calibri"/>
            </a:endParaRPr>
          </a:p>
        </p:txBody>
      </p:sp>
      <p:sp>
        <p:nvSpPr>
          <p:cNvPr id="11" name="object 11"/>
          <p:cNvSpPr txBox="1"/>
          <p:nvPr/>
        </p:nvSpPr>
        <p:spPr>
          <a:xfrm>
            <a:off x="3109341" y="3288029"/>
            <a:ext cx="510032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a:cs typeface="Calibri"/>
              </a:rPr>
              <a:t>// start-index=1, number-of-characters=4,index </a:t>
            </a:r>
            <a:r>
              <a:rPr sz="1400" b="1" spc="-10" dirty="0">
                <a:latin typeface="Calibri"/>
                <a:cs typeface="Calibri"/>
              </a:rPr>
              <a:t>range: </a:t>
            </a:r>
            <a:r>
              <a:rPr sz="1400" b="1" dirty="0">
                <a:latin typeface="Calibri"/>
                <a:cs typeface="Calibri"/>
              </a:rPr>
              <a:t>2 </a:t>
            </a:r>
            <a:r>
              <a:rPr sz="1400" b="1" spc="-5" dirty="0">
                <a:latin typeface="Calibri"/>
                <a:cs typeface="Calibri"/>
              </a:rPr>
              <a:t>to </a:t>
            </a:r>
            <a:r>
              <a:rPr sz="1400" b="1" dirty="0">
                <a:latin typeface="Calibri"/>
                <a:cs typeface="Calibri"/>
              </a:rPr>
              <a:t>5</a:t>
            </a:r>
            <a:r>
              <a:rPr sz="1400" b="1" spc="-110" dirty="0">
                <a:latin typeface="Calibri"/>
                <a:cs typeface="Calibri"/>
              </a:rPr>
              <a:t> </a:t>
            </a:r>
            <a:r>
              <a:rPr sz="1400" b="1" dirty="0">
                <a:latin typeface="Calibri"/>
                <a:cs typeface="Calibri"/>
              </a:rPr>
              <a:t>(“ject”);</a:t>
            </a:r>
            <a:endParaRPr sz="1400">
              <a:latin typeface="Calibri"/>
              <a:cs typeface="Calibri"/>
            </a:endParaRPr>
          </a:p>
        </p:txBody>
      </p:sp>
      <p:sp>
        <p:nvSpPr>
          <p:cNvPr id="12" name="object 12"/>
          <p:cNvSpPr txBox="1"/>
          <p:nvPr/>
        </p:nvSpPr>
        <p:spPr>
          <a:xfrm>
            <a:off x="365861" y="3714750"/>
            <a:ext cx="256540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0000"/>
                </a:solidFill>
                <a:latin typeface="Calibri"/>
                <a:cs typeface="Calibri"/>
              </a:rPr>
              <a:t>//String </a:t>
            </a:r>
            <a:r>
              <a:rPr sz="1400" b="1" spc="-5" dirty="0">
                <a:solidFill>
                  <a:srgbClr val="FF0000"/>
                </a:solidFill>
                <a:latin typeface="Calibri"/>
                <a:cs typeface="Calibri"/>
              </a:rPr>
              <a:t>str4 </a:t>
            </a:r>
            <a:r>
              <a:rPr sz="1400" b="1" dirty="0">
                <a:solidFill>
                  <a:srgbClr val="FF0000"/>
                </a:solidFill>
                <a:latin typeface="Calibri"/>
                <a:cs typeface="Calibri"/>
              </a:rPr>
              <a:t>= </a:t>
            </a:r>
            <a:r>
              <a:rPr sz="1400" b="1" spc="-5" dirty="0">
                <a:solidFill>
                  <a:srgbClr val="FF0000"/>
                </a:solidFill>
                <a:latin typeface="Calibri"/>
                <a:cs typeface="Calibri"/>
              </a:rPr>
              <a:t>new</a:t>
            </a:r>
            <a:r>
              <a:rPr sz="1400" b="1" spc="-65" dirty="0">
                <a:solidFill>
                  <a:srgbClr val="FF0000"/>
                </a:solidFill>
                <a:latin typeface="Calibri"/>
                <a:cs typeface="Calibri"/>
              </a:rPr>
              <a:t> </a:t>
            </a:r>
            <a:r>
              <a:rPr sz="1400" b="1" spc="-5" dirty="0">
                <a:solidFill>
                  <a:srgbClr val="FF0000"/>
                </a:solidFill>
                <a:latin typeface="Calibri"/>
                <a:cs typeface="Calibri"/>
              </a:rPr>
              <a:t>String(chs,3,4);</a:t>
            </a:r>
            <a:endParaRPr sz="1400">
              <a:latin typeface="Calibri"/>
              <a:cs typeface="Calibri"/>
            </a:endParaRPr>
          </a:p>
        </p:txBody>
      </p:sp>
      <p:sp>
        <p:nvSpPr>
          <p:cNvPr id="13" name="object 13"/>
          <p:cNvSpPr txBox="1"/>
          <p:nvPr/>
        </p:nvSpPr>
        <p:spPr>
          <a:xfrm>
            <a:off x="499363" y="4314519"/>
            <a:ext cx="8091170" cy="173418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0000"/>
                </a:solidFill>
                <a:latin typeface="Calibri"/>
                <a:cs typeface="Calibri"/>
              </a:rPr>
              <a:t>// </a:t>
            </a:r>
            <a:r>
              <a:rPr sz="1400" b="1" spc="-5" dirty="0">
                <a:solidFill>
                  <a:srgbClr val="FF0000"/>
                </a:solidFill>
                <a:latin typeface="Calibri"/>
                <a:cs typeface="Calibri"/>
              </a:rPr>
              <a:t>Creating </a:t>
            </a:r>
            <a:r>
              <a:rPr sz="1400" b="1" dirty="0">
                <a:solidFill>
                  <a:srgbClr val="FF0000"/>
                </a:solidFill>
                <a:latin typeface="Calibri"/>
                <a:cs typeface="Calibri"/>
              </a:rPr>
              <a:t>Strings </a:t>
            </a:r>
            <a:r>
              <a:rPr sz="1400" b="1" spc="-5" dirty="0">
                <a:solidFill>
                  <a:srgbClr val="FF0000"/>
                </a:solidFill>
                <a:latin typeface="Calibri"/>
                <a:cs typeface="Calibri"/>
              </a:rPr>
              <a:t>from byte[]</a:t>
            </a:r>
            <a:r>
              <a:rPr sz="1400" b="1" spc="-145" dirty="0">
                <a:solidFill>
                  <a:srgbClr val="FF0000"/>
                </a:solidFill>
                <a:latin typeface="Calibri"/>
                <a:cs typeface="Calibri"/>
              </a:rPr>
              <a:t> </a:t>
            </a:r>
            <a:r>
              <a:rPr sz="1400" b="1" spc="-10" dirty="0">
                <a:solidFill>
                  <a:srgbClr val="FF0000"/>
                </a:solidFill>
                <a:latin typeface="Calibri"/>
                <a:cs typeface="Calibri"/>
              </a:rPr>
              <a:t>Array</a:t>
            </a:r>
            <a:endParaRPr sz="1400">
              <a:latin typeface="Calibri"/>
              <a:cs typeface="Calibri"/>
            </a:endParaRPr>
          </a:p>
          <a:p>
            <a:pPr marL="12700">
              <a:lnSpc>
                <a:spcPct val="100000"/>
              </a:lnSpc>
              <a:spcBef>
                <a:spcPts val="5"/>
              </a:spcBef>
              <a:tabLst>
                <a:tab pos="926465" algn="l"/>
              </a:tabLst>
            </a:pPr>
            <a:r>
              <a:rPr sz="1400" b="1" spc="-5" dirty="0">
                <a:latin typeface="Calibri"/>
                <a:cs typeface="Calibri"/>
              </a:rPr>
              <a:t>byte[]	bytes </a:t>
            </a:r>
            <a:r>
              <a:rPr sz="1400" b="1" dirty="0">
                <a:latin typeface="Calibri"/>
                <a:cs typeface="Calibri"/>
              </a:rPr>
              <a:t>=</a:t>
            </a:r>
            <a:r>
              <a:rPr sz="1400" b="1" spc="-40" dirty="0">
                <a:latin typeface="Calibri"/>
                <a:cs typeface="Calibri"/>
              </a:rPr>
              <a:t> </a:t>
            </a:r>
            <a:r>
              <a:rPr sz="1400" b="1" spc="-5" dirty="0">
                <a:latin typeface="Calibri"/>
                <a:cs typeface="Calibri"/>
              </a:rPr>
              <a:t>{45,65,90,78,23,89};</a:t>
            </a:r>
            <a:endParaRPr sz="1400">
              <a:latin typeface="Calibri"/>
              <a:cs typeface="Calibri"/>
            </a:endParaRPr>
          </a:p>
          <a:p>
            <a:pPr>
              <a:lnSpc>
                <a:spcPct val="100000"/>
              </a:lnSpc>
              <a:spcBef>
                <a:spcPts val="10"/>
              </a:spcBef>
            </a:pPr>
            <a:endParaRPr sz="1450">
              <a:latin typeface="Times New Roman"/>
              <a:cs typeface="Times New Roman"/>
            </a:endParaRPr>
          </a:p>
          <a:p>
            <a:pPr marL="12700">
              <a:lnSpc>
                <a:spcPct val="100000"/>
              </a:lnSpc>
              <a:tabLst>
                <a:tab pos="2755900" algn="l"/>
              </a:tabLst>
            </a:pPr>
            <a:r>
              <a:rPr sz="1400" b="1" dirty="0">
                <a:latin typeface="Calibri"/>
                <a:cs typeface="Calibri"/>
              </a:rPr>
              <a:t>String </a:t>
            </a:r>
            <a:r>
              <a:rPr sz="1400" b="1" spc="-5" dirty="0">
                <a:latin typeface="Calibri"/>
                <a:cs typeface="Calibri"/>
              </a:rPr>
              <a:t>str5 </a:t>
            </a:r>
            <a:r>
              <a:rPr sz="1400" b="1" dirty="0">
                <a:latin typeface="Calibri"/>
                <a:cs typeface="Calibri"/>
              </a:rPr>
              <a:t>=</a:t>
            </a:r>
            <a:r>
              <a:rPr sz="1400" b="1" spc="5" dirty="0">
                <a:latin typeface="Calibri"/>
                <a:cs typeface="Calibri"/>
              </a:rPr>
              <a:t> </a:t>
            </a:r>
            <a:r>
              <a:rPr sz="1400" b="1" spc="-5" dirty="0">
                <a:latin typeface="Calibri"/>
                <a:cs typeface="Calibri"/>
              </a:rPr>
              <a:t>new String(bytes);	// str5:</a:t>
            </a:r>
            <a:r>
              <a:rPr sz="1400" b="1" spc="-15" dirty="0">
                <a:latin typeface="Calibri"/>
                <a:cs typeface="Calibri"/>
              </a:rPr>
              <a:t> </a:t>
            </a:r>
            <a:r>
              <a:rPr sz="1400" b="1" dirty="0">
                <a:latin typeface="Calibri"/>
                <a:cs typeface="Calibri"/>
              </a:rPr>
              <a:t>-AZN↨Y</a:t>
            </a:r>
            <a:endParaRPr sz="1400">
              <a:latin typeface="Calibri"/>
              <a:cs typeface="Calibri"/>
            </a:endParaRPr>
          </a:p>
          <a:p>
            <a:pPr>
              <a:lnSpc>
                <a:spcPct val="100000"/>
              </a:lnSpc>
              <a:spcBef>
                <a:spcPts val="10"/>
              </a:spcBef>
            </a:pPr>
            <a:endParaRPr sz="1450">
              <a:latin typeface="Times New Roman"/>
              <a:cs typeface="Times New Roman"/>
            </a:endParaRPr>
          </a:p>
          <a:p>
            <a:pPr marL="12700">
              <a:lnSpc>
                <a:spcPct val="100000"/>
              </a:lnSpc>
              <a:spcBef>
                <a:spcPts val="5"/>
              </a:spcBef>
              <a:tabLst>
                <a:tab pos="2795270" algn="l"/>
              </a:tabLst>
            </a:pPr>
            <a:r>
              <a:rPr sz="1400" b="1" dirty="0">
                <a:latin typeface="Calibri"/>
                <a:cs typeface="Calibri"/>
              </a:rPr>
              <a:t>String </a:t>
            </a:r>
            <a:r>
              <a:rPr sz="1400" b="1" spc="-5" dirty="0">
                <a:latin typeface="Calibri"/>
                <a:cs typeface="Calibri"/>
              </a:rPr>
              <a:t>str6 </a:t>
            </a:r>
            <a:r>
              <a:rPr sz="1400" b="1" dirty="0">
                <a:latin typeface="Calibri"/>
                <a:cs typeface="Calibri"/>
              </a:rPr>
              <a:t>= </a:t>
            </a:r>
            <a:r>
              <a:rPr sz="1400" b="1" spc="-5" dirty="0">
                <a:latin typeface="Calibri"/>
                <a:cs typeface="Calibri"/>
              </a:rPr>
              <a:t>new String(bytes,2,4);	</a:t>
            </a:r>
            <a:r>
              <a:rPr sz="1400" b="1" dirty="0">
                <a:latin typeface="Calibri"/>
                <a:cs typeface="Calibri"/>
              </a:rPr>
              <a:t>// </a:t>
            </a:r>
            <a:r>
              <a:rPr sz="1400" b="1" spc="-5" dirty="0">
                <a:latin typeface="Calibri"/>
                <a:cs typeface="Calibri"/>
              </a:rPr>
              <a:t>start-index=1, number-of-characters=4,index </a:t>
            </a:r>
            <a:r>
              <a:rPr sz="1400" b="1" spc="-10" dirty="0">
                <a:latin typeface="Calibri"/>
                <a:cs typeface="Calibri"/>
              </a:rPr>
              <a:t>range: </a:t>
            </a:r>
            <a:r>
              <a:rPr sz="1400" b="1" dirty="0">
                <a:latin typeface="Calibri"/>
                <a:cs typeface="Calibri"/>
              </a:rPr>
              <a:t>2 </a:t>
            </a:r>
            <a:r>
              <a:rPr sz="1400" b="1" spc="-5" dirty="0">
                <a:latin typeface="Calibri"/>
                <a:cs typeface="Calibri"/>
              </a:rPr>
              <a:t>to </a:t>
            </a:r>
            <a:r>
              <a:rPr sz="1400" b="1" dirty="0">
                <a:latin typeface="Calibri"/>
                <a:cs typeface="Calibri"/>
              </a:rPr>
              <a:t>5, </a:t>
            </a:r>
            <a:r>
              <a:rPr sz="1400" b="1" spc="-5" dirty="0">
                <a:latin typeface="Calibri"/>
                <a:cs typeface="Calibri"/>
              </a:rPr>
              <a:t>str6:</a:t>
            </a:r>
            <a:r>
              <a:rPr sz="1400" b="1" spc="-130" dirty="0">
                <a:latin typeface="Calibri"/>
                <a:cs typeface="Calibri"/>
              </a:rPr>
              <a:t> </a:t>
            </a:r>
            <a:r>
              <a:rPr sz="1400" b="1" dirty="0">
                <a:latin typeface="Calibri"/>
                <a:cs typeface="Calibri"/>
              </a:rPr>
              <a:t>ZN↨Y</a:t>
            </a:r>
            <a:endParaRPr sz="1400">
              <a:latin typeface="Calibri"/>
              <a:cs typeface="Calibri"/>
            </a:endParaRPr>
          </a:p>
          <a:p>
            <a:pPr>
              <a:lnSpc>
                <a:spcPct val="100000"/>
              </a:lnSpc>
              <a:spcBef>
                <a:spcPts val="10"/>
              </a:spcBef>
            </a:pPr>
            <a:endParaRPr sz="1450">
              <a:latin typeface="Times New Roman"/>
              <a:cs typeface="Times New Roman"/>
            </a:endParaRPr>
          </a:p>
          <a:p>
            <a:pPr marL="12700">
              <a:lnSpc>
                <a:spcPct val="100000"/>
              </a:lnSpc>
              <a:spcBef>
                <a:spcPts val="5"/>
              </a:spcBef>
            </a:pPr>
            <a:r>
              <a:rPr sz="1400" b="1" dirty="0">
                <a:solidFill>
                  <a:srgbClr val="FF0000"/>
                </a:solidFill>
                <a:latin typeface="Calibri"/>
                <a:cs typeface="Calibri"/>
              </a:rPr>
              <a:t>//String </a:t>
            </a:r>
            <a:r>
              <a:rPr sz="1400" b="1" spc="-5" dirty="0">
                <a:solidFill>
                  <a:srgbClr val="FF0000"/>
                </a:solidFill>
                <a:latin typeface="Calibri"/>
                <a:cs typeface="Calibri"/>
              </a:rPr>
              <a:t>str7 </a:t>
            </a:r>
            <a:r>
              <a:rPr sz="1400" b="1" dirty="0">
                <a:solidFill>
                  <a:srgbClr val="FF0000"/>
                </a:solidFill>
                <a:latin typeface="Calibri"/>
                <a:cs typeface="Calibri"/>
              </a:rPr>
              <a:t>= </a:t>
            </a:r>
            <a:r>
              <a:rPr sz="1400" b="1" spc="-5" dirty="0">
                <a:solidFill>
                  <a:srgbClr val="FF0000"/>
                </a:solidFill>
                <a:latin typeface="Calibri"/>
                <a:cs typeface="Calibri"/>
              </a:rPr>
              <a:t>new String(bytes,3,4); </a:t>
            </a:r>
            <a:r>
              <a:rPr sz="1400" b="1" dirty="0">
                <a:solidFill>
                  <a:srgbClr val="FF0000"/>
                </a:solidFill>
                <a:latin typeface="Calibri"/>
                <a:cs typeface="Calibri"/>
              </a:rPr>
              <a:t>// </a:t>
            </a:r>
            <a:r>
              <a:rPr sz="1400" b="1" spc="-5" dirty="0">
                <a:solidFill>
                  <a:srgbClr val="FF0000"/>
                </a:solidFill>
                <a:latin typeface="Calibri"/>
                <a:cs typeface="Calibri"/>
              </a:rPr>
              <a:t>start-index=3, number-of-characters=4,index </a:t>
            </a:r>
            <a:r>
              <a:rPr sz="1400" b="1" spc="-10" dirty="0">
                <a:solidFill>
                  <a:srgbClr val="FF0000"/>
                </a:solidFill>
                <a:latin typeface="Calibri"/>
                <a:cs typeface="Calibri"/>
              </a:rPr>
              <a:t>range: </a:t>
            </a:r>
            <a:r>
              <a:rPr sz="1400" b="1" dirty="0">
                <a:solidFill>
                  <a:srgbClr val="FF0000"/>
                </a:solidFill>
                <a:latin typeface="Calibri"/>
                <a:cs typeface="Calibri"/>
              </a:rPr>
              <a:t>3 </a:t>
            </a:r>
            <a:r>
              <a:rPr sz="1400" b="1" spc="-5" dirty="0">
                <a:solidFill>
                  <a:srgbClr val="FF0000"/>
                </a:solidFill>
                <a:latin typeface="Calibri"/>
                <a:cs typeface="Calibri"/>
              </a:rPr>
              <a:t>to</a:t>
            </a:r>
            <a:r>
              <a:rPr sz="1400" b="1" spc="-130" dirty="0">
                <a:solidFill>
                  <a:srgbClr val="FF0000"/>
                </a:solidFill>
                <a:latin typeface="Calibri"/>
                <a:cs typeface="Calibri"/>
              </a:rPr>
              <a:t> </a:t>
            </a:r>
            <a:r>
              <a:rPr sz="1400" b="1" dirty="0">
                <a:solidFill>
                  <a:srgbClr val="FF0000"/>
                </a:solidFill>
                <a:latin typeface="Calibri"/>
                <a:cs typeface="Calibri"/>
              </a:rPr>
              <a:t>6</a:t>
            </a:r>
            <a:endParaRPr sz="1400">
              <a:latin typeface="Calibri"/>
              <a:cs typeface="Calibri"/>
            </a:endParaRPr>
          </a:p>
        </p:txBody>
      </p:sp>
      <p:sp>
        <p:nvSpPr>
          <p:cNvPr id="14" name="object 14"/>
          <p:cNvSpPr/>
          <p:nvPr/>
        </p:nvSpPr>
        <p:spPr>
          <a:xfrm>
            <a:off x="1941576" y="3934205"/>
            <a:ext cx="78105" cy="288290"/>
          </a:xfrm>
          <a:custGeom>
            <a:avLst/>
            <a:gdLst/>
            <a:ahLst/>
            <a:cxnLst/>
            <a:rect l="l" t="t" r="r" b="b"/>
            <a:pathLst>
              <a:path w="78105" h="288289">
                <a:moveTo>
                  <a:pt x="51816" y="0"/>
                </a:moveTo>
                <a:lnTo>
                  <a:pt x="25907" y="0"/>
                </a:lnTo>
                <a:lnTo>
                  <a:pt x="25907" y="77724"/>
                </a:lnTo>
                <a:lnTo>
                  <a:pt x="51816" y="77724"/>
                </a:lnTo>
                <a:lnTo>
                  <a:pt x="51816" y="0"/>
                </a:lnTo>
                <a:close/>
              </a:path>
              <a:path w="78105" h="288289">
                <a:moveTo>
                  <a:pt x="51816" y="103632"/>
                </a:moveTo>
                <a:lnTo>
                  <a:pt x="25907" y="103632"/>
                </a:lnTo>
                <a:lnTo>
                  <a:pt x="25907" y="181356"/>
                </a:lnTo>
                <a:lnTo>
                  <a:pt x="51816" y="181356"/>
                </a:lnTo>
                <a:lnTo>
                  <a:pt x="51816" y="103632"/>
                </a:lnTo>
                <a:close/>
              </a:path>
              <a:path w="78105" h="288289">
                <a:moveTo>
                  <a:pt x="25907" y="210312"/>
                </a:moveTo>
                <a:lnTo>
                  <a:pt x="0" y="210312"/>
                </a:lnTo>
                <a:lnTo>
                  <a:pt x="38862" y="288036"/>
                </a:lnTo>
                <a:lnTo>
                  <a:pt x="71247" y="223266"/>
                </a:lnTo>
                <a:lnTo>
                  <a:pt x="25907" y="223266"/>
                </a:lnTo>
                <a:lnTo>
                  <a:pt x="25907" y="210312"/>
                </a:lnTo>
                <a:close/>
              </a:path>
              <a:path w="78105" h="288289">
                <a:moveTo>
                  <a:pt x="51816" y="207264"/>
                </a:moveTo>
                <a:lnTo>
                  <a:pt x="25907" y="207264"/>
                </a:lnTo>
                <a:lnTo>
                  <a:pt x="25907" y="223266"/>
                </a:lnTo>
                <a:lnTo>
                  <a:pt x="51816" y="223266"/>
                </a:lnTo>
                <a:lnTo>
                  <a:pt x="51816" y="207264"/>
                </a:lnTo>
                <a:close/>
              </a:path>
              <a:path w="78105" h="288289">
                <a:moveTo>
                  <a:pt x="77724" y="210312"/>
                </a:moveTo>
                <a:lnTo>
                  <a:pt x="51816" y="210312"/>
                </a:lnTo>
                <a:lnTo>
                  <a:pt x="51816" y="223266"/>
                </a:lnTo>
                <a:lnTo>
                  <a:pt x="71247" y="223266"/>
                </a:lnTo>
                <a:lnTo>
                  <a:pt x="77724" y="210312"/>
                </a:lnTo>
                <a:close/>
              </a:path>
            </a:pathLst>
          </a:custGeom>
          <a:solidFill>
            <a:srgbClr val="FF0000"/>
          </a:solidFill>
        </p:spPr>
        <p:txBody>
          <a:bodyPr wrap="square" lIns="0" tIns="0" rIns="0" bIns="0" rtlCol="0"/>
          <a:lstStyle/>
          <a:p>
            <a:endParaRPr/>
          </a:p>
        </p:txBody>
      </p:sp>
      <p:sp>
        <p:nvSpPr>
          <p:cNvPr id="15" name="object 15"/>
          <p:cNvSpPr/>
          <p:nvPr/>
        </p:nvSpPr>
        <p:spPr>
          <a:xfrm>
            <a:off x="1980438" y="4183379"/>
            <a:ext cx="2736850" cy="78105"/>
          </a:xfrm>
          <a:custGeom>
            <a:avLst/>
            <a:gdLst/>
            <a:ahLst/>
            <a:cxnLst/>
            <a:rect l="l" t="t" r="r" b="b"/>
            <a:pathLst>
              <a:path w="2736850" h="78104">
                <a:moveTo>
                  <a:pt x="77724" y="25908"/>
                </a:moveTo>
                <a:lnTo>
                  <a:pt x="0" y="25908"/>
                </a:lnTo>
                <a:lnTo>
                  <a:pt x="0" y="51816"/>
                </a:lnTo>
                <a:lnTo>
                  <a:pt x="77724" y="51816"/>
                </a:lnTo>
                <a:lnTo>
                  <a:pt x="77724" y="25908"/>
                </a:lnTo>
                <a:close/>
              </a:path>
              <a:path w="2736850" h="78104">
                <a:moveTo>
                  <a:pt x="181356" y="25908"/>
                </a:moveTo>
                <a:lnTo>
                  <a:pt x="103631" y="25908"/>
                </a:lnTo>
                <a:lnTo>
                  <a:pt x="103631" y="51816"/>
                </a:lnTo>
                <a:lnTo>
                  <a:pt x="181356" y="51816"/>
                </a:lnTo>
                <a:lnTo>
                  <a:pt x="181356" y="25908"/>
                </a:lnTo>
                <a:close/>
              </a:path>
              <a:path w="2736850" h="78104">
                <a:moveTo>
                  <a:pt x="284988" y="25908"/>
                </a:moveTo>
                <a:lnTo>
                  <a:pt x="207263" y="25908"/>
                </a:lnTo>
                <a:lnTo>
                  <a:pt x="207263" y="51816"/>
                </a:lnTo>
                <a:lnTo>
                  <a:pt x="284988" y="51816"/>
                </a:lnTo>
                <a:lnTo>
                  <a:pt x="284988" y="25908"/>
                </a:lnTo>
                <a:close/>
              </a:path>
              <a:path w="2736850" h="78104">
                <a:moveTo>
                  <a:pt x="388619" y="25908"/>
                </a:moveTo>
                <a:lnTo>
                  <a:pt x="310895" y="25908"/>
                </a:lnTo>
                <a:lnTo>
                  <a:pt x="310895" y="51816"/>
                </a:lnTo>
                <a:lnTo>
                  <a:pt x="388619" y="51816"/>
                </a:lnTo>
                <a:lnTo>
                  <a:pt x="388619" y="25908"/>
                </a:lnTo>
                <a:close/>
              </a:path>
              <a:path w="2736850" h="78104">
                <a:moveTo>
                  <a:pt x="492251" y="25908"/>
                </a:moveTo>
                <a:lnTo>
                  <a:pt x="414528" y="25908"/>
                </a:lnTo>
                <a:lnTo>
                  <a:pt x="414528" y="51816"/>
                </a:lnTo>
                <a:lnTo>
                  <a:pt x="492251" y="51816"/>
                </a:lnTo>
                <a:lnTo>
                  <a:pt x="492251" y="25908"/>
                </a:lnTo>
                <a:close/>
              </a:path>
              <a:path w="2736850" h="78104">
                <a:moveTo>
                  <a:pt x="595884" y="25908"/>
                </a:moveTo>
                <a:lnTo>
                  <a:pt x="518160" y="25908"/>
                </a:lnTo>
                <a:lnTo>
                  <a:pt x="518160" y="51816"/>
                </a:lnTo>
                <a:lnTo>
                  <a:pt x="595884" y="51816"/>
                </a:lnTo>
                <a:lnTo>
                  <a:pt x="595884" y="25908"/>
                </a:lnTo>
                <a:close/>
              </a:path>
              <a:path w="2736850" h="78104">
                <a:moveTo>
                  <a:pt x="699516" y="25908"/>
                </a:moveTo>
                <a:lnTo>
                  <a:pt x="621792" y="25908"/>
                </a:lnTo>
                <a:lnTo>
                  <a:pt x="621792" y="51816"/>
                </a:lnTo>
                <a:lnTo>
                  <a:pt x="699516" y="51816"/>
                </a:lnTo>
                <a:lnTo>
                  <a:pt x="699516" y="25908"/>
                </a:lnTo>
                <a:close/>
              </a:path>
              <a:path w="2736850" h="78104">
                <a:moveTo>
                  <a:pt x="803148" y="25908"/>
                </a:moveTo>
                <a:lnTo>
                  <a:pt x="725424" y="25908"/>
                </a:lnTo>
                <a:lnTo>
                  <a:pt x="725424" y="51816"/>
                </a:lnTo>
                <a:lnTo>
                  <a:pt x="803148" y="51816"/>
                </a:lnTo>
                <a:lnTo>
                  <a:pt x="803148" y="25908"/>
                </a:lnTo>
                <a:close/>
              </a:path>
              <a:path w="2736850" h="78104">
                <a:moveTo>
                  <a:pt x="906780" y="25908"/>
                </a:moveTo>
                <a:lnTo>
                  <a:pt x="829056" y="25908"/>
                </a:lnTo>
                <a:lnTo>
                  <a:pt x="829056" y="51816"/>
                </a:lnTo>
                <a:lnTo>
                  <a:pt x="906780" y="51816"/>
                </a:lnTo>
                <a:lnTo>
                  <a:pt x="906780" y="25908"/>
                </a:lnTo>
                <a:close/>
              </a:path>
              <a:path w="2736850" h="78104">
                <a:moveTo>
                  <a:pt x="1010412" y="25908"/>
                </a:moveTo>
                <a:lnTo>
                  <a:pt x="932688" y="25908"/>
                </a:lnTo>
                <a:lnTo>
                  <a:pt x="932688" y="51816"/>
                </a:lnTo>
                <a:lnTo>
                  <a:pt x="1010412" y="51816"/>
                </a:lnTo>
                <a:lnTo>
                  <a:pt x="1010412" y="25908"/>
                </a:lnTo>
                <a:close/>
              </a:path>
              <a:path w="2736850" h="78104">
                <a:moveTo>
                  <a:pt x="1114044" y="25908"/>
                </a:moveTo>
                <a:lnTo>
                  <a:pt x="1036319" y="25908"/>
                </a:lnTo>
                <a:lnTo>
                  <a:pt x="1036319" y="51816"/>
                </a:lnTo>
                <a:lnTo>
                  <a:pt x="1114044" y="51816"/>
                </a:lnTo>
                <a:lnTo>
                  <a:pt x="1114044" y="25908"/>
                </a:lnTo>
                <a:close/>
              </a:path>
              <a:path w="2736850" h="78104">
                <a:moveTo>
                  <a:pt x="1217676" y="25908"/>
                </a:moveTo>
                <a:lnTo>
                  <a:pt x="1139952" y="25908"/>
                </a:lnTo>
                <a:lnTo>
                  <a:pt x="1139952" y="51816"/>
                </a:lnTo>
                <a:lnTo>
                  <a:pt x="1217676" y="51816"/>
                </a:lnTo>
                <a:lnTo>
                  <a:pt x="1217676" y="25908"/>
                </a:lnTo>
                <a:close/>
              </a:path>
              <a:path w="2736850" h="78104">
                <a:moveTo>
                  <a:pt x="1321308" y="25908"/>
                </a:moveTo>
                <a:lnTo>
                  <a:pt x="1243584" y="25908"/>
                </a:lnTo>
                <a:lnTo>
                  <a:pt x="1243584" y="51816"/>
                </a:lnTo>
                <a:lnTo>
                  <a:pt x="1321308" y="51816"/>
                </a:lnTo>
                <a:lnTo>
                  <a:pt x="1321308" y="25908"/>
                </a:lnTo>
                <a:close/>
              </a:path>
              <a:path w="2736850" h="78104">
                <a:moveTo>
                  <a:pt x="1424939" y="25908"/>
                </a:moveTo>
                <a:lnTo>
                  <a:pt x="1347215" y="25908"/>
                </a:lnTo>
                <a:lnTo>
                  <a:pt x="1347215" y="51816"/>
                </a:lnTo>
                <a:lnTo>
                  <a:pt x="1424939" y="51816"/>
                </a:lnTo>
                <a:lnTo>
                  <a:pt x="1424939" y="25908"/>
                </a:lnTo>
                <a:close/>
              </a:path>
              <a:path w="2736850" h="78104">
                <a:moveTo>
                  <a:pt x="1528572" y="25908"/>
                </a:moveTo>
                <a:lnTo>
                  <a:pt x="1450848" y="25908"/>
                </a:lnTo>
                <a:lnTo>
                  <a:pt x="1450848" y="51816"/>
                </a:lnTo>
                <a:lnTo>
                  <a:pt x="1528572" y="51816"/>
                </a:lnTo>
                <a:lnTo>
                  <a:pt x="1528572" y="25908"/>
                </a:lnTo>
                <a:close/>
              </a:path>
              <a:path w="2736850" h="78104">
                <a:moveTo>
                  <a:pt x="1632203" y="25908"/>
                </a:moveTo>
                <a:lnTo>
                  <a:pt x="1554479" y="25908"/>
                </a:lnTo>
                <a:lnTo>
                  <a:pt x="1554479" y="51816"/>
                </a:lnTo>
                <a:lnTo>
                  <a:pt x="1632203" y="51816"/>
                </a:lnTo>
                <a:lnTo>
                  <a:pt x="1632203" y="25908"/>
                </a:lnTo>
                <a:close/>
              </a:path>
              <a:path w="2736850" h="78104">
                <a:moveTo>
                  <a:pt x="1735836" y="25908"/>
                </a:moveTo>
                <a:lnTo>
                  <a:pt x="1658112" y="25908"/>
                </a:lnTo>
                <a:lnTo>
                  <a:pt x="1658112" y="51816"/>
                </a:lnTo>
                <a:lnTo>
                  <a:pt x="1735836" y="51816"/>
                </a:lnTo>
                <a:lnTo>
                  <a:pt x="1735836" y="25908"/>
                </a:lnTo>
                <a:close/>
              </a:path>
              <a:path w="2736850" h="78104">
                <a:moveTo>
                  <a:pt x="1839467" y="25908"/>
                </a:moveTo>
                <a:lnTo>
                  <a:pt x="1761744" y="25908"/>
                </a:lnTo>
                <a:lnTo>
                  <a:pt x="1761744" y="51816"/>
                </a:lnTo>
                <a:lnTo>
                  <a:pt x="1839467" y="51816"/>
                </a:lnTo>
                <a:lnTo>
                  <a:pt x="1839467" y="25908"/>
                </a:lnTo>
                <a:close/>
              </a:path>
              <a:path w="2736850" h="78104">
                <a:moveTo>
                  <a:pt x="1943100" y="25908"/>
                </a:moveTo>
                <a:lnTo>
                  <a:pt x="1865376" y="25908"/>
                </a:lnTo>
                <a:lnTo>
                  <a:pt x="1865376" y="51816"/>
                </a:lnTo>
                <a:lnTo>
                  <a:pt x="1943100" y="51816"/>
                </a:lnTo>
                <a:lnTo>
                  <a:pt x="1943100" y="25908"/>
                </a:lnTo>
                <a:close/>
              </a:path>
              <a:path w="2736850" h="78104">
                <a:moveTo>
                  <a:pt x="2046732" y="25908"/>
                </a:moveTo>
                <a:lnTo>
                  <a:pt x="1969008" y="25908"/>
                </a:lnTo>
                <a:lnTo>
                  <a:pt x="1969008" y="51816"/>
                </a:lnTo>
                <a:lnTo>
                  <a:pt x="2046732" y="51816"/>
                </a:lnTo>
                <a:lnTo>
                  <a:pt x="2046732" y="25908"/>
                </a:lnTo>
                <a:close/>
              </a:path>
              <a:path w="2736850" h="78104">
                <a:moveTo>
                  <a:pt x="2150364" y="25908"/>
                </a:moveTo>
                <a:lnTo>
                  <a:pt x="2072639" y="25908"/>
                </a:lnTo>
                <a:lnTo>
                  <a:pt x="2072639" y="51816"/>
                </a:lnTo>
                <a:lnTo>
                  <a:pt x="2150364" y="51816"/>
                </a:lnTo>
                <a:lnTo>
                  <a:pt x="2150364" y="25908"/>
                </a:lnTo>
                <a:close/>
              </a:path>
              <a:path w="2736850" h="78104">
                <a:moveTo>
                  <a:pt x="2253996" y="25908"/>
                </a:moveTo>
                <a:lnTo>
                  <a:pt x="2176272" y="25908"/>
                </a:lnTo>
                <a:lnTo>
                  <a:pt x="2176272" y="51816"/>
                </a:lnTo>
                <a:lnTo>
                  <a:pt x="2253996" y="51816"/>
                </a:lnTo>
                <a:lnTo>
                  <a:pt x="2253996" y="25908"/>
                </a:lnTo>
                <a:close/>
              </a:path>
              <a:path w="2736850" h="78104">
                <a:moveTo>
                  <a:pt x="2357628" y="25908"/>
                </a:moveTo>
                <a:lnTo>
                  <a:pt x="2279904" y="25908"/>
                </a:lnTo>
                <a:lnTo>
                  <a:pt x="2279904" y="51816"/>
                </a:lnTo>
                <a:lnTo>
                  <a:pt x="2357628" y="51816"/>
                </a:lnTo>
                <a:lnTo>
                  <a:pt x="2357628" y="25908"/>
                </a:lnTo>
                <a:close/>
              </a:path>
              <a:path w="2736850" h="78104">
                <a:moveTo>
                  <a:pt x="2461260" y="25908"/>
                </a:moveTo>
                <a:lnTo>
                  <a:pt x="2383536" y="25908"/>
                </a:lnTo>
                <a:lnTo>
                  <a:pt x="2383536" y="51816"/>
                </a:lnTo>
                <a:lnTo>
                  <a:pt x="2461260" y="51816"/>
                </a:lnTo>
                <a:lnTo>
                  <a:pt x="2461260" y="25908"/>
                </a:lnTo>
                <a:close/>
              </a:path>
              <a:path w="2736850" h="78104">
                <a:moveTo>
                  <a:pt x="2564891" y="25908"/>
                </a:moveTo>
                <a:lnTo>
                  <a:pt x="2487167" y="25908"/>
                </a:lnTo>
                <a:lnTo>
                  <a:pt x="2487167" y="51816"/>
                </a:lnTo>
                <a:lnTo>
                  <a:pt x="2564891" y="51816"/>
                </a:lnTo>
                <a:lnTo>
                  <a:pt x="2564891" y="25908"/>
                </a:lnTo>
                <a:close/>
              </a:path>
              <a:path w="2736850" h="78104">
                <a:moveTo>
                  <a:pt x="2658617" y="0"/>
                </a:moveTo>
                <a:lnTo>
                  <a:pt x="2658617" y="77724"/>
                </a:lnTo>
                <a:lnTo>
                  <a:pt x="2710434" y="51816"/>
                </a:lnTo>
                <a:lnTo>
                  <a:pt x="2668524" y="51816"/>
                </a:lnTo>
                <a:lnTo>
                  <a:pt x="2668524" y="25908"/>
                </a:lnTo>
                <a:lnTo>
                  <a:pt x="2710433" y="25908"/>
                </a:lnTo>
                <a:lnTo>
                  <a:pt x="2658617" y="0"/>
                </a:lnTo>
                <a:close/>
              </a:path>
              <a:path w="2736850" h="78104">
                <a:moveTo>
                  <a:pt x="2658617" y="25908"/>
                </a:moveTo>
                <a:lnTo>
                  <a:pt x="2590800" y="25908"/>
                </a:lnTo>
                <a:lnTo>
                  <a:pt x="2590800" y="51816"/>
                </a:lnTo>
                <a:lnTo>
                  <a:pt x="2658617" y="51816"/>
                </a:lnTo>
                <a:lnTo>
                  <a:pt x="2658617" y="25908"/>
                </a:lnTo>
                <a:close/>
              </a:path>
              <a:path w="2736850" h="78104">
                <a:moveTo>
                  <a:pt x="2710433" y="25908"/>
                </a:moveTo>
                <a:lnTo>
                  <a:pt x="2668524" y="25908"/>
                </a:lnTo>
                <a:lnTo>
                  <a:pt x="2668524" y="51816"/>
                </a:lnTo>
                <a:lnTo>
                  <a:pt x="2710434" y="51816"/>
                </a:lnTo>
                <a:lnTo>
                  <a:pt x="2736341" y="38862"/>
                </a:lnTo>
                <a:lnTo>
                  <a:pt x="2710433" y="25908"/>
                </a:lnTo>
                <a:close/>
              </a:path>
            </a:pathLst>
          </a:custGeom>
          <a:solidFill>
            <a:srgbClr val="FF0000"/>
          </a:solidFill>
        </p:spPr>
        <p:txBody>
          <a:bodyPr wrap="square" lIns="0" tIns="0" rIns="0" bIns="0" rtlCol="0"/>
          <a:lstStyle/>
          <a:p>
            <a:endParaRPr/>
          </a:p>
        </p:txBody>
      </p:sp>
      <p:sp>
        <p:nvSpPr>
          <p:cNvPr id="16" name="object 16"/>
          <p:cNvSpPr txBox="1"/>
          <p:nvPr/>
        </p:nvSpPr>
        <p:spPr>
          <a:xfrm>
            <a:off x="3109341" y="3630429"/>
            <a:ext cx="5856605" cy="706120"/>
          </a:xfrm>
          <a:prstGeom prst="rect">
            <a:avLst/>
          </a:prstGeom>
        </p:spPr>
        <p:txBody>
          <a:bodyPr vert="horz" wrap="square" lIns="0" tIns="97155" rIns="0" bIns="0" rtlCol="0">
            <a:spAutoFit/>
          </a:bodyPr>
          <a:lstStyle/>
          <a:p>
            <a:pPr marL="12700">
              <a:lnSpc>
                <a:spcPct val="100000"/>
              </a:lnSpc>
              <a:spcBef>
                <a:spcPts val="765"/>
              </a:spcBef>
            </a:pPr>
            <a:r>
              <a:rPr sz="1400" b="1" spc="-5" dirty="0">
                <a:solidFill>
                  <a:srgbClr val="FF0000"/>
                </a:solidFill>
                <a:latin typeface="Calibri"/>
                <a:cs typeface="Calibri"/>
              </a:rPr>
              <a:t>// start-index=3, number-of-characters=4,index </a:t>
            </a:r>
            <a:r>
              <a:rPr sz="1400" b="1" spc="-10" dirty="0">
                <a:solidFill>
                  <a:srgbClr val="FF0000"/>
                </a:solidFill>
                <a:latin typeface="Calibri"/>
                <a:cs typeface="Calibri"/>
              </a:rPr>
              <a:t>range: </a:t>
            </a:r>
            <a:r>
              <a:rPr sz="1400" b="1" dirty="0">
                <a:solidFill>
                  <a:srgbClr val="FF0000"/>
                </a:solidFill>
                <a:latin typeface="Calibri"/>
                <a:cs typeface="Calibri"/>
              </a:rPr>
              <a:t>3 </a:t>
            </a:r>
            <a:r>
              <a:rPr sz="1400" b="1" spc="-5" dirty="0">
                <a:solidFill>
                  <a:srgbClr val="FF0000"/>
                </a:solidFill>
                <a:latin typeface="Calibri"/>
                <a:cs typeface="Calibri"/>
              </a:rPr>
              <a:t>to</a:t>
            </a:r>
            <a:r>
              <a:rPr sz="1400" b="1" spc="-120" dirty="0">
                <a:solidFill>
                  <a:srgbClr val="FF0000"/>
                </a:solidFill>
                <a:latin typeface="Calibri"/>
                <a:cs typeface="Calibri"/>
              </a:rPr>
              <a:t> </a:t>
            </a:r>
            <a:r>
              <a:rPr sz="1400" b="1" dirty="0">
                <a:solidFill>
                  <a:srgbClr val="FF0000"/>
                </a:solidFill>
                <a:latin typeface="Calibri"/>
                <a:cs typeface="Calibri"/>
              </a:rPr>
              <a:t>6</a:t>
            </a:r>
            <a:endParaRPr sz="1400">
              <a:latin typeface="Calibri"/>
              <a:cs typeface="Calibri"/>
            </a:endParaRPr>
          </a:p>
          <a:p>
            <a:pPr marL="1626870">
              <a:lnSpc>
                <a:spcPct val="100000"/>
              </a:lnSpc>
              <a:spcBef>
                <a:spcPts val="855"/>
              </a:spcBef>
            </a:pPr>
            <a:r>
              <a:rPr sz="1800" b="1" spc="-5" dirty="0">
                <a:solidFill>
                  <a:srgbClr val="FF0000"/>
                </a:solidFill>
                <a:latin typeface="Calibri"/>
                <a:cs typeface="Calibri"/>
              </a:rPr>
              <a:t>Results </a:t>
            </a:r>
            <a:r>
              <a:rPr sz="1800" b="1" dirty="0">
                <a:solidFill>
                  <a:srgbClr val="FF0000"/>
                </a:solidFill>
                <a:latin typeface="Calibri"/>
                <a:cs typeface="Calibri"/>
              </a:rPr>
              <a:t>in</a:t>
            </a:r>
            <a:r>
              <a:rPr sz="1800" b="1" spc="-20" dirty="0">
                <a:solidFill>
                  <a:srgbClr val="FF0000"/>
                </a:solidFill>
                <a:latin typeface="Calibri"/>
                <a:cs typeface="Calibri"/>
              </a:rPr>
              <a:t> </a:t>
            </a:r>
            <a:r>
              <a:rPr sz="1800" b="1" spc="-10" dirty="0">
                <a:solidFill>
                  <a:srgbClr val="FF0000"/>
                </a:solidFill>
                <a:latin typeface="Calibri"/>
                <a:cs typeface="Calibri"/>
              </a:rPr>
              <a:t>StringIndexOutofBoundsException</a:t>
            </a:r>
            <a:endParaRPr sz="1800">
              <a:latin typeface="Calibri"/>
              <a:cs typeface="Calibri"/>
            </a:endParaRPr>
          </a:p>
        </p:txBody>
      </p:sp>
      <p:sp>
        <p:nvSpPr>
          <p:cNvPr id="17" name="object 17"/>
          <p:cNvSpPr/>
          <p:nvPr/>
        </p:nvSpPr>
        <p:spPr>
          <a:xfrm>
            <a:off x="2406269" y="4388358"/>
            <a:ext cx="2311400" cy="1501140"/>
          </a:xfrm>
          <a:custGeom>
            <a:avLst/>
            <a:gdLst/>
            <a:ahLst/>
            <a:cxnLst/>
            <a:rect l="l" t="t" r="r" b="b"/>
            <a:pathLst>
              <a:path w="2311400" h="1501139">
                <a:moveTo>
                  <a:pt x="65278" y="1436865"/>
                </a:moveTo>
                <a:lnTo>
                  <a:pt x="0" y="1479080"/>
                </a:lnTo>
                <a:lnTo>
                  <a:pt x="13969" y="1500835"/>
                </a:lnTo>
                <a:lnTo>
                  <a:pt x="79248" y="1458633"/>
                </a:lnTo>
                <a:lnTo>
                  <a:pt x="65278" y="1436865"/>
                </a:lnTo>
                <a:close/>
              </a:path>
              <a:path w="2311400" h="1501139">
                <a:moveTo>
                  <a:pt x="152273" y="1380604"/>
                </a:moveTo>
                <a:lnTo>
                  <a:pt x="86994" y="1422806"/>
                </a:lnTo>
                <a:lnTo>
                  <a:pt x="101092" y="1444561"/>
                </a:lnTo>
                <a:lnTo>
                  <a:pt x="166369" y="1402359"/>
                </a:lnTo>
                <a:lnTo>
                  <a:pt x="152273" y="1380604"/>
                </a:lnTo>
                <a:close/>
              </a:path>
              <a:path w="2311400" h="1501139">
                <a:moveTo>
                  <a:pt x="239268" y="1324330"/>
                </a:moveTo>
                <a:lnTo>
                  <a:pt x="173989" y="1366532"/>
                </a:lnTo>
                <a:lnTo>
                  <a:pt x="188087" y="1388287"/>
                </a:lnTo>
                <a:lnTo>
                  <a:pt x="253364" y="1346085"/>
                </a:lnTo>
                <a:lnTo>
                  <a:pt x="239268" y="1324330"/>
                </a:lnTo>
                <a:close/>
              </a:path>
              <a:path w="2311400" h="1501139">
                <a:moveTo>
                  <a:pt x="326263" y="1268056"/>
                </a:moveTo>
                <a:lnTo>
                  <a:pt x="260985" y="1310259"/>
                </a:lnTo>
                <a:lnTo>
                  <a:pt x="275081" y="1332014"/>
                </a:lnTo>
                <a:lnTo>
                  <a:pt x="340360" y="1289812"/>
                </a:lnTo>
                <a:lnTo>
                  <a:pt x="326263" y="1268056"/>
                </a:lnTo>
                <a:close/>
              </a:path>
              <a:path w="2311400" h="1501139">
                <a:moveTo>
                  <a:pt x="413257" y="1211783"/>
                </a:moveTo>
                <a:lnTo>
                  <a:pt x="348106" y="1253998"/>
                </a:lnTo>
                <a:lnTo>
                  <a:pt x="362076" y="1275753"/>
                </a:lnTo>
                <a:lnTo>
                  <a:pt x="427355" y="1233538"/>
                </a:lnTo>
                <a:lnTo>
                  <a:pt x="413257" y="1211783"/>
                </a:lnTo>
                <a:close/>
              </a:path>
              <a:path w="2311400" h="1501139">
                <a:moveTo>
                  <a:pt x="500380" y="1155573"/>
                </a:moveTo>
                <a:lnTo>
                  <a:pt x="435101" y="1197737"/>
                </a:lnTo>
                <a:lnTo>
                  <a:pt x="449199" y="1219479"/>
                </a:lnTo>
                <a:lnTo>
                  <a:pt x="514350" y="1177290"/>
                </a:lnTo>
                <a:lnTo>
                  <a:pt x="500380" y="1155573"/>
                </a:lnTo>
                <a:close/>
              </a:path>
              <a:path w="2311400" h="1501139">
                <a:moveTo>
                  <a:pt x="587375" y="1099185"/>
                </a:moveTo>
                <a:lnTo>
                  <a:pt x="522097" y="1141476"/>
                </a:lnTo>
                <a:lnTo>
                  <a:pt x="536194" y="1163193"/>
                </a:lnTo>
                <a:lnTo>
                  <a:pt x="601472" y="1121029"/>
                </a:lnTo>
                <a:lnTo>
                  <a:pt x="587375" y="1099185"/>
                </a:lnTo>
                <a:close/>
              </a:path>
              <a:path w="2311400" h="1501139">
                <a:moveTo>
                  <a:pt x="674369" y="1042924"/>
                </a:moveTo>
                <a:lnTo>
                  <a:pt x="609092" y="1085215"/>
                </a:lnTo>
                <a:lnTo>
                  <a:pt x="623188" y="1106932"/>
                </a:lnTo>
                <a:lnTo>
                  <a:pt x="688467" y="1064768"/>
                </a:lnTo>
                <a:lnTo>
                  <a:pt x="674369" y="1042924"/>
                </a:lnTo>
                <a:close/>
              </a:path>
              <a:path w="2311400" h="1501139">
                <a:moveTo>
                  <a:pt x="761364" y="986663"/>
                </a:moveTo>
                <a:lnTo>
                  <a:pt x="696087" y="1028954"/>
                </a:lnTo>
                <a:lnTo>
                  <a:pt x="710183" y="1050671"/>
                </a:lnTo>
                <a:lnTo>
                  <a:pt x="775462" y="1008507"/>
                </a:lnTo>
                <a:lnTo>
                  <a:pt x="761364" y="986663"/>
                </a:lnTo>
                <a:close/>
              </a:path>
              <a:path w="2311400" h="1501139">
                <a:moveTo>
                  <a:pt x="848486" y="930402"/>
                </a:moveTo>
                <a:lnTo>
                  <a:pt x="783208" y="972693"/>
                </a:lnTo>
                <a:lnTo>
                  <a:pt x="797179" y="994410"/>
                </a:lnTo>
                <a:lnTo>
                  <a:pt x="862457" y="952246"/>
                </a:lnTo>
                <a:lnTo>
                  <a:pt x="848486" y="930402"/>
                </a:lnTo>
                <a:close/>
              </a:path>
              <a:path w="2311400" h="1501139">
                <a:moveTo>
                  <a:pt x="935482" y="874141"/>
                </a:moveTo>
                <a:lnTo>
                  <a:pt x="870204" y="916305"/>
                </a:lnTo>
                <a:lnTo>
                  <a:pt x="884301" y="938149"/>
                </a:lnTo>
                <a:lnTo>
                  <a:pt x="949579" y="895858"/>
                </a:lnTo>
                <a:lnTo>
                  <a:pt x="935482" y="874141"/>
                </a:lnTo>
                <a:close/>
              </a:path>
              <a:path w="2311400" h="1501139">
                <a:moveTo>
                  <a:pt x="1022477" y="817880"/>
                </a:moveTo>
                <a:lnTo>
                  <a:pt x="957198" y="860044"/>
                </a:lnTo>
                <a:lnTo>
                  <a:pt x="971295" y="881888"/>
                </a:lnTo>
                <a:lnTo>
                  <a:pt x="1036573" y="839597"/>
                </a:lnTo>
                <a:lnTo>
                  <a:pt x="1022477" y="817880"/>
                </a:lnTo>
                <a:close/>
              </a:path>
              <a:path w="2311400" h="1501139">
                <a:moveTo>
                  <a:pt x="1109471" y="761619"/>
                </a:moveTo>
                <a:lnTo>
                  <a:pt x="1044194" y="803783"/>
                </a:lnTo>
                <a:lnTo>
                  <a:pt x="1058291" y="825627"/>
                </a:lnTo>
                <a:lnTo>
                  <a:pt x="1123569" y="783336"/>
                </a:lnTo>
                <a:lnTo>
                  <a:pt x="1109471" y="761619"/>
                </a:lnTo>
                <a:close/>
              </a:path>
              <a:path w="2311400" h="1501139">
                <a:moveTo>
                  <a:pt x="1196594" y="705358"/>
                </a:moveTo>
                <a:lnTo>
                  <a:pt x="1131316" y="747522"/>
                </a:lnTo>
                <a:lnTo>
                  <a:pt x="1145285" y="769366"/>
                </a:lnTo>
                <a:lnTo>
                  <a:pt x="1210564" y="727075"/>
                </a:lnTo>
                <a:lnTo>
                  <a:pt x="1196594" y="705358"/>
                </a:lnTo>
                <a:close/>
              </a:path>
              <a:path w="2311400" h="1501139">
                <a:moveTo>
                  <a:pt x="1283589" y="649097"/>
                </a:moveTo>
                <a:lnTo>
                  <a:pt x="1218310" y="691261"/>
                </a:lnTo>
                <a:lnTo>
                  <a:pt x="1232408" y="713105"/>
                </a:lnTo>
                <a:lnTo>
                  <a:pt x="1297685" y="670814"/>
                </a:lnTo>
                <a:lnTo>
                  <a:pt x="1283589" y="649097"/>
                </a:lnTo>
                <a:close/>
              </a:path>
              <a:path w="2311400" h="1501139">
                <a:moveTo>
                  <a:pt x="1370583" y="592836"/>
                </a:moveTo>
                <a:lnTo>
                  <a:pt x="1305306" y="635000"/>
                </a:lnTo>
                <a:lnTo>
                  <a:pt x="1319403" y="656717"/>
                </a:lnTo>
                <a:lnTo>
                  <a:pt x="1384681" y="614553"/>
                </a:lnTo>
                <a:lnTo>
                  <a:pt x="1370583" y="592836"/>
                </a:lnTo>
                <a:close/>
              </a:path>
              <a:path w="2311400" h="1501139">
                <a:moveTo>
                  <a:pt x="1457579" y="536575"/>
                </a:moveTo>
                <a:lnTo>
                  <a:pt x="1392301" y="578739"/>
                </a:lnTo>
                <a:lnTo>
                  <a:pt x="1406397" y="600456"/>
                </a:lnTo>
                <a:lnTo>
                  <a:pt x="1471676" y="558292"/>
                </a:lnTo>
                <a:lnTo>
                  <a:pt x="1457579" y="536575"/>
                </a:lnTo>
                <a:close/>
              </a:path>
              <a:path w="2311400" h="1501139">
                <a:moveTo>
                  <a:pt x="1544573" y="480314"/>
                </a:moveTo>
                <a:lnTo>
                  <a:pt x="1479422" y="522478"/>
                </a:lnTo>
                <a:lnTo>
                  <a:pt x="1493393" y="544195"/>
                </a:lnTo>
                <a:lnTo>
                  <a:pt x="1558670" y="502031"/>
                </a:lnTo>
                <a:lnTo>
                  <a:pt x="1544573" y="480314"/>
                </a:lnTo>
                <a:close/>
              </a:path>
              <a:path w="2311400" h="1501139">
                <a:moveTo>
                  <a:pt x="1631695" y="424053"/>
                </a:moveTo>
                <a:lnTo>
                  <a:pt x="1566418" y="466217"/>
                </a:lnTo>
                <a:lnTo>
                  <a:pt x="1580515" y="487934"/>
                </a:lnTo>
                <a:lnTo>
                  <a:pt x="1645666" y="445770"/>
                </a:lnTo>
                <a:lnTo>
                  <a:pt x="1631695" y="424053"/>
                </a:lnTo>
                <a:close/>
              </a:path>
              <a:path w="2311400" h="1501139">
                <a:moveTo>
                  <a:pt x="1718691" y="367792"/>
                </a:moveTo>
                <a:lnTo>
                  <a:pt x="1653413" y="409956"/>
                </a:lnTo>
                <a:lnTo>
                  <a:pt x="1667509" y="431673"/>
                </a:lnTo>
                <a:lnTo>
                  <a:pt x="1732788" y="389509"/>
                </a:lnTo>
                <a:lnTo>
                  <a:pt x="1718691" y="367792"/>
                </a:lnTo>
                <a:close/>
              </a:path>
              <a:path w="2311400" h="1501139">
                <a:moveTo>
                  <a:pt x="1805685" y="311404"/>
                </a:moveTo>
                <a:lnTo>
                  <a:pt x="1740408" y="353695"/>
                </a:lnTo>
                <a:lnTo>
                  <a:pt x="1754505" y="375412"/>
                </a:lnTo>
                <a:lnTo>
                  <a:pt x="1819783" y="333248"/>
                </a:lnTo>
                <a:lnTo>
                  <a:pt x="1805685" y="311404"/>
                </a:lnTo>
                <a:close/>
              </a:path>
              <a:path w="2311400" h="1501139">
                <a:moveTo>
                  <a:pt x="1892681" y="255143"/>
                </a:moveTo>
                <a:lnTo>
                  <a:pt x="1827403" y="297434"/>
                </a:lnTo>
                <a:lnTo>
                  <a:pt x="1841500" y="319151"/>
                </a:lnTo>
                <a:lnTo>
                  <a:pt x="1906778" y="276987"/>
                </a:lnTo>
                <a:lnTo>
                  <a:pt x="1892681" y="255143"/>
                </a:lnTo>
                <a:close/>
              </a:path>
              <a:path w="2311400" h="1501139">
                <a:moveTo>
                  <a:pt x="1979803" y="198882"/>
                </a:moveTo>
                <a:lnTo>
                  <a:pt x="1914525" y="241173"/>
                </a:lnTo>
                <a:lnTo>
                  <a:pt x="1928495" y="262890"/>
                </a:lnTo>
                <a:lnTo>
                  <a:pt x="1993772" y="220726"/>
                </a:lnTo>
                <a:lnTo>
                  <a:pt x="1979803" y="198882"/>
                </a:lnTo>
                <a:close/>
              </a:path>
              <a:path w="2311400" h="1501139">
                <a:moveTo>
                  <a:pt x="2066797" y="142621"/>
                </a:moveTo>
                <a:lnTo>
                  <a:pt x="2001520" y="184912"/>
                </a:lnTo>
                <a:lnTo>
                  <a:pt x="2015617" y="206629"/>
                </a:lnTo>
                <a:lnTo>
                  <a:pt x="2080895" y="164465"/>
                </a:lnTo>
                <a:lnTo>
                  <a:pt x="2066797" y="142621"/>
                </a:lnTo>
                <a:close/>
              </a:path>
              <a:path w="2311400" h="1501139">
                <a:moveTo>
                  <a:pt x="2153793" y="86360"/>
                </a:moveTo>
                <a:lnTo>
                  <a:pt x="2088515" y="128524"/>
                </a:lnTo>
                <a:lnTo>
                  <a:pt x="2102611" y="150368"/>
                </a:lnTo>
                <a:lnTo>
                  <a:pt x="2167890" y="108077"/>
                </a:lnTo>
                <a:lnTo>
                  <a:pt x="2153793" y="86360"/>
                </a:lnTo>
                <a:close/>
              </a:path>
              <a:path w="2311400" h="1501139">
                <a:moveTo>
                  <a:pt x="2238963" y="31277"/>
                </a:moveTo>
                <a:lnTo>
                  <a:pt x="2175510" y="72263"/>
                </a:lnTo>
                <a:lnTo>
                  <a:pt x="2189607" y="94107"/>
                </a:lnTo>
                <a:lnTo>
                  <a:pt x="2253012" y="53028"/>
                </a:lnTo>
                <a:lnTo>
                  <a:pt x="2238963" y="31277"/>
                </a:lnTo>
                <a:close/>
              </a:path>
              <a:path w="2311400" h="1501139">
                <a:moveTo>
                  <a:pt x="2293489" y="30099"/>
                </a:moveTo>
                <a:lnTo>
                  <a:pt x="2240788" y="30099"/>
                </a:lnTo>
                <a:lnTo>
                  <a:pt x="2254885" y="51816"/>
                </a:lnTo>
                <a:lnTo>
                  <a:pt x="2253012" y="53028"/>
                </a:lnTo>
                <a:lnTo>
                  <a:pt x="2267077" y="74803"/>
                </a:lnTo>
                <a:lnTo>
                  <a:pt x="2293489" y="30099"/>
                </a:lnTo>
                <a:close/>
              </a:path>
              <a:path w="2311400" h="1501139">
                <a:moveTo>
                  <a:pt x="2240788" y="30099"/>
                </a:moveTo>
                <a:lnTo>
                  <a:pt x="2238963" y="31277"/>
                </a:lnTo>
                <a:lnTo>
                  <a:pt x="2253012" y="53028"/>
                </a:lnTo>
                <a:lnTo>
                  <a:pt x="2254885" y="51816"/>
                </a:lnTo>
                <a:lnTo>
                  <a:pt x="2240788" y="30099"/>
                </a:lnTo>
                <a:close/>
              </a:path>
              <a:path w="2311400" h="1501139">
                <a:moveTo>
                  <a:pt x="2311272" y="0"/>
                </a:moveTo>
                <a:lnTo>
                  <a:pt x="2224913" y="9525"/>
                </a:lnTo>
                <a:lnTo>
                  <a:pt x="2238963" y="31277"/>
                </a:lnTo>
                <a:lnTo>
                  <a:pt x="2240788" y="30099"/>
                </a:lnTo>
                <a:lnTo>
                  <a:pt x="2293489" y="30099"/>
                </a:lnTo>
                <a:lnTo>
                  <a:pt x="2311272" y="0"/>
                </a:lnTo>
                <a:close/>
              </a:path>
            </a:pathLst>
          </a:custGeom>
          <a:solidFill>
            <a:srgbClr val="FF0000"/>
          </a:solid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1517726"/>
            <a:ext cx="8772525" cy="3613150"/>
          </a:xfrm>
          <a:prstGeom prst="rect">
            <a:avLst/>
          </a:prstGeom>
        </p:spPr>
        <p:txBody>
          <a:bodyPr vert="horz" wrap="square" lIns="0" tIns="12065" rIns="0" bIns="0" rtlCol="0">
            <a:spAutoFit/>
          </a:bodyPr>
          <a:lstStyle/>
          <a:p>
            <a:pPr marL="354965" marR="230504" indent="-342900">
              <a:lnSpc>
                <a:spcPct val="100200"/>
              </a:lnSpc>
              <a:spcBef>
                <a:spcPts val="95"/>
              </a:spcBef>
              <a:buClr>
                <a:srgbClr val="0F1141"/>
              </a:buClr>
              <a:buChar char="•"/>
              <a:tabLst>
                <a:tab pos="354965" algn="l"/>
                <a:tab pos="355600" algn="l"/>
              </a:tabLst>
            </a:pPr>
            <a:r>
              <a:rPr sz="2400" spc="-5" dirty="0">
                <a:solidFill>
                  <a:srgbClr val="FF0000"/>
                </a:solidFill>
                <a:latin typeface="Arial"/>
                <a:cs typeface="Arial"/>
              </a:rPr>
              <a:t>public boolean equals(String </a:t>
            </a:r>
            <a:r>
              <a:rPr sz="2400" dirty="0">
                <a:solidFill>
                  <a:srgbClr val="FF0000"/>
                </a:solidFill>
                <a:latin typeface="Arial"/>
                <a:cs typeface="Arial"/>
              </a:rPr>
              <a:t>other) </a:t>
            </a:r>
            <a:r>
              <a:rPr sz="2400" dirty="0">
                <a:latin typeface="Wingdings"/>
                <a:cs typeface="Wingdings"/>
              </a:rPr>
              <a:t></a:t>
            </a:r>
            <a:r>
              <a:rPr sz="2400" dirty="0">
                <a:latin typeface="Times New Roman"/>
                <a:cs typeface="Times New Roman"/>
              </a:rPr>
              <a:t> </a:t>
            </a:r>
            <a:r>
              <a:rPr sz="2400" spc="-5" dirty="0">
                <a:latin typeface="Arial"/>
                <a:cs typeface="Arial"/>
              </a:rPr>
              <a:t>Returns </a:t>
            </a:r>
            <a:r>
              <a:rPr sz="2400" dirty="0">
                <a:latin typeface="Arial"/>
                <a:cs typeface="Arial"/>
              </a:rPr>
              <a:t>true if this  </a:t>
            </a:r>
            <a:r>
              <a:rPr sz="2400" spc="-5" dirty="0">
                <a:latin typeface="Arial"/>
                <a:cs typeface="Arial"/>
              </a:rPr>
              <a:t>string is equal </a:t>
            </a:r>
            <a:r>
              <a:rPr sz="2400" dirty="0">
                <a:latin typeface="Arial"/>
                <a:cs typeface="Arial"/>
              </a:rPr>
              <a:t>to </a:t>
            </a:r>
            <a:r>
              <a:rPr sz="2400" spc="-5" dirty="0">
                <a:latin typeface="Arial"/>
                <a:cs typeface="Arial"/>
              </a:rPr>
              <a:t>other otherwise </a:t>
            </a:r>
            <a:r>
              <a:rPr sz="2400" dirty="0">
                <a:latin typeface="Arial"/>
                <a:cs typeface="Arial"/>
              </a:rPr>
              <a:t>false. </a:t>
            </a:r>
            <a:r>
              <a:rPr sz="2400" spc="-50" dirty="0">
                <a:latin typeface="Arial"/>
                <a:cs typeface="Arial"/>
              </a:rPr>
              <a:t>Two </a:t>
            </a:r>
            <a:r>
              <a:rPr sz="2400" dirty="0">
                <a:latin typeface="Arial"/>
                <a:cs typeface="Arial"/>
              </a:rPr>
              <a:t>strings </a:t>
            </a:r>
            <a:r>
              <a:rPr sz="2400" spc="-5" dirty="0">
                <a:latin typeface="Arial"/>
                <a:cs typeface="Arial"/>
              </a:rPr>
              <a:t>are equal  </a:t>
            </a:r>
            <a:r>
              <a:rPr sz="2400" dirty="0">
                <a:latin typeface="Arial"/>
                <a:cs typeface="Arial"/>
              </a:rPr>
              <a:t>if they </a:t>
            </a:r>
            <a:r>
              <a:rPr sz="2400" spc="-5" dirty="0">
                <a:latin typeface="Arial"/>
                <a:cs typeface="Arial"/>
              </a:rPr>
              <a:t>have same character </a:t>
            </a:r>
            <a:r>
              <a:rPr sz="2400" dirty="0">
                <a:latin typeface="Arial"/>
                <a:cs typeface="Arial"/>
              </a:rPr>
              <a:t>at </a:t>
            </a:r>
            <a:r>
              <a:rPr sz="2400" spc="-5" dirty="0">
                <a:latin typeface="Arial"/>
                <a:cs typeface="Arial"/>
              </a:rPr>
              <a:t>each index and their lengths  </a:t>
            </a:r>
            <a:r>
              <a:rPr sz="2400" dirty="0">
                <a:latin typeface="Arial"/>
                <a:cs typeface="Arial"/>
              </a:rPr>
              <a:t>are</a:t>
            </a:r>
            <a:r>
              <a:rPr sz="2400" spc="-5" dirty="0">
                <a:latin typeface="Arial"/>
                <a:cs typeface="Arial"/>
              </a:rPr>
              <a:t> equal.</a:t>
            </a:r>
            <a:endParaRPr sz="2400" dirty="0">
              <a:latin typeface="Arial"/>
              <a:cs typeface="Arial"/>
            </a:endParaRPr>
          </a:p>
          <a:p>
            <a:pPr marL="355600" indent="-342900">
              <a:lnSpc>
                <a:spcPct val="100000"/>
              </a:lnSpc>
              <a:spcBef>
                <a:spcPts val="565"/>
              </a:spcBef>
              <a:buClr>
                <a:srgbClr val="0F1141"/>
              </a:buClr>
              <a:buChar char="•"/>
              <a:tabLst>
                <a:tab pos="354965" algn="l"/>
                <a:tab pos="355600" algn="l"/>
              </a:tabLst>
            </a:pPr>
            <a:r>
              <a:rPr sz="2400" spc="-5" dirty="0">
                <a:solidFill>
                  <a:srgbClr val="FF0000"/>
                </a:solidFill>
                <a:latin typeface="Arial"/>
                <a:cs typeface="Arial"/>
              </a:rPr>
              <a:t>equals() </a:t>
            </a:r>
            <a:r>
              <a:rPr sz="2400" dirty="0">
                <a:solidFill>
                  <a:srgbClr val="FF0000"/>
                </a:solidFill>
                <a:latin typeface="Wingdings"/>
                <a:cs typeface="Wingdings"/>
              </a:rPr>
              <a:t></a:t>
            </a:r>
            <a:r>
              <a:rPr sz="2400" dirty="0">
                <a:solidFill>
                  <a:srgbClr val="FF0000"/>
                </a:solidFill>
                <a:latin typeface="Times New Roman"/>
                <a:cs typeface="Times New Roman"/>
              </a:rPr>
              <a:t> </a:t>
            </a:r>
            <a:r>
              <a:rPr sz="2400" spc="-5" dirty="0">
                <a:latin typeface="Arial"/>
                <a:cs typeface="Arial"/>
              </a:rPr>
              <a:t>Checks </a:t>
            </a:r>
            <a:r>
              <a:rPr sz="2400" dirty="0">
                <a:latin typeface="Arial"/>
                <a:cs typeface="Arial"/>
              </a:rPr>
              <a:t>states of two </a:t>
            </a:r>
            <a:r>
              <a:rPr sz="2400" spc="-5" dirty="0">
                <a:latin typeface="Arial"/>
                <a:cs typeface="Arial"/>
              </a:rPr>
              <a:t>string</a:t>
            </a:r>
            <a:r>
              <a:rPr sz="2400" spc="80" dirty="0">
                <a:latin typeface="Arial"/>
                <a:cs typeface="Arial"/>
              </a:rPr>
              <a:t> </a:t>
            </a:r>
            <a:r>
              <a:rPr sz="2400" spc="-5" dirty="0">
                <a:latin typeface="Arial"/>
                <a:cs typeface="Arial"/>
              </a:rPr>
              <a:t>references</a:t>
            </a:r>
            <a:endParaRPr sz="2400" dirty="0">
              <a:latin typeface="Arial"/>
              <a:cs typeface="Arial"/>
            </a:endParaRPr>
          </a:p>
          <a:p>
            <a:pPr marL="355600" indent="-342900">
              <a:lnSpc>
                <a:spcPct val="100000"/>
              </a:lnSpc>
              <a:spcBef>
                <a:spcPts val="590"/>
              </a:spcBef>
              <a:buClr>
                <a:srgbClr val="0F1141"/>
              </a:buClr>
              <a:buChar char="•"/>
              <a:tabLst>
                <a:tab pos="354965" algn="l"/>
                <a:tab pos="355600" algn="l"/>
              </a:tabLst>
            </a:pPr>
            <a:r>
              <a:rPr sz="2400" spc="-5" dirty="0">
                <a:latin typeface="Arial"/>
                <a:cs typeface="Arial"/>
              </a:rPr>
              <a:t>Examples</a:t>
            </a:r>
            <a:endParaRPr sz="2400" dirty="0">
              <a:latin typeface="Arial"/>
              <a:cs typeface="Arial"/>
            </a:endParaRPr>
          </a:p>
          <a:p>
            <a:pPr marL="870585" lvl="1" indent="-457834">
              <a:lnSpc>
                <a:spcPct val="100000"/>
              </a:lnSpc>
              <a:spcBef>
                <a:spcPts val="575"/>
              </a:spcBef>
              <a:buAutoNum type="arabicPeriod"/>
              <a:tabLst>
                <a:tab pos="870585" algn="l"/>
                <a:tab pos="871219" algn="l"/>
              </a:tabLst>
            </a:pPr>
            <a:r>
              <a:rPr sz="2400" spc="-5" dirty="0">
                <a:latin typeface="Arial"/>
                <a:cs typeface="Arial"/>
              </a:rPr>
              <a:t>“abc”.equals(“abc”) </a:t>
            </a:r>
            <a:r>
              <a:rPr sz="2400" dirty="0">
                <a:latin typeface="Arial"/>
                <a:cs typeface="Arial"/>
              </a:rPr>
              <a:t>returns</a:t>
            </a:r>
            <a:r>
              <a:rPr sz="2400" spc="10" dirty="0">
                <a:latin typeface="Arial"/>
                <a:cs typeface="Arial"/>
              </a:rPr>
              <a:t> </a:t>
            </a:r>
            <a:r>
              <a:rPr sz="2400" dirty="0">
                <a:latin typeface="Arial"/>
                <a:cs typeface="Arial"/>
              </a:rPr>
              <a:t>true</a:t>
            </a:r>
          </a:p>
          <a:p>
            <a:pPr marL="870585" marR="5080" lvl="1" indent="-457200">
              <a:lnSpc>
                <a:spcPct val="100000"/>
              </a:lnSpc>
              <a:spcBef>
                <a:spcPts val="580"/>
              </a:spcBef>
              <a:buAutoNum type="arabicPeriod"/>
              <a:tabLst>
                <a:tab pos="870585" algn="l"/>
                <a:tab pos="871219" algn="l"/>
                <a:tab pos="1852295" algn="l"/>
                <a:tab pos="2359660" algn="l"/>
                <a:tab pos="2724150" algn="l"/>
                <a:tab pos="3653790" algn="l"/>
                <a:tab pos="4635500" algn="l"/>
                <a:tab pos="5142865" algn="l"/>
                <a:tab pos="5507355" algn="l"/>
                <a:tab pos="6471920" algn="l"/>
                <a:tab pos="8488680" algn="l"/>
              </a:tabLst>
            </a:pPr>
            <a:r>
              <a:rPr sz="2400" spc="-5" dirty="0">
                <a:latin typeface="Arial"/>
                <a:cs typeface="Arial"/>
              </a:rPr>
              <a:t>String	s1	=	“xyz”</a:t>
            </a:r>
            <a:r>
              <a:rPr sz="2400" dirty="0">
                <a:latin typeface="Arial"/>
                <a:cs typeface="Arial"/>
              </a:rPr>
              <a:t>;	</a:t>
            </a:r>
            <a:r>
              <a:rPr sz="2400" spc="-5" dirty="0">
                <a:latin typeface="Arial"/>
                <a:cs typeface="Arial"/>
              </a:rPr>
              <a:t>String</a:t>
            </a:r>
            <a:r>
              <a:rPr sz="2400" dirty="0">
                <a:latin typeface="Arial"/>
                <a:cs typeface="Arial"/>
              </a:rPr>
              <a:t>	s</a:t>
            </a:r>
            <a:r>
              <a:rPr sz="2400" spc="-5" dirty="0">
                <a:latin typeface="Arial"/>
                <a:cs typeface="Arial"/>
              </a:rPr>
              <a:t>2</a:t>
            </a:r>
            <a:r>
              <a:rPr sz="2400" dirty="0">
                <a:latin typeface="Arial"/>
                <a:cs typeface="Arial"/>
              </a:rPr>
              <a:t>	=	“</a:t>
            </a:r>
            <a:r>
              <a:rPr sz="2400" spc="-10" dirty="0">
                <a:latin typeface="Arial"/>
                <a:cs typeface="Arial"/>
              </a:rPr>
              <a:t>ab</a:t>
            </a:r>
            <a:r>
              <a:rPr sz="2400" spc="-5" dirty="0">
                <a:latin typeface="Arial"/>
                <a:cs typeface="Arial"/>
              </a:rPr>
              <a:t>c</a:t>
            </a:r>
            <a:r>
              <a:rPr sz="2400" dirty="0">
                <a:latin typeface="Arial"/>
                <a:cs typeface="Arial"/>
              </a:rPr>
              <a:t>”;	s</a:t>
            </a:r>
            <a:r>
              <a:rPr sz="2400" spc="-10" dirty="0">
                <a:latin typeface="Arial"/>
                <a:cs typeface="Arial"/>
              </a:rPr>
              <a:t>1</a:t>
            </a:r>
            <a:r>
              <a:rPr sz="2400" spc="-5" dirty="0">
                <a:latin typeface="Arial"/>
                <a:cs typeface="Arial"/>
              </a:rPr>
              <a:t>.equ</a:t>
            </a:r>
            <a:r>
              <a:rPr sz="2400" spc="5" dirty="0">
                <a:latin typeface="Arial"/>
                <a:cs typeface="Arial"/>
              </a:rPr>
              <a:t>a</a:t>
            </a:r>
            <a:r>
              <a:rPr sz="2400" spc="-5" dirty="0">
                <a:latin typeface="Arial"/>
                <a:cs typeface="Arial"/>
              </a:rPr>
              <a:t>ls(s</a:t>
            </a:r>
            <a:r>
              <a:rPr sz="2400" spc="-10" dirty="0">
                <a:latin typeface="Arial"/>
                <a:cs typeface="Arial"/>
              </a:rPr>
              <a:t>2</a:t>
            </a:r>
            <a:r>
              <a:rPr sz="2400" dirty="0">
                <a:latin typeface="Arial"/>
                <a:cs typeface="Arial"/>
              </a:rPr>
              <a:t>)	</a:t>
            </a:r>
            <a:r>
              <a:rPr sz="2400" spc="-10" dirty="0">
                <a:latin typeface="Arial"/>
                <a:cs typeface="Arial"/>
              </a:rPr>
              <a:t>or  </a:t>
            </a:r>
            <a:r>
              <a:rPr sz="2400" spc="-5" dirty="0">
                <a:latin typeface="Arial"/>
                <a:cs typeface="Arial"/>
              </a:rPr>
              <a:t>s2.equals(s1) </a:t>
            </a:r>
            <a:r>
              <a:rPr sz="2400" dirty="0">
                <a:latin typeface="Arial"/>
                <a:cs typeface="Arial"/>
              </a:rPr>
              <a:t>returns</a:t>
            </a:r>
            <a:r>
              <a:rPr sz="2400" spc="15" dirty="0">
                <a:latin typeface="Arial"/>
                <a:cs typeface="Arial"/>
              </a:rPr>
              <a:t> </a:t>
            </a:r>
            <a:r>
              <a:rPr sz="2400" spc="-5" dirty="0">
                <a:latin typeface="Arial"/>
                <a:cs typeface="Arial"/>
              </a:rPr>
              <a:t>false</a:t>
            </a:r>
            <a:endParaRPr sz="2400" dirty="0">
              <a:latin typeface="Arial"/>
              <a:cs typeface="Arial"/>
            </a:endParaRPr>
          </a:p>
        </p:txBody>
      </p:sp>
      <p:sp>
        <p:nvSpPr>
          <p:cNvPr id="3" name="object 3"/>
          <p:cNvSpPr txBox="1">
            <a:spLocks noGrp="1"/>
          </p:cNvSpPr>
          <p:nvPr>
            <p:ph type="title"/>
          </p:nvPr>
        </p:nvSpPr>
        <p:spPr>
          <a:xfrm>
            <a:off x="383540" y="150621"/>
            <a:ext cx="5780405" cy="1031240"/>
          </a:xfrm>
          <a:prstGeom prst="rect">
            <a:avLst/>
          </a:prstGeom>
        </p:spPr>
        <p:txBody>
          <a:bodyPr vert="horz" wrap="square" lIns="0" tIns="104139" rIns="0" bIns="0" rtlCol="0">
            <a:spAutoFit/>
          </a:bodyPr>
          <a:lstStyle/>
          <a:p>
            <a:pPr marL="12700" marR="5080">
              <a:lnSpc>
                <a:spcPts val="3600"/>
              </a:lnSpc>
              <a:spcBef>
                <a:spcPts val="819"/>
              </a:spcBef>
            </a:pPr>
            <a:r>
              <a:rPr sz="3600" i="0" spc="-145" dirty="0">
                <a:solidFill>
                  <a:srgbClr val="000000"/>
                </a:solidFill>
                <a:latin typeface="Arial"/>
                <a:cs typeface="Arial"/>
              </a:rPr>
              <a:t>Comparing </a:t>
            </a:r>
            <a:r>
              <a:rPr sz="3600" i="0" spc="-140" dirty="0">
                <a:solidFill>
                  <a:srgbClr val="000000"/>
                </a:solidFill>
                <a:latin typeface="Arial"/>
                <a:cs typeface="Arial"/>
              </a:rPr>
              <a:t>Strings </a:t>
            </a:r>
            <a:r>
              <a:rPr sz="3600" i="0" dirty="0">
                <a:solidFill>
                  <a:srgbClr val="000000"/>
                </a:solidFill>
                <a:latin typeface="Arial"/>
                <a:cs typeface="Arial"/>
              </a:rPr>
              <a:t>:</a:t>
            </a:r>
            <a:r>
              <a:rPr sz="3600" i="0" spc="-550" dirty="0">
                <a:solidFill>
                  <a:srgbClr val="000000"/>
                </a:solidFill>
                <a:latin typeface="Arial"/>
                <a:cs typeface="Arial"/>
              </a:rPr>
              <a:t> </a:t>
            </a:r>
            <a:r>
              <a:rPr sz="3600" i="0" spc="-140" dirty="0">
                <a:solidFill>
                  <a:srgbClr val="000000"/>
                </a:solidFill>
                <a:latin typeface="Arial"/>
                <a:cs typeface="Arial"/>
              </a:rPr>
              <a:t>equals()  </a:t>
            </a:r>
            <a:r>
              <a:rPr sz="3600" i="0" spc="-135" dirty="0">
                <a:solidFill>
                  <a:srgbClr val="000000"/>
                </a:solidFill>
                <a:latin typeface="Arial"/>
                <a:cs typeface="Arial"/>
              </a:rPr>
              <a:t>Method</a:t>
            </a:r>
            <a:endParaRPr sz="36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1366520"/>
            <a:ext cx="8754110" cy="1635125"/>
          </a:xfrm>
          <a:prstGeom prst="rect">
            <a:avLst/>
          </a:prstGeom>
        </p:spPr>
        <p:txBody>
          <a:bodyPr vert="horz" wrap="square" lIns="0" tIns="12700" rIns="0" bIns="0" rtlCol="0">
            <a:spAutoFit/>
          </a:bodyPr>
          <a:lstStyle/>
          <a:p>
            <a:pPr marL="354965" marR="5080" indent="-342900">
              <a:lnSpc>
                <a:spcPct val="100000"/>
              </a:lnSpc>
              <a:spcBef>
                <a:spcPts val="100"/>
              </a:spcBef>
              <a:buClr>
                <a:srgbClr val="0F1141"/>
              </a:buClr>
              <a:buChar char="•"/>
              <a:tabLst>
                <a:tab pos="354965" algn="l"/>
                <a:tab pos="355600" algn="l"/>
              </a:tabLst>
            </a:pPr>
            <a:r>
              <a:rPr sz="2400" spc="-5" dirty="0">
                <a:latin typeface="Arial"/>
                <a:cs typeface="Arial"/>
              </a:rPr>
              <a:t>Equality operator </a:t>
            </a:r>
            <a:r>
              <a:rPr sz="2400" dirty="0">
                <a:latin typeface="Arial"/>
                <a:cs typeface="Arial"/>
              </a:rPr>
              <a:t>(==) returns true if </a:t>
            </a:r>
            <a:r>
              <a:rPr sz="2400" spc="-5" dirty="0">
                <a:latin typeface="Arial"/>
                <a:cs typeface="Arial"/>
              </a:rPr>
              <a:t>both string references are  pointing </a:t>
            </a:r>
            <a:r>
              <a:rPr sz="2400" dirty="0">
                <a:latin typeface="Arial"/>
                <a:cs typeface="Arial"/>
              </a:rPr>
              <a:t>to same </a:t>
            </a:r>
            <a:r>
              <a:rPr sz="2400" spc="-5" dirty="0">
                <a:latin typeface="Arial"/>
                <a:cs typeface="Arial"/>
              </a:rPr>
              <a:t>object otherwise</a:t>
            </a:r>
            <a:r>
              <a:rPr sz="2400" spc="25" dirty="0">
                <a:latin typeface="Arial"/>
                <a:cs typeface="Arial"/>
              </a:rPr>
              <a:t> </a:t>
            </a:r>
            <a:r>
              <a:rPr sz="2400" spc="-5" dirty="0">
                <a:latin typeface="Arial"/>
                <a:cs typeface="Arial"/>
              </a:rPr>
              <a:t>false.</a:t>
            </a:r>
            <a:endParaRPr sz="2400">
              <a:latin typeface="Arial"/>
              <a:cs typeface="Arial"/>
            </a:endParaRPr>
          </a:p>
          <a:p>
            <a:pPr marL="355600" indent="-342900">
              <a:lnSpc>
                <a:spcPct val="100000"/>
              </a:lnSpc>
              <a:spcBef>
                <a:spcPts val="575"/>
              </a:spcBef>
              <a:buClr>
                <a:srgbClr val="0F1141"/>
              </a:buClr>
              <a:buChar char="•"/>
              <a:tabLst>
                <a:tab pos="354965" algn="l"/>
                <a:tab pos="355600" algn="l"/>
              </a:tabLst>
            </a:pPr>
            <a:r>
              <a:rPr sz="2400" spc="-5" dirty="0">
                <a:latin typeface="Arial"/>
                <a:cs typeface="Arial"/>
              </a:rPr>
              <a:t>equals() method </a:t>
            </a:r>
            <a:r>
              <a:rPr sz="2400" dirty="0">
                <a:latin typeface="Arial"/>
                <a:cs typeface="Arial"/>
              </a:rPr>
              <a:t>checks the states of the </a:t>
            </a:r>
            <a:r>
              <a:rPr sz="2400" spc="-5" dirty="0">
                <a:latin typeface="Arial"/>
                <a:cs typeface="Arial"/>
              </a:rPr>
              <a:t>string</a:t>
            </a:r>
            <a:r>
              <a:rPr sz="2400" spc="-10" dirty="0">
                <a:latin typeface="Arial"/>
                <a:cs typeface="Arial"/>
              </a:rPr>
              <a:t> </a:t>
            </a:r>
            <a:r>
              <a:rPr sz="2400" spc="-5" dirty="0">
                <a:latin typeface="Arial"/>
                <a:cs typeface="Arial"/>
              </a:rPr>
              <a:t>references</a:t>
            </a:r>
            <a:endParaRPr sz="2400">
              <a:latin typeface="Arial"/>
              <a:cs typeface="Arial"/>
            </a:endParaRPr>
          </a:p>
          <a:p>
            <a:pPr marL="355600" indent="-342900">
              <a:lnSpc>
                <a:spcPct val="100000"/>
              </a:lnSpc>
              <a:spcBef>
                <a:spcPts val="580"/>
              </a:spcBef>
              <a:buClr>
                <a:srgbClr val="0F1141"/>
              </a:buClr>
              <a:buChar char="•"/>
              <a:tabLst>
                <a:tab pos="354965" algn="l"/>
                <a:tab pos="355600" algn="l"/>
              </a:tabLst>
            </a:pPr>
            <a:r>
              <a:rPr sz="2400" spc="-5" dirty="0">
                <a:latin typeface="Arial"/>
                <a:cs typeface="Arial"/>
              </a:rPr>
              <a:t>Example:</a:t>
            </a:r>
            <a:endParaRPr sz="2400">
              <a:latin typeface="Arial"/>
              <a:cs typeface="Arial"/>
            </a:endParaRPr>
          </a:p>
        </p:txBody>
      </p:sp>
      <p:sp>
        <p:nvSpPr>
          <p:cNvPr id="3" name="object 3"/>
          <p:cNvSpPr txBox="1"/>
          <p:nvPr/>
        </p:nvSpPr>
        <p:spPr>
          <a:xfrm>
            <a:off x="1100734" y="3078406"/>
            <a:ext cx="555625" cy="950594"/>
          </a:xfrm>
          <a:prstGeom prst="rect">
            <a:avLst/>
          </a:prstGeom>
        </p:spPr>
        <p:txBody>
          <a:bodyPr vert="horz" wrap="square" lIns="0" tIns="24765" rIns="0" bIns="0" rtlCol="0">
            <a:spAutoFit/>
          </a:bodyPr>
          <a:lstStyle/>
          <a:p>
            <a:pPr marL="12700" marR="5080" algn="just">
              <a:lnSpc>
                <a:spcPct val="124800"/>
              </a:lnSpc>
              <a:spcBef>
                <a:spcPts val="195"/>
              </a:spcBef>
            </a:pPr>
            <a:r>
              <a:rPr sz="1600" spc="-5" dirty="0">
                <a:latin typeface="Arial"/>
                <a:cs typeface="Arial"/>
              </a:rPr>
              <a:t>String  String  String</a:t>
            </a:r>
            <a:endParaRPr sz="1600">
              <a:latin typeface="Arial"/>
              <a:cs typeface="Arial"/>
            </a:endParaRPr>
          </a:p>
        </p:txBody>
      </p:sp>
      <p:sp>
        <p:nvSpPr>
          <p:cNvPr id="4" name="object 4"/>
          <p:cNvSpPr txBox="1"/>
          <p:nvPr/>
        </p:nvSpPr>
        <p:spPr>
          <a:xfrm>
            <a:off x="2015489" y="3078406"/>
            <a:ext cx="2084070" cy="950594"/>
          </a:xfrm>
          <a:prstGeom prst="rect">
            <a:avLst/>
          </a:prstGeom>
        </p:spPr>
        <p:txBody>
          <a:bodyPr vert="horz" wrap="square" lIns="0" tIns="24765" rIns="0" bIns="0" rtlCol="0">
            <a:spAutoFit/>
          </a:bodyPr>
          <a:lstStyle/>
          <a:p>
            <a:pPr marL="12700" marR="5080" algn="just">
              <a:lnSpc>
                <a:spcPct val="124800"/>
              </a:lnSpc>
              <a:spcBef>
                <a:spcPts val="195"/>
              </a:spcBef>
            </a:pPr>
            <a:r>
              <a:rPr sz="1600" spc="-5" dirty="0">
                <a:latin typeface="Arial"/>
                <a:cs typeface="Arial"/>
              </a:rPr>
              <a:t>s1 = new</a:t>
            </a:r>
            <a:r>
              <a:rPr sz="1600" spc="-45" dirty="0">
                <a:latin typeface="Arial"/>
                <a:cs typeface="Arial"/>
              </a:rPr>
              <a:t> </a:t>
            </a:r>
            <a:r>
              <a:rPr sz="1600" spc="-5" dirty="0">
                <a:latin typeface="Arial"/>
                <a:cs typeface="Arial"/>
              </a:rPr>
              <a:t>String(“abc”);  s2 = </a:t>
            </a:r>
            <a:r>
              <a:rPr sz="1600" spc="-10" dirty="0">
                <a:latin typeface="Arial"/>
                <a:cs typeface="Arial"/>
              </a:rPr>
              <a:t>new </a:t>
            </a:r>
            <a:r>
              <a:rPr sz="1600" spc="-5" dirty="0">
                <a:latin typeface="Arial"/>
                <a:cs typeface="Arial"/>
              </a:rPr>
              <a:t>String(“abc”);  s3 =</a:t>
            </a:r>
            <a:r>
              <a:rPr sz="1600" dirty="0">
                <a:latin typeface="Arial"/>
                <a:cs typeface="Arial"/>
              </a:rPr>
              <a:t> </a:t>
            </a:r>
            <a:r>
              <a:rPr sz="1600" spc="-5" dirty="0">
                <a:latin typeface="Arial"/>
                <a:cs typeface="Arial"/>
              </a:rPr>
              <a:t>s1;</a:t>
            </a:r>
            <a:endParaRPr sz="1600">
              <a:latin typeface="Arial"/>
              <a:cs typeface="Arial"/>
            </a:endParaRPr>
          </a:p>
        </p:txBody>
      </p:sp>
      <p:sp>
        <p:nvSpPr>
          <p:cNvPr id="5" name="object 5"/>
          <p:cNvSpPr txBox="1"/>
          <p:nvPr/>
        </p:nvSpPr>
        <p:spPr>
          <a:xfrm>
            <a:off x="1100734" y="4003444"/>
            <a:ext cx="1043305" cy="610870"/>
          </a:xfrm>
          <a:prstGeom prst="rect">
            <a:avLst/>
          </a:prstGeom>
        </p:spPr>
        <p:txBody>
          <a:bodyPr vert="horz" wrap="square" lIns="0" tIns="60960" rIns="0" bIns="0" rtlCol="0">
            <a:spAutoFit/>
          </a:bodyPr>
          <a:lstStyle/>
          <a:p>
            <a:pPr marL="12700">
              <a:lnSpc>
                <a:spcPct val="100000"/>
              </a:lnSpc>
              <a:spcBef>
                <a:spcPts val="480"/>
              </a:spcBef>
            </a:pPr>
            <a:r>
              <a:rPr sz="1600" spc="-5" dirty="0">
                <a:latin typeface="Arial"/>
                <a:cs typeface="Arial"/>
              </a:rPr>
              <a:t>if(s1 ==</a:t>
            </a:r>
            <a:r>
              <a:rPr sz="1600" spc="-45" dirty="0">
                <a:latin typeface="Arial"/>
                <a:cs typeface="Arial"/>
              </a:rPr>
              <a:t> </a:t>
            </a:r>
            <a:r>
              <a:rPr sz="1600" spc="-5" dirty="0">
                <a:latin typeface="Arial"/>
                <a:cs typeface="Arial"/>
              </a:rPr>
              <a:t>s2)</a:t>
            </a:r>
            <a:endParaRPr sz="1600">
              <a:latin typeface="Arial"/>
              <a:cs typeface="Arial"/>
            </a:endParaRPr>
          </a:p>
          <a:p>
            <a:pPr marL="12700">
              <a:lnSpc>
                <a:spcPct val="100000"/>
              </a:lnSpc>
              <a:spcBef>
                <a:spcPts val="385"/>
              </a:spcBef>
            </a:pPr>
            <a:r>
              <a:rPr sz="1600" dirty="0">
                <a:latin typeface="Arial"/>
                <a:cs typeface="Arial"/>
              </a:rPr>
              <a:t>else</a:t>
            </a:r>
            <a:endParaRPr sz="1600">
              <a:latin typeface="Arial"/>
              <a:cs typeface="Arial"/>
            </a:endParaRPr>
          </a:p>
        </p:txBody>
      </p:sp>
      <p:sp>
        <p:nvSpPr>
          <p:cNvPr id="6" name="object 6"/>
          <p:cNvSpPr txBox="1"/>
          <p:nvPr/>
        </p:nvSpPr>
        <p:spPr>
          <a:xfrm>
            <a:off x="3844544" y="4003444"/>
            <a:ext cx="2436495" cy="610870"/>
          </a:xfrm>
          <a:prstGeom prst="rect">
            <a:avLst/>
          </a:prstGeom>
        </p:spPr>
        <p:txBody>
          <a:bodyPr vert="horz" wrap="square" lIns="0" tIns="60960" rIns="0" bIns="0" rtlCol="0">
            <a:spAutoFit/>
          </a:bodyPr>
          <a:lstStyle/>
          <a:p>
            <a:pPr marL="12700">
              <a:lnSpc>
                <a:spcPct val="100000"/>
              </a:lnSpc>
              <a:spcBef>
                <a:spcPts val="480"/>
              </a:spcBef>
            </a:pPr>
            <a:r>
              <a:rPr sz="1600" spc="-5" dirty="0">
                <a:latin typeface="Arial"/>
                <a:cs typeface="Arial"/>
              </a:rPr>
              <a:t>System.out.println(“Hello”);</a:t>
            </a:r>
            <a:endParaRPr sz="1600">
              <a:latin typeface="Arial"/>
              <a:cs typeface="Arial"/>
            </a:endParaRPr>
          </a:p>
          <a:p>
            <a:pPr marL="12700">
              <a:lnSpc>
                <a:spcPct val="100000"/>
              </a:lnSpc>
              <a:spcBef>
                <a:spcPts val="385"/>
              </a:spcBef>
            </a:pPr>
            <a:r>
              <a:rPr sz="1600" spc="-5" dirty="0">
                <a:latin typeface="Arial"/>
                <a:cs typeface="Arial"/>
              </a:rPr>
              <a:t>System.out.println(“Hi”);</a:t>
            </a:r>
            <a:endParaRPr sz="1600">
              <a:latin typeface="Arial"/>
              <a:cs typeface="Arial"/>
            </a:endParaRPr>
          </a:p>
        </p:txBody>
      </p:sp>
      <p:sp>
        <p:nvSpPr>
          <p:cNvPr id="7" name="object 7"/>
          <p:cNvSpPr txBox="1"/>
          <p:nvPr/>
        </p:nvSpPr>
        <p:spPr>
          <a:xfrm>
            <a:off x="3844544" y="4881143"/>
            <a:ext cx="2436495" cy="610870"/>
          </a:xfrm>
          <a:prstGeom prst="rect">
            <a:avLst/>
          </a:prstGeom>
        </p:spPr>
        <p:txBody>
          <a:bodyPr vert="horz" wrap="square" lIns="0" tIns="12700" rIns="0" bIns="0" rtlCol="0">
            <a:spAutoFit/>
          </a:bodyPr>
          <a:lstStyle/>
          <a:p>
            <a:pPr marL="12700" marR="5080">
              <a:lnSpc>
                <a:spcPct val="120000"/>
              </a:lnSpc>
              <a:spcBef>
                <a:spcPts val="100"/>
              </a:spcBef>
            </a:pPr>
            <a:r>
              <a:rPr sz="1600" spc="-5" dirty="0">
                <a:latin typeface="Arial"/>
                <a:cs typeface="Arial"/>
              </a:rPr>
              <a:t>S</a:t>
            </a:r>
            <a:r>
              <a:rPr sz="1600" spc="-20" dirty="0">
                <a:latin typeface="Arial"/>
                <a:cs typeface="Arial"/>
              </a:rPr>
              <a:t>y</a:t>
            </a:r>
            <a:r>
              <a:rPr sz="1600" spc="-5" dirty="0">
                <a:latin typeface="Arial"/>
                <a:cs typeface="Arial"/>
              </a:rPr>
              <a:t>stem.out.print</a:t>
            </a:r>
            <a:r>
              <a:rPr sz="1600" dirty="0">
                <a:latin typeface="Arial"/>
                <a:cs typeface="Arial"/>
              </a:rPr>
              <a:t>ln</a:t>
            </a:r>
            <a:r>
              <a:rPr sz="1600" spc="-5" dirty="0">
                <a:latin typeface="Arial"/>
                <a:cs typeface="Arial"/>
              </a:rPr>
              <a:t>(</a:t>
            </a:r>
            <a:r>
              <a:rPr sz="1600" spc="-15" dirty="0">
                <a:latin typeface="Arial"/>
                <a:cs typeface="Arial"/>
              </a:rPr>
              <a:t>“</a:t>
            </a:r>
            <a:r>
              <a:rPr sz="1600" spc="-10" dirty="0">
                <a:latin typeface="Arial"/>
                <a:cs typeface="Arial"/>
              </a:rPr>
              <a:t>He</a:t>
            </a:r>
            <a:r>
              <a:rPr sz="1600" spc="-5" dirty="0">
                <a:latin typeface="Arial"/>
                <a:cs typeface="Arial"/>
              </a:rPr>
              <a:t>ll</a:t>
            </a:r>
            <a:r>
              <a:rPr sz="1600" spc="-10" dirty="0">
                <a:latin typeface="Arial"/>
                <a:cs typeface="Arial"/>
              </a:rPr>
              <a:t>o”</a:t>
            </a:r>
            <a:r>
              <a:rPr sz="1600" spc="-15" dirty="0">
                <a:latin typeface="Arial"/>
                <a:cs typeface="Arial"/>
              </a:rPr>
              <a:t>)</a:t>
            </a:r>
            <a:r>
              <a:rPr sz="1600" spc="-5" dirty="0">
                <a:latin typeface="Arial"/>
                <a:cs typeface="Arial"/>
              </a:rPr>
              <a:t>;  System.out.println(“Hi”);</a:t>
            </a:r>
            <a:endParaRPr sz="1600">
              <a:latin typeface="Arial"/>
              <a:cs typeface="Arial"/>
            </a:endParaRPr>
          </a:p>
        </p:txBody>
      </p:sp>
      <p:sp>
        <p:nvSpPr>
          <p:cNvPr id="8" name="object 8"/>
          <p:cNvSpPr txBox="1">
            <a:spLocks noGrp="1"/>
          </p:cNvSpPr>
          <p:nvPr>
            <p:ph type="title"/>
          </p:nvPr>
        </p:nvSpPr>
        <p:spPr>
          <a:xfrm>
            <a:off x="383540" y="150621"/>
            <a:ext cx="5780405" cy="1031240"/>
          </a:xfrm>
          <a:prstGeom prst="rect">
            <a:avLst/>
          </a:prstGeom>
        </p:spPr>
        <p:txBody>
          <a:bodyPr vert="horz" wrap="square" lIns="0" tIns="104139" rIns="0" bIns="0" rtlCol="0">
            <a:spAutoFit/>
          </a:bodyPr>
          <a:lstStyle/>
          <a:p>
            <a:pPr marL="12700" marR="5080">
              <a:lnSpc>
                <a:spcPts val="3600"/>
              </a:lnSpc>
              <a:spcBef>
                <a:spcPts val="819"/>
              </a:spcBef>
            </a:pPr>
            <a:r>
              <a:rPr sz="3600" i="0" spc="-145" dirty="0">
                <a:solidFill>
                  <a:srgbClr val="000000"/>
                </a:solidFill>
                <a:latin typeface="Arial"/>
                <a:cs typeface="Arial"/>
              </a:rPr>
              <a:t>Comparing </a:t>
            </a:r>
            <a:r>
              <a:rPr sz="3600" i="0" spc="-140" dirty="0">
                <a:solidFill>
                  <a:srgbClr val="000000"/>
                </a:solidFill>
                <a:latin typeface="Arial"/>
                <a:cs typeface="Arial"/>
              </a:rPr>
              <a:t>Strings </a:t>
            </a:r>
            <a:r>
              <a:rPr sz="3600" i="0" dirty="0">
                <a:solidFill>
                  <a:srgbClr val="000000"/>
                </a:solidFill>
                <a:latin typeface="Arial"/>
                <a:cs typeface="Arial"/>
              </a:rPr>
              <a:t>:</a:t>
            </a:r>
            <a:r>
              <a:rPr sz="3600" i="0" spc="-550" dirty="0">
                <a:solidFill>
                  <a:srgbClr val="000000"/>
                </a:solidFill>
                <a:latin typeface="Arial"/>
                <a:cs typeface="Arial"/>
              </a:rPr>
              <a:t> </a:t>
            </a:r>
            <a:r>
              <a:rPr sz="3600" i="0" spc="-140" dirty="0">
                <a:solidFill>
                  <a:srgbClr val="000000"/>
                </a:solidFill>
                <a:latin typeface="Arial"/>
                <a:cs typeface="Arial"/>
              </a:rPr>
              <a:t>equals()  </a:t>
            </a:r>
            <a:r>
              <a:rPr sz="3600" i="0" spc="-135" dirty="0">
                <a:solidFill>
                  <a:srgbClr val="000000"/>
                </a:solidFill>
                <a:latin typeface="Arial"/>
                <a:cs typeface="Arial"/>
              </a:rPr>
              <a:t>Method </a:t>
            </a:r>
            <a:r>
              <a:rPr sz="3600" i="0" spc="-80" dirty="0">
                <a:solidFill>
                  <a:srgbClr val="000000"/>
                </a:solidFill>
                <a:latin typeface="Arial"/>
                <a:cs typeface="Arial"/>
              </a:rPr>
              <a:t>vs</a:t>
            </a:r>
            <a:r>
              <a:rPr sz="3600" i="0" spc="-434" dirty="0">
                <a:solidFill>
                  <a:srgbClr val="000000"/>
                </a:solidFill>
                <a:latin typeface="Arial"/>
                <a:cs typeface="Arial"/>
              </a:rPr>
              <a:t> </a:t>
            </a:r>
            <a:r>
              <a:rPr sz="3600" i="0" spc="-160" dirty="0">
                <a:solidFill>
                  <a:srgbClr val="000000"/>
                </a:solidFill>
                <a:latin typeface="Arial"/>
                <a:cs typeface="Arial"/>
              </a:rPr>
              <a:t>==</a:t>
            </a:r>
            <a:endParaRPr sz="3600">
              <a:latin typeface="Arial"/>
              <a:cs typeface="Arial"/>
            </a:endParaRPr>
          </a:p>
        </p:txBody>
      </p:sp>
      <p:sp>
        <p:nvSpPr>
          <p:cNvPr id="9" name="object 9"/>
          <p:cNvSpPr txBox="1"/>
          <p:nvPr/>
        </p:nvSpPr>
        <p:spPr>
          <a:xfrm>
            <a:off x="2012442" y="5936741"/>
            <a:ext cx="832485" cy="504825"/>
          </a:xfrm>
          <a:prstGeom prst="rect">
            <a:avLst/>
          </a:prstGeom>
          <a:ln w="25908">
            <a:solidFill>
              <a:srgbClr val="385D89"/>
            </a:solidFill>
          </a:ln>
        </p:spPr>
        <p:txBody>
          <a:bodyPr vert="horz" wrap="square" lIns="0" tIns="106680" rIns="0" bIns="0" rtlCol="0">
            <a:spAutoFit/>
          </a:bodyPr>
          <a:lstStyle/>
          <a:p>
            <a:pPr marL="208279">
              <a:lnSpc>
                <a:spcPct val="100000"/>
              </a:lnSpc>
              <a:spcBef>
                <a:spcPts val="840"/>
              </a:spcBef>
            </a:pPr>
            <a:r>
              <a:rPr sz="1800" b="1" dirty="0">
                <a:latin typeface="Calibri"/>
                <a:cs typeface="Calibri"/>
              </a:rPr>
              <a:t>abc</a:t>
            </a:r>
            <a:endParaRPr sz="1800">
              <a:latin typeface="Calibri"/>
              <a:cs typeface="Calibri"/>
            </a:endParaRPr>
          </a:p>
        </p:txBody>
      </p:sp>
      <p:sp>
        <p:nvSpPr>
          <p:cNvPr id="10" name="object 10"/>
          <p:cNvSpPr/>
          <p:nvPr/>
        </p:nvSpPr>
        <p:spPr>
          <a:xfrm>
            <a:off x="1507997" y="6152388"/>
            <a:ext cx="504190" cy="78105"/>
          </a:xfrm>
          <a:custGeom>
            <a:avLst/>
            <a:gdLst/>
            <a:ahLst/>
            <a:cxnLst/>
            <a:rect l="l" t="t" r="r" b="b"/>
            <a:pathLst>
              <a:path w="504189" h="78104">
                <a:moveTo>
                  <a:pt x="426339" y="0"/>
                </a:moveTo>
                <a:lnTo>
                  <a:pt x="426339" y="77724"/>
                </a:lnTo>
                <a:lnTo>
                  <a:pt x="478154" y="51816"/>
                </a:lnTo>
                <a:lnTo>
                  <a:pt x="439293" y="51816"/>
                </a:lnTo>
                <a:lnTo>
                  <a:pt x="439293" y="25907"/>
                </a:lnTo>
                <a:lnTo>
                  <a:pt x="478154" y="25907"/>
                </a:lnTo>
                <a:lnTo>
                  <a:pt x="426339" y="0"/>
                </a:lnTo>
                <a:close/>
              </a:path>
              <a:path w="504189" h="78104">
                <a:moveTo>
                  <a:pt x="426339" y="25907"/>
                </a:moveTo>
                <a:lnTo>
                  <a:pt x="0" y="25907"/>
                </a:lnTo>
                <a:lnTo>
                  <a:pt x="0" y="51816"/>
                </a:lnTo>
                <a:lnTo>
                  <a:pt x="426339" y="51816"/>
                </a:lnTo>
                <a:lnTo>
                  <a:pt x="426339" y="25907"/>
                </a:lnTo>
                <a:close/>
              </a:path>
              <a:path w="504189" h="78104">
                <a:moveTo>
                  <a:pt x="478154" y="25907"/>
                </a:moveTo>
                <a:lnTo>
                  <a:pt x="439293" y="25907"/>
                </a:lnTo>
                <a:lnTo>
                  <a:pt x="439293" y="51816"/>
                </a:lnTo>
                <a:lnTo>
                  <a:pt x="478154" y="51816"/>
                </a:lnTo>
                <a:lnTo>
                  <a:pt x="504063" y="38862"/>
                </a:lnTo>
                <a:lnTo>
                  <a:pt x="478154" y="25907"/>
                </a:lnTo>
                <a:close/>
              </a:path>
            </a:pathLst>
          </a:custGeom>
          <a:solidFill>
            <a:srgbClr val="FF0000"/>
          </a:solidFill>
        </p:spPr>
        <p:txBody>
          <a:bodyPr wrap="square" lIns="0" tIns="0" rIns="0" bIns="0" rtlCol="0"/>
          <a:lstStyle/>
          <a:p>
            <a:endParaRPr/>
          </a:p>
        </p:txBody>
      </p:sp>
      <p:sp>
        <p:nvSpPr>
          <p:cNvPr id="11" name="object 11"/>
          <p:cNvSpPr txBox="1"/>
          <p:nvPr/>
        </p:nvSpPr>
        <p:spPr>
          <a:xfrm>
            <a:off x="1100734" y="4881143"/>
            <a:ext cx="1616710" cy="1005205"/>
          </a:xfrm>
          <a:prstGeom prst="rect">
            <a:avLst/>
          </a:prstGeom>
        </p:spPr>
        <p:txBody>
          <a:bodyPr vert="horz" wrap="square" lIns="0" tIns="12700" rIns="0" bIns="0" rtlCol="0">
            <a:spAutoFit/>
          </a:bodyPr>
          <a:lstStyle/>
          <a:p>
            <a:pPr marL="12700" marR="140335">
              <a:lnSpc>
                <a:spcPct val="120000"/>
              </a:lnSpc>
              <a:spcBef>
                <a:spcPts val="100"/>
              </a:spcBef>
            </a:pPr>
            <a:r>
              <a:rPr sz="1600" spc="-5" dirty="0">
                <a:latin typeface="Arial"/>
                <a:cs typeface="Arial"/>
              </a:rPr>
              <a:t>if(s1.equals(s2))  else</a:t>
            </a:r>
            <a:endParaRPr sz="1600">
              <a:latin typeface="Arial"/>
              <a:cs typeface="Arial"/>
            </a:endParaRPr>
          </a:p>
          <a:p>
            <a:pPr marL="1002030">
              <a:lnSpc>
                <a:spcPct val="100000"/>
              </a:lnSpc>
              <a:spcBef>
                <a:spcPts val="940"/>
              </a:spcBef>
            </a:pPr>
            <a:r>
              <a:rPr sz="1800" dirty="0">
                <a:latin typeface="Calibri"/>
                <a:cs typeface="Calibri"/>
              </a:rPr>
              <a:t>:St</a:t>
            </a:r>
            <a:r>
              <a:rPr sz="1800" spc="-10" dirty="0">
                <a:latin typeface="Calibri"/>
                <a:cs typeface="Calibri"/>
              </a:rPr>
              <a:t>r</a:t>
            </a:r>
            <a:r>
              <a:rPr sz="1800" spc="-5" dirty="0">
                <a:latin typeface="Calibri"/>
                <a:cs typeface="Calibri"/>
              </a:rPr>
              <a:t>ing</a:t>
            </a:r>
            <a:endParaRPr sz="1800">
              <a:latin typeface="Calibri"/>
              <a:cs typeface="Calibri"/>
            </a:endParaRPr>
          </a:p>
        </p:txBody>
      </p:sp>
      <p:sp>
        <p:nvSpPr>
          <p:cNvPr id="12" name="object 12"/>
          <p:cNvSpPr txBox="1"/>
          <p:nvPr/>
        </p:nvSpPr>
        <p:spPr>
          <a:xfrm>
            <a:off x="3098419" y="6058611"/>
            <a:ext cx="23177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Calibri"/>
                <a:cs typeface="Calibri"/>
              </a:rPr>
              <a:t>s2</a:t>
            </a:r>
            <a:endParaRPr sz="1800">
              <a:latin typeface="Calibri"/>
              <a:cs typeface="Calibri"/>
            </a:endParaRPr>
          </a:p>
        </p:txBody>
      </p:sp>
      <p:sp>
        <p:nvSpPr>
          <p:cNvPr id="13" name="object 13"/>
          <p:cNvSpPr/>
          <p:nvPr/>
        </p:nvSpPr>
        <p:spPr>
          <a:xfrm>
            <a:off x="3411473" y="6193535"/>
            <a:ext cx="504190" cy="78105"/>
          </a:xfrm>
          <a:custGeom>
            <a:avLst/>
            <a:gdLst/>
            <a:ahLst/>
            <a:cxnLst/>
            <a:rect l="l" t="t" r="r" b="b"/>
            <a:pathLst>
              <a:path w="504189" h="78104">
                <a:moveTo>
                  <a:pt x="426338" y="0"/>
                </a:moveTo>
                <a:lnTo>
                  <a:pt x="426338" y="77723"/>
                </a:lnTo>
                <a:lnTo>
                  <a:pt x="478154" y="51815"/>
                </a:lnTo>
                <a:lnTo>
                  <a:pt x="439292" y="51815"/>
                </a:lnTo>
                <a:lnTo>
                  <a:pt x="439292" y="25907"/>
                </a:lnTo>
                <a:lnTo>
                  <a:pt x="478154" y="25907"/>
                </a:lnTo>
                <a:lnTo>
                  <a:pt x="426338" y="0"/>
                </a:lnTo>
                <a:close/>
              </a:path>
              <a:path w="504189" h="78104">
                <a:moveTo>
                  <a:pt x="426338" y="25907"/>
                </a:moveTo>
                <a:lnTo>
                  <a:pt x="0" y="25907"/>
                </a:lnTo>
                <a:lnTo>
                  <a:pt x="0" y="51815"/>
                </a:lnTo>
                <a:lnTo>
                  <a:pt x="426338" y="51815"/>
                </a:lnTo>
                <a:lnTo>
                  <a:pt x="426338" y="25907"/>
                </a:lnTo>
                <a:close/>
              </a:path>
              <a:path w="504189" h="78104">
                <a:moveTo>
                  <a:pt x="478154" y="25907"/>
                </a:moveTo>
                <a:lnTo>
                  <a:pt x="439292" y="25907"/>
                </a:lnTo>
                <a:lnTo>
                  <a:pt x="439292" y="51815"/>
                </a:lnTo>
                <a:lnTo>
                  <a:pt x="478154" y="51815"/>
                </a:lnTo>
                <a:lnTo>
                  <a:pt x="504063" y="38861"/>
                </a:lnTo>
                <a:lnTo>
                  <a:pt x="478154" y="25907"/>
                </a:lnTo>
                <a:close/>
              </a:path>
            </a:pathLst>
          </a:custGeom>
          <a:solidFill>
            <a:srgbClr val="FF0000"/>
          </a:solidFill>
        </p:spPr>
        <p:txBody>
          <a:bodyPr wrap="square" lIns="0" tIns="0" rIns="0" bIns="0" rtlCol="0"/>
          <a:lstStyle/>
          <a:p>
            <a:endParaRPr/>
          </a:p>
        </p:txBody>
      </p:sp>
      <p:sp>
        <p:nvSpPr>
          <p:cNvPr id="14" name="object 14"/>
          <p:cNvSpPr txBox="1"/>
          <p:nvPr/>
        </p:nvSpPr>
        <p:spPr>
          <a:xfrm>
            <a:off x="3915917" y="5979414"/>
            <a:ext cx="832485" cy="502920"/>
          </a:xfrm>
          <a:prstGeom prst="rect">
            <a:avLst/>
          </a:prstGeom>
          <a:ln w="25907">
            <a:solidFill>
              <a:srgbClr val="385D89"/>
            </a:solidFill>
          </a:ln>
        </p:spPr>
        <p:txBody>
          <a:bodyPr vert="horz" wrap="square" lIns="0" tIns="99695" rIns="0" bIns="0" rtlCol="0">
            <a:spAutoFit/>
          </a:bodyPr>
          <a:lstStyle/>
          <a:p>
            <a:pPr marL="249554">
              <a:lnSpc>
                <a:spcPct val="100000"/>
              </a:lnSpc>
              <a:spcBef>
                <a:spcPts val="785"/>
              </a:spcBef>
            </a:pPr>
            <a:r>
              <a:rPr sz="1800" b="1" dirty="0">
                <a:latin typeface="Calibri"/>
                <a:cs typeface="Calibri"/>
              </a:rPr>
              <a:t>abc</a:t>
            </a:r>
            <a:endParaRPr sz="1800">
              <a:latin typeface="Calibri"/>
              <a:cs typeface="Calibri"/>
            </a:endParaRPr>
          </a:p>
        </p:txBody>
      </p:sp>
      <p:sp>
        <p:nvSpPr>
          <p:cNvPr id="15" name="object 15"/>
          <p:cNvSpPr txBox="1"/>
          <p:nvPr/>
        </p:nvSpPr>
        <p:spPr>
          <a:xfrm>
            <a:off x="3994150" y="5628233"/>
            <a:ext cx="6273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:St</a:t>
            </a:r>
            <a:r>
              <a:rPr sz="1800" spc="-10" dirty="0">
                <a:latin typeface="Calibri"/>
                <a:cs typeface="Calibri"/>
              </a:rPr>
              <a:t>r</a:t>
            </a:r>
            <a:r>
              <a:rPr sz="1800" spc="-5" dirty="0">
                <a:latin typeface="Calibri"/>
                <a:cs typeface="Calibri"/>
              </a:rPr>
              <a:t>ing</a:t>
            </a:r>
            <a:endParaRPr sz="1800">
              <a:latin typeface="Calibri"/>
              <a:cs typeface="Calibri"/>
            </a:endParaRPr>
          </a:p>
        </p:txBody>
      </p:sp>
      <p:sp>
        <p:nvSpPr>
          <p:cNvPr id="16" name="object 16"/>
          <p:cNvSpPr txBox="1"/>
          <p:nvPr/>
        </p:nvSpPr>
        <p:spPr>
          <a:xfrm>
            <a:off x="1194612" y="5944006"/>
            <a:ext cx="275590" cy="719455"/>
          </a:xfrm>
          <a:prstGeom prst="rect">
            <a:avLst/>
          </a:prstGeom>
        </p:spPr>
        <p:txBody>
          <a:bodyPr vert="horz" wrap="square" lIns="0" tIns="12700" rIns="0" bIns="0" rtlCol="0">
            <a:spAutoFit/>
          </a:bodyPr>
          <a:lstStyle/>
          <a:p>
            <a:pPr marL="55880" marR="5080" indent="-43815">
              <a:lnSpc>
                <a:spcPct val="126400"/>
              </a:lnSpc>
              <a:spcBef>
                <a:spcPts val="100"/>
              </a:spcBef>
            </a:pPr>
            <a:r>
              <a:rPr sz="1800" dirty="0">
                <a:solidFill>
                  <a:srgbClr val="FF0000"/>
                </a:solidFill>
                <a:latin typeface="Calibri"/>
                <a:cs typeface="Calibri"/>
              </a:rPr>
              <a:t>s1  s3</a:t>
            </a:r>
            <a:endParaRPr sz="1800">
              <a:latin typeface="Calibri"/>
              <a:cs typeface="Calibri"/>
            </a:endParaRPr>
          </a:p>
        </p:txBody>
      </p:sp>
      <p:sp>
        <p:nvSpPr>
          <p:cNvPr id="17" name="object 17"/>
          <p:cNvSpPr/>
          <p:nvPr/>
        </p:nvSpPr>
        <p:spPr>
          <a:xfrm>
            <a:off x="1547241" y="6392583"/>
            <a:ext cx="464184" cy="157480"/>
          </a:xfrm>
          <a:custGeom>
            <a:avLst/>
            <a:gdLst/>
            <a:ahLst/>
            <a:cxnLst/>
            <a:rect l="l" t="t" r="r" b="b"/>
            <a:pathLst>
              <a:path w="464185" h="157479">
                <a:moveTo>
                  <a:pt x="385658" y="24965"/>
                </a:moveTo>
                <a:lnTo>
                  <a:pt x="0" y="132346"/>
                </a:lnTo>
                <a:lnTo>
                  <a:pt x="6858" y="157302"/>
                </a:lnTo>
                <a:lnTo>
                  <a:pt x="392602" y="49930"/>
                </a:lnTo>
                <a:lnTo>
                  <a:pt x="385658" y="24965"/>
                </a:lnTo>
                <a:close/>
              </a:path>
              <a:path w="464185" h="157479">
                <a:moveTo>
                  <a:pt x="458645" y="21488"/>
                </a:moveTo>
                <a:lnTo>
                  <a:pt x="398145" y="21488"/>
                </a:lnTo>
                <a:lnTo>
                  <a:pt x="405129" y="46443"/>
                </a:lnTo>
                <a:lnTo>
                  <a:pt x="392602" y="49930"/>
                </a:lnTo>
                <a:lnTo>
                  <a:pt x="399541" y="74879"/>
                </a:lnTo>
                <a:lnTo>
                  <a:pt x="458645" y="21488"/>
                </a:lnTo>
                <a:close/>
              </a:path>
              <a:path w="464185" h="157479">
                <a:moveTo>
                  <a:pt x="398145" y="21488"/>
                </a:moveTo>
                <a:lnTo>
                  <a:pt x="385658" y="24965"/>
                </a:lnTo>
                <a:lnTo>
                  <a:pt x="392602" y="49930"/>
                </a:lnTo>
                <a:lnTo>
                  <a:pt x="405129" y="46443"/>
                </a:lnTo>
                <a:lnTo>
                  <a:pt x="398145" y="21488"/>
                </a:lnTo>
                <a:close/>
              </a:path>
              <a:path w="464185" h="157479">
                <a:moveTo>
                  <a:pt x="378714" y="0"/>
                </a:moveTo>
                <a:lnTo>
                  <a:pt x="385658" y="24965"/>
                </a:lnTo>
                <a:lnTo>
                  <a:pt x="398145" y="21488"/>
                </a:lnTo>
                <a:lnTo>
                  <a:pt x="458645" y="21488"/>
                </a:lnTo>
                <a:lnTo>
                  <a:pt x="464058" y="16598"/>
                </a:lnTo>
                <a:lnTo>
                  <a:pt x="378714" y="0"/>
                </a:lnTo>
                <a:close/>
              </a:path>
            </a:pathLst>
          </a:custGeom>
          <a:solidFill>
            <a:srgbClr val="FF0000"/>
          </a:solidFill>
        </p:spPr>
        <p:txBody>
          <a:bodyPr wrap="square" lIns="0" tIns="0" rIns="0" bIns="0" rtlCol="0"/>
          <a:lstStyle/>
          <a:p>
            <a:endParaRPr/>
          </a:p>
        </p:txBody>
      </p:sp>
      <p:sp>
        <p:nvSpPr>
          <p:cNvPr id="18" name="object 18"/>
          <p:cNvSpPr/>
          <p:nvPr/>
        </p:nvSpPr>
        <p:spPr>
          <a:xfrm>
            <a:off x="6229350" y="4978146"/>
            <a:ext cx="1007744" cy="570230"/>
          </a:xfrm>
          <a:custGeom>
            <a:avLst/>
            <a:gdLst/>
            <a:ahLst/>
            <a:cxnLst/>
            <a:rect l="l" t="t" r="r" b="b"/>
            <a:pathLst>
              <a:path w="1007745" h="570229">
                <a:moveTo>
                  <a:pt x="0" y="0"/>
                </a:moveTo>
                <a:lnTo>
                  <a:pt x="68337" y="1299"/>
                </a:lnTo>
                <a:lnTo>
                  <a:pt x="133882" y="5087"/>
                </a:lnTo>
                <a:lnTo>
                  <a:pt x="196036" y="11191"/>
                </a:lnTo>
                <a:lnTo>
                  <a:pt x="254197" y="19445"/>
                </a:lnTo>
                <a:lnTo>
                  <a:pt x="307765" y="29677"/>
                </a:lnTo>
                <a:lnTo>
                  <a:pt x="356139" y="41719"/>
                </a:lnTo>
                <a:lnTo>
                  <a:pt x="398719" y="55401"/>
                </a:lnTo>
                <a:lnTo>
                  <a:pt x="434904" y="70555"/>
                </a:lnTo>
                <a:lnTo>
                  <a:pt x="485686" y="104598"/>
                </a:lnTo>
                <a:lnTo>
                  <a:pt x="503681" y="142493"/>
                </a:lnTo>
                <a:lnTo>
                  <a:pt x="521677" y="180389"/>
                </a:lnTo>
                <a:lnTo>
                  <a:pt x="572459" y="214432"/>
                </a:lnTo>
                <a:lnTo>
                  <a:pt x="608644" y="229586"/>
                </a:lnTo>
                <a:lnTo>
                  <a:pt x="651224" y="243268"/>
                </a:lnTo>
                <a:lnTo>
                  <a:pt x="699598" y="255310"/>
                </a:lnTo>
                <a:lnTo>
                  <a:pt x="753166" y="265542"/>
                </a:lnTo>
                <a:lnTo>
                  <a:pt x="811327" y="273796"/>
                </a:lnTo>
                <a:lnTo>
                  <a:pt x="873481" y="279900"/>
                </a:lnTo>
                <a:lnTo>
                  <a:pt x="939026" y="283688"/>
                </a:lnTo>
                <a:lnTo>
                  <a:pt x="1007364" y="284987"/>
                </a:lnTo>
                <a:lnTo>
                  <a:pt x="939026" y="286287"/>
                </a:lnTo>
                <a:lnTo>
                  <a:pt x="873481" y="290075"/>
                </a:lnTo>
                <a:lnTo>
                  <a:pt x="811327" y="296179"/>
                </a:lnTo>
                <a:lnTo>
                  <a:pt x="753166" y="304433"/>
                </a:lnTo>
                <a:lnTo>
                  <a:pt x="699598" y="314665"/>
                </a:lnTo>
                <a:lnTo>
                  <a:pt x="651224" y="326707"/>
                </a:lnTo>
                <a:lnTo>
                  <a:pt x="608644" y="340389"/>
                </a:lnTo>
                <a:lnTo>
                  <a:pt x="572459" y="355543"/>
                </a:lnTo>
                <a:lnTo>
                  <a:pt x="521677" y="389586"/>
                </a:lnTo>
                <a:lnTo>
                  <a:pt x="503681" y="427481"/>
                </a:lnTo>
                <a:lnTo>
                  <a:pt x="485686" y="465377"/>
                </a:lnTo>
                <a:lnTo>
                  <a:pt x="434904" y="499420"/>
                </a:lnTo>
                <a:lnTo>
                  <a:pt x="398719" y="514574"/>
                </a:lnTo>
                <a:lnTo>
                  <a:pt x="356139" y="528256"/>
                </a:lnTo>
                <a:lnTo>
                  <a:pt x="307765" y="540298"/>
                </a:lnTo>
                <a:lnTo>
                  <a:pt x="254197" y="550530"/>
                </a:lnTo>
                <a:lnTo>
                  <a:pt x="196036" y="558784"/>
                </a:lnTo>
                <a:lnTo>
                  <a:pt x="133882" y="564888"/>
                </a:lnTo>
                <a:lnTo>
                  <a:pt x="68337" y="568676"/>
                </a:lnTo>
                <a:lnTo>
                  <a:pt x="0" y="569975"/>
                </a:lnTo>
              </a:path>
            </a:pathLst>
          </a:custGeom>
          <a:ln w="25908">
            <a:solidFill>
              <a:srgbClr val="FF0000"/>
            </a:solidFill>
            <a:prstDash val="sysDash"/>
          </a:ln>
        </p:spPr>
        <p:txBody>
          <a:bodyPr wrap="square" lIns="0" tIns="0" rIns="0" bIns="0" rtlCol="0"/>
          <a:lstStyle/>
          <a:p>
            <a:endParaRPr/>
          </a:p>
        </p:txBody>
      </p:sp>
      <p:sp>
        <p:nvSpPr>
          <p:cNvPr id="19" name="object 19"/>
          <p:cNvSpPr/>
          <p:nvPr/>
        </p:nvSpPr>
        <p:spPr>
          <a:xfrm>
            <a:off x="6229350" y="4075938"/>
            <a:ext cx="1007744" cy="570230"/>
          </a:xfrm>
          <a:custGeom>
            <a:avLst/>
            <a:gdLst/>
            <a:ahLst/>
            <a:cxnLst/>
            <a:rect l="l" t="t" r="r" b="b"/>
            <a:pathLst>
              <a:path w="1007745" h="570229">
                <a:moveTo>
                  <a:pt x="0" y="0"/>
                </a:moveTo>
                <a:lnTo>
                  <a:pt x="68337" y="1299"/>
                </a:lnTo>
                <a:lnTo>
                  <a:pt x="133882" y="5087"/>
                </a:lnTo>
                <a:lnTo>
                  <a:pt x="196036" y="11191"/>
                </a:lnTo>
                <a:lnTo>
                  <a:pt x="254197" y="19445"/>
                </a:lnTo>
                <a:lnTo>
                  <a:pt x="307765" y="29677"/>
                </a:lnTo>
                <a:lnTo>
                  <a:pt x="356139" y="41719"/>
                </a:lnTo>
                <a:lnTo>
                  <a:pt x="398719" y="55401"/>
                </a:lnTo>
                <a:lnTo>
                  <a:pt x="434904" y="70555"/>
                </a:lnTo>
                <a:lnTo>
                  <a:pt x="485686" y="104598"/>
                </a:lnTo>
                <a:lnTo>
                  <a:pt x="503681" y="142494"/>
                </a:lnTo>
                <a:lnTo>
                  <a:pt x="521677" y="180389"/>
                </a:lnTo>
                <a:lnTo>
                  <a:pt x="572459" y="214432"/>
                </a:lnTo>
                <a:lnTo>
                  <a:pt x="608644" y="229586"/>
                </a:lnTo>
                <a:lnTo>
                  <a:pt x="651224" y="243268"/>
                </a:lnTo>
                <a:lnTo>
                  <a:pt x="699598" y="255310"/>
                </a:lnTo>
                <a:lnTo>
                  <a:pt x="753166" y="265542"/>
                </a:lnTo>
                <a:lnTo>
                  <a:pt x="811327" y="273796"/>
                </a:lnTo>
                <a:lnTo>
                  <a:pt x="873481" y="279900"/>
                </a:lnTo>
                <a:lnTo>
                  <a:pt x="939026" y="283688"/>
                </a:lnTo>
                <a:lnTo>
                  <a:pt x="1007364" y="284988"/>
                </a:lnTo>
                <a:lnTo>
                  <a:pt x="939026" y="286287"/>
                </a:lnTo>
                <a:lnTo>
                  <a:pt x="873481" y="290075"/>
                </a:lnTo>
                <a:lnTo>
                  <a:pt x="811327" y="296179"/>
                </a:lnTo>
                <a:lnTo>
                  <a:pt x="753166" y="304433"/>
                </a:lnTo>
                <a:lnTo>
                  <a:pt x="699598" y="314665"/>
                </a:lnTo>
                <a:lnTo>
                  <a:pt x="651224" y="326707"/>
                </a:lnTo>
                <a:lnTo>
                  <a:pt x="608644" y="340389"/>
                </a:lnTo>
                <a:lnTo>
                  <a:pt x="572459" y="355543"/>
                </a:lnTo>
                <a:lnTo>
                  <a:pt x="521677" y="389586"/>
                </a:lnTo>
                <a:lnTo>
                  <a:pt x="503681" y="427481"/>
                </a:lnTo>
                <a:lnTo>
                  <a:pt x="485686" y="465377"/>
                </a:lnTo>
                <a:lnTo>
                  <a:pt x="434904" y="499420"/>
                </a:lnTo>
                <a:lnTo>
                  <a:pt x="398719" y="514574"/>
                </a:lnTo>
                <a:lnTo>
                  <a:pt x="356139" y="528256"/>
                </a:lnTo>
                <a:lnTo>
                  <a:pt x="307765" y="540298"/>
                </a:lnTo>
                <a:lnTo>
                  <a:pt x="254197" y="550530"/>
                </a:lnTo>
                <a:lnTo>
                  <a:pt x="196036" y="558784"/>
                </a:lnTo>
                <a:lnTo>
                  <a:pt x="133882" y="564888"/>
                </a:lnTo>
                <a:lnTo>
                  <a:pt x="68337" y="568676"/>
                </a:lnTo>
                <a:lnTo>
                  <a:pt x="0" y="569976"/>
                </a:lnTo>
              </a:path>
            </a:pathLst>
          </a:custGeom>
          <a:ln w="25908">
            <a:solidFill>
              <a:srgbClr val="FF0000"/>
            </a:solidFill>
            <a:prstDash val="sysDash"/>
          </a:ln>
        </p:spPr>
        <p:txBody>
          <a:bodyPr wrap="square" lIns="0" tIns="0" rIns="0" bIns="0" rtlCol="0"/>
          <a:lstStyle/>
          <a:p>
            <a:endParaRPr/>
          </a:p>
        </p:txBody>
      </p:sp>
      <p:sp>
        <p:nvSpPr>
          <p:cNvPr id="20" name="object 20"/>
          <p:cNvSpPr txBox="1"/>
          <p:nvPr/>
        </p:nvSpPr>
        <p:spPr>
          <a:xfrm>
            <a:off x="7388097" y="4155770"/>
            <a:ext cx="32893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0000"/>
                </a:solidFill>
                <a:latin typeface="Arial"/>
                <a:cs typeface="Arial"/>
              </a:rPr>
              <a:t>Hi</a:t>
            </a:r>
            <a:endParaRPr sz="2400">
              <a:latin typeface="Arial"/>
              <a:cs typeface="Arial"/>
            </a:endParaRPr>
          </a:p>
        </p:txBody>
      </p:sp>
      <p:sp>
        <p:nvSpPr>
          <p:cNvPr id="21" name="object 21"/>
          <p:cNvSpPr txBox="1"/>
          <p:nvPr/>
        </p:nvSpPr>
        <p:spPr>
          <a:xfrm>
            <a:off x="7371715" y="5058536"/>
            <a:ext cx="77089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0000"/>
                </a:solidFill>
                <a:latin typeface="Arial"/>
                <a:cs typeface="Arial"/>
              </a:rPr>
              <a:t>H</a:t>
            </a:r>
            <a:r>
              <a:rPr sz="2400" b="1" spc="-15" dirty="0">
                <a:solidFill>
                  <a:srgbClr val="FF0000"/>
                </a:solidFill>
                <a:latin typeface="Arial"/>
                <a:cs typeface="Arial"/>
              </a:rPr>
              <a:t>e</a:t>
            </a:r>
            <a:r>
              <a:rPr sz="2400" b="1" dirty="0">
                <a:solidFill>
                  <a:srgbClr val="FF0000"/>
                </a:solidFill>
                <a:latin typeface="Arial"/>
                <a:cs typeface="Arial"/>
              </a:rPr>
              <a:t>l</a:t>
            </a:r>
            <a:r>
              <a:rPr sz="2400" b="1" spc="5" dirty="0">
                <a:solidFill>
                  <a:srgbClr val="FF0000"/>
                </a:solidFill>
                <a:latin typeface="Arial"/>
                <a:cs typeface="Arial"/>
              </a:rPr>
              <a:t>l</a:t>
            </a:r>
            <a:r>
              <a:rPr sz="2400" b="1" dirty="0">
                <a:solidFill>
                  <a:srgbClr val="FF0000"/>
                </a:solidFill>
                <a:latin typeface="Arial"/>
                <a:cs typeface="Arial"/>
              </a:rPr>
              <a:t>o</a:t>
            </a:r>
            <a:endParaRPr sz="24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1366520"/>
            <a:ext cx="1637030" cy="1418590"/>
          </a:xfrm>
          <a:prstGeom prst="rect">
            <a:avLst/>
          </a:prstGeom>
        </p:spPr>
        <p:txBody>
          <a:bodyPr vert="horz" wrap="square" lIns="0" tIns="12700" rIns="0" bIns="0" rtlCol="0">
            <a:spAutoFit/>
          </a:bodyPr>
          <a:lstStyle/>
          <a:p>
            <a:pPr marL="355600" indent="-342900">
              <a:lnSpc>
                <a:spcPct val="100000"/>
              </a:lnSpc>
              <a:spcBef>
                <a:spcPts val="100"/>
              </a:spcBef>
              <a:buClr>
                <a:srgbClr val="0F1141"/>
              </a:buClr>
              <a:buChar char="•"/>
              <a:tabLst>
                <a:tab pos="354965" algn="l"/>
                <a:tab pos="355600" algn="l"/>
              </a:tabLst>
            </a:pPr>
            <a:r>
              <a:rPr sz="2400" dirty="0">
                <a:latin typeface="Arial"/>
                <a:cs typeface="Arial"/>
              </a:rPr>
              <a:t>E</a:t>
            </a:r>
            <a:r>
              <a:rPr sz="2400" spc="-20" dirty="0">
                <a:latin typeface="Arial"/>
                <a:cs typeface="Arial"/>
              </a:rPr>
              <a:t>x</a:t>
            </a:r>
            <a:r>
              <a:rPr sz="2400" spc="-5" dirty="0">
                <a:latin typeface="Arial"/>
                <a:cs typeface="Arial"/>
              </a:rPr>
              <a:t>ample:</a:t>
            </a:r>
            <a:endParaRPr sz="2400">
              <a:latin typeface="Arial"/>
              <a:cs typeface="Arial"/>
            </a:endParaRPr>
          </a:p>
          <a:p>
            <a:pPr marL="927100" marR="171450" algn="just">
              <a:lnSpc>
                <a:spcPct val="124700"/>
              </a:lnSpc>
              <a:spcBef>
                <a:spcPts val="900"/>
              </a:spcBef>
            </a:pPr>
            <a:r>
              <a:rPr sz="1600" spc="-5" dirty="0">
                <a:latin typeface="Arial"/>
                <a:cs typeface="Arial"/>
              </a:rPr>
              <a:t>String  String  String</a:t>
            </a:r>
            <a:endParaRPr sz="1600">
              <a:latin typeface="Arial"/>
              <a:cs typeface="Arial"/>
            </a:endParaRPr>
          </a:p>
        </p:txBody>
      </p:sp>
      <p:sp>
        <p:nvSpPr>
          <p:cNvPr id="3" name="object 3"/>
          <p:cNvSpPr txBox="1"/>
          <p:nvPr/>
        </p:nvSpPr>
        <p:spPr>
          <a:xfrm>
            <a:off x="2015489" y="1835556"/>
            <a:ext cx="2084070" cy="949325"/>
          </a:xfrm>
          <a:prstGeom prst="rect">
            <a:avLst/>
          </a:prstGeom>
        </p:spPr>
        <p:txBody>
          <a:bodyPr vert="horz" wrap="square" lIns="0" tIns="24130" rIns="0" bIns="0" rtlCol="0">
            <a:spAutoFit/>
          </a:bodyPr>
          <a:lstStyle/>
          <a:p>
            <a:pPr marL="12700" marR="5080" algn="just">
              <a:lnSpc>
                <a:spcPct val="124700"/>
              </a:lnSpc>
              <a:spcBef>
                <a:spcPts val="190"/>
              </a:spcBef>
            </a:pPr>
            <a:r>
              <a:rPr sz="1600" spc="-5" dirty="0">
                <a:latin typeface="Arial"/>
                <a:cs typeface="Arial"/>
              </a:rPr>
              <a:t>s1 = </a:t>
            </a:r>
            <a:r>
              <a:rPr sz="1600" spc="-10" dirty="0">
                <a:latin typeface="Arial"/>
                <a:cs typeface="Arial"/>
              </a:rPr>
              <a:t>new </a:t>
            </a:r>
            <a:r>
              <a:rPr sz="1600" spc="-5" dirty="0">
                <a:latin typeface="Arial"/>
                <a:cs typeface="Arial"/>
              </a:rPr>
              <a:t>String(“abc”);  s2 = </a:t>
            </a:r>
            <a:r>
              <a:rPr sz="1600" spc="-10" dirty="0">
                <a:latin typeface="Arial"/>
                <a:cs typeface="Arial"/>
              </a:rPr>
              <a:t>new </a:t>
            </a:r>
            <a:r>
              <a:rPr sz="1600" spc="-5" dirty="0">
                <a:latin typeface="Arial"/>
                <a:cs typeface="Arial"/>
              </a:rPr>
              <a:t>String(“abc”);  s3 =</a:t>
            </a:r>
            <a:r>
              <a:rPr sz="1600" dirty="0">
                <a:latin typeface="Arial"/>
                <a:cs typeface="Arial"/>
              </a:rPr>
              <a:t> </a:t>
            </a:r>
            <a:r>
              <a:rPr sz="1600" spc="-5" dirty="0">
                <a:latin typeface="Arial"/>
                <a:cs typeface="Arial"/>
              </a:rPr>
              <a:t>s1;</a:t>
            </a:r>
            <a:endParaRPr sz="1600">
              <a:latin typeface="Arial"/>
              <a:cs typeface="Arial"/>
            </a:endParaRPr>
          </a:p>
        </p:txBody>
      </p:sp>
      <p:sp>
        <p:nvSpPr>
          <p:cNvPr id="4" name="object 4"/>
          <p:cNvSpPr txBox="1"/>
          <p:nvPr/>
        </p:nvSpPr>
        <p:spPr>
          <a:xfrm>
            <a:off x="1100734" y="2759478"/>
            <a:ext cx="1043305" cy="610870"/>
          </a:xfrm>
          <a:prstGeom prst="rect">
            <a:avLst/>
          </a:prstGeom>
        </p:spPr>
        <p:txBody>
          <a:bodyPr vert="horz" wrap="square" lIns="0" tIns="60960" rIns="0" bIns="0" rtlCol="0">
            <a:spAutoFit/>
          </a:bodyPr>
          <a:lstStyle/>
          <a:p>
            <a:pPr marL="12700">
              <a:lnSpc>
                <a:spcPct val="100000"/>
              </a:lnSpc>
              <a:spcBef>
                <a:spcPts val="480"/>
              </a:spcBef>
            </a:pPr>
            <a:r>
              <a:rPr sz="1600" spc="-5" dirty="0">
                <a:solidFill>
                  <a:srgbClr val="FF0000"/>
                </a:solidFill>
                <a:latin typeface="Arial"/>
                <a:cs typeface="Arial"/>
              </a:rPr>
              <a:t>if(s1 ==</a:t>
            </a:r>
            <a:r>
              <a:rPr sz="1600" spc="-45" dirty="0">
                <a:solidFill>
                  <a:srgbClr val="FF0000"/>
                </a:solidFill>
                <a:latin typeface="Arial"/>
                <a:cs typeface="Arial"/>
              </a:rPr>
              <a:t> </a:t>
            </a:r>
            <a:r>
              <a:rPr sz="1600" spc="-5" dirty="0">
                <a:solidFill>
                  <a:srgbClr val="FF0000"/>
                </a:solidFill>
                <a:latin typeface="Arial"/>
                <a:cs typeface="Arial"/>
              </a:rPr>
              <a:t>s3)</a:t>
            </a:r>
            <a:endParaRPr sz="1600">
              <a:latin typeface="Arial"/>
              <a:cs typeface="Arial"/>
            </a:endParaRPr>
          </a:p>
          <a:p>
            <a:pPr marL="12700">
              <a:lnSpc>
                <a:spcPct val="100000"/>
              </a:lnSpc>
              <a:spcBef>
                <a:spcPts val="385"/>
              </a:spcBef>
            </a:pPr>
            <a:r>
              <a:rPr sz="1600" dirty="0">
                <a:solidFill>
                  <a:srgbClr val="FF0000"/>
                </a:solidFill>
                <a:latin typeface="Arial"/>
                <a:cs typeface="Arial"/>
              </a:rPr>
              <a:t>else</a:t>
            </a:r>
            <a:endParaRPr sz="1600">
              <a:latin typeface="Arial"/>
              <a:cs typeface="Arial"/>
            </a:endParaRPr>
          </a:p>
        </p:txBody>
      </p:sp>
      <p:sp>
        <p:nvSpPr>
          <p:cNvPr id="5" name="object 5"/>
          <p:cNvSpPr txBox="1"/>
          <p:nvPr/>
        </p:nvSpPr>
        <p:spPr>
          <a:xfrm>
            <a:off x="3844544" y="2759478"/>
            <a:ext cx="2436495" cy="610870"/>
          </a:xfrm>
          <a:prstGeom prst="rect">
            <a:avLst/>
          </a:prstGeom>
        </p:spPr>
        <p:txBody>
          <a:bodyPr vert="horz" wrap="square" lIns="0" tIns="60960" rIns="0" bIns="0" rtlCol="0">
            <a:spAutoFit/>
          </a:bodyPr>
          <a:lstStyle/>
          <a:p>
            <a:pPr marL="12700">
              <a:lnSpc>
                <a:spcPct val="100000"/>
              </a:lnSpc>
              <a:spcBef>
                <a:spcPts val="480"/>
              </a:spcBef>
            </a:pPr>
            <a:r>
              <a:rPr sz="1600" spc="-5" dirty="0">
                <a:solidFill>
                  <a:srgbClr val="FF0000"/>
                </a:solidFill>
                <a:latin typeface="Arial"/>
                <a:cs typeface="Arial"/>
              </a:rPr>
              <a:t>System.out.println(“Hello”);</a:t>
            </a:r>
            <a:endParaRPr sz="1600">
              <a:latin typeface="Arial"/>
              <a:cs typeface="Arial"/>
            </a:endParaRPr>
          </a:p>
          <a:p>
            <a:pPr marL="12700">
              <a:lnSpc>
                <a:spcPct val="100000"/>
              </a:lnSpc>
              <a:spcBef>
                <a:spcPts val="385"/>
              </a:spcBef>
            </a:pPr>
            <a:r>
              <a:rPr sz="1600" spc="-5" dirty="0">
                <a:solidFill>
                  <a:srgbClr val="FF0000"/>
                </a:solidFill>
                <a:latin typeface="Arial"/>
                <a:cs typeface="Arial"/>
              </a:rPr>
              <a:t>System.out.println(“Hi”);</a:t>
            </a:r>
            <a:endParaRPr sz="1600">
              <a:latin typeface="Arial"/>
              <a:cs typeface="Arial"/>
            </a:endParaRPr>
          </a:p>
        </p:txBody>
      </p:sp>
      <p:sp>
        <p:nvSpPr>
          <p:cNvPr id="6" name="object 6"/>
          <p:cNvSpPr txBox="1">
            <a:spLocks noGrp="1"/>
          </p:cNvSpPr>
          <p:nvPr>
            <p:ph type="title"/>
          </p:nvPr>
        </p:nvSpPr>
        <p:spPr>
          <a:xfrm>
            <a:off x="383540" y="150621"/>
            <a:ext cx="5780405" cy="1031240"/>
          </a:xfrm>
          <a:prstGeom prst="rect">
            <a:avLst/>
          </a:prstGeom>
        </p:spPr>
        <p:txBody>
          <a:bodyPr vert="horz" wrap="square" lIns="0" tIns="104139" rIns="0" bIns="0" rtlCol="0">
            <a:spAutoFit/>
          </a:bodyPr>
          <a:lstStyle/>
          <a:p>
            <a:pPr marL="12700" marR="5080">
              <a:lnSpc>
                <a:spcPts val="3600"/>
              </a:lnSpc>
              <a:spcBef>
                <a:spcPts val="819"/>
              </a:spcBef>
            </a:pPr>
            <a:r>
              <a:rPr sz="3600" i="0" spc="-145" dirty="0">
                <a:solidFill>
                  <a:srgbClr val="000000"/>
                </a:solidFill>
                <a:latin typeface="Arial"/>
                <a:cs typeface="Arial"/>
              </a:rPr>
              <a:t>Comparing </a:t>
            </a:r>
            <a:r>
              <a:rPr sz="3600" i="0" spc="-140" dirty="0">
                <a:solidFill>
                  <a:srgbClr val="000000"/>
                </a:solidFill>
                <a:latin typeface="Arial"/>
                <a:cs typeface="Arial"/>
              </a:rPr>
              <a:t>Strings </a:t>
            </a:r>
            <a:r>
              <a:rPr sz="3600" i="0" dirty="0">
                <a:solidFill>
                  <a:srgbClr val="000000"/>
                </a:solidFill>
                <a:latin typeface="Arial"/>
                <a:cs typeface="Arial"/>
              </a:rPr>
              <a:t>:</a:t>
            </a:r>
            <a:r>
              <a:rPr sz="3600" i="0" spc="-550" dirty="0">
                <a:solidFill>
                  <a:srgbClr val="000000"/>
                </a:solidFill>
                <a:latin typeface="Arial"/>
                <a:cs typeface="Arial"/>
              </a:rPr>
              <a:t> </a:t>
            </a:r>
            <a:r>
              <a:rPr sz="3600" i="0" spc="-140" dirty="0">
                <a:solidFill>
                  <a:srgbClr val="000000"/>
                </a:solidFill>
                <a:latin typeface="Arial"/>
                <a:cs typeface="Arial"/>
              </a:rPr>
              <a:t>equals()  </a:t>
            </a:r>
            <a:r>
              <a:rPr sz="3600" i="0" spc="-135" dirty="0">
                <a:solidFill>
                  <a:srgbClr val="000000"/>
                </a:solidFill>
                <a:latin typeface="Arial"/>
                <a:cs typeface="Arial"/>
              </a:rPr>
              <a:t>Method </a:t>
            </a:r>
            <a:r>
              <a:rPr sz="3600" i="0" spc="-80" dirty="0">
                <a:solidFill>
                  <a:srgbClr val="000000"/>
                </a:solidFill>
                <a:latin typeface="Arial"/>
                <a:cs typeface="Arial"/>
              </a:rPr>
              <a:t>vs ==</a:t>
            </a:r>
            <a:r>
              <a:rPr sz="3600" i="0" spc="-655" dirty="0">
                <a:solidFill>
                  <a:srgbClr val="000000"/>
                </a:solidFill>
                <a:latin typeface="Arial"/>
                <a:cs typeface="Arial"/>
              </a:rPr>
              <a:t> </a:t>
            </a:r>
            <a:r>
              <a:rPr sz="3600" i="0" spc="-80" dirty="0">
                <a:solidFill>
                  <a:srgbClr val="000000"/>
                </a:solidFill>
                <a:latin typeface="Arial"/>
                <a:cs typeface="Arial"/>
              </a:rPr>
              <a:t>….</a:t>
            </a:r>
            <a:endParaRPr sz="3600">
              <a:latin typeface="Arial"/>
              <a:cs typeface="Arial"/>
            </a:endParaRPr>
          </a:p>
        </p:txBody>
      </p:sp>
      <p:sp>
        <p:nvSpPr>
          <p:cNvPr id="7" name="object 7"/>
          <p:cNvSpPr txBox="1"/>
          <p:nvPr/>
        </p:nvSpPr>
        <p:spPr>
          <a:xfrm>
            <a:off x="2413254" y="4950714"/>
            <a:ext cx="832485" cy="504825"/>
          </a:xfrm>
          <a:prstGeom prst="rect">
            <a:avLst/>
          </a:prstGeom>
          <a:ln w="25907">
            <a:solidFill>
              <a:srgbClr val="385D89"/>
            </a:solidFill>
          </a:ln>
        </p:spPr>
        <p:txBody>
          <a:bodyPr vert="horz" wrap="square" lIns="0" tIns="107315" rIns="0" bIns="0" rtlCol="0">
            <a:spAutoFit/>
          </a:bodyPr>
          <a:lstStyle/>
          <a:p>
            <a:pPr marL="208279">
              <a:lnSpc>
                <a:spcPct val="100000"/>
              </a:lnSpc>
              <a:spcBef>
                <a:spcPts val="845"/>
              </a:spcBef>
            </a:pPr>
            <a:r>
              <a:rPr sz="1800" b="1" dirty="0">
                <a:latin typeface="Calibri"/>
                <a:cs typeface="Calibri"/>
              </a:rPr>
              <a:t>abc</a:t>
            </a:r>
            <a:endParaRPr sz="1800">
              <a:latin typeface="Calibri"/>
              <a:cs typeface="Calibri"/>
            </a:endParaRPr>
          </a:p>
        </p:txBody>
      </p:sp>
      <p:sp>
        <p:nvSpPr>
          <p:cNvPr id="8" name="object 8"/>
          <p:cNvSpPr/>
          <p:nvPr/>
        </p:nvSpPr>
        <p:spPr>
          <a:xfrm>
            <a:off x="1908810" y="5166359"/>
            <a:ext cx="504190" cy="78105"/>
          </a:xfrm>
          <a:custGeom>
            <a:avLst/>
            <a:gdLst/>
            <a:ahLst/>
            <a:cxnLst/>
            <a:rect l="l" t="t" r="r" b="b"/>
            <a:pathLst>
              <a:path w="504189" h="78104">
                <a:moveTo>
                  <a:pt x="426338" y="0"/>
                </a:moveTo>
                <a:lnTo>
                  <a:pt x="426338" y="77723"/>
                </a:lnTo>
                <a:lnTo>
                  <a:pt x="478155" y="51815"/>
                </a:lnTo>
                <a:lnTo>
                  <a:pt x="439292" y="51815"/>
                </a:lnTo>
                <a:lnTo>
                  <a:pt x="439292" y="25907"/>
                </a:lnTo>
                <a:lnTo>
                  <a:pt x="478154" y="25907"/>
                </a:lnTo>
                <a:lnTo>
                  <a:pt x="426338" y="0"/>
                </a:lnTo>
                <a:close/>
              </a:path>
              <a:path w="504189" h="78104">
                <a:moveTo>
                  <a:pt x="426338" y="25907"/>
                </a:moveTo>
                <a:lnTo>
                  <a:pt x="0" y="25907"/>
                </a:lnTo>
                <a:lnTo>
                  <a:pt x="0" y="51815"/>
                </a:lnTo>
                <a:lnTo>
                  <a:pt x="426338" y="51815"/>
                </a:lnTo>
                <a:lnTo>
                  <a:pt x="426338" y="25907"/>
                </a:lnTo>
                <a:close/>
              </a:path>
              <a:path w="504189" h="78104">
                <a:moveTo>
                  <a:pt x="478154" y="25907"/>
                </a:moveTo>
                <a:lnTo>
                  <a:pt x="439292" y="25907"/>
                </a:lnTo>
                <a:lnTo>
                  <a:pt x="439292" y="51815"/>
                </a:lnTo>
                <a:lnTo>
                  <a:pt x="478155" y="51815"/>
                </a:lnTo>
                <a:lnTo>
                  <a:pt x="504063" y="38862"/>
                </a:lnTo>
                <a:lnTo>
                  <a:pt x="478154" y="25907"/>
                </a:lnTo>
                <a:close/>
              </a:path>
            </a:pathLst>
          </a:custGeom>
          <a:solidFill>
            <a:srgbClr val="FF0000"/>
          </a:solidFill>
        </p:spPr>
        <p:txBody>
          <a:bodyPr wrap="square" lIns="0" tIns="0" rIns="0" bIns="0" rtlCol="0"/>
          <a:lstStyle/>
          <a:p>
            <a:endParaRPr/>
          </a:p>
        </p:txBody>
      </p:sp>
      <p:sp>
        <p:nvSpPr>
          <p:cNvPr id="9" name="object 9"/>
          <p:cNvSpPr txBox="1"/>
          <p:nvPr/>
        </p:nvSpPr>
        <p:spPr>
          <a:xfrm>
            <a:off x="2490977" y="4600194"/>
            <a:ext cx="6273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:St</a:t>
            </a:r>
            <a:r>
              <a:rPr sz="1800" spc="-10" dirty="0">
                <a:latin typeface="Calibri"/>
                <a:cs typeface="Calibri"/>
              </a:rPr>
              <a:t>r</a:t>
            </a:r>
            <a:r>
              <a:rPr sz="1800" spc="-5" dirty="0">
                <a:latin typeface="Calibri"/>
                <a:cs typeface="Calibri"/>
              </a:rPr>
              <a:t>ing</a:t>
            </a:r>
            <a:endParaRPr sz="1800">
              <a:latin typeface="Calibri"/>
              <a:cs typeface="Calibri"/>
            </a:endParaRPr>
          </a:p>
        </p:txBody>
      </p:sp>
      <p:sp>
        <p:nvSpPr>
          <p:cNvPr id="10" name="object 10"/>
          <p:cNvSpPr txBox="1"/>
          <p:nvPr/>
        </p:nvSpPr>
        <p:spPr>
          <a:xfrm>
            <a:off x="4092955" y="5126863"/>
            <a:ext cx="23177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Calibri"/>
                <a:cs typeface="Calibri"/>
              </a:rPr>
              <a:t>s2</a:t>
            </a:r>
            <a:endParaRPr sz="1800">
              <a:latin typeface="Calibri"/>
              <a:cs typeface="Calibri"/>
            </a:endParaRPr>
          </a:p>
        </p:txBody>
      </p:sp>
      <p:sp>
        <p:nvSpPr>
          <p:cNvPr id="11" name="object 11"/>
          <p:cNvSpPr/>
          <p:nvPr/>
        </p:nvSpPr>
        <p:spPr>
          <a:xfrm>
            <a:off x="4405121" y="5262371"/>
            <a:ext cx="504190" cy="78105"/>
          </a:xfrm>
          <a:custGeom>
            <a:avLst/>
            <a:gdLst/>
            <a:ahLst/>
            <a:cxnLst/>
            <a:rect l="l" t="t" r="r" b="b"/>
            <a:pathLst>
              <a:path w="504189" h="78104">
                <a:moveTo>
                  <a:pt x="426338" y="0"/>
                </a:moveTo>
                <a:lnTo>
                  <a:pt x="426338" y="77723"/>
                </a:lnTo>
                <a:lnTo>
                  <a:pt x="478154" y="51815"/>
                </a:lnTo>
                <a:lnTo>
                  <a:pt x="439292" y="51815"/>
                </a:lnTo>
                <a:lnTo>
                  <a:pt x="439292" y="25907"/>
                </a:lnTo>
                <a:lnTo>
                  <a:pt x="478155" y="25907"/>
                </a:lnTo>
                <a:lnTo>
                  <a:pt x="426338" y="0"/>
                </a:lnTo>
                <a:close/>
              </a:path>
              <a:path w="504189" h="78104">
                <a:moveTo>
                  <a:pt x="426338" y="25907"/>
                </a:moveTo>
                <a:lnTo>
                  <a:pt x="0" y="25907"/>
                </a:lnTo>
                <a:lnTo>
                  <a:pt x="0" y="51815"/>
                </a:lnTo>
                <a:lnTo>
                  <a:pt x="426338" y="51815"/>
                </a:lnTo>
                <a:lnTo>
                  <a:pt x="426338" y="25907"/>
                </a:lnTo>
                <a:close/>
              </a:path>
              <a:path w="504189" h="78104">
                <a:moveTo>
                  <a:pt x="478155" y="25907"/>
                </a:moveTo>
                <a:lnTo>
                  <a:pt x="439292" y="25907"/>
                </a:lnTo>
                <a:lnTo>
                  <a:pt x="439292" y="51815"/>
                </a:lnTo>
                <a:lnTo>
                  <a:pt x="478154" y="51815"/>
                </a:lnTo>
                <a:lnTo>
                  <a:pt x="504063" y="38861"/>
                </a:lnTo>
                <a:lnTo>
                  <a:pt x="478155" y="25907"/>
                </a:lnTo>
                <a:close/>
              </a:path>
            </a:pathLst>
          </a:custGeom>
          <a:solidFill>
            <a:srgbClr val="FF0000"/>
          </a:solidFill>
        </p:spPr>
        <p:txBody>
          <a:bodyPr wrap="square" lIns="0" tIns="0" rIns="0" bIns="0" rtlCol="0"/>
          <a:lstStyle/>
          <a:p>
            <a:endParaRPr/>
          </a:p>
        </p:txBody>
      </p:sp>
      <p:sp>
        <p:nvSpPr>
          <p:cNvPr id="12" name="object 12"/>
          <p:cNvSpPr txBox="1"/>
          <p:nvPr/>
        </p:nvSpPr>
        <p:spPr>
          <a:xfrm>
            <a:off x="4909565" y="5048250"/>
            <a:ext cx="833755" cy="502920"/>
          </a:xfrm>
          <a:prstGeom prst="rect">
            <a:avLst/>
          </a:prstGeom>
          <a:ln w="25907">
            <a:solidFill>
              <a:srgbClr val="385D89"/>
            </a:solidFill>
          </a:ln>
        </p:spPr>
        <p:txBody>
          <a:bodyPr vert="horz" wrap="square" lIns="0" tIns="99060" rIns="0" bIns="0" rtlCol="0">
            <a:spAutoFit/>
          </a:bodyPr>
          <a:lstStyle/>
          <a:p>
            <a:pPr marL="250190">
              <a:lnSpc>
                <a:spcPct val="100000"/>
              </a:lnSpc>
              <a:spcBef>
                <a:spcPts val="780"/>
              </a:spcBef>
            </a:pPr>
            <a:r>
              <a:rPr sz="1800" b="1" dirty="0">
                <a:latin typeface="Calibri"/>
                <a:cs typeface="Calibri"/>
              </a:rPr>
              <a:t>abc</a:t>
            </a:r>
            <a:endParaRPr sz="1800">
              <a:latin typeface="Calibri"/>
              <a:cs typeface="Calibri"/>
            </a:endParaRPr>
          </a:p>
        </p:txBody>
      </p:sp>
      <p:sp>
        <p:nvSpPr>
          <p:cNvPr id="13" name="object 13"/>
          <p:cNvSpPr txBox="1"/>
          <p:nvPr/>
        </p:nvSpPr>
        <p:spPr>
          <a:xfrm>
            <a:off x="4988814" y="4696459"/>
            <a:ext cx="6273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:St</a:t>
            </a:r>
            <a:r>
              <a:rPr sz="1800" spc="-10" dirty="0">
                <a:latin typeface="Calibri"/>
                <a:cs typeface="Calibri"/>
              </a:rPr>
              <a:t>r</a:t>
            </a:r>
            <a:r>
              <a:rPr sz="1800" spc="-5" dirty="0">
                <a:latin typeface="Calibri"/>
                <a:cs typeface="Calibri"/>
              </a:rPr>
              <a:t>ing</a:t>
            </a:r>
            <a:endParaRPr sz="1800">
              <a:latin typeface="Calibri"/>
              <a:cs typeface="Calibri"/>
            </a:endParaRPr>
          </a:p>
        </p:txBody>
      </p:sp>
      <p:sp>
        <p:nvSpPr>
          <p:cNvPr id="14" name="object 14"/>
          <p:cNvSpPr txBox="1"/>
          <p:nvPr/>
        </p:nvSpPr>
        <p:spPr>
          <a:xfrm>
            <a:off x="1595119" y="4957876"/>
            <a:ext cx="275590" cy="719455"/>
          </a:xfrm>
          <a:prstGeom prst="rect">
            <a:avLst/>
          </a:prstGeom>
        </p:spPr>
        <p:txBody>
          <a:bodyPr vert="horz" wrap="square" lIns="0" tIns="12700" rIns="0" bIns="0" rtlCol="0">
            <a:spAutoFit/>
          </a:bodyPr>
          <a:lstStyle/>
          <a:p>
            <a:pPr marL="55880" marR="5080" indent="-43815">
              <a:lnSpc>
                <a:spcPct val="126499"/>
              </a:lnSpc>
              <a:spcBef>
                <a:spcPts val="100"/>
              </a:spcBef>
            </a:pPr>
            <a:r>
              <a:rPr sz="1800" dirty="0">
                <a:solidFill>
                  <a:srgbClr val="FF0000"/>
                </a:solidFill>
                <a:latin typeface="Calibri"/>
                <a:cs typeface="Calibri"/>
              </a:rPr>
              <a:t>s1  s3</a:t>
            </a:r>
            <a:endParaRPr sz="1800">
              <a:latin typeface="Calibri"/>
              <a:cs typeface="Calibri"/>
            </a:endParaRPr>
          </a:p>
        </p:txBody>
      </p:sp>
      <p:sp>
        <p:nvSpPr>
          <p:cNvPr id="15" name="object 15"/>
          <p:cNvSpPr/>
          <p:nvPr/>
        </p:nvSpPr>
        <p:spPr>
          <a:xfrm>
            <a:off x="1948052" y="5406516"/>
            <a:ext cx="464184" cy="157480"/>
          </a:xfrm>
          <a:custGeom>
            <a:avLst/>
            <a:gdLst/>
            <a:ahLst/>
            <a:cxnLst/>
            <a:rect l="l" t="t" r="r" b="b"/>
            <a:pathLst>
              <a:path w="464185" h="157479">
                <a:moveTo>
                  <a:pt x="385679" y="25057"/>
                </a:moveTo>
                <a:lnTo>
                  <a:pt x="0" y="132334"/>
                </a:lnTo>
                <a:lnTo>
                  <a:pt x="6858" y="157353"/>
                </a:lnTo>
                <a:lnTo>
                  <a:pt x="392603" y="49969"/>
                </a:lnTo>
                <a:lnTo>
                  <a:pt x="385679" y="25057"/>
                </a:lnTo>
                <a:close/>
              </a:path>
              <a:path w="464185" h="157479">
                <a:moveTo>
                  <a:pt x="458576" y="21590"/>
                </a:moveTo>
                <a:lnTo>
                  <a:pt x="398145" y="21590"/>
                </a:lnTo>
                <a:lnTo>
                  <a:pt x="405130" y="46482"/>
                </a:lnTo>
                <a:lnTo>
                  <a:pt x="392603" y="49969"/>
                </a:lnTo>
                <a:lnTo>
                  <a:pt x="399542" y="74930"/>
                </a:lnTo>
                <a:lnTo>
                  <a:pt x="458576" y="21590"/>
                </a:lnTo>
                <a:close/>
              </a:path>
              <a:path w="464185" h="157479">
                <a:moveTo>
                  <a:pt x="398145" y="21590"/>
                </a:moveTo>
                <a:lnTo>
                  <a:pt x="385679" y="25057"/>
                </a:lnTo>
                <a:lnTo>
                  <a:pt x="392603" y="49969"/>
                </a:lnTo>
                <a:lnTo>
                  <a:pt x="405130" y="46482"/>
                </a:lnTo>
                <a:lnTo>
                  <a:pt x="398145" y="21590"/>
                </a:lnTo>
                <a:close/>
              </a:path>
              <a:path w="464185" h="157479">
                <a:moveTo>
                  <a:pt x="378714" y="0"/>
                </a:moveTo>
                <a:lnTo>
                  <a:pt x="385679" y="25057"/>
                </a:lnTo>
                <a:lnTo>
                  <a:pt x="398145" y="21590"/>
                </a:lnTo>
                <a:lnTo>
                  <a:pt x="458576" y="21590"/>
                </a:lnTo>
                <a:lnTo>
                  <a:pt x="464058" y="16637"/>
                </a:lnTo>
                <a:lnTo>
                  <a:pt x="378714" y="0"/>
                </a:lnTo>
                <a:close/>
              </a:path>
            </a:pathLst>
          </a:custGeom>
          <a:solidFill>
            <a:srgbClr val="FF0000"/>
          </a:solidFill>
        </p:spPr>
        <p:txBody>
          <a:bodyPr wrap="square" lIns="0" tIns="0" rIns="0" bIns="0" rtlCol="0"/>
          <a:lstStyle/>
          <a:p>
            <a:endParaRPr/>
          </a:p>
        </p:txBody>
      </p:sp>
      <p:sp>
        <p:nvSpPr>
          <p:cNvPr id="16" name="object 16"/>
          <p:cNvSpPr/>
          <p:nvPr/>
        </p:nvSpPr>
        <p:spPr>
          <a:xfrm>
            <a:off x="6229350" y="2875026"/>
            <a:ext cx="1007744" cy="570230"/>
          </a:xfrm>
          <a:custGeom>
            <a:avLst/>
            <a:gdLst/>
            <a:ahLst/>
            <a:cxnLst/>
            <a:rect l="l" t="t" r="r" b="b"/>
            <a:pathLst>
              <a:path w="1007745" h="570229">
                <a:moveTo>
                  <a:pt x="0" y="0"/>
                </a:moveTo>
                <a:lnTo>
                  <a:pt x="68337" y="1299"/>
                </a:lnTo>
                <a:lnTo>
                  <a:pt x="133882" y="5087"/>
                </a:lnTo>
                <a:lnTo>
                  <a:pt x="196036" y="11191"/>
                </a:lnTo>
                <a:lnTo>
                  <a:pt x="254197" y="19445"/>
                </a:lnTo>
                <a:lnTo>
                  <a:pt x="307765" y="29677"/>
                </a:lnTo>
                <a:lnTo>
                  <a:pt x="356139" y="41719"/>
                </a:lnTo>
                <a:lnTo>
                  <a:pt x="398719" y="55401"/>
                </a:lnTo>
                <a:lnTo>
                  <a:pt x="434904" y="70555"/>
                </a:lnTo>
                <a:lnTo>
                  <a:pt x="485686" y="104598"/>
                </a:lnTo>
                <a:lnTo>
                  <a:pt x="503681" y="142494"/>
                </a:lnTo>
                <a:lnTo>
                  <a:pt x="521677" y="180389"/>
                </a:lnTo>
                <a:lnTo>
                  <a:pt x="572459" y="214432"/>
                </a:lnTo>
                <a:lnTo>
                  <a:pt x="608644" y="229586"/>
                </a:lnTo>
                <a:lnTo>
                  <a:pt x="651224" y="243268"/>
                </a:lnTo>
                <a:lnTo>
                  <a:pt x="699598" y="255310"/>
                </a:lnTo>
                <a:lnTo>
                  <a:pt x="753166" y="265542"/>
                </a:lnTo>
                <a:lnTo>
                  <a:pt x="811327" y="273796"/>
                </a:lnTo>
                <a:lnTo>
                  <a:pt x="873481" y="279900"/>
                </a:lnTo>
                <a:lnTo>
                  <a:pt x="939026" y="283688"/>
                </a:lnTo>
                <a:lnTo>
                  <a:pt x="1007364" y="284988"/>
                </a:lnTo>
                <a:lnTo>
                  <a:pt x="939026" y="286287"/>
                </a:lnTo>
                <a:lnTo>
                  <a:pt x="873481" y="290075"/>
                </a:lnTo>
                <a:lnTo>
                  <a:pt x="811327" y="296179"/>
                </a:lnTo>
                <a:lnTo>
                  <a:pt x="753166" y="304433"/>
                </a:lnTo>
                <a:lnTo>
                  <a:pt x="699598" y="314665"/>
                </a:lnTo>
                <a:lnTo>
                  <a:pt x="651224" y="326707"/>
                </a:lnTo>
                <a:lnTo>
                  <a:pt x="608644" y="340389"/>
                </a:lnTo>
                <a:lnTo>
                  <a:pt x="572459" y="355543"/>
                </a:lnTo>
                <a:lnTo>
                  <a:pt x="521677" y="389586"/>
                </a:lnTo>
                <a:lnTo>
                  <a:pt x="503681" y="427482"/>
                </a:lnTo>
                <a:lnTo>
                  <a:pt x="485686" y="465377"/>
                </a:lnTo>
                <a:lnTo>
                  <a:pt x="434904" y="499420"/>
                </a:lnTo>
                <a:lnTo>
                  <a:pt x="398719" y="514574"/>
                </a:lnTo>
                <a:lnTo>
                  <a:pt x="356139" y="528256"/>
                </a:lnTo>
                <a:lnTo>
                  <a:pt x="307765" y="540298"/>
                </a:lnTo>
                <a:lnTo>
                  <a:pt x="254197" y="550530"/>
                </a:lnTo>
                <a:lnTo>
                  <a:pt x="196036" y="558784"/>
                </a:lnTo>
                <a:lnTo>
                  <a:pt x="133882" y="564888"/>
                </a:lnTo>
                <a:lnTo>
                  <a:pt x="68337" y="568676"/>
                </a:lnTo>
                <a:lnTo>
                  <a:pt x="0" y="569976"/>
                </a:lnTo>
              </a:path>
            </a:pathLst>
          </a:custGeom>
          <a:ln w="25908">
            <a:solidFill>
              <a:srgbClr val="FF0000"/>
            </a:solidFill>
            <a:prstDash val="sysDash"/>
          </a:ln>
        </p:spPr>
        <p:txBody>
          <a:bodyPr wrap="square" lIns="0" tIns="0" rIns="0" bIns="0" rtlCol="0"/>
          <a:lstStyle/>
          <a:p>
            <a:endParaRPr/>
          </a:p>
        </p:txBody>
      </p:sp>
      <p:sp>
        <p:nvSpPr>
          <p:cNvPr id="17" name="object 17"/>
          <p:cNvSpPr txBox="1"/>
          <p:nvPr/>
        </p:nvSpPr>
        <p:spPr>
          <a:xfrm>
            <a:off x="7290943" y="2953969"/>
            <a:ext cx="770890"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0000"/>
                </a:solidFill>
                <a:latin typeface="Arial"/>
                <a:cs typeface="Arial"/>
              </a:rPr>
              <a:t>H</a:t>
            </a:r>
            <a:r>
              <a:rPr sz="2400" b="1" spc="-10" dirty="0">
                <a:solidFill>
                  <a:srgbClr val="FF0000"/>
                </a:solidFill>
                <a:latin typeface="Arial"/>
                <a:cs typeface="Arial"/>
              </a:rPr>
              <a:t>e</a:t>
            </a:r>
            <a:r>
              <a:rPr sz="2400" b="1" dirty="0">
                <a:solidFill>
                  <a:srgbClr val="FF0000"/>
                </a:solidFill>
                <a:latin typeface="Arial"/>
                <a:cs typeface="Arial"/>
              </a:rPr>
              <a:t>llo</a:t>
            </a:r>
            <a:endParaRPr sz="24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9221"/>
            <a:ext cx="3683000" cy="574040"/>
          </a:xfrm>
          <a:prstGeom prst="rect">
            <a:avLst/>
          </a:prstGeom>
        </p:spPr>
        <p:txBody>
          <a:bodyPr vert="horz" wrap="square" lIns="0" tIns="12700" rIns="0" bIns="0" rtlCol="0">
            <a:spAutoFit/>
          </a:bodyPr>
          <a:lstStyle/>
          <a:p>
            <a:pPr marL="12700">
              <a:lnSpc>
                <a:spcPct val="100000"/>
              </a:lnSpc>
              <a:spcBef>
                <a:spcPts val="100"/>
              </a:spcBef>
            </a:pPr>
            <a:r>
              <a:rPr sz="3600" i="0" spc="-140" dirty="0">
                <a:solidFill>
                  <a:srgbClr val="000000"/>
                </a:solidFill>
                <a:latin typeface="Arial"/>
                <a:cs typeface="Arial"/>
              </a:rPr>
              <a:t>Predict </a:t>
            </a:r>
            <a:r>
              <a:rPr sz="3600" i="0" spc="-105" dirty="0">
                <a:solidFill>
                  <a:srgbClr val="000000"/>
                </a:solidFill>
                <a:latin typeface="Arial"/>
                <a:cs typeface="Arial"/>
              </a:rPr>
              <a:t>the</a:t>
            </a:r>
            <a:r>
              <a:rPr sz="3600" i="0" spc="-480" dirty="0">
                <a:solidFill>
                  <a:srgbClr val="000000"/>
                </a:solidFill>
                <a:latin typeface="Arial"/>
                <a:cs typeface="Arial"/>
              </a:rPr>
              <a:t> </a:t>
            </a:r>
            <a:r>
              <a:rPr sz="3600" i="0" spc="-135" dirty="0">
                <a:solidFill>
                  <a:srgbClr val="000000"/>
                </a:solidFill>
                <a:latin typeface="Arial"/>
                <a:cs typeface="Arial"/>
              </a:rPr>
              <a:t>Output</a:t>
            </a:r>
            <a:endParaRPr sz="3600">
              <a:latin typeface="Arial"/>
              <a:cs typeface="Arial"/>
            </a:endParaRPr>
          </a:p>
        </p:txBody>
      </p:sp>
      <p:sp>
        <p:nvSpPr>
          <p:cNvPr id="3" name="object 3"/>
          <p:cNvSpPr txBox="1"/>
          <p:nvPr/>
        </p:nvSpPr>
        <p:spPr>
          <a:xfrm>
            <a:off x="186334" y="1345184"/>
            <a:ext cx="4271645" cy="1397000"/>
          </a:xfrm>
          <a:prstGeom prst="rect">
            <a:avLst/>
          </a:prstGeom>
        </p:spPr>
        <p:txBody>
          <a:bodyPr vert="horz" wrap="square" lIns="0" tIns="12700" rIns="0" bIns="0" rtlCol="0">
            <a:spAutoFit/>
          </a:bodyPr>
          <a:lstStyle/>
          <a:p>
            <a:pPr marL="12700" marR="1501140">
              <a:lnSpc>
                <a:spcPct val="100000"/>
              </a:lnSpc>
              <a:spcBef>
                <a:spcPts val="100"/>
              </a:spcBef>
            </a:pPr>
            <a:r>
              <a:rPr sz="1800" spc="-5" dirty="0">
                <a:latin typeface="Calibri"/>
                <a:cs typeface="Calibri"/>
              </a:rPr>
              <a:t>//File </a:t>
            </a:r>
            <a:r>
              <a:rPr sz="1800" dirty="0">
                <a:latin typeface="Calibri"/>
                <a:cs typeface="Calibri"/>
              </a:rPr>
              <a:t>Name: </a:t>
            </a:r>
            <a:r>
              <a:rPr sz="1800" spc="-10" dirty="0">
                <a:latin typeface="Calibri"/>
                <a:cs typeface="Calibri"/>
              </a:rPr>
              <a:t>StringDemo.java  </a:t>
            </a:r>
            <a:r>
              <a:rPr sz="1800" spc="-5" dirty="0">
                <a:latin typeface="Calibri"/>
                <a:cs typeface="Calibri"/>
              </a:rPr>
              <a:t>class</a:t>
            </a:r>
            <a:r>
              <a:rPr sz="1800" dirty="0">
                <a:latin typeface="Calibri"/>
                <a:cs typeface="Calibri"/>
              </a:rPr>
              <a:t> </a:t>
            </a:r>
            <a:r>
              <a:rPr sz="1800" spc="-5" dirty="0">
                <a:latin typeface="Calibri"/>
                <a:cs typeface="Calibri"/>
              </a:rPr>
              <a:t>StringDemo</a:t>
            </a:r>
            <a:endParaRPr sz="1800">
              <a:latin typeface="Calibri"/>
              <a:cs typeface="Calibri"/>
            </a:endParaRPr>
          </a:p>
          <a:p>
            <a:pPr marL="12700">
              <a:lnSpc>
                <a:spcPct val="100000"/>
              </a:lnSpc>
            </a:pPr>
            <a:r>
              <a:rPr sz="1800" dirty="0">
                <a:latin typeface="Calibri"/>
                <a:cs typeface="Calibri"/>
              </a:rPr>
              <a:t>{</a:t>
            </a:r>
            <a:endParaRPr sz="1800">
              <a:latin typeface="Calibri"/>
              <a:cs typeface="Calibri"/>
            </a:endParaRPr>
          </a:p>
          <a:p>
            <a:pPr marL="927100">
              <a:lnSpc>
                <a:spcPct val="100000"/>
              </a:lnSpc>
            </a:pPr>
            <a:r>
              <a:rPr sz="1800" spc="-5" dirty="0">
                <a:latin typeface="Calibri"/>
                <a:cs typeface="Calibri"/>
              </a:rPr>
              <a:t>public </a:t>
            </a:r>
            <a:r>
              <a:rPr sz="1800" spc="-15" dirty="0">
                <a:latin typeface="Calibri"/>
                <a:cs typeface="Calibri"/>
              </a:rPr>
              <a:t>static </a:t>
            </a:r>
            <a:r>
              <a:rPr sz="1800" spc="-10" dirty="0">
                <a:latin typeface="Calibri"/>
                <a:cs typeface="Calibri"/>
              </a:rPr>
              <a:t>void </a:t>
            </a:r>
            <a:r>
              <a:rPr sz="1800" spc="-5" dirty="0">
                <a:latin typeface="Calibri"/>
                <a:cs typeface="Calibri"/>
              </a:rPr>
              <a:t>main(String[]</a:t>
            </a:r>
            <a:r>
              <a:rPr sz="1800" spc="50" dirty="0">
                <a:latin typeface="Calibri"/>
                <a:cs typeface="Calibri"/>
              </a:rPr>
              <a:t> </a:t>
            </a:r>
            <a:r>
              <a:rPr sz="1800" spc="-5" dirty="0">
                <a:latin typeface="Calibri"/>
                <a:cs typeface="Calibri"/>
              </a:rPr>
              <a:t>args)</a:t>
            </a:r>
            <a:endParaRPr sz="1800">
              <a:latin typeface="Calibri"/>
              <a:cs typeface="Calibri"/>
            </a:endParaRPr>
          </a:p>
          <a:p>
            <a:pPr marL="927100">
              <a:lnSpc>
                <a:spcPct val="100000"/>
              </a:lnSpc>
            </a:pPr>
            <a:r>
              <a:rPr sz="1800" dirty="0">
                <a:latin typeface="Calibri"/>
                <a:cs typeface="Calibri"/>
              </a:rPr>
              <a:t>{</a:t>
            </a:r>
            <a:endParaRPr sz="1800">
              <a:latin typeface="Calibri"/>
              <a:cs typeface="Calibri"/>
            </a:endParaRPr>
          </a:p>
        </p:txBody>
      </p:sp>
      <p:graphicFrame>
        <p:nvGraphicFramePr>
          <p:cNvPr id="4" name="object 4"/>
          <p:cNvGraphicFramePr>
            <a:graphicFrameLocks noGrp="1"/>
          </p:cNvGraphicFramePr>
          <p:nvPr/>
        </p:nvGraphicFramePr>
        <p:xfrm>
          <a:off x="1996439" y="2786888"/>
          <a:ext cx="5271132" cy="1325954"/>
        </p:xfrm>
        <a:graphic>
          <a:graphicData uri="http://schemas.openxmlformats.org/drawingml/2006/table">
            <a:tbl>
              <a:tblPr firstRow="1" bandRow="1">
                <a:tableStyleId>{2D5ABB26-0587-4C30-8999-92F81FD0307C}</a:tableStyleId>
              </a:tblPr>
              <a:tblGrid>
                <a:gridCol w="758825">
                  <a:extLst>
                    <a:ext uri="{9D8B030D-6E8A-4147-A177-3AD203B41FA5}">
                      <a16:colId xmlns:a16="http://schemas.microsoft.com/office/drawing/2014/main" val="20000"/>
                    </a:ext>
                  </a:extLst>
                </a:gridCol>
                <a:gridCol w="766444">
                  <a:extLst>
                    <a:ext uri="{9D8B030D-6E8A-4147-A177-3AD203B41FA5}">
                      <a16:colId xmlns:a16="http://schemas.microsoft.com/office/drawing/2014/main" val="20001"/>
                    </a:ext>
                  </a:extLst>
                </a:gridCol>
                <a:gridCol w="850265">
                  <a:extLst>
                    <a:ext uri="{9D8B030D-6E8A-4147-A177-3AD203B41FA5}">
                      <a16:colId xmlns:a16="http://schemas.microsoft.com/office/drawing/2014/main" val="20002"/>
                    </a:ext>
                  </a:extLst>
                </a:gridCol>
                <a:gridCol w="1061719">
                  <a:extLst>
                    <a:ext uri="{9D8B030D-6E8A-4147-A177-3AD203B41FA5}">
                      <a16:colId xmlns:a16="http://schemas.microsoft.com/office/drawing/2014/main" val="20003"/>
                    </a:ext>
                  </a:extLst>
                </a:gridCol>
                <a:gridCol w="1833879">
                  <a:extLst>
                    <a:ext uri="{9D8B030D-6E8A-4147-A177-3AD203B41FA5}">
                      <a16:colId xmlns:a16="http://schemas.microsoft.com/office/drawing/2014/main" val="20004"/>
                    </a:ext>
                  </a:extLst>
                </a:gridCol>
              </a:tblGrid>
              <a:tr h="388619">
                <a:tc>
                  <a:txBody>
                    <a:bodyPr/>
                    <a:lstStyle/>
                    <a:p>
                      <a:pPr marL="31750">
                        <a:lnSpc>
                          <a:spcPts val="1710"/>
                        </a:lnSpc>
                      </a:pPr>
                      <a:r>
                        <a:rPr sz="1800" spc="-10" dirty="0">
                          <a:latin typeface="Calibri"/>
                          <a:cs typeface="Calibri"/>
                        </a:rPr>
                        <a:t>String</a:t>
                      </a:r>
                      <a:endParaRPr sz="1800">
                        <a:latin typeface="Calibri"/>
                        <a:cs typeface="Calibri"/>
                      </a:endParaRPr>
                    </a:p>
                  </a:txBody>
                  <a:tcPr marL="0" marR="0" marT="0" marB="0"/>
                </a:tc>
                <a:tc>
                  <a:txBody>
                    <a:bodyPr/>
                    <a:lstStyle/>
                    <a:p>
                      <a:pPr marL="187325">
                        <a:lnSpc>
                          <a:spcPts val="1710"/>
                        </a:lnSpc>
                      </a:pPr>
                      <a:r>
                        <a:rPr sz="1800" spc="-10" dirty="0">
                          <a:latin typeface="Calibri"/>
                          <a:cs typeface="Calibri"/>
                        </a:rPr>
                        <a:t>str</a:t>
                      </a:r>
                      <a:endParaRPr sz="1800">
                        <a:latin typeface="Calibri"/>
                        <a:cs typeface="Calibri"/>
                      </a:endParaRPr>
                    </a:p>
                  </a:txBody>
                  <a:tcPr marL="0" marR="0" marT="0" marB="0"/>
                </a:tc>
                <a:tc>
                  <a:txBody>
                    <a:bodyPr/>
                    <a:lstStyle/>
                    <a:p>
                      <a:pPr marL="335280">
                        <a:lnSpc>
                          <a:spcPts val="1710"/>
                        </a:lnSpc>
                      </a:pPr>
                      <a:r>
                        <a:rPr sz="1800" dirty="0">
                          <a:latin typeface="Calibri"/>
                          <a:cs typeface="Calibri"/>
                        </a:rPr>
                        <a:t>=</a:t>
                      </a:r>
                      <a:endParaRPr sz="1800">
                        <a:latin typeface="Calibri"/>
                        <a:cs typeface="Calibri"/>
                      </a:endParaRPr>
                    </a:p>
                  </a:txBody>
                  <a:tcPr marL="0" marR="0" marT="0" marB="0"/>
                </a:tc>
                <a:tc>
                  <a:txBody>
                    <a:bodyPr/>
                    <a:lstStyle/>
                    <a:p>
                      <a:pPr marR="257175" algn="r">
                        <a:lnSpc>
                          <a:spcPts val="1710"/>
                        </a:lnSpc>
                      </a:pPr>
                      <a:r>
                        <a:rPr sz="1800" spc="-5" dirty="0">
                          <a:latin typeface="Calibri"/>
                          <a:cs typeface="Calibri"/>
                        </a:rPr>
                        <a:t>n</a:t>
                      </a:r>
                      <a:r>
                        <a:rPr sz="1800" spc="-10" dirty="0">
                          <a:latin typeface="Calibri"/>
                          <a:cs typeface="Calibri"/>
                        </a:rPr>
                        <a:t>e</a:t>
                      </a:r>
                      <a:r>
                        <a:rPr sz="1800" dirty="0">
                          <a:latin typeface="Calibri"/>
                          <a:cs typeface="Calibri"/>
                        </a:rPr>
                        <a:t>w</a:t>
                      </a:r>
                      <a:endParaRPr sz="1800">
                        <a:latin typeface="Calibri"/>
                        <a:cs typeface="Calibri"/>
                      </a:endParaRPr>
                    </a:p>
                  </a:txBody>
                  <a:tcPr marL="0" marR="0" marT="0" marB="0"/>
                </a:tc>
                <a:tc>
                  <a:txBody>
                    <a:bodyPr/>
                    <a:lstStyle/>
                    <a:p>
                      <a:pPr marL="252729">
                        <a:lnSpc>
                          <a:spcPts val="1710"/>
                        </a:lnSpc>
                      </a:pPr>
                      <a:r>
                        <a:rPr sz="1800" spc="-10" dirty="0">
                          <a:latin typeface="Calibri"/>
                          <a:cs typeface="Calibri"/>
                        </a:rPr>
                        <a:t>String("Object");</a:t>
                      </a:r>
                      <a:endParaRPr sz="1800">
                        <a:latin typeface="Calibri"/>
                        <a:cs typeface="Calibri"/>
                      </a:endParaRPr>
                    </a:p>
                  </a:txBody>
                  <a:tcPr marL="0" marR="0" marT="0" marB="0"/>
                </a:tc>
                <a:extLst>
                  <a:ext uri="{0D108BD9-81ED-4DB2-BD59-A6C34878D82A}">
                    <a16:rowId xmlns:a16="http://schemas.microsoft.com/office/drawing/2014/main" val="10000"/>
                  </a:ext>
                </a:extLst>
              </a:tr>
              <a:tr h="548525">
                <a:tc>
                  <a:txBody>
                    <a:bodyPr/>
                    <a:lstStyle/>
                    <a:p>
                      <a:pPr marL="31750">
                        <a:lnSpc>
                          <a:spcPct val="100000"/>
                        </a:lnSpc>
                        <a:spcBef>
                          <a:spcPts val="810"/>
                        </a:spcBef>
                      </a:pPr>
                      <a:r>
                        <a:rPr sz="1800" spc="-10" dirty="0">
                          <a:latin typeface="Calibri"/>
                          <a:cs typeface="Calibri"/>
                        </a:rPr>
                        <a:t>str</a:t>
                      </a:r>
                      <a:endParaRPr sz="1800">
                        <a:latin typeface="Calibri"/>
                        <a:cs typeface="Calibri"/>
                      </a:endParaRPr>
                    </a:p>
                  </a:txBody>
                  <a:tcPr marL="0" marR="0" marT="102870" marB="0"/>
                </a:tc>
                <a:tc>
                  <a:txBody>
                    <a:bodyPr/>
                    <a:lstStyle/>
                    <a:p>
                      <a:pPr>
                        <a:lnSpc>
                          <a:spcPct val="100000"/>
                        </a:lnSpc>
                      </a:pPr>
                      <a:endParaRPr sz="1800">
                        <a:latin typeface="Times New Roman"/>
                        <a:cs typeface="Times New Roman"/>
                      </a:endParaRPr>
                    </a:p>
                  </a:txBody>
                  <a:tcPr marL="0" marR="0" marT="0" marB="0"/>
                </a:tc>
                <a:tc>
                  <a:txBody>
                    <a:bodyPr/>
                    <a:lstStyle/>
                    <a:p>
                      <a:pPr marL="335280">
                        <a:lnSpc>
                          <a:spcPct val="100000"/>
                        </a:lnSpc>
                        <a:spcBef>
                          <a:spcPts val="810"/>
                        </a:spcBef>
                      </a:pPr>
                      <a:r>
                        <a:rPr sz="1800" dirty="0">
                          <a:latin typeface="Calibri"/>
                          <a:cs typeface="Calibri"/>
                        </a:rPr>
                        <a:t>=</a:t>
                      </a:r>
                      <a:endParaRPr sz="1800">
                        <a:latin typeface="Calibri"/>
                        <a:cs typeface="Calibri"/>
                      </a:endParaRPr>
                    </a:p>
                  </a:txBody>
                  <a:tcPr marL="0" marR="0" marT="102870" marB="0"/>
                </a:tc>
                <a:tc>
                  <a:txBody>
                    <a:bodyPr/>
                    <a:lstStyle/>
                    <a:p>
                      <a:pPr marR="245745" algn="r">
                        <a:lnSpc>
                          <a:spcPct val="100000"/>
                        </a:lnSpc>
                        <a:spcBef>
                          <a:spcPts val="810"/>
                        </a:spcBef>
                      </a:pPr>
                      <a:r>
                        <a:rPr sz="1800" spc="-10" dirty="0">
                          <a:latin typeface="Calibri"/>
                          <a:cs typeface="Calibri"/>
                        </a:rPr>
                        <a:t>str</a:t>
                      </a:r>
                      <a:r>
                        <a:rPr sz="1800" spc="-100" dirty="0">
                          <a:latin typeface="Calibri"/>
                          <a:cs typeface="Calibri"/>
                        </a:rPr>
                        <a:t> </a:t>
                      </a:r>
                      <a:r>
                        <a:rPr sz="1800" dirty="0">
                          <a:latin typeface="Calibri"/>
                          <a:cs typeface="Calibri"/>
                        </a:rPr>
                        <a:t>+</a:t>
                      </a:r>
                      <a:endParaRPr sz="1800">
                        <a:latin typeface="Calibri"/>
                        <a:cs typeface="Calibri"/>
                      </a:endParaRPr>
                    </a:p>
                  </a:txBody>
                  <a:tcPr marL="0" marR="0" marT="102870" marB="0"/>
                </a:tc>
                <a:tc>
                  <a:txBody>
                    <a:bodyPr/>
                    <a:lstStyle/>
                    <a:p>
                      <a:pPr marL="252729">
                        <a:lnSpc>
                          <a:spcPct val="100000"/>
                        </a:lnSpc>
                        <a:spcBef>
                          <a:spcPts val="810"/>
                        </a:spcBef>
                      </a:pPr>
                      <a:r>
                        <a:rPr sz="1800" dirty="0">
                          <a:latin typeface="Calibri"/>
                          <a:cs typeface="Calibri"/>
                        </a:rPr>
                        <a:t>"</a:t>
                      </a:r>
                      <a:r>
                        <a:rPr sz="1800" spc="-10" dirty="0">
                          <a:latin typeface="Calibri"/>
                          <a:cs typeface="Calibri"/>
                        </a:rPr>
                        <a:t> </a:t>
                      </a:r>
                      <a:r>
                        <a:rPr sz="1800" spc="-5" dirty="0">
                          <a:latin typeface="Calibri"/>
                          <a:cs typeface="Calibri"/>
                        </a:rPr>
                        <a:t>Oriented";</a:t>
                      </a:r>
                      <a:endParaRPr sz="1800">
                        <a:latin typeface="Calibri"/>
                        <a:cs typeface="Calibri"/>
                      </a:endParaRPr>
                    </a:p>
                  </a:txBody>
                  <a:tcPr marL="0" marR="0" marT="102870" marB="0"/>
                </a:tc>
                <a:extLst>
                  <a:ext uri="{0D108BD9-81ED-4DB2-BD59-A6C34878D82A}">
                    <a16:rowId xmlns:a16="http://schemas.microsoft.com/office/drawing/2014/main" val="10001"/>
                  </a:ext>
                </a:extLst>
              </a:tr>
              <a:tr h="388810">
                <a:tc>
                  <a:txBody>
                    <a:bodyPr/>
                    <a:lstStyle/>
                    <a:p>
                      <a:pPr marL="31750">
                        <a:lnSpc>
                          <a:spcPts val="2150"/>
                        </a:lnSpc>
                        <a:spcBef>
                          <a:spcPts val="810"/>
                        </a:spcBef>
                      </a:pPr>
                      <a:r>
                        <a:rPr sz="1800" spc="-10" dirty="0">
                          <a:latin typeface="Calibri"/>
                          <a:cs typeface="Calibri"/>
                        </a:rPr>
                        <a:t>str</a:t>
                      </a:r>
                      <a:endParaRPr sz="1800">
                        <a:latin typeface="Calibri"/>
                        <a:cs typeface="Calibri"/>
                      </a:endParaRPr>
                    </a:p>
                  </a:txBody>
                  <a:tcPr marL="0" marR="0" marT="102870" marB="0"/>
                </a:tc>
                <a:tc>
                  <a:txBody>
                    <a:bodyPr/>
                    <a:lstStyle/>
                    <a:p>
                      <a:pPr>
                        <a:lnSpc>
                          <a:spcPct val="100000"/>
                        </a:lnSpc>
                      </a:pPr>
                      <a:endParaRPr sz="1800">
                        <a:latin typeface="Times New Roman"/>
                        <a:cs typeface="Times New Roman"/>
                      </a:endParaRPr>
                    </a:p>
                  </a:txBody>
                  <a:tcPr marL="0" marR="0" marT="0" marB="0"/>
                </a:tc>
                <a:tc>
                  <a:txBody>
                    <a:bodyPr/>
                    <a:lstStyle/>
                    <a:p>
                      <a:pPr marL="335280">
                        <a:lnSpc>
                          <a:spcPts val="2150"/>
                        </a:lnSpc>
                        <a:spcBef>
                          <a:spcPts val="810"/>
                        </a:spcBef>
                      </a:pPr>
                      <a:r>
                        <a:rPr sz="1800" dirty="0">
                          <a:latin typeface="Calibri"/>
                          <a:cs typeface="Calibri"/>
                        </a:rPr>
                        <a:t>=</a:t>
                      </a:r>
                      <a:endParaRPr sz="1800">
                        <a:latin typeface="Calibri"/>
                        <a:cs typeface="Calibri"/>
                      </a:endParaRPr>
                    </a:p>
                  </a:txBody>
                  <a:tcPr marL="0" marR="0" marT="102870" marB="0"/>
                </a:tc>
                <a:tc>
                  <a:txBody>
                    <a:bodyPr/>
                    <a:lstStyle/>
                    <a:p>
                      <a:pPr marR="245110" algn="r">
                        <a:lnSpc>
                          <a:spcPts val="2150"/>
                        </a:lnSpc>
                        <a:spcBef>
                          <a:spcPts val="810"/>
                        </a:spcBef>
                      </a:pPr>
                      <a:r>
                        <a:rPr sz="1800" spc="-10" dirty="0">
                          <a:latin typeface="Calibri"/>
                          <a:cs typeface="Calibri"/>
                        </a:rPr>
                        <a:t>str</a:t>
                      </a:r>
                      <a:r>
                        <a:rPr sz="1800" spc="-105" dirty="0">
                          <a:latin typeface="Calibri"/>
                          <a:cs typeface="Calibri"/>
                        </a:rPr>
                        <a:t> </a:t>
                      </a:r>
                      <a:r>
                        <a:rPr sz="1800" dirty="0">
                          <a:latin typeface="Calibri"/>
                          <a:cs typeface="Calibri"/>
                        </a:rPr>
                        <a:t>+</a:t>
                      </a:r>
                      <a:endParaRPr sz="1800">
                        <a:latin typeface="Calibri"/>
                        <a:cs typeface="Calibri"/>
                      </a:endParaRPr>
                    </a:p>
                  </a:txBody>
                  <a:tcPr marL="0" marR="0" marT="102870" marB="0"/>
                </a:tc>
                <a:tc>
                  <a:txBody>
                    <a:bodyPr/>
                    <a:lstStyle/>
                    <a:p>
                      <a:pPr marL="252729">
                        <a:lnSpc>
                          <a:spcPts val="2150"/>
                        </a:lnSpc>
                        <a:spcBef>
                          <a:spcPts val="810"/>
                        </a:spcBef>
                      </a:pPr>
                      <a:r>
                        <a:rPr sz="1800" dirty="0">
                          <a:latin typeface="Calibri"/>
                          <a:cs typeface="Calibri"/>
                        </a:rPr>
                        <a:t>"</a:t>
                      </a:r>
                      <a:r>
                        <a:rPr sz="1800" spc="-45" dirty="0">
                          <a:latin typeface="Calibri"/>
                          <a:cs typeface="Calibri"/>
                        </a:rPr>
                        <a:t> </a:t>
                      </a:r>
                      <a:r>
                        <a:rPr sz="1800" spc="-10" dirty="0">
                          <a:latin typeface="Calibri"/>
                          <a:cs typeface="Calibri"/>
                        </a:rPr>
                        <a:t>Programming";</a:t>
                      </a:r>
                      <a:endParaRPr sz="1800">
                        <a:latin typeface="Calibri"/>
                        <a:cs typeface="Calibri"/>
                      </a:endParaRPr>
                    </a:p>
                  </a:txBody>
                  <a:tcPr marL="0" marR="0" marT="102870" marB="0"/>
                </a:tc>
                <a:extLst>
                  <a:ext uri="{0D108BD9-81ED-4DB2-BD59-A6C34878D82A}">
                    <a16:rowId xmlns:a16="http://schemas.microsoft.com/office/drawing/2014/main" val="10002"/>
                  </a:ext>
                </a:extLst>
              </a:tr>
            </a:tbl>
          </a:graphicData>
        </a:graphic>
      </p:graphicFrame>
      <p:sp>
        <p:nvSpPr>
          <p:cNvPr id="5" name="object 5"/>
          <p:cNvSpPr txBox="1"/>
          <p:nvPr/>
        </p:nvSpPr>
        <p:spPr>
          <a:xfrm>
            <a:off x="186334" y="4363339"/>
            <a:ext cx="4009390" cy="1123315"/>
          </a:xfrm>
          <a:prstGeom prst="rect">
            <a:avLst/>
          </a:prstGeom>
        </p:spPr>
        <p:txBody>
          <a:bodyPr vert="horz" wrap="square" lIns="0" tIns="12700" rIns="0" bIns="0" rtlCol="0">
            <a:spAutoFit/>
          </a:bodyPr>
          <a:lstStyle/>
          <a:p>
            <a:pPr marL="1841500">
              <a:lnSpc>
                <a:spcPct val="100000"/>
              </a:lnSpc>
              <a:spcBef>
                <a:spcPts val="100"/>
              </a:spcBef>
            </a:pPr>
            <a:r>
              <a:rPr sz="1800" spc="-10" dirty="0">
                <a:latin typeface="Calibri"/>
                <a:cs typeface="Calibri"/>
              </a:rPr>
              <a:t>System.out.println(str);</a:t>
            </a:r>
            <a:endParaRPr sz="1800">
              <a:latin typeface="Calibri"/>
              <a:cs typeface="Calibri"/>
            </a:endParaRPr>
          </a:p>
          <a:p>
            <a:pPr>
              <a:lnSpc>
                <a:spcPct val="100000"/>
              </a:lnSpc>
              <a:spcBef>
                <a:spcPts val="30"/>
              </a:spcBef>
            </a:pPr>
            <a:endParaRPr sz="1850">
              <a:latin typeface="Times New Roman"/>
              <a:cs typeface="Times New Roman"/>
            </a:endParaRPr>
          </a:p>
          <a:p>
            <a:pPr marL="927100">
              <a:lnSpc>
                <a:spcPct val="100000"/>
              </a:lnSpc>
            </a:pPr>
            <a:r>
              <a:rPr sz="1800" spc="-5" dirty="0">
                <a:latin typeface="Calibri"/>
                <a:cs typeface="Calibri"/>
              </a:rPr>
              <a:t>}// End of</a:t>
            </a:r>
            <a:r>
              <a:rPr sz="1800" spc="15" dirty="0">
                <a:latin typeface="Calibri"/>
                <a:cs typeface="Calibri"/>
              </a:rPr>
              <a:t> </a:t>
            </a:r>
            <a:r>
              <a:rPr sz="1800" spc="-5" dirty="0">
                <a:latin typeface="Calibri"/>
                <a:cs typeface="Calibri"/>
              </a:rPr>
              <a:t>Method</a:t>
            </a:r>
            <a:endParaRPr sz="1800">
              <a:latin typeface="Calibri"/>
              <a:cs typeface="Calibri"/>
            </a:endParaRPr>
          </a:p>
          <a:p>
            <a:pPr marL="12700">
              <a:lnSpc>
                <a:spcPct val="100000"/>
              </a:lnSpc>
            </a:pPr>
            <a:r>
              <a:rPr sz="1800" spc="-5" dirty="0">
                <a:latin typeface="Calibri"/>
                <a:cs typeface="Calibri"/>
              </a:rPr>
              <a:t>}// End of class</a:t>
            </a:r>
            <a:r>
              <a:rPr sz="1800" spc="35" dirty="0">
                <a:latin typeface="Calibri"/>
                <a:cs typeface="Calibri"/>
              </a:rPr>
              <a:t> </a:t>
            </a:r>
            <a:r>
              <a:rPr sz="1800" spc="-5" dirty="0">
                <a:latin typeface="Calibri"/>
                <a:cs typeface="Calibri"/>
              </a:rPr>
              <a:t>StringDemo</a:t>
            </a:r>
            <a:endParaRPr sz="1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9221"/>
            <a:ext cx="3683000" cy="574040"/>
          </a:xfrm>
          <a:prstGeom prst="rect">
            <a:avLst/>
          </a:prstGeom>
        </p:spPr>
        <p:txBody>
          <a:bodyPr vert="horz" wrap="square" lIns="0" tIns="12700" rIns="0" bIns="0" rtlCol="0">
            <a:spAutoFit/>
          </a:bodyPr>
          <a:lstStyle/>
          <a:p>
            <a:pPr marL="12700">
              <a:lnSpc>
                <a:spcPct val="100000"/>
              </a:lnSpc>
              <a:spcBef>
                <a:spcPts val="100"/>
              </a:spcBef>
            </a:pPr>
            <a:r>
              <a:rPr sz="3600" i="0" spc="-140" dirty="0">
                <a:solidFill>
                  <a:srgbClr val="000000"/>
                </a:solidFill>
                <a:latin typeface="Arial"/>
                <a:cs typeface="Arial"/>
              </a:rPr>
              <a:t>Predict </a:t>
            </a:r>
            <a:r>
              <a:rPr sz="3600" i="0" spc="-105" dirty="0">
                <a:solidFill>
                  <a:srgbClr val="000000"/>
                </a:solidFill>
                <a:latin typeface="Arial"/>
                <a:cs typeface="Arial"/>
              </a:rPr>
              <a:t>the</a:t>
            </a:r>
            <a:r>
              <a:rPr sz="3600" i="0" spc="-480" dirty="0">
                <a:solidFill>
                  <a:srgbClr val="000000"/>
                </a:solidFill>
                <a:latin typeface="Arial"/>
                <a:cs typeface="Arial"/>
              </a:rPr>
              <a:t> </a:t>
            </a:r>
            <a:r>
              <a:rPr sz="3600" i="0" spc="-135" dirty="0">
                <a:solidFill>
                  <a:srgbClr val="000000"/>
                </a:solidFill>
                <a:latin typeface="Arial"/>
                <a:cs typeface="Arial"/>
              </a:rPr>
              <a:t>Output</a:t>
            </a:r>
            <a:endParaRPr sz="3600">
              <a:latin typeface="Arial"/>
              <a:cs typeface="Arial"/>
            </a:endParaRPr>
          </a:p>
        </p:txBody>
      </p:sp>
      <p:sp>
        <p:nvSpPr>
          <p:cNvPr id="3" name="object 3"/>
          <p:cNvSpPr txBox="1"/>
          <p:nvPr/>
        </p:nvSpPr>
        <p:spPr>
          <a:xfrm>
            <a:off x="4758944" y="2717038"/>
            <a:ext cx="161417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Calibri"/>
                <a:cs typeface="Calibri"/>
              </a:rPr>
              <a:t>String("Object");</a:t>
            </a:r>
            <a:endParaRPr sz="1800">
              <a:latin typeface="Calibri"/>
              <a:cs typeface="Calibri"/>
            </a:endParaRPr>
          </a:p>
        </p:txBody>
      </p:sp>
      <p:sp>
        <p:nvSpPr>
          <p:cNvPr id="4" name="object 4"/>
          <p:cNvSpPr txBox="1"/>
          <p:nvPr/>
        </p:nvSpPr>
        <p:spPr>
          <a:xfrm>
            <a:off x="4758944" y="3265678"/>
            <a:ext cx="11461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t>
            </a:r>
            <a:r>
              <a:rPr sz="1800" spc="-75" dirty="0">
                <a:latin typeface="Calibri"/>
                <a:cs typeface="Calibri"/>
              </a:rPr>
              <a:t> </a:t>
            </a:r>
            <a:r>
              <a:rPr sz="1800" spc="-5" dirty="0">
                <a:latin typeface="Calibri"/>
                <a:cs typeface="Calibri"/>
              </a:rPr>
              <a:t>Oriented";</a:t>
            </a:r>
            <a:endParaRPr sz="1800">
              <a:latin typeface="Calibri"/>
              <a:cs typeface="Calibri"/>
            </a:endParaRPr>
          </a:p>
        </p:txBody>
      </p:sp>
      <p:sp>
        <p:nvSpPr>
          <p:cNvPr id="5" name="object 5"/>
          <p:cNvSpPr txBox="1"/>
          <p:nvPr/>
        </p:nvSpPr>
        <p:spPr>
          <a:xfrm>
            <a:off x="4758944" y="3814013"/>
            <a:ext cx="157607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t>
            </a:r>
            <a:r>
              <a:rPr sz="1800" spc="-45" dirty="0">
                <a:latin typeface="Calibri"/>
                <a:cs typeface="Calibri"/>
              </a:rPr>
              <a:t> </a:t>
            </a:r>
            <a:r>
              <a:rPr sz="1800" spc="-10" dirty="0">
                <a:latin typeface="Calibri"/>
                <a:cs typeface="Calibri"/>
              </a:rPr>
              <a:t>Programming";</a:t>
            </a:r>
            <a:endParaRPr sz="1800">
              <a:latin typeface="Calibri"/>
              <a:cs typeface="Calibri"/>
            </a:endParaRPr>
          </a:p>
        </p:txBody>
      </p:sp>
      <p:sp>
        <p:nvSpPr>
          <p:cNvPr id="6" name="object 6"/>
          <p:cNvSpPr txBox="1"/>
          <p:nvPr/>
        </p:nvSpPr>
        <p:spPr>
          <a:xfrm>
            <a:off x="186334" y="1345184"/>
            <a:ext cx="4271645" cy="3317875"/>
          </a:xfrm>
          <a:prstGeom prst="rect">
            <a:avLst/>
          </a:prstGeom>
        </p:spPr>
        <p:txBody>
          <a:bodyPr vert="horz" wrap="square" lIns="0" tIns="12700" rIns="0" bIns="0" rtlCol="0">
            <a:spAutoFit/>
          </a:bodyPr>
          <a:lstStyle/>
          <a:p>
            <a:pPr marL="12700" marR="1501140">
              <a:lnSpc>
                <a:spcPct val="100000"/>
              </a:lnSpc>
              <a:spcBef>
                <a:spcPts val="100"/>
              </a:spcBef>
            </a:pPr>
            <a:r>
              <a:rPr sz="1800" spc="-5" dirty="0">
                <a:latin typeface="Calibri"/>
                <a:cs typeface="Calibri"/>
              </a:rPr>
              <a:t>//File </a:t>
            </a:r>
            <a:r>
              <a:rPr sz="1800" dirty="0">
                <a:latin typeface="Calibri"/>
                <a:cs typeface="Calibri"/>
              </a:rPr>
              <a:t>Name: </a:t>
            </a:r>
            <a:r>
              <a:rPr sz="1800" spc="-10" dirty="0">
                <a:latin typeface="Calibri"/>
                <a:cs typeface="Calibri"/>
              </a:rPr>
              <a:t>StringDemo.java  </a:t>
            </a:r>
            <a:r>
              <a:rPr sz="1800" spc="-5" dirty="0">
                <a:latin typeface="Calibri"/>
                <a:cs typeface="Calibri"/>
              </a:rPr>
              <a:t>class</a:t>
            </a:r>
            <a:r>
              <a:rPr sz="1800" dirty="0">
                <a:latin typeface="Calibri"/>
                <a:cs typeface="Calibri"/>
              </a:rPr>
              <a:t> </a:t>
            </a:r>
            <a:r>
              <a:rPr sz="1800" spc="-5" dirty="0">
                <a:latin typeface="Calibri"/>
                <a:cs typeface="Calibri"/>
              </a:rPr>
              <a:t>StringDemo</a:t>
            </a:r>
            <a:endParaRPr sz="1800">
              <a:latin typeface="Calibri"/>
              <a:cs typeface="Calibri"/>
            </a:endParaRPr>
          </a:p>
          <a:p>
            <a:pPr marL="12700">
              <a:lnSpc>
                <a:spcPct val="100000"/>
              </a:lnSpc>
            </a:pPr>
            <a:r>
              <a:rPr sz="1800" dirty="0">
                <a:latin typeface="Calibri"/>
                <a:cs typeface="Calibri"/>
              </a:rPr>
              <a:t>{</a:t>
            </a:r>
            <a:endParaRPr sz="1800">
              <a:latin typeface="Calibri"/>
              <a:cs typeface="Calibri"/>
            </a:endParaRPr>
          </a:p>
          <a:p>
            <a:pPr marL="927100">
              <a:lnSpc>
                <a:spcPct val="100000"/>
              </a:lnSpc>
            </a:pPr>
            <a:r>
              <a:rPr sz="1800" spc="-5" dirty="0">
                <a:latin typeface="Calibri"/>
                <a:cs typeface="Calibri"/>
              </a:rPr>
              <a:t>public </a:t>
            </a:r>
            <a:r>
              <a:rPr sz="1800" spc="-15" dirty="0">
                <a:latin typeface="Calibri"/>
                <a:cs typeface="Calibri"/>
              </a:rPr>
              <a:t>static </a:t>
            </a:r>
            <a:r>
              <a:rPr sz="1800" spc="-10" dirty="0">
                <a:latin typeface="Calibri"/>
                <a:cs typeface="Calibri"/>
              </a:rPr>
              <a:t>void </a:t>
            </a:r>
            <a:r>
              <a:rPr sz="1800" spc="-5" dirty="0">
                <a:latin typeface="Calibri"/>
                <a:cs typeface="Calibri"/>
              </a:rPr>
              <a:t>main(String[]</a:t>
            </a:r>
            <a:r>
              <a:rPr sz="1800" spc="50" dirty="0">
                <a:latin typeface="Calibri"/>
                <a:cs typeface="Calibri"/>
              </a:rPr>
              <a:t> </a:t>
            </a:r>
            <a:r>
              <a:rPr sz="1800" spc="-5" dirty="0">
                <a:latin typeface="Calibri"/>
                <a:cs typeface="Calibri"/>
              </a:rPr>
              <a:t>args)</a:t>
            </a:r>
            <a:endParaRPr sz="1800">
              <a:latin typeface="Calibri"/>
              <a:cs typeface="Calibri"/>
            </a:endParaRPr>
          </a:p>
          <a:p>
            <a:pPr marL="927100">
              <a:lnSpc>
                <a:spcPct val="100000"/>
              </a:lnSpc>
            </a:pPr>
            <a:r>
              <a:rPr sz="1800" dirty="0">
                <a:latin typeface="Calibri"/>
                <a:cs typeface="Calibri"/>
              </a:rPr>
              <a:t>{</a:t>
            </a:r>
            <a:endParaRPr sz="1800">
              <a:latin typeface="Calibri"/>
              <a:cs typeface="Calibri"/>
            </a:endParaRPr>
          </a:p>
          <a:p>
            <a:pPr marL="1841500">
              <a:lnSpc>
                <a:spcPct val="100000"/>
              </a:lnSpc>
              <a:tabLst>
                <a:tab pos="2755900" algn="l"/>
                <a:tab pos="3670300" algn="l"/>
              </a:tabLst>
            </a:pPr>
            <a:r>
              <a:rPr sz="1800" b="1" dirty="0">
                <a:solidFill>
                  <a:srgbClr val="FF0000"/>
                </a:solidFill>
                <a:latin typeface="Calibri"/>
                <a:cs typeface="Calibri"/>
              </a:rPr>
              <a:t>String	</a:t>
            </a:r>
            <a:r>
              <a:rPr sz="1800" b="1" spc="-10" dirty="0">
                <a:solidFill>
                  <a:srgbClr val="FF0000"/>
                </a:solidFill>
                <a:latin typeface="Calibri"/>
                <a:cs typeface="Calibri"/>
              </a:rPr>
              <a:t>str</a:t>
            </a:r>
            <a:r>
              <a:rPr sz="1800" b="1" spc="-5" dirty="0">
                <a:solidFill>
                  <a:srgbClr val="FF0000"/>
                </a:solidFill>
                <a:latin typeface="Calibri"/>
                <a:cs typeface="Calibri"/>
              </a:rPr>
              <a:t> </a:t>
            </a:r>
            <a:r>
              <a:rPr sz="1800" b="1" dirty="0">
                <a:solidFill>
                  <a:srgbClr val="FF0000"/>
                </a:solidFill>
                <a:latin typeface="Calibri"/>
                <a:cs typeface="Calibri"/>
              </a:rPr>
              <a:t>=	</a:t>
            </a:r>
            <a:r>
              <a:rPr sz="1800" b="1" spc="-5" dirty="0">
                <a:solidFill>
                  <a:srgbClr val="FF0000"/>
                </a:solidFill>
                <a:latin typeface="Calibri"/>
                <a:cs typeface="Calibri"/>
              </a:rPr>
              <a:t>new</a:t>
            </a:r>
            <a:endParaRPr sz="1800">
              <a:latin typeface="Calibri"/>
              <a:cs typeface="Calibri"/>
            </a:endParaRPr>
          </a:p>
          <a:p>
            <a:pPr>
              <a:lnSpc>
                <a:spcPct val="100000"/>
              </a:lnSpc>
              <a:spcBef>
                <a:spcPts val="30"/>
              </a:spcBef>
            </a:pPr>
            <a:endParaRPr sz="1850">
              <a:latin typeface="Times New Roman"/>
              <a:cs typeface="Times New Roman"/>
            </a:endParaRPr>
          </a:p>
          <a:p>
            <a:pPr marL="1841500">
              <a:lnSpc>
                <a:spcPct val="100000"/>
              </a:lnSpc>
              <a:spcBef>
                <a:spcPts val="5"/>
              </a:spcBef>
              <a:tabLst>
                <a:tab pos="3018155" algn="l"/>
                <a:tab pos="3670300" algn="l"/>
              </a:tabLst>
            </a:pPr>
            <a:r>
              <a:rPr sz="1800" spc="-10" dirty="0">
                <a:latin typeface="Calibri"/>
                <a:cs typeface="Calibri"/>
              </a:rPr>
              <a:t>str	</a:t>
            </a:r>
            <a:r>
              <a:rPr sz="1800" dirty="0">
                <a:latin typeface="Calibri"/>
                <a:cs typeface="Calibri"/>
              </a:rPr>
              <a:t>=	</a:t>
            </a:r>
            <a:r>
              <a:rPr sz="1800" spc="-10" dirty="0">
                <a:latin typeface="Calibri"/>
                <a:cs typeface="Calibri"/>
              </a:rPr>
              <a:t>str</a:t>
            </a:r>
            <a:r>
              <a:rPr sz="1800" spc="-100" dirty="0">
                <a:latin typeface="Calibri"/>
                <a:cs typeface="Calibri"/>
              </a:rPr>
              <a:t> </a:t>
            </a:r>
            <a:r>
              <a:rPr sz="1800" dirty="0">
                <a:latin typeface="Calibri"/>
                <a:cs typeface="Calibri"/>
              </a:rPr>
              <a:t>+</a:t>
            </a:r>
            <a:endParaRPr sz="1800">
              <a:latin typeface="Calibri"/>
              <a:cs typeface="Calibri"/>
            </a:endParaRPr>
          </a:p>
          <a:p>
            <a:pPr>
              <a:lnSpc>
                <a:spcPct val="100000"/>
              </a:lnSpc>
              <a:spcBef>
                <a:spcPts val="30"/>
              </a:spcBef>
            </a:pPr>
            <a:endParaRPr sz="1850">
              <a:latin typeface="Times New Roman"/>
              <a:cs typeface="Times New Roman"/>
            </a:endParaRPr>
          </a:p>
          <a:p>
            <a:pPr marL="1841500">
              <a:lnSpc>
                <a:spcPct val="100000"/>
              </a:lnSpc>
              <a:tabLst>
                <a:tab pos="3018155" algn="l"/>
                <a:tab pos="3670300" algn="l"/>
              </a:tabLst>
            </a:pPr>
            <a:r>
              <a:rPr sz="1800" spc="-10" dirty="0">
                <a:latin typeface="Calibri"/>
                <a:cs typeface="Calibri"/>
              </a:rPr>
              <a:t>str	</a:t>
            </a:r>
            <a:r>
              <a:rPr sz="1800" dirty="0">
                <a:latin typeface="Calibri"/>
                <a:cs typeface="Calibri"/>
              </a:rPr>
              <a:t>=	</a:t>
            </a:r>
            <a:r>
              <a:rPr sz="1800" spc="-10" dirty="0">
                <a:latin typeface="Calibri"/>
                <a:cs typeface="Calibri"/>
              </a:rPr>
              <a:t>str</a:t>
            </a:r>
            <a:r>
              <a:rPr sz="1800" spc="-105" dirty="0">
                <a:latin typeface="Calibri"/>
                <a:cs typeface="Calibri"/>
              </a:rPr>
              <a:t> </a:t>
            </a:r>
            <a:r>
              <a:rPr sz="1800" dirty="0">
                <a:latin typeface="Calibri"/>
                <a:cs typeface="Calibri"/>
              </a:rPr>
              <a:t>+</a:t>
            </a:r>
            <a:endParaRPr sz="1800">
              <a:latin typeface="Calibri"/>
              <a:cs typeface="Calibri"/>
            </a:endParaRPr>
          </a:p>
          <a:p>
            <a:pPr>
              <a:lnSpc>
                <a:spcPct val="100000"/>
              </a:lnSpc>
              <a:spcBef>
                <a:spcPts val="35"/>
              </a:spcBef>
            </a:pPr>
            <a:endParaRPr sz="1850">
              <a:latin typeface="Times New Roman"/>
              <a:cs typeface="Times New Roman"/>
            </a:endParaRPr>
          </a:p>
          <a:p>
            <a:pPr marL="1841500">
              <a:lnSpc>
                <a:spcPct val="100000"/>
              </a:lnSpc>
            </a:pPr>
            <a:r>
              <a:rPr sz="1800" spc="-10" dirty="0">
                <a:latin typeface="Calibri"/>
                <a:cs typeface="Calibri"/>
              </a:rPr>
              <a:t>System.out.println(str);</a:t>
            </a:r>
            <a:endParaRPr sz="1800">
              <a:latin typeface="Calibri"/>
              <a:cs typeface="Calibri"/>
            </a:endParaRPr>
          </a:p>
        </p:txBody>
      </p:sp>
      <p:sp>
        <p:nvSpPr>
          <p:cNvPr id="7" name="object 7"/>
          <p:cNvSpPr txBox="1"/>
          <p:nvPr/>
        </p:nvSpPr>
        <p:spPr>
          <a:xfrm>
            <a:off x="186334" y="4911979"/>
            <a:ext cx="2633345" cy="574675"/>
          </a:xfrm>
          <a:prstGeom prst="rect">
            <a:avLst/>
          </a:prstGeom>
        </p:spPr>
        <p:txBody>
          <a:bodyPr vert="horz" wrap="square" lIns="0" tIns="12700" rIns="0" bIns="0" rtlCol="0">
            <a:spAutoFit/>
          </a:bodyPr>
          <a:lstStyle/>
          <a:p>
            <a:pPr marL="927100">
              <a:lnSpc>
                <a:spcPct val="100000"/>
              </a:lnSpc>
              <a:spcBef>
                <a:spcPts val="100"/>
              </a:spcBef>
            </a:pPr>
            <a:r>
              <a:rPr sz="1800" spc="-5" dirty="0">
                <a:latin typeface="Calibri"/>
                <a:cs typeface="Calibri"/>
              </a:rPr>
              <a:t>}// End of</a:t>
            </a:r>
            <a:r>
              <a:rPr sz="1800" spc="-35" dirty="0">
                <a:latin typeface="Calibri"/>
                <a:cs typeface="Calibri"/>
              </a:rPr>
              <a:t> </a:t>
            </a:r>
            <a:r>
              <a:rPr sz="1800" spc="-5" dirty="0">
                <a:latin typeface="Calibri"/>
                <a:cs typeface="Calibri"/>
              </a:rPr>
              <a:t>Method</a:t>
            </a:r>
            <a:endParaRPr sz="1800">
              <a:latin typeface="Calibri"/>
              <a:cs typeface="Calibri"/>
            </a:endParaRPr>
          </a:p>
          <a:p>
            <a:pPr marL="12700">
              <a:lnSpc>
                <a:spcPct val="100000"/>
              </a:lnSpc>
            </a:pPr>
            <a:r>
              <a:rPr sz="1800" spc="-5" dirty="0">
                <a:latin typeface="Calibri"/>
                <a:cs typeface="Calibri"/>
              </a:rPr>
              <a:t>}// End of class</a:t>
            </a:r>
            <a:r>
              <a:rPr sz="1800" dirty="0">
                <a:latin typeface="Calibri"/>
                <a:cs typeface="Calibri"/>
              </a:rPr>
              <a:t> </a:t>
            </a:r>
            <a:r>
              <a:rPr sz="1800" spc="-5" dirty="0">
                <a:latin typeface="Calibri"/>
                <a:cs typeface="Calibri"/>
              </a:rPr>
              <a:t>StringDemo</a:t>
            </a:r>
            <a:endParaRPr sz="1800">
              <a:latin typeface="Calibri"/>
              <a:cs typeface="Calibri"/>
            </a:endParaRPr>
          </a:p>
        </p:txBody>
      </p:sp>
      <p:sp>
        <p:nvSpPr>
          <p:cNvPr id="8" name="object 8"/>
          <p:cNvSpPr txBox="1"/>
          <p:nvPr/>
        </p:nvSpPr>
        <p:spPr>
          <a:xfrm>
            <a:off x="6812026" y="2720466"/>
            <a:ext cx="274955" cy="299720"/>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Calibri"/>
                <a:cs typeface="Calibri"/>
              </a:rPr>
              <a:t>s</a:t>
            </a:r>
            <a:r>
              <a:rPr sz="1800" b="1" dirty="0">
                <a:latin typeface="Calibri"/>
                <a:cs typeface="Calibri"/>
              </a:rPr>
              <a:t>tr</a:t>
            </a:r>
            <a:endParaRPr sz="1800">
              <a:latin typeface="Calibri"/>
              <a:cs typeface="Calibri"/>
            </a:endParaRPr>
          </a:p>
        </p:txBody>
      </p:sp>
      <p:sp>
        <p:nvSpPr>
          <p:cNvPr id="9" name="object 9"/>
          <p:cNvSpPr/>
          <p:nvPr/>
        </p:nvSpPr>
        <p:spPr>
          <a:xfrm>
            <a:off x="7162038" y="2880360"/>
            <a:ext cx="507365" cy="78105"/>
          </a:xfrm>
          <a:custGeom>
            <a:avLst/>
            <a:gdLst/>
            <a:ahLst/>
            <a:cxnLst/>
            <a:rect l="l" t="t" r="r" b="b"/>
            <a:pathLst>
              <a:path w="507365" h="78105">
                <a:moveTo>
                  <a:pt x="429386" y="0"/>
                </a:moveTo>
                <a:lnTo>
                  <a:pt x="429386" y="77724"/>
                </a:lnTo>
                <a:lnTo>
                  <a:pt x="481202" y="51815"/>
                </a:lnTo>
                <a:lnTo>
                  <a:pt x="442340" y="51815"/>
                </a:lnTo>
                <a:lnTo>
                  <a:pt x="442340" y="25907"/>
                </a:lnTo>
                <a:lnTo>
                  <a:pt x="481202" y="25907"/>
                </a:lnTo>
                <a:lnTo>
                  <a:pt x="429386" y="0"/>
                </a:lnTo>
                <a:close/>
              </a:path>
              <a:path w="507365" h="78105">
                <a:moveTo>
                  <a:pt x="429386" y="25907"/>
                </a:moveTo>
                <a:lnTo>
                  <a:pt x="0" y="25907"/>
                </a:lnTo>
                <a:lnTo>
                  <a:pt x="0" y="51815"/>
                </a:lnTo>
                <a:lnTo>
                  <a:pt x="429386" y="51815"/>
                </a:lnTo>
                <a:lnTo>
                  <a:pt x="429386" y="25907"/>
                </a:lnTo>
                <a:close/>
              </a:path>
              <a:path w="507365" h="78105">
                <a:moveTo>
                  <a:pt x="481202" y="25907"/>
                </a:moveTo>
                <a:lnTo>
                  <a:pt x="442340" y="25907"/>
                </a:lnTo>
                <a:lnTo>
                  <a:pt x="442340" y="51815"/>
                </a:lnTo>
                <a:lnTo>
                  <a:pt x="481202" y="51815"/>
                </a:lnTo>
                <a:lnTo>
                  <a:pt x="507110" y="38862"/>
                </a:lnTo>
                <a:lnTo>
                  <a:pt x="481202" y="25907"/>
                </a:lnTo>
                <a:close/>
              </a:path>
            </a:pathLst>
          </a:custGeom>
          <a:solidFill>
            <a:srgbClr val="FF0000"/>
          </a:solidFill>
        </p:spPr>
        <p:txBody>
          <a:bodyPr wrap="square" lIns="0" tIns="0" rIns="0" bIns="0" rtlCol="0"/>
          <a:lstStyle/>
          <a:p>
            <a:endParaRPr/>
          </a:p>
        </p:txBody>
      </p:sp>
      <p:sp>
        <p:nvSpPr>
          <p:cNvPr id="10" name="object 10"/>
          <p:cNvSpPr txBox="1"/>
          <p:nvPr/>
        </p:nvSpPr>
        <p:spPr>
          <a:xfrm>
            <a:off x="7669530" y="2702814"/>
            <a:ext cx="1152525" cy="368935"/>
          </a:xfrm>
          <a:prstGeom prst="rect">
            <a:avLst/>
          </a:prstGeom>
          <a:ln w="25907">
            <a:solidFill>
              <a:srgbClr val="385D89"/>
            </a:solidFill>
          </a:ln>
        </p:spPr>
        <p:txBody>
          <a:bodyPr vert="horz" wrap="square" lIns="0" tIns="83820" rIns="0" bIns="0" rtlCol="0">
            <a:spAutoFit/>
          </a:bodyPr>
          <a:lstStyle/>
          <a:p>
            <a:pPr marL="366395">
              <a:lnSpc>
                <a:spcPct val="100000"/>
              </a:lnSpc>
              <a:spcBef>
                <a:spcPts val="660"/>
              </a:spcBef>
            </a:pPr>
            <a:r>
              <a:rPr sz="1200" b="1" spc="-5" dirty="0">
                <a:latin typeface="Calibri"/>
                <a:cs typeface="Calibri"/>
              </a:rPr>
              <a:t>Object</a:t>
            </a:r>
            <a:endParaRPr sz="1200">
              <a:latin typeface="Calibri"/>
              <a:cs typeface="Calibri"/>
            </a:endParaRPr>
          </a:p>
        </p:txBody>
      </p:sp>
      <p:sp>
        <p:nvSpPr>
          <p:cNvPr id="11" name="object 11"/>
          <p:cNvSpPr txBox="1"/>
          <p:nvPr/>
        </p:nvSpPr>
        <p:spPr>
          <a:xfrm>
            <a:off x="7927593" y="2295271"/>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a:cs typeface="Calibri"/>
              </a:rPr>
              <a:t>:String</a:t>
            </a:r>
            <a:endParaRPr sz="18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9221"/>
            <a:ext cx="3683000" cy="574040"/>
          </a:xfrm>
          <a:prstGeom prst="rect">
            <a:avLst/>
          </a:prstGeom>
        </p:spPr>
        <p:txBody>
          <a:bodyPr vert="horz" wrap="square" lIns="0" tIns="12700" rIns="0" bIns="0" rtlCol="0">
            <a:spAutoFit/>
          </a:bodyPr>
          <a:lstStyle/>
          <a:p>
            <a:pPr marL="12700">
              <a:lnSpc>
                <a:spcPct val="100000"/>
              </a:lnSpc>
              <a:spcBef>
                <a:spcPts val="100"/>
              </a:spcBef>
            </a:pPr>
            <a:r>
              <a:rPr sz="3600" i="0" spc="-140" dirty="0">
                <a:solidFill>
                  <a:srgbClr val="000000"/>
                </a:solidFill>
                <a:latin typeface="Arial"/>
                <a:cs typeface="Arial"/>
              </a:rPr>
              <a:t>Predict </a:t>
            </a:r>
            <a:r>
              <a:rPr sz="3600" i="0" spc="-105" dirty="0">
                <a:solidFill>
                  <a:srgbClr val="000000"/>
                </a:solidFill>
                <a:latin typeface="Arial"/>
                <a:cs typeface="Arial"/>
              </a:rPr>
              <a:t>the</a:t>
            </a:r>
            <a:r>
              <a:rPr sz="3600" i="0" spc="-480" dirty="0">
                <a:solidFill>
                  <a:srgbClr val="000000"/>
                </a:solidFill>
                <a:latin typeface="Arial"/>
                <a:cs typeface="Arial"/>
              </a:rPr>
              <a:t> </a:t>
            </a:r>
            <a:r>
              <a:rPr sz="3600" i="0" spc="-135" dirty="0">
                <a:solidFill>
                  <a:srgbClr val="000000"/>
                </a:solidFill>
                <a:latin typeface="Arial"/>
                <a:cs typeface="Arial"/>
              </a:rPr>
              <a:t>Output</a:t>
            </a:r>
            <a:endParaRPr sz="3600">
              <a:latin typeface="Arial"/>
              <a:cs typeface="Arial"/>
            </a:endParaRPr>
          </a:p>
        </p:txBody>
      </p:sp>
      <p:sp>
        <p:nvSpPr>
          <p:cNvPr id="3" name="object 3"/>
          <p:cNvSpPr txBox="1"/>
          <p:nvPr/>
        </p:nvSpPr>
        <p:spPr>
          <a:xfrm>
            <a:off x="186334" y="1345184"/>
            <a:ext cx="4271645" cy="1397000"/>
          </a:xfrm>
          <a:prstGeom prst="rect">
            <a:avLst/>
          </a:prstGeom>
        </p:spPr>
        <p:txBody>
          <a:bodyPr vert="horz" wrap="square" lIns="0" tIns="12700" rIns="0" bIns="0" rtlCol="0">
            <a:spAutoFit/>
          </a:bodyPr>
          <a:lstStyle/>
          <a:p>
            <a:pPr marL="12700" marR="1501140">
              <a:lnSpc>
                <a:spcPct val="100000"/>
              </a:lnSpc>
              <a:spcBef>
                <a:spcPts val="100"/>
              </a:spcBef>
            </a:pPr>
            <a:r>
              <a:rPr sz="1800" spc="-5" dirty="0">
                <a:latin typeface="Calibri"/>
                <a:cs typeface="Calibri"/>
              </a:rPr>
              <a:t>//File </a:t>
            </a:r>
            <a:r>
              <a:rPr sz="1800" dirty="0">
                <a:latin typeface="Calibri"/>
                <a:cs typeface="Calibri"/>
              </a:rPr>
              <a:t>Name: </a:t>
            </a:r>
            <a:r>
              <a:rPr sz="1800" spc="-10" dirty="0">
                <a:latin typeface="Calibri"/>
                <a:cs typeface="Calibri"/>
              </a:rPr>
              <a:t>StringDemo.java  </a:t>
            </a:r>
            <a:r>
              <a:rPr sz="1800" spc="-5" dirty="0">
                <a:latin typeface="Calibri"/>
                <a:cs typeface="Calibri"/>
              </a:rPr>
              <a:t>class</a:t>
            </a:r>
            <a:r>
              <a:rPr sz="1800" dirty="0">
                <a:latin typeface="Calibri"/>
                <a:cs typeface="Calibri"/>
              </a:rPr>
              <a:t> </a:t>
            </a:r>
            <a:r>
              <a:rPr sz="1800" spc="-5" dirty="0">
                <a:latin typeface="Calibri"/>
                <a:cs typeface="Calibri"/>
              </a:rPr>
              <a:t>StringDemo</a:t>
            </a:r>
            <a:endParaRPr sz="1800">
              <a:latin typeface="Calibri"/>
              <a:cs typeface="Calibri"/>
            </a:endParaRPr>
          </a:p>
          <a:p>
            <a:pPr marL="12700">
              <a:lnSpc>
                <a:spcPct val="100000"/>
              </a:lnSpc>
            </a:pPr>
            <a:r>
              <a:rPr sz="1800" dirty="0">
                <a:latin typeface="Calibri"/>
                <a:cs typeface="Calibri"/>
              </a:rPr>
              <a:t>{</a:t>
            </a:r>
            <a:endParaRPr sz="1800">
              <a:latin typeface="Calibri"/>
              <a:cs typeface="Calibri"/>
            </a:endParaRPr>
          </a:p>
          <a:p>
            <a:pPr marL="927100">
              <a:lnSpc>
                <a:spcPct val="100000"/>
              </a:lnSpc>
            </a:pPr>
            <a:r>
              <a:rPr sz="1800" spc="-5" dirty="0">
                <a:latin typeface="Calibri"/>
                <a:cs typeface="Calibri"/>
              </a:rPr>
              <a:t>public </a:t>
            </a:r>
            <a:r>
              <a:rPr sz="1800" spc="-15" dirty="0">
                <a:latin typeface="Calibri"/>
                <a:cs typeface="Calibri"/>
              </a:rPr>
              <a:t>static </a:t>
            </a:r>
            <a:r>
              <a:rPr sz="1800" spc="-10" dirty="0">
                <a:latin typeface="Calibri"/>
                <a:cs typeface="Calibri"/>
              </a:rPr>
              <a:t>void </a:t>
            </a:r>
            <a:r>
              <a:rPr sz="1800" spc="-5" dirty="0">
                <a:latin typeface="Calibri"/>
                <a:cs typeface="Calibri"/>
              </a:rPr>
              <a:t>main(String[]</a:t>
            </a:r>
            <a:r>
              <a:rPr sz="1800" spc="50" dirty="0">
                <a:latin typeface="Calibri"/>
                <a:cs typeface="Calibri"/>
              </a:rPr>
              <a:t> </a:t>
            </a:r>
            <a:r>
              <a:rPr sz="1800" spc="-5" dirty="0">
                <a:latin typeface="Calibri"/>
                <a:cs typeface="Calibri"/>
              </a:rPr>
              <a:t>args)</a:t>
            </a:r>
            <a:endParaRPr sz="1800">
              <a:latin typeface="Calibri"/>
              <a:cs typeface="Calibri"/>
            </a:endParaRPr>
          </a:p>
          <a:p>
            <a:pPr marL="927100">
              <a:lnSpc>
                <a:spcPct val="100000"/>
              </a:lnSpc>
            </a:pPr>
            <a:r>
              <a:rPr sz="1800" dirty="0">
                <a:latin typeface="Calibri"/>
                <a:cs typeface="Calibri"/>
              </a:rPr>
              <a:t>{</a:t>
            </a:r>
            <a:endParaRPr sz="1800">
              <a:latin typeface="Calibri"/>
              <a:cs typeface="Calibri"/>
            </a:endParaRPr>
          </a:p>
        </p:txBody>
      </p:sp>
      <p:graphicFrame>
        <p:nvGraphicFramePr>
          <p:cNvPr id="4" name="object 4"/>
          <p:cNvGraphicFramePr>
            <a:graphicFrameLocks noGrp="1"/>
          </p:cNvGraphicFramePr>
          <p:nvPr/>
        </p:nvGraphicFramePr>
        <p:xfrm>
          <a:off x="1996439" y="2786888"/>
          <a:ext cx="4394835" cy="1325954"/>
        </p:xfrm>
        <a:graphic>
          <a:graphicData uri="http://schemas.openxmlformats.org/drawingml/2006/table">
            <a:tbl>
              <a:tblPr firstRow="1" bandRow="1">
                <a:tableStyleId>{2D5ABB26-0587-4C30-8999-92F81FD0307C}</a:tableStyleId>
              </a:tblPr>
              <a:tblGrid>
                <a:gridCol w="767080">
                  <a:extLst>
                    <a:ext uri="{9D8B030D-6E8A-4147-A177-3AD203B41FA5}">
                      <a16:colId xmlns:a16="http://schemas.microsoft.com/office/drawing/2014/main" val="20000"/>
                    </a:ext>
                  </a:extLst>
                </a:gridCol>
                <a:gridCol w="843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870075">
                  <a:extLst>
                    <a:ext uri="{9D8B030D-6E8A-4147-A177-3AD203B41FA5}">
                      <a16:colId xmlns:a16="http://schemas.microsoft.com/office/drawing/2014/main" val="20003"/>
                    </a:ext>
                  </a:extLst>
                </a:gridCol>
              </a:tblGrid>
              <a:tr h="388619">
                <a:tc>
                  <a:txBody>
                    <a:bodyPr/>
                    <a:lstStyle/>
                    <a:p>
                      <a:pPr marL="31750">
                        <a:lnSpc>
                          <a:spcPts val="1710"/>
                        </a:lnSpc>
                      </a:pPr>
                      <a:r>
                        <a:rPr sz="1800" b="1" dirty="0">
                          <a:solidFill>
                            <a:srgbClr val="FF0000"/>
                          </a:solidFill>
                          <a:latin typeface="Calibri"/>
                          <a:cs typeface="Calibri"/>
                        </a:rPr>
                        <a:t>String</a:t>
                      </a:r>
                      <a:endParaRPr sz="1800">
                        <a:latin typeface="Calibri"/>
                        <a:cs typeface="Calibri"/>
                      </a:endParaRPr>
                    </a:p>
                  </a:txBody>
                  <a:tcPr marL="0" marR="0" marT="0" marB="0"/>
                </a:tc>
                <a:tc>
                  <a:txBody>
                    <a:bodyPr/>
                    <a:lstStyle/>
                    <a:p>
                      <a:pPr marL="178435">
                        <a:lnSpc>
                          <a:spcPts val="1710"/>
                        </a:lnSpc>
                      </a:pPr>
                      <a:r>
                        <a:rPr sz="1800" b="1" spc="-10" dirty="0">
                          <a:solidFill>
                            <a:srgbClr val="FF0000"/>
                          </a:solidFill>
                          <a:latin typeface="Calibri"/>
                          <a:cs typeface="Calibri"/>
                        </a:rPr>
                        <a:t>str</a:t>
                      </a:r>
                      <a:r>
                        <a:rPr sz="1800" b="1" spc="-25" dirty="0">
                          <a:solidFill>
                            <a:srgbClr val="FF0000"/>
                          </a:solidFill>
                          <a:latin typeface="Calibri"/>
                          <a:cs typeface="Calibri"/>
                        </a:rPr>
                        <a:t> </a:t>
                      </a:r>
                      <a:r>
                        <a:rPr sz="1800" b="1" dirty="0">
                          <a:solidFill>
                            <a:srgbClr val="FF0000"/>
                          </a:solidFill>
                          <a:latin typeface="Calibri"/>
                          <a:cs typeface="Calibri"/>
                        </a:rPr>
                        <a:t>=</a:t>
                      </a:r>
                      <a:endParaRPr sz="1800">
                        <a:latin typeface="Calibri"/>
                        <a:cs typeface="Calibri"/>
                      </a:endParaRPr>
                    </a:p>
                  </a:txBody>
                  <a:tcPr marL="0" marR="0" marT="0" marB="0"/>
                </a:tc>
                <a:tc>
                  <a:txBody>
                    <a:bodyPr/>
                    <a:lstStyle/>
                    <a:p>
                      <a:pPr algn="ctr">
                        <a:lnSpc>
                          <a:spcPts val="1710"/>
                        </a:lnSpc>
                      </a:pPr>
                      <a:r>
                        <a:rPr sz="1800" b="1" spc="-5" dirty="0">
                          <a:solidFill>
                            <a:srgbClr val="FF0000"/>
                          </a:solidFill>
                          <a:latin typeface="Calibri"/>
                          <a:cs typeface="Calibri"/>
                        </a:rPr>
                        <a:t>new</a:t>
                      </a:r>
                      <a:endParaRPr sz="1800">
                        <a:latin typeface="Calibri"/>
                        <a:cs typeface="Calibri"/>
                      </a:endParaRPr>
                    </a:p>
                  </a:txBody>
                  <a:tcPr marL="0" marR="0" marT="0" marB="0"/>
                </a:tc>
                <a:tc>
                  <a:txBody>
                    <a:bodyPr/>
                    <a:lstStyle/>
                    <a:p>
                      <a:pPr marL="249554">
                        <a:lnSpc>
                          <a:spcPts val="1710"/>
                        </a:lnSpc>
                      </a:pPr>
                      <a:r>
                        <a:rPr sz="1800" b="1" spc="-5" dirty="0">
                          <a:solidFill>
                            <a:srgbClr val="FF0000"/>
                          </a:solidFill>
                          <a:latin typeface="Calibri"/>
                          <a:cs typeface="Calibri"/>
                        </a:rPr>
                        <a:t>String("Object");</a:t>
                      </a:r>
                      <a:endParaRPr sz="1800">
                        <a:latin typeface="Calibri"/>
                        <a:cs typeface="Calibri"/>
                      </a:endParaRPr>
                    </a:p>
                  </a:txBody>
                  <a:tcPr marL="0" marR="0" marT="0" marB="0"/>
                </a:tc>
                <a:extLst>
                  <a:ext uri="{0D108BD9-81ED-4DB2-BD59-A6C34878D82A}">
                    <a16:rowId xmlns:a16="http://schemas.microsoft.com/office/drawing/2014/main" val="10000"/>
                  </a:ext>
                </a:extLst>
              </a:tr>
              <a:tr h="548525">
                <a:tc>
                  <a:txBody>
                    <a:bodyPr/>
                    <a:lstStyle/>
                    <a:p>
                      <a:pPr marL="31750">
                        <a:lnSpc>
                          <a:spcPct val="100000"/>
                        </a:lnSpc>
                        <a:spcBef>
                          <a:spcPts val="810"/>
                        </a:spcBef>
                      </a:pPr>
                      <a:r>
                        <a:rPr sz="1800" b="1" spc="-10" dirty="0">
                          <a:solidFill>
                            <a:srgbClr val="FF0000"/>
                          </a:solidFill>
                          <a:latin typeface="Calibri"/>
                          <a:cs typeface="Calibri"/>
                        </a:rPr>
                        <a:t>str</a:t>
                      </a:r>
                      <a:endParaRPr sz="1800">
                        <a:latin typeface="Calibri"/>
                        <a:cs typeface="Calibri"/>
                      </a:endParaRPr>
                    </a:p>
                  </a:txBody>
                  <a:tcPr marL="0" marR="0" marT="102870" marB="0"/>
                </a:tc>
                <a:tc>
                  <a:txBody>
                    <a:bodyPr/>
                    <a:lstStyle/>
                    <a:p>
                      <a:pPr marL="152400" algn="ctr">
                        <a:lnSpc>
                          <a:spcPct val="100000"/>
                        </a:lnSpc>
                        <a:spcBef>
                          <a:spcPts val="810"/>
                        </a:spcBef>
                      </a:pPr>
                      <a:r>
                        <a:rPr sz="1800" b="1" dirty="0">
                          <a:solidFill>
                            <a:srgbClr val="FF0000"/>
                          </a:solidFill>
                          <a:latin typeface="Calibri"/>
                          <a:cs typeface="Calibri"/>
                        </a:rPr>
                        <a:t>=</a:t>
                      </a:r>
                      <a:endParaRPr sz="1800">
                        <a:latin typeface="Calibri"/>
                        <a:cs typeface="Calibri"/>
                      </a:endParaRPr>
                    </a:p>
                  </a:txBody>
                  <a:tcPr marL="0" marR="0" marT="102870" marB="0"/>
                </a:tc>
                <a:tc>
                  <a:txBody>
                    <a:bodyPr/>
                    <a:lstStyle/>
                    <a:p>
                      <a:pPr algn="ctr">
                        <a:lnSpc>
                          <a:spcPct val="100000"/>
                        </a:lnSpc>
                        <a:spcBef>
                          <a:spcPts val="810"/>
                        </a:spcBef>
                      </a:pPr>
                      <a:r>
                        <a:rPr sz="1800" b="1" spc="-10" dirty="0">
                          <a:solidFill>
                            <a:srgbClr val="FF0000"/>
                          </a:solidFill>
                          <a:latin typeface="Calibri"/>
                          <a:cs typeface="Calibri"/>
                        </a:rPr>
                        <a:t>str</a:t>
                      </a:r>
                      <a:r>
                        <a:rPr sz="1800" b="1" spc="-25" dirty="0">
                          <a:solidFill>
                            <a:srgbClr val="FF0000"/>
                          </a:solidFill>
                          <a:latin typeface="Calibri"/>
                          <a:cs typeface="Calibri"/>
                        </a:rPr>
                        <a:t> </a:t>
                      </a:r>
                      <a:r>
                        <a:rPr sz="1800" b="1" dirty="0">
                          <a:solidFill>
                            <a:srgbClr val="FF0000"/>
                          </a:solidFill>
                          <a:latin typeface="Calibri"/>
                          <a:cs typeface="Calibri"/>
                        </a:rPr>
                        <a:t>+</a:t>
                      </a:r>
                      <a:endParaRPr sz="1800">
                        <a:latin typeface="Calibri"/>
                        <a:cs typeface="Calibri"/>
                      </a:endParaRPr>
                    </a:p>
                  </a:txBody>
                  <a:tcPr marL="0" marR="0" marT="102870" marB="0"/>
                </a:tc>
                <a:tc>
                  <a:txBody>
                    <a:bodyPr/>
                    <a:lstStyle/>
                    <a:p>
                      <a:pPr marL="249554">
                        <a:lnSpc>
                          <a:spcPct val="100000"/>
                        </a:lnSpc>
                        <a:spcBef>
                          <a:spcPts val="810"/>
                        </a:spcBef>
                      </a:pPr>
                      <a:r>
                        <a:rPr sz="1800" b="1" dirty="0">
                          <a:solidFill>
                            <a:srgbClr val="FF0000"/>
                          </a:solidFill>
                          <a:latin typeface="Calibri"/>
                          <a:cs typeface="Calibri"/>
                        </a:rPr>
                        <a:t>"</a:t>
                      </a:r>
                      <a:r>
                        <a:rPr sz="1800" b="1" spc="-15" dirty="0">
                          <a:solidFill>
                            <a:srgbClr val="FF0000"/>
                          </a:solidFill>
                          <a:latin typeface="Calibri"/>
                          <a:cs typeface="Calibri"/>
                        </a:rPr>
                        <a:t> </a:t>
                      </a:r>
                      <a:r>
                        <a:rPr sz="1800" b="1" spc="-10" dirty="0">
                          <a:solidFill>
                            <a:srgbClr val="FF0000"/>
                          </a:solidFill>
                          <a:latin typeface="Calibri"/>
                          <a:cs typeface="Calibri"/>
                        </a:rPr>
                        <a:t>Oriented";</a:t>
                      </a:r>
                      <a:endParaRPr sz="1800">
                        <a:latin typeface="Calibri"/>
                        <a:cs typeface="Calibri"/>
                      </a:endParaRPr>
                    </a:p>
                  </a:txBody>
                  <a:tcPr marL="0" marR="0" marT="102870" marB="0"/>
                </a:tc>
                <a:extLst>
                  <a:ext uri="{0D108BD9-81ED-4DB2-BD59-A6C34878D82A}">
                    <a16:rowId xmlns:a16="http://schemas.microsoft.com/office/drawing/2014/main" val="10001"/>
                  </a:ext>
                </a:extLst>
              </a:tr>
              <a:tr h="388810">
                <a:tc>
                  <a:txBody>
                    <a:bodyPr/>
                    <a:lstStyle/>
                    <a:p>
                      <a:pPr marL="31750">
                        <a:lnSpc>
                          <a:spcPts val="2150"/>
                        </a:lnSpc>
                        <a:spcBef>
                          <a:spcPts val="810"/>
                        </a:spcBef>
                      </a:pPr>
                      <a:r>
                        <a:rPr sz="1800" spc="-10" dirty="0">
                          <a:latin typeface="Calibri"/>
                          <a:cs typeface="Calibri"/>
                        </a:rPr>
                        <a:t>str</a:t>
                      </a:r>
                      <a:endParaRPr sz="1800">
                        <a:latin typeface="Calibri"/>
                        <a:cs typeface="Calibri"/>
                      </a:endParaRPr>
                    </a:p>
                  </a:txBody>
                  <a:tcPr marL="0" marR="0" marT="102870" marB="0"/>
                </a:tc>
                <a:tc>
                  <a:txBody>
                    <a:bodyPr/>
                    <a:lstStyle/>
                    <a:p>
                      <a:pPr marL="152400" algn="ctr">
                        <a:lnSpc>
                          <a:spcPts val="2150"/>
                        </a:lnSpc>
                        <a:spcBef>
                          <a:spcPts val="810"/>
                        </a:spcBef>
                      </a:pPr>
                      <a:r>
                        <a:rPr sz="1800" dirty="0">
                          <a:latin typeface="Calibri"/>
                          <a:cs typeface="Calibri"/>
                        </a:rPr>
                        <a:t>=</a:t>
                      </a:r>
                      <a:endParaRPr sz="1800">
                        <a:latin typeface="Calibri"/>
                        <a:cs typeface="Calibri"/>
                      </a:endParaRPr>
                    </a:p>
                  </a:txBody>
                  <a:tcPr marL="0" marR="0" marT="102870" marB="0"/>
                </a:tc>
                <a:tc>
                  <a:txBody>
                    <a:bodyPr/>
                    <a:lstStyle/>
                    <a:p>
                      <a:pPr algn="ctr">
                        <a:lnSpc>
                          <a:spcPts val="2150"/>
                        </a:lnSpc>
                        <a:spcBef>
                          <a:spcPts val="810"/>
                        </a:spcBef>
                      </a:pPr>
                      <a:r>
                        <a:rPr sz="1800" spc="-10" dirty="0">
                          <a:latin typeface="Calibri"/>
                          <a:cs typeface="Calibri"/>
                        </a:rPr>
                        <a:t>str</a:t>
                      </a:r>
                      <a:r>
                        <a:rPr sz="1800" spc="-30" dirty="0">
                          <a:latin typeface="Calibri"/>
                          <a:cs typeface="Calibri"/>
                        </a:rPr>
                        <a:t> </a:t>
                      </a:r>
                      <a:r>
                        <a:rPr sz="1800" dirty="0">
                          <a:latin typeface="Calibri"/>
                          <a:cs typeface="Calibri"/>
                        </a:rPr>
                        <a:t>+</a:t>
                      </a:r>
                      <a:endParaRPr sz="1800">
                        <a:latin typeface="Calibri"/>
                        <a:cs typeface="Calibri"/>
                      </a:endParaRPr>
                    </a:p>
                  </a:txBody>
                  <a:tcPr marL="0" marR="0" marT="102870" marB="0"/>
                </a:tc>
                <a:tc>
                  <a:txBody>
                    <a:bodyPr/>
                    <a:lstStyle/>
                    <a:p>
                      <a:pPr marL="249554">
                        <a:lnSpc>
                          <a:spcPts val="2150"/>
                        </a:lnSpc>
                        <a:spcBef>
                          <a:spcPts val="810"/>
                        </a:spcBef>
                      </a:pPr>
                      <a:r>
                        <a:rPr sz="1800" dirty="0">
                          <a:latin typeface="Calibri"/>
                          <a:cs typeface="Calibri"/>
                        </a:rPr>
                        <a:t>"</a:t>
                      </a:r>
                      <a:r>
                        <a:rPr sz="1800" spc="-25" dirty="0">
                          <a:latin typeface="Calibri"/>
                          <a:cs typeface="Calibri"/>
                        </a:rPr>
                        <a:t> </a:t>
                      </a:r>
                      <a:r>
                        <a:rPr sz="1800" spc="-10" dirty="0">
                          <a:latin typeface="Calibri"/>
                          <a:cs typeface="Calibri"/>
                        </a:rPr>
                        <a:t>Programming";</a:t>
                      </a:r>
                      <a:endParaRPr sz="1800">
                        <a:latin typeface="Calibri"/>
                        <a:cs typeface="Calibri"/>
                      </a:endParaRPr>
                    </a:p>
                  </a:txBody>
                  <a:tcPr marL="0" marR="0" marT="102870" marB="0"/>
                </a:tc>
                <a:extLst>
                  <a:ext uri="{0D108BD9-81ED-4DB2-BD59-A6C34878D82A}">
                    <a16:rowId xmlns:a16="http://schemas.microsoft.com/office/drawing/2014/main" val="10002"/>
                  </a:ext>
                </a:extLst>
              </a:tr>
            </a:tbl>
          </a:graphicData>
        </a:graphic>
      </p:graphicFrame>
      <p:sp>
        <p:nvSpPr>
          <p:cNvPr id="5" name="object 5"/>
          <p:cNvSpPr txBox="1"/>
          <p:nvPr/>
        </p:nvSpPr>
        <p:spPr>
          <a:xfrm>
            <a:off x="186334" y="4363339"/>
            <a:ext cx="4009390" cy="1123315"/>
          </a:xfrm>
          <a:prstGeom prst="rect">
            <a:avLst/>
          </a:prstGeom>
        </p:spPr>
        <p:txBody>
          <a:bodyPr vert="horz" wrap="square" lIns="0" tIns="12700" rIns="0" bIns="0" rtlCol="0">
            <a:spAutoFit/>
          </a:bodyPr>
          <a:lstStyle/>
          <a:p>
            <a:pPr marL="1841500">
              <a:lnSpc>
                <a:spcPct val="100000"/>
              </a:lnSpc>
              <a:spcBef>
                <a:spcPts val="100"/>
              </a:spcBef>
            </a:pPr>
            <a:r>
              <a:rPr sz="1800" spc="-10" dirty="0">
                <a:latin typeface="Calibri"/>
                <a:cs typeface="Calibri"/>
              </a:rPr>
              <a:t>System.out.println(str);</a:t>
            </a:r>
            <a:endParaRPr sz="1800">
              <a:latin typeface="Calibri"/>
              <a:cs typeface="Calibri"/>
            </a:endParaRPr>
          </a:p>
          <a:p>
            <a:pPr>
              <a:lnSpc>
                <a:spcPct val="100000"/>
              </a:lnSpc>
              <a:spcBef>
                <a:spcPts val="30"/>
              </a:spcBef>
            </a:pPr>
            <a:endParaRPr sz="1850">
              <a:latin typeface="Times New Roman"/>
              <a:cs typeface="Times New Roman"/>
            </a:endParaRPr>
          </a:p>
          <a:p>
            <a:pPr marL="927100">
              <a:lnSpc>
                <a:spcPct val="100000"/>
              </a:lnSpc>
            </a:pPr>
            <a:r>
              <a:rPr sz="1800" spc="-5" dirty="0">
                <a:latin typeface="Calibri"/>
                <a:cs typeface="Calibri"/>
              </a:rPr>
              <a:t>}// End of</a:t>
            </a:r>
            <a:r>
              <a:rPr sz="1800" spc="15" dirty="0">
                <a:latin typeface="Calibri"/>
                <a:cs typeface="Calibri"/>
              </a:rPr>
              <a:t> </a:t>
            </a:r>
            <a:r>
              <a:rPr sz="1800" spc="-5" dirty="0">
                <a:latin typeface="Calibri"/>
                <a:cs typeface="Calibri"/>
              </a:rPr>
              <a:t>Method</a:t>
            </a:r>
            <a:endParaRPr sz="1800">
              <a:latin typeface="Calibri"/>
              <a:cs typeface="Calibri"/>
            </a:endParaRPr>
          </a:p>
          <a:p>
            <a:pPr marL="12700">
              <a:lnSpc>
                <a:spcPct val="100000"/>
              </a:lnSpc>
            </a:pPr>
            <a:r>
              <a:rPr sz="1800" spc="-5" dirty="0">
                <a:latin typeface="Calibri"/>
                <a:cs typeface="Calibri"/>
              </a:rPr>
              <a:t>}// End of class</a:t>
            </a:r>
            <a:r>
              <a:rPr sz="1800" spc="35" dirty="0">
                <a:latin typeface="Calibri"/>
                <a:cs typeface="Calibri"/>
              </a:rPr>
              <a:t> </a:t>
            </a:r>
            <a:r>
              <a:rPr sz="1800" spc="-5" dirty="0">
                <a:latin typeface="Calibri"/>
                <a:cs typeface="Calibri"/>
              </a:rPr>
              <a:t>StringDemo</a:t>
            </a:r>
            <a:endParaRPr sz="1800">
              <a:latin typeface="Calibri"/>
              <a:cs typeface="Calibri"/>
            </a:endParaRPr>
          </a:p>
        </p:txBody>
      </p:sp>
      <p:sp>
        <p:nvSpPr>
          <p:cNvPr id="6" name="object 6"/>
          <p:cNvSpPr txBox="1"/>
          <p:nvPr/>
        </p:nvSpPr>
        <p:spPr>
          <a:xfrm>
            <a:off x="7669530" y="2702814"/>
            <a:ext cx="1224280" cy="368935"/>
          </a:xfrm>
          <a:prstGeom prst="rect">
            <a:avLst/>
          </a:prstGeom>
          <a:ln w="25907">
            <a:solidFill>
              <a:srgbClr val="385D89"/>
            </a:solidFill>
          </a:ln>
        </p:spPr>
        <p:txBody>
          <a:bodyPr vert="horz" wrap="square" lIns="0" tIns="83820" rIns="0" bIns="0" rtlCol="0">
            <a:spAutoFit/>
          </a:bodyPr>
          <a:lstStyle/>
          <a:p>
            <a:pPr marL="401320">
              <a:lnSpc>
                <a:spcPct val="100000"/>
              </a:lnSpc>
              <a:spcBef>
                <a:spcPts val="660"/>
              </a:spcBef>
            </a:pPr>
            <a:r>
              <a:rPr sz="1200" b="1" spc="-5" dirty="0">
                <a:latin typeface="Calibri"/>
                <a:cs typeface="Calibri"/>
              </a:rPr>
              <a:t>Object</a:t>
            </a:r>
            <a:endParaRPr sz="1200">
              <a:latin typeface="Calibri"/>
              <a:cs typeface="Calibri"/>
            </a:endParaRPr>
          </a:p>
        </p:txBody>
      </p:sp>
      <p:sp>
        <p:nvSpPr>
          <p:cNvPr id="7" name="object 7"/>
          <p:cNvSpPr txBox="1"/>
          <p:nvPr/>
        </p:nvSpPr>
        <p:spPr>
          <a:xfrm>
            <a:off x="7927593" y="2295271"/>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a:cs typeface="Calibri"/>
              </a:rPr>
              <a:t>:String</a:t>
            </a:r>
            <a:endParaRPr sz="1800">
              <a:latin typeface="Calibri"/>
              <a:cs typeface="Calibri"/>
            </a:endParaRPr>
          </a:p>
        </p:txBody>
      </p:sp>
      <p:sp>
        <p:nvSpPr>
          <p:cNvPr id="8" name="object 8"/>
          <p:cNvSpPr txBox="1"/>
          <p:nvPr/>
        </p:nvSpPr>
        <p:spPr>
          <a:xfrm>
            <a:off x="6812026" y="3437966"/>
            <a:ext cx="274955" cy="300355"/>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Calibri"/>
                <a:cs typeface="Calibri"/>
              </a:rPr>
              <a:t>s</a:t>
            </a:r>
            <a:r>
              <a:rPr sz="1800" b="1" dirty="0">
                <a:latin typeface="Calibri"/>
                <a:cs typeface="Calibri"/>
              </a:rPr>
              <a:t>tr</a:t>
            </a:r>
            <a:endParaRPr sz="1800">
              <a:latin typeface="Calibri"/>
              <a:cs typeface="Calibri"/>
            </a:endParaRPr>
          </a:p>
        </p:txBody>
      </p:sp>
      <p:sp>
        <p:nvSpPr>
          <p:cNvPr id="9" name="object 9"/>
          <p:cNvSpPr/>
          <p:nvPr/>
        </p:nvSpPr>
        <p:spPr>
          <a:xfrm>
            <a:off x="7162038" y="3598164"/>
            <a:ext cx="507365" cy="78105"/>
          </a:xfrm>
          <a:custGeom>
            <a:avLst/>
            <a:gdLst/>
            <a:ahLst/>
            <a:cxnLst/>
            <a:rect l="l" t="t" r="r" b="b"/>
            <a:pathLst>
              <a:path w="507365" h="78104">
                <a:moveTo>
                  <a:pt x="429386" y="0"/>
                </a:moveTo>
                <a:lnTo>
                  <a:pt x="429386" y="77724"/>
                </a:lnTo>
                <a:lnTo>
                  <a:pt x="481202" y="51816"/>
                </a:lnTo>
                <a:lnTo>
                  <a:pt x="442340" y="51816"/>
                </a:lnTo>
                <a:lnTo>
                  <a:pt x="442340" y="25908"/>
                </a:lnTo>
                <a:lnTo>
                  <a:pt x="481202" y="25908"/>
                </a:lnTo>
                <a:lnTo>
                  <a:pt x="429386" y="0"/>
                </a:lnTo>
                <a:close/>
              </a:path>
              <a:path w="507365" h="78104">
                <a:moveTo>
                  <a:pt x="429386" y="25908"/>
                </a:moveTo>
                <a:lnTo>
                  <a:pt x="0" y="25908"/>
                </a:lnTo>
                <a:lnTo>
                  <a:pt x="0" y="51816"/>
                </a:lnTo>
                <a:lnTo>
                  <a:pt x="429386" y="51816"/>
                </a:lnTo>
                <a:lnTo>
                  <a:pt x="429386" y="25908"/>
                </a:lnTo>
                <a:close/>
              </a:path>
              <a:path w="507365" h="78104">
                <a:moveTo>
                  <a:pt x="481202" y="25908"/>
                </a:moveTo>
                <a:lnTo>
                  <a:pt x="442340" y="25908"/>
                </a:lnTo>
                <a:lnTo>
                  <a:pt x="442340" y="51816"/>
                </a:lnTo>
                <a:lnTo>
                  <a:pt x="481202" y="51816"/>
                </a:lnTo>
                <a:lnTo>
                  <a:pt x="507110" y="38862"/>
                </a:lnTo>
                <a:lnTo>
                  <a:pt x="481202" y="25908"/>
                </a:lnTo>
                <a:close/>
              </a:path>
            </a:pathLst>
          </a:custGeom>
          <a:solidFill>
            <a:srgbClr val="FF0000"/>
          </a:solidFill>
        </p:spPr>
        <p:txBody>
          <a:bodyPr wrap="square" lIns="0" tIns="0" rIns="0" bIns="0" rtlCol="0"/>
          <a:lstStyle/>
          <a:p>
            <a:endParaRPr/>
          </a:p>
        </p:txBody>
      </p:sp>
      <p:sp>
        <p:nvSpPr>
          <p:cNvPr id="10" name="object 10"/>
          <p:cNvSpPr txBox="1"/>
          <p:nvPr/>
        </p:nvSpPr>
        <p:spPr>
          <a:xfrm>
            <a:off x="7669530" y="3422141"/>
            <a:ext cx="1224280" cy="370840"/>
          </a:xfrm>
          <a:prstGeom prst="rect">
            <a:avLst/>
          </a:prstGeom>
          <a:ln w="25907">
            <a:solidFill>
              <a:srgbClr val="385D89"/>
            </a:solidFill>
          </a:ln>
        </p:spPr>
        <p:txBody>
          <a:bodyPr vert="horz" wrap="square" lIns="0" tIns="84455" rIns="0" bIns="0" rtlCol="0">
            <a:spAutoFit/>
          </a:bodyPr>
          <a:lstStyle/>
          <a:p>
            <a:pPr marL="102870">
              <a:lnSpc>
                <a:spcPct val="100000"/>
              </a:lnSpc>
              <a:spcBef>
                <a:spcPts val="665"/>
              </a:spcBef>
            </a:pPr>
            <a:r>
              <a:rPr sz="1200" b="1" spc="-5" dirty="0">
                <a:latin typeface="Calibri"/>
                <a:cs typeface="Calibri"/>
              </a:rPr>
              <a:t>Object</a:t>
            </a:r>
            <a:r>
              <a:rPr sz="1200" b="1" spc="-25" dirty="0">
                <a:latin typeface="Calibri"/>
                <a:cs typeface="Calibri"/>
              </a:rPr>
              <a:t> </a:t>
            </a:r>
            <a:r>
              <a:rPr sz="1200" b="1" spc="-5" dirty="0">
                <a:latin typeface="Calibri"/>
                <a:cs typeface="Calibri"/>
              </a:rPr>
              <a:t>Oriented</a:t>
            </a:r>
            <a:endParaRPr sz="1200">
              <a:latin typeface="Calibri"/>
              <a:cs typeface="Calibri"/>
            </a:endParaRPr>
          </a:p>
        </p:txBody>
      </p:sp>
      <p:sp>
        <p:nvSpPr>
          <p:cNvPr id="11" name="object 11"/>
          <p:cNvSpPr txBox="1"/>
          <p:nvPr/>
        </p:nvSpPr>
        <p:spPr>
          <a:xfrm>
            <a:off x="7927593" y="3015488"/>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a:cs typeface="Calibri"/>
              </a:rPr>
              <a:t>:String</a:t>
            </a:r>
            <a:endParaRPr sz="1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9221"/>
            <a:ext cx="3683000" cy="574040"/>
          </a:xfrm>
          <a:prstGeom prst="rect">
            <a:avLst/>
          </a:prstGeom>
        </p:spPr>
        <p:txBody>
          <a:bodyPr vert="horz" wrap="square" lIns="0" tIns="12700" rIns="0" bIns="0" rtlCol="0">
            <a:spAutoFit/>
          </a:bodyPr>
          <a:lstStyle/>
          <a:p>
            <a:pPr marL="12700">
              <a:lnSpc>
                <a:spcPct val="100000"/>
              </a:lnSpc>
              <a:spcBef>
                <a:spcPts val="100"/>
              </a:spcBef>
            </a:pPr>
            <a:r>
              <a:rPr sz="3600" i="0" spc="-140" dirty="0">
                <a:solidFill>
                  <a:srgbClr val="000000"/>
                </a:solidFill>
                <a:latin typeface="Arial"/>
                <a:cs typeface="Arial"/>
              </a:rPr>
              <a:t>Predict </a:t>
            </a:r>
            <a:r>
              <a:rPr sz="3600" i="0" spc="-105" dirty="0">
                <a:solidFill>
                  <a:srgbClr val="000000"/>
                </a:solidFill>
                <a:latin typeface="Arial"/>
                <a:cs typeface="Arial"/>
              </a:rPr>
              <a:t>the</a:t>
            </a:r>
            <a:r>
              <a:rPr sz="3600" i="0" spc="-480" dirty="0">
                <a:solidFill>
                  <a:srgbClr val="000000"/>
                </a:solidFill>
                <a:latin typeface="Arial"/>
                <a:cs typeface="Arial"/>
              </a:rPr>
              <a:t> </a:t>
            </a:r>
            <a:r>
              <a:rPr sz="3600" i="0" spc="-135" dirty="0">
                <a:solidFill>
                  <a:srgbClr val="000000"/>
                </a:solidFill>
                <a:latin typeface="Arial"/>
                <a:cs typeface="Arial"/>
              </a:rPr>
              <a:t>Output</a:t>
            </a:r>
            <a:endParaRPr sz="3600">
              <a:latin typeface="Arial"/>
              <a:cs typeface="Arial"/>
            </a:endParaRPr>
          </a:p>
        </p:txBody>
      </p:sp>
      <p:sp>
        <p:nvSpPr>
          <p:cNvPr id="3" name="object 3"/>
          <p:cNvSpPr txBox="1"/>
          <p:nvPr/>
        </p:nvSpPr>
        <p:spPr>
          <a:xfrm>
            <a:off x="186334" y="1345184"/>
            <a:ext cx="4271645" cy="1397000"/>
          </a:xfrm>
          <a:prstGeom prst="rect">
            <a:avLst/>
          </a:prstGeom>
        </p:spPr>
        <p:txBody>
          <a:bodyPr vert="horz" wrap="square" lIns="0" tIns="12700" rIns="0" bIns="0" rtlCol="0">
            <a:spAutoFit/>
          </a:bodyPr>
          <a:lstStyle/>
          <a:p>
            <a:pPr marL="12700" marR="1501140">
              <a:lnSpc>
                <a:spcPct val="100000"/>
              </a:lnSpc>
              <a:spcBef>
                <a:spcPts val="100"/>
              </a:spcBef>
            </a:pPr>
            <a:r>
              <a:rPr sz="1800" spc="-5" dirty="0">
                <a:latin typeface="Calibri"/>
                <a:cs typeface="Calibri"/>
              </a:rPr>
              <a:t>//File </a:t>
            </a:r>
            <a:r>
              <a:rPr sz="1800" dirty="0">
                <a:latin typeface="Calibri"/>
                <a:cs typeface="Calibri"/>
              </a:rPr>
              <a:t>Name: </a:t>
            </a:r>
            <a:r>
              <a:rPr sz="1800" spc="-10" dirty="0">
                <a:latin typeface="Calibri"/>
                <a:cs typeface="Calibri"/>
              </a:rPr>
              <a:t>StringDemo.java  </a:t>
            </a:r>
            <a:r>
              <a:rPr sz="1800" spc="-5" dirty="0">
                <a:latin typeface="Calibri"/>
                <a:cs typeface="Calibri"/>
              </a:rPr>
              <a:t>class</a:t>
            </a:r>
            <a:r>
              <a:rPr sz="1800" dirty="0">
                <a:latin typeface="Calibri"/>
                <a:cs typeface="Calibri"/>
              </a:rPr>
              <a:t> </a:t>
            </a:r>
            <a:r>
              <a:rPr sz="1800" spc="-5" dirty="0">
                <a:latin typeface="Calibri"/>
                <a:cs typeface="Calibri"/>
              </a:rPr>
              <a:t>StringDemo</a:t>
            </a:r>
            <a:endParaRPr sz="1800">
              <a:latin typeface="Calibri"/>
              <a:cs typeface="Calibri"/>
            </a:endParaRPr>
          </a:p>
          <a:p>
            <a:pPr marL="12700">
              <a:lnSpc>
                <a:spcPct val="100000"/>
              </a:lnSpc>
            </a:pPr>
            <a:r>
              <a:rPr sz="1800" dirty="0">
                <a:latin typeface="Calibri"/>
                <a:cs typeface="Calibri"/>
              </a:rPr>
              <a:t>{</a:t>
            </a:r>
            <a:endParaRPr sz="1800">
              <a:latin typeface="Calibri"/>
              <a:cs typeface="Calibri"/>
            </a:endParaRPr>
          </a:p>
          <a:p>
            <a:pPr marL="927100">
              <a:lnSpc>
                <a:spcPct val="100000"/>
              </a:lnSpc>
            </a:pPr>
            <a:r>
              <a:rPr sz="1800" spc="-5" dirty="0">
                <a:latin typeface="Calibri"/>
                <a:cs typeface="Calibri"/>
              </a:rPr>
              <a:t>public </a:t>
            </a:r>
            <a:r>
              <a:rPr sz="1800" spc="-15" dirty="0">
                <a:latin typeface="Calibri"/>
                <a:cs typeface="Calibri"/>
              </a:rPr>
              <a:t>static </a:t>
            </a:r>
            <a:r>
              <a:rPr sz="1800" spc="-10" dirty="0">
                <a:latin typeface="Calibri"/>
                <a:cs typeface="Calibri"/>
              </a:rPr>
              <a:t>void </a:t>
            </a:r>
            <a:r>
              <a:rPr sz="1800" spc="-5" dirty="0">
                <a:latin typeface="Calibri"/>
                <a:cs typeface="Calibri"/>
              </a:rPr>
              <a:t>main(String[]</a:t>
            </a:r>
            <a:r>
              <a:rPr sz="1800" spc="50" dirty="0">
                <a:latin typeface="Calibri"/>
                <a:cs typeface="Calibri"/>
              </a:rPr>
              <a:t> </a:t>
            </a:r>
            <a:r>
              <a:rPr sz="1800" spc="-5" dirty="0">
                <a:latin typeface="Calibri"/>
                <a:cs typeface="Calibri"/>
              </a:rPr>
              <a:t>args)</a:t>
            </a:r>
            <a:endParaRPr sz="1800">
              <a:latin typeface="Calibri"/>
              <a:cs typeface="Calibri"/>
            </a:endParaRPr>
          </a:p>
          <a:p>
            <a:pPr marL="927100">
              <a:lnSpc>
                <a:spcPct val="100000"/>
              </a:lnSpc>
            </a:pPr>
            <a:r>
              <a:rPr sz="1800" dirty="0">
                <a:latin typeface="Calibri"/>
                <a:cs typeface="Calibri"/>
              </a:rPr>
              <a:t>{</a:t>
            </a:r>
            <a:endParaRPr sz="1800">
              <a:latin typeface="Calibri"/>
              <a:cs typeface="Calibri"/>
            </a:endParaRPr>
          </a:p>
        </p:txBody>
      </p:sp>
      <p:graphicFrame>
        <p:nvGraphicFramePr>
          <p:cNvPr id="4" name="object 4"/>
          <p:cNvGraphicFramePr>
            <a:graphicFrameLocks noGrp="1"/>
          </p:cNvGraphicFramePr>
          <p:nvPr/>
        </p:nvGraphicFramePr>
        <p:xfrm>
          <a:off x="1996439" y="2786888"/>
          <a:ext cx="4403090" cy="1325954"/>
        </p:xfrm>
        <a:graphic>
          <a:graphicData uri="http://schemas.openxmlformats.org/drawingml/2006/table">
            <a:tbl>
              <a:tblPr firstRow="1" bandRow="1">
                <a:tableStyleId>{2D5ABB26-0587-4C30-8999-92F81FD0307C}</a:tableStyleId>
              </a:tblPr>
              <a:tblGrid>
                <a:gridCol w="767080">
                  <a:extLst>
                    <a:ext uri="{9D8B030D-6E8A-4147-A177-3AD203B41FA5}">
                      <a16:colId xmlns:a16="http://schemas.microsoft.com/office/drawing/2014/main" val="20000"/>
                    </a:ext>
                  </a:extLst>
                </a:gridCol>
                <a:gridCol w="843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878330">
                  <a:extLst>
                    <a:ext uri="{9D8B030D-6E8A-4147-A177-3AD203B41FA5}">
                      <a16:colId xmlns:a16="http://schemas.microsoft.com/office/drawing/2014/main" val="20003"/>
                    </a:ext>
                  </a:extLst>
                </a:gridCol>
              </a:tblGrid>
              <a:tr h="388619">
                <a:tc>
                  <a:txBody>
                    <a:bodyPr/>
                    <a:lstStyle/>
                    <a:p>
                      <a:pPr marL="31750">
                        <a:lnSpc>
                          <a:spcPts val="1710"/>
                        </a:lnSpc>
                      </a:pPr>
                      <a:r>
                        <a:rPr sz="1800" b="1" dirty="0">
                          <a:solidFill>
                            <a:srgbClr val="FF0000"/>
                          </a:solidFill>
                          <a:latin typeface="Calibri"/>
                          <a:cs typeface="Calibri"/>
                        </a:rPr>
                        <a:t>String</a:t>
                      </a:r>
                      <a:endParaRPr sz="1800">
                        <a:latin typeface="Calibri"/>
                        <a:cs typeface="Calibri"/>
                      </a:endParaRPr>
                    </a:p>
                  </a:txBody>
                  <a:tcPr marL="0" marR="0" marT="0" marB="0"/>
                </a:tc>
                <a:tc>
                  <a:txBody>
                    <a:bodyPr/>
                    <a:lstStyle/>
                    <a:p>
                      <a:pPr marL="178435">
                        <a:lnSpc>
                          <a:spcPts val="1710"/>
                        </a:lnSpc>
                      </a:pPr>
                      <a:r>
                        <a:rPr sz="1800" b="1" spc="-10" dirty="0">
                          <a:solidFill>
                            <a:srgbClr val="FF0000"/>
                          </a:solidFill>
                          <a:latin typeface="Calibri"/>
                          <a:cs typeface="Calibri"/>
                        </a:rPr>
                        <a:t>str</a:t>
                      </a:r>
                      <a:r>
                        <a:rPr sz="1800" b="1" spc="-25" dirty="0">
                          <a:solidFill>
                            <a:srgbClr val="FF0000"/>
                          </a:solidFill>
                          <a:latin typeface="Calibri"/>
                          <a:cs typeface="Calibri"/>
                        </a:rPr>
                        <a:t> </a:t>
                      </a:r>
                      <a:r>
                        <a:rPr sz="1800" b="1" dirty="0">
                          <a:solidFill>
                            <a:srgbClr val="FF0000"/>
                          </a:solidFill>
                          <a:latin typeface="Calibri"/>
                          <a:cs typeface="Calibri"/>
                        </a:rPr>
                        <a:t>=</a:t>
                      </a:r>
                      <a:endParaRPr sz="1800">
                        <a:latin typeface="Calibri"/>
                        <a:cs typeface="Calibri"/>
                      </a:endParaRPr>
                    </a:p>
                  </a:txBody>
                  <a:tcPr marL="0" marR="0" marT="0" marB="0"/>
                </a:tc>
                <a:tc>
                  <a:txBody>
                    <a:bodyPr/>
                    <a:lstStyle/>
                    <a:p>
                      <a:pPr algn="ctr">
                        <a:lnSpc>
                          <a:spcPts val="1710"/>
                        </a:lnSpc>
                      </a:pPr>
                      <a:r>
                        <a:rPr sz="1800" b="1" spc="-5" dirty="0">
                          <a:solidFill>
                            <a:srgbClr val="FF0000"/>
                          </a:solidFill>
                          <a:latin typeface="Calibri"/>
                          <a:cs typeface="Calibri"/>
                        </a:rPr>
                        <a:t>new</a:t>
                      </a:r>
                      <a:endParaRPr sz="1800">
                        <a:latin typeface="Calibri"/>
                        <a:cs typeface="Calibri"/>
                      </a:endParaRPr>
                    </a:p>
                  </a:txBody>
                  <a:tcPr marL="0" marR="0" marT="0" marB="0"/>
                </a:tc>
                <a:tc>
                  <a:txBody>
                    <a:bodyPr/>
                    <a:lstStyle/>
                    <a:p>
                      <a:pPr marL="249554">
                        <a:lnSpc>
                          <a:spcPts val="1710"/>
                        </a:lnSpc>
                      </a:pPr>
                      <a:r>
                        <a:rPr sz="1800" b="1" spc="-5" dirty="0">
                          <a:solidFill>
                            <a:srgbClr val="FF0000"/>
                          </a:solidFill>
                          <a:latin typeface="Calibri"/>
                          <a:cs typeface="Calibri"/>
                        </a:rPr>
                        <a:t>String("Object");</a:t>
                      </a:r>
                      <a:endParaRPr sz="1800">
                        <a:latin typeface="Calibri"/>
                        <a:cs typeface="Calibri"/>
                      </a:endParaRPr>
                    </a:p>
                  </a:txBody>
                  <a:tcPr marL="0" marR="0" marT="0" marB="0"/>
                </a:tc>
                <a:extLst>
                  <a:ext uri="{0D108BD9-81ED-4DB2-BD59-A6C34878D82A}">
                    <a16:rowId xmlns:a16="http://schemas.microsoft.com/office/drawing/2014/main" val="10000"/>
                  </a:ext>
                </a:extLst>
              </a:tr>
              <a:tr h="548525">
                <a:tc>
                  <a:txBody>
                    <a:bodyPr/>
                    <a:lstStyle/>
                    <a:p>
                      <a:pPr marL="31750">
                        <a:lnSpc>
                          <a:spcPct val="100000"/>
                        </a:lnSpc>
                        <a:spcBef>
                          <a:spcPts val="810"/>
                        </a:spcBef>
                      </a:pPr>
                      <a:r>
                        <a:rPr sz="1800" b="1" spc="-10" dirty="0">
                          <a:solidFill>
                            <a:srgbClr val="FF0000"/>
                          </a:solidFill>
                          <a:latin typeface="Calibri"/>
                          <a:cs typeface="Calibri"/>
                        </a:rPr>
                        <a:t>str</a:t>
                      </a:r>
                      <a:endParaRPr sz="1800">
                        <a:latin typeface="Calibri"/>
                        <a:cs typeface="Calibri"/>
                      </a:endParaRPr>
                    </a:p>
                  </a:txBody>
                  <a:tcPr marL="0" marR="0" marT="102870" marB="0"/>
                </a:tc>
                <a:tc>
                  <a:txBody>
                    <a:bodyPr/>
                    <a:lstStyle/>
                    <a:p>
                      <a:pPr marL="152400" algn="ctr">
                        <a:lnSpc>
                          <a:spcPct val="100000"/>
                        </a:lnSpc>
                        <a:spcBef>
                          <a:spcPts val="810"/>
                        </a:spcBef>
                      </a:pPr>
                      <a:r>
                        <a:rPr sz="1800" b="1" dirty="0">
                          <a:solidFill>
                            <a:srgbClr val="FF0000"/>
                          </a:solidFill>
                          <a:latin typeface="Calibri"/>
                          <a:cs typeface="Calibri"/>
                        </a:rPr>
                        <a:t>=</a:t>
                      </a:r>
                      <a:endParaRPr sz="1800">
                        <a:latin typeface="Calibri"/>
                        <a:cs typeface="Calibri"/>
                      </a:endParaRPr>
                    </a:p>
                  </a:txBody>
                  <a:tcPr marL="0" marR="0" marT="102870" marB="0"/>
                </a:tc>
                <a:tc>
                  <a:txBody>
                    <a:bodyPr/>
                    <a:lstStyle/>
                    <a:p>
                      <a:pPr algn="ctr">
                        <a:lnSpc>
                          <a:spcPct val="100000"/>
                        </a:lnSpc>
                        <a:spcBef>
                          <a:spcPts val="810"/>
                        </a:spcBef>
                      </a:pPr>
                      <a:r>
                        <a:rPr sz="1800" b="1" spc="-10" dirty="0">
                          <a:solidFill>
                            <a:srgbClr val="FF0000"/>
                          </a:solidFill>
                          <a:latin typeface="Calibri"/>
                          <a:cs typeface="Calibri"/>
                        </a:rPr>
                        <a:t>str</a:t>
                      </a:r>
                      <a:r>
                        <a:rPr sz="1800" b="1" spc="-25" dirty="0">
                          <a:solidFill>
                            <a:srgbClr val="FF0000"/>
                          </a:solidFill>
                          <a:latin typeface="Calibri"/>
                          <a:cs typeface="Calibri"/>
                        </a:rPr>
                        <a:t> </a:t>
                      </a:r>
                      <a:r>
                        <a:rPr sz="1800" b="1" dirty="0">
                          <a:solidFill>
                            <a:srgbClr val="FF0000"/>
                          </a:solidFill>
                          <a:latin typeface="Calibri"/>
                          <a:cs typeface="Calibri"/>
                        </a:rPr>
                        <a:t>+</a:t>
                      </a:r>
                      <a:endParaRPr sz="1800">
                        <a:latin typeface="Calibri"/>
                        <a:cs typeface="Calibri"/>
                      </a:endParaRPr>
                    </a:p>
                  </a:txBody>
                  <a:tcPr marL="0" marR="0" marT="102870" marB="0"/>
                </a:tc>
                <a:tc>
                  <a:txBody>
                    <a:bodyPr/>
                    <a:lstStyle/>
                    <a:p>
                      <a:pPr marL="249554">
                        <a:lnSpc>
                          <a:spcPct val="100000"/>
                        </a:lnSpc>
                        <a:spcBef>
                          <a:spcPts val="810"/>
                        </a:spcBef>
                      </a:pPr>
                      <a:r>
                        <a:rPr sz="1800" b="1" dirty="0">
                          <a:solidFill>
                            <a:srgbClr val="FF0000"/>
                          </a:solidFill>
                          <a:latin typeface="Calibri"/>
                          <a:cs typeface="Calibri"/>
                        </a:rPr>
                        <a:t>"</a:t>
                      </a:r>
                      <a:r>
                        <a:rPr sz="1800" b="1" spc="-15" dirty="0">
                          <a:solidFill>
                            <a:srgbClr val="FF0000"/>
                          </a:solidFill>
                          <a:latin typeface="Calibri"/>
                          <a:cs typeface="Calibri"/>
                        </a:rPr>
                        <a:t> </a:t>
                      </a:r>
                      <a:r>
                        <a:rPr sz="1800" b="1" spc="-10" dirty="0">
                          <a:solidFill>
                            <a:srgbClr val="FF0000"/>
                          </a:solidFill>
                          <a:latin typeface="Calibri"/>
                          <a:cs typeface="Calibri"/>
                        </a:rPr>
                        <a:t>Oriented";</a:t>
                      </a:r>
                      <a:endParaRPr sz="1800">
                        <a:latin typeface="Calibri"/>
                        <a:cs typeface="Calibri"/>
                      </a:endParaRPr>
                    </a:p>
                  </a:txBody>
                  <a:tcPr marL="0" marR="0" marT="102870" marB="0"/>
                </a:tc>
                <a:extLst>
                  <a:ext uri="{0D108BD9-81ED-4DB2-BD59-A6C34878D82A}">
                    <a16:rowId xmlns:a16="http://schemas.microsoft.com/office/drawing/2014/main" val="10001"/>
                  </a:ext>
                </a:extLst>
              </a:tr>
              <a:tr h="388810">
                <a:tc>
                  <a:txBody>
                    <a:bodyPr/>
                    <a:lstStyle/>
                    <a:p>
                      <a:pPr marL="31750">
                        <a:lnSpc>
                          <a:spcPts val="2150"/>
                        </a:lnSpc>
                        <a:spcBef>
                          <a:spcPts val="810"/>
                        </a:spcBef>
                      </a:pPr>
                      <a:r>
                        <a:rPr sz="1800" b="1" spc="-10" dirty="0">
                          <a:solidFill>
                            <a:srgbClr val="FF0000"/>
                          </a:solidFill>
                          <a:latin typeface="Calibri"/>
                          <a:cs typeface="Calibri"/>
                        </a:rPr>
                        <a:t>str</a:t>
                      </a:r>
                      <a:endParaRPr sz="1800">
                        <a:latin typeface="Calibri"/>
                        <a:cs typeface="Calibri"/>
                      </a:endParaRPr>
                    </a:p>
                  </a:txBody>
                  <a:tcPr marL="0" marR="0" marT="102870" marB="0"/>
                </a:tc>
                <a:tc>
                  <a:txBody>
                    <a:bodyPr/>
                    <a:lstStyle/>
                    <a:p>
                      <a:pPr marL="152400" algn="ctr">
                        <a:lnSpc>
                          <a:spcPts val="2150"/>
                        </a:lnSpc>
                        <a:spcBef>
                          <a:spcPts val="810"/>
                        </a:spcBef>
                      </a:pPr>
                      <a:r>
                        <a:rPr sz="1800" b="1" dirty="0">
                          <a:solidFill>
                            <a:srgbClr val="FF0000"/>
                          </a:solidFill>
                          <a:latin typeface="Calibri"/>
                          <a:cs typeface="Calibri"/>
                        </a:rPr>
                        <a:t>=</a:t>
                      </a:r>
                      <a:endParaRPr sz="1800">
                        <a:latin typeface="Calibri"/>
                        <a:cs typeface="Calibri"/>
                      </a:endParaRPr>
                    </a:p>
                  </a:txBody>
                  <a:tcPr marL="0" marR="0" marT="102870" marB="0"/>
                </a:tc>
                <a:tc>
                  <a:txBody>
                    <a:bodyPr/>
                    <a:lstStyle/>
                    <a:p>
                      <a:pPr algn="ctr">
                        <a:lnSpc>
                          <a:spcPts val="2150"/>
                        </a:lnSpc>
                        <a:spcBef>
                          <a:spcPts val="810"/>
                        </a:spcBef>
                      </a:pPr>
                      <a:r>
                        <a:rPr sz="1800" b="1" spc="-10" dirty="0">
                          <a:solidFill>
                            <a:srgbClr val="FF0000"/>
                          </a:solidFill>
                          <a:latin typeface="Calibri"/>
                          <a:cs typeface="Calibri"/>
                        </a:rPr>
                        <a:t>str</a:t>
                      </a:r>
                      <a:r>
                        <a:rPr sz="1800" b="1" spc="-25" dirty="0">
                          <a:solidFill>
                            <a:srgbClr val="FF0000"/>
                          </a:solidFill>
                          <a:latin typeface="Calibri"/>
                          <a:cs typeface="Calibri"/>
                        </a:rPr>
                        <a:t> </a:t>
                      </a:r>
                      <a:r>
                        <a:rPr sz="1800" b="1" dirty="0">
                          <a:solidFill>
                            <a:srgbClr val="FF0000"/>
                          </a:solidFill>
                          <a:latin typeface="Calibri"/>
                          <a:cs typeface="Calibri"/>
                        </a:rPr>
                        <a:t>+</a:t>
                      </a:r>
                      <a:endParaRPr sz="1800">
                        <a:latin typeface="Calibri"/>
                        <a:cs typeface="Calibri"/>
                      </a:endParaRPr>
                    </a:p>
                  </a:txBody>
                  <a:tcPr marL="0" marR="0" marT="102870" marB="0"/>
                </a:tc>
                <a:tc>
                  <a:txBody>
                    <a:bodyPr/>
                    <a:lstStyle/>
                    <a:p>
                      <a:pPr marL="249554">
                        <a:lnSpc>
                          <a:spcPts val="2150"/>
                        </a:lnSpc>
                        <a:spcBef>
                          <a:spcPts val="810"/>
                        </a:spcBef>
                      </a:pPr>
                      <a:r>
                        <a:rPr sz="1800" b="1" dirty="0">
                          <a:solidFill>
                            <a:srgbClr val="FF0000"/>
                          </a:solidFill>
                          <a:latin typeface="Calibri"/>
                          <a:cs typeface="Calibri"/>
                        </a:rPr>
                        <a:t>"</a:t>
                      </a:r>
                      <a:r>
                        <a:rPr sz="1800" b="1" spc="-65" dirty="0">
                          <a:solidFill>
                            <a:srgbClr val="FF0000"/>
                          </a:solidFill>
                          <a:latin typeface="Calibri"/>
                          <a:cs typeface="Calibri"/>
                        </a:rPr>
                        <a:t> </a:t>
                      </a:r>
                      <a:r>
                        <a:rPr sz="1800" b="1" spc="-5" dirty="0">
                          <a:solidFill>
                            <a:srgbClr val="FF0000"/>
                          </a:solidFill>
                          <a:latin typeface="Calibri"/>
                          <a:cs typeface="Calibri"/>
                        </a:rPr>
                        <a:t>Programming";</a:t>
                      </a:r>
                      <a:endParaRPr sz="1800">
                        <a:latin typeface="Calibri"/>
                        <a:cs typeface="Calibri"/>
                      </a:endParaRPr>
                    </a:p>
                  </a:txBody>
                  <a:tcPr marL="0" marR="0" marT="102870" marB="0"/>
                </a:tc>
                <a:extLst>
                  <a:ext uri="{0D108BD9-81ED-4DB2-BD59-A6C34878D82A}">
                    <a16:rowId xmlns:a16="http://schemas.microsoft.com/office/drawing/2014/main" val="10002"/>
                  </a:ext>
                </a:extLst>
              </a:tr>
            </a:tbl>
          </a:graphicData>
        </a:graphic>
      </p:graphicFrame>
      <p:sp>
        <p:nvSpPr>
          <p:cNvPr id="5" name="object 5"/>
          <p:cNvSpPr txBox="1"/>
          <p:nvPr/>
        </p:nvSpPr>
        <p:spPr>
          <a:xfrm>
            <a:off x="2015489" y="4363339"/>
            <a:ext cx="224091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System.out.println(str);</a:t>
            </a:r>
            <a:endParaRPr sz="1800">
              <a:latin typeface="Calibri"/>
              <a:cs typeface="Calibri"/>
            </a:endParaRPr>
          </a:p>
        </p:txBody>
      </p:sp>
      <p:sp>
        <p:nvSpPr>
          <p:cNvPr id="6" name="object 6"/>
          <p:cNvSpPr txBox="1"/>
          <p:nvPr/>
        </p:nvSpPr>
        <p:spPr>
          <a:xfrm>
            <a:off x="186334" y="4911979"/>
            <a:ext cx="2633345" cy="574675"/>
          </a:xfrm>
          <a:prstGeom prst="rect">
            <a:avLst/>
          </a:prstGeom>
        </p:spPr>
        <p:txBody>
          <a:bodyPr vert="horz" wrap="square" lIns="0" tIns="12700" rIns="0" bIns="0" rtlCol="0">
            <a:spAutoFit/>
          </a:bodyPr>
          <a:lstStyle/>
          <a:p>
            <a:pPr marL="927100">
              <a:lnSpc>
                <a:spcPct val="100000"/>
              </a:lnSpc>
              <a:spcBef>
                <a:spcPts val="100"/>
              </a:spcBef>
            </a:pPr>
            <a:r>
              <a:rPr sz="1800" spc="-5" dirty="0">
                <a:latin typeface="Calibri"/>
                <a:cs typeface="Calibri"/>
              </a:rPr>
              <a:t>}// End of</a:t>
            </a:r>
            <a:r>
              <a:rPr sz="1800" spc="-35" dirty="0">
                <a:latin typeface="Calibri"/>
                <a:cs typeface="Calibri"/>
              </a:rPr>
              <a:t> </a:t>
            </a:r>
            <a:r>
              <a:rPr sz="1800" spc="-5" dirty="0">
                <a:latin typeface="Calibri"/>
                <a:cs typeface="Calibri"/>
              </a:rPr>
              <a:t>Method</a:t>
            </a:r>
            <a:endParaRPr sz="1800" dirty="0">
              <a:latin typeface="Calibri"/>
              <a:cs typeface="Calibri"/>
            </a:endParaRPr>
          </a:p>
          <a:p>
            <a:pPr marL="12700">
              <a:lnSpc>
                <a:spcPct val="100000"/>
              </a:lnSpc>
            </a:pPr>
            <a:r>
              <a:rPr sz="1800" spc="-5" dirty="0">
                <a:latin typeface="Calibri"/>
                <a:cs typeface="Calibri"/>
              </a:rPr>
              <a:t>}// End of class</a:t>
            </a:r>
            <a:r>
              <a:rPr sz="1800" dirty="0">
                <a:latin typeface="Calibri"/>
                <a:cs typeface="Calibri"/>
              </a:rPr>
              <a:t> </a:t>
            </a:r>
            <a:r>
              <a:rPr sz="1800" spc="-5" dirty="0">
                <a:latin typeface="Calibri"/>
                <a:cs typeface="Calibri"/>
              </a:rPr>
              <a:t>StringDemo</a:t>
            </a:r>
            <a:endParaRPr sz="1800" dirty="0">
              <a:latin typeface="Calibri"/>
              <a:cs typeface="Calibri"/>
            </a:endParaRPr>
          </a:p>
        </p:txBody>
      </p:sp>
      <p:sp>
        <p:nvSpPr>
          <p:cNvPr id="7" name="object 7"/>
          <p:cNvSpPr txBox="1"/>
          <p:nvPr/>
        </p:nvSpPr>
        <p:spPr>
          <a:xfrm>
            <a:off x="7669530" y="2702814"/>
            <a:ext cx="1224280" cy="368935"/>
          </a:xfrm>
          <a:prstGeom prst="rect">
            <a:avLst/>
          </a:prstGeom>
          <a:ln w="25907">
            <a:solidFill>
              <a:srgbClr val="385D89"/>
            </a:solidFill>
          </a:ln>
        </p:spPr>
        <p:txBody>
          <a:bodyPr vert="horz" wrap="square" lIns="0" tIns="83820" rIns="0" bIns="0" rtlCol="0">
            <a:spAutoFit/>
          </a:bodyPr>
          <a:lstStyle/>
          <a:p>
            <a:pPr marL="401320">
              <a:lnSpc>
                <a:spcPct val="100000"/>
              </a:lnSpc>
              <a:spcBef>
                <a:spcPts val="660"/>
              </a:spcBef>
            </a:pPr>
            <a:r>
              <a:rPr sz="1200" b="1" spc="-5" dirty="0">
                <a:latin typeface="Calibri"/>
                <a:cs typeface="Calibri"/>
              </a:rPr>
              <a:t>Object</a:t>
            </a:r>
            <a:endParaRPr sz="1200">
              <a:latin typeface="Calibri"/>
              <a:cs typeface="Calibri"/>
            </a:endParaRPr>
          </a:p>
        </p:txBody>
      </p:sp>
      <p:sp>
        <p:nvSpPr>
          <p:cNvPr id="8" name="object 8"/>
          <p:cNvSpPr txBox="1"/>
          <p:nvPr/>
        </p:nvSpPr>
        <p:spPr>
          <a:xfrm>
            <a:off x="7927593" y="2295271"/>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a:cs typeface="Calibri"/>
              </a:rPr>
              <a:t>:String</a:t>
            </a:r>
            <a:endParaRPr sz="1800">
              <a:latin typeface="Calibri"/>
              <a:cs typeface="Calibri"/>
            </a:endParaRPr>
          </a:p>
        </p:txBody>
      </p:sp>
      <p:sp>
        <p:nvSpPr>
          <p:cNvPr id="9" name="object 9"/>
          <p:cNvSpPr txBox="1"/>
          <p:nvPr/>
        </p:nvSpPr>
        <p:spPr>
          <a:xfrm>
            <a:off x="7669530" y="3422141"/>
            <a:ext cx="1224280" cy="370840"/>
          </a:xfrm>
          <a:prstGeom prst="rect">
            <a:avLst/>
          </a:prstGeom>
          <a:ln w="25907">
            <a:solidFill>
              <a:srgbClr val="385D89"/>
            </a:solidFill>
          </a:ln>
        </p:spPr>
        <p:txBody>
          <a:bodyPr vert="horz" wrap="square" lIns="0" tIns="84455" rIns="0" bIns="0" rtlCol="0">
            <a:spAutoFit/>
          </a:bodyPr>
          <a:lstStyle/>
          <a:p>
            <a:pPr marL="102870">
              <a:lnSpc>
                <a:spcPct val="100000"/>
              </a:lnSpc>
              <a:spcBef>
                <a:spcPts val="665"/>
              </a:spcBef>
            </a:pPr>
            <a:r>
              <a:rPr sz="1200" b="1" spc="-5" dirty="0">
                <a:latin typeface="Calibri"/>
                <a:cs typeface="Calibri"/>
              </a:rPr>
              <a:t>Object</a:t>
            </a:r>
            <a:r>
              <a:rPr sz="1200" b="1" spc="-25" dirty="0">
                <a:latin typeface="Calibri"/>
                <a:cs typeface="Calibri"/>
              </a:rPr>
              <a:t> </a:t>
            </a:r>
            <a:r>
              <a:rPr sz="1200" b="1" spc="-5" dirty="0">
                <a:latin typeface="Calibri"/>
                <a:cs typeface="Calibri"/>
              </a:rPr>
              <a:t>Oriented</a:t>
            </a:r>
            <a:endParaRPr sz="1200">
              <a:latin typeface="Calibri"/>
              <a:cs typeface="Calibri"/>
            </a:endParaRPr>
          </a:p>
        </p:txBody>
      </p:sp>
      <p:sp>
        <p:nvSpPr>
          <p:cNvPr id="10" name="object 10"/>
          <p:cNvSpPr txBox="1"/>
          <p:nvPr/>
        </p:nvSpPr>
        <p:spPr>
          <a:xfrm>
            <a:off x="7927593" y="3015488"/>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a:cs typeface="Calibri"/>
              </a:rPr>
              <a:t>:String</a:t>
            </a:r>
            <a:endParaRPr sz="1800">
              <a:latin typeface="Calibri"/>
              <a:cs typeface="Calibri"/>
            </a:endParaRPr>
          </a:p>
        </p:txBody>
      </p:sp>
      <p:sp>
        <p:nvSpPr>
          <p:cNvPr id="11" name="object 11"/>
          <p:cNvSpPr txBox="1"/>
          <p:nvPr/>
        </p:nvSpPr>
        <p:spPr>
          <a:xfrm>
            <a:off x="5803772" y="4948554"/>
            <a:ext cx="274955" cy="299720"/>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Calibri"/>
                <a:cs typeface="Calibri"/>
              </a:rPr>
              <a:t>s</a:t>
            </a:r>
            <a:r>
              <a:rPr sz="1800" b="1" dirty="0">
                <a:latin typeface="Calibri"/>
                <a:cs typeface="Calibri"/>
              </a:rPr>
              <a:t>tr</a:t>
            </a:r>
            <a:endParaRPr sz="1800">
              <a:latin typeface="Calibri"/>
              <a:cs typeface="Calibri"/>
            </a:endParaRPr>
          </a:p>
        </p:txBody>
      </p:sp>
      <p:sp>
        <p:nvSpPr>
          <p:cNvPr id="12" name="object 12"/>
          <p:cNvSpPr/>
          <p:nvPr/>
        </p:nvSpPr>
        <p:spPr>
          <a:xfrm>
            <a:off x="6153150" y="5106923"/>
            <a:ext cx="507365" cy="78105"/>
          </a:xfrm>
          <a:custGeom>
            <a:avLst/>
            <a:gdLst/>
            <a:ahLst/>
            <a:cxnLst/>
            <a:rect l="l" t="t" r="r" b="b"/>
            <a:pathLst>
              <a:path w="507365" h="78104">
                <a:moveTo>
                  <a:pt x="429386" y="0"/>
                </a:moveTo>
                <a:lnTo>
                  <a:pt x="429386" y="77724"/>
                </a:lnTo>
                <a:lnTo>
                  <a:pt x="481202" y="51815"/>
                </a:lnTo>
                <a:lnTo>
                  <a:pt x="442341" y="51815"/>
                </a:lnTo>
                <a:lnTo>
                  <a:pt x="442341" y="25907"/>
                </a:lnTo>
                <a:lnTo>
                  <a:pt x="481202" y="25907"/>
                </a:lnTo>
                <a:lnTo>
                  <a:pt x="429386" y="0"/>
                </a:lnTo>
                <a:close/>
              </a:path>
              <a:path w="507365" h="78104">
                <a:moveTo>
                  <a:pt x="429386" y="25907"/>
                </a:moveTo>
                <a:lnTo>
                  <a:pt x="0" y="25907"/>
                </a:lnTo>
                <a:lnTo>
                  <a:pt x="0" y="51815"/>
                </a:lnTo>
                <a:lnTo>
                  <a:pt x="429386" y="51815"/>
                </a:lnTo>
                <a:lnTo>
                  <a:pt x="429386" y="25907"/>
                </a:lnTo>
                <a:close/>
              </a:path>
              <a:path w="507365" h="78104">
                <a:moveTo>
                  <a:pt x="481202" y="25907"/>
                </a:moveTo>
                <a:lnTo>
                  <a:pt x="442341" y="25907"/>
                </a:lnTo>
                <a:lnTo>
                  <a:pt x="442341" y="51815"/>
                </a:lnTo>
                <a:lnTo>
                  <a:pt x="481202" y="51815"/>
                </a:lnTo>
                <a:lnTo>
                  <a:pt x="507110" y="38862"/>
                </a:lnTo>
                <a:lnTo>
                  <a:pt x="481202" y="25907"/>
                </a:lnTo>
                <a:close/>
              </a:path>
            </a:pathLst>
          </a:custGeom>
          <a:solidFill>
            <a:srgbClr val="FF0000"/>
          </a:solidFill>
        </p:spPr>
        <p:txBody>
          <a:bodyPr wrap="square" lIns="0" tIns="0" rIns="0" bIns="0" rtlCol="0"/>
          <a:lstStyle/>
          <a:p>
            <a:endParaRPr/>
          </a:p>
        </p:txBody>
      </p:sp>
      <p:sp>
        <p:nvSpPr>
          <p:cNvPr id="13" name="object 13"/>
          <p:cNvSpPr txBox="1"/>
          <p:nvPr/>
        </p:nvSpPr>
        <p:spPr>
          <a:xfrm>
            <a:off x="6660642" y="4932426"/>
            <a:ext cx="2232660" cy="368935"/>
          </a:xfrm>
          <a:prstGeom prst="rect">
            <a:avLst/>
          </a:prstGeom>
          <a:ln w="25907">
            <a:solidFill>
              <a:srgbClr val="385D89"/>
            </a:solidFill>
          </a:ln>
        </p:spPr>
        <p:txBody>
          <a:bodyPr vert="horz" wrap="square" lIns="0" tIns="84455" rIns="0" bIns="0" rtlCol="0">
            <a:spAutoFit/>
          </a:bodyPr>
          <a:lstStyle/>
          <a:p>
            <a:pPr marL="165735">
              <a:lnSpc>
                <a:spcPct val="100000"/>
              </a:lnSpc>
              <a:spcBef>
                <a:spcPts val="665"/>
              </a:spcBef>
            </a:pPr>
            <a:r>
              <a:rPr sz="1200" b="1" spc="-5" dirty="0">
                <a:latin typeface="Calibri"/>
                <a:cs typeface="Calibri"/>
              </a:rPr>
              <a:t>Object Oriented</a:t>
            </a:r>
            <a:r>
              <a:rPr sz="1200" b="1" spc="-40" dirty="0">
                <a:latin typeface="Calibri"/>
                <a:cs typeface="Calibri"/>
              </a:rPr>
              <a:t> </a:t>
            </a:r>
            <a:r>
              <a:rPr sz="1200" b="1" spc="-5" dirty="0">
                <a:latin typeface="Calibri"/>
                <a:cs typeface="Calibri"/>
              </a:rPr>
              <a:t>Programming</a:t>
            </a:r>
            <a:endParaRPr sz="1200">
              <a:latin typeface="Calibri"/>
              <a:cs typeface="Calibri"/>
            </a:endParaRPr>
          </a:p>
        </p:txBody>
      </p:sp>
      <p:sp>
        <p:nvSpPr>
          <p:cNvPr id="14" name="object 14"/>
          <p:cNvSpPr txBox="1"/>
          <p:nvPr/>
        </p:nvSpPr>
        <p:spPr>
          <a:xfrm>
            <a:off x="7571993" y="4579111"/>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a:cs typeface="Calibri"/>
              </a:rPr>
              <a:t>:String</a:t>
            </a:r>
            <a:endParaRPr sz="1800">
              <a:latin typeface="Calibri"/>
              <a:cs typeface="Calibri"/>
            </a:endParaRPr>
          </a:p>
        </p:txBody>
      </p:sp>
      <p:sp>
        <p:nvSpPr>
          <p:cNvPr id="15" name="object 15"/>
          <p:cNvSpPr/>
          <p:nvPr/>
        </p:nvSpPr>
        <p:spPr>
          <a:xfrm>
            <a:off x="4272407" y="4588636"/>
            <a:ext cx="386080" cy="1146175"/>
          </a:xfrm>
          <a:custGeom>
            <a:avLst/>
            <a:gdLst/>
            <a:ahLst/>
            <a:cxnLst/>
            <a:rect l="l" t="t" r="r" b="b"/>
            <a:pathLst>
              <a:path w="386079" h="1146175">
                <a:moveTo>
                  <a:pt x="336596" y="1075630"/>
                </a:moveTo>
                <a:lnTo>
                  <a:pt x="311912" y="1083411"/>
                </a:lnTo>
                <a:lnTo>
                  <a:pt x="372363" y="1145844"/>
                </a:lnTo>
                <a:lnTo>
                  <a:pt x="381614" y="1087970"/>
                </a:lnTo>
                <a:lnTo>
                  <a:pt x="340487" y="1087970"/>
                </a:lnTo>
                <a:lnTo>
                  <a:pt x="336596" y="1075630"/>
                </a:lnTo>
                <a:close/>
              </a:path>
              <a:path w="386079" h="1146175">
                <a:moveTo>
                  <a:pt x="361354" y="1067825"/>
                </a:moveTo>
                <a:lnTo>
                  <a:pt x="336596" y="1075630"/>
                </a:lnTo>
                <a:lnTo>
                  <a:pt x="340487" y="1087970"/>
                </a:lnTo>
                <a:lnTo>
                  <a:pt x="365251" y="1080185"/>
                </a:lnTo>
                <a:lnTo>
                  <a:pt x="361354" y="1067825"/>
                </a:lnTo>
                <a:close/>
              </a:path>
              <a:path w="386079" h="1146175">
                <a:moveTo>
                  <a:pt x="386079" y="1060030"/>
                </a:moveTo>
                <a:lnTo>
                  <a:pt x="361354" y="1067825"/>
                </a:lnTo>
                <a:lnTo>
                  <a:pt x="365251" y="1080185"/>
                </a:lnTo>
                <a:lnTo>
                  <a:pt x="340487" y="1087970"/>
                </a:lnTo>
                <a:lnTo>
                  <a:pt x="381614" y="1087970"/>
                </a:lnTo>
                <a:lnTo>
                  <a:pt x="386079" y="1060030"/>
                </a:lnTo>
                <a:close/>
              </a:path>
              <a:path w="386079" h="1146175">
                <a:moveTo>
                  <a:pt x="24637" y="0"/>
                </a:moveTo>
                <a:lnTo>
                  <a:pt x="0" y="7874"/>
                </a:lnTo>
                <a:lnTo>
                  <a:pt x="336596" y="1075630"/>
                </a:lnTo>
                <a:lnTo>
                  <a:pt x="361354" y="1067825"/>
                </a:lnTo>
                <a:lnTo>
                  <a:pt x="24637" y="0"/>
                </a:lnTo>
                <a:close/>
              </a:path>
            </a:pathLst>
          </a:custGeom>
          <a:solidFill>
            <a:srgbClr val="FF0000"/>
          </a:solidFill>
        </p:spPr>
        <p:txBody>
          <a:bodyPr wrap="square" lIns="0" tIns="0" rIns="0" bIns="0" rtlCol="0"/>
          <a:lstStyle/>
          <a:p>
            <a:endParaRPr/>
          </a:p>
        </p:txBody>
      </p:sp>
      <p:sp>
        <p:nvSpPr>
          <p:cNvPr id="16" name="object 16"/>
          <p:cNvSpPr txBox="1"/>
          <p:nvPr/>
        </p:nvSpPr>
        <p:spPr>
          <a:xfrm>
            <a:off x="918768" y="5593939"/>
            <a:ext cx="7445375" cy="885825"/>
          </a:xfrm>
          <a:prstGeom prst="rect">
            <a:avLst/>
          </a:prstGeom>
        </p:spPr>
        <p:txBody>
          <a:bodyPr vert="horz" wrap="square" lIns="0" tIns="44450" rIns="0" bIns="0" rtlCol="0">
            <a:spAutoFit/>
          </a:bodyPr>
          <a:lstStyle/>
          <a:p>
            <a:pPr marL="2465070">
              <a:lnSpc>
                <a:spcPct val="100000"/>
              </a:lnSpc>
              <a:spcBef>
                <a:spcPts val="350"/>
              </a:spcBef>
            </a:pPr>
            <a:r>
              <a:rPr sz="1600" b="1" spc="-10" dirty="0">
                <a:solidFill>
                  <a:srgbClr val="FF0000"/>
                </a:solidFill>
                <a:latin typeface="Calibri"/>
                <a:cs typeface="Calibri"/>
              </a:rPr>
              <a:t>Object Oriented</a:t>
            </a:r>
            <a:r>
              <a:rPr sz="1600" b="1" spc="40" dirty="0">
                <a:solidFill>
                  <a:srgbClr val="FF0000"/>
                </a:solidFill>
                <a:latin typeface="Calibri"/>
                <a:cs typeface="Calibri"/>
              </a:rPr>
              <a:t> </a:t>
            </a:r>
            <a:r>
              <a:rPr sz="1600" b="1" spc="-10" dirty="0">
                <a:solidFill>
                  <a:srgbClr val="FF0000"/>
                </a:solidFill>
                <a:latin typeface="Calibri"/>
                <a:cs typeface="Calibri"/>
              </a:rPr>
              <a:t>Programming</a:t>
            </a:r>
            <a:endParaRPr sz="1600">
              <a:latin typeface="Calibri"/>
              <a:cs typeface="Calibri"/>
            </a:endParaRPr>
          </a:p>
          <a:p>
            <a:pPr marL="12700" marR="5080">
              <a:lnSpc>
                <a:spcPct val="100000"/>
              </a:lnSpc>
              <a:spcBef>
                <a:spcPts val="284"/>
              </a:spcBef>
            </a:pPr>
            <a:r>
              <a:rPr sz="1800" b="1" u="heavy" spc="-10" dirty="0">
                <a:solidFill>
                  <a:srgbClr val="FF0000"/>
                </a:solidFill>
                <a:uFill>
                  <a:solidFill>
                    <a:srgbClr val="FF0000"/>
                  </a:solidFill>
                </a:uFill>
                <a:latin typeface="Calibri"/>
                <a:cs typeface="Calibri"/>
              </a:rPr>
              <a:t>Each </a:t>
            </a:r>
            <a:r>
              <a:rPr sz="1800" b="1" u="heavy" spc="-5" dirty="0">
                <a:solidFill>
                  <a:srgbClr val="FF0000"/>
                </a:solidFill>
                <a:uFill>
                  <a:solidFill>
                    <a:srgbClr val="FF0000"/>
                  </a:solidFill>
                </a:uFill>
                <a:latin typeface="Calibri"/>
                <a:cs typeface="Calibri"/>
              </a:rPr>
              <a:t>Time </a:t>
            </a:r>
            <a:r>
              <a:rPr sz="1800" b="1" u="heavy" spc="-50" dirty="0">
                <a:solidFill>
                  <a:srgbClr val="FF0000"/>
                </a:solidFill>
                <a:uFill>
                  <a:solidFill>
                    <a:srgbClr val="FF0000"/>
                  </a:solidFill>
                </a:uFill>
                <a:latin typeface="Calibri"/>
                <a:cs typeface="Calibri"/>
              </a:rPr>
              <a:t>You </a:t>
            </a:r>
            <a:r>
              <a:rPr sz="1800" b="1" u="heavy" spc="-10" dirty="0">
                <a:solidFill>
                  <a:srgbClr val="FF0000"/>
                </a:solidFill>
                <a:uFill>
                  <a:solidFill>
                    <a:srgbClr val="FF0000"/>
                  </a:solidFill>
                </a:uFill>
                <a:latin typeface="Calibri"/>
                <a:cs typeface="Calibri"/>
              </a:rPr>
              <a:t>Update </a:t>
            </a:r>
            <a:r>
              <a:rPr sz="1800" b="1" u="heavy" dirty="0">
                <a:solidFill>
                  <a:srgbClr val="FF0000"/>
                </a:solidFill>
                <a:uFill>
                  <a:solidFill>
                    <a:srgbClr val="FF0000"/>
                  </a:solidFill>
                </a:uFill>
                <a:latin typeface="Calibri"/>
                <a:cs typeface="Calibri"/>
              </a:rPr>
              <a:t>a </a:t>
            </a:r>
            <a:r>
              <a:rPr sz="1800" b="1" u="heavy" spc="-5" dirty="0">
                <a:solidFill>
                  <a:srgbClr val="FF0000"/>
                </a:solidFill>
                <a:uFill>
                  <a:solidFill>
                    <a:srgbClr val="FF0000"/>
                  </a:solidFill>
                </a:uFill>
                <a:latin typeface="Calibri"/>
                <a:cs typeface="Calibri"/>
              </a:rPr>
              <a:t>string </a:t>
            </a:r>
            <a:r>
              <a:rPr sz="1800" b="1" u="heavy" spc="-15" dirty="0">
                <a:solidFill>
                  <a:srgbClr val="FF0000"/>
                </a:solidFill>
                <a:uFill>
                  <a:solidFill>
                    <a:srgbClr val="FF0000"/>
                  </a:solidFill>
                </a:uFill>
                <a:latin typeface="Calibri"/>
                <a:cs typeface="Calibri"/>
              </a:rPr>
              <a:t>reference </a:t>
            </a:r>
            <a:r>
              <a:rPr sz="1800" b="1" u="heavy" spc="-5" dirty="0">
                <a:solidFill>
                  <a:srgbClr val="FF0000"/>
                </a:solidFill>
                <a:uFill>
                  <a:solidFill>
                    <a:srgbClr val="FF0000"/>
                  </a:solidFill>
                </a:uFill>
                <a:latin typeface="Calibri"/>
                <a:cs typeface="Calibri"/>
              </a:rPr>
              <a:t>via </a:t>
            </a:r>
            <a:r>
              <a:rPr sz="1800" b="1" u="heavy" dirty="0">
                <a:solidFill>
                  <a:srgbClr val="FF0000"/>
                </a:solidFill>
                <a:uFill>
                  <a:solidFill>
                    <a:srgbClr val="FF0000"/>
                  </a:solidFill>
                </a:uFill>
                <a:latin typeface="Calibri"/>
                <a:cs typeface="Calibri"/>
              </a:rPr>
              <a:t>+ </a:t>
            </a:r>
            <a:r>
              <a:rPr sz="1800" b="1" u="heavy" spc="-10" dirty="0">
                <a:solidFill>
                  <a:srgbClr val="FF0000"/>
                </a:solidFill>
                <a:uFill>
                  <a:solidFill>
                    <a:srgbClr val="FF0000"/>
                  </a:solidFill>
                </a:uFill>
                <a:latin typeface="Calibri"/>
                <a:cs typeface="Calibri"/>
              </a:rPr>
              <a:t>operator </a:t>
            </a:r>
            <a:r>
              <a:rPr sz="1800" b="1" u="heavy" dirty="0">
                <a:solidFill>
                  <a:srgbClr val="FF0000"/>
                </a:solidFill>
                <a:uFill>
                  <a:solidFill>
                    <a:srgbClr val="FF0000"/>
                  </a:solidFill>
                </a:uFill>
                <a:latin typeface="Calibri"/>
                <a:cs typeface="Calibri"/>
              </a:rPr>
              <a:t>, A </a:t>
            </a:r>
            <a:r>
              <a:rPr sz="1800" b="1" u="heavy" spc="-5" dirty="0">
                <a:solidFill>
                  <a:srgbClr val="FF0000"/>
                </a:solidFill>
                <a:uFill>
                  <a:solidFill>
                    <a:srgbClr val="FF0000"/>
                  </a:solidFill>
                </a:uFill>
                <a:latin typeface="Calibri"/>
                <a:cs typeface="Calibri"/>
              </a:rPr>
              <a:t>new </a:t>
            </a:r>
            <a:r>
              <a:rPr sz="1800" b="1" u="heavy" dirty="0">
                <a:solidFill>
                  <a:srgbClr val="FF0000"/>
                </a:solidFill>
                <a:uFill>
                  <a:solidFill>
                    <a:srgbClr val="FF0000"/>
                  </a:solidFill>
                </a:uFill>
                <a:latin typeface="Calibri"/>
                <a:cs typeface="Calibri"/>
              </a:rPr>
              <a:t>String </a:t>
            </a:r>
            <a:r>
              <a:rPr sz="1800" b="1" u="heavy" spc="-5" dirty="0">
                <a:solidFill>
                  <a:srgbClr val="FF0000"/>
                </a:solidFill>
                <a:uFill>
                  <a:solidFill>
                    <a:srgbClr val="FF0000"/>
                  </a:solidFill>
                </a:uFill>
                <a:latin typeface="Calibri"/>
                <a:cs typeface="Calibri"/>
              </a:rPr>
              <a:t>Object </a:t>
            </a:r>
            <a:r>
              <a:rPr sz="1800" b="1" u="heavy" dirty="0">
                <a:solidFill>
                  <a:srgbClr val="FF0000"/>
                </a:solidFill>
                <a:uFill>
                  <a:solidFill>
                    <a:srgbClr val="FF0000"/>
                  </a:solidFill>
                </a:uFill>
                <a:latin typeface="Calibri"/>
                <a:cs typeface="Calibri"/>
              </a:rPr>
              <a:t>is </a:t>
            </a:r>
            <a:r>
              <a:rPr sz="1800" b="1" dirty="0">
                <a:solidFill>
                  <a:srgbClr val="FF0000"/>
                </a:solidFill>
                <a:latin typeface="Calibri"/>
                <a:cs typeface="Calibri"/>
              </a:rPr>
              <a:t> </a:t>
            </a:r>
            <a:r>
              <a:rPr sz="1800" b="1" u="heavy" spc="-15" dirty="0">
                <a:solidFill>
                  <a:srgbClr val="FF0000"/>
                </a:solidFill>
                <a:uFill>
                  <a:solidFill>
                    <a:srgbClr val="FF0000"/>
                  </a:solidFill>
                </a:uFill>
                <a:latin typeface="Calibri"/>
                <a:cs typeface="Calibri"/>
              </a:rPr>
              <a:t>Created </a:t>
            </a:r>
            <a:r>
              <a:rPr sz="1800" b="1" u="heavy" spc="-5" dirty="0">
                <a:solidFill>
                  <a:srgbClr val="FF0000"/>
                </a:solidFill>
                <a:uFill>
                  <a:solidFill>
                    <a:srgbClr val="FF0000"/>
                  </a:solidFill>
                </a:uFill>
                <a:latin typeface="Calibri"/>
                <a:cs typeface="Calibri"/>
              </a:rPr>
              <a:t>with </a:t>
            </a:r>
            <a:r>
              <a:rPr sz="1800" b="1" u="heavy" spc="-10" dirty="0">
                <a:solidFill>
                  <a:srgbClr val="FF0000"/>
                </a:solidFill>
                <a:uFill>
                  <a:solidFill>
                    <a:srgbClr val="FF0000"/>
                  </a:solidFill>
                </a:uFill>
                <a:latin typeface="Calibri"/>
                <a:cs typeface="Calibri"/>
              </a:rPr>
              <a:t>updated</a:t>
            </a:r>
            <a:r>
              <a:rPr sz="1800" b="1" u="heavy" spc="-20" dirty="0">
                <a:solidFill>
                  <a:srgbClr val="FF0000"/>
                </a:solidFill>
                <a:uFill>
                  <a:solidFill>
                    <a:srgbClr val="FF0000"/>
                  </a:solidFill>
                </a:uFill>
                <a:latin typeface="Calibri"/>
                <a:cs typeface="Calibri"/>
              </a:rPr>
              <a:t> </a:t>
            </a:r>
            <a:r>
              <a:rPr sz="1800" b="1" u="heavy" spc="-15" dirty="0">
                <a:solidFill>
                  <a:srgbClr val="FF0000"/>
                </a:solidFill>
                <a:uFill>
                  <a:solidFill>
                    <a:srgbClr val="FF0000"/>
                  </a:solidFill>
                </a:uFill>
                <a:latin typeface="Calibri"/>
                <a:cs typeface="Calibri"/>
              </a:rPr>
              <a:t>Contents</a:t>
            </a:r>
            <a:endParaRPr sz="1800">
              <a:latin typeface="Calibri"/>
              <a:cs typeface="Calibri"/>
            </a:endParaRPr>
          </a:p>
        </p:txBody>
      </p:sp>
      <p:sp>
        <p:nvSpPr>
          <p:cNvPr id="17" name="object 17"/>
          <p:cNvSpPr/>
          <p:nvPr/>
        </p:nvSpPr>
        <p:spPr>
          <a:xfrm>
            <a:off x="7346442" y="2675382"/>
            <a:ext cx="288290" cy="1143000"/>
          </a:xfrm>
          <a:custGeom>
            <a:avLst/>
            <a:gdLst/>
            <a:ahLst/>
            <a:cxnLst/>
            <a:rect l="l" t="t" r="r" b="b"/>
            <a:pathLst>
              <a:path w="288290" h="1143000">
                <a:moveTo>
                  <a:pt x="288035" y="1142999"/>
                </a:moveTo>
                <a:lnTo>
                  <a:pt x="231993" y="1141106"/>
                </a:lnTo>
                <a:lnTo>
                  <a:pt x="186213" y="1135951"/>
                </a:lnTo>
                <a:lnTo>
                  <a:pt x="155340" y="1128319"/>
                </a:lnTo>
                <a:lnTo>
                  <a:pt x="144017" y="1118996"/>
                </a:lnTo>
                <a:lnTo>
                  <a:pt x="144017" y="595502"/>
                </a:lnTo>
                <a:lnTo>
                  <a:pt x="132695" y="586180"/>
                </a:lnTo>
                <a:lnTo>
                  <a:pt x="101822" y="578548"/>
                </a:lnTo>
                <a:lnTo>
                  <a:pt x="56042" y="573393"/>
                </a:lnTo>
                <a:lnTo>
                  <a:pt x="0" y="571500"/>
                </a:lnTo>
                <a:lnTo>
                  <a:pt x="56042" y="569606"/>
                </a:lnTo>
                <a:lnTo>
                  <a:pt x="101822" y="564451"/>
                </a:lnTo>
                <a:lnTo>
                  <a:pt x="132695" y="556819"/>
                </a:lnTo>
                <a:lnTo>
                  <a:pt x="144017" y="547496"/>
                </a:lnTo>
                <a:lnTo>
                  <a:pt x="144017" y="24002"/>
                </a:lnTo>
                <a:lnTo>
                  <a:pt x="155340" y="14680"/>
                </a:lnTo>
                <a:lnTo>
                  <a:pt x="186213" y="7048"/>
                </a:lnTo>
                <a:lnTo>
                  <a:pt x="231993" y="1893"/>
                </a:lnTo>
                <a:lnTo>
                  <a:pt x="288035" y="0"/>
                </a:lnTo>
              </a:path>
            </a:pathLst>
          </a:custGeom>
          <a:ln w="25908">
            <a:solidFill>
              <a:srgbClr val="FF0000"/>
            </a:solidFill>
            <a:prstDash val="sysDash"/>
          </a:ln>
        </p:spPr>
        <p:txBody>
          <a:bodyPr wrap="square" lIns="0" tIns="0" rIns="0" bIns="0" rtlCol="0"/>
          <a:lstStyle/>
          <a:p>
            <a:endParaRPr/>
          </a:p>
        </p:txBody>
      </p:sp>
      <p:sp>
        <p:nvSpPr>
          <p:cNvPr id="18" name="object 18"/>
          <p:cNvSpPr/>
          <p:nvPr/>
        </p:nvSpPr>
        <p:spPr>
          <a:xfrm>
            <a:off x="7307580" y="3233166"/>
            <a:ext cx="78105" cy="864235"/>
          </a:xfrm>
          <a:custGeom>
            <a:avLst/>
            <a:gdLst/>
            <a:ahLst/>
            <a:cxnLst/>
            <a:rect l="l" t="t" r="r" b="b"/>
            <a:pathLst>
              <a:path w="78104" h="864235">
                <a:moveTo>
                  <a:pt x="51816" y="0"/>
                </a:moveTo>
                <a:lnTo>
                  <a:pt x="25908" y="0"/>
                </a:lnTo>
                <a:lnTo>
                  <a:pt x="25908" y="77724"/>
                </a:lnTo>
                <a:lnTo>
                  <a:pt x="51816" y="77724"/>
                </a:lnTo>
                <a:lnTo>
                  <a:pt x="51816" y="0"/>
                </a:lnTo>
                <a:close/>
              </a:path>
              <a:path w="78104" h="864235">
                <a:moveTo>
                  <a:pt x="51816" y="103632"/>
                </a:moveTo>
                <a:lnTo>
                  <a:pt x="25908" y="103632"/>
                </a:lnTo>
                <a:lnTo>
                  <a:pt x="25908" y="181356"/>
                </a:lnTo>
                <a:lnTo>
                  <a:pt x="51816" y="181356"/>
                </a:lnTo>
                <a:lnTo>
                  <a:pt x="51816" y="103632"/>
                </a:lnTo>
                <a:close/>
              </a:path>
              <a:path w="78104" h="864235">
                <a:moveTo>
                  <a:pt x="51816" y="207263"/>
                </a:moveTo>
                <a:lnTo>
                  <a:pt x="25908" y="207263"/>
                </a:lnTo>
                <a:lnTo>
                  <a:pt x="25908" y="284988"/>
                </a:lnTo>
                <a:lnTo>
                  <a:pt x="51816" y="284988"/>
                </a:lnTo>
                <a:lnTo>
                  <a:pt x="51816" y="207263"/>
                </a:lnTo>
                <a:close/>
              </a:path>
              <a:path w="78104" h="864235">
                <a:moveTo>
                  <a:pt x="51816" y="310896"/>
                </a:moveTo>
                <a:lnTo>
                  <a:pt x="25908" y="310896"/>
                </a:lnTo>
                <a:lnTo>
                  <a:pt x="25908" y="388620"/>
                </a:lnTo>
                <a:lnTo>
                  <a:pt x="51816" y="388620"/>
                </a:lnTo>
                <a:lnTo>
                  <a:pt x="51816" y="310896"/>
                </a:lnTo>
                <a:close/>
              </a:path>
              <a:path w="78104" h="864235">
                <a:moveTo>
                  <a:pt x="51816" y="414528"/>
                </a:moveTo>
                <a:lnTo>
                  <a:pt x="25908" y="414528"/>
                </a:lnTo>
                <a:lnTo>
                  <a:pt x="25908" y="492252"/>
                </a:lnTo>
                <a:lnTo>
                  <a:pt x="51816" y="492252"/>
                </a:lnTo>
                <a:lnTo>
                  <a:pt x="51816" y="414528"/>
                </a:lnTo>
                <a:close/>
              </a:path>
              <a:path w="78104" h="864235">
                <a:moveTo>
                  <a:pt x="51816" y="518160"/>
                </a:moveTo>
                <a:lnTo>
                  <a:pt x="25908" y="518160"/>
                </a:lnTo>
                <a:lnTo>
                  <a:pt x="25908" y="595884"/>
                </a:lnTo>
                <a:lnTo>
                  <a:pt x="51816" y="595884"/>
                </a:lnTo>
                <a:lnTo>
                  <a:pt x="51816" y="518160"/>
                </a:lnTo>
                <a:close/>
              </a:path>
              <a:path w="78104" h="864235">
                <a:moveTo>
                  <a:pt x="51816" y="621792"/>
                </a:moveTo>
                <a:lnTo>
                  <a:pt x="25908" y="621792"/>
                </a:lnTo>
                <a:lnTo>
                  <a:pt x="25908" y="699516"/>
                </a:lnTo>
                <a:lnTo>
                  <a:pt x="51816" y="699516"/>
                </a:lnTo>
                <a:lnTo>
                  <a:pt x="51816" y="621792"/>
                </a:lnTo>
                <a:close/>
              </a:path>
              <a:path w="78104" h="864235">
                <a:moveTo>
                  <a:pt x="25908" y="786384"/>
                </a:moveTo>
                <a:lnTo>
                  <a:pt x="0" y="786384"/>
                </a:lnTo>
                <a:lnTo>
                  <a:pt x="38862" y="864108"/>
                </a:lnTo>
                <a:lnTo>
                  <a:pt x="71247" y="799338"/>
                </a:lnTo>
                <a:lnTo>
                  <a:pt x="25908" y="799338"/>
                </a:lnTo>
                <a:lnTo>
                  <a:pt x="25908" y="786384"/>
                </a:lnTo>
                <a:close/>
              </a:path>
              <a:path w="78104" h="864235">
                <a:moveTo>
                  <a:pt x="51816" y="725424"/>
                </a:moveTo>
                <a:lnTo>
                  <a:pt x="25908" y="725424"/>
                </a:lnTo>
                <a:lnTo>
                  <a:pt x="25908" y="799338"/>
                </a:lnTo>
                <a:lnTo>
                  <a:pt x="51816" y="799338"/>
                </a:lnTo>
                <a:lnTo>
                  <a:pt x="51816" y="725424"/>
                </a:lnTo>
                <a:close/>
              </a:path>
              <a:path w="78104" h="864235">
                <a:moveTo>
                  <a:pt x="77724" y="786384"/>
                </a:moveTo>
                <a:lnTo>
                  <a:pt x="51816" y="786384"/>
                </a:lnTo>
                <a:lnTo>
                  <a:pt x="51816" y="799338"/>
                </a:lnTo>
                <a:lnTo>
                  <a:pt x="71247" y="799338"/>
                </a:lnTo>
                <a:lnTo>
                  <a:pt x="77724" y="786384"/>
                </a:lnTo>
                <a:close/>
              </a:path>
            </a:pathLst>
          </a:custGeom>
          <a:solidFill>
            <a:srgbClr val="FF0000"/>
          </a:solidFill>
        </p:spPr>
        <p:txBody>
          <a:bodyPr wrap="square" lIns="0" tIns="0" rIns="0" bIns="0" rtlCol="0"/>
          <a:lstStyle/>
          <a:p>
            <a:endParaRPr/>
          </a:p>
        </p:txBody>
      </p:sp>
      <p:sp>
        <p:nvSpPr>
          <p:cNvPr id="19" name="object 19"/>
          <p:cNvSpPr txBox="1"/>
          <p:nvPr/>
        </p:nvSpPr>
        <p:spPr>
          <a:xfrm>
            <a:off x="6557009" y="4092702"/>
            <a:ext cx="159004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Garbage</a:t>
            </a:r>
            <a:r>
              <a:rPr sz="1800" b="1" spc="-50" dirty="0">
                <a:solidFill>
                  <a:srgbClr val="FF0000"/>
                </a:solidFill>
                <a:latin typeface="Calibri"/>
                <a:cs typeface="Calibri"/>
              </a:rPr>
              <a:t> </a:t>
            </a:r>
            <a:r>
              <a:rPr sz="1800" b="1" spc="-5" dirty="0">
                <a:solidFill>
                  <a:srgbClr val="FF0000"/>
                </a:solidFill>
                <a:latin typeface="Calibri"/>
                <a:cs typeface="Calibri"/>
              </a:rPr>
              <a:t>Objects</a:t>
            </a:r>
            <a:endParaRPr sz="18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9221"/>
            <a:ext cx="3683000" cy="574040"/>
          </a:xfrm>
          <a:prstGeom prst="rect">
            <a:avLst/>
          </a:prstGeom>
        </p:spPr>
        <p:txBody>
          <a:bodyPr vert="horz" wrap="square" lIns="0" tIns="12700" rIns="0" bIns="0" rtlCol="0">
            <a:spAutoFit/>
          </a:bodyPr>
          <a:lstStyle/>
          <a:p>
            <a:pPr marL="12700">
              <a:lnSpc>
                <a:spcPct val="100000"/>
              </a:lnSpc>
              <a:spcBef>
                <a:spcPts val="100"/>
              </a:spcBef>
            </a:pPr>
            <a:r>
              <a:rPr sz="3600" i="0" spc="-140" dirty="0">
                <a:solidFill>
                  <a:srgbClr val="000000"/>
                </a:solidFill>
                <a:latin typeface="Arial"/>
                <a:cs typeface="Arial"/>
              </a:rPr>
              <a:t>Predict </a:t>
            </a:r>
            <a:r>
              <a:rPr sz="3600" i="0" spc="-105" dirty="0">
                <a:solidFill>
                  <a:srgbClr val="000000"/>
                </a:solidFill>
                <a:latin typeface="Arial"/>
                <a:cs typeface="Arial"/>
              </a:rPr>
              <a:t>the</a:t>
            </a:r>
            <a:r>
              <a:rPr sz="3600" i="0" spc="-480" dirty="0">
                <a:solidFill>
                  <a:srgbClr val="000000"/>
                </a:solidFill>
                <a:latin typeface="Arial"/>
                <a:cs typeface="Arial"/>
              </a:rPr>
              <a:t> </a:t>
            </a:r>
            <a:r>
              <a:rPr sz="3600" i="0" spc="-135" dirty="0">
                <a:solidFill>
                  <a:srgbClr val="000000"/>
                </a:solidFill>
                <a:latin typeface="Arial"/>
                <a:cs typeface="Arial"/>
              </a:rPr>
              <a:t>Output</a:t>
            </a:r>
            <a:endParaRPr sz="3600">
              <a:latin typeface="Arial"/>
              <a:cs typeface="Arial"/>
            </a:endParaRPr>
          </a:p>
        </p:txBody>
      </p:sp>
      <p:sp>
        <p:nvSpPr>
          <p:cNvPr id="3" name="object 3"/>
          <p:cNvSpPr txBox="1"/>
          <p:nvPr/>
        </p:nvSpPr>
        <p:spPr>
          <a:xfrm>
            <a:off x="186334" y="1343659"/>
            <a:ext cx="4730750" cy="1550670"/>
          </a:xfrm>
          <a:prstGeom prst="rect">
            <a:avLst/>
          </a:prstGeom>
        </p:spPr>
        <p:txBody>
          <a:bodyPr vert="horz" wrap="square" lIns="0" tIns="13335" rIns="0" bIns="0" rtlCol="0">
            <a:spAutoFit/>
          </a:bodyPr>
          <a:lstStyle/>
          <a:p>
            <a:pPr marL="12700" marR="1560195">
              <a:lnSpc>
                <a:spcPct val="100000"/>
              </a:lnSpc>
              <a:spcBef>
                <a:spcPts val="105"/>
              </a:spcBef>
            </a:pPr>
            <a:r>
              <a:rPr sz="2000" b="1" dirty="0">
                <a:latin typeface="Calibri"/>
                <a:cs typeface="Calibri"/>
              </a:rPr>
              <a:t>//File </a:t>
            </a:r>
            <a:r>
              <a:rPr sz="2000" b="1" spc="-5" dirty="0">
                <a:latin typeface="Calibri"/>
                <a:cs typeface="Calibri"/>
              </a:rPr>
              <a:t>Name:</a:t>
            </a:r>
            <a:r>
              <a:rPr sz="2000" b="1" spc="-50" dirty="0">
                <a:latin typeface="Calibri"/>
                <a:cs typeface="Calibri"/>
              </a:rPr>
              <a:t> </a:t>
            </a:r>
            <a:r>
              <a:rPr sz="2000" b="1" spc="-5" dirty="0">
                <a:latin typeface="Calibri"/>
                <a:cs typeface="Calibri"/>
              </a:rPr>
              <a:t>StringDemo.java  class </a:t>
            </a:r>
            <a:r>
              <a:rPr sz="2000" b="1" dirty="0">
                <a:latin typeface="Calibri"/>
                <a:cs typeface="Calibri"/>
              </a:rPr>
              <a:t>StringDemo</a:t>
            </a:r>
            <a:endParaRPr sz="2000">
              <a:latin typeface="Calibri"/>
              <a:cs typeface="Calibri"/>
            </a:endParaRPr>
          </a:p>
          <a:p>
            <a:pPr marL="12700">
              <a:lnSpc>
                <a:spcPct val="100000"/>
              </a:lnSpc>
            </a:pPr>
            <a:r>
              <a:rPr sz="2000" b="1" dirty="0">
                <a:latin typeface="Calibri"/>
                <a:cs typeface="Calibri"/>
              </a:rPr>
              <a:t>{</a:t>
            </a:r>
            <a:endParaRPr sz="2000">
              <a:latin typeface="Calibri"/>
              <a:cs typeface="Calibri"/>
            </a:endParaRPr>
          </a:p>
          <a:p>
            <a:pPr marL="927100">
              <a:lnSpc>
                <a:spcPct val="100000"/>
              </a:lnSpc>
            </a:pPr>
            <a:r>
              <a:rPr sz="2000" b="1" dirty="0">
                <a:latin typeface="Calibri"/>
                <a:cs typeface="Calibri"/>
              </a:rPr>
              <a:t>public </a:t>
            </a:r>
            <a:r>
              <a:rPr sz="2000" b="1" spc="-15" dirty="0">
                <a:latin typeface="Calibri"/>
                <a:cs typeface="Calibri"/>
              </a:rPr>
              <a:t>static </a:t>
            </a:r>
            <a:r>
              <a:rPr sz="2000" b="1" spc="-5" dirty="0">
                <a:latin typeface="Calibri"/>
                <a:cs typeface="Calibri"/>
              </a:rPr>
              <a:t>void </a:t>
            </a:r>
            <a:r>
              <a:rPr sz="2000" b="1" dirty="0">
                <a:latin typeface="Calibri"/>
                <a:cs typeface="Calibri"/>
              </a:rPr>
              <a:t>main(String[]</a:t>
            </a:r>
            <a:r>
              <a:rPr sz="2000" b="1" spc="-85" dirty="0">
                <a:latin typeface="Calibri"/>
                <a:cs typeface="Calibri"/>
              </a:rPr>
              <a:t> </a:t>
            </a:r>
            <a:r>
              <a:rPr sz="2000" b="1" spc="-10" dirty="0">
                <a:latin typeface="Calibri"/>
                <a:cs typeface="Calibri"/>
              </a:rPr>
              <a:t>args)</a:t>
            </a:r>
            <a:endParaRPr sz="2000">
              <a:latin typeface="Calibri"/>
              <a:cs typeface="Calibri"/>
            </a:endParaRPr>
          </a:p>
          <a:p>
            <a:pPr marL="927100">
              <a:lnSpc>
                <a:spcPct val="100000"/>
              </a:lnSpc>
            </a:pPr>
            <a:r>
              <a:rPr sz="2000" b="1" dirty="0">
                <a:latin typeface="Calibri"/>
                <a:cs typeface="Calibri"/>
              </a:rPr>
              <a:t>{</a:t>
            </a:r>
            <a:endParaRPr sz="2000">
              <a:latin typeface="Calibri"/>
              <a:cs typeface="Calibri"/>
            </a:endParaRPr>
          </a:p>
        </p:txBody>
      </p:sp>
      <p:graphicFrame>
        <p:nvGraphicFramePr>
          <p:cNvPr id="4" name="object 4"/>
          <p:cNvGraphicFramePr>
            <a:graphicFrameLocks noGrp="1"/>
          </p:cNvGraphicFramePr>
          <p:nvPr/>
        </p:nvGraphicFramePr>
        <p:xfrm>
          <a:off x="1996439" y="2944241"/>
          <a:ext cx="7043417" cy="1474087"/>
        </p:xfrm>
        <a:graphic>
          <a:graphicData uri="http://schemas.openxmlformats.org/drawingml/2006/table">
            <a:tbl>
              <a:tblPr firstRow="1" bandRow="1">
                <a:tableStyleId>{2D5ABB26-0587-4C30-8999-92F81FD0307C}</a:tableStyleId>
              </a:tblPr>
              <a:tblGrid>
                <a:gridCol w="798830">
                  <a:extLst>
                    <a:ext uri="{9D8B030D-6E8A-4147-A177-3AD203B41FA5}">
                      <a16:colId xmlns:a16="http://schemas.microsoft.com/office/drawing/2014/main" val="20000"/>
                    </a:ext>
                  </a:extLst>
                </a:gridCol>
                <a:gridCol w="743584">
                  <a:extLst>
                    <a:ext uri="{9D8B030D-6E8A-4147-A177-3AD203B41FA5}">
                      <a16:colId xmlns:a16="http://schemas.microsoft.com/office/drawing/2014/main" val="20001"/>
                    </a:ext>
                  </a:extLst>
                </a:gridCol>
                <a:gridCol w="1002664">
                  <a:extLst>
                    <a:ext uri="{9D8B030D-6E8A-4147-A177-3AD203B41FA5}">
                      <a16:colId xmlns:a16="http://schemas.microsoft.com/office/drawing/2014/main" val="20002"/>
                    </a:ext>
                  </a:extLst>
                </a:gridCol>
                <a:gridCol w="4498339">
                  <a:extLst>
                    <a:ext uri="{9D8B030D-6E8A-4147-A177-3AD203B41FA5}">
                      <a16:colId xmlns:a16="http://schemas.microsoft.com/office/drawing/2014/main" val="20003"/>
                    </a:ext>
                  </a:extLst>
                </a:gridCol>
              </a:tblGrid>
              <a:tr h="432053">
                <a:tc>
                  <a:txBody>
                    <a:bodyPr/>
                    <a:lstStyle/>
                    <a:p>
                      <a:pPr marL="31750">
                        <a:lnSpc>
                          <a:spcPts val="1905"/>
                        </a:lnSpc>
                      </a:pPr>
                      <a:r>
                        <a:rPr sz="2000" b="1" dirty="0">
                          <a:solidFill>
                            <a:srgbClr val="FF0000"/>
                          </a:solidFill>
                          <a:latin typeface="Calibri"/>
                          <a:cs typeface="Calibri"/>
                        </a:rPr>
                        <a:t>String</a:t>
                      </a:r>
                      <a:endParaRPr sz="2000">
                        <a:latin typeface="Calibri"/>
                        <a:cs typeface="Calibri"/>
                      </a:endParaRPr>
                    </a:p>
                  </a:txBody>
                  <a:tcPr marL="0" marR="0" marT="0" marB="0"/>
                </a:tc>
                <a:tc>
                  <a:txBody>
                    <a:bodyPr/>
                    <a:lstStyle/>
                    <a:p>
                      <a:pPr marL="146685">
                        <a:lnSpc>
                          <a:spcPts val="1905"/>
                        </a:lnSpc>
                      </a:pPr>
                      <a:r>
                        <a:rPr sz="2000" b="1" spc="-10" dirty="0">
                          <a:solidFill>
                            <a:srgbClr val="FF0000"/>
                          </a:solidFill>
                          <a:latin typeface="Calibri"/>
                          <a:cs typeface="Calibri"/>
                        </a:rPr>
                        <a:t>str</a:t>
                      </a:r>
                      <a:endParaRPr sz="2000">
                        <a:latin typeface="Calibri"/>
                        <a:cs typeface="Calibri"/>
                      </a:endParaRPr>
                    </a:p>
                  </a:txBody>
                  <a:tcPr marL="0" marR="0" marT="0" marB="0"/>
                </a:tc>
                <a:tc>
                  <a:txBody>
                    <a:bodyPr/>
                    <a:lstStyle/>
                    <a:p>
                      <a:pPr marL="318135">
                        <a:lnSpc>
                          <a:spcPts val="1905"/>
                        </a:lnSpc>
                      </a:pPr>
                      <a:r>
                        <a:rPr sz="2000" b="1" dirty="0">
                          <a:solidFill>
                            <a:srgbClr val="FF0000"/>
                          </a:solidFill>
                          <a:latin typeface="Calibri"/>
                          <a:cs typeface="Calibri"/>
                        </a:rPr>
                        <a:t>=</a:t>
                      </a:r>
                      <a:endParaRPr sz="2000">
                        <a:latin typeface="Calibri"/>
                        <a:cs typeface="Calibri"/>
                      </a:endParaRPr>
                    </a:p>
                  </a:txBody>
                  <a:tcPr marL="0" marR="0" marT="0" marB="0"/>
                </a:tc>
                <a:tc>
                  <a:txBody>
                    <a:bodyPr/>
                    <a:lstStyle/>
                    <a:p>
                      <a:pPr marL="229870">
                        <a:lnSpc>
                          <a:spcPts val="1905"/>
                        </a:lnSpc>
                        <a:tabLst>
                          <a:tab pos="1144905" algn="l"/>
                        </a:tabLst>
                      </a:pPr>
                      <a:r>
                        <a:rPr sz="2000" b="1" spc="-5" dirty="0">
                          <a:solidFill>
                            <a:srgbClr val="FF0000"/>
                          </a:solidFill>
                          <a:latin typeface="Calibri"/>
                          <a:cs typeface="Calibri"/>
                        </a:rPr>
                        <a:t>new	</a:t>
                      </a:r>
                      <a:r>
                        <a:rPr sz="2000" b="1" dirty="0">
                          <a:solidFill>
                            <a:srgbClr val="FF0000"/>
                          </a:solidFill>
                          <a:latin typeface="Calibri"/>
                          <a:cs typeface="Calibri"/>
                        </a:rPr>
                        <a:t>String("Object");</a:t>
                      </a:r>
                      <a:endParaRPr sz="2000">
                        <a:latin typeface="Calibri"/>
                        <a:cs typeface="Calibri"/>
                      </a:endParaRPr>
                    </a:p>
                  </a:txBody>
                  <a:tcPr marL="0" marR="0" marT="0" marB="0"/>
                </a:tc>
                <a:extLst>
                  <a:ext uri="{0D108BD9-81ED-4DB2-BD59-A6C34878D82A}">
                    <a16:rowId xmlns:a16="http://schemas.microsoft.com/office/drawing/2014/main" val="10000"/>
                  </a:ext>
                </a:extLst>
              </a:tr>
              <a:tr h="609790">
                <a:tc>
                  <a:txBody>
                    <a:bodyPr/>
                    <a:lstStyle/>
                    <a:p>
                      <a:pPr marL="31750">
                        <a:lnSpc>
                          <a:spcPct val="100000"/>
                        </a:lnSpc>
                        <a:spcBef>
                          <a:spcPts val="900"/>
                        </a:spcBef>
                      </a:pPr>
                      <a:r>
                        <a:rPr sz="2000" b="1" spc="-10" dirty="0">
                          <a:solidFill>
                            <a:srgbClr val="FF0000"/>
                          </a:solidFill>
                          <a:latin typeface="Calibri"/>
                          <a:cs typeface="Calibri"/>
                        </a:rPr>
                        <a:t>str</a:t>
                      </a:r>
                      <a:endParaRPr sz="2000">
                        <a:latin typeface="Calibri"/>
                        <a:cs typeface="Calibri"/>
                      </a:endParaRPr>
                    </a:p>
                  </a:txBody>
                  <a:tcPr marL="0" marR="0" marT="114300" marB="0"/>
                </a:tc>
                <a:tc>
                  <a:txBody>
                    <a:bodyPr/>
                    <a:lstStyle/>
                    <a:p>
                      <a:pPr marL="146685">
                        <a:lnSpc>
                          <a:spcPct val="100000"/>
                        </a:lnSpc>
                        <a:spcBef>
                          <a:spcPts val="900"/>
                        </a:spcBef>
                      </a:pPr>
                      <a:r>
                        <a:rPr sz="2000" b="1" dirty="0">
                          <a:solidFill>
                            <a:srgbClr val="FF0000"/>
                          </a:solidFill>
                          <a:latin typeface="Calibri"/>
                          <a:cs typeface="Calibri"/>
                        </a:rPr>
                        <a:t>=</a:t>
                      </a:r>
                      <a:endParaRPr sz="2000">
                        <a:latin typeface="Calibri"/>
                        <a:cs typeface="Calibri"/>
                      </a:endParaRPr>
                    </a:p>
                  </a:txBody>
                  <a:tcPr marL="0" marR="0" marT="114300" marB="0"/>
                </a:tc>
                <a:tc>
                  <a:txBody>
                    <a:bodyPr/>
                    <a:lstStyle/>
                    <a:p>
                      <a:pPr marL="318135">
                        <a:lnSpc>
                          <a:spcPct val="100000"/>
                        </a:lnSpc>
                        <a:spcBef>
                          <a:spcPts val="900"/>
                        </a:spcBef>
                      </a:pPr>
                      <a:r>
                        <a:rPr sz="2000" b="1" spc="-5" dirty="0">
                          <a:solidFill>
                            <a:srgbClr val="FF0000"/>
                          </a:solidFill>
                          <a:latin typeface="Calibri"/>
                          <a:cs typeface="Calibri"/>
                        </a:rPr>
                        <a:t>new</a:t>
                      </a:r>
                      <a:endParaRPr sz="2000">
                        <a:latin typeface="Calibri"/>
                        <a:cs typeface="Calibri"/>
                      </a:endParaRPr>
                    </a:p>
                  </a:txBody>
                  <a:tcPr marL="0" marR="0" marT="114300" marB="0"/>
                </a:tc>
                <a:tc>
                  <a:txBody>
                    <a:bodyPr/>
                    <a:lstStyle/>
                    <a:p>
                      <a:pPr marL="229870">
                        <a:lnSpc>
                          <a:spcPct val="100000"/>
                        </a:lnSpc>
                        <a:spcBef>
                          <a:spcPts val="900"/>
                        </a:spcBef>
                      </a:pPr>
                      <a:r>
                        <a:rPr sz="2000" b="1" spc="-5" dirty="0">
                          <a:solidFill>
                            <a:srgbClr val="FF0000"/>
                          </a:solidFill>
                          <a:latin typeface="Calibri"/>
                          <a:cs typeface="Calibri"/>
                        </a:rPr>
                        <a:t>String(“Object</a:t>
                      </a:r>
                      <a:r>
                        <a:rPr sz="2000" b="1" spc="-35" dirty="0">
                          <a:solidFill>
                            <a:srgbClr val="FF0000"/>
                          </a:solidFill>
                          <a:latin typeface="Calibri"/>
                          <a:cs typeface="Calibri"/>
                        </a:rPr>
                        <a:t> </a:t>
                      </a:r>
                      <a:r>
                        <a:rPr sz="2000" b="1" spc="-10" dirty="0">
                          <a:solidFill>
                            <a:srgbClr val="FF0000"/>
                          </a:solidFill>
                          <a:latin typeface="Calibri"/>
                          <a:cs typeface="Calibri"/>
                        </a:rPr>
                        <a:t>Oriented”);</a:t>
                      </a:r>
                      <a:endParaRPr sz="2000">
                        <a:latin typeface="Calibri"/>
                        <a:cs typeface="Calibri"/>
                      </a:endParaRPr>
                    </a:p>
                  </a:txBody>
                  <a:tcPr marL="0" marR="0" marT="114300" marB="0"/>
                </a:tc>
                <a:extLst>
                  <a:ext uri="{0D108BD9-81ED-4DB2-BD59-A6C34878D82A}">
                    <a16:rowId xmlns:a16="http://schemas.microsoft.com/office/drawing/2014/main" val="10001"/>
                  </a:ext>
                </a:extLst>
              </a:tr>
              <a:tr h="432244">
                <a:tc>
                  <a:txBody>
                    <a:bodyPr/>
                    <a:lstStyle/>
                    <a:p>
                      <a:pPr marL="31750">
                        <a:lnSpc>
                          <a:spcPct val="100000"/>
                        </a:lnSpc>
                        <a:spcBef>
                          <a:spcPts val="900"/>
                        </a:spcBef>
                      </a:pPr>
                      <a:r>
                        <a:rPr sz="2000" b="1" spc="-10" dirty="0">
                          <a:solidFill>
                            <a:srgbClr val="FF0000"/>
                          </a:solidFill>
                          <a:latin typeface="Calibri"/>
                          <a:cs typeface="Calibri"/>
                        </a:rPr>
                        <a:t>str</a:t>
                      </a:r>
                      <a:endParaRPr sz="2000">
                        <a:latin typeface="Calibri"/>
                        <a:cs typeface="Calibri"/>
                      </a:endParaRPr>
                    </a:p>
                  </a:txBody>
                  <a:tcPr marL="0" marR="0" marT="114300" marB="0"/>
                </a:tc>
                <a:tc>
                  <a:txBody>
                    <a:bodyPr/>
                    <a:lstStyle/>
                    <a:p>
                      <a:pPr marL="146685">
                        <a:lnSpc>
                          <a:spcPct val="100000"/>
                        </a:lnSpc>
                        <a:spcBef>
                          <a:spcPts val="900"/>
                        </a:spcBef>
                      </a:pPr>
                      <a:r>
                        <a:rPr sz="2000" b="1" dirty="0">
                          <a:solidFill>
                            <a:srgbClr val="FF0000"/>
                          </a:solidFill>
                          <a:latin typeface="Calibri"/>
                          <a:cs typeface="Calibri"/>
                        </a:rPr>
                        <a:t>=</a:t>
                      </a:r>
                      <a:endParaRPr sz="2000">
                        <a:latin typeface="Calibri"/>
                        <a:cs typeface="Calibri"/>
                      </a:endParaRPr>
                    </a:p>
                  </a:txBody>
                  <a:tcPr marL="0" marR="0" marT="114300" marB="0"/>
                </a:tc>
                <a:tc>
                  <a:txBody>
                    <a:bodyPr/>
                    <a:lstStyle/>
                    <a:p>
                      <a:pPr marL="318135">
                        <a:lnSpc>
                          <a:spcPct val="100000"/>
                        </a:lnSpc>
                        <a:spcBef>
                          <a:spcPts val="900"/>
                        </a:spcBef>
                      </a:pPr>
                      <a:r>
                        <a:rPr sz="2000" b="1" spc="-5" dirty="0">
                          <a:solidFill>
                            <a:srgbClr val="FF0000"/>
                          </a:solidFill>
                          <a:latin typeface="Calibri"/>
                          <a:cs typeface="Calibri"/>
                        </a:rPr>
                        <a:t>new</a:t>
                      </a:r>
                      <a:endParaRPr sz="2000">
                        <a:latin typeface="Calibri"/>
                        <a:cs typeface="Calibri"/>
                      </a:endParaRPr>
                    </a:p>
                  </a:txBody>
                  <a:tcPr marL="0" marR="0" marT="114300" marB="0"/>
                </a:tc>
                <a:tc>
                  <a:txBody>
                    <a:bodyPr/>
                    <a:lstStyle/>
                    <a:p>
                      <a:pPr marL="229870">
                        <a:lnSpc>
                          <a:spcPct val="100000"/>
                        </a:lnSpc>
                        <a:spcBef>
                          <a:spcPts val="900"/>
                        </a:spcBef>
                      </a:pPr>
                      <a:r>
                        <a:rPr sz="2000" b="1" spc="-5" dirty="0">
                          <a:solidFill>
                            <a:srgbClr val="FF0000"/>
                          </a:solidFill>
                          <a:latin typeface="Calibri"/>
                          <a:cs typeface="Calibri"/>
                        </a:rPr>
                        <a:t>String(“Object </a:t>
                      </a:r>
                      <a:r>
                        <a:rPr sz="2000" b="1" spc="-10" dirty="0">
                          <a:solidFill>
                            <a:srgbClr val="FF0000"/>
                          </a:solidFill>
                          <a:latin typeface="Calibri"/>
                          <a:cs typeface="Calibri"/>
                        </a:rPr>
                        <a:t>Oriented Programming“);</a:t>
                      </a:r>
                      <a:endParaRPr sz="2000">
                        <a:latin typeface="Calibri"/>
                        <a:cs typeface="Calibri"/>
                      </a:endParaRPr>
                    </a:p>
                  </a:txBody>
                  <a:tcPr marL="0" marR="0" marT="114300" marB="0"/>
                </a:tc>
                <a:extLst>
                  <a:ext uri="{0D108BD9-81ED-4DB2-BD59-A6C34878D82A}">
                    <a16:rowId xmlns:a16="http://schemas.microsoft.com/office/drawing/2014/main" val="10002"/>
                  </a:ext>
                </a:extLst>
              </a:tr>
            </a:tbl>
          </a:graphicData>
        </a:graphic>
      </p:graphicFrame>
      <p:sp>
        <p:nvSpPr>
          <p:cNvPr id="5" name="object 5"/>
          <p:cNvSpPr txBox="1"/>
          <p:nvPr/>
        </p:nvSpPr>
        <p:spPr>
          <a:xfrm>
            <a:off x="186334" y="4697095"/>
            <a:ext cx="4324350" cy="1245870"/>
          </a:xfrm>
          <a:prstGeom prst="rect">
            <a:avLst/>
          </a:prstGeom>
        </p:spPr>
        <p:txBody>
          <a:bodyPr vert="horz" wrap="square" lIns="0" tIns="12700" rIns="0" bIns="0" rtlCol="0">
            <a:spAutoFit/>
          </a:bodyPr>
          <a:lstStyle/>
          <a:p>
            <a:pPr marL="1841500">
              <a:lnSpc>
                <a:spcPct val="100000"/>
              </a:lnSpc>
              <a:spcBef>
                <a:spcPts val="100"/>
              </a:spcBef>
            </a:pPr>
            <a:r>
              <a:rPr sz="2000" b="1" spc="-10" dirty="0">
                <a:solidFill>
                  <a:srgbClr val="FF0000"/>
                </a:solidFill>
                <a:latin typeface="Calibri"/>
                <a:cs typeface="Calibri"/>
              </a:rPr>
              <a:t>System.out.println(str);</a:t>
            </a:r>
            <a:endParaRPr sz="2000">
              <a:latin typeface="Calibri"/>
              <a:cs typeface="Calibri"/>
            </a:endParaRPr>
          </a:p>
          <a:p>
            <a:pPr>
              <a:lnSpc>
                <a:spcPct val="100000"/>
              </a:lnSpc>
              <a:spcBef>
                <a:spcPts val="45"/>
              </a:spcBef>
            </a:pPr>
            <a:endParaRPr sz="2050">
              <a:latin typeface="Times New Roman"/>
              <a:cs typeface="Times New Roman"/>
            </a:endParaRPr>
          </a:p>
          <a:p>
            <a:pPr marR="1447800" algn="r">
              <a:lnSpc>
                <a:spcPct val="100000"/>
              </a:lnSpc>
            </a:pPr>
            <a:r>
              <a:rPr sz="2000" b="1" dirty="0">
                <a:latin typeface="Calibri"/>
                <a:cs typeface="Calibri"/>
              </a:rPr>
              <a:t>}// End of</a:t>
            </a:r>
            <a:r>
              <a:rPr sz="2000" b="1" spc="-70" dirty="0">
                <a:latin typeface="Calibri"/>
                <a:cs typeface="Calibri"/>
              </a:rPr>
              <a:t> </a:t>
            </a:r>
            <a:r>
              <a:rPr sz="2000" b="1" spc="-5" dirty="0">
                <a:latin typeface="Calibri"/>
                <a:cs typeface="Calibri"/>
              </a:rPr>
              <a:t>Method</a:t>
            </a:r>
            <a:endParaRPr sz="2000">
              <a:latin typeface="Calibri"/>
              <a:cs typeface="Calibri"/>
            </a:endParaRPr>
          </a:p>
          <a:p>
            <a:pPr marR="1405255" algn="r">
              <a:lnSpc>
                <a:spcPct val="100000"/>
              </a:lnSpc>
            </a:pPr>
            <a:r>
              <a:rPr sz="2000" b="1" dirty="0">
                <a:latin typeface="Calibri"/>
                <a:cs typeface="Calibri"/>
              </a:rPr>
              <a:t>}// End of </a:t>
            </a:r>
            <a:r>
              <a:rPr sz="2000" b="1" spc="-5" dirty="0">
                <a:latin typeface="Calibri"/>
                <a:cs typeface="Calibri"/>
              </a:rPr>
              <a:t>class</a:t>
            </a:r>
            <a:r>
              <a:rPr sz="2000" b="1" spc="-75" dirty="0">
                <a:latin typeface="Calibri"/>
                <a:cs typeface="Calibri"/>
              </a:rPr>
              <a:t> </a:t>
            </a:r>
            <a:r>
              <a:rPr sz="2000" b="1" dirty="0">
                <a:latin typeface="Calibri"/>
                <a:cs typeface="Calibri"/>
              </a:rPr>
              <a:t>StringDemo</a:t>
            </a:r>
            <a:endParaRPr sz="20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5854065" cy="1031240"/>
          </a:xfrm>
          <a:prstGeom prst="rect">
            <a:avLst/>
          </a:prstGeom>
        </p:spPr>
        <p:txBody>
          <a:bodyPr vert="horz" wrap="square" lIns="0" tIns="104139" rIns="0" bIns="0" rtlCol="0">
            <a:spAutoFit/>
          </a:bodyPr>
          <a:lstStyle/>
          <a:p>
            <a:pPr marL="12700" marR="5080">
              <a:lnSpc>
                <a:spcPts val="3600"/>
              </a:lnSpc>
              <a:spcBef>
                <a:spcPts val="819"/>
              </a:spcBef>
            </a:pPr>
            <a:r>
              <a:rPr sz="3600" i="0" spc="-105" dirty="0">
                <a:solidFill>
                  <a:srgbClr val="000000"/>
                </a:solidFill>
                <a:latin typeface="Arial"/>
                <a:cs typeface="Arial"/>
              </a:rPr>
              <a:t>How </a:t>
            </a:r>
            <a:r>
              <a:rPr sz="3600" i="0" spc="-120" dirty="0">
                <a:solidFill>
                  <a:srgbClr val="000000"/>
                </a:solidFill>
                <a:latin typeface="Arial"/>
                <a:cs typeface="Arial"/>
              </a:rPr>
              <a:t>Many</a:t>
            </a:r>
            <a:r>
              <a:rPr sz="3600" i="0" spc="-780" dirty="0">
                <a:solidFill>
                  <a:srgbClr val="000000"/>
                </a:solidFill>
                <a:latin typeface="Arial"/>
                <a:cs typeface="Arial"/>
              </a:rPr>
              <a:t> </a:t>
            </a:r>
            <a:r>
              <a:rPr sz="3600" i="0" spc="-135" dirty="0">
                <a:solidFill>
                  <a:srgbClr val="000000"/>
                </a:solidFill>
                <a:latin typeface="Arial"/>
                <a:cs typeface="Arial"/>
              </a:rPr>
              <a:t>String </a:t>
            </a:r>
            <a:r>
              <a:rPr sz="3600" i="0" spc="-140" dirty="0">
                <a:solidFill>
                  <a:srgbClr val="000000"/>
                </a:solidFill>
                <a:latin typeface="Arial"/>
                <a:cs typeface="Arial"/>
              </a:rPr>
              <a:t>Objects </a:t>
            </a:r>
            <a:r>
              <a:rPr sz="3600" i="0" spc="-105" dirty="0">
                <a:solidFill>
                  <a:srgbClr val="000000"/>
                </a:solidFill>
                <a:latin typeface="Arial"/>
                <a:cs typeface="Arial"/>
              </a:rPr>
              <a:t>are  </a:t>
            </a:r>
            <a:r>
              <a:rPr sz="3600" i="0" spc="-140" dirty="0">
                <a:solidFill>
                  <a:srgbClr val="000000"/>
                </a:solidFill>
                <a:latin typeface="Arial"/>
                <a:cs typeface="Arial"/>
              </a:rPr>
              <a:t>Created?</a:t>
            </a:r>
            <a:endParaRPr sz="3600">
              <a:latin typeface="Arial"/>
              <a:cs typeface="Arial"/>
            </a:endParaRPr>
          </a:p>
        </p:txBody>
      </p:sp>
      <p:sp>
        <p:nvSpPr>
          <p:cNvPr id="3" name="object 3"/>
          <p:cNvSpPr txBox="1"/>
          <p:nvPr/>
        </p:nvSpPr>
        <p:spPr>
          <a:xfrm>
            <a:off x="186334" y="1506092"/>
            <a:ext cx="3975735" cy="3439795"/>
          </a:xfrm>
          <a:prstGeom prst="rect">
            <a:avLst/>
          </a:prstGeom>
        </p:spPr>
        <p:txBody>
          <a:bodyPr vert="horz" wrap="square" lIns="0" tIns="12065" rIns="0" bIns="0" rtlCol="0">
            <a:spAutoFit/>
          </a:bodyPr>
          <a:lstStyle/>
          <a:p>
            <a:pPr marL="12700" marR="1446530">
              <a:lnSpc>
                <a:spcPct val="100000"/>
              </a:lnSpc>
              <a:spcBef>
                <a:spcPts val="95"/>
              </a:spcBef>
            </a:pPr>
            <a:r>
              <a:rPr sz="1600" b="1" spc="-5" dirty="0">
                <a:latin typeface="Calibri"/>
                <a:cs typeface="Calibri"/>
              </a:rPr>
              <a:t>//File Name: </a:t>
            </a:r>
            <a:r>
              <a:rPr sz="1600" b="1" spc="-10" dirty="0">
                <a:latin typeface="Calibri"/>
                <a:cs typeface="Calibri"/>
              </a:rPr>
              <a:t>StringDemo.java  </a:t>
            </a:r>
            <a:r>
              <a:rPr sz="1600" b="1" spc="-5" dirty="0">
                <a:latin typeface="Calibri"/>
                <a:cs typeface="Calibri"/>
              </a:rPr>
              <a:t>class StringDemo</a:t>
            </a:r>
            <a:endParaRPr sz="1600">
              <a:latin typeface="Calibri"/>
              <a:cs typeface="Calibri"/>
            </a:endParaRPr>
          </a:p>
          <a:p>
            <a:pPr marL="12700">
              <a:lnSpc>
                <a:spcPct val="100000"/>
              </a:lnSpc>
            </a:pPr>
            <a:r>
              <a:rPr sz="1600" b="1" spc="-5" dirty="0">
                <a:latin typeface="Calibri"/>
                <a:cs typeface="Calibri"/>
              </a:rPr>
              <a:t>{</a:t>
            </a:r>
            <a:endParaRPr sz="1600">
              <a:latin typeface="Calibri"/>
              <a:cs typeface="Calibri"/>
            </a:endParaRPr>
          </a:p>
          <a:p>
            <a:pPr marL="927100">
              <a:lnSpc>
                <a:spcPct val="100000"/>
              </a:lnSpc>
            </a:pPr>
            <a:r>
              <a:rPr sz="1600" b="1" spc="-5" dirty="0">
                <a:latin typeface="Calibri"/>
                <a:cs typeface="Calibri"/>
              </a:rPr>
              <a:t>public </a:t>
            </a:r>
            <a:r>
              <a:rPr sz="1600" b="1" spc="-10" dirty="0">
                <a:latin typeface="Calibri"/>
                <a:cs typeface="Calibri"/>
              </a:rPr>
              <a:t>static void main(String[]</a:t>
            </a:r>
            <a:r>
              <a:rPr sz="1600" b="1" spc="95" dirty="0">
                <a:latin typeface="Calibri"/>
                <a:cs typeface="Calibri"/>
              </a:rPr>
              <a:t> </a:t>
            </a:r>
            <a:r>
              <a:rPr sz="1600" b="1" spc="-10" dirty="0">
                <a:latin typeface="Calibri"/>
                <a:cs typeface="Calibri"/>
              </a:rPr>
              <a:t>args)</a:t>
            </a:r>
            <a:endParaRPr sz="1600">
              <a:latin typeface="Calibri"/>
              <a:cs typeface="Calibri"/>
            </a:endParaRPr>
          </a:p>
          <a:p>
            <a:pPr marL="927100">
              <a:lnSpc>
                <a:spcPct val="100000"/>
              </a:lnSpc>
            </a:pPr>
            <a:r>
              <a:rPr sz="1600" b="1" spc="-5" dirty="0">
                <a:latin typeface="Calibri"/>
                <a:cs typeface="Calibri"/>
              </a:rPr>
              <a:t>{</a:t>
            </a:r>
            <a:endParaRPr sz="1600">
              <a:latin typeface="Calibri"/>
              <a:cs typeface="Calibri"/>
            </a:endParaRPr>
          </a:p>
          <a:p>
            <a:pPr marL="1841500">
              <a:lnSpc>
                <a:spcPct val="100000"/>
              </a:lnSpc>
            </a:pPr>
            <a:r>
              <a:rPr sz="1600" b="1" spc="-5" dirty="0">
                <a:latin typeface="Calibri"/>
                <a:cs typeface="Calibri"/>
              </a:rPr>
              <a:t>String s1 =</a:t>
            </a:r>
            <a:r>
              <a:rPr sz="1600" b="1" spc="-40" dirty="0">
                <a:latin typeface="Calibri"/>
                <a:cs typeface="Calibri"/>
              </a:rPr>
              <a:t> </a:t>
            </a:r>
            <a:r>
              <a:rPr sz="1600" b="1" spc="-5" dirty="0">
                <a:latin typeface="Calibri"/>
                <a:cs typeface="Calibri"/>
              </a:rPr>
              <a:t>"abc";</a:t>
            </a:r>
            <a:endParaRPr sz="1600">
              <a:latin typeface="Calibri"/>
              <a:cs typeface="Calibri"/>
            </a:endParaRPr>
          </a:p>
          <a:p>
            <a:pPr>
              <a:lnSpc>
                <a:spcPct val="100000"/>
              </a:lnSpc>
              <a:spcBef>
                <a:spcPts val="25"/>
              </a:spcBef>
            </a:pPr>
            <a:endParaRPr sz="1650">
              <a:latin typeface="Times New Roman"/>
              <a:cs typeface="Times New Roman"/>
            </a:endParaRPr>
          </a:p>
          <a:p>
            <a:pPr marL="1841500">
              <a:lnSpc>
                <a:spcPct val="100000"/>
              </a:lnSpc>
            </a:pPr>
            <a:r>
              <a:rPr sz="1600" b="1" spc="-5" dirty="0">
                <a:latin typeface="Calibri"/>
                <a:cs typeface="Calibri"/>
              </a:rPr>
              <a:t>String s2 =</a:t>
            </a:r>
            <a:r>
              <a:rPr sz="1600" b="1" spc="-35" dirty="0">
                <a:latin typeface="Calibri"/>
                <a:cs typeface="Calibri"/>
              </a:rPr>
              <a:t> </a:t>
            </a:r>
            <a:r>
              <a:rPr sz="1600" b="1" spc="-5" dirty="0">
                <a:latin typeface="Calibri"/>
                <a:cs typeface="Calibri"/>
              </a:rPr>
              <a:t>"abc";</a:t>
            </a:r>
            <a:endParaRPr sz="1600">
              <a:latin typeface="Calibri"/>
              <a:cs typeface="Calibri"/>
            </a:endParaRPr>
          </a:p>
          <a:p>
            <a:pPr>
              <a:lnSpc>
                <a:spcPct val="100000"/>
              </a:lnSpc>
              <a:spcBef>
                <a:spcPts val="20"/>
              </a:spcBef>
            </a:pPr>
            <a:endParaRPr sz="1650">
              <a:latin typeface="Times New Roman"/>
              <a:cs typeface="Times New Roman"/>
            </a:endParaRPr>
          </a:p>
          <a:p>
            <a:pPr marL="1841500">
              <a:lnSpc>
                <a:spcPct val="100000"/>
              </a:lnSpc>
              <a:spcBef>
                <a:spcPts val="5"/>
              </a:spcBef>
            </a:pPr>
            <a:r>
              <a:rPr sz="1600" b="1" spc="-5" dirty="0">
                <a:latin typeface="Calibri"/>
                <a:cs typeface="Calibri"/>
              </a:rPr>
              <a:t>String s3 =</a:t>
            </a:r>
            <a:r>
              <a:rPr sz="1600" b="1" spc="-40" dirty="0">
                <a:latin typeface="Calibri"/>
                <a:cs typeface="Calibri"/>
              </a:rPr>
              <a:t> </a:t>
            </a:r>
            <a:r>
              <a:rPr sz="1600" b="1" spc="-5" dirty="0">
                <a:latin typeface="Calibri"/>
                <a:cs typeface="Calibri"/>
              </a:rPr>
              <a:t>"abc";</a:t>
            </a:r>
            <a:endParaRPr sz="1600">
              <a:latin typeface="Calibri"/>
              <a:cs typeface="Calibri"/>
            </a:endParaRPr>
          </a:p>
          <a:p>
            <a:pPr>
              <a:lnSpc>
                <a:spcPct val="100000"/>
              </a:lnSpc>
              <a:spcBef>
                <a:spcPts val="20"/>
              </a:spcBef>
            </a:pPr>
            <a:endParaRPr sz="1650">
              <a:latin typeface="Times New Roman"/>
              <a:cs typeface="Times New Roman"/>
            </a:endParaRPr>
          </a:p>
          <a:p>
            <a:pPr marL="1841500">
              <a:lnSpc>
                <a:spcPct val="100000"/>
              </a:lnSpc>
            </a:pPr>
            <a:r>
              <a:rPr sz="1600" b="1" spc="-5" dirty="0">
                <a:latin typeface="Calibri"/>
                <a:cs typeface="Calibri"/>
              </a:rPr>
              <a:t>String s4 =</a:t>
            </a:r>
            <a:r>
              <a:rPr sz="1600" b="1" spc="-35" dirty="0">
                <a:latin typeface="Calibri"/>
                <a:cs typeface="Calibri"/>
              </a:rPr>
              <a:t> </a:t>
            </a:r>
            <a:r>
              <a:rPr sz="1600" b="1" spc="-5" dirty="0">
                <a:latin typeface="Calibri"/>
                <a:cs typeface="Calibri"/>
              </a:rPr>
              <a:t>"abc";</a:t>
            </a:r>
            <a:endParaRPr sz="1600">
              <a:latin typeface="Calibri"/>
              <a:cs typeface="Calibri"/>
            </a:endParaRPr>
          </a:p>
          <a:p>
            <a:pPr marL="927100">
              <a:lnSpc>
                <a:spcPct val="100000"/>
              </a:lnSpc>
            </a:pPr>
            <a:r>
              <a:rPr sz="1600" b="1" spc="-5" dirty="0">
                <a:latin typeface="Calibri"/>
                <a:cs typeface="Calibri"/>
              </a:rPr>
              <a:t>}// End of</a:t>
            </a:r>
            <a:r>
              <a:rPr sz="1600" b="1" spc="10" dirty="0">
                <a:latin typeface="Calibri"/>
                <a:cs typeface="Calibri"/>
              </a:rPr>
              <a:t> </a:t>
            </a:r>
            <a:r>
              <a:rPr sz="1600" b="1" spc="-10" dirty="0">
                <a:latin typeface="Calibri"/>
                <a:cs typeface="Calibri"/>
              </a:rPr>
              <a:t>Method</a:t>
            </a:r>
            <a:endParaRPr sz="1600">
              <a:latin typeface="Calibri"/>
              <a:cs typeface="Calibri"/>
            </a:endParaRPr>
          </a:p>
          <a:p>
            <a:pPr marL="12700">
              <a:lnSpc>
                <a:spcPct val="100000"/>
              </a:lnSpc>
            </a:pPr>
            <a:r>
              <a:rPr sz="1600" b="1" spc="-5" dirty="0">
                <a:latin typeface="Calibri"/>
                <a:cs typeface="Calibri"/>
              </a:rPr>
              <a:t>}// End of class</a:t>
            </a:r>
            <a:r>
              <a:rPr sz="1600" b="1" spc="20" dirty="0">
                <a:latin typeface="Calibri"/>
                <a:cs typeface="Calibri"/>
              </a:rPr>
              <a:t> </a:t>
            </a:r>
            <a:r>
              <a:rPr sz="1600" b="1" spc="-5" dirty="0">
                <a:latin typeface="Calibri"/>
                <a:cs typeface="Calibri"/>
              </a:rPr>
              <a:t>StringDemo</a:t>
            </a:r>
            <a:endParaRPr sz="16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5854065" cy="1031240"/>
          </a:xfrm>
          <a:prstGeom prst="rect">
            <a:avLst/>
          </a:prstGeom>
        </p:spPr>
        <p:txBody>
          <a:bodyPr vert="horz" wrap="square" lIns="0" tIns="104139" rIns="0" bIns="0" rtlCol="0">
            <a:spAutoFit/>
          </a:bodyPr>
          <a:lstStyle/>
          <a:p>
            <a:pPr marL="12700" marR="5080">
              <a:lnSpc>
                <a:spcPts val="3600"/>
              </a:lnSpc>
              <a:spcBef>
                <a:spcPts val="819"/>
              </a:spcBef>
            </a:pPr>
            <a:r>
              <a:rPr sz="3600" i="0" spc="-105" dirty="0">
                <a:solidFill>
                  <a:srgbClr val="000000"/>
                </a:solidFill>
                <a:latin typeface="Arial"/>
                <a:cs typeface="Arial"/>
              </a:rPr>
              <a:t>How </a:t>
            </a:r>
            <a:r>
              <a:rPr sz="3600" i="0" spc="-120" dirty="0">
                <a:solidFill>
                  <a:srgbClr val="000000"/>
                </a:solidFill>
                <a:latin typeface="Arial"/>
                <a:cs typeface="Arial"/>
              </a:rPr>
              <a:t>Many</a:t>
            </a:r>
            <a:r>
              <a:rPr sz="3600" i="0" spc="-780" dirty="0">
                <a:solidFill>
                  <a:srgbClr val="000000"/>
                </a:solidFill>
                <a:latin typeface="Arial"/>
                <a:cs typeface="Arial"/>
              </a:rPr>
              <a:t> </a:t>
            </a:r>
            <a:r>
              <a:rPr sz="3600" i="0" spc="-135" dirty="0">
                <a:solidFill>
                  <a:srgbClr val="000000"/>
                </a:solidFill>
                <a:latin typeface="Arial"/>
                <a:cs typeface="Arial"/>
              </a:rPr>
              <a:t>String </a:t>
            </a:r>
            <a:r>
              <a:rPr sz="3600" i="0" spc="-140" dirty="0">
                <a:solidFill>
                  <a:srgbClr val="000000"/>
                </a:solidFill>
                <a:latin typeface="Arial"/>
                <a:cs typeface="Arial"/>
              </a:rPr>
              <a:t>Objects </a:t>
            </a:r>
            <a:r>
              <a:rPr sz="3600" i="0" spc="-105" dirty="0">
                <a:solidFill>
                  <a:srgbClr val="000000"/>
                </a:solidFill>
                <a:latin typeface="Arial"/>
                <a:cs typeface="Arial"/>
              </a:rPr>
              <a:t>are  </a:t>
            </a:r>
            <a:r>
              <a:rPr sz="3600" i="0" spc="-140" dirty="0">
                <a:solidFill>
                  <a:srgbClr val="000000"/>
                </a:solidFill>
                <a:latin typeface="Arial"/>
                <a:cs typeface="Arial"/>
              </a:rPr>
              <a:t>Created?</a:t>
            </a:r>
            <a:endParaRPr sz="3600">
              <a:latin typeface="Arial"/>
              <a:cs typeface="Arial"/>
            </a:endParaRPr>
          </a:p>
        </p:txBody>
      </p:sp>
      <p:sp>
        <p:nvSpPr>
          <p:cNvPr id="3" name="object 3"/>
          <p:cNvSpPr txBox="1">
            <a:spLocks noGrp="1"/>
          </p:cNvSpPr>
          <p:nvPr>
            <p:ph sz="half" idx="2"/>
          </p:nvPr>
        </p:nvSpPr>
        <p:spPr>
          <a:prstGeom prst="rect">
            <a:avLst/>
          </a:prstGeom>
        </p:spPr>
        <p:txBody>
          <a:bodyPr vert="horz" wrap="square" lIns="0" tIns="12065" rIns="0" bIns="0" rtlCol="0">
            <a:spAutoFit/>
          </a:bodyPr>
          <a:lstStyle/>
          <a:p>
            <a:pPr marL="12700" marR="1446530">
              <a:lnSpc>
                <a:spcPct val="100000"/>
              </a:lnSpc>
              <a:spcBef>
                <a:spcPts val="95"/>
              </a:spcBef>
            </a:pPr>
            <a:r>
              <a:rPr spc="-5" dirty="0"/>
              <a:t>//File Name: </a:t>
            </a:r>
            <a:r>
              <a:rPr spc="-10" dirty="0"/>
              <a:t>StringDemo.java  </a:t>
            </a:r>
            <a:r>
              <a:rPr spc="-5" dirty="0"/>
              <a:t>class StringDemo</a:t>
            </a:r>
          </a:p>
          <a:p>
            <a:pPr marL="12700">
              <a:lnSpc>
                <a:spcPct val="100000"/>
              </a:lnSpc>
            </a:pPr>
            <a:r>
              <a:rPr spc="-5" dirty="0"/>
              <a:t>{</a:t>
            </a:r>
          </a:p>
          <a:p>
            <a:pPr marL="927100">
              <a:lnSpc>
                <a:spcPct val="100000"/>
              </a:lnSpc>
            </a:pPr>
            <a:r>
              <a:rPr spc="-5" dirty="0"/>
              <a:t>public </a:t>
            </a:r>
            <a:r>
              <a:rPr spc="-10" dirty="0"/>
              <a:t>static void main(String[]</a:t>
            </a:r>
            <a:r>
              <a:rPr spc="95" dirty="0"/>
              <a:t> </a:t>
            </a:r>
            <a:r>
              <a:rPr spc="-10" dirty="0"/>
              <a:t>args)</a:t>
            </a:r>
          </a:p>
          <a:p>
            <a:pPr marL="927100">
              <a:lnSpc>
                <a:spcPct val="100000"/>
              </a:lnSpc>
            </a:pPr>
            <a:r>
              <a:rPr spc="-5" dirty="0"/>
              <a:t>{</a:t>
            </a:r>
          </a:p>
          <a:p>
            <a:pPr marL="1841500">
              <a:lnSpc>
                <a:spcPct val="100000"/>
              </a:lnSpc>
            </a:pPr>
            <a:r>
              <a:rPr spc="-5" dirty="0">
                <a:solidFill>
                  <a:srgbClr val="FF0000"/>
                </a:solidFill>
              </a:rPr>
              <a:t>String s1 =</a:t>
            </a:r>
            <a:r>
              <a:rPr spc="-40" dirty="0">
                <a:solidFill>
                  <a:srgbClr val="FF0000"/>
                </a:solidFill>
              </a:rPr>
              <a:t> </a:t>
            </a:r>
            <a:r>
              <a:rPr spc="-5" dirty="0">
                <a:solidFill>
                  <a:srgbClr val="FF0000"/>
                </a:solidFill>
              </a:rPr>
              <a:t>"abc";</a:t>
            </a:r>
          </a:p>
          <a:p>
            <a:pPr>
              <a:lnSpc>
                <a:spcPct val="100000"/>
              </a:lnSpc>
              <a:spcBef>
                <a:spcPts val="25"/>
              </a:spcBef>
            </a:pPr>
            <a:endParaRPr sz="1650">
              <a:latin typeface="Times New Roman"/>
              <a:cs typeface="Times New Roman"/>
            </a:endParaRPr>
          </a:p>
          <a:p>
            <a:pPr marL="1841500">
              <a:lnSpc>
                <a:spcPct val="100000"/>
              </a:lnSpc>
            </a:pPr>
            <a:r>
              <a:rPr spc="-5" dirty="0"/>
              <a:t>String s2 =</a:t>
            </a:r>
            <a:r>
              <a:rPr spc="-35" dirty="0"/>
              <a:t> </a:t>
            </a:r>
            <a:r>
              <a:rPr spc="-5" dirty="0"/>
              <a:t>"abc";</a:t>
            </a:r>
          </a:p>
          <a:p>
            <a:pPr>
              <a:lnSpc>
                <a:spcPct val="100000"/>
              </a:lnSpc>
              <a:spcBef>
                <a:spcPts val="20"/>
              </a:spcBef>
            </a:pPr>
            <a:endParaRPr sz="1650">
              <a:latin typeface="Times New Roman"/>
              <a:cs typeface="Times New Roman"/>
            </a:endParaRPr>
          </a:p>
          <a:p>
            <a:pPr marL="1841500">
              <a:lnSpc>
                <a:spcPct val="100000"/>
              </a:lnSpc>
              <a:spcBef>
                <a:spcPts val="5"/>
              </a:spcBef>
            </a:pPr>
            <a:r>
              <a:rPr spc="-5" dirty="0"/>
              <a:t>String s3 =</a:t>
            </a:r>
            <a:r>
              <a:rPr spc="-40" dirty="0"/>
              <a:t> </a:t>
            </a:r>
            <a:r>
              <a:rPr spc="-5" dirty="0"/>
              <a:t>"abc";</a:t>
            </a:r>
          </a:p>
          <a:p>
            <a:pPr>
              <a:lnSpc>
                <a:spcPct val="100000"/>
              </a:lnSpc>
              <a:spcBef>
                <a:spcPts val="20"/>
              </a:spcBef>
            </a:pPr>
            <a:endParaRPr sz="1650">
              <a:latin typeface="Times New Roman"/>
              <a:cs typeface="Times New Roman"/>
            </a:endParaRPr>
          </a:p>
          <a:p>
            <a:pPr marL="1841500">
              <a:lnSpc>
                <a:spcPct val="100000"/>
              </a:lnSpc>
            </a:pPr>
            <a:r>
              <a:rPr spc="-5" dirty="0"/>
              <a:t>String s4 =</a:t>
            </a:r>
            <a:r>
              <a:rPr spc="-35" dirty="0"/>
              <a:t> </a:t>
            </a:r>
            <a:r>
              <a:rPr spc="-5" dirty="0"/>
              <a:t>"abc";</a:t>
            </a:r>
          </a:p>
          <a:p>
            <a:pPr marL="927100">
              <a:lnSpc>
                <a:spcPct val="100000"/>
              </a:lnSpc>
            </a:pPr>
            <a:r>
              <a:rPr spc="-5" dirty="0"/>
              <a:t>}// End of</a:t>
            </a:r>
            <a:r>
              <a:rPr spc="10" dirty="0"/>
              <a:t> </a:t>
            </a:r>
            <a:r>
              <a:rPr spc="-10" dirty="0"/>
              <a:t>Method</a:t>
            </a:r>
          </a:p>
          <a:p>
            <a:pPr marL="12700">
              <a:lnSpc>
                <a:spcPct val="100000"/>
              </a:lnSpc>
            </a:pPr>
            <a:r>
              <a:rPr spc="-5" dirty="0"/>
              <a:t>}// End of class</a:t>
            </a:r>
            <a:r>
              <a:rPr spc="20" dirty="0"/>
              <a:t> </a:t>
            </a:r>
            <a:r>
              <a:rPr spc="-5" dirty="0"/>
              <a:t>StringDemo</a:t>
            </a:r>
          </a:p>
        </p:txBody>
      </p:sp>
      <p:sp>
        <p:nvSpPr>
          <p:cNvPr id="4" name="object 4"/>
          <p:cNvSpPr/>
          <p:nvPr/>
        </p:nvSpPr>
        <p:spPr>
          <a:xfrm>
            <a:off x="3492246" y="2849879"/>
            <a:ext cx="1008380" cy="78105"/>
          </a:xfrm>
          <a:custGeom>
            <a:avLst/>
            <a:gdLst/>
            <a:ahLst/>
            <a:cxnLst/>
            <a:rect l="l" t="t" r="r" b="b"/>
            <a:pathLst>
              <a:path w="1008379" h="78105">
                <a:moveTo>
                  <a:pt x="77724" y="25908"/>
                </a:moveTo>
                <a:lnTo>
                  <a:pt x="0" y="25908"/>
                </a:lnTo>
                <a:lnTo>
                  <a:pt x="0" y="51816"/>
                </a:lnTo>
                <a:lnTo>
                  <a:pt x="77724" y="51816"/>
                </a:lnTo>
                <a:lnTo>
                  <a:pt x="77724" y="25908"/>
                </a:lnTo>
                <a:close/>
              </a:path>
              <a:path w="1008379" h="78105">
                <a:moveTo>
                  <a:pt x="181355" y="25908"/>
                </a:moveTo>
                <a:lnTo>
                  <a:pt x="103631" y="25908"/>
                </a:lnTo>
                <a:lnTo>
                  <a:pt x="103631" y="51816"/>
                </a:lnTo>
                <a:lnTo>
                  <a:pt x="181355" y="51816"/>
                </a:lnTo>
                <a:lnTo>
                  <a:pt x="181355" y="25908"/>
                </a:lnTo>
                <a:close/>
              </a:path>
              <a:path w="1008379" h="78105">
                <a:moveTo>
                  <a:pt x="284988" y="25908"/>
                </a:moveTo>
                <a:lnTo>
                  <a:pt x="207263" y="25908"/>
                </a:lnTo>
                <a:lnTo>
                  <a:pt x="207263" y="51816"/>
                </a:lnTo>
                <a:lnTo>
                  <a:pt x="284988" y="51816"/>
                </a:lnTo>
                <a:lnTo>
                  <a:pt x="284988" y="25908"/>
                </a:lnTo>
                <a:close/>
              </a:path>
              <a:path w="1008379" h="78105">
                <a:moveTo>
                  <a:pt x="388619" y="25908"/>
                </a:moveTo>
                <a:lnTo>
                  <a:pt x="310895" y="25908"/>
                </a:lnTo>
                <a:lnTo>
                  <a:pt x="310895" y="51816"/>
                </a:lnTo>
                <a:lnTo>
                  <a:pt x="388619" y="51816"/>
                </a:lnTo>
                <a:lnTo>
                  <a:pt x="388619" y="25908"/>
                </a:lnTo>
                <a:close/>
              </a:path>
              <a:path w="1008379" h="78105">
                <a:moveTo>
                  <a:pt x="492251" y="25908"/>
                </a:moveTo>
                <a:lnTo>
                  <a:pt x="414527" y="25908"/>
                </a:lnTo>
                <a:lnTo>
                  <a:pt x="414527" y="51816"/>
                </a:lnTo>
                <a:lnTo>
                  <a:pt x="492251" y="51816"/>
                </a:lnTo>
                <a:lnTo>
                  <a:pt x="492251" y="25908"/>
                </a:lnTo>
                <a:close/>
              </a:path>
              <a:path w="1008379" h="78105">
                <a:moveTo>
                  <a:pt x="595883" y="25908"/>
                </a:moveTo>
                <a:lnTo>
                  <a:pt x="518159" y="25908"/>
                </a:lnTo>
                <a:lnTo>
                  <a:pt x="518159" y="51816"/>
                </a:lnTo>
                <a:lnTo>
                  <a:pt x="595883" y="51816"/>
                </a:lnTo>
                <a:lnTo>
                  <a:pt x="595883" y="25908"/>
                </a:lnTo>
                <a:close/>
              </a:path>
              <a:path w="1008379" h="78105">
                <a:moveTo>
                  <a:pt x="699515" y="25908"/>
                </a:moveTo>
                <a:lnTo>
                  <a:pt x="621791" y="25908"/>
                </a:lnTo>
                <a:lnTo>
                  <a:pt x="621791" y="51816"/>
                </a:lnTo>
                <a:lnTo>
                  <a:pt x="699515" y="51816"/>
                </a:lnTo>
                <a:lnTo>
                  <a:pt x="699515" y="25908"/>
                </a:lnTo>
                <a:close/>
              </a:path>
              <a:path w="1008379" h="78105">
                <a:moveTo>
                  <a:pt x="803148" y="25908"/>
                </a:moveTo>
                <a:lnTo>
                  <a:pt x="725424" y="25908"/>
                </a:lnTo>
                <a:lnTo>
                  <a:pt x="725424" y="51816"/>
                </a:lnTo>
                <a:lnTo>
                  <a:pt x="803148" y="51816"/>
                </a:lnTo>
                <a:lnTo>
                  <a:pt x="803148" y="25908"/>
                </a:lnTo>
                <a:close/>
              </a:path>
              <a:path w="1008379" h="78105">
                <a:moveTo>
                  <a:pt x="906779" y="25908"/>
                </a:moveTo>
                <a:lnTo>
                  <a:pt x="829055" y="25908"/>
                </a:lnTo>
                <a:lnTo>
                  <a:pt x="829055" y="51816"/>
                </a:lnTo>
                <a:lnTo>
                  <a:pt x="906779" y="51816"/>
                </a:lnTo>
                <a:lnTo>
                  <a:pt x="906779" y="25908"/>
                </a:lnTo>
                <a:close/>
              </a:path>
              <a:path w="1008379" h="78105">
                <a:moveTo>
                  <a:pt x="930401" y="0"/>
                </a:moveTo>
                <a:lnTo>
                  <a:pt x="930401" y="77724"/>
                </a:lnTo>
                <a:lnTo>
                  <a:pt x="982217" y="51816"/>
                </a:lnTo>
                <a:lnTo>
                  <a:pt x="932688" y="51816"/>
                </a:lnTo>
                <a:lnTo>
                  <a:pt x="932688" y="25908"/>
                </a:lnTo>
                <a:lnTo>
                  <a:pt x="982218" y="25908"/>
                </a:lnTo>
                <a:lnTo>
                  <a:pt x="930401" y="0"/>
                </a:lnTo>
                <a:close/>
              </a:path>
              <a:path w="1008379" h="78105">
                <a:moveTo>
                  <a:pt x="943355" y="25908"/>
                </a:moveTo>
                <a:lnTo>
                  <a:pt x="932688" y="25908"/>
                </a:lnTo>
                <a:lnTo>
                  <a:pt x="932688" y="51816"/>
                </a:lnTo>
                <a:lnTo>
                  <a:pt x="943355" y="51816"/>
                </a:lnTo>
                <a:lnTo>
                  <a:pt x="943355" y="25908"/>
                </a:lnTo>
                <a:close/>
              </a:path>
              <a:path w="1008379" h="78105">
                <a:moveTo>
                  <a:pt x="982218" y="25908"/>
                </a:moveTo>
                <a:lnTo>
                  <a:pt x="943355" y="25908"/>
                </a:lnTo>
                <a:lnTo>
                  <a:pt x="943355" y="51816"/>
                </a:lnTo>
                <a:lnTo>
                  <a:pt x="982217" y="51816"/>
                </a:lnTo>
                <a:lnTo>
                  <a:pt x="1008126" y="38862"/>
                </a:lnTo>
                <a:lnTo>
                  <a:pt x="982218" y="25908"/>
                </a:lnTo>
                <a:close/>
              </a:path>
            </a:pathLst>
          </a:custGeom>
          <a:solidFill>
            <a:srgbClr val="FF0000"/>
          </a:solidFill>
        </p:spPr>
        <p:txBody>
          <a:bodyPr wrap="square" lIns="0" tIns="0" rIns="0" bIns="0" rtlCol="0"/>
          <a:lstStyle/>
          <a:p>
            <a:endParaRPr/>
          </a:p>
        </p:txBody>
      </p:sp>
      <p:sp>
        <p:nvSpPr>
          <p:cNvPr id="5" name="object 5"/>
          <p:cNvSpPr txBox="1"/>
          <p:nvPr/>
        </p:nvSpPr>
        <p:spPr>
          <a:xfrm>
            <a:off x="4560189" y="2721102"/>
            <a:ext cx="28092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String s1 = </a:t>
            </a:r>
            <a:r>
              <a:rPr sz="1800" b="1" spc="-5" dirty="0">
                <a:solidFill>
                  <a:srgbClr val="FF0000"/>
                </a:solidFill>
                <a:latin typeface="Calibri"/>
                <a:cs typeface="Calibri"/>
              </a:rPr>
              <a:t>new</a:t>
            </a:r>
            <a:r>
              <a:rPr sz="1800" b="1" spc="-125" dirty="0">
                <a:solidFill>
                  <a:srgbClr val="FF0000"/>
                </a:solidFill>
                <a:latin typeface="Calibri"/>
                <a:cs typeface="Calibri"/>
              </a:rPr>
              <a:t> </a:t>
            </a:r>
            <a:r>
              <a:rPr sz="1800" b="1" dirty="0">
                <a:solidFill>
                  <a:srgbClr val="FF0000"/>
                </a:solidFill>
                <a:latin typeface="Calibri"/>
                <a:cs typeface="Calibri"/>
              </a:rPr>
              <a:t>String("abc“);</a:t>
            </a:r>
            <a:endParaRPr sz="1800">
              <a:latin typeface="Calibri"/>
              <a:cs typeface="Calibri"/>
            </a:endParaRPr>
          </a:p>
        </p:txBody>
      </p:sp>
      <p:sp>
        <p:nvSpPr>
          <p:cNvPr id="6" name="object 6"/>
          <p:cNvSpPr/>
          <p:nvPr/>
        </p:nvSpPr>
        <p:spPr>
          <a:xfrm>
            <a:off x="5925311" y="3073145"/>
            <a:ext cx="78105" cy="951865"/>
          </a:xfrm>
          <a:custGeom>
            <a:avLst/>
            <a:gdLst/>
            <a:ahLst/>
            <a:cxnLst/>
            <a:rect l="l" t="t" r="r" b="b"/>
            <a:pathLst>
              <a:path w="78104" h="951864">
                <a:moveTo>
                  <a:pt x="51815" y="0"/>
                </a:moveTo>
                <a:lnTo>
                  <a:pt x="25908" y="0"/>
                </a:lnTo>
                <a:lnTo>
                  <a:pt x="25908" y="77724"/>
                </a:lnTo>
                <a:lnTo>
                  <a:pt x="51815" y="77724"/>
                </a:lnTo>
                <a:lnTo>
                  <a:pt x="51815" y="0"/>
                </a:lnTo>
                <a:close/>
              </a:path>
              <a:path w="78104" h="951864">
                <a:moveTo>
                  <a:pt x="51815" y="103631"/>
                </a:moveTo>
                <a:lnTo>
                  <a:pt x="25908" y="103631"/>
                </a:lnTo>
                <a:lnTo>
                  <a:pt x="25908" y="181355"/>
                </a:lnTo>
                <a:lnTo>
                  <a:pt x="51815" y="181355"/>
                </a:lnTo>
                <a:lnTo>
                  <a:pt x="51815" y="103631"/>
                </a:lnTo>
                <a:close/>
              </a:path>
              <a:path w="78104" h="951864">
                <a:moveTo>
                  <a:pt x="51815" y="207263"/>
                </a:moveTo>
                <a:lnTo>
                  <a:pt x="25908" y="207263"/>
                </a:lnTo>
                <a:lnTo>
                  <a:pt x="25908" y="284988"/>
                </a:lnTo>
                <a:lnTo>
                  <a:pt x="51815" y="284988"/>
                </a:lnTo>
                <a:lnTo>
                  <a:pt x="51815" y="207263"/>
                </a:lnTo>
                <a:close/>
              </a:path>
              <a:path w="78104" h="951864">
                <a:moveTo>
                  <a:pt x="51815" y="310895"/>
                </a:moveTo>
                <a:lnTo>
                  <a:pt x="25908" y="310895"/>
                </a:lnTo>
                <a:lnTo>
                  <a:pt x="25908" y="388619"/>
                </a:lnTo>
                <a:lnTo>
                  <a:pt x="51815" y="388619"/>
                </a:lnTo>
                <a:lnTo>
                  <a:pt x="51815" y="310895"/>
                </a:lnTo>
                <a:close/>
              </a:path>
              <a:path w="78104" h="951864">
                <a:moveTo>
                  <a:pt x="51815" y="414527"/>
                </a:moveTo>
                <a:lnTo>
                  <a:pt x="25908" y="414527"/>
                </a:lnTo>
                <a:lnTo>
                  <a:pt x="25908" y="492251"/>
                </a:lnTo>
                <a:lnTo>
                  <a:pt x="51815" y="492251"/>
                </a:lnTo>
                <a:lnTo>
                  <a:pt x="51815" y="414527"/>
                </a:lnTo>
                <a:close/>
              </a:path>
              <a:path w="78104" h="951864">
                <a:moveTo>
                  <a:pt x="51815" y="518159"/>
                </a:moveTo>
                <a:lnTo>
                  <a:pt x="25908" y="518159"/>
                </a:lnTo>
                <a:lnTo>
                  <a:pt x="25908" y="595883"/>
                </a:lnTo>
                <a:lnTo>
                  <a:pt x="51815" y="595883"/>
                </a:lnTo>
                <a:lnTo>
                  <a:pt x="51815" y="518159"/>
                </a:lnTo>
                <a:close/>
              </a:path>
              <a:path w="78104" h="951864">
                <a:moveTo>
                  <a:pt x="51815" y="621791"/>
                </a:moveTo>
                <a:lnTo>
                  <a:pt x="25908" y="621791"/>
                </a:lnTo>
                <a:lnTo>
                  <a:pt x="25908" y="699515"/>
                </a:lnTo>
                <a:lnTo>
                  <a:pt x="51815" y="699515"/>
                </a:lnTo>
                <a:lnTo>
                  <a:pt x="51815" y="621791"/>
                </a:lnTo>
                <a:close/>
              </a:path>
              <a:path w="78104" h="951864">
                <a:moveTo>
                  <a:pt x="51815" y="725423"/>
                </a:moveTo>
                <a:lnTo>
                  <a:pt x="25908" y="725423"/>
                </a:lnTo>
                <a:lnTo>
                  <a:pt x="25908" y="803147"/>
                </a:lnTo>
                <a:lnTo>
                  <a:pt x="51815" y="803147"/>
                </a:lnTo>
                <a:lnTo>
                  <a:pt x="51815" y="725423"/>
                </a:lnTo>
                <a:close/>
              </a:path>
              <a:path w="78104" h="951864">
                <a:moveTo>
                  <a:pt x="25908" y="873886"/>
                </a:moveTo>
                <a:lnTo>
                  <a:pt x="0" y="873886"/>
                </a:lnTo>
                <a:lnTo>
                  <a:pt x="38862" y="951610"/>
                </a:lnTo>
                <a:lnTo>
                  <a:pt x="71247" y="886840"/>
                </a:lnTo>
                <a:lnTo>
                  <a:pt x="25908" y="886840"/>
                </a:lnTo>
                <a:lnTo>
                  <a:pt x="25908" y="873886"/>
                </a:lnTo>
                <a:close/>
              </a:path>
              <a:path w="78104" h="951864">
                <a:moveTo>
                  <a:pt x="51815" y="829055"/>
                </a:moveTo>
                <a:lnTo>
                  <a:pt x="25908" y="829055"/>
                </a:lnTo>
                <a:lnTo>
                  <a:pt x="25908" y="886840"/>
                </a:lnTo>
                <a:lnTo>
                  <a:pt x="51815" y="886840"/>
                </a:lnTo>
                <a:lnTo>
                  <a:pt x="51815" y="829055"/>
                </a:lnTo>
                <a:close/>
              </a:path>
              <a:path w="78104" h="951864">
                <a:moveTo>
                  <a:pt x="77724" y="873886"/>
                </a:moveTo>
                <a:lnTo>
                  <a:pt x="51815" y="873886"/>
                </a:lnTo>
                <a:lnTo>
                  <a:pt x="51815" y="886840"/>
                </a:lnTo>
                <a:lnTo>
                  <a:pt x="71247" y="886840"/>
                </a:lnTo>
                <a:lnTo>
                  <a:pt x="77724" y="873886"/>
                </a:lnTo>
                <a:close/>
              </a:path>
            </a:pathLst>
          </a:custGeom>
          <a:solidFill>
            <a:srgbClr val="FF0000"/>
          </a:solidFill>
        </p:spPr>
        <p:txBody>
          <a:bodyPr wrap="square" lIns="0" tIns="0" rIns="0" bIns="0" rtlCol="0"/>
          <a:lstStyle/>
          <a:p>
            <a:endParaRPr/>
          </a:p>
        </p:txBody>
      </p:sp>
      <p:sp>
        <p:nvSpPr>
          <p:cNvPr id="7" name="object 7"/>
          <p:cNvSpPr txBox="1"/>
          <p:nvPr/>
        </p:nvSpPr>
        <p:spPr>
          <a:xfrm>
            <a:off x="5007355" y="4449571"/>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s1</a:t>
            </a:r>
            <a:endParaRPr sz="1800">
              <a:latin typeface="Calibri"/>
              <a:cs typeface="Calibri"/>
            </a:endParaRPr>
          </a:p>
        </p:txBody>
      </p:sp>
      <p:sp>
        <p:nvSpPr>
          <p:cNvPr id="8" name="object 8"/>
          <p:cNvSpPr/>
          <p:nvPr/>
        </p:nvSpPr>
        <p:spPr>
          <a:xfrm>
            <a:off x="5289041" y="4593335"/>
            <a:ext cx="1008380" cy="78105"/>
          </a:xfrm>
          <a:custGeom>
            <a:avLst/>
            <a:gdLst/>
            <a:ahLst/>
            <a:cxnLst/>
            <a:rect l="l" t="t" r="r" b="b"/>
            <a:pathLst>
              <a:path w="1008379" h="78104">
                <a:moveTo>
                  <a:pt x="77724" y="25907"/>
                </a:moveTo>
                <a:lnTo>
                  <a:pt x="0" y="25907"/>
                </a:lnTo>
                <a:lnTo>
                  <a:pt x="0" y="51815"/>
                </a:lnTo>
                <a:lnTo>
                  <a:pt x="77724" y="51815"/>
                </a:lnTo>
                <a:lnTo>
                  <a:pt x="77724" y="25907"/>
                </a:lnTo>
                <a:close/>
              </a:path>
              <a:path w="1008379" h="78104">
                <a:moveTo>
                  <a:pt x="181356" y="25907"/>
                </a:moveTo>
                <a:lnTo>
                  <a:pt x="103632" y="25907"/>
                </a:lnTo>
                <a:lnTo>
                  <a:pt x="103632" y="51815"/>
                </a:lnTo>
                <a:lnTo>
                  <a:pt x="181356" y="51815"/>
                </a:lnTo>
                <a:lnTo>
                  <a:pt x="181356" y="25907"/>
                </a:lnTo>
                <a:close/>
              </a:path>
              <a:path w="1008379" h="78104">
                <a:moveTo>
                  <a:pt x="284988" y="25907"/>
                </a:moveTo>
                <a:lnTo>
                  <a:pt x="207263" y="25907"/>
                </a:lnTo>
                <a:lnTo>
                  <a:pt x="207263" y="51815"/>
                </a:lnTo>
                <a:lnTo>
                  <a:pt x="284988" y="51815"/>
                </a:lnTo>
                <a:lnTo>
                  <a:pt x="284988" y="25907"/>
                </a:lnTo>
                <a:close/>
              </a:path>
              <a:path w="1008379" h="78104">
                <a:moveTo>
                  <a:pt x="388620" y="25907"/>
                </a:moveTo>
                <a:lnTo>
                  <a:pt x="310896" y="25907"/>
                </a:lnTo>
                <a:lnTo>
                  <a:pt x="310896" y="51815"/>
                </a:lnTo>
                <a:lnTo>
                  <a:pt x="388620" y="51815"/>
                </a:lnTo>
                <a:lnTo>
                  <a:pt x="388620" y="25907"/>
                </a:lnTo>
                <a:close/>
              </a:path>
              <a:path w="1008379" h="78104">
                <a:moveTo>
                  <a:pt x="492252" y="25907"/>
                </a:moveTo>
                <a:lnTo>
                  <a:pt x="414528" y="25907"/>
                </a:lnTo>
                <a:lnTo>
                  <a:pt x="414528" y="51815"/>
                </a:lnTo>
                <a:lnTo>
                  <a:pt x="492252" y="51815"/>
                </a:lnTo>
                <a:lnTo>
                  <a:pt x="492252" y="25907"/>
                </a:lnTo>
                <a:close/>
              </a:path>
              <a:path w="1008379" h="78104">
                <a:moveTo>
                  <a:pt x="595884" y="25907"/>
                </a:moveTo>
                <a:lnTo>
                  <a:pt x="518160" y="25907"/>
                </a:lnTo>
                <a:lnTo>
                  <a:pt x="518160" y="51815"/>
                </a:lnTo>
                <a:lnTo>
                  <a:pt x="595884" y="51815"/>
                </a:lnTo>
                <a:lnTo>
                  <a:pt x="595884" y="25907"/>
                </a:lnTo>
                <a:close/>
              </a:path>
              <a:path w="1008379" h="78104">
                <a:moveTo>
                  <a:pt x="699516" y="25907"/>
                </a:moveTo>
                <a:lnTo>
                  <a:pt x="621792" y="25907"/>
                </a:lnTo>
                <a:lnTo>
                  <a:pt x="621792" y="51815"/>
                </a:lnTo>
                <a:lnTo>
                  <a:pt x="699516" y="51815"/>
                </a:lnTo>
                <a:lnTo>
                  <a:pt x="699516" y="25907"/>
                </a:lnTo>
                <a:close/>
              </a:path>
              <a:path w="1008379" h="78104">
                <a:moveTo>
                  <a:pt x="803148" y="25907"/>
                </a:moveTo>
                <a:lnTo>
                  <a:pt x="725424" y="25907"/>
                </a:lnTo>
                <a:lnTo>
                  <a:pt x="725424" y="51815"/>
                </a:lnTo>
                <a:lnTo>
                  <a:pt x="803148" y="51815"/>
                </a:lnTo>
                <a:lnTo>
                  <a:pt x="803148" y="25907"/>
                </a:lnTo>
                <a:close/>
              </a:path>
              <a:path w="1008379" h="78104">
                <a:moveTo>
                  <a:pt x="906780" y="25907"/>
                </a:moveTo>
                <a:lnTo>
                  <a:pt x="829056" y="25907"/>
                </a:lnTo>
                <a:lnTo>
                  <a:pt x="829056" y="51815"/>
                </a:lnTo>
                <a:lnTo>
                  <a:pt x="906780" y="51815"/>
                </a:lnTo>
                <a:lnTo>
                  <a:pt x="906780" y="25907"/>
                </a:lnTo>
                <a:close/>
              </a:path>
              <a:path w="1008379" h="78104">
                <a:moveTo>
                  <a:pt x="930402" y="0"/>
                </a:moveTo>
                <a:lnTo>
                  <a:pt x="930402" y="77724"/>
                </a:lnTo>
                <a:lnTo>
                  <a:pt x="982218" y="51815"/>
                </a:lnTo>
                <a:lnTo>
                  <a:pt x="932688" y="51815"/>
                </a:lnTo>
                <a:lnTo>
                  <a:pt x="932688" y="25907"/>
                </a:lnTo>
                <a:lnTo>
                  <a:pt x="982217" y="25907"/>
                </a:lnTo>
                <a:lnTo>
                  <a:pt x="930402" y="0"/>
                </a:lnTo>
                <a:close/>
              </a:path>
              <a:path w="1008379" h="78104">
                <a:moveTo>
                  <a:pt x="943356" y="25907"/>
                </a:moveTo>
                <a:lnTo>
                  <a:pt x="932688" y="25907"/>
                </a:lnTo>
                <a:lnTo>
                  <a:pt x="932688" y="51815"/>
                </a:lnTo>
                <a:lnTo>
                  <a:pt x="943356" y="51815"/>
                </a:lnTo>
                <a:lnTo>
                  <a:pt x="943356" y="25907"/>
                </a:lnTo>
                <a:close/>
              </a:path>
              <a:path w="1008379" h="78104">
                <a:moveTo>
                  <a:pt x="982217" y="25907"/>
                </a:moveTo>
                <a:lnTo>
                  <a:pt x="943356" y="25907"/>
                </a:lnTo>
                <a:lnTo>
                  <a:pt x="943356" y="51815"/>
                </a:lnTo>
                <a:lnTo>
                  <a:pt x="982218" y="51815"/>
                </a:lnTo>
                <a:lnTo>
                  <a:pt x="1008126" y="38862"/>
                </a:lnTo>
                <a:lnTo>
                  <a:pt x="982217" y="25907"/>
                </a:lnTo>
                <a:close/>
              </a:path>
            </a:pathLst>
          </a:custGeom>
          <a:solidFill>
            <a:srgbClr val="FF0000"/>
          </a:solidFill>
        </p:spPr>
        <p:txBody>
          <a:bodyPr wrap="square" lIns="0" tIns="0" rIns="0" bIns="0" rtlCol="0"/>
          <a:lstStyle/>
          <a:p>
            <a:endParaRPr/>
          </a:p>
        </p:txBody>
      </p:sp>
      <p:sp>
        <p:nvSpPr>
          <p:cNvPr id="9" name="object 9"/>
          <p:cNvSpPr txBox="1"/>
          <p:nvPr/>
        </p:nvSpPr>
        <p:spPr>
          <a:xfrm>
            <a:off x="6337553" y="4431029"/>
            <a:ext cx="515620" cy="504825"/>
          </a:xfrm>
          <a:prstGeom prst="rect">
            <a:avLst/>
          </a:prstGeom>
          <a:ln w="25907">
            <a:solidFill>
              <a:srgbClr val="385D89"/>
            </a:solidFill>
          </a:ln>
        </p:spPr>
        <p:txBody>
          <a:bodyPr vert="horz" wrap="square" lIns="0" tIns="53975" rIns="0" bIns="0" rtlCol="0">
            <a:spAutoFit/>
          </a:bodyPr>
          <a:lstStyle/>
          <a:p>
            <a:pPr marL="91440">
              <a:lnSpc>
                <a:spcPct val="100000"/>
              </a:lnSpc>
              <a:spcBef>
                <a:spcPts val="425"/>
              </a:spcBef>
            </a:pPr>
            <a:r>
              <a:rPr sz="1800" b="1" dirty="0">
                <a:latin typeface="Calibri"/>
                <a:cs typeface="Calibri"/>
              </a:rPr>
              <a:t>abc</a:t>
            </a:r>
            <a:endParaRPr sz="1800">
              <a:latin typeface="Calibri"/>
              <a:cs typeface="Calibri"/>
            </a:endParaRPr>
          </a:p>
        </p:txBody>
      </p:sp>
      <p:sp>
        <p:nvSpPr>
          <p:cNvPr id="10" name="object 10"/>
          <p:cNvSpPr txBox="1"/>
          <p:nvPr/>
        </p:nvSpPr>
        <p:spPr>
          <a:xfrm>
            <a:off x="6272021" y="4042409"/>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Calibri"/>
                <a:cs typeface="Calibri"/>
              </a:rPr>
              <a:t>:String</a:t>
            </a:r>
            <a:endParaRPr sz="1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5854065" cy="1031240"/>
          </a:xfrm>
          <a:prstGeom prst="rect">
            <a:avLst/>
          </a:prstGeom>
        </p:spPr>
        <p:txBody>
          <a:bodyPr vert="horz" wrap="square" lIns="0" tIns="104139" rIns="0" bIns="0" rtlCol="0">
            <a:spAutoFit/>
          </a:bodyPr>
          <a:lstStyle/>
          <a:p>
            <a:pPr marL="12700" marR="5080">
              <a:lnSpc>
                <a:spcPts val="3600"/>
              </a:lnSpc>
              <a:spcBef>
                <a:spcPts val="819"/>
              </a:spcBef>
            </a:pPr>
            <a:r>
              <a:rPr sz="3600" i="0" spc="-105" dirty="0">
                <a:solidFill>
                  <a:srgbClr val="000000"/>
                </a:solidFill>
                <a:latin typeface="Arial"/>
                <a:cs typeface="Arial"/>
              </a:rPr>
              <a:t>How </a:t>
            </a:r>
            <a:r>
              <a:rPr sz="3600" i="0" spc="-120" dirty="0">
                <a:solidFill>
                  <a:srgbClr val="000000"/>
                </a:solidFill>
                <a:latin typeface="Arial"/>
                <a:cs typeface="Arial"/>
              </a:rPr>
              <a:t>Many</a:t>
            </a:r>
            <a:r>
              <a:rPr sz="3600" i="0" spc="-780" dirty="0">
                <a:solidFill>
                  <a:srgbClr val="000000"/>
                </a:solidFill>
                <a:latin typeface="Arial"/>
                <a:cs typeface="Arial"/>
              </a:rPr>
              <a:t> </a:t>
            </a:r>
            <a:r>
              <a:rPr sz="3600" i="0" spc="-135" dirty="0">
                <a:solidFill>
                  <a:srgbClr val="000000"/>
                </a:solidFill>
                <a:latin typeface="Arial"/>
                <a:cs typeface="Arial"/>
              </a:rPr>
              <a:t>String </a:t>
            </a:r>
            <a:r>
              <a:rPr sz="3600" i="0" spc="-140" dirty="0">
                <a:solidFill>
                  <a:srgbClr val="000000"/>
                </a:solidFill>
                <a:latin typeface="Arial"/>
                <a:cs typeface="Arial"/>
              </a:rPr>
              <a:t>Objects </a:t>
            </a:r>
            <a:r>
              <a:rPr sz="3600" i="0" spc="-105" dirty="0">
                <a:solidFill>
                  <a:srgbClr val="000000"/>
                </a:solidFill>
                <a:latin typeface="Arial"/>
                <a:cs typeface="Arial"/>
              </a:rPr>
              <a:t>are  </a:t>
            </a:r>
            <a:r>
              <a:rPr sz="3600" i="0" spc="-140" dirty="0">
                <a:solidFill>
                  <a:srgbClr val="000000"/>
                </a:solidFill>
                <a:latin typeface="Arial"/>
                <a:cs typeface="Arial"/>
              </a:rPr>
              <a:t>Created?</a:t>
            </a:r>
            <a:endParaRPr sz="3600">
              <a:latin typeface="Arial"/>
              <a:cs typeface="Arial"/>
            </a:endParaRPr>
          </a:p>
        </p:txBody>
      </p:sp>
      <p:sp>
        <p:nvSpPr>
          <p:cNvPr id="3" name="object 3"/>
          <p:cNvSpPr txBox="1">
            <a:spLocks noGrp="1"/>
          </p:cNvSpPr>
          <p:nvPr>
            <p:ph sz="half" idx="2"/>
          </p:nvPr>
        </p:nvSpPr>
        <p:spPr>
          <a:prstGeom prst="rect">
            <a:avLst/>
          </a:prstGeom>
        </p:spPr>
        <p:txBody>
          <a:bodyPr vert="horz" wrap="square" lIns="0" tIns="12065" rIns="0" bIns="0" rtlCol="0">
            <a:spAutoFit/>
          </a:bodyPr>
          <a:lstStyle/>
          <a:p>
            <a:pPr marL="12700" marR="1446530">
              <a:lnSpc>
                <a:spcPct val="100000"/>
              </a:lnSpc>
              <a:spcBef>
                <a:spcPts val="95"/>
              </a:spcBef>
            </a:pPr>
            <a:r>
              <a:rPr spc="-5" dirty="0"/>
              <a:t>//File Name: </a:t>
            </a:r>
            <a:r>
              <a:rPr spc="-10" dirty="0"/>
              <a:t>StringDemo.java  </a:t>
            </a:r>
            <a:r>
              <a:rPr spc="-5" dirty="0"/>
              <a:t>class StringDemo</a:t>
            </a:r>
          </a:p>
          <a:p>
            <a:pPr marL="12700">
              <a:lnSpc>
                <a:spcPct val="100000"/>
              </a:lnSpc>
            </a:pPr>
            <a:r>
              <a:rPr spc="-5" dirty="0"/>
              <a:t>{</a:t>
            </a:r>
          </a:p>
          <a:p>
            <a:pPr marL="927100">
              <a:lnSpc>
                <a:spcPct val="100000"/>
              </a:lnSpc>
            </a:pPr>
            <a:r>
              <a:rPr spc="-5" dirty="0"/>
              <a:t>public </a:t>
            </a:r>
            <a:r>
              <a:rPr spc="-10" dirty="0"/>
              <a:t>static void main(String[]</a:t>
            </a:r>
            <a:r>
              <a:rPr spc="95" dirty="0"/>
              <a:t> </a:t>
            </a:r>
            <a:r>
              <a:rPr spc="-10" dirty="0"/>
              <a:t>args)</a:t>
            </a:r>
          </a:p>
          <a:p>
            <a:pPr marL="927100">
              <a:lnSpc>
                <a:spcPct val="100000"/>
              </a:lnSpc>
            </a:pPr>
            <a:r>
              <a:rPr spc="-5" dirty="0"/>
              <a:t>{</a:t>
            </a:r>
          </a:p>
          <a:p>
            <a:pPr marL="1841500">
              <a:lnSpc>
                <a:spcPct val="100000"/>
              </a:lnSpc>
            </a:pPr>
            <a:r>
              <a:rPr spc="-5" dirty="0">
                <a:solidFill>
                  <a:srgbClr val="FF0000"/>
                </a:solidFill>
              </a:rPr>
              <a:t>String s1 =</a:t>
            </a:r>
            <a:r>
              <a:rPr spc="-40" dirty="0">
                <a:solidFill>
                  <a:srgbClr val="FF0000"/>
                </a:solidFill>
              </a:rPr>
              <a:t> </a:t>
            </a:r>
            <a:r>
              <a:rPr spc="-5" dirty="0">
                <a:solidFill>
                  <a:srgbClr val="FF0000"/>
                </a:solidFill>
              </a:rPr>
              <a:t>"abc";</a:t>
            </a:r>
          </a:p>
          <a:p>
            <a:pPr>
              <a:lnSpc>
                <a:spcPct val="100000"/>
              </a:lnSpc>
              <a:spcBef>
                <a:spcPts val="25"/>
              </a:spcBef>
            </a:pPr>
            <a:endParaRPr sz="1650">
              <a:latin typeface="Times New Roman"/>
              <a:cs typeface="Times New Roman"/>
            </a:endParaRPr>
          </a:p>
          <a:p>
            <a:pPr marL="1841500">
              <a:lnSpc>
                <a:spcPct val="100000"/>
              </a:lnSpc>
            </a:pPr>
            <a:r>
              <a:rPr spc="-5" dirty="0">
                <a:solidFill>
                  <a:srgbClr val="FF0000"/>
                </a:solidFill>
              </a:rPr>
              <a:t>String s2 =</a:t>
            </a:r>
            <a:r>
              <a:rPr spc="-35" dirty="0">
                <a:solidFill>
                  <a:srgbClr val="FF0000"/>
                </a:solidFill>
              </a:rPr>
              <a:t> </a:t>
            </a:r>
            <a:r>
              <a:rPr spc="-5" dirty="0">
                <a:solidFill>
                  <a:srgbClr val="FF0000"/>
                </a:solidFill>
              </a:rPr>
              <a:t>"abc";</a:t>
            </a:r>
          </a:p>
          <a:p>
            <a:pPr>
              <a:lnSpc>
                <a:spcPct val="100000"/>
              </a:lnSpc>
              <a:spcBef>
                <a:spcPts val="20"/>
              </a:spcBef>
            </a:pPr>
            <a:endParaRPr sz="1650">
              <a:latin typeface="Times New Roman"/>
              <a:cs typeface="Times New Roman"/>
            </a:endParaRPr>
          </a:p>
          <a:p>
            <a:pPr marL="1841500">
              <a:lnSpc>
                <a:spcPct val="100000"/>
              </a:lnSpc>
              <a:spcBef>
                <a:spcPts val="5"/>
              </a:spcBef>
            </a:pPr>
            <a:r>
              <a:rPr spc="-5" dirty="0"/>
              <a:t>String s3 =</a:t>
            </a:r>
            <a:r>
              <a:rPr spc="-40" dirty="0"/>
              <a:t> </a:t>
            </a:r>
            <a:r>
              <a:rPr spc="-5" dirty="0"/>
              <a:t>"abc";</a:t>
            </a:r>
          </a:p>
          <a:p>
            <a:pPr>
              <a:lnSpc>
                <a:spcPct val="100000"/>
              </a:lnSpc>
              <a:spcBef>
                <a:spcPts val="20"/>
              </a:spcBef>
            </a:pPr>
            <a:endParaRPr sz="1650">
              <a:latin typeface="Times New Roman"/>
              <a:cs typeface="Times New Roman"/>
            </a:endParaRPr>
          </a:p>
          <a:p>
            <a:pPr marL="1841500">
              <a:lnSpc>
                <a:spcPct val="100000"/>
              </a:lnSpc>
            </a:pPr>
            <a:r>
              <a:rPr spc="-5" dirty="0"/>
              <a:t>String s4 =</a:t>
            </a:r>
            <a:r>
              <a:rPr spc="-35" dirty="0"/>
              <a:t> </a:t>
            </a:r>
            <a:r>
              <a:rPr spc="-5" dirty="0"/>
              <a:t>"abc";</a:t>
            </a:r>
          </a:p>
          <a:p>
            <a:pPr marL="927100">
              <a:lnSpc>
                <a:spcPct val="100000"/>
              </a:lnSpc>
            </a:pPr>
            <a:r>
              <a:rPr spc="-5" dirty="0"/>
              <a:t>}// End of</a:t>
            </a:r>
            <a:r>
              <a:rPr spc="10" dirty="0"/>
              <a:t> </a:t>
            </a:r>
            <a:r>
              <a:rPr spc="-10" dirty="0"/>
              <a:t>Method</a:t>
            </a:r>
          </a:p>
          <a:p>
            <a:pPr marL="12700">
              <a:lnSpc>
                <a:spcPct val="100000"/>
              </a:lnSpc>
            </a:pPr>
            <a:r>
              <a:rPr spc="-5" dirty="0"/>
              <a:t>}// End of class</a:t>
            </a:r>
            <a:r>
              <a:rPr spc="20" dirty="0"/>
              <a:t> </a:t>
            </a:r>
            <a:r>
              <a:rPr spc="-5" dirty="0"/>
              <a:t>StringDemo</a:t>
            </a:r>
          </a:p>
        </p:txBody>
      </p:sp>
      <p:sp>
        <p:nvSpPr>
          <p:cNvPr id="4" name="object 4"/>
          <p:cNvSpPr/>
          <p:nvPr/>
        </p:nvSpPr>
        <p:spPr>
          <a:xfrm>
            <a:off x="3492246" y="2849879"/>
            <a:ext cx="1008380" cy="78105"/>
          </a:xfrm>
          <a:custGeom>
            <a:avLst/>
            <a:gdLst/>
            <a:ahLst/>
            <a:cxnLst/>
            <a:rect l="l" t="t" r="r" b="b"/>
            <a:pathLst>
              <a:path w="1008379" h="78105">
                <a:moveTo>
                  <a:pt x="77724" y="25908"/>
                </a:moveTo>
                <a:lnTo>
                  <a:pt x="0" y="25908"/>
                </a:lnTo>
                <a:lnTo>
                  <a:pt x="0" y="51816"/>
                </a:lnTo>
                <a:lnTo>
                  <a:pt x="77724" y="51816"/>
                </a:lnTo>
                <a:lnTo>
                  <a:pt x="77724" y="25908"/>
                </a:lnTo>
                <a:close/>
              </a:path>
              <a:path w="1008379" h="78105">
                <a:moveTo>
                  <a:pt x="181355" y="25908"/>
                </a:moveTo>
                <a:lnTo>
                  <a:pt x="103631" y="25908"/>
                </a:lnTo>
                <a:lnTo>
                  <a:pt x="103631" y="51816"/>
                </a:lnTo>
                <a:lnTo>
                  <a:pt x="181355" y="51816"/>
                </a:lnTo>
                <a:lnTo>
                  <a:pt x="181355" y="25908"/>
                </a:lnTo>
                <a:close/>
              </a:path>
              <a:path w="1008379" h="78105">
                <a:moveTo>
                  <a:pt x="284988" y="25908"/>
                </a:moveTo>
                <a:lnTo>
                  <a:pt x="207263" y="25908"/>
                </a:lnTo>
                <a:lnTo>
                  <a:pt x="207263" y="51816"/>
                </a:lnTo>
                <a:lnTo>
                  <a:pt x="284988" y="51816"/>
                </a:lnTo>
                <a:lnTo>
                  <a:pt x="284988" y="25908"/>
                </a:lnTo>
                <a:close/>
              </a:path>
              <a:path w="1008379" h="78105">
                <a:moveTo>
                  <a:pt x="388619" y="25908"/>
                </a:moveTo>
                <a:lnTo>
                  <a:pt x="310895" y="25908"/>
                </a:lnTo>
                <a:lnTo>
                  <a:pt x="310895" y="51816"/>
                </a:lnTo>
                <a:lnTo>
                  <a:pt x="388619" y="51816"/>
                </a:lnTo>
                <a:lnTo>
                  <a:pt x="388619" y="25908"/>
                </a:lnTo>
                <a:close/>
              </a:path>
              <a:path w="1008379" h="78105">
                <a:moveTo>
                  <a:pt x="492251" y="25908"/>
                </a:moveTo>
                <a:lnTo>
                  <a:pt x="414527" y="25908"/>
                </a:lnTo>
                <a:lnTo>
                  <a:pt x="414527" y="51816"/>
                </a:lnTo>
                <a:lnTo>
                  <a:pt x="492251" y="51816"/>
                </a:lnTo>
                <a:lnTo>
                  <a:pt x="492251" y="25908"/>
                </a:lnTo>
                <a:close/>
              </a:path>
              <a:path w="1008379" h="78105">
                <a:moveTo>
                  <a:pt x="595883" y="25908"/>
                </a:moveTo>
                <a:lnTo>
                  <a:pt x="518159" y="25908"/>
                </a:lnTo>
                <a:lnTo>
                  <a:pt x="518159" y="51816"/>
                </a:lnTo>
                <a:lnTo>
                  <a:pt x="595883" y="51816"/>
                </a:lnTo>
                <a:lnTo>
                  <a:pt x="595883" y="25908"/>
                </a:lnTo>
                <a:close/>
              </a:path>
              <a:path w="1008379" h="78105">
                <a:moveTo>
                  <a:pt x="699515" y="25908"/>
                </a:moveTo>
                <a:lnTo>
                  <a:pt x="621791" y="25908"/>
                </a:lnTo>
                <a:lnTo>
                  <a:pt x="621791" y="51816"/>
                </a:lnTo>
                <a:lnTo>
                  <a:pt x="699515" y="51816"/>
                </a:lnTo>
                <a:lnTo>
                  <a:pt x="699515" y="25908"/>
                </a:lnTo>
                <a:close/>
              </a:path>
              <a:path w="1008379" h="78105">
                <a:moveTo>
                  <a:pt x="803148" y="25908"/>
                </a:moveTo>
                <a:lnTo>
                  <a:pt x="725424" y="25908"/>
                </a:lnTo>
                <a:lnTo>
                  <a:pt x="725424" y="51816"/>
                </a:lnTo>
                <a:lnTo>
                  <a:pt x="803148" y="51816"/>
                </a:lnTo>
                <a:lnTo>
                  <a:pt x="803148" y="25908"/>
                </a:lnTo>
                <a:close/>
              </a:path>
              <a:path w="1008379" h="78105">
                <a:moveTo>
                  <a:pt x="906779" y="25908"/>
                </a:moveTo>
                <a:lnTo>
                  <a:pt x="829055" y="25908"/>
                </a:lnTo>
                <a:lnTo>
                  <a:pt x="829055" y="51816"/>
                </a:lnTo>
                <a:lnTo>
                  <a:pt x="906779" y="51816"/>
                </a:lnTo>
                <a:lnTo>
                  <a:pt x="906779" y="25908"/>
                </a:lnTo>
                <a:close/>
              </a:path>
              <a:path w="1008379" h="78105">
                <a:moveTo>
                  <a:pt x="930401" y="0"/>
                </a:moveTo>
                <a:lnTo>
                  <a:pt x="930401" y="77724"/>
                </a:lnTo>
                <a:lnTo>
                  <a:pt x="982217" y="51816"/>
                </a:lnTo>
                <a:lnTo>
                  <a:pt x="932688" y="51816"/>
                </a:lnTo>
                <a:lnTo>
                  <a:pt x="932688" y="25908"/>
                </a:lnTo>
                <a:lnTo>
                  <a:pt x="982218" y="25908"/>
                </a:lnTo>
                <a:lnTo>
                  <a:pt x="930401" y="0"/>
                </a:lnTo>
                <a:close/>
              </a:path>
              <a:path w="1008379" h="78105">
                <a:moveTo>
                  <a:pt x="943355" y="25908"/>
                </a:moveTo>
                <a:lnTo>
                  <a:pt x="932688" y="25908"/>
                </a:lnTo>
                <a:lnTo>
                  <a:pt x="932688" y="51816"/>
                </a:lnTo>
                <a:lnTo>
                  <a:pt x="943355" y="51816"/>
                </a:lnTo>
                <a:lnTo>
                  <a:pt x="943355" y="25908"/>
                </a:lnTo>
                <a:close/>
              </a:path>
              <a:path w="1008379" h="78105">
                <a:moveTo>
                  <a:pt x="982218" y="25908"/>
                </a:moveTo>
                <a:lnTo>
                  <a:pt x="943355" y="25908"/>
                </a:lnTo>
                <a:lnTo>
                  <a:pt x="943355" y="51816"/>
                </a:lnTo>
                <a:lnTo>
                  <a:pt x="982217" y="51816"/>
                </a:lnTo>
                <a:lnTo>
                  <a:pt x="1008126" y="38862"/>
                </a:lnTo>
                <a:lnTo>
                  <a:pt x="982218" y="25908"/>
                </a:lnTo>
                <a:close/>
              </a:path>
            </a:pathLst>
          </a:custGeom>
          <a:solidFill>
            <a:srgbClr val="FF0000"/>
          </a:solidFill>
        </p:spPr>
        <p:txBody>
          <a:bodyPr wrap="square" lIns="0" tIns="0" rIns="0" bIns="0" rtlCol="0"/>
          <a:lstStyle/>
          <a:p>
            <a:endParaRPr/>
          </a:p>
        </p:txBody>
      </p:sp>
      <p:sp>
        <p:nvSpPr>
          <p:cNvPr id="5" name="object 5"/>
          <p:cNvSpPr txBox="1"/>
          <p:nvPr/>
        </p:nvSpPr>
        <p:spPr>
          <a:xfrm>
            <a:off x="4560189" y="2721102"/>
            <a:ext cx="28092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String s1 = </a:t>
            </a:r>
            <a:r>
              <a:rPr sz="1800" b="1" spc="-5" dirty="0">
                <a:solidFill>
                  <a:srgbClr val="FF0000"/>
                </a:solidFill>
                <a:latin typeface="Calibri"/>
                <a:cs typeface="Calibri"/>
              </a:rPr>
              <a:t>new</a:t>
            </a:r>
            <a:r>
              <a:rPr sz="1800" b="1" spc="-125" dirty="0">
                <a:solidFill>
                  <a:srgbClr val="FF0000"/>
                </a:solidFill>
                <a:latin typeface="Calibri"/>
                <a:cs typeface="Calibri"/>
              </a:rPr>
              <a:t> </a:t>
            </a:r>
            <a:r>
              <a:rPr sz="1800" b="1" dirty="0">
                <a:solidFill>
                  <a:srgbClr val="FF0000"/>
                </a:solidFill>
                <a:latin typeface="Calibri"/>
                <a:cs typeface="Calibri"/>
              </a:rPr>
              <a:t>String("abc“);</a:t>
            </a:r>
            <a:endParaRPr sz="1800">
              <a:latin typeface="Calibri"/>
              <a:cs typeface="Calibri"/>
            </a:endParaRPr>
          </a:p>
        </p:txBody>
      </p:sp>
      <p:sp>
        <p:nvSpPr>
          <p:cNvPr id="6" name="object 6"/>
          <p:cNvSpPr/>
          <p:nvPr/>
        </p:nvSpPr>
        <p:spPr>
          <a:xfrm>
            <a:off x="5925311" y="3073145"/>
            <a:ext cx="78105" cy="951865"/>
          </a:xfrm>
          <a:custGeom>
            <a:avLst/>
            <a:gdLst/>
            <a:ahLst/>
            <a:cxnLst/>
            <a:rect l="l" t="t" r="r" b="b"/>
            <a:pathLst>
              <a:path w="78104" h="951864">
                <a:moveTo>
                  <a:pt x="51815" y="0"/>
                </a:moveTo>
                <a:lnTo>
                  <a:pt x="25908" y="0"/>
                </a:lnTo>
                <a:lnTo>
                  <a:pt x="25908" y="77724"/>
                </a:lnTo>
                <a:lnTo>
                  <a:pt x="51815" y="77724"/>
                </a:lnTo>
                <a:lnTo>
                  <a:pt x="51815" y="0"/>
                </a:lnTo>
                <a:close/>
              </a:path>
              <a:path w="78104" h="951864">
                <a:moveTo>
                  <a:pt x="51815" y="103631"/>
                </a:moveTo>
                <a:lnTo>
                  <a:pt x="25908" y="103631"/>
                </a:lnTo>
                <a:lnTo>
                  <a:pt x="25908" y="181355"/>
                </a:lnTo>
                <a:lnTo>
                  <a:pt x="51815" y="181355"/>
                </a:lnTo>
                <a:lnTo>
                  <a:pt x="51815" y="103631"/>
                </a:lnTo>
                <a:close/>
              </a:path>
              <a:path w="78104" h="951864">
                <a:moveTo>
                  <a:pt x="51815" y="207263"/>
                </a:moveTo>
                <a:lnTo>
                  <a:pt x="25908" y="207263"/>
                </a:lnTo>
                <a:lnTo>
                  <a:pt x="25908" y="284988"/>
                </a:lnTo>
                <a:lnTo>
                  <a:pt x="51815" y="284988"/>
                </a:lnTo>
                <a:lnTo>
                  <a:pt x="51815" y="207263"/>
                </a:lnTo>
                <a:close/>
              </a:path>
              <a:path w="78104" h="951864">
                <a:moveTo>
                  <a:pt x="51815" y="310895"/>
                </a:moveTo>
                <a:lnTo>
                  <a:pt x="25908" y="310895"/>
                </a:lnTo>
                <a:lnTo>
                  <a:pt x="25908" y="388619"/>
                </a:lnTo>
                <a:lnTo>
                  <a:pt x="51815" y="388619"/>
                </a:lnTo>
                <a:lnTo>
                  <a:pt x="51815" y="310895"/>
                </a:lnTo>
                <a:close/>
              </a:path>
              <a:path w="78104" h="951864">
                <a:moveTo>
                  <a:pt x="51815" y="414527"/>
                </a:moveTo>
                <a:lnTo>
                  <a:pt x="25908" y="414527"/>
                </a:lnTo>
                <a:lnTo>
                  <a:pt x="25908" y="492251"/>
                </a:lnTo>
                <a:lnTo>
                  <a:pt x="51815" y="492251"/>
                </a:lnTo>
                <a:lnTo>
                  <a:pt x="51815" y="414527"/>
                </a:lnTo>
                <a:close/>
              </a:path>
              <a:path w="78104" h="951864">
                <a:moveTo>
                  <a:pt x="51815" y="518159"/>
                </a:moveTo>
                <a:lnTo>
                  <a:pt x="25908" y="518159"/>
                </a:lnTo>
                <a:lnTo>
                  <a:pt x="25908" y="595883"/>
                </a:lnTo>
                <a:lnTo>
                  <a:pt x="51815" y="595883"/>
                </a:lnTo>
                <a:lnTo>
                  <a:pt x="51815" y="518159"/>
                </a:lnTo>
                <a:close/>
              </a:path>
              <a:path w="78104" h="951864">
                <a:moveTo>
                  <a:pt x="51815" y="621791"/>
                </a:moveTo>
                <a:lnTo>
                  <a:pt x="25908" y="621791"/>
                </a:lnTo>
                <a:lnTo>
                  <a:pt x="25908" y="699515"/>
                </a:lnTo>
                <a:lnTo>
                  <a:pt x="51815" y="699515"/>
                </a:lnTo>
                <a:lnTo>
                  <a:pt x="51815" y="621791"/>
                </a:lnTo>
                <a:close/>
              </a:path>
              <a:path w="78104" h="951864">
                <a:moveTo>
                  <a:pt x="51815" y="725423"/>
                </a:moveTo>
                <a:lnTo>
                  <a:pt x="25908" y="725423"/>
                </a:lnTo>
                <a:lnTo>
                  <a:pt x="25908" y="803147"/>
                </a:lnTo>
                <a:lnTo>
                  <a:pt x="51815" y="803147"/>
                </a:lnTo>
                <a:lnTo>
                  <a:pt x="51815" y="725423"/>
                </a:lnTo>
                <a:close/>
              </a:path>
              <a:path w="78104" h="951864">
                <a:moveTo>
                  <a:pt x="25908" y="873886"/>
                </a:moveTo>
                <a:lnTo>
                  <a:pt x="0" y="873886"/>
                </a:lnTo>
                <a:lnTo>
                  <a:pt x="38862" y="951610"/>
                </a:lnTo>
                <a:lnTo>
                  <a:pt x="71247" y="886840"/>
                </a:lnTo>
                <a:lnTo>
                  <a:pt x="25908" y="886840"/>
                </a:lnTo>
                <a:lnTo>
                  <a:pt x="25908" y="873886"/>
                </a:lnTo>
                <a:close/>
              </a:path>
              <a:path w="78104" h="951864">
                <a:moveTo>
                  <a:pt x="51815" y="829055"/>
                </a:moveTo>
                <a:lnTo>
                  <a:pt x="25908" y="829055"/>
                </a:lnTo>
                <a:lnTo>
                  <a:pt x="25908" y="886840"/>
                </a:lnTo>
                <a:lnTo>
                  <a:pt x="51815" y="886840"/>
                </a:lnTo>
                <a:lnTo>
                  <a:pt x="51815" y="829055"/>
                </a:lnTo>
                <a:close/>
              </a:path>
              <a:path w="78104" h="951864">
                <a:moveTo>
                  <a:pt x="77724" y="873886"/>
                </a:moveTo>
                <a:lnTo>
                  <a:pt x="51815" y="873886"/>
                </a:lnTo>
                <a:lnTo>
                  <a:pt x="51815" y="886840"/>
                </a:lnTo>
                <a:lnTo>
                  <a:pt x="71247" y="886840"/>
                </a:lnTo>
                <a:lnTo>
                  <a:pt x="77724" y="873886"/>
                </a:lnTo>
                <a:close/>
              </a:path>
            </a:pathLst>
          </a:custGeom>
          <a:solidFill>
            <a:srgbClr val="FF0000"/>
          </a:solidFill>
        </p:spPr>
        <p:txBody>
          <a:bodyPr wrap="square" lIns="0" tIns="0" rIns="0" bIns="0" rtlCol="0"/>
          <a:lstStyle/>
          <a:p>
            <a:endParaRPr/>
          </a:p>
        </p:txBody>
      </p:sp>
      <p:sp>
        <p:nvSpPr>
          <p:cNvPr id="7" name="object 7"/>
          <p:cNvSpPr txBox="1"/>
          <p:nvPr/>
        </p:nvSpPr>
        <p:spPr>
          <a:xfrm>
            <a:off x="5007355" y="4449571"/>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s1</a:t>
            </a:r>
            <a:endParaRPr sz="1800">
              <a:latin typeface="Calibri"/>
              <a:cs typeface="Calibri"/>
            </a:endParaRPr>
          </a:p>
        </p:txBody>
      </p:sp>
      <p:sp>
        <p:nvSpPr>
          <p:cNvPr id="8" name="object 8"/>
          <p:cNvSpPr/>
          <p:nvPr/>
        </p:nvSpPr>
        <p:spPr>
          <a:xfrm>
            <a:off x="5289041" y="4593335"/>
            <a:ext cx="1008380" cy="78105"/>
          </a:xfrm>
          <a:custGeom>
            <a:avLst/>
            <a:gdLst/>
            <a:ahLst/>
            <a:cxnLst/>
            <a:rect l="l" t="t" r="r" b="b"/>
            <a:pathLst>
              <a:path w="1008379" h="78104">
                <a:moveTo>
                  <a:pt x="77724" y="25907"/>
                </a:moveTo>
                <a:lnTo>
                  <a:pt x="0" y="25907"/>
                </a:lnTo>
                <a:lnTo>
                  <a:pt x="0" y="51815"/>
                </a:lnTo>
                <a:lnTo>
                  <a:pt x="77724" y="51815"/>
                </a:lnTo>
                <a:lnTo>
                  <a:pt x="77724" y="25907"/>
                </a:lnTo>
                <a:close/>
              </a:path>
              <a:path w="1008379" h="78104">
                <a:moveTo>
                  <a:pt x="181356" y="25907"/>
                </a:moveTo>
                <a:lnTo>
                  <a:pt x="103632" y="25907"/>
                </a:lnTo>
                <a:lnTo>
                  <a:pt x="103632" y="51815"/>
                </a:lnTo>
                <a:lnTo>
                  <a:pt x="181356" y="51815"/>
                </a:lnTo>
                <a:lnTo>
                  <a:pt x="181356" y="25907"/>
                </a:lnTo>
                <a:close/>
              </a:path>
              <a:path w="1008379" h="78104">
                <a:moveTo>
                  <a:pt x="284988" y="25907"/>
                </a:moveTo>
                <a:lnTo>
                  <a:pt x="207263" y="25907"/>
                </a:lnTo>
                <a:lnTo>
                  <a:pt x="207263" y="51815"/>
                </a:lnTo>
                <a:lnTo>
                  <a:pt x="284988" y="51815"/>
                </a:lnTo>
                <a:lnTo>
                  <a:pt x="284988" y="25907"/>
                </a:lnTo>
                <a:close/>
              </a:path>
              <a:path w="1008379" h="78104">
                <a:moveTo>
                  <a:pt x="388620" y="25907"/>
                </a:moveTo>
                <a:lnTo>
                  <a:pt x="310896" y="25907"/>
                </a:lnTo>
                <a:lnTo>
                  <a:pt x="310896" y="51815"/>
                </a:lnTo>
                <a:lnTo>
                  <a:pt x="388620" y="51815"/>
                </a:lnTo>
                <a:lnTo>
                  <a:pt x="388620" y="25907"/>
                </a:lnTo>
                <a:close/>
              </a:path>
              <a:path w="1008379" h="78104">
                <a:moveTo>
                  <a:pt x="492252" y="25907"/>
                </a:moveTo>
                <a:lnTo>
                  <a:pt x="414528" y="25907"/>
                </a:lnTo>
                <a:lnTo>
                  <a:pt x="414528" y="51815"/>
                </a:lnTo>
                <a:lnTo>
                  <a:pt x="492252" y="51815"/>
                </a:lnTo>
                <a:lnTo>
                  <a:pt x="492252" y="25907"/>
                </a:lnTo>
                <a:close/>
              </a:path>
              <a:path w="1008379" h="78104">
                <a:moveTo>
                  <a:pt x="595884" y="25907"/>
                </a:moveTo>
                <a:lnTo>
                  <a:pt x="518160" y="25907"/>
                </a:lnTo>
                <a:lnTo>
                  <a:pt x="518160" y="51815"/>
                </a:lnTo>
                <a:lnTo>
                  <a:pt x="595884" y="51815"/>
                </a:lnTo>
                <a:lnTo>
                  <a:pt x="595884" y="25907"/>
                </a:lnTo>
                <a:close/>
              </a:path>
              <a:path w="1008379" h="78104">
                <a:moveTo>
                  <a:pt x="699516" y="25907"/>
                </a:moveTo>
                <a:lnTo>
                  <a:pt x="621792" y="25907"/>
                </a:lnTo>
                <a:lnTo>
                  <a:pt x="621792" y="51815"/>
                </a:lnTo>
                <a:lnTo>
                  <a:pt x="699516" y="51815"/>
                </a:lnTo>
                <a:lnTo>
                  <a:pt x="699516" y="25907"/>
                </a:lnTo>
                <a:close/>
              </a:path>
              <a:path w="1008379" h="78104">
                <a:moveTo>
                  <a:pt x="803148" y="25907"/>
                </a:moveTo>
                <a:lnTo>
                  <a:pt x="725424" y="25907"/>
                </a:lnTo>
                <a:lnTo>
                  <a:pt x="725424" y="51815"/>
                </a:lnTo>
                <a:lnTo>
                  <a:pt x="803148" y="51815"/>
                </a:lnTo>
                <a:lnTo>
                  <a:pt x="803148" y="25907"/>
                </a:lnTo>
                <a:close/>
              </a:path>
              <a:path w="1008379" h="78104">
                <a:moveTo>
                  <a:pt x="906780" y="25907"/>
                </a:moveTo>
                <a:lnTo>
                  <a:pt x="829056" y="25907"/>
                </a:lnTo>
                <a:lnTo>
                  <a:pt x="829056" y="51815"/>
                </a:lnTo>
                <a:lnTo>
                  <a:pt x="906780" y="51815"/>
                </a:lnTo>
                <a:lnTo>
                  <a:pt x="906780" y="25907"/>
                </a:lnTo>
                <a:close/>
              </a:path>
              <a:path w="1008379" h="78104">
                <a:moveTo>
                  <a:pt x="930402" y="0"/>
                </a:moveTo>
                <a:lnTo>
                  <a:pt x="930402" y="77724"/>
                </a:lnTo>
                <a:lnTo>
                  <a:pt x="982218" y="51815"/>
                </a:lnTo>
                <a:lnTo>
                  <a:pt x="932688" y="51815"/>
                </a:lnTo>
                <a:lnTo>
                  <a:pt x="932688" y="25907"/>
                </a:lnTo>
                <a:lnTo>
                  <a:pt x="982217" y="25907"/>
                </a:lnTo>
                <a:lnTo>
                  <a:pt x="930402" y="0"/>
                </a:lnTo>
                <a:close/>
              </a:path>
              <a:path w="1008379" h="78104">
                <a:moveTo>
                  <a:pt x="943356" y="25907"/>
                </a:moveTo>
                <a:lnTo>
                  <a:pt x="932688" y="25907"/>
                </a:lnTo>
                <a:lnTo>
                  <a:pt x="932688" y="51815"/>
                </a:lnTo>
                <a:lnTo>
                  <a:pt x="943356" y="51815"/>
                </a:lnTo>
                <a:lnTo>
                  <a:pt x="943356" y="25907"/>
                </a:lnTo>
                <a:close/>
              </a:path>
              <a:path w="1008379" h="78104">
                <a:moveTo>
                  <a:pt x="982217" y="25907"/>
                </a:moveTo>
                <a:lnTo>
                  <a:pt x="943356" y="25907"/>
                </a:lnTo>
                <a:lnTo>
                  <a:pt x="943356" y="51815"/>
                </a:lnTo>
                <a:lnTo>
                  <a:pt x="982218" y="51815"/>
                </a:lnTo>
                <a:lnTo>
                  <a:pt x="1008126" y="38862"/>
                </a:lnTo>
                <a:lnTo>
                  <a:pt x="982217" y="25907"/>
                </a:lnTo>
                <a:close/>
              </a:path>
            </a:pathLst>
          </a:custGeom>
          <a:solidFill>
            <a:srgbClr val="FF0000"/>
          </a:solidFill>
        </p:spPr>
        <p:txBody>
          <a:bodyPr wrap="square" lIns="0" tIns="0" rIns="0" bIns="0" rtlCol="0"/>
          <a:lstStyle/>
          <a:p>
            <a:endParaRPr/>
          </a:p>
        </p:txBody>
      </p:sp>
      <p:sp>
        <p:nvSpPr>
          <p:cNvPr id="9" name="object 9"/>
          <p:cNvSpPr txBox="1"/>
          <p:nvPr/>
        </p:nvSpPr>
        <p:spPr>
          <a:xfrm>
            <a:off x="6337553" y="4431029"/>
            <a:ext cx="515620" cy="504825"/>
          </a:xfrm>
          <a:prstGeom prst="rect">
            <a:avLst/>
          </a:prstGeom>
          <a:ln w="25907">
            <a:solidFill>
              <a:srgbClr val="385D89"/>
            </a:solidFill>
          </a:ln>
        </p:spPr>
        <p:txBody>
          <a:bodyPr vert="horz" wrap="square" lIns="0" tIns="53975" rIns="0" bIns="0" rtlCol="0">
            <a:spAutoFit/>
          </a:bodyPr>
          <a:lstStyle/>
          <a:p>
            <a:pPr marL="91440">
              <a:lnSpc>
                <a:spcPct val="100000"/>
              </a:lnSpc>
              <a:spcBef>
                <a:spcPts val="425"/>
              </a:spcBef>
            </a:pPr>
            <a:r>
              <a:rPr sz="1800" b="1" dirty="0">
                <a:latin typeface="Calibri"/>
                <a:cs typeface="Calibri"/>
              </a:rPr>
              <a:t>abc</a:t>
            </a:r>
            <a:endParaRPr sz="1800">
              <a:latin typeface="Calibri"/>
              <a:cs typeface="Calibri"/>
            </a:endParaRPr>
          </a:p>
        </p:txBody>
      </p:sp>
      <p:sp>
        <p:nvSpPr>
          <p:cNvPr id="10" name="object 10"/>
          <p:cNvSpPr txBox="1"/>
          <p:nvPr/>
        </p:nvSpPr>
        <p:spPr>
          <a:xfrm>
            <a:off x="6272021" y="4042409"/>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Calibri"/>
                <a:cs typeface="Calibri"/>
              </a:rPr>
              <a:t>:String</a:t>
            </a:r>
            <a:endParaRPr sz="1800">
              <a:latin typeface="Calibri"/>
              <a:cs typeface="Calibri"/>
            </a:endParaRPr>
          </a:p>
        </p:txBody>
      </p:sp>
      <p:sp>
        <p:nvSpPr>
          <p:cNvPr id="11" name="object 11"/>
          <p:cNvSpPr/>
          <p:nvPr/>
        </p:nvSpPr>
        <p:spPr>
          <a:xfrm>
            <a:off x="3515105" y="3319271"/>
            <a:ext cx="1008380" cy="78105"/>
          </a:xfrm>
          <a:custGeom>
            <a:avLst/>
            <a:gdLst/>
            <a:ahLst/>
            <a:cxnLst/>
            <a:rect l="l" t="t" r="r" b="b"/>
            <a:pathLst>
              <a:path w="1008379" h="78104">
                <a:moveTo>
                  <a:pt x="77724" y="25907"/>
                </a:moveTo>
                <a:lnTo>
                  <a:pt x="0" y="25907"/>
                </a:lnTo>
                <a:lnTo>
                  <a:pt x="0" y="51815"/>
                </a:lnTo>
                <a:lnTo>
                  <a:pt x="77724" y="51815"/>
                </a:lnTo>
                <a:lnTo>
                  <a:pt x="77724" y="25907"/>
                </a:lnTo>
                <a:close/>
              </a:path>
              <a:path w="1008379" h="78104">
                <a:moveTo>
                  <a:pt x="181356" y="25907"/>
                </a:moveTo>
                <a:lnTo>
                  <a:pt x="103632" y="25907"/>
                </a:lnTo>
                <a:lnTo>
                  <a:pt x="103632" y="51815"/>
                </a:lnTo>
                <a:lnTo>
                  <a:pt x="181356" y="51815"/>
                </a:lnTo>
                <a:lnTo>
                  <a:pt x="181356" y="25907"/>
                </a:lnTo>
                <a:close/>
              </a:path>
              <a:path w="1008379" h="78104">
                <a:moveTo>
                  <a:pt x="284988" y="25907"/>
                </a:moveTo>
                <a:lnTo>
                  <a:pt x="207264" y="25907"/>
                </a:lnTo>
                <a:lnTo>
                  <a:pt x="207264" y="51815"/>
                </a:lnTo>
                <a:lnTo>
                  <a:pt x="284988" y="51815"/>
                </a:lnTo>
                <a:lnTo>
                  <a:pt x="284988" y="25907"/>
                </a:lnTo>
                <a:close/>
              </a:path>
              <a:path w="1008379" h="78104">
                <a:moveTo>
                  <a:pt x="388620" y="25907"/>
                </a:moveTo>
                <a:lnTo>
                  <a:pt x="310896" y="25907"/>
                </a:lnTo>
                <a:lnTo>
                  <a:pt x="310896" y="51815"/>
                </a:lnTo>
                <a:lnTo>
                  <a:pt x="388620" y="51815"/>
                </a:lnTo>
                <a:lnTo>
                  <a:pt x="388620" y="25907"/>
                </a:lnTo>
                <a:close/>
              </a:path>
              <a:path w="1008379" h="78104">
                <a:moveTo>
                  <a:pt x="492252" y="25907"/>
                </a:moveTo>
                <a:lnTo>
                  <a:pt x="414528" y="25907"/>
                </a:lnTo>
                <a:lnTo>
                  <a:pt x="414528" y="51815"/>
                </a:lnTo>
                <a:lnTo>
                  <a:pt x="492252" y="51815"/>
                </a:lnTo>
                <a:lnTo>
                  <a:pt x="492252" y="25907"/>
                </a:lnTo>
                <a:close/>
              </a:path>
              <a:path w="1008379" h="78104">
                <a:moveTo>
                  <a:pt x="595884" y="25907"/>
                </a:moveTo>
                <a:lnTo>
                  <a:pt x="518160" y="25907"/>
                </a:lnTo>
                <a:lnTo>
                  <a:pt x="518160" y="51815"/>
                </a:lnTo>
                <a:lnTo>
                  <a:pt x="595884" y="51815"/>
                </a:lnTo>
                <a:lnTo>
                  <a:pt x="595884" y="25907"/>
                </a:lnTo>
                <a:close/>
              </a:path>
              <a:path w="1008379" h="78104">
                <a:moveTo>
                  <a:pt x="699516" y="25907"/>
                </a:moveTo>
                <a:lnTo>
                  <a:pt x="621792" y="25907"/>
                </a:lnTo>
                <a:lnTo>
                  <a:pt x="621792" y="51815"/>
                </a:lnTo>
                <a:lnTo>
                  <a:pt x="699516" y="51815"/>
                </a:lnTo>
                <a:lnTo>
                  <a:pt x="699516" y="25907"/>
                </a:lnTo>
                <a:close/>
              </a:path>
              <a:path w="1008379" h="78104">
                <a:moveTo>
                  <a:pt x="803148" y="25907"/>
                </a:moveTo>
                <a:lnTo>
                  <a:pt x="725424" y="25907"/>
                </a:lnTo>
                <a:lnTo>
                  <a:pt x="725424" y="51815"/>
                </a:lnTo>
                <a:lnTo>
                  <a:pt x="803148" y="51815"/>
                </a:lnTo>
                <a:lnTo>
                  <a:pt x="803148" y="25907"/>
                </a:lnTo>
                <a:close/>
              </a:path>
              <a:path w="1008379" h="78104">
                <a:moveTo>
                  <a:pt x="906780" y="25907"/>
                </a:moveTo>
                <a:lnTo>
                  <a:pt x="829056" y="25907"/>
                </a:lnTo>
                <a:lnTo>
                  <a:pt x="829056" y="51815"/>
                </a:lnTo>
                <a:lnTo>
                  <a:pt x="906780" y="51815"/>
                </a:lnTo>
                <a:lnTo>
                  <a:pt x="906780" y="25907"/>
                </a:lnTo>
                <a:close/>
              </a:path>
              <a:path w="1008379" h="78104">
                <a:moveTo>
                  <a:pt x="930402" y="0"/>
                </a:moveTo>
                <a:lnTo>
                  <a:pt x="930402" y="77724"/>
                </a:lnTo>
                <a:lnTo>
                  <a:pt x="982218" y="51815"/>
                </a:lnTo>
                <a:lnTo>
                  <a:pt x="932688" y="51815"/>
                </a:lnTo>
                <a:lnTo>
                  <a:pt x="932688" y="25907"/>
                </a:lnTo>
                <a:lnTo>
                  <a:pt x="982217" y="25907"/>
                </a:lnTo>
                <a:lnTo>
                  <a:pt x="930402" y="0"/>
                </a:lnTo>
                <a:close/>
              </a:path>
              <a:path w="1008379" h="78104">
                <a:moveTo>
                  <a:pt x="943356" y="25907"/>
                </a:moveTo>
                <a:lnTo>
                  <a:pt x="932688" y="25907"/>
                </a:lnTo>
                <a:lnTo>
                  <a:pt x="932688" y="51815"/>
                </a:lnTo>
                <a:lnTo>
                  <a:pt x="943356" y="51815"/>
                </a:lnTo>
                <a:lnTo>
                  <a:pt x="943356" y="25907"/>
                </a:lnTo>
                <a:close/>
              </a:path>
              <a:path w="1008379" h="78104">
                <a:moveTo>
                  <a:pt x="982217" y="25907"/>
                </a:moveTo>
                <a:lnTo>
                  <a:pt x="943356" y="25907"/>
                </a:lnTo>
                <a:lnTo>
                  <a:pt x="943356" y="51815"/>
                </a:lnTo>
                <a:lnTo>
                  <a:pt x="982218" y="51815"/>
                </a:lnTo>
                <a:lnTo>
                  <a:pt x="1008126" y="38862"/>
                </a:lnTo>
                <a:lnTo>
                  <a:pt x="982217" y="25907"/>
                </a:lnTo>
                <a:close/>
              </a:path>
            </a:pathLst>
          </a:custGeom>
          <a:solidFill>
            <a:srgbClr val="FF0000"/>
          </a:solidFill>
        </p:spPr>
        <p:txBody>
          <a:bodyPr wrap="square" lIns="0" tIns="0" rIns="0" bIns="0" rtlCol="0"/>
          <a:lstStyle/>
          <a:p>
            <a:endParaRPr/>
          </a:p>
        </p:txBody>
      </p:sp>
      <p:sp>
        <p:nvSpPr>
          <p:cNvPr id="12" name="object 12"/>
          <p:cNvSpPr/>
          <p:nvPr/>
        </p:nvSpPr>
        <p:spPr>
          <a:xfrm>
            <a:off x="4474464" y="3376421"/>
            <a:ext cx="78105" cy="1781810"/>
          </a:xfrm>
          <a:custGeom>
            <a:avLst/>
            <a:gdLst/>
            <a:ahLst/>
            <a:cxnLst/>
            <a:rect l="l" t="t" r="r" b="b"/>
            <a:pathLst>
              <a:path w="78104" h="1781810">
                <a:moveTo>
                  <a:pt x="51815" y="0"/>
                </a:moveTo>
                <a:lnTo>
                  <a:pt x="25908" y="0"/>
                </a:lnTo>
                <a:lnTo>
                  <a:pt x="25908" y="77724"/>
                </a:lnTo>
                <a:lnTo>
                  <a:pt x="51815" y="77724"/>
                </a:lnTo>
                <a:lnTo>
                  <a:pt x="51815" y="0"/>
                </a:lnTo>
                <a:close/>
              </a:path>
              <a:path w="78104" h="1781810">
                <a:moveTo>
                  <a:pt x="51815" y="103631"/>
                </a:moveTo>
                <a:lnTo>
                  <a:pt x="25908" y="103631"/>
                </a:lnTo>
                <a:lnTo>
                  <a:pt x="25908" y="181355"/>
                </a:lnTo>
                <a:lnTo>
                  <a:pt x="51815" y="181355"/>
                </a:lnTo>
                <a:lnTo>
                  <a:pt x="51815" y="103631"/>
                </a:lnTo>
                <a:close/>
              </a:path>
              <a:path w="78104" h="1781810">
                <a:moveTo>
                  <a:pt x="51815" y="207263"/>
                </a:moveTo>
                <a:lnTo>
                  <a:pt x="25908" y="207263"/>
                </a:lnTo>
                <a:lnTo>
                  <a:pt x="25908" y="284988"/>
                </a:lnTo>
                <a:lnTo>
                  <a:pt x="51815" y="284988"/>
                </a:lnTo>
                <a:lnTo>
                  <a:pt x="51815" y="207263"/>
                </a:lnTo>
                <a:close/>
              </a:path>
              <a:path w="78104" h="1781810">
                <a:moveTo>
                  <a:pt x="51815" y="310895"/>
                </a:moveTo>
                <a:lnTo>
                  <a:pt x="25908" y="310895"/>
                </a:lnTo>
                <a:lnTo>
                  <a:pt x="25908" y="388619"/>
                </a:lnTo>
                <a:lnTo>
                  <a:pt x="51815" y="388619"/>
                </a:lnTo>
                <a:lnTo>
                  <a:pt x="51815" y="310895"/>
                </a:lnTo>
                <a:close/>
              </a:path>
              <a:path w="78104" h="1781810">
                <a:moveTo>
                  <a:pt x="51815" y="414527"/>
                </a:moveTo>
                <a:lnTo>
                  <a:pt x="25908" y="414527"/>
                </a:lnTo>
                <a:lnTo>
                  <a:pt x="25908" y="492251"/>
                </a:lnTo>
                <a:lnTo>
                  <a:pt x="51815" y="492251"/>
                </a:lnTo>
                <a:lnTo>
                  <a:pt x="51815" y="414527"/>
                </a:lnTo>
                <a:close/>
              </a:path>
              <a:path w="78104" h="1781810">
                <a:moveTo>
                  <a:pt x="51815" y="518159"/>
                </a:moveTo>
                <a:lnTo>
                  <a:pt x="25908" y="518159"/>
                </a:lnTo>
                <a:lnTo>
                  <a:pt x="25908" y="595883"/>
                </a:lnTo>
                <a:lnTo>
                  <a:pt x="51815" y="595883"/>
                </a:lnTo>
                <a:lnTo>
                  <a:pt x="51815" y="518159"/>
                </a:lnTo>
                <a:close/>
              </a:path>
              <a:path w="78104" h="1781810">
                <a:moveTo>
                  <a:pt x="51815" y="621791"/>
                </a:moveTo>
                <a:lnTo>
                  <a:pt x="25908" y="621791"/>
                </a:lnTo>
                <a:lnTo>
                  <a:pt x="25908" y="699515"/>
                </a:lnTo>
                <a:lnTo>
                  <a:pt x="51815" y="699515"/>
                </a:lnTo>
                <a:lnTo>
                  <a:pt x="51815" y="621791"/>
                </a:lnTo>
                <a:close/>
              </a:path>
              <a:path w="78104" h="1781810">
                <a:moveTo>
                  <a:pt x="51815" y="725423"/>
                </a:moveTo>
                <a:lnTo>
                  <a:pt x="25908" y="725423"/>
                </a:lnTo>
                <a:lnTo>
                  <a:pt x="25908" y="803147"/>
                </a:lnTo>
                <a:lnTo>
                  <a:pt x="51815" y="803147"/>
                </a:lnTo>
                <a:lnTo>
                  <a:pt x="51815" y="725423"/>
                </a:lnTo>
                <a:close/>
              </a:path>
              <a:path w="78104" h="1781810">
                <a:moveTo>
                  <a:pt x="51815" y="829055"/>
                </a:moveTo>
                <a:lnTo>
                  <a:pt x="25908" y="829055"/>
                </a:lnTo>
                <a:lnTo>
                  <a:pt x="25908" y="906779"/>
                </a:lnTo>
                <a:lnTo>
                  <a:pt x="51815" y="906779"/>
                </a:lnTo>
                <a:lnTo>
                  <a:pt x="51815" y="829055"/>
                </a:lnTo>
                <a:close/>
              </a:path>
              <a:path w="78104" h="1781810">
                <a:moveTo>
                  <a:pt x="51815" y="932688"/>
                </a:moveTo>
                <a:lnTo>
                  <a:pt x="25908" y="932688"/>
                </a:lnTo>
                <a:lnTo>
                  <a:pt x="25908" y="1010411"/>
                </a:lnTo>
                <a:lnTo>
                  <a:pt x="51815" y="1010411"/>
                </a:lnTo>
                <a:lnTo>
                  <a:pt x="51815" y="932688"/>
                </a:lnTo>
                <a:close/>
              </a:path>
              <a:path w="78104" h="1781810">
                <a:moveTo>
                  <a:pt x="51815" y="1036319"/>
                </a:moveTo>
                <a:lnTo>
                  <a:pt x="25908" y="1036319"/>
                </a:lnTo>
                <a:lnTo>
                  <a:pt x="25908" y="1114044"/>
                </a:lnTo>
                <a:lnTo>
                  <a:pt x="51815" y="1114044"/>
                </a:lnTo>
                <a:lnTo>
                  <a:pt x="51815" y="1036319"/>
                </a:lnTo>
                <a:close/>
              </a:path>
              <a:path w="78104" h="1781810">
                <a:moveTo>
                  <a:pt x="51815" y="1139952"/>
                </a:moveTo>
                <a:lnTo>
                  <a:pt x="25908" y="1139952"/>
                </a:lnTo>
                <a:lnTo>
                  <a:pt x="25908" y="1217676"/>
                </a:lnTo>
                <a:lnTo>
                  <a:pt x="51815" y="1217676"/>
                </a:lnTo>
                <a:lnTo>
                  <a:pt x="51815" y="1139952"/>
                </a:lnTo>
                <a:close/>
              </a:path>
              <a:path w="78104" h="1781810">
                <a:moveTo>
                  <a:pt x="51815" y="1243583"/>
                </a:moveTo>
                <a:lnTo>
                  <a:pt x="25908" y="1243583"/>
                </a:lnTo>
                <a:lnTo>
                  <a:pt x="25908" y="1321308"/>
                </a:lnTo>
                <a:lnTo>
                  <a:pt x="51815" y="1321308"/>
                </a:lnTo>
                <a:lnTo>
                  <a:pt x="51815" y="1243583"/>
                </a:lnTo>
                <a:close/>
              </a:path>
              <a:path w="78104" h="1781810">
                <a:moveTo>
                  <a:pt x="51815" y="1347215"/>
                </a:moveTo>
                <a:lnTo>
                  <a:pt x="25908" y="1347215"/>
                </a:lnTo>
                <a:lnTo>
                  <a:pt x="25908" y="1424939"/>
                </a:lnTo>
                <a:lnTo>
                  <a:pt x="51815" y="1424939"/>
                </a:lnTo>
                <a:lnTo>
                  <a:pt x="51815" y="1347215"/>
                </a:lnTo>
                <a:close/>
              </a:path>
              <a:path w="78104" h="1781810">
                <a:moveTo>
                  <a:pt x="51815" y="1450847"/>
                </a:moveTo>
                <a:lnTo>
                  <a:pt x="25908" y="1450847"/>
                </a:lnTo>
                <a:lnTo>
                  <a:pt x="25908" y="1528571"/>
                </a:lnTo>
                <a:lnTo>
                  <a:pt x="51815" y="1528571"/>
                </a:lnTo>
                <a:lnTo>
                  <a:pt x="51815" y="1450847"/>
                </a:lnTo>
                <a:close/>
              </a:path>
              <a:path w="78104" h="1781810">
                <a:moveTo>
                  <a:pt x="51815" y="1554479"/>
                </a:moveTo>
                <a:lnTo>
                  <a:pt x="25908" y="1554479"/>
                </a:lnTo>
                <a:lnTo>
                  <a:pt x="25908" y="1632203"/>
                </a:lnTo>
                <a:lnTo>
                  <a:pt x="51815" y="1632203"/>
                </a:lnTo>
                <a:lnTo>
                  <a:pt x="51815" y="1554479"/>
                </a:lnTo>
                <a:close/>
              </a:path>
              <a:path w="78104" h="1781810">
                <a:moveTo>
                  <a:pt x="25908" y="1703832"/>
                </a:moveTo>
                <a:lnTo>
                  <a:pt x="0" y="1703832"/>
                </a:lnTo>
                <a:lnTo>
                  <a:pt x="38862" y="1781555"/>
                </a:lnTo>
                <a:lnTo>
                  <a:pt x="71247" y="1716785"/>
                </a:lnTo>
                <a:lnTo>
                  <a:pt x="25908" y="1716785"/>
                </a:lnTo>
                <a:lnTo>
                  <a:pt x="25908" y="1703832"/>
                </a:lnTo>
                <a:close/>
              </a:path>
              <a:path w="78104" h="1781810">
                <a:moveTo>
                  <a:pt x="51815" y="1658111"/>
                </a:moveTo>
                <a:lnTo>
                  <a:pt x="25908" y="1658111"/>
                </a:lnTo>
                <a:lnTo>
                  <a:pt x="25908" y="1716785"/>
                </a:lnTo>
                <a:lnTo>
                  <a:pt x="51815" y="1716785"/>
                </a:lnTo>
                <a:lnTo>
                  <a:pt x="51815" y="1658111"/>
                </a:lnTo>
                <a:close/>
              </a:path>
              <a:path w="78104" h="1781810">
                <a:moveTo>
                  <a:pt x="77724" y="1703832"/>
                </a:moveTo>
                <a:lnTo>
                  <a:pt x="51815" y="1703832"/>
                </a:lnTo>
                <a:lnTo>
                  <a:pt x="51815" y="1716785"/>
                </a:lnTo>
                <a:lnTo>
                  <a:pt x="71247" y="1716785"/>
                </a:lnTo>
                <a:lnTo>
                  <a:pt x="77724" y="1703832"/>
                </a:lnTo>
                <a:close/>
              </a:path>
            </a:pathLst>
          </a:custGeom>
          <a:solidFill>
            <a:srgbClr val="FF0000"/>
          </a:solidFill>
        </p:spPr>
        <p:txBody>
          <a:bodyPr wrap="square" lIns="0" tIns="0" rIns="0" bIns="0" rtlCol="0"/>
          <a:lstStyle/>
          <a:p>
            <a:endParaRPr/>
          </a:p>
        </p:txBody>
      </p:sp>
      <p:sp>
        <p:nvSpPr>
          <p:cNvPr id="13" name="object 13"/>
          <p:cNvSpPr txBox="1"/>
          <p:nvPr/>
        </p:nvSpPr>
        <p:spPr>
          <a:xfrm>
            <a:off x="5007355" y="4926838"/>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s2</a:t>
            </a:r>
            <a:endParaRPr sz="1800">
              <a:latin typeface="Calibri"/>
              <a:cs typeface="Calibri"/>
            </a:endParaRPr>
          </a:p>
        </p:txBody>
      </p:sp>
      <p:sp>
        <p:nvSpPr>
          <p:cNvPr id="14" name="object 14"/>
          <p:cNvSpPr/>
          <p:nvPr/>
        </p:nvSpPr>
        <p:spPr>
          <a:xfrm>
            <a:off x="5285359" y="4785995"/>
            <a:ext cx="1053465" cy="336550"/>
          </a:xfrm>
          <a:custGeom>
            <a:avLst/>
            <a:gdLst/>
            <a:ahLst/>
            <a:cxnLst/>
            <a:rect l="l" t="t" r="r" b="b"/>
            <a:pathLst>
              <a:path w="1053464" h="336550">
                <a:moveTo>
                  <a:pt x="74549" y="289305"/>
                </a:moveTo>
                <a:lnTo>
                  <a:pt x="0" y="311276"/>
                </a:lnTo>
                <a:lnTo>
                  <a:pt x="7365" y="336168"/>
                </a:lnTo>
                <a:lnTo>
                  <a:pt x="81914" y="314197"/>
                </a:lnTo>
                <a:lnTo>
                  <a:pt x="74549" y="289305"/>
                </a:lnTo>
                <a:close/>
              </a:path>
              <a:path w="1053464" h="336550">
                <a:moveTo>
                  <a:pt x="173989" y="260095"/>
                </a:moveTo>
                <a:lnTo>
                  <a:pt x="99440" y="282066"/>
                </a:lnTo>
                <a:lnTo>
                  <a:pt x="106806" y="306958"/>
                </a:lnTo>
                <a:lnTo>
                  <a:pt x="181355" y="284987"/>
                </a:lnTo>
                <a:lnTo>
                  <a:pt x="173989" y="260095"/>
                </a:lnTo>
                <a:close/>
              </a:path>
              <a:path w="1053464" h="336550">
                <a:moveTo>
                  <a:pt x="273430" y="230885"/>
                </a:moveTo>
                <a:lnTo>
                  <a:pt x="198881" y="252856"/>
                </a:lnTo>
                <a:lnTo>
                  <a:pt x="206248" y="277748"/>
                </a:lnTo>
                <a:lnTo>
                  <a:pt x="280796" y="255777"/>
                </a:lnTo>
                <a:lnTo>
                  <a:pt x="273430" y="230885"/>
                </a:lnTo>
                <a:close/>
              </a:path>
              <a:path w="1053464" h="336550">
                <a:moveTo>
                  <a:pt x="372871" y="201675"/>
                </a:moveTo>
                <a:lnTo>
                  <a:pt x="298323" y="223646"/>
                </a:lnTo>
                <a:lnTo>
                  <a:pt x="305562" y="248538"/>
                </a:lnTo>
                <a:lnTo>
                  <a:pt x="380238" y="226567"/>
                </a:lnTo>
                <a:lnTo>
                  <a:pt x="372871" y="201675"/>
                </a:lnTo>
                <a:close/>
              </a:path>
              <a:path w="1053464" h="336550">
                <a:moveTo>
                  <a:pt x="472313" y="172465"/>
                </a:moveTo>
                <a:lnTo>
                  <a:pt x="397763" y="194436"/>
                </a:lnTo>
                <a:lnTo>
                  <a:pt x="405002" y="219328"/>
                </a:lnTo>
                <a:lnTo>
                  <a:pt x="479678" y="197357"/>
                </a:lnTo>
                <a:lnTo>
                  <a:pt x="472313" y="172465"/>
                </a:lnTo>
                <a:close/>
              </a:path>
              <a:path w="1053464" h="336550">
                <a:moveTo>
                  <a:pt x="571753" y="143255"/>
                </a:moveTo>
                <a:lnTo>
                  <a:pt x="497204" y="165226"/>
                </a:lnTo>
                <a:lnTo>
                  <a:pt x="504443" y="190118"/>
                </a:lnTo>
                <a:lnTo>
                  <a:pt x="578992" y="168147"/>
                </a:lnTo>
                <a:lnTo>
                  <a:pt x="571753" y="143255"/>
                </a:lnTo>
                <a:close/>
              </a:path>
              <a:path w="1053464" h="336550">
                <a:moveTo>
                  <a:pt x="671194" y="114045"/>
                </a:moveTo>
                <a:lnTo>
                  <a:pt x="596645" y="136016"/>
                </a:lnTo>
                <a:lnTo>
                  <a:pt x="603885" y="160908"/>
                </a:lnTo>
                <a:lnTo>
                  <a:pt x="678433" y="138937"/>
                </a:lnTo>
                <a:lnTo>
                  <a:pt x="671194" y="114045"/>
                </a:lnTo>
                <a:close/>
              </a:path>
              <a:path w="1053464" h="336550">
                <a:moveTo>
                  <a:pt x="770636" y="84835"/>
                </a:moveTo>
                <a:lnTo>
                  <a:pt x="696087" y="106806"/>
                </a:lnTo>
                <a:lnTo>
                  <a:pt x="703326" y="131571"/>
                </a:lnTo>
                <a:lnTo>
                  <a:pt x="777875" y="109727"/>
                </a:lnTo>
                <a:lnTo>
                  <a:pt x="770636" y="84835"/>
                </a:lnTo>
                <a:close/>
              </a:path>
              <a:path w="1053464" h="336550">
                <a:moveTo>
                  <a:pt x="870076" y="55625"/>
                </a:moveTo>
                <a:lnTo>
                  <a:pt x="795401" y="77596"/>
                </a:lnTo>
                <a:lnTo>
                  <a:pt x="802766" y="102361"/>
                </a:lnTo>
                <a:lnTo>
                  <a:pt x="877315" y="80517"/>
                </a:lnTo>
                <a:lnTo>
                  <a:pt x="870076" y="55625"/>
                </a:lnTo>
                <a:close/>
              </a:path>
              <a:path w="1053464" h="336550">
                <a:moveTo>
                  <a:pt x="967613" y="0"/>
                </a:moveTo>
                <a:lnTo>
                  <a:pt x="989456" y="74548"/>
                </a:lnTo>
                <a:lnTo>
                  <a:pt x="1053083" y="15366"/>
                </a:lnTo>
                <a:lnTo>
                  <a:pt x="967613" y="0"/>
                </a:lnTo>
                <a:close/>
              </a:path>
              <a:path w="1053464" h="336550">
                <a:moveTo>
                  <a:pt x="969517" y="26415"/>
                </a:moveTo>
                <a:lnTo>
                  <a:pt x="894841" y="48386"/>
                </a:lnTo>
                <a:lnTo>
                  <a:pt x="902207" y="73151"/>
                </a:lnTo>
                <a:lnTo>
                  <a:pt x="976756" y="51307"/>
                </a:lnTo>
                <a:lnTo>
                  <a:pt x="969517" y="26415"/>
                </a:lnTo>
                <a:close/>
              </a:path>
            </a:pathLst>
          </a:custGeom>
          <a:solidFill>
            <a:srgbClr val="FF0000"/>
          </a:solidFill>
        </p:spPr>
        <p:txBody>
          <a:bodyPr wrap="square" lIns="0" tIns="0" rIns="0" bIns="0" rtlCol="0"/>
          <a:lstStyle/>
          <a:p>
            <a:endParaRPr/>
          </a:p>
        </p:txBody>
      </p:sp>
      <p:sp>
        <p:nvSpPr>
          <p:cNvPr id="15" name="object 15"/>
          <p:cNvSpPr/>
          <p:nvPr/>
        </p:nvSpPr>
        <p:spPr>
          <a:xfrm>
            <a:off x="4522470" y="5119115"/>
            <a:ext cx="405765" cy="78105"/>
          </a:xfrm>
          <a:custGeom>
            <a:avLst/>
            <a:gdLst/>
            <a:ahLst/>
            <a:cxnLst/>
            <a:rect l="l" t="t" r="r" b="b"/>
            <a:pathLst>
              <a:path w="405764" h="78104">
                <a:moveTo>
                  <a:pt x="77724" y="25907"/>
                </a:moveTo>
                <a:lnTo>
                  <a:pt x="0" y="25907"/>
                </a:lnTo>
                <a:lnTo>
                  <a:pt x="0" y="51815"/>
                </a:lnTo>
                <a:lnTo>
                  <a:pt x="77724" y="51815"/>
                </a:lnTo>
                <a:lnTo>
                  <a:pt x="77724" y="25907"/>
                </a:lnTo>
                <a:close/>
              </a:path>
              <a:path w="405764" h="78104">
                <a:moveTo>
                  <a:pt x="181355" y="25907"/>
                </a:moveTo>
                <a:lnTo>
                  <a:pt x="103631" y="25907"/>
                </a:lnTo>
                <a:lnTo>
                  <a:pt x="103631" y="51815"/>
                </a:lnTo>
                <a:lnTo>
                  <a:pt x="181355" y="51815"/>
                </a:lnTo>
                <a:lnTo>
                  <a:pt x="181355" y="25907"/>
                </a:lnTo>
                <a:close/>
              </a:path>
              <a:path w="405764" h="78104">
                <a:moveTo>
                  <a:pt x="284988" y="25907"/>
                </a:moveTo>
                <a:lnTo>
                  <a:pt x="207263" y="25907"/>
                </a:lnTo>
                <a:lnTo>
                  <a:pt x="207263" y="51815"/>
                </a:lnTo>
                <a:lnTo>
                  <a:pt x="284988" y="51815"/>
                </a:lnTo>
                <a:lnTo>
                  <a:pt x="284988" y="25907"/>
                </a:lnTo>
                <a:close/>
              </a:path>
              <a:path w="405764" h="78104">
                <a:moveTo>
                  <a:pt x="327913" y="0"/>
                </a:moveTo>
                <a:lnTo>
                  <a:pt x="327913" y="77723"/>
                </a:lnTo>
                <a:lnTo>
                  <a:pt x="379729" y="51815"/>
                </a:lnTo>
                <a:lnTo>
                  <a:pt x="340867" y="51815"/>
                </a:lnTo>
                <a:lnTo>
                  <a:pt x="340867" y="25907"/>
                </a:lnTo>
                <a:lnTo>
                  <a:pt x="379730" y="25907"/>
                </a:lnTo>
                <a:lnTo>
                  <a:pt x="327913" y="0"/>
                </a:lnTo>
                <a:close/>
              </a:path>
              <a:path w="405764" h="78104">
                <a:moveTo>
                  <a:pt x="327913" y="25907"/>
                </a:moveTo>
                <a:lnTo>
                  <a:pt x="310895" y="25907"/>
                </a:lnTo>
                <a:lnTo>
                  <a:pt x="310895" y="51815"/>
                </a:lnTo>
                <a:lnTo>
                  <a:pt x="327913" y="51815"/>
                </a:lnTo>
                <a:lnTo>
                  <a:pt x="327913" y="25907"/>
                </a:lnTo>
                <a:close/>
              </a:path>
              <a:path w="405764" h="78104">
                <a:moveTo>
                  <a:pt x="379730" y="25907"/>
                </a:moveTo>
                <a:lnTo>
                  <a:pt x="340867" y="25907"/>
                </a:lnTo>
                <a:lnTo>
                  <a:pt x="340867" y="51815"/>
                </a:lnTo>
                <a:lnTo>
                  <a:pt x="379729" y="51815"/>
                </a:lnTo>
                <a:lnTo>
                  <a:pt x="405638" y="38861"/>
                </a:lnTo>
                <a:lnTo>
                  <a:pt x="379730" y="25907"/>
                </a:lnTo>
                <a:close/>
              </a:path>
            </a:pathLst>
          </a:custGeom>
          <a:solidFill>
            <a:srgbClr val="FF0000"/>
          </a:solid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5854065" cy="1031240"/>
          </a:xfrm>
          <a:prstGeom prst="rect">
            <a:avLst/>
          </a:prstGeom>
        </p:spPr>
        <p:txBody>
          <a:bodyPr vert="horz" wrap="square" lIns="0" tIns="104139" rIns="0" bIns="0" rtlCol="0">
            <a:spAutoFit/>
          </a:bodyPr>
          <a:lstStyle/>
          <a:p>
            <a:pPr marL="12700" marR="5080">
              <a:lnSpc>
                <a:spcPts val="3600"/>
              </a:lnSpc>
              <a:spcBef>
                <a:spcPts val="819"/>
              </a:spcBef>
            </a:pPr>
            <a:r>
              <a:rPr sz="3600" i="0" spc="-105" dirty="0">
                <a:solidFill>
                  <a:srgbClr val="000000"/>
                </a:solidFill>
                <a:latin typeface="Arial"/>
                <a:cs typeface="Arial"/>
              </a:rPr>
              <a:t>How </a:t>
            </a:r>
            <a:r>
              <a:rPr sz="3600" i="0" spc="-120" dirty="0">
                <a:solidFill>
                  <a:srgbClr val="000000"/>
                </a:solidFill>
                <a:latin typeface="Arial"/>
                <a:cs typeface="Arial"/>
              </a:rPr>
              <a:t>Many</a:t>
            </a:r>
            <a:r>
              <a:rPr sz="3600" i="0" spc="-780" dirty="0">
                <a:solidFill>
                  <a:srgbClr val="000000"/>
                </a:solidFill>
                <a:latin typeface="Arial"/>
                <a:cs typeface="Arial"/>
              </a:rPr>
              <a:t> </a:t>
            </a:r>
            <a:r>
              <a:rPr sz="3600" i="0" spc="-135" dirty="0">
                <a:solidFill>
                  <a:srgbClr val="000000"/>
                </a:solidFill>
                <a:latin typeface="Arial"/>
                <a:cs typeface="Arial"/>
              </a:rPr>
              <a:t>String </a:t>
            </a:r>
            <a:r>
              <a:rPr sz="3600" i="0" spc="-140" dirty="0">
                <a:solidFill>
                  <a:srgbClr val="000000"/>
                </a:solidFill>
                <a:latin typeface="Arial"/>
                <a:cs typeface="Arial"/>
              </a:rPr>
              <a:t>Objects </a:t>
            </a:r>
            <a:r>
              <a:rPr sz="3600" i="0" spc="-105" dirty="0">
                <a:solidFill>
                  <a:srgbClr val="000000"/>
                </a:solidFill>
                <a:latin typeface="Arial"/>
                <a:cs typeface="Arial"/>
              </a:rPr>
              <a:t>are  </a:t>
            </a:r>
            <a:r>
              <a:rPr sz="3600" i="0" spc="-140" dirty="0">
                <a:solidFill>
                  <a:srgbClr val="000000"/>
                </a:solidFill>
                <a:latin typeface="Arial"/>
                <a:cs typeface="Arial"/>
              </a:rPr>
              <a:t>Created?</a:t>
            </a:r>
            <a:endParaRPr sz="3600">
              <a:latin typeface="Arial"/>
              <a:cs typeface="Arial"/>
            </a:endParaRPr>
          </a:p>
        </p:txBody>
      </p:sp>
      <p:sp>
        <p:nvSpPr>
          <p:cNvPr id="3" name="object 3"/>
          <p:cNvSpPr txBox="1">
            <a:spLocks noGrp="1"/>
          </p:cNvSpPr>
          <p:nvPr>
            <p:ph sz="half" idx="2"/>
          </p:nvPr>
        </p:nvSpPr>
        <p:spPr>
          <a:prstGeom prst="rect">
            <a:avLst/>
          </a:prstGeom>
        </p:spPr>
        <p:txBody>
          <a:bodyPr vert="horz" wrap="square" lIns="0" tIns="12065" rIns="0" bIns="0" rtlCol="0">
            <a:spAutoFit/>
          </a:bodyPr>
          <a:lstStyle/>
          <a:p>
            <a:pPr marL="12700" marR="1446530">
              <a:lnSpc>
                <a:spcPct val="100000"/>
              </a:lnSpc>
              <a:spcBef>
                <a:spcPts val="95"/>
              </a:spcBef>
            </a:pPr>
            <a:r>
              <a:rPr spc="-5" dirty="0"/>
              <a:t>//File Name: </a:t>
            </a:r>
            <a:r>
              <a:rPr spc="-10" dirty="0"/>
              <a:t>StringDemo.java  </a:t>
            </a:r>
            <a:r>
              <a:rPr spc="-5" dirty="0"/>
              <a:t>class StringDemo</a:t>
            </a:r>
          </a:p>
          <a:p>
            <a:pPr marL="12700">
              <a:lnSpc>
                <a:spcPct val="100000"/>
              </a:lnSpc>
            </a:pPr>
            <a:r>
              <a:rPr spc="-5" dirty="0"/>
              <a:t>{</a:t>
            </a:r>
          </a:p>
          <a:p>
            <a:pPr marL="927100">
              <a:lnSpc>
                <a:spcPct val="100000"/>
              </a:lnSpc>
            </a:pPr>
            <a:r>
              <a:rPr spc="-5" dirty="0"/>
              <a:t>public </a:t>
            </a:r>
            <a:r>
              <a:rPr spc="-10" dirty="0"/>
              <a:t>static void main(String[]</a:t>
            </a:r>
            <a:r>
              <a:rPr spc="95" dirty="0"/>
              <a:t> </a:t>
            </a:r>
            <a:r>
              <a:rPr spc="-10" dirty="0"/>
              <a:t>args)</a:t>
            </a:r>
          </a:p>
          <a:p>
            <a:pPr marL="927100">
              <a:lnSpc>
                <a:spcPct val="100000"/>
              </a:lnSpc>
            </a:pPr>
            <a:r>
              <a:rPr spc="-5" dirty="0"/>
              <a:t>{</a:t>
            </a:r>
          </a:p>
          <a:p>
            <a:pPr marL="1841500">
              <a:lnSpc>
                <a:spcPct val="100000"/>
              </a:lnSpc>
            </a:pPr>
            <a:r>
              <a:rPr spc="-5" dirty="0">
                <a:solidFill>
                  <a:srgbClr val="FF0000"/>
                </a:solidFill>
              </a:rPr>
              <a:t>String s1 =</a:t>
            </a:r>
            <a:r>
              <a:rPr spc="-40" dirty="0">
                <a:solidFill>
                  <a:srgbClr val="FF0000"/>
                </a:solidFill>
              </a:rPr>
              <a:t> </a:t>
            </a:r>
            <a:r>
              <a:rPr spc="-5" dirty="0">
                <a:solidFill>
                  <a:srgbClr val="FF0000"/>
                </a:solidFill>
              </a:rPr>
              <a:t>"abc";</a:t>
            </a:r>
          </a:p>
          <a:p>
            <a:pPr>
              <a:lnSpc>
                <a:spcPct val="100000"/>
              </a:lnSpc>
              <a:spcBef>
                <a:spcPts val="25"/>
              </a:spcBef>
            </a:pPr>
            <a:endParaRPr sz="1650">
              <a:latin typeface="Times New Roman"/>
              <a:cs typeface="Times New Roman"/>
            </a:endParaRPr>
          </a:p>
          <a:p>
            <a:pPr marL="1841500">
              <a:lnSpc>
                <a:spcPct val="100000"/>
              </a:lnSpc>
            </a:pPr>
            <a:r>
              <a:rPr spc="-5" dirty="0">
                <a:solidFill>
                  <a:srgbClr val="FF0000"/>
                </a:solidFill>
              </a:rPr>
              <a:t>String s2 =</a:t>
            </a:r>
            <a:r>
              <a:rPr spc="-35" dirty="0">
                <a:solidFill>
                  <a:srgbClr val="FF0000"/>
                </a:solidFill>
              </a:rPr>
              <a:t> </a:t>
            </a:r>
            <a:r>
              <a:rPr spc="-5" dirty="0">
                <a:solidFill>
                  <a:srgbClr val="FF0000"/>
                </a:solidFill>
              </a:rPr>
              <a:t>"abc";</a:t>
            </a:r>
          </a:p>
          <a:p>
            <a:pPr>
              <a:lnSpc>
                <a:spcPct val="100000"/>
              </a:lnSpc>
              <a:spcBef>
                <a:spcPts val="20"/>
              </a:spcBef>
            </a:pPr>
            <a:endParaRPr sz="1650">
              <a:latin typeface="Times New Roman"/>
              <a:cs typeface="Times New Roman"/>
            </a:endParaRPr>
          </a:p>
          <a:p>
            <a:pPr marL="1841500">
              <a:lnSpc>
                <a:spcPct val="100000"/>
              </a:lnSpc>
              <a:spcBef>
                <a:spcPts val="5"/>
              </a:spcBef>
            </a:pPr>
            <a:r>
              <a:rPr spc="-5" dirty="0">
                <a:solidFill>
                  <a:srgbClr val="FF0000"/>
                </a:solidFill>
              </a:rPr>
              <a:t>String s3 =</a:t>
            </a:r>
            <a:r>
              <a:rPr spc="-40" dirty="0">
                <a:solidFill>
                  <a:srgbClr val="FF0000"/>
                </a:solidFill>
              </a:rPr>
              <a:t> </a:t>
            </a:r>
            <a:r>
              <a:rPr spc="-5" dirty="0">
                <a:solidFill>
                  <a:srgbClr val="FF0000"/>
                </a:solidFill>
              </a:rPr>
              <a:t>"abc";</a:t>
            </a:r>
          </a:p>
          <a:p>
            <a:pPr>
              <a:lnSpc>
                <a:spcPct val="100000"/>
              </a:lnSpc>
              <a:spcBef>
                <a:spcPts val="20"/>
              </a:spcBef>
            </a:pPr>
            <a:endParaRPr sz="1650">
              <a:latin typeface="Times New Roman"/>
              <a:cs typeface="Times New Roman"/>
            </a:endParaRPr>
          </a:p>
          <a:p>
            <a:pPr marL="1841500">
              <a:lnSpc>
                <a:spcPct val="100000"/>
              </a:lnSpc>
            </a:pPr>
            <a:r>
              <a:rPr spc="-5" dirty="0"/>
              <a:t>String s4 =</a:t>
            </a:r>
            <a:r>
              <a:rPr spc="-35" dirty="0"/>
              <a:t> </a:t>
            </a:r>
            <a:r>
              <a:rPr spc="-5" dirty="0"/>
              <a:t>"abc";</a:t>
            </a:r>
          </a:p>
          <a:p>
            <a:pPr marL="927100">
              <a:lnSpc>
                <a:spcPct val="100000"/>
              </a:lnSpc>
            </a:pPr>
            <a:r>
              <a:rPr spc="-5" dirty="0"/>
              <a:t>}// End of</a:t>
            </a:r>
            <a:r>
              <a:rPr spc="10" dirty="0"/>
              <a:t> </a:t>
            </a:r>
            <a:r>
              <a:rPr spc="-10" dirty="0"/>
              <a:t>Method</a:t>
            </a:r>
          </a:p>
          <a:p>
            <a:pPr marL="12700">
              <a:lnSpc>
                <a:spcPct val="100000"/>
              </a:lnSpc>
            </a:pPr>
            <a:r>
              <a:rPr spc="-5" dirty="0"/>
              <a:t>}// End of class</a:t>
            </a:r>
            <a:r>
              <a:rPr spc="20" dirty="0"/>
              <a:t> </a:t>
            </a:r>
            <a:r>
              <a:rPr spc="-5" dirty="0"/>
              <a:t>StringDemo</a:t>
            </a:r>
          </a:p>
        </p:txBody>
      </p:sp>
      <p:sp>
        <p:nvSpPr>
          <p:cNvPr id="4" name="object 4"/>
          <p:cNvSpPr/>
          <p:nvPr/>
        </p:nvSpPr>
        <p:spPr>
          <a:xfrm>
            <a:off x="3492246" y="2849879"/>
            <a:ext cx="1008380" cy="78105"/>
          </a:xfrm>
          <a:custGeom>
            <a:avLst/>
            <a:gdLst/>
            <a:ahLst/>
            <a:cxnLst/>
            <a:rect l="l" t="t" r="r" b="b"/>
            <a:pathLst>
              <a:path w="1008379" h="78105">
                <a:moveTo>
                  <a:pt x="77724" y="25908"/>
                </a:moveTo>
                <a:lnTo>
                  <a:pt x="0" y="25908"/>
                </a:lnTo>
                <a:lnTo>
                  <a:pt x="0" y="51816"/>
                </a:lnTo>
                <a:lnTo>
                  <a:pt x="77724" y="51816"/>
                </a:lnTo>
                <a:lnTo>
                  <a:pt x="77724" y="25908"/>
                </a:lnTo>
                <a:close/>
              </a:path>
              <a:path w="1008379" h="78105">
                <a:moveTo>
                  <a:pt x="181355" y="25908"/>
                </a:moveTo>
                <a:lnTo>
                  <a:pt x="103631" y="25908"/>
                </a:lnTo>
                <a:lnTo>
                  <a:pt x="103631" y="51816"/>
                </a:lnTo>
                <a:lnTo>
                  <a:pt x="181355" y="51816"/>
                </a:lnTo>
                <a:lnTo>
                  <a:pt x="181355" y="25908"/>
                </a:lnTo>
                <a:close/>
              </a:path>
              <a:path w="1008379" h="78105">
                <a:moveTo>
                  <a:pt x="284988" y="25908"/>
                </a:moveTo>
                <a:lnTo>
                  <a:pt x="207263" y="25908"/>
                </a:lnTo>
                <a:lnTo>
                  <a:pt x="207263" y="51816"/>
                </a:lnTo>
                <a:lnTo>
                  <a:pt x="284988" y="51816"/>
                </a:lnTo>
                <a:lnTo>
                  <a:pt x="284988" y="25908"/>
                </a:lnTo>
                <a:close/>
              </a:path>
              <a:path w="1008379" h="78105">
                <a:moveTo>
                  <a:pt x="388619" y="25908"/>
                </a:moveTo>
                <a:lnTo>
                  <a:pt x="310895" y="25908"/>
                </a:lnTo>
                <a:lnTo>
                  <a:pt x="310895" y="51816"/>
                </a:lnTo>
                <a:lnTo>
                  <a:pt x="388619" y="51816"/>
                </a:lnTo>
                <a:lnTo>
                  <a:pt x="388619" y="25908"/>
                </a:lnTo>
                <a:close/>
              </a:path>
              <a:path w="1008379" h="78105">
                <a:moveTo>
                  <a:pt x="492251" y="25908"/>
                </a:moveTo>
                <a:lnTo>
                  <a:pt x="414527" y="25908"/>
                </a:lnTo>
                <a:lnTo>
                  <a:pt x="414527" y="51816"/>
                </a:lnTo>
                <a:lnTo>
                  <a:pt x="492251" y="51816"/>
                </a:lnTo>
                <a:lnTo>
                  <a:pt x="492251" y="25908"/>
                </a:lnTo>
                <a:close/>
              </a:path>
              <a:path w="1008379" h="78105">
                <a:moveTo>
                  <a:pt x="595883" y="25908"/>
                </a:moveTo>
                <a:lnTo>
                  <a:pt x="518159" y="25908"/>
                </a:lnTo>
                <a:lnTo>
                  <a:pt x="518159" y="51816"/>
                </a:lnTo>
                <a:lnTo>
                  <a:pt x="595883" y="51816"/>
                </a:lnTo>
                <a:lnTo>
                  <a:pt x="595883" y="25908"/>
                </a:lnTo>
                <a:close/>
              </a:path>
              <a:path w="1008379" h="78105">
                <a:moveTo>
                  <a:pt x="699515" y="25908"/>
                </a:moveTo>
                <a:lnTo>
                  <a:pt x="621791" y="25908"/>
                </a:lnTo>
                <a:lnTo>
                  <a:pt x="621791" y="51816"/>
                </a:lnTo>
                <a:lnTo>
                  <a:pt x="699515" y="51816"/>
                </a:lnTo>
                <a:lnTo>
                  <a:pt x="699515" y="25908"/>
                </a:lnTo>
                <a:close/>
              </a:path>
              <a:path w="1008379" h="78105">
                <a:moveTo>
                  <a:pt x="803148" y="25908"/>
                </a:moveTo>
                <a:lnTo>
                  <a:pt x="725424" y="25908"/>
                </a:lnTo>
                <a:lnTo>
                  <a:pt x="725424" y="51816"/>
                </a:lnTo>
                <a:lnTo>
                  <a:pt x="803148" y="51816"/>
                </a:lnTo>
                <a:lnTo>
                  <a:pt x="803148" y="25908"/>
                </a:lnTo>
                <a:close/>
              </a:path>
              <a:path w="1008379" h="78105">
                <a:moveTo>
                  <a:pt x="906779" y="25908"/>
                </a:moveTo>
                <a:lnTo>
                  <a:pt x="829055" y="25908"/>
                </a:lnTo>
                <a:lnTo>
                  <a:pt x="829055" y="51816"/>
                </a:lnTo>
                <a:lnTo>
                  <a:pt x="906779" y="51816"/>
                </a:lnTo>
                <a:lnTo>
                  <a:pt x="906779" y="25908"/>
                </a:lnTo>
                <a:close/>
              </a:path>
              <a:path w="1008379" h="78105">
                <a:moveTo>
                  <a:pt x="930401" y="0"/>
                </a:moveTo>
                <a:lnTo>
                  <a:pt x="930401" y="77724"/>
                </a:lnTo>
                <a:lnTo>
                  <a:pt x="982217" y="51816"/>
                </a:lnTo>
                <a:lnTo>
                  <a:pt x="932688" y="51816"/>
                </a:lnTo>
                <a:lnTo>
                  <a:pt x="932688" y="25908"/>
                </a:lnTo>
                <a:lnTo>
                  <a:pt x="982218" y="25908"/>
                </a:lnTo>
                <a:lnTo>
                  <a:pt x="930401" y="0"/>
                </a:lnTo>
                <a:close/>
              </a:path>
              <a:path w="1008379" h="78105">
                <a:moveTo>
                  <a:pt x="943355" y="25908"/>
                </a:moveTo>
                <a:lnTo>
                  <a:pt x="932688" y="25908"/>
                </a:lnTo>
                <a:lnTo>
                  <a:pt x="932688" y="51816"/>
                </a:lnTo>
                <a:lnTo>
                  <a:pt x="943355" y="51816"/>
                </a:lnTo>
                <a:lnTo>
                  <a:pt x="943355" y="25908"/>
                </a:lnTo>
                <a:close/>
              </a:path>
              <a:path w="1008379" h="78105">
                <a:moveTo>
                  <a:pt x="982218" y="25908"/>
                </a:moveTo>
                <a:lnTo>
                  <a:pt x="943355" y="25908"/>
                </a:lnTo>
                <a:lnTo>
                  <a:pt x="943355" y="51816"/>
                </a:lnTo>
                <a:lnTo>
                  <a:pt x="982217" y="51816"/>
                </a:lnTo>
                <a:lnTo>
                  <a:pt x="1008126" y="38862"/>
                </a:lnTo>
                <a:lnTo>
                  <a:pt x="982218" y="25908"/>
                </a:lnTo>
                <a:close/>
              </a:path>
            </a:pathLst>
          </a:custGeom>
          <a:solidFill>
            <a:srgbClr val="FF0000"/>
          </a:solidFill>
        </p:spPr>
        <p:txBody>
          <a:bodyPr wrap="square" lIns="0" tIns="0" rIns="0" bIns="0" rtlCol="0"/>
          <a:lstStyle/>
          <a:p>
            <a:endParaRPr/>
          </a:p>
        </p:txBody>
      </p:sp>
      <p:sp>
        <p:nvSpPr>
          <p:cNvPr id="5" name="object 5"/>
          <p:cNvSpPr txBox="1"/>
          <p:nvPr/>
        </p:nvSpPr>
        <p:spPr>
          <a:xfrm>
            <a:off x="4560189" y="2721102"/>
            <a:ext cx="28092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String s1 = </a:t>
            </a:r>
            <a:r>
              <a:rPr sz="1800" b="1" spc="-5" dirty="0">
                <a:solidFill>
                  <a:srgbClr val="FF0000"/>
                </a:solidFill>
                <a:latin typeface="Calibri"/>
                <a:cs typeface="Calibri"/>
              </a:rPr>
              <a:t>new</a:t>
            </a:r>
            <a:r>
              <a:rPr sz="1800" b="1" spc="-125" dirty="0">
                <a:solidFill>
                  <a:srgbClr val="FF0000"/>
                </a:solidFill>
                <a:latin typeface="Calibri"/>
                <a:cs typeface="Calibri"/>
              </a:rPr>
              <a:t> </a:t>
            </a:r>
            <a:r>
              <a:rPr sz="1800" b="1" dirty="0">
                <a:solidFill>
                  <a:srgbClr val="FF0000"/>
                </a:solidFill>
                <a:latin typeface="Calibri"/>
                <a:cs typeface="Calibri"/>
              </a:rPr>
              <a:t>String("abc“);</a:t>
            </a:r>
            <a:endParaRPr sz="1800">
              <a:latin typeface="Calibri"/>
              <a:cs typeface="Calibri"/>
            </a:endParaRPr>
          </a:p>
        </p:txBody>
      </p:sp>
      <p:sp>
        <p:nvSpPr>
          <p:cNvPr id="6" name="object 6"/>
          <p:cNvSpPr/>
          <p:nvPr/>
        </p:nvSpPr>
        <p:spPr>
          <a:xfrm>
            <a:off x="5925311" y="3073145"/>
            <a:ext cx="78105" cy="951865"/>
          </a:xfrm>
          <a:custGeom>
            <a:avLst/>
            <a:gdLst/>
            <a:ahLst/>
            <a:cxnLst/>
            <a:rect l="l" t="t" r="r" b="b"/>
            <a:pathLst>
              <a:path w="78104" h="951864">
                <a:moveTo>
                  <a:pt x="51815" y="0"/>
                </a:moveTo>
                <a:lnTo>
                  <a:pt x="25908" y="0"/>
                </a:lnTo>
                <a:lnTo>
                  <a:pt x="25908" y="77724"/>
                </a:lnTo>
                <a:lnTo>
                  <a:pt x="51815" y="77724"/>
                </a:lnTo>
                <a:lnTo>
                  <a:pt x="51815" y="0"/>
                </a:lnTo>
                <a:close/>
              </a:path>
              <a:path w="78104" h="951864">
                <a:moveTo>
                  <a:pt x="51815" y="103631"/>
                </a:moveTo>
                <a:lnTo>
                  <a:pt x="25908" y="103631"/>
                </a:lnTo>
                <a:lnTo>
                  <a:pt x="25908" y="181355"/>
                </a:lnTo>
                <a:lnTo>
                  <a:pt x="51815" y="181355"/>
                </a:lnTo>
                <a:lnTo>
                  <a:pt x="51815" y="103631"/>
                </a:lnTo>
                <a:close/>
              </a:path>
              <a:path w="78104" h="951864">
                <a:moveTo>
                  <a:pt x="51815" y="207263"/>
                </a:moveTo>
                <a:lnTo>
                  <a:pt x="25908" y="207263"/>
                </a:lnTo>
                <a:lnTo>
                  <a:pt x="25908" y="284988"/>
                </a:lnTo>
                <a:lnTo>
                  <a:pt x="51815" y="284988"/>
                </a:lnTo>
                <a:lnTo>
                  <a:pt x="51815" y="207263"/>
                </a:lnTo>
                <a:close/>
              </a:path>
              <a:path w="78104" h="951864">
                <a:moveTo>
                  <a:pt x="51815" y="310895"/>
                </a:moveTo>
                <a:lnTo>
                  <a:pt x="25908" y="310895"/>
                </a:lnTo>
                <a:lnTo>
                  <a:pt x="25908" y="388619"/>
                </a:lnTo>
                <a:lnTo>
                  <a:pt x="51815" y="388619"/>
                </a:lnTo>
                <a:lnTo>
                  <a:pt x="51815" y="310895"/>
                </a:lnTo>
                <a:close/>
              </a:path>
              <a:path w="78104" h="951864">
                <a:moveTo>
                  <a:pt x="51815" y="414527"/>
                </a:moveTo>
                <a:lnTo>
                  <a:pt x="25908" y="414527"/>
                </a:lnTo>
                <a:lnTo>
                  <a:pt x="25908" y="492251"/>
                </a:lnTo>
                <a:lnTo>
                  <a:pt x="51815" y="492251"/>
                </a:lnTo>
                <a:lnTo>
                  <a:pt x="51815" y="414527"/>
                </a:lnTo>
                <a:close/>
              </a:path>
              <a:path w="78104" h="951864">
                <a:moveTo>
                  <a:pt x="51815" y="518159"/>
                </a:moveTo>
                <a:lnTo>
                  <a:pt x="25908" y="518159"/>
                </a:lnTo>
                <a:lnTo>
                  <a:pt x="25908" y="595883"/>
                </a:lnTo>
                <a:lnTo>
                  <a:pt x="51815" y="595883"/>
                </a:lnTo>
                <a:lnTo>
                  <a:pt x="51815" y="518159"/>
                </a:lnTo>
                <a:close/>
              </a:path>
              <a:path w="78104" h="951864">
                <a:moveTo>
                  <a:pt x="51815" y="621791"/>
                </a:moveTo>
                <a:lnTo>
                  <a:pt x="25908" y="621791"/>
                </a:lnTo>
                <a:lnTo>
                  <a:pt x="25908" y="699515"/>
                </a:lnTo>
                <a:lnTo>
                  <a:pt x="51815" y="699515"/>
                </a:lnTo>
                <a:lnTo>
                  <a:pt x="51815" y="621791"/>
                </a:lnTo>
                <a:close/>
              </a:path>
              <a:path w="78104" h="951864">
                <a:moveTo>
                  <a:pt x="51815" y="725423"/>
                </a:moveTo>
                <a:lnTo>
                  <a:pt x="25908" y="725423"/>
                </a:lnTo>
                <a:lnTo>
                  <a:pt x="25908" y="803147"/>
                </a:lnTo>
                <a:lnTo>
                  <a:pt x="51815" y="803147"/>
                </a:lnTo>
                <a:lnTo>
                  <a:pt x="51815" y="725423"/>
                </a:lnTo>
                <a:close/>
              </a:path>
              <a:path w="78104" h="951864">
                <a:moveTo>
                  <a:pt x="25908" y="873886"/>
                </a:moveTo>
                <a:lnTo>
                  <a:pt x="0" y="873886"/>
                </a:lnTo>
                <a:lnTo>
                  <a:pt x="38862" y="951610"/>
                </a:lnTo>
                <a:lnTo>
                  <a:pt x="71247" y="886840"/>
                </a:lnTo>
                <a:lnTo>
                  <a:pt x="25908" y="886840"/>
                </a:lnTo>
                <a:lnTo>
                  <a:pt x="25908" y="873886"/>
                </a:lnTo>
                <a:close/>
              </a:path>
              <a:path w="78104" h="951864">
                <a:moveTo>
                  <a:pt x="51815" y="829055"/>
                </a:moveTo>
                <a:lnTo>
                  <a:pt x="25908" y="829055"/>
                </a:lnTo>
                <a:lnTo>
                  <a:pt x="25908" y="886840"/>
                </a:lnTo>
                <a:lnTo>
                  <a:pt x="51815" y="886840"/>
                </a:lnTo>
                <a:lnTo>
                  <a:pt x="51815" y="829055"/>
                </a:lnTo>
                <a:close/>
              </a:path>
              <a:path w="78104" h="951864">
                <a:moveTo>
                  <a:pt x="77724" y="873886"/>
                </a:moveTo>
                <a:lnTo>
                  <a:pt x="51815" y="873886"/>
                </a:lnTo>
                <a:lnTo>
                  <a:pt x="51815" y="886840"/>
                </a:lnTo>
                <a:lnTo>
                  <a:pt x="71247" y="886840"/>
                </a:lnTo>
                <a:lnTo>
                  <a:pt x="77724" y="873886"/>
                </a:lnTo>
                <a:close/>
              </a:path>
            </a:pathLst>
          </a:custGeom>
          <a:solidFill>
            <a:srgbClr val="FF0000"/>
          </a:solidFill>
        </p:spPr>
        <p:txBody>
          <a:bodyPr wrap="square" lIns="0" tIns="0" rIns="0" bIns="0" rtlCol="0"/>
          <a:lstStyle/>
          <a:p>
            <a:endParaRPr/>
          </a:p>
        </p:txBody>
      </p:sp>
      <p:sp>
        <p:nvSpPr>
          <p:cNvPr id="7" name="object 7"/>
          <p:cNvSpPr txBox="1"/>
          <p:nvPr/>
        </p:nvSpPr>
        <p:spPr>
          <a:xfrm>
            <a:off x="5007355" y="4449571"/>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s1</a:t>
            </a:r>
            <a:endParaRPr sz="1800">
              <a:latin typeface="Calibri"/>
              <a:cs typeface="Calibri"/>
            </a:endParaRPr>
          </a:p>
        </p:txBody>
      </p:sp>
      <p:sp>
        <p:nvSpPr>
          <p:cNvPr id="8" name="object 8"/>
          <p:cNvSpPr/>
          <p:nvPr/>
        </p:nvSpPr>
        <p:spPr>
          <a:xfrm>
            <a:off x="5289041" y="4593335"/>
            <a:ext cx="1008380" cy="78105"/>
          </a:xfrm>
          <a:custGeom>
            <a:avLst/>
            <a:gdLst/>
            <a:ahLst/>
            <a:cxnLst/>
            <a:rect l="l" t="t" r="r" b="b"/>
            <a:pathLst>
              <a:path w="1008379" h="78104">
                <a:moveTo>
                  <a:pt x="77724" y="25907"/>
                </a:moveTo>
                <a:lnTo>
                  <a:pt x="0" y="25907"/>
                </a:lnTo>
                <a:lnTo>
                  <a:pt x="0" y="51815"/>
                </a:lnTo>
                <a:lnTo>
                  <a:pt x="77724" y="51815"/>
                </a:lnTo>
                <a:lnTo>
                  <a:pt x="77724" y="25907"/>
                </a:lnTo>
                <a:close/>
              </a:path>
              <a:path w="1008379" h="78104">
                <a:moveTo>
                  <a:pt x="181356" y="25907"/>
                </a:moveTo>
                <a:lnTo>
                  <a:pt x="103632" y="25907"/>
                </a:lnTo>
                <a:lnTo>
                  <a:pt x="103632" y="51815"/>
                </a:lnTo>
                <a:lnTo>
                  <a:pt x="181356" y="51815"/>
                </a:lnTo>
                <a:lnTo>
                  <a:pt x="181356" y="25907"/>
                </a:lnTo>
                <a:close/>
              </a:path>
              <a:path w="1008379" h="78104">
                <a:moveTo>
                  <a:pt x="284988" y="25907"/>
                </a:moveTo>
                <a:lnTo>
                  <a:pt x="207263" y="25907"/>
                </a:lnTo>
                <a:lnTo>
                  <a:pt x="207263" y="51815"/>
                </a:lnTo>
                <a:lnTo>
                  <a:pt x="284988" y="51815"/>
                </a:lnTo>
                <a:lnTo>
                  <a:pt x="284988" y="25907"/>
                </a:lnTo>
                <a:close/>
              </a:path>
              <a:path w="1008379" h="78104">
                <a:moveTo>
                  <a:pt x="388620" y="25907"/>
                </a:moveTo>
                <a:lnTo>
                  <a:pt x="310896" y="25907"/>
                </a:lnTo>
                <a:lnTo>
                  <a:pt x="310896" y="51815"/>
                </a:lnTo>
                <a:lnTo>
                  <a:pt x="388620" y="51815"/>
                </a:lnTo>
                <a:lnTo>
                  <a:pt x="388620" y="25907"/>
                </a:lnTo>
                <a:close/>
              </a:path>
              <a:path w="1008379" h="78104">
                <a:moveTo>
                  <a:pt x="492252" y="25907"/>
                </a:moveTo>
                <a:lnTo>
                  <a:pt x="414528" y="25907"/>
                </a:lnTo>
                <a:lnTo>
                  <a:pt x="414528" y="51815"/>
                </a:lnTo>
                <a:lnTo>
                  <a:pt x="492252" y="51815"/>
                </a:lnTo>
                <a:lnTo>
                  <a:pt x="492252" y="25907"/>
                </a:lnTo>
                <a:close/>
              </a:path>
              <a:path w="1008379" h="78104">
                <a:moveTo>
                  <a:pt x="595884" y="25907"/>
                </a:moveTo>
                <a:lnTo>
                  <a:pt x="518160" y="25907"/>
                </a:lnTo>
                <a:lnTo>
                  <a:pt x="518160" y="51815"/>
                </a:lnTo>
                <a:lnTo>
                  <a:pt x="595884" y="51815"/>
                </a:lnTo>
                <a:lnTo>
                  <a:pt x="595884" y="25907"/>
                </a:lnTo>
                <a:close/>
              </a:path>
              <a:path w="1008379" h="78104">
                <a:moveTo>
                  <a:pt x="699516" y="25907"/>
                </a:moveTo>
                <a:lnTo>
                  <a:pt x="621792" y="25907"/>
                </a:lnTo>
                <a:lnTo>
                  <a:pt x="621792" y="51815"/>
                </a:lnTo>
                <a:lnTo>
                  <a:pt x="699516" y="51815"/>
                </a:lnTo>
                <a:lnTo>
                  <a:pt x="699516" y="25907"/>
                </a:lnTo>
                <a:close/>
              </a:path>
              <a:path w="1008379" h="78104">
                <a:moveTo>
                  <a:pt x="803148" y="25907"/>
                </a:moveTo>
                <a:lnTo>
                  <a:pt x="725424" y="25907"/>
                </a:lnTo>
                <a:lnTo>
                  <a:pt x="725424" y="51815"/>
                </a:lnTo>
                <a:lnTo>
                  <a:pt x="803148" y="51815"/>
                </a:lnTo>
                <a:lnTo>
                  <a:pt x="803148" y="25907"/>
                </a:lnTo>
                <a:close/>
              </a:path>
              <a:path w="1008379" h="78104">
                <a:moveTo>
                  <a:pt x="906780" y="25907"/>
                </a:moveTo>
                <a:lnTo>
                  <a:pt x="829056" y="25907"/>
                </a:lnTo>
                <a:lnTo>
                  <a:pt x="829056" y="51815"/>
                </a:lnTo>
                <a:lnTo>
                  <a:pt x="906780" y="51815"/>
                </a:lnTo>
                <a:lnTo>
                  <a:pt x="906780" y="25907"/>
                </a:lnTo>
                <a:close/>
              </a:path>
              <a:path w="1008379" h="78104">
                <a:moveTo>
                  <a:pt x="930402" y="0"/>
                </a:moveTo>
                <a:lnTo>
                  <a:pt x="930402" y="77724"/>
                </a:lnTo>
                <a:lnTo>
                  <a:pt x="982218" y="51815"/>
                </a:lnTo>
                <a:lnTo>
                  <a:pt x="932688" y="51815"/>
                </a:lnTo>
                <a:lnTo>
                  <a:pt x="932688" y="25907"/>
                </a:lnTo>
                <a:lnTo>
                  <a:pt x="982217" y="25907"/>
                </a:lnTo>
                <a:lnTo>
                  <a:pt x="930402" y="0"/>
                </a:lnTo>
                <a:close/>
              </a:path>
              <a:path w="1008379" h="78104">
                <a:moveTo>
                  <a:pt x="943356" y="25907"/>
                </a:moveTo>
                <a:lnTo>
                  <a:pt x="932688" y="25907"/>
                </a:lnTo>
                <a:lnTo>
                  <a:pt x="932688" y="51815"/>
                </a:lnTo>
                <a:lnTo>
                  <a:pt x="943356" y="51815"/>
                </a:lnTo>
                <a:lnTo>
                  <a:pt x="943356" y="25907"/>
                </a:lnTo>
                <a:close/>
              </a:path>
              <a:path w="1008379" h="78104">
                <a:moveTo>
                  <a:pt x="982217" y="25907"/>
                </a:moveTo>
                <a:lnTo>
                  <a:pt x="943356" y="25907"/>
                </a:lnTo>
                <a:lnTo>
                  <a:pt x="943356" y="51815"/>
                </a:lnTo>
                <a:lnTo>
                  <a:pt x="982218" y="51815"/>
                </a:lnTo>
                <a:lnTo>
                  <a:pt x="1008126" y="38862"/>
                </a:lnTo>
                <a:lnTo>
                  <a:pt x="982217" y="25907"/>
                </a:lnTo>
                <a:close/>
              </a:path>
            </a:pathLst>
          </a:custGeom>
          <a:solidFill>
            <a:srgbClr val="FF0000"/>
          </a:solidFill>
        </p:spPr>
        <p:txBody>
          <a:bodyPr wrap="square" lIns="0" tIns="0" rIns="0" bIns="0" rtlCol="0"/>
          <a:lstStyle/>
          <a:p>
            <a:endParaRPr/>
          </a:p>
        </p:txBody>
      </p:sp>
      <p:sp>
        <p:nvSpPr>
          <p:cNvPr id="9" name="object 9"/>
          <p:cNvSpPr txBox="1"/>
          <p:nvPr/>
        </p:nvSpPr>
        <p:spPr>
          <a:xfrm>
            <a:off x="6337553" y="4431029"/>
            <a:ext cx="515620" cy="504825"/>
          </a:xfrm>
          <a:prstGeom prst="rect">
            <a:avLst/>
          </a:prstGeom>
          <a:ln w="25907">
            <a:solidFill>
              <a:srgbClr val="385D89"/>
            </a:solidFill>
          </a:ln>
        </p:spPr>
        <p:txBody>
          <a:bodyPr vert="horz" wrap="square" lIns="0" tIns="53975" rIns="0" bIns="0" rtlCol="0">
            <a:spAutoFit/>
          </a:bodyPr>
          <a:lstStyle/>
          <a:p>
            <a:pPr marL="91440">
              <a:lnSpc>
                <a:spcPct val="100000"/>
              </a:lnSpc>
              <a:spcBef>
                <a:spcPts val="425"/>
              </a:spcBef>
            </a:pPr>
            <a:r>
              <a:rPr sz="1800" b="1" dirty="0">
                <a:latin typeface="Calibri"/>
                <a:cs typeface="Calibri"/>
              </a:rPr>
              <a:t>abc</a:t>
            </a:r>
            <a:endParaRPr sz="1800">
              <a:latin typeface="Calibri"/>
              <a:cs typeface="Calibri"/>
            </a:endParaRPr>
          </a:p>
        </p:txBody>
      </p:sp>
      <p:sp>
        <p:nvSpPr>
          <p:cNvPr id="10" name="object 10"/>
          <p:cNvSpPr txBox="1"/>
          <p:nvPr/>
        </p:nvSpPr>
        <p:spPr>
          <a:xfrm>
            <a:off x="6272021" y="4042409"/>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Calibri"/>
                <a:cs typeface="Calibri"/>
              </a:rPr>
              <a:t>:String</a:t>
            </a:r>
            <a:endParaRPr sz="1800">
              <a:latin typeface="Calibri"/>
              <a:cs typeface="Calibri"/>
            </a:endParaRPr>
          </a:p>
        </p:txBody>
      </p:sp>
      <p:sp>
        <p:nvSpPr>
          <p:cNvPr id="11" name="object 11"/>
          <p:cNvSpPr/>
          <p:nvPr/>
        </p:nvSpPr>
        <p:spPr>
          <a:xfrm>
            <a:off x="3515105" y="3319271"/>
            <a:ext cx="1008380" cy="78105"/>
          </a:xfrm>
          <a:custGeom>
            <a:avLst/>
            <a:gdLst/>
            <a:ahLst/>
            <a:cxnLst/>
            <a:rect l="l" t="t" r="r" b="b"/>
            <a:pathLst>
              <a:path w="1008379" h="78104">
                <a:moveTo>
                  <a:pt x="77724" y="25907"/>
                </a:moveTo>
                <a:lnTo>
                  <a:pt x="0" y="25907"/>
                </a:lnTo>
                <a:lnTo>
                  <a:pt x="0" y="51815"/>
                </a:lnTo>
                <a:lnTo>
                  <a:pt x="77724" y="51815"/>
                </a:lnTo>
                <a:lnTo>
                  <a:pt x="77724" y="25907"/>
                </a:lnTo>
                <a:close/>
              </a:path>
              <a:path w="1008379" h="78104">
                <a:moveTo>
                  <a:pt x="181356" y="25907"/>
                </a:moveTo>
                <a:lnTo>
                  <a:pt x="103632" y="25907"/>
                </a:lnTo>
                <a:lnTo>
                  <a:pt x="103632" y="51815"/>
                </a:lnTo>
                <a:lnTo>
                  <a:pt x="181356" y="51815"/>
                </a:lnTo>
                <a:lnTo>
                  <a:pt x="181356" y="25907"/>
                </a:lnTo>
                <a:close/>
              </a:path>
              <a:path w="1008379" h="78104">
                <a:moveTo>
                  <a:pt x="284988" y="25907"/>
                </a:moveTo>
                <a:lnTo>
                  <a:pt x="207264" y="25907"/>
                </a:lnTo>
                <a:lnTo>
                  <a:pt x="207264" y="51815"/>
                </a:lnTo>
                <a:lnTo>
                  <a:pt x="284988" y="51815"/>
                </a:lnTo>
                <a:lnTo>
                  <a:pt x="284988" y="25907"/>
                </a:lnTo>
                <a:close/>
              </a:path>
              <a:path w="1008379" h="78104">
                <a:moveTo>
                  <a:pt x="388620" y="25907"/>
                </a:moveTo>
                <a:lnTo>
                  <a:pt x="310896" y="25907"/>
                </a:lnTo>
                <a:lnTo>
                  <a:pt x="310896" y="51815"/>
                </a:lnTo>
                <a:lnTo>
                  <a:pt x="388620" y="51815"/>
                </a:lnTo>
                <a:lnTo>
                  <a:pt x="388620" y="25907"/>
                </a:lnTo>
                <a:close/>
              </a:path>
              <a:path w="1008379" h="78104">
                <a:moveTo>
                  <a:pt x="492252" y="25907"/>
                </a:moveTo>
                <a:lnTo>
                  <a:pt x="414528" y="25907"/>
                </a:lnTo>
                <a:lnTo>
                  <a:pt x="414528" y="51815"/>
                </a:lnTo>
                <a:lnTo>
                  <a:pt x="492252" y="51815"/>
                </a:lnTo>
                <a:lnTo>
                  <a:pt x="492252" y="25907"/>
                </a:lnTo>
                <a:close/>
              </a:path>
              <a:path w="1008379" h="78104">
                <a:moveTo>
                  <a:pt x="595884" y="25907"/>
                </a:moveTo>
                <a:lnTo>
                  <a:pt x="518160" y="25907"/>
                </a:lnTo>
                <a:lnTo>
                  <a:pt x="518160" y="51815"/>
                </a:lnTo>
                <a:lnTo>
                  <a:pt x="595884" y="51815"/>
                </a:lnTo>
                <a:lnTo>
                  <a:pt x="595884" y="25907"/>
                </a:lnTo>
                <a:close/>
              </a:path>
              <a:path w="1008379" h="78104">
                <a:moveTo>
                  <a:pt x="699516" y="25907"/>
                </a:moveTo>
                <a:lnTo>
                  <a:pt x="621792" y="25907"/>
                </a:lnTo>
                <a:lnTo>
                  <a:pt x="621792" y="51815"/>
                </a:lnTo>
                <a:lnTo>
                  <a:pt x="699516" y="51815"/>
                </a:lnTo>
                <a:lnTo>
                  <a:pt x="699516" y="25907"/>
                </a:lnTo>
                <a:close/>
              </a:path>
              <a:path w="1008379" h="78104">
                <a:moveTo>
                  <a:pt x="803148" y="25907"/>
                </a:moveTo>
                <a:lnTo>
                  <a:pt x="725424" y="25907"/>
                </a:lnTo>
                <a:lnTo>
                  <a:pt x="725424" y="51815"/>
                </a:lnTo>
                <a:lnTo>
                  <a:pt x="803148" y="51815"/>
                </a:lnTo>
                <a:lnTo>
                  <a:pt x="803148" y="25907"/>
                </a:lnTo>
                <a:close/>
              </a:path>
              <a:path w="1008379" h="78104">
                <a:moveTo>
                  <a:pt x="906780" y="25907"/>
                </a:moveTo>
                <a:lnTo>
                  <a:pt x="829056" y="25907"/>
                </a:lnTo>
                <a:lnTo>
                  <a:pt x="829056" y="51815"/>
                </a:lnTo>
                <a:lnTo>
                  <a:pt x="906780" y="51815"/>
                </a:lnTo>
                <a:lnTo>
                  <a:pt x="906780" y="25907"/>
                </a:lnTo>
                <a:close/>
              </a:path>
              <a:path w="1008379" h="78104">
                <a:moveTo>
                  <a:pt x="930402" y="0"/>
                </a:moveTo>
                <a:lnTo>
                  <a:pt x="930402" y="77724"/>
                </a:lnTo>
                <a:lnTo>
                  <a:pt x="982218" y="51815"/>
                </a:lnTo>
                <a:lnTo>
                  <a:pt x="932688" y="51815"/>
                </a:lnTo>
                <a:lnTo>
                  <a:pt x="932688" y="25907"/>
                </a:lnTo>
                <a:lnTo>
                  <a:pt x="982217" y="25907"/>
                </a:lnTo>
                <a:lnTo>
                  <a:pt x="930402" y="0"/>
                </a:lnTo>
                <a:close/>
              </a:path>
              <a:path w="1008379" h="78104">
                <a:moveTo>
                  <a:pt x="943356" y="25907"/>
                </a:moveTo>
                <a:lnTo>
                  <a:pt x="932688" y="25907"/>
                </a:lnTo>
                <a:lnTo>
                  <a:pt x="932688" y="51815"/>
                </a:lnTo>
                <a:lnTo>
                  <a:pt x="943356" y="51815"/>
                </a:lnTo>
                <a:lnTo>
                  <a:pt x="943356" y="25907"/>
                </a:lnTo>
                <a:close/>
              </a:path>
              <a:path w="1008379" h="78104">
                <a:moveTo>
                  <a:pt x="982217" y="25907"/>
                </a:moveTo>
                <a:lnTo>
                  <a:pt x="943356" y="25907"/>
                </a:lnTo>
                <a:lnTo>
                  <a:pt x="943356" y="51815"/>
                </a:lnTo>
                <a:lnTo>
                  <a:pt x="982218" y="51815"/>
                </a:lnTo>
                <a:lnTo>
                  <a:pt x="1008126" y="38862"/>
                </a:lnTo>
                <a:lnTo>
                  <a:pt x="982217" y="25907"/>
                </a:lnTo>
                <a:close/>
              </a:path>
            </a:pathLst>
          </a:custGeom>
          <a:solidFill>
            <a:srgbClr val="FF0000"/>
          </a:solidFill>
        </p:spPr>
        <p:txBody>
          <a:bodyPr wrap="square" lIns="0" tIns="0" rIns="0" bIns="0" rtlCol="0"/>
          <a:lstStyle/>
          <a:p>
            <a:endParaRPr/>
          </a:p>
        </p:txBody>
      </p:sp>
      <p:sp>
        <p:nvSpPr>
          <p:cNvPr id="12" name="object 12"/>
          <p:cNvSpPr/>
          <p:nvPr/>
        </p:nvSpPr>
        <p:spPr>
          <a:xfrm>
            <a:off x="4474464" y="3376421"/>
            <a:ext cx="78105" cy="1781810"/>
          </a:xfrm>
          <a:custGeom>
            <a:avLst/>
            <a:gdLst/>
            <a:ahLst/>
            <a:cxnLst/>
            <a:rect l="l" t="t" r="r" b="b"/>
            <a:pathLst>
              <a:path w="78104" h="1781810">
                <a:moveTo>
                  <a:pt x="51815" y="0"/>
                </a:moveTo>
                <a:lnTo>
                  <a:pt x="25908" y="0"/>
                </a:lnTo>
                <a:lnTo>
                  <a:pt x="25908" y="77724"/>
                </a:lnTo>
                <a:lnTo>
                  <a:pt x="51815" y="77724"/>
                </a:lnTo>
                <a:lnTo>
                  <a:pt x="51815" y="0"/>
                </a:lnTo>
                <a:close/>
              </a:path>
              <a:path w="78104" h="1781810">
                <a:moveTo>
                  <a:pt x="51815" y="103631"/>
                </a:moveTo>
                <a:lnTo>
                  <a:pt x="25908" y="103631"/>
                </a:lnTo>
                <a:lnTo>
                  <a:pt x="25908" y="181355"/>
                </a:lnTo>
                <a:lnTo>
                  <a:pt x="51815" y="181355"/>
                </a:lnTo>
                <a:lnTo>
                  <a:pt x="51815" y="103631"/>
                </a:lnTo>
                <a:close/>
              </a:path>
              <a:path w="78104" h="1781810">
                <a:moveTo>
                  <a:pt x="51815" y="207263"/>
                </a:moveTo>
                <a:lnTo>
                  <a:pt x="25908" y="207263"/>
                </a:lnTo>
                <a:lnTo>
                  <a:pt x="25908" y="284988"/>
                </a:lnTo>
                <a:lnTo>
                  <a:pt x="51815" y="284988"/>
                </a:lnTo>
                <a:lnTo>
                  <a:pt x="51815" y="207263"/>
                </a:lnTo>
                <a:close/>
              </a:path>
              <a:path w="78104" h="1781810">
                <a:moveTo>
                  <a:pt x="51815" y="310895"/>
                </a:moveTo>
                <a:lnTo>
                  <a:pt x="25908" y="310895"/>
                </a:lnTo>
                <a:lnTo>
                  <a:pt x="25908" y="388619"/>
                </a:lnTo>
                <a:lnTo>
                  <a:pt x="51815" y="388619"/>
                </a:lnTo>
                <a:lnTo>
                  <a:pt x="51815" y="310895"/>
                </a:lnTo>
                <a:close/>
              </a:path>
              <a:path w="78104" h="1781810">
                <a:moveTo>
                  <a:pt x="51815" y="414527"/>
                </a:moveTo>
                <a:lnTo>
                  <a:pt x="25908" y="414527"/>
                </a:lnTo>
                <a:lnTo>
                  <a:pt x="25908" y="492251"/>
                </a:lnTo>
                <a:lnTo>
                  <a:pt x="51815" y="492251"/>
                </a:lnTo>
                <a:lnTo>
                  <a:pt x="51815" y="414527"/>
                </a:lnTo>
                <a:close/>
              </a:path>
              <a:path w="78104" h="1781810">
                <a:moveTo>
                  <a:pt x="51815" y="518159"/>
                </a:moveTo>
                <a:lnTo>
                  <a:pt x="25908" y="518159"/>
                </a:lnTo>
                <a:lnTo>
                  <a:pt x="25908" y="595883"/>
                </a:lnTo>
                <a:lnTo>
                  <a:pt x="51815" y="595883"/>
                </a:lnTo>
                <a:lnTo>
                  <a:pt x="51815" y="518159"/>
                </a:lnTo>
                <a:close/>
              </a:path>
              <a:path w="78104" h="1781810">
                <a:moveTo>
                  <a:pt x="51815" y="621791"/>
                </a:moveTo>
                <a:lnTo>
                  <a:pt x="25908" y="621791"/>
                </a:lnTo>
                <a:lnTo>
                  <a:pt x="25908" y="699515"/>
                </a:lnTo>
                <a:lnTo>
                  <a:pt x="51815" y="699515"/>
                </a:lnTo>
                <a:lnTo>
                  <a:pt x="51815" y="621791"/>
                </a:lnTo>
                <a:close/>
              </a:path>
              <a:path w="78104" h="1781810">
                <a:moveTo>
                  <a:pt x="51815" y="725423"/>
                </a:moveTo>
                <a:lnTo>
                  <a:pt x="25908" y="725423"/>
                </a:lnTo>
                <a:lnTo>
                  <a:pt x="25908" y="803147"/>
                </a:lnTo>
                <a:lnTo>
                  <a:pt x="51815" y="803147"/>
                </a:lnTo>
                <a:lnTo>
                  <a:pt x="51815" y="725423"/>
                </a:lnTo>
                <a:close/>
              </a:path>
              <a:path w="78104" h="1781810">
                <a:moveTo>
                  <a:pt x="51815" y="829055"/>
                </a:moveTo>
                <a:lnTo>
                  <a:pt x="25908" y="829055"/>
                </a:lnTo>
                <a:lnTo>
                  <a:pt x="25908" y="906779"/>
                </a:lnTo>
                <a:lnTo>
                  <a:pt x="51815" y="906779"/>
                </a:lnTo>
                <a:lnTo>
                  <a:pt x="51815" y="829055"/>
                </a:lnTo>
                <a:close/>
              </a:path>
              <a:path w="78104" h="1781810">
                <a:moveTo>
                  <a:pt x="51815" y="932688"/>
                </a:moveTo>
                <a:lnTo>
                  <a:pt x="25908" y="932688"/>
                </a:lnTo>
                <a:lnTo>
                  <a:pt x="25908" y="1010411"/>
                </a:lnTo>
                <a:lnTo>
                  <a:pt x="51815" y="1010411"/>
                </a:lnTo>
                <a:lnTo>
                  <a:pt x="51815" y="932688"/>
                </a:lnTo>
                <a:close/>
              </a:path>
              <a:path w="78104" h="1781810">
                <a:moveTo>
                  <a:pt x="51815" y="1036319"/>
                </a:moveTo>
                <a:lnTo>
                  <a:pt x="25908" y="1036319"/>
                </a:lnTo>
                <a:lnTo>
                  <a:pt x="25908" y="1114044"/>
                </a:lnTo>
                <a:lnTo>
                  <a:pt x="51815" y="1114044"/>
                </a:lnTo>
                <a:lnTo>
                  <a:pt x="51815" y="1036319"/>
                </a:lnTo>
                <a:close/>
              </a:path>
              <a:path w="78104" h="1781810">
                <a:moveTo>
                  <a:pt x="51815" y="1139952"/>
                </a:moveTo>
                <a:lnTo>
                  <a:pt x="25908" y="1139952"/>
                </a:lnTo>
                <a:lnTo>
                  <a:pt x="25908" y="1217676"/>
                </a:lnTo>
                <a:lnTo>
                  <a:pt x="51815" y="1217676"/>
                </a:lnTo>
                <a:lnTo>
                  <a:pt x="51815" y="1139952"/>
                </a:lnTo>
                <a:close/>
              </a:path>
              <a:path w="78104" h="1781810">
                <a:moveTo>
                  <a:pt x="51815" y="1243583"/>
                </a:moveTo>
                <a:lnTo>
                  <a:pt x="25908" y="1243583"/>
                </a:lnTo>
                <a:lnTo>
                  <a:pt x="25908" y="1321308"/>
                </a:lnTo>
                <a:lnTo>
                  <a:pt x="51815" y="1321308"/>
                </a:lnTo>
                <a:lnTo>
                  <a:pt x="51815" y="1243583"/>
                </a:lnTo>
                <a:close/>
              </a:path>
              <a:path w="78104" h="1781810">
                <a:moveTo>
                  <a:pt x="51815" y="1347215"/>
                </a:moveTo>
                <a:lnTo>
                  <a:pt x="25908" y="1347215"/>
                </a:lnTo>
                <a:lnTo>
                  <a:pt x="25908" y="1424939"/>
                </a:lnTo>
                <a:lnTo>
                  <a:pt x="51815" y="1424939"/>
                </a:lnTo>
                <a:lnTo>
                  <a:pt x="51815" y="1347215"/>
                </a:lnTo>
                <a:close/>
              </a:path>
              <a:path w="78104" h="1781810">
                <a:moveTo>
                  <a:pt x="51815" y="1450847"/>
                </a:moveTo>
                <a:lnTo>
                  <a:pt x="25908" y="1450847"/>
                </a:lnTo>
                <a:lnTo>
                  <a:pt x="25908" y="1528571"/>
                </a:lnTo>
                <a:lnTo>
                  <a:pt x="51815" y="1528571"/>
                </a:lnTo>
                <a:lnTo>
                  <a:pt x="51815" y="1450847"/>
                </a:lnTo>
                <a:close/>
              </a:path>
              <a:path w="78104" h="1781810">
                <a:moveTo>
                  <a:pt x="51815" y="1554479"/>
                </a:moveTo>
                <a:lnTo>
                  <a:pt x="25908" y="1554479"/>
                </a:lnTo>
                <a:lnTo>
                  <a:pt x="25908" y="1632203"/>
                </a:lnTo>
                <a:lnTo>
                  <a:pt x="51815" y="1632203"/>
                </a:lnTo>
                <a:lnTo>
                  <a:pt x="51815" y="1554479"/>
                </a:lnTo>
                <a:close/>
              </a:path>
              <a:path w="78104" h="1781810">
                <a:moveTo>
                  <a:pt x="25908" y="1703832"/>
                </a:moveTo>
                <a:lnTo>
                  <a:pt x="0" y="1703832"/>
                </a:lnTo>
                <a:lnTo>
                  <a:pt x="38862" y="1781555"/>
                </a:lnTo>
                <a:lnTo>
                  <a:pt x="71247" y="1716785"/>
                </a:lnTo>
                <a:lnTo>
                  <a:pt x="25908" y="1716785"/>
                </a:lnTo>
                <a:lnTo>
                  <a:pt x="25908" y="1703832"/>
                </a:lnTo>
                <a:close/>
              </a:path>
              <a:path w="78104" h="1781810">
                <a:moveTo>
                  <a:pt x="51815" y="1658111"/>
                </a:moveTo>
                <a:lnTo>
                  <a:pt x="25908" y="1658111"/>
                </a:lnTo>
                <a:lnTo>
                  <a:pt x="25908" y="1716785"/>
                </a:lnTo>
                <a:lnTo>
                  <a:pt x="51815" y="1716785"/>
                </a:lnTo>
                <a:lnTo>
                  <a:pt x="51815" y="1658111"/>
                </a:lnTo>
                <a:close/>
              </a:path>
              <a:path w="78104" h="1781810">
                <a:moveTo>
                  <a:pt x="77724" y="1703832"/>
                </a:moveTo>
                <a:lnTo>
                  <a:pt x="51815" y="1703832"/>
                </a:lnTo>
                <a:lnTo>
                  <a:pt x="51815" y="1716785"/>
                </a:lnTo>
                <a:lnTo>
                  <a:pt x="71247" y="1716785"/>
                </a:lnTo>
                <a:lnTo>
                  <a:pt x="77724" y="1703832"/>
                </a:lnTo>
                <a:close/>
              </a:path>
            </a:pathLst>
          </a:custGeom>
          <a:solidFill>
            <a:srgbClr val="FF0000"/>
          </a:solidFill>
        </p:spPr>
        <p:txBody>
          <a:bodyPr wrap="square" lIns="0" tIns="0" rIns="0" bIns="0" rtlCol="0"/>
          <a:lstStyle/>
          <a:p>
            <a:endParaRPr/>
          </a:p>
        </p:txBody>
      </p:sp>
      <p:sp>
        <p:nvSpPr>
          <p:cNvPr id="13" name="object 13"/>
          <p:cNvSpPr txBox="1"/>
          <p:nvPr/>
        </p:nvSpPr>
        <p:spPr>
          <a:xfrm>
            <a:off x="5007355" y="4926838"/>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s2</a:t>
            </a:r>
            <a:endParaRPr sz="1800">
              <a:latin typeface="Calibri"/>
              <a:cs typeface="Calibri"/>
            </a:endParaRPr>
          </a:p>
        </p:txBody>
      </p:sp>
      <p:sp>
        <p:nvSpPr>
          <p:cNvPr id="14" name="object 14"/>
          <p:cNvSpPr/>
          <p:nvPr/>
        </p:nvSpPr>
        <p:spPr>
          <a:xfrm>
            <a:off x="5285359" y="4785995"/>
            <a:ext cx="1053465" cy="336550"/>
          </a:xfrm>
          <a:custGeom>
            <a:avLst/>
            <a:gdLst/>
            <a:ahLst/>
            <a:cxnLst/>
            <a:rect l="l" t="t" r="r" b="b"/>
            <a:pathLst>
              <a:path w="1053464" h="336550">
                <a:moveTo>
                  <a:pt x="74549" y="289305"/>
                </a:moveTo>
                <a:lnTo>
                  <a:pt x="0" y="311276"/>
                </a:lnTo>
                <a:lnTo>
                  <a:pt x="7365" y="336168"/>
                </a:lnTo>
                <a:lnTo>
                  <a:pt x="81914" y="314197"/>
                </a:lnTo>
                <a:lnTo>
                  <a:pt x="74549" y="289305"/>
                </a:lnTo>
                <a:close/>
              </a:path>
              <a:path w="1053464" h="336550">
                <a:moveTo>
                  <a:pt x="173989" y="260095"/>
                </a:moveTo>
                <a:lnTo>
                  <a:pt x="99440" y="282066"/>
                </a:lnTo>
                <a:lnTo>
                  <a:pt x="106806" y="306958"/>
                </a:lnTo>
                <a:lnTo>
                  <a:pt x="181355" y="284987"/>
                </a:lnTo>
                <a:lnTo>
                  <a:pt x="173989" y="260095"/>
                </a:lnTo>
                <a:close/>
              </a:path>
              <a:path w="1053464" h="336550">
                <a:moveTo>
                  <a:pt x="273430" y="230885"/>
                </a:moveTo>
                <a:lnTo>
                  <a:pt x="198881" y="252856"/>
                </a:lnTo>
                <a:lnTo>
                  <a:pt x="206248" y="277748"/>
                </a:lnTo>
                <a:lnTo>
                  <a:pt x="280796" y="255777"/>
                </a:lnTo>
                <a:lnTo>
                  <a:pt x="273430" y="230885"/>
                </a:lnTo>
                <a:close/>
              </a:path>
              <a:path w="1053464" h="336550">
                <a:moveTo>
                  <a:pt x="372871" y="201675"/>
                </a:moveTo>
                <a:lnTo>
                  <a:pt x="298323" y="223646"/>
                </a:lnTo>
                <a:lnTo>
                  <a:pt x="305562" y="248538"/>
                </a:lnTo>
                <a:lnTo>
                  <a:pt x="380238" y="226567"/>
                </a:lnTo>
                <a:lnTo>
                  <a:pt x="372871" y="201675"/>
                </a:lnTo>
                <a:close/>
              </a:path>
              <a:path w="1053464" h="336550">
                <a:moveTo>
                  <a:pt x="472313" y="172465"/>
                </a:moveTo>
                <a:lnTo>
                  <a:pt x="397763" y="194436"/>
                </a:lnTo>
                <a:lnTo>
                  <a:pt x="405002" y="219328"/>
                </a:lnTo>
                <a:lnTo>
                  <a:pt x="479678" y="197357"/>
                </a:lnTo>
                <a:lnTo>
                  <a:pt x="472313" y="172465"/>
                </a:lnTo>
                <a:close/>
              </a:path>
              <a:path w="1053464" h="336550">
                <a:moveTo>
                  <a:pt x="571753" y="143255"/>
                </a:moveTo>
                <a:lnTo>
                  <a:pt x="497204" y="165226"/>
                </a:lnTo>
                <a:lnTo>
                  <a:pt x="504443" y="190118"/>
                </a:lnTo>
                <a:lnTo>
                  <a:pt x="578992" y="168147"/>
                </a:lnTo>
                <a:lnTo>
                  <a:pt x="571753" y="143255"/>
                </a:lnTo>
                <a:close/>
              </a:path>
              <a:path w="1053464" h="336550">
                <a:moveTo>
                  <a:pt x="671194" y="114045"/>
                </a:moveTo>
                <a:lnTo>
                  <a:pt x="596645" y="136016"/>
                </a:lnTo>
                <a:lnTo>
                  <a:pt x="603885" y="160908"/>
                </a:lnTo>
                <a:lnTo>
                  <a:pt x="678433" y="138937"/>
                </a:lnTo>
                <a:lnTo>
                  <a:pt x="671194" y="114045"/>
                </a:lnTo>
                <a:close/>
              </a:path>
              <a:path w="1053464" h="336550">
                <a:moveTo>
                  <a:pt x="770636" y="84835"/>
                </a:moveTo>
                <a:lnTo>
                  <a:pt x="696087" y="106806"/>
                </a:lnTo>
                <a:lnTo>
                  <a:pt x="703326" y="131571"/>
                </a:lnTo>
                <a:lnTo>
                  <a:pt x="777875" y="109727"/>
                </a:lnTo>
                <a:lnTo>
                  <a:pt x="770636" y="84835"/>
                </a:lnTo>
                <a:close/>
              </a:path>
              <a:path w="1053464" h="336550">
                <a:moveTo>
                  <a:pt x="870076" y="55625"/>
                </a:moveTo>
                <a:lnTo>
                  <a:pt x="795401" y="77596"/>
                </a:lnTo>
                <a:lnTo>
                  <a:pt x="802766" y="102361"/>
                </a:lnTo>
                <a:lnTo>
                  <a:pt x="877315" y="80517"/>
                </a:lnTo>
                <a:lnTo>
                  <a:pt x="870076" y="55625"/>
                </a:lnTo>
                <a:close/>
              </a:path>
              <a:path w="1053464" h="336550">
                <a:moveTo>
                  <a:pt x="967613" y="0"/>
                </a:moveTo>
                <a:lnTo>
                  <a:pt x="989456" y="74548"/>
                </a:lnTo>
                <a:lnTo>
                  <a:pt x="1053083" y="15366"/>
                </a:lnTo>
                <a:lnTo>
                  <a:pt x="967613" y="0"/>
                </a:lnTo>
                <a:close/>
              </a:path>
              <a:path w="1053464" h="336550">
                <a:moveTo>
                  <a:pt x="969517" y="26415"/>
                </a:moveTo>
                <a:lnTo>
                  <a:pt x="894841" y="48386"/>
                </a:lnTo>
                <a:lnTo>
                  <a:pt x="902207" y="73151"/>
                </a:lnTo>
                <a:lnTo>
                  <a:pt x="976756" y="51307"/>
                </a:lnTo>
                <a:lnTo>
                  <a:pt x="969517" y="26415"/>
                </a:lnTo>
                <a:close/>
              </a:path>
            </a:pathLst>
          </a:custGeom>
          <a:solidFill>
            <a:srgbClr val="FF0000"/>
          </a:solidFill>
        </p:spPr>
        <p:txBody>
          <a:bodyPr wrap="square" lIns="0" tIns="0" rIns="0" bIns="0" rtlCol="0"/>
          <a:lstStyle/>
          <a:p>
            <a:endParaRPr/>
          </a:p>
        </p:txBody>
      </p:sp>
      <p:sp>
        <p:nvSpPr>
          <p:cNvPr id="15" name="object 15"/>
          <p:cNvSpPr/>
          <p:nvPr/>
        </p:nvSpPr>
        <p:spPr>
          <a:xfrm>
            <a:off x="4522470" y="5119115"/>
            <a:ext cx="405765" cy="78105"/>
          </a:xfrm>
          <a:custGeom>
            <a:avLst/>
            <a:gdLst/>
            <a:ahLst/>
            <a:cxnLst/>
            <a:rect l="l" t="t" r="r" b="b"/>
            <a:pathLst>
              <a:path w="405764" h="78104">
                <a:moveTo>
                  <a:pt x="77724" y="25907"/>
                </a:moveTo>
                <a:lnTo>
                  <a:pt x="0" y="25907"/>
                </a:lnTo>
                <a:lnTo>
                  <a:pt x="0" y="51815"/>
                </a:lnTo>
                <a:lnTo>
                  <a:pt x="77724" y="51815"/>
                </a:lnTo>
                <a:lnTo>
                  <a:pt x="77724" y="25907"/>
                </a:lnTo>
                <a:close/>
              </a:path>
              <a:path w="405764" h="78104">
                <a:moveTo>
                  <a:pt x="181355" y="25907"/>
                </a:moveTo>
                <a:lnTo>
                  <a:pt x="103631" y="25907"/>
                </a:lnTo>
                <a:lnTo>
                  <a:pt x="103631" y="51815"/>
                </a:lnTo>
                <a:lnTo>
                  <a:pt x="181355" y="51815"/>
                </a:lnTo>
                <a:lnTo>
                  <a:pt x="181355" y="25907"/>
                </a:lnTo>
                <a:close/>
              </a:path>
              <a:path w="405764" h="78104">
                <a:moveTo>
                  <a:pt x="284988" y="25907"/>
                </a:moveTo>
                <a:lnTo>
                  <a:pt x="207263" y="25907"/>
                </a:lnTo>
                <a:lnTo>
                  <a:pt x="207263" y="51815"/>
                </a:lnTo>
                <a:lnTo>
                  <a:pt x="284988" y="51815"/>
                </a:lnTo>
                <a:lnTo>
                  <a:pt x="284988" y="25907"/>
                </a:lnTo>
                <a:close/>
              </a:path>
              <a:path w="405764" h="78104">
                <a:moveTo>
                  <a:pt x="327913" y="0"/>
                </a:moveTo>
                <a:lnTo>
                  <a:pt x="327913" y="77723"/>
                </a:lnTo>
                <a:lnTo>
                  <a:pt x="379729" y="51815"/>
                </a:lnTo>
                <a:lnTo>
                  <a:pt x="340867" y="51815"/>
                </a:lnTo>
                <a:lnTo>
                  <a:pt x="340867" y="25907"/>
                </a:lnTo>
                <a:lnTo>
                  <a:pt x="379730" y="25907"/>
                </a:lnTo>
                <a:lnTo>
                  <a:pt x="327913" y="0"/>
                </a:lnTo>
                <a:close/>
              </a:path>
              <a:path w="405764" h="78104">
                <a:moveTo>
                  <a:pt x="327913" y="25907"/>
                </a:moveTo>
                <a:lnTo>
                  <a:pt x="310895" y="25907"/>
                </a:lnTo>
                <a:lnTo>
                  <a:pt x="310895" y="51815"/>
                </a:lnTo>
                <a:lnTo>
                  <a:pt x="327913" y="51815"/>
                </a:lnTo>
                <a:lnTo>
                  <a:pt x="327913" y="25907"/>
                </a:lnTo>
                <a:close/>
              </a:path>
              <a:path w="405764" h="78104">
                <a:moveTo>
                  <a:pt x="379730" y="25907"/>
                </a:moveTo>
                <a:lnTo>
                  <a:pt x="340867" y="25907"/>
                </a:lnTo>
                <a:lnTo>
                  <a:pt x="340867" y="51815"/>
                </a:lnTo>
                <a:lnTo>
                  <a:pt x="379729" y="51815"/>
                </a:lnTo>
                <a:lnTo>
                  <a:pt x="405638" y="38861"/>
                </a:lnTo>
                <a:lnTo>
                  <a:pt x="379730" y="25907"/>
                </a:lnTo>
                <a:close/>
              </a:path>
            </a:pathLst>
          </a:custGeom>
          <a:solidFill>
            <a:srgbClr val="FF0000"/>
          </a:solidFill>
        </p:spPr>
        <p:txBody>
          <a:bodyPr wrap="square" lIns="0" tIns="0" rIns="0" bIns="0" rtlCol="0"/>
          <a:lstStyle/>
          <a:p>
            <a:endParaRPr/>
          </a:p>
        </p:txBody>
      </p:sp>
      <p:sp>
        <p:nvSpPr>
          <p:cNvPr id="16" name="object 16"/>
          <p:cNvSpPr/>
          <p:nvPr/>
        </p:nvSpPr>
        <p:spPr>
          <a:xfrm>
            <a:off x="3514852" y="3823970"/>
            <a:ext cx="834390" cy="78105"/>
          </a:xfrm>
          <a:custGeom>
            <a:avLst/>
            <a:gdLst/>
            <a:ahLst/>
            <a:cxnLst/>
            <a:rect l="l" t="t" r="r" b="b"/>
            <a:pathLst>
              <a:path w="834389" h="78104">
                <a:moveTo>
                  <a:pt x="77724" y="41020"/>
                </a:moveTo>
                <a:lnTo>
                  <a:pt x="0" y="42798"/>
                </a:lnTo>
                <a:lnTo>
                  <a:pt x="508" y="68706"/>
                </a:lnTo>
                <a:lnTo>
                  <a:pt x="78232" y="66928"/>
                </a:lnTo>
                <a:lnTo>
                  <a:pt x="77724" y="41020"/>
                </a:lnTo>
                <a:close/>
              </a:path>
              <a:path w="834389" h="78104">
                <a:moveTo>
                  <a:pt x="181228" y="38734"/>
                </a:moveTo>
                <a:lnTo>
                  <a:pt x="103632" y="40385"/>
                </a:lnTo>
                <a:lnTo>
                  <a:pt x="104139" y="66293"/>
                </a:lnTo>
                <a:lnTo>
                  <a:pt x="181863" y="64642"/>
                </a:lnTo>
                <a:lnTo>
                  <a:pt x="181228" y="38734"/>
                </a:lnTo>
                <a:close/>
              </a:path>
              <a:path w="834389" h="78104">
                <a:moveTo>
                  <a:pt x="284861" y="36448"/>
                </a:moveTo>
                <a:lnTo>
                  <a:pt x="207137" y="38099"/>
                </a:lnTo>
                <a:lnTo>
                  <a:pt x="207772" y="64007"/>
                </a:lnTo>
                <a:lnTo>
                  <a:pt x="285496" y="62356"/>
                </a:lnTo>
                <a:lnTo>
                  <a:pt x="284861" y="36448"/>
                </a:lnTo>
                <a:close/>
              </a:path>
              <a:path w="834389" h="78104">
                <a:moveTo>
                  <a:pt x="388493" y="34035"/>
                </a:moveTo>
                <a:lnTo>
                  <a:pt x="310769" y="35813"/>
                </a:lnTo>
                <a:lnTo>
                  <a:pt x="311403" y="61721"/>
                </a:lnTo>
                <a:lnTo>
                  <a:pt x="389127" y="59943"/>
                </a:lnTo>
                <a:lnTo>
                  <a:pt x="388493" y="34035"/>
                </a:lnTo>
                <a:close/>
              </a:path>
              <a:path w="834389" h="78104">
                <a:moveTo>
                  <a:pt x="492125" y="31749"/>
                </a:moveTo>
                <a:lnTo>
                  <a:pt x="414400" y="33527"/>
                </a:lnTo>
                <a:lnTo>
                  <a:pt x="414909" y="59435"/>
                </a:lnTo>
                <a:lnTo>
                  <a:pt x="492633" y="57657"/>
                </a:lnTo>
                <a:lnTo>
                  <a:pt x="492125" y="31749"/>
                </a:lnTo>
                <a:close/>
              </a:path>
              <a:path w="834389" h="78104">
                <a:moveTo>
                  <a:pt x="595757" y="29463"/>
                </a:moveTo>
                <a:lnTo>
                  <a:pt x="518033" y="31241"/>
                </a:lnTo>
                <a:lnTo>
                  <a:pt x="518540" y="57149"/>
                </a:lnTo>
                <a:lnTo>
                  <a:pt x="596264" y="55371"/>
                </a:lnTo>
                <a:lnTo>
                  <a:pt x="595757" y="29463"/>
                </a:lnTo>
                <a:close/>
              </a:path>
              <a:path w="834389" h="78104">
                <a:moveTo>
                  <a:pt x="699262" y="27177"/>
                </a:moveTo>
                <a:lnTo>
                  <a:pt x="621538" y="28828"/>
                </a:lnTo>
                <a:lnTo>
                  <a:pt x="622173" y="54736"/>
                </a:lnTo>
                <a:lnTo>
                  <a:pt x="699897" y="53085"/>
                </a:lnTo>
                <a:lnTo>
                  <a:pt x="699262" y="27177"/>
                </a:lnTo>
                <a:close/>
              </a:path>
              <a:path w="834389" h="78104">
                <a:moveTo>
                  <a:pt x="809890" y="25526"/>
                </a:moveTo>
                <a:lnTo>
                  <a:pt x="769365" y="25526"/>
                </a:lnTo>
                <a:lnTo>
                  <a:pt x="769874" y="51434"/>
                </a:lnTo>
                <a:lnTo>
                  <a:pt x="756960" y="51732"/>
                </a:lnTo>
                <a:lnTo>
                  <a:pt x="757555" y="77723"/>
                </a:lnTo>
                <a:lnTo>
                  <a:pt x="834389" y="37083"/>
                </a:lnTo>
                <a:lnTo>
                  <a:pt x="809890" y="25526"/>
                </a:lnTo>
                <a:close/>
              </a:path>
              <a:path w="834389" h="78104">
                <a:moveTo>
                  <a:pt x="756367" y="25825"/>
                </a:moveTo>
                <a:lnTo>
                  <a:pt x="725170" y="26542"/>
                </a:lnTo>
                <a:lnTo>
                  <a:pt x="725805" y="52450"/>
                </a:lnTo>
                <a:lnTo>
                  <a:pt x="756960" y="51732"/>
                </a:lnTo>
                <a:lnTo>
                  <a:pt x="756367" y="25825"/>
                </a:lnTo>
                <a:close/>
              </a:path>
              <a:path w="834389" h="78104">
                <a:moveTo>
                  <a:pt x="769365" y="25526"/>
                </a:moveTo>
                <a:lnTo>
                  <a:pt x="756367" y="25825"/>
                </a:lnTo>
                <a:lnTo>
                  <a:pt x="756960" y="51732"/>
                </a:lnTo>
                <a:lnTo>
                  <a:pt x="769874" y="51434"/>
                </a:lnTo>
                <a:lnTo>
                  <a:pt x="769365" y="25526"/>
                </a:lnTo>
                <a:close/>
              </a:path>
              <a:path w="834389" h="78104">
                <a:moveTo>
                  <a:pt x="755776" y="0"/>
                </a:moveTo>
                <a:lnTo>
                  <a:pt x="756367" y="25825"/>
                </a:lnTo>
                <a:lnTo>
                  <a:pt x="769365" y="25526"/>
                </a:lnTo>
                <a:lnTo>
                  <a:pt x="809890" y="25526"/>
                </a:lnTo>
                <a:lnTo>
                  <a:pt x="755776" y="0"/>
                </a:lnTo>
                <a:close/>
              </a:path>
            </a:pathLst>
          </a:custGeom>
          <a:solidFill>
            <a:srgbClr val="FF0000"/>
          </a:solidFill>
        </p:spPr>
        <p:txBody>
          <a:bodyPr wrap="square" lIns="0" tIns="0" rIns="0" bIns="0" rtlCol="0"/>
          <a:lstStyle/>
          <a:p>
            <a:endParaRPr/>
          </a:p>
        </p:txBody>
      </p:sp>
      <p:sp>
        <p:nvSpPr>
          <p:cNvPr id="17" name="object 17"/>
          <p:cNvSpPr/>
          <p:nvPr/>
        </p:nvSpPr>
        <p:spPr>
          <a:xfrm>
            <a:off x="4299203" y="3880865"/>
            <a:ext cx="78105" cy="1781810"/>
          </a:xfrm>
          <a:custGeom>
            <a:avLst/>
            <a:gdLst/>
            <a:ahLst/>
            <a:cxnLst/>
            <a:rect l="l" t="t" r="r" b="b"/>
            <a:pathLst>
              <a:path w="78104" h="1781810">
                <a:moveTo>
                  <a:pt x="51816" y="0"/>
                </a:moveTo>
                <a:lnTo>
                  <a:pt x="25908" y="0"/>
                </a:lnTo>
                <a:lnTo>
                  <a:pt x="25908" y="77723"/>
                </a:lnTo>
                <a:lnTo>
                  <a:pt x="51816" y="77723"/>
                </a:lnTo>
                <a:lnTo>
                  <a:pt x="51816" y="0"/>
                </a:lnTo>
                <a:close/>
              </a:path>
              <a:path w="78104" h="1781810">
                <a:moveTo>
                  <a:pt x="51816" y="103631"/>
                </a:moveTo>
                <a:lnTo>
                  <a:pt x="25908" y="103631"/>
                </a:lnTo>
                <a:lnTo>
                  <a:pt x="25908" y="181355"/>
                </a:lnTo>
                <a:lnTo>
                  <a:pt x="51816" y="181355"/>
                </a:lnTo>
                <a:lnTo>
                  <a:pt x="51816" y="103631"/>
                </a:lnTo>
                <a:close/>
              </a:path>
              <a:path w="78104" h="1781810">
                <a:moveTo>
                  <a:pt x="51816" y="207263"/>
                </a:moveTo>
                <a:lnTo>
                  <a:pt x="25908" y="207263"/>
                </a:lnTo>
                <a:lnTo>
                  <a:pt x="25908" y="284987"/>
                </a:lnTo>
                <a:lnTo>
                  <a:pt x="51816" y="284987"/>
                </a:lnTo>
                <a:lnTo>
                  <a:pt x="51816" y="207263"/>
                </a:lnTo>
                <a:close/>
              </a:path>
              <a:path w="78104" h="1781810">
                <a:moveTo>
                  <a:pt x="51816" y="310895"/>
                </a:moveTo>
                <a:lnTo>
                  <a:pt x="25908" y="310895"/>
                </a:lnTo>
                <a:lnTo>
                  <a:pt x="25908" y="388619"/>
                </a:lnTo>
                <a:lnTo>
                  <a:pt x="51816" y="388619"/>
                </a:lnTo>
                <a:lnTo>
                  <a:pt x="51816" y="310895"/>
                </a:lnTo>
                <a:close/>
              </a:path>
              <a:path w="78104" h="1781810">
                <a:moveTo>
                  <a:pt x="51816" y="414527"/>
                </a:moveTo>
                <a:lnTo>
                  <a:pt x="25908" y="414527"/>
                </a:lnTo>
                <a:lnTo>
                  <a:pt x="25908" y="492251"/>
                </a:lnTo>
                <a:lnTo>
                  <a:pt x="51816" y="492251"/>
                </a:lnTo>
                <a:lnTo>
                  <a:pt x="51816" y="414527"/>
                </a:lnTo>
                <a:close/>
              </a:path>
              <a:path w="78104" h="1781810">
                <a:moveTo>
                  <a:pt x="51816" y="518159"/>
                </a:moveTo>
                <a:lnTo>
                  <a:pt x="25908" y="518159"/>
                </a:lnTo>
                <a:lnTo>
                  <a:pt x="25908" y="595883"/>
                </a:lnTo>
                <a:lnTo>
                  <a:pt x="51816" y="595883"/>
                </a:lnTo>
                <a:lnTo>
                  <a:pt x="51816" y="518159"/>
                </a:lnTo>
                <a:close/>
              </a:path>
              <a:path w="78104" h="1781810">
                <a:moveTo>
                  <a:pt x="51816" y="621791"/>
                </a:moveTo>
                <a:lnTo>
                  <a:pt x="25908" y="621791"/>
                </a:lnTo>
                <a:lnTo>
                  <a:pt x="25908" y="699515"/>
                </a:lnTo>
                <a:lnTo>
                  <a:pt x="51816" y="699515"/>
                </a:lnTo>
                <a:lnTo>
                  <a:pt x="51816" y="621791"/>
                </a:lnTo>
                <a:close/>
              </a:path>
              <a:path w="78104" h="1781810">
                <a:moveTo>
                  <a:pt x="51816" y="725423"/>
                </a:moveTo>
                <a:lnTo>
                  <a:pt x="25908" y="725423"/>
                </a:lnTo>
                <a:lnTo>
                  <a:pt x="25908" y="803147"/>
                </a:lnTo>
                <a:lnTo>
                  <a:pt x="51816" y="803147"/>
                </a:lnTo>
                <a:lnTo>
                  <a:pt x="51816" y="725423"/>
                </a:lnTo>
                <a:close/>
              </a:path>
              <a:path w="78104" h="1781810">
                <a:moveTo>
                  <a:pt x="51816" y="829055"/>
                </a:moveTo>
                <a:lnTo>
                  <a:pt x="25908" y="829055"/>
                </a:lnTo>
                <a:lnTo>
                  <a:pt x="25908" y="906779"/>
                </a:lnTo>
                <a:lnTo>
                  <a:pt x="51816" y="906779"/>
                </a:lnTo>
                <a:lnTo>
                  <a:pt x="51816" y="829055"/>
                </a:lnTo>
                <a:close/>
              </a:path>
              <a:path w="78104" h="1781810">
                <a:moveTo>
                  <a:pt x="51816" y="932687"/>
                </a:moveTo>
                <a:lnTo>
                  <a:pt x="25908" y="932687"/>
                </a:lnTo>
                <a:lnTo>
                  <a:pt x="25908" y="1010411"/>
                </a:lnTo>
                <a:lnTo>
                  <a:pt x="51816" y="1010411"/>
                </a:lnTo>
                <a:lnTo>
                  <a:pt x="51816" y="932687"/>
                </a:lnTo>
                <a:close/>
              </a:path>
              <a:path w="78104" h="1781810">
                <a:moveTo>
                  <a:pt x="51816" y="1036319"/>
                </a:moveTo>
                <a:lnTo>
                  <a:pt x="25908" y="1036319"/>
                </a:lnTo>
                <a:lnTo>
                  <a:pt x="25908" y="1114043"/>
                </a:lnTo>
                <a:lnTo>
                  <a:pt x="51816" y="1114043"/>
                </a:lnTo>
                <a:lnTo>
                  <a:pt x="51816" y="1036319"/>
                </a:lnTo>
                <a:close/>
              </a:path>
              <a:path w="78104" h="1781810">
                <a:moveTo>
                  <a:pt x="51816" y="1139951"/>
                </a:moveTo>
                <a:lnTo>
                  <a:pt x="25908" y="1139951"/>
                </a:lnTo>
                <a:lnTo>
                  <a:pt x="25908" y="1217675"/>
                </a:lnTo>
                <a:lnTo>
                  <a:pt x="51816" y="1217675"/>
                </a:lnTo>
                <a:lnTo>
                  <a:pt x="51816" y="1139951"/>
                </a:lnTo>
                <a:close/>
              </a:path>
              <a:path w="78104" h="1781810">
                <a:moveTo>
                  <a:pt x="51816" y="1243583"/>
                </a:moveTo>
                <a:lnTo>
                  <a:pt x="25908" y="1243583"/>
                </a:lnTo>
                <a:lnTo>
                  <a:pt x="25908" y="1321307"/>
                </a:lnTo>
                <a:lnTo>
                  <a:pt x="51816" y="1321307"/>
                </a:lnTo>
                <a:lnTo>
                  <a:pt x="51816" y="1243583"/>
                </a:lnTo>
                <a:close/>
              </a:path>
              <a:path w="78104" h="1781810">
                <a:moveTo>
                  <a:pt x="51816" y="1347215"/>
                </a:moveTo>
                <a:lnTo>
                  <a:pt x="25908" y="1347215"/>
                </a:lnTo>
                <a:lnTo>
                  <a:pt x="25908" y="1424939"/>
                </a:lnTo>
                <a:lnTo>
                  <a:pt x="51816" y="1424939"/>
                </a:lnTo>
                <a:lnTo>
                  <a:pt x="51816" y="1347215"/>
                </a:lnTo>
                <a:close/>
              </a:path>
              <a:path w="78104" h="1781810">
                <a:moveTo>
                  <a:pt x="51816" y="1450847"/>
                </a:moveTo>
                <a:lnTo>
                  <a:pt x="25908" y="1450847"/>
                </a:lnTo>
                <a:lnTo>
                  <a:pt x="25908" y="1528571"/>
                </a:lnTo>
                <a:lnTo>
                  <a:pt x="51816" y="1528571"/>
                </a:lnTo>
                <a:lnTo>
                  <a:pt x="51816" y="1450847"/>
                </a:lnTo>
                <a:close/>
              </a:path>
              <a:path w="78104" h="1781810">
                <a:moveTo>
                  <a:pt x="51816" y="1554479"/>
                </a:moveTo>
                <a:lnTo>
                  <a:pt x="25908" y="1554479"/>
                </a:lnTo>
                <a:lnTo>
                  <a:pt x="25908" y="1632203"/>
                </a:lnTo>
                <a:lnTo>
                  <a:pt x="51816" y="1632203"/>
                </a:lnTo>
                <a:lnTo>
                  <a:pt x="51816" y="1554479"/>
                </a:lnTo>
                <a:close/>
              </a:path>
              <a:path w="78104" h="1781810">
                <a:moveTo>
                  <a:pt x="25908" y="1703831"/>
                </a:moveTo>
                <a:lnTo>
                  <a:pt x="0" y="1703831"/>
                </a:lnTo>
                <a:lnTo>
                  <a:pt x="38862" y="1781568"/>
                </a:lnTo>
                <a:lnTo>
                  <a:pt x="71241" y="1716798"/>
                </a:lnTo>
                <a:lnTo>
                  <a:pt x="25908" y="1716798"/>
                </a:lnTo>
                <a:lnTo>
                  <a:pt x="25908" y="1703831"/>
                </a:lnTo>
                <a:close/>
              </a:path>
              <a:path w="78104" h="1781810">
                <a:moveTo>
                  <a:pt x="51816" y="1658111"/>
                </a:moveTo>
                <a:lnTo>
                  <a:pt x="25908" y="1658111"/>
                </a:lnTo>
                <a:lnTo>
                  <a:pt x="25908" y="1716798"/>
                </a:lnTo>
                <a:lnTo>
                  <a:pt x="51816" y="1716798"/>
                </a:lnTo>
                <a:lnTo>
                  <a:pt x="51816" y="1658111"/>
                </a:lnTo>
                <a:close/>
              </a:path>
              <a:path w="78104" h="1781810">
                <a:moveTo>
                  <a:pt x="77724" y="1703831"/>
                </a:moveTo>
                <a:lnTo>
                  <a:pt x="51816" y="1703831"/>
                </a:lnTo>
                <a:lnTo>
                  <a:pt x="51816" y="1716798"/>
                </a:lnTo>
                <a:lnTo>
                  <a:pt x="71241" y="1716798"/>
                </a:lnTo>
                <a:lnTo>
                  <a:pt x="77724" y="1703831"/>
                </a:lnTo>
                <a:close/>
              </a:path>
            </a:pathLst>
          </a:custGeom>
          <a:solidFill>
            <a:srgbClr val="FF0000"/>
          </a:solidFill>
        </p:spPr>
        <p:txBody>
          <a:bodyPr wrap="square" lIns="0" tIns="0" rIns="0" bIns="0" rtlCol="0"/>
          <a:lstStyle/>
          <a:p>
            <a:endParaRPr/>
          </a:p>
        </p:txBody>
      </p:sp>
      <p:sp>
        <p:nvSpPr>
          <p:cNvPr id="18" name="object 18"/>
          <p:cNvSpPr txBox="1"/>
          <p:nvPr/>
        </p:nvSpPr>
        <p:spPr>
          <a:xfrm>
            <a:off x="5026533" y="5431028"/>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s3</a:t>
            </a:r>
            <a:endParaRPr sz="1800">
              <a:latin typeface="Calibri"/>
              <a:cs typeface="Calibri"/>
            </a:endParaRPr>
          </a:p>
        </p:txBody>
      </p:sp>
      <p:sp>
        <p:nvSpPr>
          <p:cNvPr id="19" name="object 19"/>
          <p:cNvSpPr/>
          <p:nvPr/>
        </p:nvSpPr>
        <p:spPr>
          <a:xfrm>
            <a:off x="5300471" y="4976621"/>
            <a:ext cx="1036955" cy="648335"/>
          </a:xfrm>
          <a:custGeom>
            <a:avLst/>
            <a:gdLst/>
            <a:ahLst/>
            <a:cxnLst/>
            <a:rect l="l" t="t" r="r" b="b"/>
            <a:pathLst>
              <a:path w="1036954" h="648335">
                <a:moveTo>
                  <a:pt x="66166" y="585215"/>
                </a:moveTo>
                <a:lnTo>
                  <a:pt x="0" y="626109"/>
                </a:lnTo>
                <a:lnTo>
                  <a:pt x="13715" y="648131"/>
                </a:lnTo>
                <a:lnTo>
                  <a:pt x="79755" y="607186"/>
                </a:lnTo>
                <a:lnTo>
                  <a:pt x="66166" y="585215"/>
                </a:lnTo>
                <a:close/>
              </a:path>
              <a:path w="1036954" h="648335">
                <a:moveTo>
                  <a:pt x="154304" y="530732"/>
                </a:moveTo>
                <a:lnTo>
                  <a:pt x="88137" y="571626"/>
                </a:lnTo>
                <a:lnTo>
                  <a:pt x="101853" y="593597"/>
                </a:lnTo>
                <a:lnTo>
                  <a:pt x="167893" y="552703"/>
                </a:lnTo>
                <a:lnTo>
                  <a:pt x="154304" y="530732"/>
                </a:lnTo>
                <a:close/>
              </a:path>
              <a:path w="1036954" h="648335">
                <a:moveTo>
                  <a:pt x="242442" y="476122"/>
                </a:moveTo>
                <a:lnTo>
                  <a:pt x="176275" y="517016"/>
                </a:lnTo>
                <a:lnTo>
                  <a:pt x="189991" y="539114"/>
                </a:lnTo>
                <a:lnTo>
                  <a:pt x="256031" y="498220"/>
                </a:lnTo>
                <a:lnTo>
                  <a:pt x="242442" y="476122"/>
                </a:lnTo>
                <a:close/>
              </a:path>
              <a:path w="1036954" h="648335">
                <a:moveTo>
                  <a:pt x="330580" y="421639"/>
                </a:moveTo>
                <a:lnTo>
                  <a:pt x="264413" y="462533"/>
                </a:lnTo>
                <a:lnTo>
                  <a:pt x="278129" y="484631"/>
                </a:lnTo>
                <a:lnTo>
                  <a:pt x="344169" y="443737"/>
                </a:lnTo>
                <a:lnTo>
                  <a:pt x="330580" y="421639"/>
                </a:lnTo>
                <a:close/>
              </a:path>
              <a:path w="1036954" h="648335">
                <a:moveTo>
                  <a:pt x="418718" y="367156"/>
                </a:moveTo>
                <a:lnTo>
                  <a:pt x="352551" y="408050"/>
                </a:lnTo>
                <a:lnTo>
                  <a:pt x="366140" y="430021"/>
                </a:lnTo>
                <a:lnTo>
                  <a:pt x="432307" y="389127"/>
                </a:lnTo>
                <a:lnTo>
                  <a:pt x="418718" y="367156"/>
                </a:lnTo>
                <a:close/>
              </a:path>
              <a:path w="1036954" h="648335">
                <a:moveTo>
                  <a:pt x="506856" y="312673"/>
                </a:moveTo>
                <a:lnTo>
                  <a:pt x="440689" y="353567"/>
                </a:lnTo>
                <a:lnTo>
                  <a:pt x="454278" y="375538"/>
                </a:lnTo>
                <a:lnTo>
                  <a:pt x="520445" y="334644"/>
                </a:lnTo>
                <a:lnTo>
                  <a:pt x="506856" y="312673"/>
                </a:lnTo>
                <a:close/>
              </a:path>
              <a:path w="1036954" h="648335">
                <a:moveTo>
                  <a:pt x="594994" y="258063"/>
                </a:moveTo>
                <a:lnTo>
                  <a:pt x="528827" y="298957"/>
                </a:lnTo>
                <a:lnTo>
                  <a:pt x="542416" y="321055"/>
                </a:lnTo>
                <a:lnTo>
                  <a:pt x="608583" y="280161"/>
                </a:lnTo>
                <a:lnTo>
                  <a:pt x="594994" y="258063"/>
                </a:lnTo>
                <a:close/>
              </a:path>
              <a:path w="1036954" h="648335">
                <a:moveTo>
                  <a:pt x="683132" y="203580"/>
                </a:moveTo>
                <a:lnTo>
                  <a:pt x="616965" y="244475"/>
                </a:lnTo>
                <a:lnTo>
                  <a:pt x="630554" y="266572"/>
                </a:lnTo>
                <a:lnTo>
                  <a:pt x="696722" y="225678"/>
                </a:lnTo>
                <a:lnTo>
                  <a:pt x="683132" y="203580"/>
                </a:lnTo>
                <a:close/>
              </a:path>
              <a:path w="1036954" h="648335">
                <a:moveTo>
                  <a:pt x="771143" y="149097"/>
                </a:moveTo>
                <a:lnTo>
                  <a:pt x="705103" y="189991"/>
                </a:lnTo>
                <a:lnTo>
                  <a:pt x="718692" y="211962"/>
                </a:lnTo>
                <a:lnTo>
                  <a:pt x="784860" y="171069"/>
                </a:lnTo>
                <a:lnTo>
                  <a:pt x="771143" y="149097"/>
                </a:lnTo>
                <a:close/>
              </a:path>
              <a:path w="1036954" h="648335">
                <a:moveTo>
                  <a:pt x="859281" y="94614"/>
                </a:moveTo>
                <a:lnTo>
                  <a:pt x="793241" y="135508"/>
                </a:lnTo>
                <a:lnTo>
                  <a:pt x="806830" y="157479"/>
                </a:lnTo>
                <a:lnTo>
                  <a:pt x="872998" y="116585"/>
                </a:lnTo>
                <a:lnTo>
                  <a:pt x="859281" y="94614"/>
                </a:lnTo>
                <a:close/>
              </a:path>
              <a:path w="1036954" h="648335">
                <a:moveTo>
                  <a:pt x="947419" y="40004"/>
                </a:moveTo>
                <a:lnTo>
                  <a:pt x="881379" y="80898"/>
                </a:lnTo>
                <a:lnTo>
                  <a:pt x="894968" y="102996"/>
                </a:lnTo>
                <a:lnTo>
                  <a:pt x="961136" y="62102"/>
                </a:lnTo>
                <a:lnTo>
                  <a:pt x="947419" y="40004"/>
                </a:lnTo>
                <a:close/>
              </a:path>
              <a:path w="1036954" h="648335">
                <a:moveTo>
                  <a:pt x="1036827" y="0"/>
                </a:moveTo>
                <a:lnTo>
                  <a:pt x="950340" y="7873"/>
                </a:lnTo>
                <a:lnTo>
                  <a:pt x="991235" y="73913"/>
                </a:lnTo>
                <a:lnTo>
                  <a:pt x="1006981" y="48386"/>
                </a:lnTo>
                <a:lnTo>
                  <a:pt x="983106" y="48386"/>
                </a:lnTo>
                <a:lnTo>
                  <a:pt x="969517" y="26415"/>
                </a:lnTo>
                <a:lnTo>
                  <a:pt x="974978" y="23113"/>
                </a:lnTo>
                <a:lnTo>
                  <a:pt x="1022570" y="23113"/>
                </a:lnTo>
                <a:lnTo>
                  <a:pt x="1036827" y="0"/>
                </a:lnTo>
                <a:close/>
              </a:path>
              <a:path w="1036954" h="648335">
                <a:moveTo>
                  <a:pt x="974978" y="23113"/>
                </a:moveTo>
                <a:lnTo>
                  <a:pt x="969517" y="26415"/>
                </a:lnTo>
                <a:lnTo>
                  <a:pt x="983106" y="48386"/>
                </a:lnTo>
                <a:lnTo>
                  <a:pt x="988567" y="45084"/>
                </a:lnTo>
                <a:lnTo>
                  <a:pt x="974978" y="23113"/>
                </a:lnTo>
                <a:close/>
              </a:path>
              <a:path w="1036954" h="648335">
                <a:moveTo>
                  <a:pt x="1022570" y="23113"/>
                </a:moveTo>
                <a:lnTo>
                  <a:pt x="974978" y="23113"/>
                </a:lnTo>
                <a:lnTo>
                  <a:pt x="988567" y="45084"/>
                </a:lnTo>
                <a:lnTo>
                  <a:pt x="983106" y="48386"/>
                </a:lnTo>
                <a:lnTo>
                  <a:pt x="1006981" y="48386"/>
                </a:lnTo>
                <a:lnTo>
                  <a:pt x="1022570" y="23113"/>
                </a:lnTo>
                <a:close/>
              </a:path>
            </a:pathLst>
          </a:custGeom>
          <a:solidFill>
            <a:srgbClr val="FF0000"/>
          </a:solidFill>
        </p:spPr>
        <p:txBody>
          <a:bodyPr wrap="square" lIns="0" tIns="0" rIns="0" bIns="0" rtlCol="0"/>
          <a:lstStyle/>
          <a:p>
            <a:endParaRPr/>
          </a:p>
        </p:txBody>
      </p:sp>
      <p:sp>
        <p:nvSpPr>
          <p:cNvPr id="20" name="object 20"/>
          <p:cNvSpPr/>
          <p:nvPr/>
        </p:nvSpPr>
        <p:spPr>
          <a:xfrm>
            <a:off x="4347336" y="5566664"/>
            <a:ext cx="600710" cy="107950"/>
          </a:xfrm>
          <a:custGeom>
            <a:avLst/>
            <a:gdLst/>
            <a:ahLst/>
            <a:cxnLst/>
            <a:rect l="l" t="t" r="r" b="b"/>
            <a:pathLst>
              <a:path w="600710" h="107950">
                <a:moveTo>
                  <a:pt x="77215" y="73748"/>
                </a:moveTo>
                <a:lnTo>
                  <a:pt x="0" y="82105"/>
                </a:lnTo>
                <a:lnTo>
                  <a:pt x="2793" y="107861"/>
                </a:lnTo>
                <a:lnTo>
                  <a:pt x="80010" y="99517"/>
                </a:lnTo>
                <a:lnTo>
                  <a:pt x="77215" y="73748"/>
                </a:lnTo>
                <a:close/>
              </a:path>
              <a:path w="600710" h="107950">
                <a:moveTo>
                  <a:pt x="180339" y="62611"/>
                </a:moveTo>
                <a:lnTo>
                  <a:pt x="102997" y="70967"/>
                </a:lnTo>
                <a:lnTo>
                  <a:pt x="105790" y="96723"/>
                </a:lnTo>
                <a:lnTo>
                  <a:pt x="183134" y="88379"/>
                </a:lnTo>
                <a:lnTo>
                  <a:pt x="180339" y="62611"/>
                </a:lnTo>
                <a:close/>
              </a:path>
              <a:path w="600710" h="107950">
                <a:moveTo>
                  <a:pt x="283337" y="51473"/>
                </a:moveTo>
                <a:lnTo>
                  <a:pt x="206121" y="59829"/>
                </a:lnTo>
                <a:lnTo>
                  <a:pt x="208787" y="85585"/>
                </a:lnTo>
                <a:lnTo>
                  <a:pt x="286130" y="77241"/>
                </a:lnTo>
                <a:lnTo>
                  <a:pt x="283337" y="51473"/>
                </a:lnTo>
                <a:close/>
              </a:path>
              <a:path w="600710" h="107950">
                <a:moveTo>
                  <a:pt x="386334" y="40347"/>
                </a:moveTo>
                <a:lnTo>
                  <a:pt x="309117" y="48691"/>
                </a:lnTo>
                <a:lnTo>
                  <a:pt x="311912" y="74447"/>
                </a:lnTo>
                <a:lnTo>
                  <a:pt x="389127" y="66103"/>
                </a:lnTo>
                <a:lnTo>
                  <a:pt x="386334" y="40347"/>
                </a:lnTo>
                <a:close/>
              </a:path>
              <a:path w="600710" h="107950">
                <a:moveTo>
                  <a:pt x="489458" y="29210"/>
                </a:moveTo>
                <a:lnTo>
                  <a:pt x="412114" y="37553"/>
                </a:lnTo>
                <a:lnTo>
                  <a:pt x="414909" y="63309"/>
                </a:lnTo>
                <a:lnTo>
                  <a:pt x="492125" y="54965"/>
                </a:lnTo>
                <a:lnTo>
                  <a:pt x="489458" y="29210"/>
                </a:lnTo>
                <a:close/>
              </a:path>
              <a:path w="600710" h="107950">
                <a:moveTo>
                  <a:pt x="584516" y="24307"/>
                </a:moveTo>
                <a:lnTo>
                  <a:pt x="534670" y="24307"/>
                </a:lnTo>
                <a:lnTo>
                  <a:pt x="537463" y="50063"/>
                </a:lnTo>
                <a:lnTo>
                  <a:pt x="524633" y="51446"/>
                </a:lnTo>
                <a:lnTo>
                  <a:pt x="527430" y="77216"/>
                </a:lnTo>
                <a:lnTo>
                  <a:pt x="600455" y="30226"/>
                </a:lnTo>
                <a:lnTo>
                  <a:pt x="584516" y="24307"/>
                </a:lnTo>
                <a:close/>
              </a:path>
              <a:path w="600710" h="107950">
                <a:moveTo>
                  <a:pt x="521837" y="25691"/>
                </a:moveTo>
                <a:lnTo>
                  <a:pt x="515112" y="26416"/>
                </a:lnTo>
                <a:lnTo>
                  <a:pt x="517905" y="52171"/>
                </a:lnTo>
                <a:lnTo>
                  <a:pt x="524633" y="51446"/>
                </a:lnTo>
                <a:lnTo>
                  <a:pt x="521837" y="25691"/>
                </a:lnTo>
                <a:close/>
              </a:path>
              <a:path w="600710" h="107950">
                <a:moveTo>
                  <a:pt x="534670" y="24307"/>
                </a:moveTo>
                <a:lnTo>
                  <a:pt x="521837" y="25691"/>
                </a:lnTo>
                <a:lnTo>
                  <a:pt x="524633" y="51446"/>
                </a:lnTo>
                <a:lnTo>
                  <a:pt x="537463" y="50063"/>
                </a:lnTo>
                <a:lnTo>
                  <a:pt x="534670" y="24307"/>
                </a:lnTo>
                <a:close/>
              </a:path>
              <a:path w="600710" h="107950">
                <a:moveTo>
                  <a:pt x="519049" y="0"/>
                </a:moveTo>
                <a:lnTo>
                  <a:pt x="521837" y="25691"/>
                </a:lnTo>
                <a:lnTo>
                  <a:pt x="534670" y="24307"/>
                </a:lnTo>
                <a:lnTo>
                  <a:pt x="584516" y="24307"/>
                </a:lnTo>
                <a:lnTo>
                  <a:pt x="519049" y="0"/>
                </a:lnTo>
                <a:close/>
              </a:path>
            </a:pathLst>
          </a:custGeom>
          <a:solidFill>
            <a:srgbClr val="FF0000"/>
          </a:solid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5854065" cy="1031240"/>
          </a:xfrm>
          <a:prstGeom prst="rect">
            <a:avLst/>
          </a:prstGeom>
        </p:spPr>
        <p:txBody>
          <a:bodyPr vert="horz" wrap="square" lIns="0" tIns="104139" rIns="0" bIns="0" rtlCol="0">
            <a:spAutoFit/>
          </a:bodyPr>
          <a:lstStyle/>
          <a:p>
            <a:pPr marL="12700" marR="5080">
              <a:lnSpc>
                <a:spcPts val="3600"/>
              </a:lnSpc>
              <a:spcBef>
                <a:spcPts val="819"/>
              </a:spcBef>
            </a:pPr>
            <a:r>
              <a:rPr sz="3600" i="0" spc="-105" dirty="0">
                <a:solidFill>
                  <a:srgbClr val="000000"/>
                </a:solidFill>
                <a:latin typeface="Arial"/>
                <a:cs typeface="Arial"/>
              </a:rPr>
              <a:t>How </a:t>
            </a:r>
            <a:r>
              <a:rPr sz="3600" i="0" spc="-120" dirty="0">
                <a:solidFill>
                  <a:srgbClr val="000000"/>
                </a:solidFill>
                <a:latin typeface="Arial"/>
                <a:cs typeface="Arial"/>
              </a:rPr>
              <a:t>Many</a:t>
            </a:r>
            <a:r>
              <a:rPr sz="3600" i="0" spc="-780" dirty="0">
                <a:solidFill>
                  <a:srgbClr val="000000"/>
                </a:solidFill>
                <a:latin typeface="Arial"/>
                <a:cs typeface="Arial"/>
              </a:rPr>
              <a:t> </a:t>
            </a:r>
            <a:r>
              <a:rPr sz="3600" i="0" spc="-135" dirty="0">
                <a:solidFill>
                  <a:srgbClr val="000000"/>
                </a:solidFill>
                <a:latin typeface="Arial"/>
                <a:cs typeface="Arial"/>
              </a:rPr>
              <a:t>String </a:t>
            </a:r>
            <a:r>
              <a:rPr sz="3600" i="0" spc="-140" dirty="0">
                <a:solidFill>
                  <a:srgbClr val="000000"/>
                </a:solidFill>
                <a:latin typeface="Arial"/>
                <a:cs typeface="Arial"/>
              </a:rPr>
              <a:t>Objects </a:t>
            </a:r>
            <a:r>
              <a:rPr sz="3600" i="0" spc="-105" dirty="0">
                <a:solidFill>
                  <a:srgbClr val="000000"/>
                </a:solidFill>
                <a:latin typeface="Arial"/>
                <a:cs typeface="Arial"/>
              </a:rPr>
              <a:t>are  </a:t>
            </a:r>
            <a:r>
              <a:rPr sz="3600" i="0" spc="-140" dirty="0">
                <a:solidFill>
                  <a:srgbClr val="000000"/>
                </a:solidFill>
                <a:latin typeface="Arial"/>
                <a:cs typeface="Arial"/>
              </a:rPr>
              <a:t>Created?</a:t>
            </a:r>
            <a:endParaRPr sz="3600">
              <a:latin typeface="Arial"/>
              <a:cs typeface="Arial"/>
            </a:endParaRPr>
          </a:p>
        </p:txBody>
      </p:sp>
      <p:sp>
        <p:nvSpPr>
          <p:cNvPr id="3" name="object 3"/>
          <p:cNvSpPr txBox="1">
            <a:spLocks noGrp="1"/>
          </p:cNvSpPr>
          <p:nvPr>
            <p:ph sz="half" idx="2"/>
          </p:nvPr>
        </p:nvSpPr>
        <p:spPr>
          <a:prstGeom prst="rect">
            <a:avLst/>
          </a:prstGeom>
        </p:spPr>
        <p:txBody>
          <a:bodyPr vert="horz" wrap="square" lIns="0" tIns="12065" rIns="0" bIns="0" rtlCol="0">
            <a:spAutoFit/>
          </a:bodyPr>
          <a:lstStyle/>
          <a:p>
            <a:pPr marL="12700" marR="1446530">
              <a:lnSpc>
                <a:spcPct val="100000"/>
              </a:lnSpc>
              <a:spcBef>
                <a:spcPts val="95"/>
              </a:spcBef>
            </a:pPr>
            <a:r>
              <a:rPr spc="-5" dirty="0"/>
              <a:t>//File Name: </a:t>
            </a:r>
            <a:r>
              <a:rPr spc="-10" dirty="0"/>
              <a:t>StringDemo.java  </a:t>
            </a:r>
            <a:r>
              <a:rPr spc="-5" dirty="0"/>
              <a:t>class StringDemo</a:t>
            </a:r>
          </a:p>
          <a:p>
            <a:pPr marL="12700">
              <a:lnSpc>
                <a:spcPct val="100000"/>
              </a:lnSpc>
            </a:pPr>
            <a:r>
              <a:rPr spc="-5" dirty="0"/>
              <a:t>{</a:t>
            </a:r>
          </a:p>
          <a:p>
            <a:pPr marL="927100">
              <a:lnSpc>
                <a:spcPct val="100000"/>
              </a:lnSpc>
            </a:pPr>
            <a:r>
              <a:rPr spc="-5" dirty="0"/>
              <a:t>public </a:t>
            </a:r>
            <a:r>
              <a:rPr spc="-10" dirty="0"/>
              <a:t>static void main(String[]</a:t>
            </a:r>
            <a:r>
              <a:rPr spc="95" dirty="0"/>
              <a:t> </a:t>
            </a:r>
            <a:r>
              <a:rPr spc="-10" dirty="0"/>
              <a:t>args)</a:t>
            </a:r>
          </a:p>
          <a:p>
            <a:pPr marL="927100">
              <a:lnSpc>
                <a:spcPct val="100000"/>
              </a:lnSpc>
            </a:pPr>
            <a:r>
              <a:rPr spc="-5" dirty="0"/>
              <a:t>{</a:t>
            </a:r>
          </a:p>
          <a:p>
            <a:pPr marL="1841500">
              <a:lnSpc>
                <a:spcPct val="100000"/>
              </a:lnSpc>
            </a:pPr>
            <a:r>
              <a:rPr spc="-5" dirty="0">
                <a:solidFill>
                  <a:srgbClr val="FF0000"/>
                </a:solidFill>
              </a:rPr>
              <a:t>String s1 =</a:t>
            </a:r>
            <a:r>
              <a:rPr spc="-40" dirty="0">
                <a:solidFill>
                  <a:srgbClr val="FF0000"/>
                </a:solidFill>
              </a:rPr>
              <a:t> </a:t>
            </a:r>
            <a:r>
              <a:rPr spc="-5" dirty="0">
                <a:solidFill>
                  <a:srgbClr val="FF0000"/>
                </a:solidFill>
              </a:rPr>
              <a:t>"abc";</a:t>
            </a:r>
          </a:p>
          <a:p>
            <a:pPr>
              <a:lnSpc>
                <a:spcPct val="100000"/>
              </a:lnSpc>
              <a:spcBef>
                <a:spcPts val="25"/>
              </a:spcBef>
            </a:pPr>
            <a:endParaRPr sz="1650">
              <a:latin typeface="Times New Roman"/>
              <a:cs typeface="Times New Roman"/>
            </a:endParaRPr>
          </a:p>
          <a:p>
            <a:pPr marL="1841500">
              <a:lnSpc>
                <a:spcPct val="100000"/>
              </a:lnSpc>
            </a:pPr>
            <a:r>
              <a:rPr spc="-5" dirty="0">
                <a:solidFill>
                  <a:srgbClr val="FF0000"/>
                </a:solidFill>
              </a:rPr>
              <a:t>String s2 =</a:t>
            </a:r>
            <a:r>
              <a:rPr spc="-35" dirty="0">
                <a:solidFill>
                  <a:srgbClr val="FF0000"/>
                </a:solidFill>
              </a:rPr>
              <a:t> </a:t>
            </a:r>
            <a:r>
              <a:rPr spc="-5" dirty="0">
                <a:solidFill>
                  <a:srgbClr val="FF0000"/>
                </a:solidFill>
              </a:rPr>
              <a:t>"abc";</a:t>
            </a:r>
          </a:p>
          <a:p>
            <a:pPr>
              <a:lnSpc>
                <a:spcPct val="100000"/>
              </a:lnSpc>
              <a:spcBef>
                <a:spcPts val="20"/>
              </a:spcBef>
            </a:pPr>
            <a:endParaRPr sz="1650">
              <a:latin typeface="Times New Roman"/>
              <a:cs typeface="Times New Roman"/>
            </a:endParaRPr>
          </a:p>
          <a:p>
            <a:pPr marL="1841500">
              <a:lnSpc>
                <a:spcPct val="100000"/>
              </a:lnSpc>
              <a:spcBef>
                <a:spcPts val="5"/>
              </a:spcBef>
            </a:pPr>
            <a:r>
              <a:rPr spc="-5" dirty="0">
                <a:solidFill>
                  <a:srgbClr val="FF0000"/>
                </a:solidFill>
              </a:rPr>
              <a:t>String s3 =</a:t>
            </a:r>
            <a:r>
              <a:rPr spc="-40" dirty="0">
                <a:solidFill>
                  <a:srgbClr val="FF0000"/>
                </a:solidFill>
              </a:rPr>
              <a:t> </a:t>
            </a:r>
            <a:r>
              <a:rPr spc="-5" dirty="0">
                <a:solidFill>
                  <a:srgbClr val="FF0000"/>
                </a:solidFill>
              </a:rPr>
              <a:t>"abc";</a:t>
            </a:r>
          </a:p>
          <a:p>
            <a:pPr>
              <a:lnSpc>
                <a:spcPct val="100000"/>
              </a:lnSpc>
              <a:spcBef>
                <a:spcPts val="20"/>
              </a:spcBef>
            </a:pPr>
            <a:endParaRPr sz="1650">
              <a:latin typeface="Times New Roman"/>
              <a:cs typeface="Times New Roman"/>
            </a:endParaRPr>
          </a:p>
          <a:p>
            <a:pPr marL="1841500">
              <a:lnSpc>
                <a:spcPct val="100000"/>
              </a:lnSpc>
            </a:pPr>
            <a:r>
              <a:rPr spc="-5" dirty="0">
                <a:solidFill>
                  <a:srgbClr val="FF0000"/>
                </a:solidFill>
              </a:rPr>
              <a:t>String s4 =</a:t>
            </a:r>
            <a:r>
              <a:rPr spc="-35" dirty="0">
                <a:solidFill>
                  <a:srgbClr val="FF0000"/>
                </a:solidFill>
              </a:rPr>
              <a:t> </a:t>
            </a:r>
            <a:r>
              <a:rPr spc="-5" dirty="0">
                <a:solidFill>
                  <a:srgbClr val="FF0000"/>
                </a:solidFill>
              </a:rPr>
              <a:t>"abc";</a:t>
            </a:r>
          </a:p>
          <a:p>
            <a:pPr marL="927100">
              <a:lnSpc>
                <a:spcPct val="100000"/>
              </a:lnSpc>
            </a:pPr>
            <a:r>
              <a:rPr spc="-5" dirty="0"/>
              <a:t>}// End of</a:t>
            </a:r>
            <a:r>
              <a:rPr spc="10" dirty="0"/>
              <a:t> </a:t>
            </a:r>
            <a:r>
              <a:rPr spc="-10" dirty="0"/>
              <a:t>Method</a:t>
            </a:r>
          </a:p>
          <a:p>
            <a:pPr marL="12700">
              <a:lnSpc>
                <a:spcPct val="100000"/>
              </a:lnSpc>
            </a:pPr>
            <a:r>
              <a:rPr spc="-5" dirty="0"/>
              <a:t>}// End of class</a:t>
            </a:r>
            <a:r>
              <a:rPr spc="20" dirty="0"/>
              <a:t> </a:t>
            </a:r>
            <a:r>
              <a:rPr spc="-5" dirty="0"/>
              <a:t>StringDemo</a:t>
            </a:r>
          </a:p>
        </p:txBody>
      </p:sp>
      <p:sp>
        <p:nvSpPr>
          <p:cNvPr id="4" name="object 4"/>
          <p:cNvSpPr/>
          <p:nvPr/>
        </p:nvSpPr>
        <p:spPr>
          <a:xfrm>
            <a:off x="3492246" y="2849879"/>
            <a:ext cx="1008380" cy="78105"/>
          </a:xfrm>
          <a:custGeom>
            <a:avLst/>
            <a:gdLst/>
            <a:ahLst/>
            <a:cxnLst/>
            <a:rect l="l" t="t" r="r" b="b"/>
            <a:pathLst>
              <a:path w="1008379" h="78105">
                <a:moveTo>
                  <a:pt x="77724" y="25908"/>
                </a:moveTo>
                <a:lnTo>
                  <a:pt x="0" y="25908"/>
                </a:lnTo>
                <a:lnTo>
                  <a:pt x="0" y="51816"/>
                </a:lnTo>
                <a:lnTo>
                  <a:pt x="77724" y="51816"/>
                </a:lnTo>
                <a:lnTo>
                  <a:pt x="77724" y="25908"/>
                </a:lnTo>
                <a:close/>
              </a:path>
              <a:path w="1008379" h="78105">
                <a:moveTo>
                  <a:pt x="181355" y="25908"/>
                </a:moveTo>
                <a:lnTo>
                  <a:pt x="103631" y="25908"/>
                </a:lnTo>
                <a:lnTo>
                  <a:pt x="103631" y="51816"/>
                </a:lnTo>
                <a:lnTo>
                  <a:pt x="181355" y="51816"/>
                </a:lnTo>
                <a:lnTo>
                  <a:pt x="181355" y="25908"/>
                </a:lnTo>
                <a:close/>
              </a:path>
              <a:path w="1008379" h="78105">
                <a:moveTo>
                  <a:pt x="284988" y="25908"/>
                </a:moveTo>
                <a:lnTo>
                  <a:pt x="207263" y="25908"/>
                </a:lnTo>
                <a:lnTo>
                  <a:pt x="207263" y="51816"/>
                </a:lnTo>
                <a:lnTo>
                  <a:pt x="284988" y="51816"/>
                </a:lnTo>
                <a:lnTo>
                  <a:pt x="284988" y="25908"/>
                </a:lnTo>
                <a:close/>
              </a:path>
              <a:path w="1008379" h="78105">
                <a:moveTo>
                  <a:pt x="388619" y="25908"/>
                </a:moveTo>
                <a:lnTo>
                  <a:pt x="310895" y="25908"/>
                </a:lnTo>
                <a:lnTo>
                  <a:pt x="310895" y="51816"/>
                </a:lnTo>
                <a:lnTo>
                  <a:pt x="388619" y="51816"/>
                </a:lnTo>
                <a:lnTo>
                  <a:pt x="388619" y="25908"/>
                </a:lnTo>
                <a:close/>
              </a:path>
              <a:path w="1008379" h="78105">
                <a:moveTo>
                  <a:pt x="492251" y="25908"/>
                </a:moveTo>
                <a:lnTo>
                  <a:pt x="414527" y="25908"/>
                </a:lnTo>
                <a:lnTo>
                  <a:pt x="414527" y="51816"/>
                </a:lnTo>
                <a:lnTo>
                  <a:pt x="492251" y="51816"/>
                </a:lnTo>
                <a:lnTo>
                  <a:pt x="492251" y="25908"/>
                </a:lnTo>
                <a:close/>
              </a:path>
              <a:path w="1008379" h="78105">
                <a:moveTo>
                  <a:pt x="595883" y="25908"/>
                </a:moveTo>
                <a:lnTo>
                  <a:pt x="518159" y="25908"/>
                </a:lnTo>
                <a:lnTo>
                  <a:pt x="518159" y="51816"/>
                </a:lnTo>
                <a:lnTo>
                  <a:pt x="595883" y="51816"/>
                </a:lnTo>
                <a:lnTo>
                  <a:pt x="595883" y="25908"/>
                </a:lnTo>
                <a:close/>
              </a:path>
              <a:path w="1008379" h="78105">
                <a:moveTo>
                  <a:pt x="699515" y="25908"/>
                </a:moveTo>
                <a:lnTo>
                  <a:pt x="621791" y="25908"/>
                </a:lnTo>
                <a:lnTo>
                  <a:pt x="621791" y="51816"/>
                </a:lnTo>
                <a:lnTo>
                  <a:pt x="699515" y="51816"/>
                </a:lnTo>
                <a:lnTo>
                  <a:pt x="699515" y="25908"/>
                </a:lnTo>
                <a:close/>
              </a:path>
              <a:path w="1008379" h="78105">
                <a:moveTo>
                  <a:pt x="803148" y="25908"/>
                </a:moveTo>
                <a:lnTo>
                  <a:pt x="725424" y="25908"/>
                </a:lnTo>
                <a:lnTo>
                  <a:pt x="725424" y="51816"/>
                </a:lnTo>
                <a:lnTo>
                  <a:pt x="803148" y="51816"/>
                </a:lnTo>
                <a:lnTo>
                  <a:pt x="803148" y="25908"/>
                </a:lnTo>
                <a:close/>
              </a:path>
              <a:path w="1008379" h="78105">
                <a:moveTo>
                  <a:pt x="906779" y="25908"/>
                </a:moveTo>
                <a:lnTo>
                  <a:pt x="829055" y="25908"/>
                </a:lnTo>
                <a:lnTo>
                  <a:pt x="829055" y="51816"/>
                </a:lnTo>
                <a:lnTo>
                  <a:pt x="906779" y="51816"/>
                </a:lnTo>
                <a:lnTo>
                  <a:pt x="906779" y="25908"/>
                </a:lnTo>
                <a:close/>
              </a:path>
              <a:path w="1008379" h="78105">
                <a:moveTo>
                  <a:pt x="930401" y="0"/>
                </a:moveTo>
                <a:lnTo>
                  <a:pt x="930401" y="77724"/>
                </a:lnTo>
                <a:lnTo>
                  <a:pt x="982217" y="51816"/>
                </a:lnTo>
                <a:lnTo>
                  <a:pt x="932688" y="51816"/>
                </a:lnTo>
                <a:lnTo>
                  <a:pt x="932688" y="25908"/>
                </a:lnTo>
                <a:lnTo>
                  <a:pt x="982218" y="25908"/>
                </a:lnTo>
                <a:lnTo>
                  <a:pt x="930401" y="0"/>
                </a:lnTo>
                <a:close/>
              </a:path>
              <a:path w="1008379" h="78105">
                <a:moveTo>
                  <a:pt x="943355" y="25908"/>
                </a:moveTo>
                <a:lnTo>
                  <a:pt x="932688" y="25908"/>
                </a:lnTo>
                <a:lnTo>
                  <a:pt x="932688" y="51816"/>
                </a:lnTo>
                <a:lnTo>
                  <a:pt x="943355" y="51816"/>
                </a:lnTo>
                <a:lnTo>
                  <a:pt x="943355" y="25908"/>
                </a:lnTo>
                <a:close/>
              </a:path>
              <a:path w="1008379" h="78105">
                <a:moveTo>
                  <a:pt x="982218" y="25908"/>
                </a:moveTo>
                <a:lnTo>
                  <a:pt x="943355" y="25908"/>
                </a:lnTo>
                <a:lnTo>
                  <a:pt x="943355" y="51816"/>
                </a:lnTo>
                <a:lnTo>
                  <a:pt x="982217" y="51816"/>
                </a:lnTo>
                <a:lnTo>
                  <a:pt x="1008126" y="38862"/>
                </a:lnTo>
                <a:lnTo>
                  <a:pt x="982218" y="25908"/>
                </a:lnTo>
                <a:close/>
              </a:path>
            </a:pathLst>
          </a:custGeom>
          <a:solidFill>
            <a:srgbClr val="FF0000"/>
          </a:solidFill>
        </p:spPr>
        <p:txBody>
          <a:bodyPr wrap="square" lIns="0" tIns="0" rIns="0" bIns="0" rtlCol="0"/>
          <a:lstStyle/>
          <a:p>
            <a:endParaRPr/>
          </a:p>
        </p:txBody>
      </p:sp>
      <p:sp>
        <p:nvSpPr>
          <p:cNvPr id="5" name="object 5"/>
          <p:cNvSpPr txBox="1"/>
          <p:nvPr/>
        </p:nvSpPr>
        <p:spPr>
          <a:xfrm>
            <a:off x="4560189" y="2721102"/>
            <a:ext cx="28092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String s1 = </a:t>
            </a:r>
            <a:r>
              <a:rPr sz="1800" b="1" spc="-5" dirty="0">
                <a:solidFill>
                  <a:srgbClr val="FF0000"/>
                </a:solidFill>
                <a:latin typeface="Calibri"/>
                <a:cs typeface="Calibri"/>
              </a:rPr>
              <a:t>new</a:t>
            </a:r>
            <a:r>
              <a:rPr sz="1800" b="1" spc="-125" dirty="0">
                <a:solidFill>
                  <a:srgbClr val="FF0000"/>
                </a:solidFill>
                <a:latin typeface="Calibri"/>
                <a:cs typeface="Calibri"/>
              </a:rPr>
              <a:t> </a:t>
            </a:r>
            <a:r>
              <a:rPr sz="1800" b="1" dirty="0">
                <a:solidFill>
                  <a:srgbClr val="FF0000"/>
                </a:solidFill>
                <a:latin typeface="Calibri"/>
                <a:cs typeface="Calibri"/>
              </a:rPr>
              <a:t>String("abc“);</a:t>
            </a:r>
            <a:endParaRPr sz="1800">
              <a:latin typeface="Calibri"/>
              <a:cs typeface="Calibri"/>
            </a:endParaRPr>
          </a:p>
        </p:txBody>
      </p:sp>
      <p:sp>
        <p:nvSpPr>
          <p:cNvPr id="6" name="object 6"/>
          <p:cNvSpPr/>
          <p:nvPr/>
        </p:nvSpPr>
        <p:spPr>
          <a:xfrm>
            <a:off x="5925311" y="3073145"/>
            <a:ext cx="78105" cy="951865"/>
          </a:xfrm>
          <a:custGeom>
            <a:avLst/>
            <a:gdLst/>
            <a:ahLst/>
            <a:cxnLst/>
            <a:rect l="l" t="t" r="r" b="b"/>
            <a:pathLst>
              <a:path w="78104" h="951864">
                <a:moveTo>
                  <a:pt x="51815" y="0"/>
                </a:moveTo>
                <a:lnTo>
                  <a:pt x="25908" y="0"/>
                </a:lnTo>
                <a:lnTo>
                  <a:pt x="25908" y="77724"/>
                </a:lnTo>
                <a:lnTo>
                  <a:pt x="51815" y="77724"/>
                </a:lnTo>
                <a:lnTo>
                  <a:pt x="51815" y="0"/>
                </a:lnTo>
                <a:close/>
              </a:path>
              <a:path w="78104" h="951864">
                <a:moveTo>
                  <a:pt x="51815" y="103631"/>
                </a:moveTo>
                <a:lnTo>
                  <a:pt x="25908" y="103631"/>
                </a:lnTo>
                <a:lnTo>
                  <a:pt x="25908" y="181355"/>
                </a:lnTo>
                <a:lnTo>
                  <a:pt x="51815" y="181355"/>
                </a:lnTo>
                <a:lnTo>
                  <a:pt x="51815" y="103631"/>
                </a:lnTo>
                <a:close/>
              </a:path>
              <a:path w="78104" h="951864">
                <a:moveTo>
                  <a:pt x="51815" y="207263"/>
                </a:moveTo>
                <a:lnTo>
                  <a:pt x="25908" y="207263"/>
                </a:lnTo>
                <a:lnTo>
                  <a:pt x="25908" y="284988"/>
                </a:lnTo>
                <a:lnTo>
                  <a:pt x="51815" y="284988"/>
                </a:lnTo>
                <a:lnTo>
                  <a:pt x="51815" y="207263"/>
                </a:lnTo>
                <a:close/>
              </a:path>
              <a:path w="78104" h="951864">
                <a:moveTo>
                  <a:pt x="51815" y="310895"/>
                </a:moveTo>
                <a:lnTo>
                  <a:pt x="25908" y="310895"/>
                </a:lnTo>
                <a:lnTo>
                  <a:pt x="25908" y="388619"/>
                </a:lnTo>
                <a:lnTo>
                  <a:pt x="51815" y="388619"/>
                </a:lnTo>
                <a:lnTo>
                  <a:pt x="51815" y="310895"/>
                </a:lnTo>
                <a:close/>
              </a:path>
              <a:path w="78104" h="951864">
                <a:moveTo>
                  <a:pt x="51815" y="414527"/>
                </a:moveTo>
                <a:lnTo>
                  <a:pt x="25908" y="414527"/>
                </a:lnTo>
                <a:lnTo>
                  <a:pt x="25908" y="492251"/>
                </a:lnTo>
                <a:lnTo>
                  <a:pt x="51815" y="492251"/>
                </a:lnTo>
                <a:lnTo>
                  <a:pt x="51815" y="414527"/>
                </a:lnTo>
                <a:close/>
              </a:path>
              <a:path w="78104" h="951864">
                <a:moveTo>
                  <a:pt x="51815" y="518159"/>
                </a:moveTo>
                <a:lnTo>
                  <a:pt x="25908" y="518159"/>
                </a:lnTo>
                <a:lnTo>
                  <a:pt x="25908" y="595883"/>
                </a:lnTo>
                <a:lnTo>
                  <a:pt x="51815" y="595883"/>
                </a:lnTo>
                <a:lnTo>
                  <a:pt x="51815" y="518159"/>
                </a:lnTo>
                <a:close/>
              </a:path>
              <a:path w="78104" h="951864">
                <a:moveTo>
                  <a:pt x="51815" y="621791"/>
                </a:moveTo>
                <a:lnTo>
                  <a:pt x="25908" y="621791"/>
                </a:lnTo>
                <a:lnTo>
                  <a:pt x="25908" y="699515"/>
                </a:lnTo>
                <a:lnTo>
                  <a:pt x="51815" y="699515"/>
                </a:lnTo>
                <a:lnTo>
                  <a:pt x="51815" y="621791"/>
                </a:lnTo>
                <a:close/>
              </a:path>
              <a:path w="78104" h="951864">
                <a:moveTo>
                  <a:pt x="51815" y="725423"/>
                </a:moveTo>
                <a:lnTo>
                  <a:pt x="25908" y="725423"/>
                </a:lnTo>
                <a:lnTo>
                  <a:pt x="25908" y="803147"/>
                </a:lnTo>
                <a:lnTo>
                  <a:pt x="51815" y="803147"/>
                </a:lnTo>
                <a:lnTo>
                  <a:pt x="51815" y="725423"/>
                </a:lnTo>
                <a:close/>
              </a:path>
              <a:path w="78104" h="951864">
                <a:moveTo>
                  <a:pt x="25908" y="873886"/>
                </a:moveTo>
                <a:lnTo>
                  <a:pt x="0" y="873886"/>
                </a:lnTo>
                <a:lnTo>
                  <a:pt x="38862" y="951610"/>
                </a:lnTo>
                <a:lnTo>
                  <a:pt x="71247" y="886840"/>
                </a:lnTo>
                <a:lnTo>
                  <a:pt x="25908" y="886840"/>
                </a:lnTo>
                <a:lnTo>
                  <a:pt x="25908" y="873886"/>
                </a:lnTo>
                <a:close/>
              </a:path>
              <a:path w="78104" h="951864">
                <a:moveTo>
                  <a:pt x="51815" y="829055"/>
                </a:moveTo>
                <a:lnTo>
                  <a:pt x="25908" y="829055"/>
                </a:lnTo>
                <a:lnTo>
                  <a:pt x="25908" y="886840"/>
                </a:lnTo>
                <a:lnTo>
                  <a:pt x="51815" y="886840"/>
                </a:lnTo>
                <a:lnTo>
                  <a:pt x="51815" y="829055"/>
                </a:lnTo>
                <a:close/>
              </a:path>
              <a:path w="78104" h="951864">
                <a:moveTo>
                  <a:pt x="77724" y="873886"/>
                </a:moveTo>
                <a:lnTo>
                  <a:pt x="51815" y="873886"/>
                </a:lnTo>
                <a:lnTo>
                  <a:pt x="51815" y="886840"/>
                </a:lnTo>
                <a:lnTo>
                  <a:pt x="71247" y="886840"/>
                </a:lnTo>
                <a:lnTo>
                  <a:pt x="77724" y="873886"/>
                </a:lnTo>
                <a:close/>
              </a:path>
            </a:pathLst>
          </a:custGeom>
          <a:solidFill>
            <a:srgbClr val="FF0000"/>
          </a:solidFill>
        </p:spPr>
        <p:txBody>
          <a:bodyPr wrap="square" lIns="0" tIns="0" rIns="0" bIns="0" rtlCol="0"/>
          <a:lstStyle/>
          <a:p>
            <a:endParaRPr/>
          </a:p>
        </p:txBody>
      </p:sp>
      <p:sp>
        <p:nvSpPr>
          <p:cNvPr id="7" name="object 7"/>
          <p:cNvSpPr txBox="1"/>
          <p:nvPr/>
        </p:nvSpPr>
        <p:spPr>
          <a:xfrm>
            <a:off x="5007355" y="4449571"/>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s1</a:t>
            </a:r>
            <a:endParaRPr sz="1800">
              <a:latin typeface="Calibri"/>
              <a:cs typeface="Calibri"/>
            </a:endParaRPr>
          </a:p>
        </p:txBody>
      </p:sp>
      <p:sp>
        <p:nvSpPr>
          <p:cNvPr id="8" name="object 8"/>
          <p:cNvSpPr/>
          <p:nvPr/>
        </p:nvSpPr>
        <p:spPr>
          <a:xfrm>
            <a:off x="5289041" y="4593335"/>
            <a:ext cx="1008380" cy="78105"/>
          </a:xfrm>
          <a:custGeom>
            <a:avLst/>
            <a:gdLst/>
            <a:ahLst/>
            <a:cxnLst/>
            <a:rect l="l" t="t" r="r" b="b"/>
            <a:pathLst>
              <a:path w="1008379" h="78104">
                <a:moveTo>
                  <a:pt x="77724" y="25907"/>
                </a:moveTo>
                <a:lnTo>
                  <a:pt x="0" y="25907"/>
                </a:lnTo>
                <a:lnTo>
                  <a:pt x="0" y="51815"/>
                </a:lnTo>
                <a:lnTo>
                  <a:pt x="77724" y="51815"/>
                </a:lnTo>
                <a:lnTo>
                  <a:pt x="77724" y="25907"/>
                </a:lnTo>
                <a:close/>
              </a:path>
              <a:path w="1008379" h="78104">
                <a:moveTo>
                  <a:pt x="181356" y="25907"/>
                </a:moveTo>
                <a:lnTo>
                  <a:pt x="103632" y="25907"/>
                </a:lnTo>
                <a:lnTo>
                  <a:pt x="103632" y="51815"/>
                </a:lnTo>
                <a:lnTo>
                  <a:pt x="181356" y="51815"/>
                </a:lnTo>
                <a:lnTo>
                  <a:pt x="181356" y="25907"/>
                </a:lnTo>
                <a:close/>
              </a:path>
              <a:path w="1008379" h="78104">
                <a:moveTo>
                  <a:pt x="284988" y="25907"/>
                </a:moveTo>
                <a:lnTo>
                  <a:pt x="207263" y="25907"/>
                </a:lnTo>
                <a:lnTo>
                  <a:pt x="207263" y="51815"/>
                </a:lnTo>
                <a:lnTo>
                  <a:pt x="284988" y="51815"/>
                </a:lnTo>
                <a:lnTo>
                  <a:pt x="284988" y="25907"/>
                </a:lnTo>
                <a:close/>
              </a:path>
              <a:path w="1008379" h="78104">
                <a:moveTo>
                  <a:pt x="388620" y="25907"/>
                </a:moveTo>
                <a:lnTo>
                  <a:pt x="310896" y="25907"/>
                </a:lnTo>
                <a:lnTo>
                  <a:pt x="310896" y="51815"/>
                </a:lnTo>
                <a:lnTo>
                  <a:pt x="388620" y="51815"/>
                </a:lnTo>
                <a:lnTo>
                  <a:pt x="388620" y="25907"/>
                </a:lnTo>
                <a:close/>
              </a:path>
              <a:path w="1008379" h="78104">
                <a:moveTo>
                  <a:pt x="492252" y="25907"/>
                </a:moveTo>
                <a:lnTo>
                  <a:pt x="414528" y="25907"/>
                </a:lnTo>
                <a:lnTo>
                  <a:pt x="414528" y="51815"/>
                </a:lnTo>
                <a:lnTo>
                  <a:pt x="492252" y="51815"/>
                </a:lnTo>
                <a:lnTo>
                  <a:pt x="492252" y="25907"/>
                </a:lnTo>
                <a:close/>
              </a:path>
              <a:path w="1008379" h="78104">
                <a:moveTo>
                  <a:pt x="595884" y="25907"/>
                </a:moveTo>
                <a:lnTo>
                  <a:pt x="518160" y="25907"/>
                </a:lnTo>
                <a:lnTo>
                  <a:pt x="518160" y="51815"/>
                </a:lnTo>
                <a:lnTo>
                  <a:pt x="595884" y="51815"/>
                </a:lnTo>
                <a:lnTo>
                  <a:pt x="595884" y="25907"/>
                </a:lnTo>
                <a:close/>
              </a:path>
              <a:path w="1008379" h="78104">
                <a:moveTo>
                  <a:pt x="699516" y="25907"/>
                </a:moveTo>
                <a:lnTo>
                  <a:pt x="621792" y="25907"/>
                </a:lnTo>
                <a:lnTo>
                  <a:pt x="621792" y="51815"/>
                </a:lnTo>
                <a:lnTo>
                  <a:pt x="699516" y="51815"/>
                </a:lnTo>
                <a:lnTo>
                  <a:pt x="699516" y="25907"/>
                </a:lnTo>
                <a:close/>
              </a:path>
              <a:path w="1008379" h="78104">
                <a:moveTo>
                  <a:pt x="803148" y="25907"/>
                </a:moveTo>
                <a:lnTo>
                  <a:pt x="725424" y="25907"/>
                </a:lnTo>
                <a:lnTo>
                  <a:pt x="725424" y="51815"/>
                </a:lnTo>
                <a:lnTo>
                  <a:pt x="803148" y="51815"/>
                </a:lnTo>
                <a:lnTo>
                  <a:pt x="803148" y="25907"/>
                </a:lnTo>
                <a:close/>
              </a:path>
              <a:path w="1008379" h="78104">
                <a:moveTo>
                  <a:pt x="906780" y="25907"/>
                </a:moveTo>
                <a:lnTo>
                  <a:pt x="829056" y="25907"/>
                </a:lnTo>
                <a:lnTo>
                  <a:pt x="829056" y="51815"/>
                </a:lnTo>
                <a:lnTo>
                  <a:pt x="906780" y="51815"/>
                </a:lnTo>
                <a:lnTo>
                  <a:pt x="906780" y="25907"/>
                </a:lnTo>
                <a:close/>
              </a:path>
              <a:path w="1008379" h="78104">
                <a:moveTo>
                  <a:pt x="930402" y="0"/>
                </a:moveTo>
                <a:lnTo>
                  <a:pt x="930402" y="77724"/>
                </a:lnTo>
                <a:lnTo>
                  <a:pt x="982218" y="51815"/>
                </a:lnTo>
                <a:lnTo>
                  <a:pt x="932688" y="51815"/>
                </a:lnTo>
                <a:lnTo>
                  <a:pt x="932688" y="25907"/>
                </a:lnTo>
                <a:lnTo>
                  <a:pt x="982217" y="25907"/>
                </a:lnTo>
                <a:lnTo>
                  <a:pt x="930402" y="0"/>
                </a:lnTo>
                <a:close/>
              </a:path>
              <a:path w="1008379" h="78104">
                <a:moveTo>
                  <a:pt x="943356" y="25907"/>
                </a:moveTo>
                <a:lnTo>
                  <a:pt x="932688" y="25907"/>
                </a:lnTo>
                <a:lnTo>
                  <a:pt x="932688" y="51815"/>
                </a:lnTo>
                <a:lnTo>
                  <a:pt x="943356" y="51815"/>
                </a:lnTo>
                <a:lnTo>
                  <a:pt x="943356" y="25907"/>
                </a:lnTo>
                <a:close/>
              </a:path>
              <a:path w="1008379" h="78104">
                <a:moveTo>
                  <a:pt x="982217" y="25907"/>
                </a:moveTo>
                <a:lnTo>
                  <a:pt x="943356" y="25907"/>
                </a:lnTo>
                <a:lnTo>
                  <a:pt x="943356" y="51815"/>
                </a:lnTo>
                <a:lnTo>
                  <a:pt x="982218" y="51815"/>
                </a:lnTo>
                <a:lnTo>
                  <a:pt x="1008126" y="38862"/>
                </a:lnTo>
                <a:lnTo>
                  <a:pt x="982217" y="25907"/>
                </a:lnTo>
                <a:close/>
              </a:path>
            </a:pathLst>
          </a:custGeom>
          <a:solidFill>
            <a:srgbClr val="FF0000"/>
          </a:solidFill>
        </p:spPr>
        <p:txBody>
          <a:bodyPr wrap="square" lIns="0" tIns="0" rIns="0" bIns="0" rtlCol="0"/>
          <a:lstStyle/>
          <a:p>
            <a:endParaRPr/>
          </a:p>
        </p:txBody>
      </p:sp>
      <p:sp>
        <p:nvSpPr>
          <p:cNvPr id="9" name="object 9"/>
          <p:cNvSpPr txBox="1"/>
          <p:nvPr/>
        </p:nvSpPr>
        <p:spPr>
          <a:xfrm>
            <a:off x="6337553" y="4431029"/>
            <a:ext cx="515620" cy="504825"/>
          </a:xfrm>
          <a:prstGeom prst="rect">
            <a:avLst/>
          </a:prstGeom>
          <a:ln w="25907">
            <a:solidFill>
              <a:srgbClr val="385D89"/>
            </a:solidFill>
          </a:ln>
        </p:spPr>
        <p:txBody>
          <a:bodyPr vert="horz" wrap="square" lIns="0" tIns="53975" rIns="0" bIns="0" rtlCol="0">
            <a:spAutoFit/>
          </a:bodyPr>
          <a:lstStyle/>
          <a:p>
            <a:pPr marL="91440">
              <a:lnSpc>
                <a:spcPct val="100000"/>
              </a:lnSpc>
              <a:spcBef>
                <a:spcPts val="425"/>
              </a:spcBef>
            </a:pPr>
            <a:r>
              <a:rPr sz="1800" b="1" dirty="0">
                <a:latin typeface="Calibri"/>
                <a:cs typeface="Calibri"/>
              </a:rPr>
              <a:t>abc</a:t>
            </a:r>
            <a:endParaRPr sz="1800">
              <a:latin typeface="Calibri"/>
              <a:cs typeface="Calibri"/>
            </a:endParaRPr>
          </a:p>
        </p:txBody>
      </p:sp>
      <p:sp>
        <p:nvSpPr>
          <p:cNvPr id="10" name="object 10"/>
          <p:cNvSpPr txBox="1"/>
          <p:nvPr/>
        </p:nvSpPr>
        <p:spPr>
          <a:xfrm>
            <a:off x="6272021" y="4042409"/>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Calibri"/>
                <a:cs typeface="Calibri"/>
              </a:rPr>
              <a:t>:String</a:t>
            </a:r>
            <a:endParaRPr sz="1800">
              <a:latin typeface="Calibri"/>
              <a:cs typeface="Calibri"/>
            </a:endParaRPr>
          </a:p>
        </p:txBody>
      </p:sp>
      <p:sp>
        <p:nvSpPr>
          <p:cNvPr id="11" name="object 11"/>
          <p:cNvSpPr/>
          <p:nvPr/>
        </p:nvSpPr>
        <p:spPr>
          <a:xfrm>
            <a:off x="3515105" y="3319271"/>
            <a:ext cx="1008380" cy="78105"/>
          </a:xfrm>
          <a:custGeom>
            <a:avLst/>
            <a:gdLst/>
            <a:ahLst/>
            <a:cxnLst/>
            <a:rect l="l" t="t" r="r" b="b"/>
            <a:pathLst>
              <a:path w="1008379" h="78104">
                <a:moveTo>
                  <a:pt x="77724" y="25907"/>
                </a:moveTo>
                <a:lnTo>
                  <a:pt x="0" y="25907"/>
                </a:lnTo>
                <a:lnTo>
                  <a:pt x="0" y="51815"/>
                </a:lnTo>
                <a:lnTo>
                  <a:pt x="77724" y="51815"/>
                </a:lnTo>
                <a:lnTo>
                  <a:pt x="77724" y="25907"/>
                </a:lnTo>
                <a:close/>
              </a:path>
              <a:path w="1008379" h="78104">
                <a:moveTo>
                  <a:pt x="181356" y="25907"/>
                </a:moveTo>
                <a:lnTo>
                  <a:pt x="103632" y="25907"/>
                </a:lnTo>
                <a:lnTo>
                  <a:pt x="103632" y="51815"/>
                </a:lnTo>
                <a:lnTo>
                  <a:pt x="181356" y="51815"/>
                </a:lnTo>
                <a:lnTo>
                  <a:pt x="181356" y="25907"/>
                </a:lnTo>
                <a:close/>
              </a:path>
              <a:path w="1008379" h="78104">
                <a:moveTo>
                  <a:pt x="284988" y="25907"/>
                </a:moveTo>
                <a:lnTo>
                  <a:pt x="207264" y="25907"/>
                </a:lnTo>
                <a:lnTo>
                  <a:pt x="207264" y="51815"/>
                </a:lnTo>
                <a:lnTo>
                  <a:pt x="284988" y="51815"/>
                </a:lnTo>
                <a:lnTo>
                  <a:pt x="284988" y="25907"/>
                </a:lnTo>
                <a:close/>
              </a:path>
              <a:path w="1008379" h="78104">
                <a:moveTo>
                  <a:pt x="388620" y="25907"/>
                </a:moveTo>
                <a:lnTo>
                  <a:pt x="310896" y="25907"/>
                </a:lnTo>
                <a:lnTo>
                  <a:pt x="310896" y="51815"/>
                </a:lnTo>
                <a:lnTo>
                  <a:pt x="388620" y="51815"/>
                </a:lnTo>
                <a:lnTo>
                  <a:pt x="388620" y="25907"/>
                </a:lnTo>
                <a:close/>
              </a:path>
              <a:path w="1008379" h="78104">
                <a:moveTo>
                  <a:pt x="492252" y="25907"/>
                </a:moveTo>
                <a:lnTo>
                  <a:pt x="414528" y="25907"/>
                </a:lnTo>
                <a:lnTo>
                  <a:pt x="414528" y="51815"/>
                </a:lnTo>
                <a:lnTo>
                  <a:pt x="492252" y="51815"/>
                </a:lnTo>
                <a:lnTo>
                  <a:pt x="492252" y="25907"/>
                </a:lnTo>
                <a:close/>
              </a:path>
              <a:path w="1008379" h="78104">
                <a:moveTo>
                  <a:pt x="595884" y="25907"/>
                </a:moveTo>
                <a:lnTo>
                  <a:pt x="518160" y="25907"/>
                </a:lnTo>
                <a:lnTo>
                  <a:pt x="518160" y="51815"/>
                </a:lnTo>
                <a:lnTo>
                  <a:pt x="595884" y="51815"/>
                </a:lnTo>
                <a:lnTo>
                  <a:pt x="595884" y="25907"/>
                </a:lnTo>
                <a:close/>
              </a:path>
              <a:path w="1008379" h="78104">
                <a:moveTo>
                  <a:pt x="699516" y="25907"/>
                </a:moveTo>
                <a:lnTo>
                  <a:pt x="621792" y="25907"/>
                </a:lnTo>
                <a:lnTo>
                  <a:pt x="621792" y="51815"/>
                </a:lnTo>
                <a:lnTo>
                  <a:pt x="699516" y="51815"/>
                </a:lnTo>
                <a:lnTo>
                  <a:pt x="699516" y="25907"/>
                </a:lnTo>
                <a:close/>
              </a:path>
              <a:path w="1008379" h="78104">
                <a:moveTo>
                  <a:pt x="803148" y="25907"/>
                </a:moveTo>
                <a:lnTo>
                  <a:pt x="725424" y="25907"/>
                </a:lnTo>
                <a:lnTo>
                  <a:pt x="725424" y="51815"/>
                </a:lnTo>
                <a:lnTo>
                  <a:pt x="803148" y="51815"/>
                </a:lnTo>
                <a:lnTo>
                  <a:pt x="803148" y="25907"/>
                </a:lnTo>
                <a:close/>
              </a:path>
              <a:path w="1008379" h="78104">
                <a:moveTo>
                  <a:pt x="906780" y="25907"/>
                </a:moveTo>
                <a:lnTo>
                  <a:pt x="829056" y="25907"/>
                </a:lnTo>
                <a:lnTo>
                  <a:pt x="829056" y="51815"/>
                </a:lnTo>
                <a:lnTo>
                  <a:pt x="906780" y="51815"/>
                </a:lnTo>
                <a:lnTo>
                  <a:pt x="906780" y="25907"/>
                </a:lnTo>
                <a:close/>
              </a:path>
              <a:path w="1008379" h="78104">
                <a:moveTo>
                  <a:pt x="930402" y="0"/>
                </a:moveTo>
                <a:lnTo>
                  <a:pt x="930402" y="77724"/>
                </a:lnTo>
                <a:lnTo>
                  <a:pt x="982218" y="51815"/>
                </a:lnTo>
                <a:lnTo>
                  <a:pt x="932688" y="51815"/>
                </a:lnTo>
                <a:lnTo>
                  <a:pt x="932688" y="25907"/>
                </a:lnTo>
                <a:lnTo>
                  <a:pt x="982217" y="25907"/>
                </a:lnTo>
                <a:lnTo>
                  <a:pt x="930402" y="0"/>
                </a:lnTo>
                <a:close/>
              </a:path>
              <a:path w="1008379" h="78104">
                <a:moveTo>
                  <a:pt x="943356" y="25907"/>
                </a:moveTo>
                <a:lnTo>
                  <a:pt x="932688" y="25907"/>
                </a:lnTo>
                <a:lnTo>
                  <a:pt x="932688" y="51815"/>
                </a:lnTo>
                <a:lnTo>
                  <a:pt x="943356" y="51815"/>
                </a:lnTo>
                <a:lnTo>
                  <a:pt x="943356" y="25907"/>
                </a:lnTo>
                <a:close/>
              </a:path>
              <a:path w="1008379" h="78104">
                <a:moveTo>
                  <a:pt x="982217" y="25907"/>
                </a:moveTo>
                <a:lnTo>
                  <a:pt x="943356" y="25907"/>
                </a:lnTo>
                <a:lnTo>
                  <a:pt x="943356" y="51815"/>
                </a:lnTo>
                <a:lnTo>
                  <a:pt x="982218" y="51815"/>
                </a:lnTo>
                <a:lnTo>
                  <a:pt x="1008126" y="38862"/>
                </a:lnTo>
                <a:lnTo>
                  <a:pt x="982217" y="25907"/>
                </a:lnTo>
                <a:close/>
              </a:path>
            </a:pathLst>
          </a:custGeom>
          <a:solidFill>
            <a:srgbClr val="FF0000"/>
          </a:solidFill>
        </p:spPr>
        <p:txBody>
          <a:bodyPr wrap="square" lIns="0" tIns="0" rIns="0" bIns="0" rtlCol="0"/>
          <a:lstStyle/>
          <a:p>
            <a:endParaRPr/>
          </a:p>
        </p:txBody>
      </p:sp>
      <p:sp>
        <p:nvSpPr>
          <p:cNvPr id="12" name="object 12"/>
          <p:cNvSpPr/>
          <p:nvPr/>
        </p:nvSpPr>
        <p:spPr>
          <a:xfrm>
            <a:off x="4474464" y="3376421"/>
            <a:ext cx="78105" cy="1781810"/>
          </a:xfrm>
          <a:custGeom>
            <a:avLst/>
            <a:gdLst/>
            <a:ahLst/>
            <a:cxnLst/>
            <a:rect l="l" t="t" r="r" b="b"/>
            <a:pathLst>
              <a:path w="78104" h="1781810">
                <a:moveTo>
                  <a:pt x="51815" y="0"/>
                </a:moveTo>
                <a:lnTo>
                  <a:pt x="25908" y="0"/>
                </a:lnTo>
                <a:lnTo>
                  <a:pt x="25908" y="77724"/>
                </a:lnTo>
                <a:lnTo>
                  <a:pt x="51815" y="77724"/>
                </a:lnTo>
                <a:lnTo>
                  <a:pt x="51815" y="0"/>
                </a:lnTo>
                <a:close/>
              </a:path>
              <a:path w="78104" h="1781810">
                <a:moveTo>
                  <a:pt x="51815" y="103631"/>
                </a:moveTo>
                <a:lnTo>
                  <a:pt x="25908" y="103631"/>
                </a:lnTo>
                <a:lnTo>
                  <a:pt x="25908" y="181355"/>
                </a:lnTo>
                <a:lnTo>
                  <a:pt x="51815" y="181355"/>
                </a:lnTo>
                <a:lnTo>
                  <a:pt x="51815" y="103631"/>
                </a:lnTo>
                <a:close/>
              </a:path>
              <a:path w="78104" h="1781810">
                <a:moveTo>
                  <a:pt x="51815" y="207263"/>
                </a:moveTo>
                <a:lnTo>
                  <a:pt x="25908" y="207263"/>
                </a:lnTo>
                <a:lnTo>
                  <a:pt x="25908" y="284988"/>
                </a:lnTo>
                <a:lnTo>
                  <a:pt x="51815" y="284988"/>
                </a:lnTo>
                <a:lnTo>
                  <a:pt x="51815" y="207263"/>
                </a:lnTo>
                <a:close/>
              </a:path>
              <a:path w="78104" h="1781810">
                <a:moveTo>
                  <a:pt x="51815" y="310895"/>
                </a:moveTo>
                <a:lnTo>
                  <a:pt x="25908" y="310895"/>
                </a:lnTo>
                <a:lnTo>
                  <a:pt x="25908" y="388619"/>
                </a:lnTo>
                <a:lnTo>
                  <a:pt x="51815" y="388619"/>
                </a:lnTo>
                <a:lnTo>
                  <a:pt x="51815" y="310895"/>
                </a:lnTo>
                <a:close/>
              </a:path>
              <a:path w="78104" h="1781810">
                <a:moveTo>
                  <a:pt x="51815" y="414527"/>
                </a:moveTo>
                <a:lnTo>
                  <a:pt x="25908" y="414527"/>
                </a:lnTo>
                <a:lnTo>
                  <a:pt x="25908" y="492251"/>
                </a:lnTo>
                <a:lnTo>
                  <a:pt x="51815" y="492251"/>
                </a:lnTo>
                <a:lnTo>
                  <a:pt x="51815" y="414527"/>
                </a:lnTo>
                <a:close/>
              </a:path>
              <a:path w="78104" h="1781810">
                <a:moveTo>
                  <a:pt x="51815" y="518159"/>
                </a:moveTo>
                <a:lnTo>
                  <a:pt x="25908" y="518159"/>
                </a:lnTo>
                <a:lnTo>
                  <a:pt x="25908" y="595883"/>
                </a:lnTo>
                <a:lnTo>
                  <a:pt x="51815" y="595883"/>
                </a:lnTo>
                <a:lnTo>
                  <a:pt x="51815" y="518159"/>
                </a:lnTo>
                <a:close/>
              </a:path>
              <a:path w="78104" h="1781810">
                <a:moveTo>
                  <a:pt x="51815" y="621791"/>
                </a:moveTo>
                <a:lnTo>
                  <a:pt x="25908" y="621791"/>
                </a:lnTo>
                <a:lnTo>
                  <a:pt x="25908" y="699515"/>
                </a:lnTo>
                <a:lnTo>
                  <a:pt x="51815" y="699515"/>
                </a:lnTo>
                <a:lnTo>
                  <a:pt x="51815" y="621791"/>
                </a:lnTo>
                <a:close/>
              </a:path>
              <a:path w="78104" h="1781810">
                <a:moveTo>
                  <a:pt x="51815" y="725423"/>
                </a:moveTo>
                <a:lnTo>
                  <a:pt x="25908" y="725423"/>
                </a:lnTo>
                <a:lnTo>
                  <a:pt x="25908" y="803147"/>
                </a:lnTo>
                <a:lnTo>
                  <a:pt x="51815" y="803147"/>
                </a:lnTo>
                <a:lnTo>
                  <a:pt x="51815" y="725423"/>
                </a:lnTo>
                <a:close/>
              </a:path>
              <a:path w="78104" h="1781810">
                <a:moveTo>
                  <a:pt x="51815" y="829055"/>
                </a:moveTo>
                <a:lnTo>
                  <a:pt x="25908" y="829055"/>
                </a:lnTo>
                <a:lnTo>
                  <a:pt x="25908" y="906779"/>
                </a:lnTo>
                <a:lnTo>
                  <a:pt x="51815" y="906779"/>
                </a:lnTo>
                <a:lnTo>
                  <a:pt x="51815" y="829055"/>
                </a:lnTo>
                <a:close/>
              </a:path>
              <a:path w="78104" h="1781810">
                <a:moveTo>
                  <a:pt x="51815" y="932688"/>
                </a:moveTo>
                <a:lnTo>
                  <a:pt x="25908" y="932688"/>
                </a:lnTo>
                <a:lnTo>
                  <a:pt x="25908" y="1010411"/>
                </a:lnTo>
                <a:lnTo>
                  <a:pt x="51815" y="1010411"/>
                </a:lnTo>
                <a:lnTo>
                  <a:pt x="51815" y="932688"/>
                </a:lnTo>
                <a:close/>
              </a:path>
              <a:path w="78104" h="1781810">
                <a:moveTo>
                  <a:pt x="51815" y="1036319"/>
                </a:moveTo>
                <a:lnTo>
                  <a:pt x="25908" y="1036319"/>
                </a:lnTo>
                <a:lnTo>
                  <a:pt x="25908" y="1114044"/>
                </a:lnTo>
                <a:lnTo>
                  <a:pt x="51815" y="1114044"/>
                </a:lnTo>
                <a:lnTo>
                  <a:pt x="51815" y="1036319"/>
                </a:lnTo>
                <a:close/>
              </a:path>
              <a:path w="78104" h="1781810">
                <a:moveTo>
                  <a:pt x="51815" y="1139952"/>
                </a:moveTo>
                <a:lnTo>
                  <a:pt x="25908" y="1139952"/>
                </a:lnTo>
                <a:lnTo>
                  <a:pt x="25908" y="1217676"/>
                </a:lnTo>
                <a:lnTo>
                  <a:pt x="51815" y="1217676"/>
                </a:lnTo>
                <a:lnTo>
                  <a:pt x="51815" y="1139952"/>
                </a:lnTo>
                <a:close/>
              </a:path>
              <a:path w="78104" h="1781810">
                <a:moveTo>
                  <a:pt x="51815" y="1243583"/>
                </a:moveTo>
                <a:lnTo>
                  <a:pt x="25908" y="1243583"/>
                </a:lnTo>
                <a:lnTo>
                  <a:pt x="25908" y="1321308"/>
                </a:lnTo>
                <a:lnTo>
                  <a:pt x="51815" y="1321308"/>
                </a:lnTo>
                <a:lnTo>
                  <a:pt x="51815" y="1243583"/>
                </a:lnTo>
                <a:close/>
              </a:path>
              <a:path w="78104" h="1781810">
                <a:moveTo>
                  <a:pt x="51815" y="1347215"/>
                </a:moveTo>
                <a:lnTo>
                  <a:pt x="25908" y="1347215"/>
                </a:lnTo>
                <a:lnTo>
                  <a:pt x="25908" y="1424939"/>
                </a:lnTo>
                <a:lnTo>
                  <a:pt x="51815" y="1424939"/>
                </a:lnTo>
                <a:lnTo>
                  <a:pt x="51815" y="1347215"/>
                </a:lnTo>
                <a:close/>
              </a:path>
              <a:path w="78104" h="1781810">
                <a:moveTo>
                  <a:pt x="51815" y="1450847"/>
                </a:moveTo>
                <a:lnTo>
                  <a:pt x="25908" y="1450847"/>
                </a:lnTo>
                <a:lnTo>
                  <a:pt x="25908" y="1528571"/>
                </a:lnTo>
                <a:lnTo>
                  <a:pt x="51815" y="1528571"/>
                </a:lnTo>
                <a:lnTo>
                  <a:pt x="51815" y="1450847"/>
                </a:lnTo>
                <a:close/>
              </a:path>
              <a:path w="78104" h="1781810">
                <a:moveTo>
                  <a:pt x="51815" y="1554479"/>
                </a:moveTo>
                <a:lnTo>
                  <a:pt x="25908" y="1554479"/>
                </a:lnTo>
                <a:lnTo>
                  <a:pt x="25908" y="1632203"/>
                </a:lnTo>
                <a:lnTo>
                  <a:pt x="51815" y="1632203"/>
                </a:lnTo>
                <a:lnTo>
                  <a:pt x="51815" y="1554479"/>
                </a:lnTo>
                <a:close/>
              </a:path>
              <a:path w="78104" h="1781810">
                <a:moveTo>
                  <a:pt x="25908" y="1703832"/>
                </a:moveTo>
                <a:lnTo>
                  <a:pt x="0" y="1703832"/>
                </a:lnTo>
                <a:lnTo>
                  <a:pt x="38862" y="1781555"/>
                </a:lnTo>
                <a:lnTo>
                  <a:pt x="71247" y="1716785"/>
                </a:lnTo>
                <a:lnTo>
                  <a:pt x="25908" y="1716785"/>
                </a:lnTo>
                <a:lnTo>
                  <a:pt x="25908" y="1703832"/>
                </a:lnTo>
                <a:close/>
              </a:path>
              <a:path w="78104" h="1781810">
                <a:moveTo>
                  <a:pt x="51815" y="1658111"/>
                </a:moveTo>
                <a:lnTo>
                  <a:pt x="25908" y="1658111"/>
                </a:lnTo>
                <a:lnTo>
                  <a:pt x="25908" y="1716785"/>
                </a:lnTo>
                <a:lnTo>
                  <a:pt x="51815" y="1716785"/>
                </a:lnTo>
                <a:lnTo>
                  <a:pt x="51815" y="1658111"/>
                </a:lnTo>
                <a:close/>
              </a:path>
              <a:path w="78104" h="1781810">
                <a:moveTo>
                  <a:pt x="77724" y="1703832"/>
                </a:moveTo>
                <a:lnTo>
                  <a:pt x="51815" y="1703832"/>
                </a:lnTo>
                <a:lnTo>
                  <a:pt x="51815" y="1716785"/>
                </a:lnTo>
                <a:lnTo>
                  <a:pt x="71247" y="1716785"/>
                </a:lnTo>
                <a:lnTo>
                  <a:pt x="77724" y="1703832"/>
                </a:lnTo>
                <a:close/>
              </a:path>
            </a:pathLst>
          </a:custGeom>
          <a:solidFill>
            <a:srgbClr val="FF0000"/>
          </a:solidFill>
        </p:spPr>
        <p:txBody>
          <a:bodyPr wrap="square" lIns="0" tIns="0" rIns="0" bIns="0" rtlCol="0"/>
          <a:lstStyle/>
          <a:p>
            <a:endParaRPr/>
          </a:p>
        </p:txBody>
      </p:sp>
      <p:sp>
        <p:nvSpPr>
          <p:cNvPr id="13" name="object 13"/>
          <p:cNvSpPr txBox="1"/>
          <p:nvPr/>
        </p:nvSpPr>
        <p:spPr>
          <a:xfrm>
            <a:off x="5007355" y="4926838"/>
            <a:ext cx="2330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s2</a:t>
            </a:r>
            <a:endParaRPr sz="1800">
              <a:latin typeface="Calibri"/>
              <a:cs typeface="Calibri"/>
            </a:endParaRPr>
          </a:p>
        </p:txBody>
      </p:sp>
      <p:sp>
        <p:nvSpPr>
          <p:cNvPr id="14" name="object 14"/>
          <p:cNvSpPr/>
          <p:nvPr/>
        </p:nvSpPr>
        <p:spPr>
          <a:xfrm>
            <a:off x="5285359" y="4785995"/>
            <a:ext cx="1053465" cy="336550"/>
          </a:xfrm>
          <a:custGeom>
            <a:avLst/>
            <a:gdLst/>
            <a:ahLst/>
            <a:cxnLst/>
            <a:rect l="l" t="t" r="r" b="b"/>
            <a:pathLst>
              <a:path w="1053464" h="336550">
                <a:moveTo>
                  <a:pt x="74549" y="289305"/>
                </a:moveTo>
                <a:lnTo>
                  <a:pt x="0" y="311276"/>
                </a:lnTo>
                <a:lnTo>
                  <a:pt x="7365" y="336168"/>
                </a:lnTo>
                <a:lnTo>
                  <a:pt x="81914" y="314197"/>
                </a:lnTo>
                <a:lnTo>
                  <a:pt x="74549" y="289305"/>
                </a:lnTo>
                <a:close/>
              </a:path>
              <a:path w="1053464" h="336550">
                <a:moveTo>
                  <a:pt x="173989" y="260095"/>
                </a:moveTo>
                <a:lnTo>
                  <a:pt x="99440" y="282066"/>
                </a:lnTo>
                <a:lnTo>
                  <a:pt x="106806" y="306958"/>
                </a:lnTo>
                <a:lnTo>
                  <a:pt x="181355" y="284987"/>
                </a:lnTo>
                <a:lnTo>
                  <a:pt x="173989" y="260095"/>
                </a:lnTo>
                <a:close/>
              </a:path>
              <a:path w="1053464" h="336550">
                <a:moveTo>
                  <a:pt x="273430" y="230885"/>
                </a:moveTo>
                <a:lnTo>
                  <a:pt x="198881" y="252856"/>
                </a:lnTo>
                <a:lnTo>
                  <a:pt x="206248" y="277748"/>
                </a:lnTo>
                <a:lnTo>
                  <a:pt x="280796" y="255777"/>
                </a:lnTo>
                <a:lnTo>
                  <a:pt x="273430" y="230885"/>
                </a:lnTo>
                <a:close/>
              </a:path>
              <a:path w="1053464" h="336550">
                <a:moveTo>
                  <a:pt x="372871" y="201675"/>
                </a:moveTo>
                <a:lnTo>
                  <a:pt x="298323" y="223646"/>
                </a:lnTo>
                <a:lnTo>
                  <a:pt x="305562" y="248538"/>
                </a:lnTo>
                <a:lnTo>
                  <a:pt x="380238" y="226567"/>
                </a:lnTo>
                <a:lnTo>
                  <a:pt x="372871" y="201675"/>
                </a:lnTo>
                <a:close/>
              </a:path>
              <a:path w="1053464" h="336550">
                <a:moveTo>
                  <a:pt x="472313" y="172465"/>
                </a:moveTo>
                <a:lnTo>
                  <a:pt x="397763" y="194436"/>
                </a:lnTo>
                <a:lnTo>
                  <a:pt x="405002" y="219328"/>
                </a:lnTo>
                <a:lnTo>
                  <a:pt x="479678" y="197357"/>
                </a:lnTo>
                <a:lnTo>
                  <a:pt x="472313" y="172465"/>
                </a:lnTo>
                <a:close/>
              </a:path>
              <a:path w="1053464" h="336550">
                <a:moveTo>
                  <a:pt x="571753" y="143255"/>
                </a:moveTo>
                <a:lnTo>
                  <a:pt x="497204" y="165226"/>
                </a:lnTo>
                <a:lnTo>
                  <a:pt x="504443" y="190118"/>
                </a:lnTo>
                <a:lnTo>
                  <a:pt x="578992" y="168147"/>
                </a:lnTo>
                <a:lnTo>
                  <a:pt x="571753" y="143255"/>
                </a:lnTo>
                <a:close/>
              </a:path>
              <a:path w="1053464" h="336550">
                <a:moveTo>
                  <a:pt x="671194" y="114045"/>
                </a:moveTo>
                <a:lnTo>
                  <a:pt x="596645" y="136016"/>
                </a:lnTo>
                <a:lnTo>
                  <a:pt x="603885" y="160908"/>
                </a:lnTo>
                <a:lnTo>
                  <a:pt x="678433" y="138937"/>
                </a:lnTo>
                <a:lnTo>
                  <a:pt x="671194" y="114045"/>
                </a:lnTo>
                <a:close/>
              </a:path>
              <a:path w="1053464" h="336550">
                <a:moveTo>
                  <a:pt x="770636" y="84835"/>
                </a:moveTo>
                <a:lnTo>
                  <a:pt x="696087" y="106806"/>
                </a:lnTo>
                <a:lnTo>
                  <a:pt x="703326" y="131571"/>
                </a:lnTo>
                <a:lnTo>
                  <a:pt x="777875" y="109727"/>
                </a:lnTo>
                <a:lnTo>
                  <a:pt x="770636" y="84835"/>
                </a:lnTo>
                <a:close/>
              </a:path>
              <a:path w="1053464" h="336550">
                <a:moveTo>
                  <a:pt x="870076" y="55625"/>
                </a:moveTo>
                <a:lnTo>
                  <a:pt x="795401" y="77596"/>
                </a:lnTo>
                <a:lnTo>
                  <a:pt x="802766" y="102361"/>
                </a:lnTo>
                <a:lnTo>
                  <a:pt x="877315" y="80517"/>
                </a:lnTo>
                <a:lnTo>
                  <a:pt x="870076" y="55625"/>
                </a:lnTo>
                <a:close/>
              </a:path>
              <a:path w="1053464" h="336550">
                <a:moveTo>
                  <a:pt x="967613" y="0"/>
                </a:moveTo>
                <a:lnTo>
                  <a:pt x="989456" y="74548"/>
                </a:lnTo>
                <a:lnTo>
                  <a:pt x="1053083" y="15366"/>
                </a:lnTo>
                <a:lnTo>
                  <a:pt x="967613" y="0"/>
                </a:lnTo>
                <a:close/>
              </a:path>
              <a:path w="1053464" h="336550">
                <a:moveTo>
                  <a:pt x="969517" y="26415"/>
                </a:moveTo>
                <a:lnTo>
                  <a:pt x="894841" y="48386"/>
                </a:lnTo>
                <a:lnTo>
                  <a:pt x="902207" y="73151"/>
                </a:lnTo>
                <a:lnTo>
                  <a:pt x="976756" y="51307"/>
                </a:lnTo>
                <a:lnTo>
                  <a:pt x="969517" y="26415"/>
                </a:lnTo>
                <a:close/>
              </a:path>
            </a:pathLst>
          </a:custGeom>
          <a:solidFill>
            <a:srgbClr val="FF0000"/>
          </a:solidFill>
        </p:spPr>
        <p:txBody>
          <a:bodyPr wrap="square" lIns="0" tIns="0" rIns="0" bIns="0" rtlCol="0"/>
          <a:lstStyle/>
          <a:p>
            <a:endParaRPr/>
          </a:p>
        </p:txBody>
      </p:sp>
      <p:sp>
        <p:nvSpPr>
          <p:cNvPr id="15" name="object 15"/>
          <p:cNvSpPr/>
          <p:nvPr/>
        </p:nvSpPr>
        <p:spPr>
          <a:xfrm>
            <a:off x="4522470" y="5119115"/>
            <a:ext cx="405765" cy="78105"/>
          </a:xfrm>
          <a:custGeom>
            <a:avLst/>
            <a:gdLst/>
            <a:ahLst/>
            <a:cxnLst/>
            <a:rect l="l" t="t" r="r" b="b"/>
            <a:pathLst>
              <a:path w="405764" h="78104">
                <a:moveTo>
                  <a:pt x="77724" y="25907"/>
                </a:moveTo>
                <a:lnTo>
                  <a:pt x="0" y="25907"/>
                </a:lnTo>
                <a:lnTo>
                  <a:pt x="0" y="51815"/>
                </a:lnTo>
                <a:lnTo>
                  <a:pt x="77724" y="51815"/>
                </a:lnTo>
                <a:lnTo>
                  <a:pt x="77724" y="25907"/>
                </a:lnTo>
                <a:close/>
              </a:path>
              <a:path w="405764" h="78104">
                <a:moveTo>
                  <a:pt x="181355" y="25907"/>
                </a:moveTo>
                <a:lnTo>
                  <a:pt x="103631" y="25907"/>
                </a:lnTo>
                <a:lnTo>
                  <a:pt x="103631" y="51815"/>
                </a:lnTo>
                <a:lnTo>
                  <a:pt x="181355" y="51815"/>
                </a:lnTo>
                <a:lnTo>
                  <a:pt x="181355" y="25907"/>
                </a:lnTo>
                <a:close/>
              </a:path>
              <a:path w="405764" h="78104">
                <a:moveTo>
                  <a:pt x="284988" y="25907"/>
                </a:moveTo>
                <a:lnTo>
                  <a:pt x="207263" y="25907"/>
                </a:lnTo>
                <a:lnTo>
                  <a:pt x="207263" y="51815"/>
                </a:lnTo>
                <a:lnTo>
                  <a:pt x="284988" y="51815"/>
                </a:lnTo>
                <a:lnTo>
                  <a:pt x="284988" y="25907"/>
                </a:lnTo>
                <a:close/>
              </a:path>
              <a:path w="405764" h="78104">
                <a:moveTo>
                  <a:pt x="327913" y="0"/>
                </a:moveTo>
                <a:lnTo>
                  <a:pt x="327913" y="77723"/>
                </a:lnTo>
                <a:lnTo>
                  <a:pt x="379729" y="51815"/>
                </a:lnTo>
                <a:lnTo>
                  <a:pt x="340867" y="51815"/>
                </a:lnTo>
                <a:lnTo>
                  <a:pt x="340867" y="25907"/>
                </a:lnTo>
                <a:lnTo>
                  <a:pt x="379730" y="25907"/>
                </a:lnTo>
                <a:lnTo>
                  <a:pt x="327913" y="0"/>
                </a:lnTo>
                <a:close/>
              </a:path>
              <a:path w="405764" h="78104">
                <a:moveTo>
                  <a:pt x="327913" y="25907"/>
                </a:moveTo>
                <a:lnTo>
                  <a:pt x="310895" y="25907"/>
                </a:lnTo>
                <a:lnTo>
                  <a:pt x="310895" y="51815"/>
                </a:lnTo>
                <a:lnTo>
                  <a:pt x="327913" y="51815"/>
                </a:lnTo>
                <a:lnTo>
                  <a:pt x="327913" y="25907"/>
                </a:lnTo>
                <a:close/>
              </a:path>
              <a:path w="405764" h="78104">
                <a:moveTo>
                  <a:pt x="379730" y="25907"/>
                </a:moveTo>
                <a:lnTo>
                  <a:pt x="340867" y="25907"/>
                </a:lnTo>
                <a:lnTo>
                  <a:pt x="340867" y="51815"/>
                </a:lnTo>
                <a:lnTo>
                  <a:pt x="379729" y="51815"/>
                </a:lnTo>
                <a:lnTo>
                  <a:pt x="405638" y="38861"/>
                </a:lnTo>
                <a:lnTo>
                  <a:pt x="379730" y="25907"/>
                </a:lnTo>
                <a:close/>
              </a:path>
            </a:pathLst>
          </a:custGeom>
          <a:solidFill>
            <a:srgbClr val="FF0000"/>
          </a:solidFill>
        </p:spPr>
        <p:txBody>
          <a:bodyPr wrap="square" lIns="0" tIns="0" rIns="0" bIns="0" rtlCol="0"/>
          <a:lstStyle/>
          <a:p>
            <a:endParaRPr/>
          </a:p>
        </p:txBody>
      </p:sp>
      <p:sp>
        <p:nvSpPr>
          <p:cNvPr id="16" name="object 16"/>
          <p:cNvSpPr/>
          <p:nvPr/>
        </p:nvSpPr>
        <p:spPr>
          <a:xfrm>
            <a:off x="3514852" y="3823970"/>
            <a:ext cx="834390" cy="78105"/>
          </a:xfrm>
          <a:custGeom>
            <a:avLst/>
            <a:gdLst/>
            <a:ahLst/>
            <a:cxnLst/>
            <a:rect l="l" t="t" r="r" b="b"/>
            <a:pathLst>
              <a:path w="834389" h="78104">
                <a:moveTo>
                  <a:pt x="77724" y="41020"/>
                </a:moveTo>
                <a:lnTo>
                  <a:pt x="0" y="42798"/>
                </a:lnTo>
                <a:lnTo>
                  <a:pt x="508" y="68706"/>
                </a:lnTo>
                <a:lnTo>
                  <a:pt x="78232" y="66928"/>
                </a:lnTo>
                <a:lnTo>
                  <a:pt x="77724" y="41020"/>
                </a:lnTo>
                <a:close/>
              </a:path>
              <a:path w="834389" h="78104">
                <a:moveTo>
                  <a:pt x="181228" y="38734"/>
                </a:moveTo>
                <a:lnTo>
                  <a:pt x="103632" y="40385"/>
                </a:lnTo>
                <a:lnTo>
                  <a:pt x="104139" y="66293"/>
                </a:lnTo>
                <a:lnTo>
                  <a:pt x="181863" y="64642"/>
                </a:lnTo>
                <a:lnTo>
                  <a:pt x="181228" y="38734"/>
                </a:lnTo>
                <a:close/>
              </a:path>
              <a:path w="834389" h="78104">
                <a:moveTo>
                  <a:pt x="284861" y="36448"/>
                </a:moveTo>
                <a:lnTo>
                  <a:pt x="207137" y="38099"/>
                </a:lnTo>
                <a:lnTo>
                  <a:pt x="207772" y="64007"/>
                </a:lnTo>
                <a:lnTo>
                  <a:pt x="285496" y="62356"/>
                </a:lnTo>
                <a:lnTo>
                  <a:pt x="284861" y="36448"/>
                </a:lnTo>
                <a:close/>
              </a:path>
              <a:path w="834389" h="78104">
                <a:moveTo>
                  <a:pt x="388493" y="34035"/>
                </a:moveTo>
                <a:lnTo>
                  <a:pt x="310769" y="35813"/>
                </a:lnTo>
                <a:lnTo>
                  <a:pt x="311403" y="61721"/>
                </a:lnTo>
                <a:lnTo>
                  <a:pt x="389127" y="59943"/>
                </a:lnTo>
                <a:lnTo>
                  <a:pt x="388493" y="34035"/>
                </a:lnTo>
                <a:close/>
              </a:path>
              <a:path w="834389" h="78104">
                <a:moveTo>
                  <a:pt x="492125" y="31749"/>
                </a:moveTo>
                <a:lnTo>
                  <a:pt x="414400" y="33527"/>
                </a:lnTo>
                <a:lnTo>
                  <a:pt x="414909" y="59435"/>
                </a:lnTo>
                <a:lnTo>
                  <a:pt x="492633" y="57657"/>
                </a:lnTo>
                <a:lnTo>
                  <a:pt x="492125" y="31749"/>
                </a:lnTo>
                <a:close/>
              </a:path>
              <a:path w="834389" h="78104">
                <a:moveTo>
                  <a:pt x="595757" y="29463"/>
                </a:moveTo>
                <a:lnTo>
                  <a:pt x="518033" y="31241"/>
                </a:lnTo>
                <a:lnTo>
                  <a:pt x="518540" y="57149"/>
                </a:lnTo>
                <a:lnTo>
                  <a:pt x="596264" y="55371"/>
                </a:lnTo>
                <a:lnTo>
                  <a:pt x="595757" y="29463"/>
                </a:lnTo>
                <a:close/>
              </a:path>
              <a:path w="834389" h="78104">
                <a:moveTo>
                  <a:pt x="699262" y="27177"/>
                </a:moveTo>
                <a:lnTo>
                  <a:pt x="621538" y="28828"/>
                </a:lnTo>
                <a:lnTo>
                  <a:pt x="622173" y="54736"/>
                </a:lnTo>
                <a:lnTo>
                  <a:pt x="699897" y="53085"/>
                </a:lnTo>
                <a:lnTo>
                  <a:pt x="699262" y="27177"/>
                </a:lnTo>
                <a:close/>
              </a:path>
              <a:path w="834389" h="78104">
                <a:moveTo>
                  <a:pt x="809890" y="25526"/>
                </a:moveTo>
                <a:lnTo>
                  <a:pt x="769365" y="25526"/>
                </a:lnTo>
                <a:lnTo>
                  <a:pt x="769874" y="51434"/>
                </a:lnTo>
                <a:lnTo>
                  <a:pt x="756960" y="51732"/>
                </a:lnTo>
                <a:lnTo>
                  <a:pt x="757555" y="77723"/>
                </a:lnTo>
                <a:lnTo>
                  <a:pt x="834389" y="37083"/>
                </a:lnTo>
                <a:lnTo>
                  <a:pt x="809890" y="25526"/>
                </a:lnTo>
                <a:close/>
              </a:path>
              <a:path w="834389" h="78104">
                <a:moveTo>
                  <a:pt x="756367" y="25825"/>
                </a:moveTo>
                <a:lnTo>
                  <a:pt x="725170" y="26542"/>
                </a:lnTo>
                <a:lnTo>
                  <a:pt x="725805" y="52450"/>
                </a:lnTo>
                <a:lnTo>
                  <a:pt x="756960" y="51732"/>
                </a:lnTo>
                <a:lnTo>
                  <a:pt x="756367" y="25825"/>
                </a:lnTo>
                <a:close/>
              </a:path>
              <a:path w="834389" h="78104">
                <a:moveTo>
                  <a:pt x="769365" y="25526"/>
                </a:moveTo>
                <a:lnTo>
                  <a:pt x="756367" y="25825"/>
                </a:lnTo>
                <a:lnTo>
                  <a:pt x="756960" y="51732"/>
                </a:lnTo>
                <a:lnTo>
                  <a:pt x="769874" y="51434"/>
                </a:lnTo>
                <a:lnTo>
                  <a:pt x="769365" y="25526"/>
                </a:lnTo>
                <a:close/>
              </a:path>
              <a:path w="834389" h="78104">
                <a:moveTo>
                  <a:pt x="755776" y="0"/>
                </a:moveTo>
                <a:lnTo>
                  <a:pt x="756367" y="25825"/>
                </a:lnTo>
                <a:lnTo>
                  <a:pt x="769365" y="25526"/>
                </a:lnTo>
                <a:lnTo>
                  <a:pt x="809890" y="25526"/>
                </a:lnTo>
                <a:lnTo>
                  <a:pt x="755776" y="0"/>
                </a:lnTo>
                <a:close/>
              </a:path>
            </a:pathLst>
          </a:custGeom>
          <a:solidFill>
            <a:srgbClr val="FF0000"/>
          </a:solidFill>
        </p:spPr>
        <p:txBody>
          <a:bodyPr wrap="square" lIns="0" tIns="0" rIns="0" bIns="0" rtlCol="0"/>
          <a:lstStyle/>
          <a:p>
            <a:endParaRPr/>
          </a:p>
        </p:txBody>
      </p:sp>
      <p:sp>
        <p:nvSpPr>
          <p:cNvPr id="17" name="object 17"/>
          <p:cNvSpPr/>
          <p:nvPr/>
        </p:nvSpPr>
        <p:spPr>
          <a:xfrm>
            <a:off x="4299203" y="3880865"/>
            <a:ext cx="78105" cy="1781810"/>
          </a:xfrm>
          <a:custGeom>
            <a:avLst/>
            <a:gdLst/>
            <a:ahLst/>
            <a:cxnLst/>
            <a:rect l="l" t="t" r="r" b="b"/>
            <a:pathLst>
              <a:path w="78104" h="1781810">
                <a:moveTo>
                  <a:pt x="51816" y="0"/>
                </a:moveTo>
                <a:lnTo>
                  <a:pt x="25908" y="0"/>
                </a:lnTo>
                <a:lnTo>
                  <a:pt x="25908" y="77723"/>
                </a:lnTo>
                <a:lnTo>
                  <a:pt x="51816" y="77723"/>
                </a:lnTo>
                <a:lnTo>
                  <a:pt x="51816" y="0"/>
                </a:lnTo>
                <a:close/>
              </a:path>
              <a:path w="78104" h="1781810">
                <a:moveTo>
                  <a:pt x="51816" y="103631"/>
                </a:moveTo>
                <a:lnTo>
                  <a:pt x="25908" y="103631"/>
                </a:lnTo>
                <a:lnTo>
                  <a:pt x="25908" y="181355"/>
                </a:lnTo>
                <a:lnTo>
                  <a:pt x="51816" y="181355"/>
                </a:lnTo>
                <a:lnTo>
                  <a:pt x="51816" y="103631"/>
                </a:lnTo>
                <a:close/>
              </a:path>
              <a:path w="78104" h="1781810">
                <a:moveTo>
                  <a:pt x="51816" y="207263"/>
                </a:moveTo>
                <a:lnTo>
                  <a:pt x="25908" y="207263"/>
                </a:lnTo>
                <a:lnTo>
                  <a:pt x="25908" y="284987"/>
                </a:lnTo>
                <a:lnTo>
                  <a:pt x="51816" y="284987"/>
                </a:lnTo>
                <a:lnTo>
                  <a:pt x="51816" y="207263"/>
                </a:lnTo>
                <a:close/>
              </a:path>
              <a:path w="78104" h="1781810">
                <a:moveTo>
                  <a:pt x="51816" y="310895"/>
                </a:moveTo>
                <a:lnTo>
                  <a:pt x="25908" y="310895"/>
                </a:lnTo>
                <a:lnTo>
                  <a:pt x="25908" y="388619"/>
                </a:lnTo>
                <a:lnTo>
                  <a:pt x="51816" y="388619"/>
                </a:lnTo>
                <a:lnTo>
                  <a:pt x="51816" y="310895"/>
                </a:lnTo>
                <a:close/>
              </a:path>
              <a:path w="78104" h="1781810">
                <a:moveTo>
                  <a:pt x="51816" y="414527"/>
                </a:moveTo>
                <a:lnTo>
                  <a:pt x="25908" y="414527"/>
                </a:lnTo>
                <a:lnTo>
                  <a:pt x="25908" y="492251"/>
                </a:lnTo>
                <a:lnTo>
                  <a:pt x="51816" y="492251"/>
                </a:lnTo>
                <a:lnTo>
                  <a:pt x="51816" y="414527"/>
                </a:lnTo>
                <a:close/>
              </a:path>
              <a:path w="78104" h="1781810">
                <a:moveTo>
                  <a:pt x="51816" y="518159"/>
                </a:moveTo>
                <a:lnTo>
                  <a:pt x="25908" y="518159"/>
                </a:lnTo>
                <a:lnTo>
                  <a:pt x="25908" y="595883"/>
                </a:lnTo>
                <a:lnTo>
                  <a:pt x="51816" y="595883"/>
                </a:lnTo>
                <a:lnTo>
                  <a:pt x="51816" y="518159"/>
                </a:lnTo>
                <a:close/>
              </a:path>
              <a:path w="78104" h="1781810">
                <a:moveTo>
                  <a:pt x="51816" y="621791"/>
                </a:moveTo>
                <a:lnTo>
                  <a:pt x="25908" y="621791"/>
                </a:lnTo>
                <a:lnTo>
                  <a:pt x="25908" y="699515"/>
                </a:lnTo>
                <a:lnTo>
                  <a:pt x="51816" y="699515"/>
                </a:lnTo>
                <a:lnTo>
                  <a:pt x="51816" y="621791"/>
                </a:lnTo>
                <a:close/>
              </a:path>
              <a:path w="78104" h="1781810">
                <a:moveTo>
                  <a:pt x="51816" y="725423"/>
                </a:moveTo>
                <a:lnTo>
                  <a:pt x="25908" y="725423"/>
                </a:lnTo>
                <a:lnTo>
                  <a:pt x="25908" y="803147"/>
                </a:lnTo>
                <a:lnTo>
                  <a:pt x="51816" y="803147"/>
                </a:lnTo>
                <a:lnTo>
                  <a:pt x="51816" y="725423"/>
                </a:lnTo>
                <a:close/>
              </a:path>
              <a:path w="78104" h="1781810">
                <a:moveTo>
                  <a:pt x="51816" y="829055"/>
                </a:moveTo>
                <a:lnTo>
                  <a:pt x="25908" y="829055"/>
                </a:lnTo>
                <a:lnTo>
                  <a:pt x="25908" y="906779"/>
                </a:lnTo>
                <a:lnTo>
                  <a:pt x="51816" y="906779"/>
                </a:lnTo>
                <a:lnTo>
                  <a:pt x="51816" y="829055"/>
                </a:lnTo>
                <a:close/>
              </a:path>
              <a:path w="78104" h="1781810">
                <a:moveTo>
                  <a:pt x="51816" y="932687"/>
                </a:moveTo>
                <a:lnTo>
                  <a:pt x="25908" y="932687"/>
                </a:lnTo>
                <a:lnTo>
                  <a:pt x="25908" y="1010411"/>
                </a:lnTo>
                <a:lnTo>
                  <a:pt x="51816" y="1010411"/>
                </a:lnTo>
                <a:lnTo>
                  <a:pt x="51816" y="932687"/>
                </a:lnTo>
                <a:close/>
              </a:path>
              <a:path w="78104" h="1781810">
                <a:moveTo>
                  <a:pt x="51816" y="1036319"/>
                </a:moveTo>
                <a:lnTo>
                  <a:pt x="25908" y="1036319"/>
                </a:lnTo>
                <a:lnTo>
                  <a:pt x="25908" y="1114043"/>
                </a:lnTo>
                <a:lnTo>
                  <a:pt x="51816" y="1114043"/>
                </a:lnTo>
                <a:lnTo>
                  <a:pt x="51816" y="1036319"/>
                </a:lnTo>
                <a:close/>
              </a:path>
              <a:path w="78104" h="1781810">
                <a:moveTo>
                  <a:pt x="51816" y="1139951"/>
                </a:moveTo>
                <a:lnTo>
                  <a:pt x="25908" y="1139951"/>
                </a:lnTo>
                <a:lnTo>
                  <a:pt x="25908" y="1217675"/>
                </a:lnTo>
                <a:lnTo>
                  <a:pt x="51816" y="1217675"/>
                </a:lnTo>
                <a:lnTo>
                  <a:pt x="51816" y="1139951"/>
                </a:lnTo>
                <a:close/>
              </a:path>
              <a:path w="78104" h="1781810">
                <a:moveTo>
                  <a:pt x="51816" y="1243583"/>
                </a:moveTo>
                <a:lnTo>
                  <a:pt x="25908" y="1243583"/>
                </a:lnTo>
                <a:lnTo>
                  <a:pt x="25908" y="1321307"/>
                </a:lnTo>
                <a:lnTo>
                  <a:pt x="51816" y="1321307"/>
                </a:lnTo>
                <a:lnTo>
                  <a:pt x="51816" y="1243583"/>
                </a:lnTo>
                <a:close/>
              </a:path>
              <a:path w="78104" h="1781810">
                <a:moveTo>
                  <a:pt x="51816" y="1347215"/>
                </a:moveTo>
                <a:lnTo>
                  <a:pt x="25908" y="1347215"/>
                </a:lnTo>
                <a:lnTo>
                  <a:pt x="25908" y="1424939"/>
                </a:lnTo>
                <a:lnTo>
                  <a:pt x="51816" y="1424939"/>
                </a:lnTo>
                <a:lnTo>
                  <a:pt x="51816" y="1347215"/>
                </a:lnTo>
                <a:close/>
              </a:path>
              <a:path w="78104" h="1781810">
                <a:moveTo>
                  <a:pt x="51816" y="1450847"/>
                </a:moveTo>
                <a:lnTo>
                  <a:pt x="25908" y="1450847"/>
                </a:lnTo>
                <a:lnTo>
                  <a:pt x="25908" y="1528571"/>
                </a:lnTo>
                <a:lnTo>
                  <a:pt x="51816" y="1528571"/>
                </a:lnTo>
                <a:lnTo>
                  <a:pt x="51816" y="1450847"/>
                </a:lnTo>
                <a:close/>
              </a:path>
              <a:path w="78104" h="1781810">
                <a:moveTo>
                  <a:pt x="51816" y="1554479"/>
                </a:moveTo>
                <a:lnTo>
                  <a:pt x="25908" y="1554479"/>
                </a:lnTo>
                <a:lnTo>
                  <a:pt x="25908" y="1632203"/>
                </a:lnTo>
                <a:lnTo>
                  <a:pt x="51816" y="1632203"/>
                </a:lnTo>
                <a:lnTo>
                  <a:pt x="51816" y="1554479"/>
                </a:lnTo>
                <a:close/>
              </a:path>
              <a:path w="78104" h="1781810">
                <a:moveTo>
                  <a:pt x="25908" y="1703831"/>
                </a:moveTo>
                <a:lnTo>
                  <a:pt x="0" y="1703831"/>
                </a:lnTo>
                <a:lnTo>
                  <a:pt x="38862" y="1781568"/>
                </a:lnTo>
                <a:lnTo>
                  <a:pt x="71241" y="1716798"/>
                </a:lnTo>
                <a:lnTo>
                  <a:pt x="25908" y="1716798"/>
                </a:lnTo>
                <a:lnTo>
                  <a:pt x="25908" y="1703831"/>
                </a:lnTo>
                <a:close/>
              </a:path>
              <a:path w="78104" h="1781810">
                <a:moveTo>
                  <a:pt x="51816" y="1658111"/>
                </a:moveTo>
                <a:lnTo>
                  <a:pt x="25908" y="1658111"/>
                </a:lnTo>
                <a:lnTo>
                  <a:pt x="25908" y="1716798"/>
                </a:lnTo>
                <a:lnTo>
                  <a:pt x="51816" y="1716798"/>
                </a:lnTo>
                <a:lnTo>
                  <a:pt x="51816" y="1658111"/>
                </a:lnTo>
                <a:close/>
              </a:path>
              <a:path w="78104" h="1781810">
                <a:moveTo>
                  <a:pt x="77724" y="1703831"/>
                </a:moveTo>
                <a:lnTo>
                  <a:pt x="51816" y="1703831"/>
                </a:lnTo>
                <a:lnTo>
                  <a:pt x="51816" y="1716798"/>
                </a:lnTo>
                <a:lnTo>
                  <a:pt x="71241" y="1716798"/>
                </a:lnTo>
                <a:lnTo>
                  <a:pt x="77724" y="1703831"/>
                </a:lnTo>
                <a:close/>
              </a:path>
            </a:pathLst>
          </a:custGeom>
          <a:solidFill>
            <a:srgbClr val="FF0000"/>
          </a:solidFill>
        </p:spPr>
        <p:txBody>
          <a:bodyPr wrap="square" lIns="0" tIns="0" rIns="0" bIns="0" rtlCol="0"/>
          <a:lstStyle/>
          <a:p>
            <a:endParaRPr/>
          </a:p>
        </p:txBody>
      </p:sp>
      <p:sp>
        <p:nvSpPr>
          <p:cNvPr id="18" name="object 18"/>
          <p:cNvSpPr/>
          <p:nvPr/>
        </p:nvSpPr>
        <p:spPr>
          <a:xfrm>
            <a:off x="5300471" y="4976621"/>
            <a:ext cx="1036955" cy="648335"/>
          </a:xfrm>
          <a:custGeom>
            <a:avLst/>
            <a:gdLst/>
            <a:ahLst/>
            <a:cxnLst/>
            <a:rect l="l" t="t" r="r" b="b"/>
            <a:pathLst>
              <a:path w="1036954" h="648335">
                <a:moveTo>
                  <a:pt x="66166" y="585215"/>
                </a:moveTo>
                <a:lnTo>
                  <a:pt x="0" y="626109"/>
                </a:lnTo>
                <a:lnTo>
                  <a:pt x="13715" y="648131"/>
                </a:lnTo>
                <a:lnTo>
                  <a:pt x="79755" y="607186"/>
                </a:lnTo>
                <a:lnTo>
                  <a:pt x="66166" y="585215"/>
                </a:lnTo>
                <a:close/>
              </a:path>
              <a:path w="1036954" h="648335">
                <a:moveTo>
                  <a:pt x="154304" y="530732"/>
                </a:moveTo>
                <a:lnTo>
                  <a:pt x="88137" y="571626"/>
                </a:lnTo>
                <a:lnTo>
                  <a:pt x="101853" y="593597"/>
                </a:lnTo>
                <a:lnTo>
                  <a:pt x="167893" y="552703"/>
                </a:lnTo>
                <a:lnTo>
                  <a:pt x="154304" y="530732"/>
                </a:lnTo>
                <a:close/>
              </a:path>
              <a:path w="1036954" h="648335">
                <a:moveTo>
                  <a:pt x="242442" y="476122"/>
                </a:moveTo>
                <a:lnTo>
                  <a:pt x="176275" y="517016"/>
                </a:lnTo>
                <a:lnTo>
                  <a:pt x="189991" y="539114"/>
                </a:lnTo>
                <a:lnTo>
                  <a:pt x="256031" y="498220"/>
                </a:lnTo>
                <a:lnTo>
                  <a:pt x="242442" y="476122"/>
                </a:lnTo>
                <a:close/>
              </a:path>
              <a:path w="1036954" h="648335">
                <a:moveTo>
                  <a:pt x="330580" y="421639"/>
                </a:moveTo>
                <a:lnTo>
                  <a:pt x="264413" y="462533"/>
                </a:lnTo>
                <a:lnTo>
                  <a:pt x="278129" y="484631"/>
                </a:lnTo>
                <a:lnTo>
                  <a:pt x="344169" y="443737"/>
                </a:lnTo>
                <a:lnTo>
                  <a:pt x="330580" y="421639"/>
                </a:lnTo>
                <a:close/>
              </a:path>
              <a:path w="1036954" h="648335">
                <a:moveTo>
                  <a:pt x="418718" y="367156"/>
                </a:moveTo>
                <a:lnTo>
                  <a:pt x="352551" y="408050"/>
                </a:lnTo>
                <a:lnTo>
                  <a:pt x="366140" y="430021"/>
                </a:lnTo>
                <a:lnTo>
                  <a:pt x="432307" y="389127"/>
                </a:lnTo>
                <a:lnTo>
                  <a:pt x="418718" y="367156"/>
                </a:lnTo>
                <a:close/>
              </a:path>
              <a:path w="1036954" h="648335">
                <a:moveTo>
                  <a:pt x="506856" y="312673"/>
                </a:moveTo>
                <a:lnTo>
                  <a:pt x="440689" y="353567"/>
                </a:lnTo>
                <a:lnTo>
                  <a:pt x="454278" y="375538"/>
                </a:lnTo>
                <a:lnTo>
                  <a:pt x="520445" y="334644"/>
                </a:lnTo>
                <a:lnTo>
                  <a:pt x="506856" y="312673"/>
                </a:lnTo>
                <a:close/>
              </a:path>
              <a:path w="1036954" h="648335">
                <a:moveTo>
                  <a:pt x="594994" y="258063"/>
                </a:moveTo>
                <a:lnTo>
                  <a:pt x="528827" y="298957"/>
                </a:lnTo>
                <a:lnTo>
                  <a:pt x="542416" y="321055"/>
                </a:lnTo>
                <a:lnTo>
                  <a:pt x="608583" y="280161"/>
                </a:lnTo>
                <a:lnTo>
                  <a:pt x="594994" y="258063"/>
                </a:lnTo>
                <a:close/>
              </a:path>
              <a:path w="1036954" h="648335">
                <a:moveTo>
                  <a:pt x="683132" y="203580"/>
                </a:moveTo>
                <a:lnTo>
                  <a:pt x="616965" y="244475"/>
                </a:lnTo>
                <a:lnTo>
                  <a:pt x="630554" y="266572"/>
                </a:lnTo>
                <a:lnTo>
                  <a:pt x="696722" y="225678"/>
                </a:lnTo>
                <a:lnTo>
                  <a:pt x="683132" y="203580"/>
                </a:lnTo>
                <a:close/>
              </a:path>
              <a:path w="1036954" h="648335">
                <a:moveTo>
                  <a:pt x="771143" y="149097"/>
                </a:moveTo>
                <a:lnTo>
                  <a:pt x="705103" y="189991"/>
                </a:lnTo>
                <a:lnTo>
                  <a:pt x="718692" y="211962"/>
                </a:lnTo>
                <a:lnTo>
                  <a:pt x="784860" y="171069"/>
                </a:lnTo>
                <a:lnTo>
                  <a:pt x="771143" y="149097"/>
                </a:lnTo>
                <a:close/>
              </a:path>
              <a:path w="1036954" h="648335">
                <a:moveTo>
                  <a:pt x="859281" y="94614"/>
                </a:moveTo>
                <a:lnTo>
                  <a:pt x="793241" y="135508"/>
                </a:lnTo>
                <a:lnTo>
                  <a:pt x="806830" y="157479"/>
                </a:lnTo>
                <a:lnTo>
                  <a:pt x="872998" y="116585"/>
                </a:lnTo>
                <a:lnTo>
                  <a:pt x="859281" y="94614"/>
                </a:lnTo>
                <a:close/>
              </a:path>
              <a:path w="1036954" h="648335">
                <a:moveTo>
                  <a:pt x="947419" y="40004"/>
                </a:moveTo>
                <a:lnTo>
                  <a:pt x="881379" y="80898"/>
                </a:lnTo>
                <a:lnTo>
                  <a:pt x="894968" y="102996"/>
                </a:lnTo>
                <a:lnTo>
                  <a:pt x="961136" y="62102"/>
                </a:lnTo>
                <a:lnTo>
                  <a:pt x="947419" y="40004"/>
                </a:lnTo>
                <a:close/>
              </a:path>
              <a:path w="1036954" h="648335">
                <a:moveTo>
                  <a:pt x="1036827" y="0"/>
                </a:moveTo>
                <a:lnTo>
                  <a:pt x="950340" y="7873"/>
                </a:lnTo>
                <a:lnTo>
                  <a:pt x="991235" y="73913"/>
                </a:lnTo>
                <a:lnTo>
                  <a:pt x="1006981" y="48386"/>
                </a:lnTo>
                <a:lnTo>
                  <a:pt x="983106" y="48386"/>
                </a:lnTo>
                <a:lnTo>
                  <a:pt x="969517" y="26415"/>
                </a:lnTo>
                <a:lnTo>
                  <a:pt x="974978" y="23113"/>
                </a:lnTo>
                <a:lnTo>
                  <a:pt x="1022570" y="23113"/>
                </a:lnTo>
                <a:lnTo>
                  <a:pt x="1036827" y="0"/>
                </a:lnTo>
                <a:close/>
              </a:path>
              <a:path w="1036954" h="648335">
                <a:moveTo>
                  <a:pt x="974978" y="23113"/>
                </a:moveTo>
                <a:lnTo>
                  <a:pt x="969517" y="26415"/>
                </a:lnTo>
                <a:lnTo>
                  <a:pt x="983106" y="48386"/>
                </a:lnTo>
                <a:lnTo>
                  <a:pt x="988567" y="45084"/>
                </a:lnTo>
                <a:lnTo>
                  <a:pt x="974978" y="23113"/>
                </a:lnTo>
                <a:close/>
              </a:path>
              <a:path w="1036954" h="648335">
                <a:moveTo>
                  <a:pt x="1022570" y="23113"/>
                </a:moveTo>
                <a:lnTo>
                  <a:pt x="974978" y="23113"/>
                </a:lnTo>
                <a:lnTo>
                  <a:pt x="988567" y="45084"/>
                </a:lnTo>
                <a:lnTo>
                  <a:pt x="983106" y="48386"/>
                </a:lnTo>
                <a:lnTo>
                  <a:pt x="1006981" y="48386"/>
                </a:lnTo>
                <a:lnTo>
                  <a:pt x="1022570" y="23113"/>
                </a:lnTo>
                <a:close/>
              </a:path>
            </a:pathLst>
          </a:custGeom>
          <a:solidFill>
            <a:srgbClr val="FF0000"/>
          </a:solidFill>
        </p:spPr>
        <p:txBody>
          <a:bodyPr wrap="square" lIns="0" tIns="0" rIns="0" bIns="0" rtlCol="0"/>
          <a:lstStyle/>
          <a:p>
            <a:endParaRPr/>
          </a:p>
        </p:txBody>
      </p:sp>
      <p:sp>
        <p:nvSpPr>
          <p:cNvPr id="19" name="object 19"/>
          <p:cNvSpPr/>
          <p:nvPr/>
        </p:nvSpPr>
        <p:spPr>
          <a:xfrm>
            <a:off x="4347336" y="5566664"/>
            <a:ext cx="600710" cy="107950"/>
          </a:xfrm>
          <a:custGeom>
            <a:avLst/>
            <a:gdLst/>
            <a:ahLst/>
            <a:cxnLst/>
            <a:rect l="l" t="t" r="r" b="b"/>
            <a:pathLst>
              <a:path w="600710" h="107950">
                <a:moveTo>
                  <a:pt x="77215" y="73748"/>
                </a:moveTo>
                <a:lnTo>
                  <a:pt x="0" y="82105"/>
                </a:lnTo>
                <a:lnTo>
                  <a:pt x="2793" y="107861"/>
                </a:lnTo>
                <a:lnTo>
                  <a:pt x="80010" y="99517"/>
                </a:lnTo>
                <a:lnTo>
                  <a:pt x="77215" y="73748"/>
                </a:lnTo>
                <a:close/>
              </a:path>
              <a:path w="600710" h="107950">
                <a:moveTo>
                  <a:pt x="180339" y="62611"/>
                </a:moveTo>
                <a:lnTo>
                  <a:pt x="102997" y="70967"/>
                </a:lnTo>
                <a:lnTo>
                  <a:pt x="105790" y="96723"/>
                </a:lnTo>
                <a:lnTo>
                  <a:pt x="183134" y="88379"/>
                </a:lnTo>
                <a:lnTo>
                  <a:pt x="180339" y="62611"/>
                </a:lnTo>
                <a:close/>
              </a:path>
              <a:path w="600710" h="107950">
                <a:moveTo>
                  <a:pt x="283337" y="51473"/>
                </a:moveTo>
                <a:lnTo>
                  <a:pt x="206121" y="59829"/>
                </a:lnTo>
                <a:lnTo>
                  <a:pt x="208787" y="85585"/>
                </a:lnTo>
                <a:lnTo>
                  <a:pt x="286130" y="77241"/>
                </a:lnTo>
                <a:lnTo>
                  <a:pt x="283337" y="51473"/>
                </a:lnTo>
                <a:close/>
              </a:path>
              <a:path w="600710" h="107950">
                <a:moveTo>
                  <a:pt x="386334" y="40347"/>
                </a:moveTo>
                <a:lnTo>
                  <a:pt x="309117" y="48691"/>
                </a:lnTo>
                <a:lnTo>
                  <a:pt x="311912" y="74447"/>
                </a:lnTo>
                <a:lnTo>
                  <a:pt x="389127" y="66103"/>
                </a:lnTo>
                <a:lnTo>
                  <a:pt x="386334" y="40347"/>
                </a:lnTo>
                <a:close/>
              </a:path>
              <a:path w="600710" h="107950">
                <a:moveTo>
                  <a:pt x="489458" y="29210"/>
                </a:moveTo>
                <a:lnTo>
                  <a:pt x="412114" y="37553"/>
                </a:lnTo>
                <a:lnTo>
                  <a:pt x="414909" y="63309"/>
                </a:lnTo>
                <a:lnTo>
                  <a:pt x="492125" y="54965"/>
                </a:lnTo>
                <a:lnTo>
                  <a:pt x="489458" y="29210"/>
                </a:lnTo>
                <a:close/>
              </a:path>
              <a:path w="600710" h="107950">
                <a:moveTo>
                  <a:pt x="584516" y="24307"/>
                </a:moveTo>
                <a:lnTo>
                  <a:pt x="534670" y="24307"/>
                </a:lnTo>
                <a:lnTo>
                  <a:pt x="537463" y="50063"/>
                </a:lnTo>
                <a:lnTo>
                  <a:pt x="524633" y="51446"/>
                </a:lnTo>
                <a:lnTo>
                  <a:pt x="527430" y="77216"/>
                </a:lnTo>
                <a:lnTo>
                  <a:pt x="600455" y="30226"/>
                </a:lnTo>
                <a:lnTo>
                  <a:pt x="584516" y="24307"/>
                </a:lnTo>
                <a:close/>
              </a:path>
              <a:path w="600710" h="107950">
                <a:moveTo>
                  <a:pt x="521837" y="25691"/>
                </a:moveTo>
                <a:lnTo>
                  <a:pt x="515112" y="26416"/>
                </a:lnTo>
                <a:lnTo>
                  <a:pt x="517905" y="52171"/>
                </a:lnTo>
                <a:lnTo>
                  <a:pt x="524633" y="51446"/>
                </a:lnTo>
                <a:lnTo>
                  <a:pt x="521837" y="25691"/>
                </a:lnTo>
                <a:close/>
              </a:path>
              <a:path w="600710" h="107950">
                <a:moveTo>
                  <a:pt x="534670" y="24307"/>
                </a:moveTo>
                <a:lnTo>
                  <a:pt x="521837" y="25691"/>
                </a:lnTo>
                <a:lnTo>
                  <a:pt x="524633" y="51446"/>
                </a:lnTo>
                <a:lnTo>
                  <a:pt x="537463" y="50063"/>
                </a:lnTo>
                <a:lnTo>
                  <a:pt x="534670" y="24307"/>
                </a:lnTo>
                <a:close/>
              </a:path>
              <a:path w="600710" h="107950">
                <a:moveTo>
                  <a:pt x="519049" y="0"/>
                </a:moveTo>
                <a:lnTo>
                  <a:pt x="521837" y="25691"/>
                </a:lnTo>
                <a:lnTo>
                  <a:pt x="534670" y="24307"/>
                </a:lnTo>
                <a:lnTo>
                  <a:pt x="584516" y="24307"/>
                </a:lnTo>
                <a:lnTo>
                  <a:pt x="519049" y="0"/>
                </a:lnTo>
                <a:close/>
              </a:path>
            </a:pathLst>
          </a:custGeom>
          <a:solidFill>
            <a:srgbClr val="FF0000"/>
          </a:solidFill>
        </p:spPr>
        <p:txBody>
          <a:bodyPr wrap="square" lIns="0" tIns="0" rIns="0" bIns="0" rtlCol="0"/>
          <a:lstStyle/>
          <a:p>
            <a:endParaRPr/>
          </a:p>
        </p:txBody>
      </p:sp>
      <p:sp>
        <p:nvSpPr>
          <p:cNvPr id="20" name="object 20"/>
          <p:cNvSpPr txBox="1"/>
          <p:nvPr/>
        </p:nvSpPr>
        <p:spPr>
          <a:xfrm>
            <a:off x="5011673" y="5321300"/>
            <a:ext cx="248285" cy="793750"/>
          </a:xfrm>
          <a:prstGeom prst="rect">
            <a:avLst/>
          </a:prstGeom>
        </p:spPr>
        <p:txBody>
          <a:bodyPr vert="horz" wrap="square" lIns="0" tIns="12700" rIns="0" bIns="0" rtlCol="0">
            <a:spAutoFit/>
          </a:bodyPr>
          <a:lstStyle/>
          <a:p>
            <a:pPr marL="12700" marR="5080" indent="14604">
              <a:lnSpc>
                <a:spcPct val="140000"/>
              </a:lnSpc>
              <a:spcBef>
                <a:spcPts val="100"/>
              </a:spcBef>
            </a:pPr>
            <a:r>
              <a:rPr sz="1800" b="1" dirty="0">
                <a:solidFill>
                  <a:srgbClr val="FF0000"/>
                </a:solidFill>
                <a:latin typeface="Calibri"/>
                <a:cs typeface="Calibri"/>
              </a:rPr>
              <a:t>s3  s4</a:t>
            </a:r>
            <a:endParaRPr sz="1800">
              <a:latin typeface="Calibri"/>
              <a:cs typeface="Calibri"/>
            </a:endParaRPr>
          </a:p>
        </p:txBody>
      </p:sp>
      <p:sp>
        <p:nvSpPr>
          <p:cNvPr id="21" name="object 21"/>
          <p:cNvSpPr/>
          <p:nvPr/>
        </p:nvSpPr>
        <p:spPr>
          <a:xfrm>
            <a:off x="5283961" y="4935473"/>
            <a:ext cx="1310640" cy="1071880"/>
          </a:xfrm>
          <a:custGeom>
            <a:avLst/>
            <a:gdLst/>
            <a:ahLst/>
            <a:cxnLst/>
            <a:rect l="l" t="t" r="r" b="b"/>
            <a:pathLst>
              <a:path w="1310640" h="1071879">
                <a:moveTo>
                  <a:pt x="60198" y="1002664"/>
                </a:moveTo>
                <a:lnTo>
                  <a:pt x="0" y="1051775"/>
                </a:lnTo>
                <a:lnTo>
                  <a:pt x="16255" y="1071854"/>
                </a:lnTo>
                <a:lnTo>
                  <a:pt x="76580" y="1022743"/>
                </a:lnTo>
                <a:lnTo>
                  <a:pt x="60198" y="1002664"/>
                </a:lnTo>
                <a:close/>
              </a:path>
              <a:path w="1310640" h="1071879">
                <a:moveTo>
                  <a:pt x="140462" y="937183"/>
                </a:moveTo>
                <a:lnTo>
                  <a:pt x="80263" y="986294"/>
                </a:lnTo>
                <a:lnTo>
                  <a:pt x="96647" y="1006373"/>
                </a:lnTo>
                <a:lnTo>
                  <a:pt x="156845" y="957262"/>
                </a:lnTo>
                <a:lnTo>
                  <a:pt x="140462" y="937183"/>
                </a:lnTo>
                <a:close/>
              </a:path>
              <a:path w="1310640" h="1071879">
                <a:moveTo>
                  <a:pt x="220852" y="871702"/>
                </a:moveTo>
                <a:lnTo>
                  <a:pt x="160527" y="920813"/>
                </a:lnTo>
                <a:lnTo>
                  <a:pt x="176911" y="940892"/>
                </a:lnTo>
                <a:lnTo>
                  <a:pt x="237236" y="891781"/>
                </a:lnTo>
                <a:lnTo>
                  <a:pt x="220852" y="871702"/>
                </a:lnTo>
                <a:close/>
              </a:path>
              <a:path w="1310640" h="1071879">
                <a:moveTo>
                  <a:pt x="301116" y="806221"/>
                </a:moveTo>
                <a:lnTo>
                  <a:pt x="240918" y="855332"/>
                </a:lnTo>
                <a:lnTo>
                  <a:pt x="257301" y="875410"/>
                </a:lnTo>
                <a:lnTo>
                  <a:pt x="317500" y="826300"/>
                </a:lnTo>
                <a:lnTo>
                  <a:pt x="301116" y="806221"/>
                </a:lnTo>
                <a:close/>
              </a:path>
              <a:path w="1310640" h="1071879">
                <a:moveTo>
                  <a:pt x="381508" y="740740"/>
                </a:moveTo>
                <a:lnTo>
                  <a:pt x="321183" y="789851"/>
                </a:lnTo>
                <a:lnTo>
                  <a:pt x="337565" y="809929"/>
                </a:lnTo>
                <a:lnTo>
                  <a:pt x="397890" y="760818"/>
                </a:lnTo>
                <a:lnTo>
                  <a:pt x="381508" y="740740"/>
                </a:lnTo>
                <a:close/>
              </a:path>
              <a:path w="1310640" h="1071879">
                <a:moveTo>
                  <a:pt x="461772" y="675259"/>
                </a:moveTo>
                <a:lnTo>
                  <a:pt x="401574" y="724369"/>
                </a:lnTo>
                <a:lnTo>
                  <a:pt x="417957" y="744448"/>
                </a:lnTo>
                <a:lnTo>
                  <a:pt x="478154" y="695337"/>
                </a:lnTo>
                <a:lnTo>
                  <a:pt x="461772" y="675259"/>
                </a:lnTo>
                <a:close/>
              </a:path>
              <a:path w="1310640" h="1071879">
                <a:moveTo>
                  <a:pt x="542163" y="609726"/>
                </a:moveTo>
                <a:lnTo>
                  <a:pt x="481838" y="658888"/>
                </a:lnTo>
                <a:lnTo>
                  <a:pt x="498221" y="678967"/>
                </a:lnTo>
                <a:lnTo>
                  <a:pt x="558546" y="629919"/>
                </a:lnTo>
                <a:lnTo>
                  <a:pt x="542163" y="609726"/>
                </a:lnTo>
                <a:close/>
              </a:path>
              <a:path w="1310640" h="1071879">
                <a:moveTo>
                  <a:pt x="622426" y="544322"/>
                </a:moveTo>
                <a:lnTo>
                  <a:pt x="562228" y="593470"/>
                </a:lnTo>
                <a:lnTo>
                  <a:pt x="578612" y="613537"/>
                </a:lnTo>
                <a:lnTo>
                  <a:pt x="638810" y="564388"/>
                </a:lnTo>
                <a:lnTo>
                  <a:pt x="622426" y="544322"/>
                </a:lnTo>
                <a:close/>
              </a:path>
              <a:path w="1310640" h="1071879">
                <a:moveTo>
                  <a:pt x="702817" y="478789"/>
                </a:moveTo>
                <a:lnTo>
                  <a:pt x="642492" y="527938"/>
                </a:lnTo>
                <a:lnTo>
                  <a:pt x="658876" y="548004"/>
                </a:lnTo>
                <a:lnTo>
                  <a:pt x="719201" y="498856"/>
                </a:lnTo>
                <a:lnTo>
                  <a:pt x="702817" y="478789"/>
                </a:lnTo>
                <a:close/>
              </a:path>
              <a:path w="1310640" h="1071879">
                <a:moveTo>
                  <a:pt x="783082" y="413384"/>
                </a:moveTo>
                <a:lnTo>
                  <a:pt x="722884" y="462406"/>
                </a:lnTo>
                <a:lnTo>
                  <a:pt x="739266" y="482472"/>
                </a:lnTo>
                <a:lnTo>
                  <a:pt x="799464" y="433450"/>
                </a:lnTo>
                <a:lnTo>
                  <a:pt x="783082" y="413384"/>
                </a:lnTo>
                <a:close/>
              </a:path>
              <a:path w="1310640" h="1071879">
                <a:moveTo>
                  <a:pt x="863473" y="347853"/>
                </a:moveTo>
                <a:lnTo>
                  <a:pt x="803148" y="397001"/>
                </a:lnTo>
                <a:lnTo>
                  <a:pt x="819530" y="417067"/>
                </a:lnTo>
                <a:lnTo>
                  <a:pt x="879728" y="367919"/>
                </a:lnTo>
                <a:lnTo>
                  <a:pt x="863473" y="347853"/>
                </a:lnTo>
                <a:close/>
              </a:path>
              <a:path w="1310640" h="1071879">
                <a:moveTo>
                  <a:pt x="943737" y="282320"/>
                </a:moveTo>
                <a:lnTo>
                  <a:pt x="883538" y="331469"/>
                </a:lnTo>
                <a:lnTo>
                  <a:pt x="899922" y="351535"/>
                </a:lnTo>
                <a:lnTo>
                  <a:pt x="960120" y="302513"/>
                </a:lnTo>
                <a:lnTo>
                  <a:pt x="943737" y="282320"/>
                </a:lnTo>
                <a:close/>
              </a:path>
              <a:path w="1310640" h="1071879">
                <a:moveTo>
                  <a:pt x="1024001" y="216915"/>
                </a:moveTo>
                <a:lnTo>
                  <a:pt x="963802" y="265938"/>
                </a:lnTo>
                <a:lnTo>
                  <a:pt x="980186" y="286131"/>
                </a:lnTo>
                <a:lnTo>
                  <a:pt x="1040384" y="236981"/>
                </a:lnTo>
                <a:lnTo>
                  <a:pt x="1024001" y="216915"/>
                </a:lnTo>
                <a:close/>
              </a:path>
              <a:path w="1310640" h="1071879">
                <a:moveTo>
                  <a:pt x="1104391" y="151383"/>
                </a:moveTo>
                <a:lnTo>
                  <a:pt x="1044193" y="200532"/>
                </a:lnTo>
                <a:lnTo>
                  <a:pt x="1060450" y="220599"/>
                </a:lnTo>
                <a:lnTo>
                  <a:pt x="1120775" y="171450"/>
                </a:lnTo>
                <a:lnTo>
                  <a:pt x="1104391" y="151383"/>
                </a:lnTo>
                <a:close/>
              </a:path>
              <a:path w="1310640" h="1071879">
                <a:moveTo>
                  <a:pt x="1184655" y="85978"/>
                </a:moveTo>
                <a:lnTo>
                  <a:pt x="1124458" y="135000"/>
                </a:lnTo>
                <a:lnTo>
                  <a:pt x="1140840" y="155067"/>
                </a:lnTo>
                <a:lnTo>
                  <a:pt x="1201039" y="106044"/>
                </a:lnTo>
                <a:lnTo>
                  <a:pt x="1184655" y="85978"/>
                </a:lnTo>
                <a:close/>
              </a:path>
              <a:path w="1310640" h="1071879">
                <a:moveTo>
                  <a:pt x="1242161" y="39085"/>
                </a:moveTo>
                <a:lnTo>
                  <a:pt x="1204849" y="69595"/>
                </a:lnTo>
                <a:lnTo>
                  <a:pt x="1221105" y="89662"/>
                </a:lnTo>
                <a:lnTo>
                  <a:pt x="1258534" y="59138"/>
                </a:lnTo>
                <a:lnTo>
                  <a:pt x="1242161" y="39085"/>
                </a:lnTo>
                <a:close/>
              </a:path>
              <a:path w="1310640" h="1071879">
                <a:moveTo>
                  <a:pt x="1296742" y="30861"/>
                </a:moveTo>
                <a:lnTo>
                  <a:pt x="1252219" y="30861"/>
                </a:lnTo>
                <a:lnTo>
                  <a:pt x="1268603" y="50926"/>
                </a:lnTo>
                <a:lnTo>
                  <a:pt x="1258534" y="59138"/>
                </a:lnTo>
                <a:lnTo>
                  <a:pt x="1274953" y="79248"/>
                </a:lnTo>
                <a:lnTo>
                  <a:pt x="1296742" y="30861"/>
                </a:lnTo>
                <a:close/>
              </a:path>
              <a:path w="1310640" h="1071879">
                <a:moveTo>
                  <a:pt x="1252219" y="30861"/>
                </a:moveTo>
                <a:lnTo>
                  <a:pt x="1242161" y="39085"/>
                </a:lnTo>
                <a:lnTo>
                  <a:pt x="1258534" y="59138"/>
                </a:lnTo>
                <a:lnTo>
                  <a:pt x="1268603" y="50926"/>
                </a:lnTo>
                <a:lnTo>
                  <a:pt x="1252219" y="30861"/>
                </a:lnTo>
                <a:close/>
              </a:path>
              <a:path w="1310640" h="1071879">
                <a:moveTo>
                  <a:pt x="1310639" y="0"/>
                </a:moveTo>
                <a:lnTo>
                  <a:pt x="1225804" y="19050"/>
                </a:lnTo>
                <a:lnTo>
                  <a:pt x="1242161" y="39085"/>
                </a:lnTo>
                <a:lnTo>
                  <a:pt x="1252219" y="30861"/>
                </a:lnTo>
                <a:lnTo>
                  <a:pt x="1296742" y="30861"/>
                </a:lnTo>
                <a:lnTo>
                  <a:pt x="1310639" y="0"/>
                </a:lnTo>
                <a:close/>
              </a:path>
            </a:pathLst>
          </a:custGeom>
          <a:solidFill>
            <a:srgbClr val="FF0000"/>
          </a:solidFill>
        </p:spPr>
        <p:txBody>
          <a:bodyPr wrap="square" lIns="0" tIns="0" rIns="0" bIns="0" rtlCol="0"/>
          <a:lstStyle/>
          <a:p>
            <a:endParaRPr/>
          </a:p>
        </p:txBody>
      </p:sp>
      <p:sp>
        <p:nvSpPr>
          <p:cNvPr id="22" name="object 22"/>
          <p:cNvSpPr/>
          <p:nvPr/>
        </p:nvSpPr>
        <p:spPr>
          <a:xfrm>
            <a:off x="3563620" y="4326382"/>
            <a:ext cx="548005" cy="78105"/>
          </a:xfrm>
          <a:custGeom>
            <a:avLst/>
            <a:gdLst/>
            <a:ahLst/>
            <a:cxnLst/>
            <a:rect l="l" t="t" r="r" b="b"/>
            <a:pathLst>
              <a:path w="548004" h="78104">
                <a:moveTo>
                  <a:pt x="507" y="18542"/>
                </a:moveTo>
                <a:lnTo>
                  <a:pt x="0" y="44450"/>
                </a:lnTo>
                <a:lnTo>
                  <a:pt x="77724" y="45720"/>
                </a:lnTo>
                <a:lnTo>
                  <a:pt x="78231" y="19812"/>
                </a:lnTo>
                <a:lnTo>
                  <a:pt x="507" y="18542"/>
                </a:lnTo>
                <a:close/>
              </a:path>
              <a:path w="548004" h="78104">
                <a:moveTo>
                  <a:pt x="104012" y="20193"/>
                </a:moveTo>
                <a:lnTo>
                  <a:pt x="103631" y="46101"/>
                </a:lnTo>
                <a:lnTo>
                  <a:pt x="181355" y="47371"/>
                </a:lnTo>
                <a:lnTo>
                  <a:pt x="181737" y="21463"/>
                </a:lnTo>
                <a:lnTo>
                  <a:pt x="104012" y="20193"/>
                </a:lnTo>
                <a:close/>
              </a:path>
              <a:path w="548004" h="78104">
                <a:moveTo>
                  <a:pt x="207644" y="21844"/>
                </a:moveTo>
                <a:lnTo>
                  <a:pt x="207263" y="47752"/>
                </a:lnTo>
                <a:lnTo>
                  <a:pt x="284988" y="48895"/>
                </a:lnTo>
                <a:lnTo>
                  <a:pt x="285368" y="22987"/>
                </a:lnTo>
                <a:lnTo>
                  <a:pt x="207644" y="21844"/>
                </a:lnTo>
                <a:close/>
              </a:path>
              <a:path w="548004" h="78104">
                <a:moveTo>
                  <a:pt x="311276" y="23495"/>
                </a:moveTo>
                <a:lnTo>
                  <a:pt x="310895" y="49403"/>
                </a:lnTo>
                <a:lnTo>
                  <a:pt x="388619" y="50546"/>
                </a:lnTo>
                <a:lnTo>
                  <a:pt x="389000" y="24638"/>
                </a:lnTo>
                <a:lnTo>
                  <a:pt x="311276" y="23495"/>
                </a:lnTo>
                <a:close/>
              </a:path>
              <a:path w="548004" h="78104">
                <a:moveTo>
                  <a:pt x="470534" y="0"/>
                </a:moveTo>
                <a:lnTo>
                  <a:pt x="470153" y="25969"/>
                </a:lnTo>
                <a:lnTo>
                  <a:pt x="483107" y="26162"/>
                </a:lnTo>
                <a:lnTo>
                  <a:pt x="482726" y="52070"/>
                </a:lnTo>
                <a:lnTo>
                  <a:pt x="469769" y="52070"/>
                </a:lnTo>
                <a:lnTo>
                  <a:pt x="469391" y="77724"/>
                </a:lnTo>
                <a:lnTo>
                  <a:pt x="522866" y="52070"/>
                </a:lnTo>
                <a:lnTo>
                  <a:pt x="482726" y="52070"/>
                </a:lnTo>
                <a:lnTo>
                  <a:pt x="469772" y="51877"/>
                </a:lnTo>
                <a:lnTo>
                  <a:pt x="523269" y="51877"/>
                </a:lnTo>
                <a:lnTo>
                  <a:pt x="547751" y="40132"/>
                </a:lnTo>
                <a:lnTo>
                  <a:pt x="470534" y="0"/>
                </a:lnTo>
                <a:close/>
              </a:path>
              <a:path w="548004" h="78104">
                <a:moveTo>
                  <a:pt x="470153" y="25969"/>
                </a:moveTo>
                <a:lnTo>
                  <a:pt x="469772" y="51877"/>
                </a:lnTo>
                <a:lnTo>
                  <a:pt x="482726" y="52070"/>
                </a:lnTo>
                <a:lnTo>
                  <a:pt x="483107" y="26162"/>
                </a:lnTo>
                <a:lnTo>
                  <a:pt x="470153" y="25969"/>
                </a:lnTo>
                <a:close/>
              </a:path>
              <a:path w="548004" h="78104">
                <a:moveTo>
                  <a:pt x="414908" y="25146"/>
                </a:moveTo>
                <a:lnTo>
                  <a:pt x="414527" y="51054"/>
                </a:lnTo>
                <a:lnTo>
                  <a:pt x="469772" y="51877"/>
                </a:lnTo>
                <a:lnTo>
                  <a:pt x="470153" y="25969"/>
                </a:lnTo>
                <a:lnTo>
                  <a:pt x="414908" y="25146"/>
                </a:lnTo>
                <a:close/>
              </a:path>
            </a:pathLst>
          </a:custGeom>
          <a:solidFill>
            <a:srgbClr val="FF0000"/>
          </a:solidFill>
        </p:spPr>
        <p:txBody>
          <a:bodyPr wrap="square" lIns="0" tIns="0" rIns="0" bIns="0" rtlCol="0"/>
          <a:lstStyle/>
          <a:p>
            <a:endParaRPr/>
          </a:p>
        </p:txBody>
      </p:sp>
      <p:sp>
        <p:nvSpPr>
          <p:cNvPr id="23" name="object 23"/>
          <p:cNvSpPr/>
          <p:nvPr/>
        </p:nvSpPr>
        <p:spPr>
          <a:xfrm>
            <a:off x="4044060" y="4383659"/>
            <a:ext cx="78105" cy="1612900"/>
          </a:xfrm>
          <a:custGeom>
            <a:avLst/>
            <a:gdLst/>
            <a:ahLst/>
            <a:cxnLst/>
            <a:rect l="l" t="t" r="r" b="b"/>
            <a:pathLst>
              <a:path w="78104" h="1612900">
                <a:moveTo>
                  <a:pt x="44450" y="0"/>
                </a:moveTo>
                <a:lnTo>
                  <a:pt x="43434" y="77724"/>
                </a:lnTo>
                <a:lnTo>
                  <a:pt x="69341" y="77978"/>
                </a:lnTo>
                <a:lnTo>
                  <a:pt x="70358" y="254"/>
                </a:lnTo>
                <a:lnTo>
                  <a:pt x="44450" y="0"/>
                </a:lnTo>
                <a:close/>
              </a:path>
              <a:path w="78104" h="1612900">
                <a:moveTo>
                  <a:pt x="43179" y="103632"/>
                </a:moveTo>
                <a:lnTo>
                  <a:pt x="42290" y="181356"/>
                </a:lnTo>
                <a:lnTo>
                  <a:pt x="68199" y="181610"/>
                </a:lnTo>
                <a:lnTo>
                  <a:pt x="69087" y="103886"/>
                </a:lnTo>
                <a:lnTo>
                  <a:pt x="43179" y="103632"/>
                </a:lnTo>
                <a:close/>
              </a:path>
              <a:path w="78104" h="1612900">
                <a:moveTo>
                  <a:pt x="41910" y="207264"/>
                </a:moveTo>
                <a:lnTo>
                  <a:pt x="41021" y="284988"/>
                </a:lnTo>
                <a:lnTo>
                  <a:pt x="66928" y="285242"/>
                </a:lnTo>
                <a:lnTo>
                  <a:pt x="67817" y="207518"/>
                </a:lnTo>
                <a:lnTo>
                  <a:pt x="41910" y="207264"/>
                </a:lnTo>
                <a:close/>
              </a:path>
              <a:path w="78104" h="1612900">
                <a:moveTo>
                  <a:pt x="40639" y="310896"/>
                </a:moveTo>
                <a:lnTo>
                  <a:pt x="39750" y="388620"/>
                </a:lnTo>
                <a:lnTo>
                  <a:pt x="65659" y="388874"/>
                </a:lnTo>
                <a:lnTo>
                  <a:pt x="66548" y="311150"/>
                </a:lnTo>
                <a:lnTo>
                  <a:pt x="40639" y="310896"/>
                </a:lnTo>
                <a:close/>
              </a:path>
              <a:path w="78104" h="1612900">
                <a:moveTo>
                  <a:pt x="39369" y="414528"/>
                </a:moveTo>
                <a:lnTo>
                  <a:pt x="38480" y="492125"/>
                </a:lnTo>
                <a:lnTo>
                  <a:pt x="64388" y="492506"/>
                </a:lnTo>
                <a:lnTo>
                  <a:pt x="65277" y="414782"/>
                </a:lnTo>
                <a:lnTo>
                  <a:pt x="39369" y="414528"/>
                </a:lnTo>
                <a:close/>
              </a:path>
              <a:path w="78104" h="1612900">
                <a:moveTo>
                  <a:pt x="38226" y="518033"/>
                </a:moveTo>
                <a:lnTo>
                  <a:pt x="37211" y="595757"/>
                </a:lnTo>
                <a:lnTo>
                  <a:pt x="63118" y="596138"/>
                </a:lnTo>
                <a:lnTo>
                  <a:pt x="64135" y="518414"/>
                </a:lnTo>
                <a:lnTo>
                  <a:pt x="38226" y="518033"/>
                </a:lnTo>
                <a:close/>
              </a:path>
              <a:path w="78104" h="1612900">
                <a:moveTo>
                  <a:pt x="36956" y="621665"/>
                </a:moveTo>
                <a:lnTo>
                  <a:pt x="35940" y="699389"/>
                </a:lnTo>
                <a:lnTo>
                  <a:pt x="61849" y="699770"/>
                </a:lnTo>
                <a:lnTo>
                  <a:pt x="62864" y="622046"/>
                </a:lnTo>
                <a:lnTo>
                  <a:pt x="36956" y="621665"/>
                </a:lnTo>
                <a:close/>
              </a:path>
              <a:path w="78104" h="1612900">
                <a:moveTo>
                  <a:pt x="35687" y="725297"/>
                </a:moveTo>
                <a:lnTo>
                  <a:pt x="34798" y="803021"/>
                </a:lnTo>
                <a:lnTo>
                  <a:pt x="60705" y="803402"/>
                </a:lnTo>
                <a:lnTo>
                  <a:pt x="61594" y="725678"/>
                </a:lnTo>
                <a:lnTo>
                  <a:pt x="35687" y="725297"/>
                </a:lnTo>
                <a:close/>
              </a:path>
              <a:path w="78104" h="1612900">
                <a:moveTo>
                  <a:pt x="34416" y="828929"/>
                </a:moveTo>
                <a:lnTo>
                  <a:pt x="33527" y="906653"/>
                </a:lnTo>
                <a:lnTo>
                  <a:pt x="59436" y="907034"/>
                </a:lnTo>
                <a:lnTo>
                  <a:pt x="60325" y="829310"/>
                </a:lnTo>
                <a:lnTo>
                  <a:pt x="34416" y="828929"/>
                </a:lnTo>
                <a:close/>
              </a:path>
              <a:path w="78104" h="1612900">
                <a:moveTo>
                  <a:pt x="33147" y="932561"/>
                </a:moveTo>
                <a:lnTo>
                  <a:pt x="32258" y="1010285"/>
                </a:lnTo>
                <a:lnTo>
                  <a:pt x="58165" y="1010666"/>
                </a:lnTo>
                <a:lnTo>
                  <a:pt x="59054" y="932942"/>
                </a:lnTo>
                <a:lnTo>
                  <a:pt x="33147" y="932561"/>
                </a:lnTo>
                <a:close/>
              </a:path>
              <a:path w="78104" h="1612900">
                <a:moveTo>
                  <a:pt x="32003" y="1036193"/>
                </a:moveTo>
                <a:lnTo>
                  <a:pt x="30987" y="1113917"/>
                </a:lnTo>
                <a:lnTo>
                  <a:pt x="56896" y="1114298"/>
                </a:lnTo>
                <a:lnTo>
                  <a:pt x="57912" y="1036574"/>
                </a:lnTo>
                <a:lnTo>
                  <a:pt x="32003" y="1036193"/>
                </a:lnTo>
                <a:close/>
              </a:path>
              <a:path w="78104" h="1612900">
                <a:moveTo>
                  <a:pt x="30734" y="1139825"/>
                </a:moveTo>
                <a:lnTo>
                  <a:pt x="29717" y="1217561"/>
                </a:lnTo>
                <a:lnTo>
                  <a:pt x="55625" y="1217866"/>
                </a:lnTo>
                <a:lnTo>
                  <a:pt x="56641" y="1140206"/>
                </a:lnTo>
                <a:lnTo>
                  <a:pt x="30734" y="1139825"/>
                </a:lnTo>
                <a:close/>
              </a:path>
              <a:path w="78104" h="1612900">
                <a:moveTo>
                  <a:pt x="29463" y="1243457"/>
                </a:moveTo>
                <a:lnTo>
                  <a:pt x="28575" y="1321181"/>
                </a:lnTo>
                <a:lnTo>
                  <a:pt x="54483" y="1321498"/>
                </a:lnTo>
                <a:lnTo>
                  <a:pt x="55372" y="1243774"/>
                </a:lnTo>
                <a:lnTo>
                  <a:pt x="29463" y="1243457"/>
                </a:lnTo>
                <a:close/>
              </a:path>
              <a:path w="78104" h="1612900">
                <a:moveTo>
                  <a:pt x="28193" y="1347089"/>
                </a:moveTo>
                <a:lnTo>
                  <a:pt x="27304" y="1424800"/>
                </a:lnTo>
                <a:lnTo>
                  <a:pt x="53212" y="1425117"/>
                </a:lnTo>
                <a:lnTo>
                  <a:pt x="54101" y="1347393"/>
                </a:lnTo>
                <a:lnTo>
                  <a:pt x="28193" y="1347089"/>
                </a:lnTo>
                <a:close/>
              </a:path>
              <a:path w="78104" h="1612900">
                <a:moveTo>
                  <a:pt x="26924" y="1450708"/>
                </a:moveTo>
                <a:lnTo>
                  <a:pt x="26035" y="1528432"/>
                </a:lnTo>
                <a:lnTo>
                  <a:pt x="51942" y="1528737"/>
                </a:lnTo>
                <a:lnTo>
                  <a:pt x="52831" y="1451025"/>
                </a:lnTo>
                <a:lnTo>
                  <a:pt x="26924" y="1450708"/>
                </a:lnTo>
                <a:close/>
              </a:path>
              <a:path w="78104" h="1612900">
                <a:moveTo>
                  <a:pt x="0" y="1534617"/>
                </a:moveTo>
                <a:lnTo>
                  <a:pt x="37973" y="1612798"/>
                </a:lnTo>
                <a:lnTo>
                  <a:pt x="77724" y="1535557"/>
                </a:lnTo>
                <a:lnTo>
                  <a:pt x="0" y="1534617"/>
                </a:lnTo>
                <a:close/>
              </a:path>
            </a:pathLst>
          </a:custGeom>
          <a:solidFill>
            <a:srgbClr val="FF0000"/>
          </a:solidFill>
        </p:spPr>
        <p:txBody>
          <a:bodyPr wrap="square" lIns="0" tIns="0" rIns="0" bIns="0" rtlCol="0"/>
          <a:lstStyle/>
          <a:p>
            <a:endParaRPr/>
          </a:p>
        </p:txBody>
      </p:sp>
      <p:sp>
        <p:nvSpPr>
          <p:cNvPr id="24" name="object 24"/>
          <p:cNvSpPr/>
          <p:nvPr/>
        </p:nvSpPr>
        <p:spPr>
          <a:xfrm>
            <a:off x="4110482" y="5945416"/>
            <a:ext cx="822960" cy="83820"/>
          </a:xfrm>
          <a:custGeom>
            <a:avLst/>
            <a:gdLst/>
            <a:ahLst/>
            <a:cxnLst/>
            <a:rect l="l" t="t" r="r" b="b"/>
            <a:pathLst>
              <a:path w="822960" h="83820">
                <a:moveTo>
                  <a:pt x="77596" y="54241"/>
                </a:moveTo>
                <a:lnTo>
                  <a:pt x="0" y="57543"/>
                </a:lnTo>
                <a:lnTo>
                  <a:pt x="1015" y="83426"/>
                </a:lnTo>
                <a:lnTo>
                  <a:pt x="78739" y="80124"/>
                </a:lnTo>
                <a:lnTo>
                  <a:pt x="77596" y="54241"/>
                </a:lnTo>
                <a:close/>
              </a:path>
              <a:path w="822960" h="83820">
                <a:moveTo>
                  <a:pt x="181101" y="49834"/>
                </a:moveTo>
                <a:lnTo>
                  <a:pt x="103504" y="53136"/>
                </a:lnTo>
                <a:lnTo>
                  <a:pt x="104647" y="79019"/>
                </a:lnTo>
                <a:lnTo>
                  <a:pt x="182244" y="75717"/>
                </a:lnTo>
                <a:lnTo>
                  <a:pt x="181101" y="49834"/>
                </a:lnTo>
                <a:close/>
              </a:path>
              <a:path w="822960" h="83820">
                <a:moveTo>
                  <a:pt x="284733" y="45427"/>
                </a:moveTo>
                <a:lnTo>
                  <a:pt x="207009" y="48729"/>
                </a:lnTo>
                <a:lnTo>
                  <a:pt x="208152" y="74612"/>
                </a:lnTo>
                <a:lnTo>
                  <a:pt x="285750" y="71310"/>
                </a:lnTo>
                <a:lnTo>
                  <a:pt x="284733" y="45427"/>
                </a:lnTo>
                <a:close/>
              </a:path>
              <a:path w="822960" h="83820">
                <a:moveTo>
                  <a:pt x="388238" y="41033"/>
                </a:moveTo>
                <a:lnTo>
                  <a:pt x="310514" y="44335"/>
                </a:lnTo>
                <a:lnTo>
                  <a:pt x="311657" y="70218"/>
                </a:lnTo>
                <a:lnTo>
                  <a:pt x="389381" y="66916"/>
                </a:lnTo>
                <a:lnTo>
                  <a:pt x="388238" y="41033"/>
                </a:lnTo>
                <a:close/>
              </a:path>
              <a:path w="822960" h="83820">
                <a:moveTo>
                  <a:pt x="491743" y="36626"/>
                </a:moveTo>
                <a:lnTo>
                  <a:pt x="414146" y="39928"/>
                </a:lnTo>
                <a:lnTo>
                  <a:pt x="415163" y="65811"/>
                </a:lnTo>
                <a:lnTo>
                  <a:pt x="492887" y="62509"/>
                </a:lnTo>
                <a:lnTo>
                  <a:pt x="491743" y="36626"/>
                </a:lnTo>
                <a:close/>
              </a:path>
              <a:path w="822960" h="83820">
                <a:moveTo>
                  <a:pt x="595248" y="32219"/>
                </a:moveTo>
                <a:lnTo>
                  <a:pt x="517651" y="35521"/>
                </a:lnTo>
                <a:lnTo>
                  <a:pt x="518794" y="61404"/>
                </a:lnTo>
                <a:lnTo>
                  <a:pt x="596391" y="58102"/>
                </a:lnTo>
                <a:lnTo>
                  <a:pt x="595248" y="32219"/>
                </a:lnTo>
                <a:close/>
              </a:path>
              <a:path w="822960" h="83820">
                <a:moveTo>
                  <a:pt x="698880" y="27812"/>
                </a:moveTo>
                <a:lnTo>
                  <a:pt x="621156" y="31127"/>
                </a:lnTo>
                <a:lnTo>
                  <a:pt x="622300" y="57010"/>
                </a:lnTo>
                <a:lnTo>
                  <a:pt x="699896" y="53708"/>
                </a:lnTo>
                <a:lnTo>
                  <a:pt x="698880" y="27812"/>
                </a:lnTo>
                <a:close/>
              </a:path>
              <a:path w="822960" h="83820">
                <a:moveTo>
                  <a:pt x="799855" y="25336"/>
                </a:moveTo>
                <a:lnTo>
                  <a:pt x="757301" y="25336"/>
                </a:lnTo>
                <a:lnTo>
                  <a:pt x="758443" y="51219"/>
                </a:lnTo>
                <a:lnTo>
                  <a:pt x="745532" y="51766"/>
                </a:lnTo>
                <a:lnTo>
                  <a:pt x="746632" y="77647"/>
                </a:lnTo>
                <a:lnTo>
                  <a:pt x="822578" y="35521"/>
                </a:lnTo>
                <a:lnTo>
                  <a:pt x="799855" y="25336"/>
                </a:lnTo>
                <a:close/>
              </a:path>
              <a:path w="822960" h="83820">
                <a:moveTo>
                  <a:pt x="744431" y="25882"/>
                </a:moveTo>
                <a:lnTo>
                  <a:pt x="724662" y="26720"/>
                </a:lnTo>
                <a:lnTo>
                  <a:pt x="725804" y="52603"/>
                </a:lnTo>
                <a:lnTo>
                  <a:pt x="745532" y="51766"/>
                </a:lnTo>
                <a:lnTo>
                  <a:pt x="744431" y="25882"/>
                </a:lnTo>
                <a:close/>
              </a:path>
              <a:path w="822960" h="83820">
                <a:moveTo>
                  <a:pt x="757301" y="25336"/>
                </a:moveTo>
                <a:lnTo>
                  <a:pt x="744431" y="25882"/>
                </a:lnTo>
                <a:lnTo>
                  <a:pt x="745532" y="51766"/>
                </a:lnTo>
                <a:lnTo>
                  <a:pt x="758443" y="51219"/>
                </a:lnTo>
                <a:lnTo>
                  <a:pt x="757301" y="25336"/>
                </a:lnTo>
                <a:close/>
              </a:path>
              <a:path w="822960" h="83820">
                <a:moveTo>
                  <a:pt x="743330" y="0"/>
                </a:moveTo>
                <a:lnTo>
                  <a:pt x="744431" y="25882"/>
                </a:lnTo>
                <a:lnTo>
                  <a:pt x="757301" y="25336"/>
                </a:lnTo>
                <a:lnTo>
                  <a:pt x="799855" y="25336"/>
                </a:lnTo>
                <a:lnTo>
                  <a:pt x="743330" y="0"/>
                </a:lnTo>
                <a:close/>
              </a:path>
            </a:pathLst>
          </a:custGeom>
          <a:solidFill>
            <a:srgbClr val="FF0000"/>
          </a:solidFill>
        </p:spPr>
        <p:txBody>
          <a:bodyPr wrap="square" lIns="0" tIns="0" rIns="0" bIns="0" rtlCol="0"/>
          <a:lstStyle/>
          <a:p>
            <a:endParaRPr/>
          </a:p>
        </p:txBody>
      </p:sp>
      <p:sp>
        <p:nvSpPr>
          <p:cNvPr id="25" name="object 25"/>
          <p:cNvSpPr txBox="1"/>
          <p:nvPr/>
        </p:nvSpPr>
        <p:spPr>
          <a:xfrm>
            <a:off x="205231" y="5291734"/>
            <a:ext cx="3044190" cy="756920"/>
          </a:xfrm>
          <a:prstGeom prst="rect">
            <a:avLst/>
          </a:prstGeom>
        </p:spPr>
        <p:txBody>
          <a:bodyPr vert="horz" wrap="square" lIns="0" tIns="12700" rIns="0" bIns="0" rtlCol="0">
            <a:spAutoFit/>
          </a:bodyPr>
          <a:lstStyle/>
          <a:p>
            <a:pPr marL="12700" marR="5080" indent="334010">
              <a:lnSpc>
                <a:spcPct val="100000"/>
              </a:lnSpc>
              <a:spcBef>
                <a:spcPts val="100"/>
              </a:spcBef>
            </a:pPr>
            <a:r>
              <a:rPr sz="2400" b="1" spc="-5" dirty="0">
                <a:solidFill>
                  <a:srgbClr val="FF0000"/>
                </a:solidFill>
                <a:latin typeface="Calibri"/>
                <a:cs typeface="Calibri"/>
              </a:rPr>
              <a:t>Only </a:t>
            </a:r>
            <a:r>
              <a:rPr sz="2400" b="1" spc="-10" dirty="0">
                <a:solidFill>
                  <a:srgbClr val="FF0000"/>
                </a:solidFill>
                <a:latin typeface="Calibri"/>
                <a:cs typeface="Calibri"/>
              </a:rPr>
              <a:t>One </a:t>
            </a:r>
            <a:r>
              <a:rPr sz="2400" b="1" spc="-5" dirty="0">
                <a:solidFill>
                  <a:srgbClr val="FF0000"/>
                </a:solidFill>
                <a:latin typeface="Calibri"/>
                <a:cs typeface="Calibri"/>
              </a:rPr>
              <a:t>Object </a:t>
            </a:r>
            <a:r>
              <a:rPr sz="2400" b="1" dirty="0">
                <a:solidFill>
                  <a:srgbClr val="FF0000"/>
                </a:solidFill>
                <a:latin typeface="Calibri"/>
                <a:cs typeface="Calibri"/>
              </a:rPr>
              <a:t>is  </a:t>
            </a:r>
            <a:r>
              <a:rPr sz="2400" b="1" spc="-15" dirty="0">
                <a:solidFill>
                  <a:srgbClr val="FF0000"/>
                </a:solidFill>
                <a:latin typeface="Calibri"/>
                <a:cs typeface="Calibri"/>
              </a:rPr>
              <a:t>Created </a:t>
            </a:r>
            <a:r>
              <a:rPr sz="2400" b="1" dirty="0">
                <a:solidFill>
                  <a:srgbClr val="FF0000"/>
                </a:solidFill>
                <a:latin typeface="Calibri"/>
                <a:cs typeface="Calibri"/>
              </a:rPr>
              <a:t>in </a:t>
            </a:r>
            <a:r>
              <a:rPr sz="2400" b="1" spc="-5" dirty="0">
                <a:solidFill>
                  <a:srgbClr val="FF0000"/>
                </a:solidFill>
                <a:latin typeface="Calibri"/>
                <a:cs typeface="Calibri"/>
              </a:rPr>
              <a:t>This</a:t>
            </a:r>
            <a:r>
              <a:rPr sz="2400" b="1" spc="-75" dirty="0">
                <a:solidFill>
                  <a:srgbClr val="FF0000"/>
                </a:solidFill>
                <a:latin typeface="Calibri"/>
                <a:cs typeface="Calibri"/>
              </a:rPr>
              <a:t> </a:t>
            </a:r>
            <a:r>
              <a:rPr sz="2400" b="1" spc="-5" dirty="0">
                <a:solidFill>
                  <a:srgbClr val="FF0000"/>
                </a:solidFill>
                <a:latin typeface="Calibri"/>
                <a:cs typeface="Calibri"/>
              </a:rPr>
              <a:t>Example</a:t>
            </a:r>
            <a:endParaRPr sz="24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9221"/>
            <a:ext cx="4070985" cy="574040"/>
          </a:xfrm>
          <a:prstGeom prst="rect">
            <a:avLst/>
          </a:prstGeom>
        </p:spPr>
        <p:txBody>
          <a:bodyPr vert="horz" wrap="square" lIns="0" tIns="12700" rIns="0" bIns="0" rtlCol="0">
            <a:spAutoFit/>
          </a:bodyPr>
          <a:lstStyle/>
          <a:p>
            <a:pPr marL="12700">
              <a:lnSpc>
                <a:spcPct val="100000"/>
              </a:lnSpc>
              <a:spcBef>
                <a:spcPts val="100"/>
              </a:spcBef>
            </a:pPr>
            <a:r>
              <a:rPr sz="3600" i="0" spc="-140" dirty="0">
                <a:solidFill>
                  <a:srgbClr val="000000"/>
                </a:solidFill>
                <a:latin typeface="Arial"/>
                <a:cs typeface="Arial"/>
              </a:rPr>
              <a:t>Predict </a:t>
            </a:r>
            <a:r>
              <a:rPr sz="3600" i="0" spc="-110" dirty="0">
                <a:solidFill>
                  <a:srgbClr val="000000"/>
                </a:solidFill>
                <a:latin typeface="Arial"/>
                <a:cs typeface="Arial"/>
              </a:rPr>
              <a:t>The</a:t>
            </a:r>
            <a:r>
              <a:rPr sz="3600" i="0" spc="-445" dirty="0">
                <a:solidFill>
                  <a:srgbClr val="000000"/>
                </a:solidFill>
                <a:latin typeface="Arial"/>
                <a:cs typeface="Arial"/>
              </a:rPr>
              <a:t> </a:t>
            </a:r>
            <a:r>
              <a:rPr sz="3600" i="0" spc="-140" dirty="0">
                <a:solidFill>
                  <a:srgbClr val="000000"/>
                </a:solidFill>
                <a:latin typeface="Arial"/>
                <a:cs typeface="Arial"/>
              </a:rPr>
              <a:t>Output?</a:t>
            </a:r>
            <a:endParaRPr sz="3600">
              <a:latin typeface="Arial"/>
              <a:cs typeface="Arial"/>
            </a:endParaRPr>
          </a:p>
        </p:txBody>
      </p:sp>
      <p:sp>
        <p:nvSpPr>
          <p:cNvPr id="3" name="object 3"/>
          <p:cNvSpPr txBox="1"/>
          <p:nvPr/>
        </p:nvSpPr>
        <p:spPr>
          <a:xfrm>
            <a:off x="114401" y="1357376"/>
            <a:ext cx="4185285" cy="2160270"/>
          </a:xfrm>
          <a:prstGeom prst="rect">
            <a:avLst/>
          </a:prstGeom>
        </p:spPr>
        <p:txBody>
          <a:bodyPr vert="horz" wrap="square" lIns="0" tIns="13335" rIns="0" bIns="0" rtlCol="0">
            <a:spAutoFit/>
          </a:bodyPr>
          <a:lstStyle/>
          <a:p>
            <a:pPr marL="12700" marR="1962150">
              <a:lnSpc>
                <a:spcPct val="100000"/>
              </a:lnSpc>
              <a:spcBef>
                <a:spcPts val="105"/>
              </a:spcBef>
            </a:pPr>
            <a:r>
              <a:rPr sz="1400" b="1" spc="-5" dirty="0">
                <a:latin typeface="Calibri"/>
                <a:cs typeface="Calibri"/>
              </a:rPr>
              <a:t>//File </a:t>
            </a:r>
            <a:r>
              <a:rPr sz="1400" b="1" dirty="0">
                <a:latin typeface="Calibri"/>
                <a:cs typeface="Calibri"/>
              </a:rPr>
              <a:t>Name:</a:t>
            </a:r>
            <a:r>
              <a:rPr sz="1400" b="1" spc="-75" dirty="0">
                <a:latin typeface="Calibri"/>
                <a:cs typeface="Calibri"/>
              </a:rPr>
              <a:t> </a:t>
            </a:r>
            <a:r>
              <a:rPr sz="1400" b="1" spc="-5" dirty="0">
                <a:latin typeface="Calibri"/>
                <a:cs typeface="Calibri"/>
              </a:rPr>
              <a:t>StringDemo.java  class</a:t>
            </a:r>
            <a:r>
              <a:rPr sz="1400" b="1" spc="-10" dirty="0">
                <a:latin typeface="Calibri"/>
                <a:cs typeface="Calibri"/>
              </a:rPr>
              <a:t> </a:t>
            </a:r>
            <a:r>
              <a:rPr sz="1400" b="1" spc="-5" dirty="0">
                <a:latin typeface="Calibri"/>
                <a:cs typeface="Calibri"/>
              </a:rPr>
              <a:t>StringDemo</a:t>
            </a:r>
            <a:endParaRPr sz="1400">
              <a:latin typeface="Calibri"/>
              <a:cs typeface="Calibri"/>
            </a:endParaRPr>
          </a:p>
          <a:p>
            <a:pPr marL="12700">
              <a:lnSpc>
                <a:spcPct val="100000"/>
              </a:lnSpc>
            </a:pPr>
            <a:r>
              <a:rPr sz="1400" b="1" dirty="0">
                <a:latin typeface="Calibri"/>
                <a:cs typeface="Calibri"/>
              </a:rPr>
              <a:t>{</a:t>
            </a:r>
            <a:endParaRPr sz="1400">
              <a:latin typeface="Calibri"/>
              <a:cs typeface="Calibri"/>
            </a:endParaRPr>
          </a:p>
          <a:p>
            <a:pPr marL="927100">
              <a:lnSpc>
                <a:spcPct val="100000"/>
              </a:lnSpc>
            </a:pPr>
            <a:r>
              <a:rPr sz="1400" b="1" dirty="0">
                <a:latin typeface="Calibri"/>
                <a:cs typeface="Calibri"/>
              </a:rPr>
              <a:t>public </a:t>
            </a:r>
            <a:r>
              <a:rPr sz="1400" b="1" spc="-5" dirty="0">
                <a:latin typeface="Calibri"/>
                <a:cs typeface="Calibri"/>
              </a:rPr>
              <a:t>static void main(String[]</a:t>
            </a:r>
            <a:r>
              <a:rPr sz="1400" b="1" spc="-70" dirty="0">
                <a:latin typeface="Calibri"/>
                <a:cs typeface="Calibri"/>
              </a:rPr>
              <a:t> </a:t>
            </a:r>
            <a:r>
              <a:rPr sz="1400" b="1" spc="-5" dirty="0">
                <a:latin typeface="Calibri"/>
                <a:cs typeface="Calibri"/>
              </a:rPr>
              <a:t>args)</a:t>
            </a:r>
            <a:endParaRPr sz="1400">
              <a:latin typeface="Calibri"/>
              <a:cs typeface="Calibri"/>
            </a:endParaRPr>
          </a:p>
          <a:p>
            <a:pPr marL="927100">
              <a:lnSpc>
                <a:spcPct val="100000"/>
              </a:lnSpc>
            </a:pPr>
            <a:r>
              <a:rPr sz="1400" b="1" dirty="0">
                <a:latin typeface="Calibri"/>
                <a:cs typeface="Calibri"/>
              </a:rPr>
              <a:t>{</a:t>
            </a:r>
            <a:endParaRPr sz="1400">
              <a:latin typeface="Calibri"/>
              <a:cs typeface="Calibri"/>
            </a:endParaRPr>
          </a:p>
          <a:p>
            <a:pPr marL="1841500">
              <a:lnSpc>
                <a:spcPct val="100000"/>
              </a:lnSpc>
            </a:pPr>
            <a:r>
              <a:rPr sz="1400" b="1" dirty="0">
                <a:solidFill>
                  <a:srgbClr val="FF0000"/>
                </a:solidFill>
                <a:latin typeface="Calibri"/>
                <a:cs typeface="Calibri"/>
              </a:rPr>
              <a:t>String s1 = </a:t>
            </a:r>
            <a:r>
              <a:rPr sz="1400" b="1" spc="-5" dirty="0">
                <a:solidFill>
                  <a:srgbClr val="FF0000"/>
                </a:solidFill>
                <a:latin typeface="Calibri"/>
                <a:cs typeface="Calibri"/>
              </a:rPr>
              <a:t>"a" </a:t>
            </a:r>
            <a:r>
              <a:rPr sz="1400" b="1" dirty="0">
                <a:solidFill>
                  <a:srgbClr val="FF0000"/>
                </a:solidFill>
                <a:latin typeface="Calibri"/>
                <a:cs typeface="Calibri"/>
              </a:rPr>
              <a:t>+ </a:t>
            </a:r>
            <a:r>
              <a:rPr sz="1400" b="1" spc="-5" dirty="0">
                <a:solidFill>
                  <a:srgbClr val="FF0000"/>
                </a:solidFill>
                <a:latin typeface="Calibri"/>
                <a:cs typeface="Calibri"/>
              </a:rPr>
              <a:t>"b" </a:t>
            </a:r>
            <a:r>
              <a:rPr sz="1400" b="1" dirty="0">
                <a:solidFill>
                  <a:srgbClr val="FF0000"/>
                </a:solidFill>
                <a:latin typeface="Calibri"/>
                <a:cs typeface="Calibri"/>
              </a:rPr>
              <a:t>+ </a:t>
            </a:r>
            <a:r>
              <a:rPr sz="1400" b="1" spc="-5" dirty="0">
                <a:solidFill>
                  <a:srgbClr val="FF0000"/>
                </a:solidFill>
                <a:latin typeface="Calibri"/>
                <a:cs typeface="Calibri"/>
              </a:rPr>
              <a:t>"c" </a:t>
            </a:r>
            <a:r>
              <a:rPr sz="1400" b="1" dirty="0">
                <a:solidFill>
                  <a:srgbClr val="FF0000"/>
                </a:solidFill>
                <a:latin typeface="Calibri"/>
                <a:cs typeface="Calibri"/>
              </a:rPr>
              <a:t>+</a:t>
            </a:r>
            <a:r>
              <a:rPr sz="1400" b="1" spc="-120" dirty="0">
                <a:solidFill>
                  <a:srgbClr val="FF0000"/>
                </a:solidFill>
                <a:latin typeface="Calibri"/>
                <a:cs typeface="Calibri"/>
              </a:rPr>
              <a:t> </a:t>
            </a:r>
            <a:r>
              <a:rPr sz="1400" b="1" spc="-5" dirty="0">
                <a:solidFill>
                  <a:srgbClr val="FF0000"/>
                </a:solidFill>
                <a:latin typeface="Calibri"/>
                <a:cs typeface="Calibri"/>
              </a:rPr>
              <a:t>"d";</a:t>
            </a:r>
            <a:endParaRPr sz="1400">
              <a:latin typeface="Calibri"/>
              <a:cs typeface="Calibri"/>
            </a:endParaRPr>
          </a:p>
          <a:p>
            <a:pPr marL="1841500" marR="650875">
              <a:lnSpc>
                <a:spcPct val="200000"/>
              </a:lnSpc>
            </a:pPr>
            <a:r>
              <a:rPr sz="1400" b="1" dirty="0">
                <a:solidFill>
                  <a:srgbClr val="FF0000"/>
                </a:solidFill>
                <a:latin typeface="Calibri"/>
                <a:cs typeface="Calibri"/>
              </a:rPr>
              <a:t>String s2 = "ab" +</a:t>
            </a:r>
            <a:r>
              <a:rPr sz="1400" b="1" spc="-135" dirty="0">
                <a:solidFill>
                  <a:srgbClr val="FF0000"/>
                </a:solidFill>
                <a:latin typeface="Calibri"/>
                <a:cs typeface="Calibri"/>
              </a:rPr>
              <a:t> </a:t>
            </a:r>
            <a:r>
              <a:rPr sz="1400" b="1" spc="-5" dirty="0">
                <a:solidFill>
                  <a:srgbClr val="FF0000"/>
                </a:solidFill>
                <a:latin typeface="Calibri"/>
                <a:cs typeface="Calibri"/>
              </a:rPr>
              <a:t>"cd";  </a:t>
            </a:r>
            <a:r>
              <a:rPr sz="1400" b="1" dirty="0">
                <a:solidFill>
                  <a:srgbClr val="FF0000"/>
                </a:solidFill>
                <a:latin typeface="Calibri"/>
                <a:cs typeface="Calibri"/>
              </a:rPr>
              <a:t>String s3 = "abc" +</a:t>
            </a:r>
            <a:r>
              <a:rPr sz="1400" b="1" spc="-135" dirty="0">
                <a:solidFill>
                  <a:srgbClr val="FF0000"/>
                </a:solidFill>
                <a:latin typeface="Calibri"/>
                <a:cs typeface="Calibri"/>
              </a:rPr>
              <a:t> </a:t>
            </a:r>
            <a:r>
              <a:rPr sz="1400" b="1" spc="-5" dirty="0">
                <a:solidFill>
                  <a:srgbClr val="FF0000"/>
                </a:solidFill>
                <a:latin typeface="Calibri"/>
                <a:cs typeface="Calibri"/>
              </a:rPr>
              <a:t>"d";</a:t>
            </a:r>
            <a:endParaRPr sz="1400">
              <a:latin typeface="Calibri"/>
              <a:cs typeface="Calibri"/>
            </a:endParaRPr>
          </a:p>
        </p:txBody>
      </p:sp>
      <p:sp>
        <p:nvSpPr>
          <p:cNvPr id="4" name="object 4"/>
          <p:cNvSpPr txBox="1"/>
          <p:nvPr/>
        </p:nvSpPr>
        <p:spPr>
          <a:xfrm>
            <a:off x="1943480" y="3704971"/>
            <a:ext cx="2034539"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0000"/>
                </a:solidFill>
                <a:latin typeface="Calibri"/>
                <a:cs typeface="Calibri"/>
              </a:rPr>
              <a:t>String s4 = </a:t>
            </a:r>
            <a:r>
              <a:rPr sz="1400" b="1" spc="-5" dirty="0">
                <a:solidFill>
                  <a:srgbClr val="FF0000"/>
                </a:solidFill>
                <a:latin typeface="Calibri"/>
                <a:cs typeface="Calibri"/>
              </a:rPr>
              <a:t>"a" </a:t>
            </a:r>
            <a:r>
              <a:rPr sz="1400" b="1" dirty="0">
                <a:solidFill>
                  <a:srgbClr val="FF0000"/>
                </a:solidFill>
                <a:latin typeface="Calibri"/>
                <a:cs typeface="Calibri"/>
              </a:rPr>
              <a:t>+ "bc" +</a:t>
            </a:r>
            <a:r>
              <a:rPr sz="1400" b="1" spc="-125" dirty="0">
                <a:solidFill>
                  <a:srgbClr val="FF0000"/>
                </a:solidFill>
                <a:latin typeface="Calibri"/>
                <a:cs typeface="Calibri"/>
              </a:rPr>
              <a:t> </a:t>
            </a:r>
            <a:r>
              <a:rPr sz="1400" b="1" spc="-5" dirty="0">
                <a:solidFill>
                  <a:srgbClr val="FF0000"/>
                </a:solidFill>
                <a:latin typeface="Calibri"/>
                <a:cs typeface="Calibri"/>
              </a:rPr>
              <a:t>"d";</a:t>
            </a:r>
            <a:endParaRPr sz="1400">
              <a:latin typeface="Calibri"/>
              <a:cs typeface="Calibri"/>
            </a:endParaRPr>
          </a:p>
        </p:txBody>
      </p:sp>
      <p:sp>
        <p:nvSpPr>
          <p:cNvPr id="5" name="object 5"/>
          <p:cNvSpPr txBox="1"/>
          <p:nvPr/>
        </p:nvSpPr>
        <p:spPr>
          <a:xfrm>
            <a:off x="1943480" y="4131690"/>
            <a:ext cx="857250" cy="452755"/>
          </a:xfrm>
          <a:prstGeom prst="rect">
            <a:avLst/>
          </a:prstGeom>
        </p:spPr>
        <p:txBody>
          <a:bodyPr vert="horz" wrap="square" lIns="0" tIns="12700" rIns="0" bIns="0" rtlCol="0">
            <a:spAutoFit/>
          </a:bodyPr>
          <a:lstStyle/>
          <a:p>
            <a:pPr marL="12700" marR="5080" indent="39370">
              <a:lnSpc>
                <a:spcPct val="100000"/>
              </a:lnSpc>
              <a:spcBef>
                <a:spcPts val="100"/>
              </a:spcBef>
            </a:pPr>
            <a:r>
              <a:rPr sz="1400" b="1" dirty="0">
                <a:solidFill>
                  <a:srgbClr val="FF0000"/>
                </a:solidFill>
                <a:latin typeface="Calibri"/>
                <a:cs typeface="Calibri"/>
              </a:rPr>
              <a:t>if(s1 </a:t>
            </a:r>
            <a:r>
              <a:rPr sz="1400" b="1" spc="-5" dirty="0">
                <a:solidFill>
                  <a:srgbClr val="FF0000"/>
                </a:solidFill>
                <a:latin typeface="Calibri"/>
                <a:cs typeface="Calibri"/>
              </a:rPr>
              <a:t>==</a:t>
            </a:r>
            <a:r>
              <a:rPr sz="1400" b="1" spc="-95" dirty="0">
                <a:solidFill>
                  <a:srgbClr val="FF0000"/>
                </a:solidFill>
                <a:latin typeface="Calibri"/>
                <a:cs typeface="Calibri"/>
              </a:rPr>
              <a:t> </a:t>
            </a:r>
            <a:r>
              <a:rPr sz="1400" b="1" dirty="0">
                <a:solidFill>
                  <a:srgbClr val="FF0000"/>
                </a:solidFill>
                <a:latin typeface="Calibri"/>
                <a:cs typeface="Calibri"/>
              </a:rPr>
              <a:t>s2)  else</a:t>
            </a:r>
            <a:endParaRPr sz="1400">
              <a:latin typeface="Calibri"/>
              <a:cs typeface="Calibri"/>
            </a:endParaRPr>
          </a:p>
        </p:txBody>
      </p:sp>
      <p:sp>
        <p:nvSpPr>
          <p:cNvPr id="6" name="object 6"/>
          <p:cNvSpPr txBox="1"/>
          <p:nvPr/>
        </p:nvSpPr>
        <p:spPr>
          <a:xfrm>
            <a:off x="3772661" y="4131690"/>
            <a:ext cx="2104390" cy="452755"/>
          </a:xfrm>
          <a:prstGeom prst="rect">
            <a:avLst/>
          </a:prstGeom>
        </p:spPr>
        <p:txBody>
          <a:bodyPr vert="horz" wrap="square" lIns="0" tIns="12700" rIns="0" bIns="0" rtlCol="0">
            <a:spAutoFit/>
          </a:bodyPr>
          <a:lstStyle/>
          <a:p>
            <a:pPr marL="12700" marR="5080">
              <a:lnSpc>
                <a:spcPct val="100000"/>
              </a:lnSpc>
              <a:spcBef>
                <a:spcPts val="100"/>
              </a:spcBef>
            </a:pPr>
            <a:r>
              <a:rPr sz="1400" b="1" spc="-30" dirty="0">
                <a:solidFill>
                  <a:srgbClr val="FF0000"/>
                </a:solidFill>
                <a:latin typeface="Calibri"/>
                <a:cs typeface="Calibri"/>
              </a:rPr>
              <a:t>S</a:t>
            </a:r>
            <a:r>
              <a:rPr sz="1400" b="1" spc="-20" dirty="0">
                <a:solidFill>
                  <a:srgbClr val="FF0000"/>
                </a:solidFill>
                <a:latin typeface="Calibri"/>
                <a:cs typeface="Calibri"/>
              </a:rPr>
              <a:t>y</a:t>
            </a:r>
            <a:r>
              <a:rPr sz="1400" b="1" spc="-10" dirty="0">
                <a:solidFill>
                  <a:srgbClr val="FF0000"/>
                </a:solidFill>
                <a:latin typeface="Calibri"/>
                <a:cs typeface="Calibri"/>
              </a:rPr>
              <a:t>st</a:t>
            </a:r>
            <a:r>
              <a:rPr sz="1400" b="1" spc="-5" dirty="0">
                <a:solidFill>
                  <a:srgbClr val="FF0000"/>
                </a:solidFill>
                <a:latin typeface="Calibri"/>
                <a:cs typeface="Calibri"/>
              </a:rPr>
              <a:t>em.ou</a:t>
            </a:r>
            <a:r>
              <a:rPr sz="1400" b="1" dirty="0">
                <a:solidFill>
                  <a:srgbClr val="FF0000"/>
                </a:solidFill>
                <a:latin typeface="Calibri"/>
                <a:cs typeface="Calibri"/>
              </a:rPr>
              <a:t>t</a:t>
            </a:r>
            <a:r>
              <a:rPr sz="1400" b="1" spc="-5" dirty="0">
                <a:solidFill>
                  <a:srgbClr val="FF0000"/>
                </a:solidFill>
                <a:latin typeface="Calibri"/>
                <a:cs typeface="Calibri"/>
              </a:rPr>
              <a:t>.p</a:t>
            </a:r>
            <a:r>
              <a:rPr sz="1400" b="1" dirty="0">
                <a:solidFill>
                  <a:srgbClr val="FF0000"/>
                </a:solidFill>
                <a:latin typeface="Calibri"/>
                <a:cs typeface="Calibri"/>
              </a:rPr>
              <a:t>ri</a:t>
            </a:r>
            <a:r>
              <a:rPr sz="1400" b="1" spc="-10" dirty="0">
                <a:solidFill>
                  <a:srgbClr val="FF0000"/>
                </a:solidFill>
                <a:latin typeface="Calibri"/>
                <a:cs typeface="Calibri"/>
              </a:rPr>
              <a:t>nt</a:t>
            </a:r>
            <a:r>
              <a:rPr sz="1400" b="1" dirty="0">
                <a:solidFill>
                  <a:srgbClr val="FF0000"/>
                </a:solidFill>
                <a:latin typeface="Calibri"/>
                <a:cs typeface="Calibri"/>
              </a:rPr>
              <a:t>l</a:t>
            </a:r>
            <a:r>
              <a:rPr sz="1400" b="1" spc="10" dirty="0">
                <a:solidFill>
                  <a:srgbClr val="FF0000"/>
                </a:solidFill>
                <a:latin typeface="Calibri"/>
                <a:cs typeface="Calibri"/>
              </a:rPr>
              <a:t>n</a:t>
            </a:r>
            <a:r>
              <a:rPr sz="1400" b="1" spc="-5" dirty="0">
                <a:solidFill>
                  <a:srgbClr val="FF0000"/>
                </a:solidFill>
                <a:latin typeface="Calibri"/>
                <a:cs typeface="Calibri"/>
              </a:rPr>
              <a:t>("Hel</a:t>
            </a:r>
            <a:r>
              <a:rPr sz="1400" b="1" dirty="0">
                <a:solidFill>
                  <a:srgbClr val="FF0000"/>
                </a:solidFill>
                <a:latin typeface="Calibri"/>
                <a:cs typeface="Calibri"/>
              </a:rPr>
              <a:t>lo"</a:t>
            </a:r>
            <a:r>
              <a:rPr sz="1400" b="1" spc="-10" dirty="0">
                <a:solidFill>
                  <a:srgbClr val="FF0000"/>
                </a:solidFill>
                <a:latin typeface="Calibri"/>
                <a:cs typeface="Calibri"/>
              </a:rPr>
              <a:t>)</a:t>
            </a:r>
            <a:r>
              <a:rPr sz="1400" b="1" dirty="0">
                <a:solidFill>
                  <a:srgbClr val="FF0000"/>
                </a:solidFill>
                <a:latin typeface="Calibri"/>
                <a:cs typeface="Calibri"/>
              </a:rPr>
              <a:t>;  </a:t>
            </a:r>
            <a:r>
              <a:rPr sz="1400" b="1" spc="-5" dirty="0">
                <a:solidFill>
                  <a:srgbClr val="FF0000"/>
                </a:solidFill>
                <a:latin typeface="Calibri"/>
                <a:cs typeface="Calibri"/>
              </a:rPr>
              <a:t>System.out.println("Hi");</a:t>
            </a:r>
            <a:endParaRPr sz="1400">
              <a:latin typeface="Calibri"/>
              <a:cs typeface="Calibri"/>
            </a:endParaRPr>
          </a:p>
        </p:txBody>
      </p:sp>
      <p:sp>
        <p:nvSpPr>
          <p:cNvPr id="7" name="object 7"/>
          <p:cNvSpPr txBox="1"/>
          <p:nvPr/>
        </p:nvSpPr>
        <p:spPr>
          <a:xfrm>
            <a:off x="1943480" y="4771466"/>
            <a:ext cx="817880" cy="453390"/>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0000"/>
                </a:solidFill>
                <a:latin typeface="Calibri"/>
                <a:cs typeface="Calibri"/>
              </a:rPr>
              <a:t>if(s2 ==</a:t>
            </a:r>
            <a:r>
              <a:rPr sz="1400" b="1" spc="-90" dirty="0">
                <a:solidFill>
                  <a:srgbClr val="FF0000"/>
                </a:solidFill>
                <a:latin typeface="Calibri"/>
                <a:cs typeface="Calibri"/>
              </a:rPr>
              <a:t> </a:t>
            </a:r>
            <a:r>
              <a:rPr sz="1400" b="1" dirty="0">
                <a:solidFill>
                  <a:srgbClr val="FF0000"/>
                </a:solidFill>
                <a:latin typeface="Calibri"/>
                <a:cs typeface="Calibri"/>
              </a:rPr>
              <a:t>s3)</a:t>
            </a:r>
            <a:endParaRPr sz="1400">
              <a:latin typeface="Calibri"/>
              <a:cs typeface="Calibri"/>
            </a:endParaRPr>
          </a:p>
          <a:p>
            <a:pPr marL="12700">
              <a:lnSpc>
                <a:spcPct val="100000"/>
              </a:lnSpc>
            </a:pPr>
            <a:r>
              <a:rPr sz="1400" b="1" dirty="0">
                <a:solidFill>
                  <a:srgbClr val="FF0000"/>
                </a:solidFill>
                <a:latin typeface="Calibri"/>
                <a:cs typeface="Calibri"/>
              </a:rPr>
              <a:t>else</a:t>
            </a:r>
            <a:endParaRPr sz="1400">
              <a:latin typeface="Calibri"/>
              <a:cs typeface="Calibri"/>
            </a:endParaRPr>
          </a:p>
        </p:txBody>
      </p:sp>
      <p:sp>
        <p:nvSpPr>
          <p:cNvPr id="8" name="object 8"/>
          <p:cNvSpPr txBox="1"/>
          <p:nvPr/>
        </p:nvSpPr>
        <p:spPr>
          <a:xfrm>
            <a:off x="3772661" y="4771466"/>
            <a:ext cx="2104390" cy="453390"/>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0000"/>
                </a:solidFill>
                <a:latin typeface="Calibri"/>
                <a:cs typeface="Calibri"/>
              </a:rPr>
              <a:t>System.out.println("Hello");</a:t>
            </a:r>
            <a:endParaRPr sz="1400">
              <a:latin typeface="Calibri"/>
              <a:cs typeface="Calibri"/>
            </a:endParaRPr>
          </a:p>
          <a:p>
            <a:pPr marL="12700">
              <a:lnSpc>
                <a:spcPct val="100000"/>
              </a:lnSpc>
            </a:pPr>
            <a:r>
              <a:rPr sz="1400" b="1" spc="-5" dirty="0">
                <a:solidFill>
                  <a:srgbClr val="FF0000"/>
                </a:solidFill>
                <a:latin typeface="Calibri"/>
                <a:cs typeface="Calibri"/>
              </a:rPr>
              <a:t>System.out.println("Hi");</a:t>
            </a:r>
            <a:endParaRPr sz="1400">
              <a:latin typeface="Calibri"/>
              <a:cs typeface="Calibri"/>
            </a:endParaRPr>
          </a:p>
        </p:txBody>
      </p:sp>
      <p:sp>
        <p:nvSpPr>
          <p:cNvPr id="9" name="object 9"/>
          <p:cNvSpPr txBox="1"/>
          <p:nvPr/>
        </p:nvSpPr>
        <p:spPr>
          <a:xfrm>
            <a:off x="1943480" y="5412130"/>
            <a:ext cx="817244" cy="452755"/>
          </a:xfrm>
          <a:prstGeom prst="rect">
            <a:avLst/>
          </a:prstGeom>
        </p:spPr>
        <p:txBody>
          <a:bodyPr vert="horz" wrap="square" lIns="0" tIns="12700" rIns="0" bIns="0" rtlCol="0">
            <a:spAutoFit/>
          </a:bodyPr>
          <a:lstStyle/>
          <a:p>
            <a:pPr marL="12700" marR="5080">
              <a:lnSpc>
                <a:spcPct val="100000"/>
              </a:lnSpc>
              <a:spcBef>
                <a:spcPts val="100"/>
              </a:spcBef>
            </a:pPr>
            <a:r>
              <a:rPr sz="1400" b="1" dirty="0">
                <a:solidFill>
                  <a:srgbClr val="FF0000"/>
                </a:solidFill>
                <a:latin typeface="Calibri"/>
                <a:cs typeface="Calibri"/>
              </a:rPr>
              <a:t>if(s3 </a:t>
            </a:r>
            <a:r>
              <a:rPr sz="1400" b="1" spc="-5" dirty="0">
                <a:solidFill>
                  <a:srgbClr val="FF0000"/>
                </a:solidFill>
                <a:latin typeface="Calibri"/>
                <a:cs typeface="Calibri"/>
              </a:rPr>
              <a:t>==</a:t>
            </a:r>
            <a:r>
              <a:rPr sz="1400" b="1" spc="-100" dirty="0">
                <a:solidFill>
                  <a:srgbClr val="FF0000"/>
                </a:solidFill>
                <a:latin typeface="Calibri"/>
                <a:cs typeface="Calibri"/>
              </a:rPr>
              <a:t> </a:t>
            </a:r>
            <a:r>
              <a:rPr sz="1400" b="1" dirty="0">
                <a:solidFill>
                  <a:srgbClr val="FF0000"/>
                </a:solidFill>
                <a:latin typeface="Calibri"/>
                <a:cs typeface="Calibri"/>
              </a:rPr>
              <a:t>s4)  else</a:t>
            </a:r>
            <a:endParaRPr sz="1400">
              <a:latin typeface="Calibri"/>
              <a:cs typeface="Calibri"/>
            </a:endParaRPr>
          </a:p>
        </p:txBody>
      </p:sp>
      <p:sp>
        <p:nvSpPr>
          <p:cNvPr id="10" name="object 10"/>
          <p:cNvSpPr txBox="1"/>
          <p:nvPr/>
        </p:nvSpPr>
        <p:spPr>
          <a:xfrm>
            <a:off x="3772661" y="5412130"/>
            <a:ext cx="2104390" cy="452755"/>
          </a:xfrm>
          <a:prstGeom prst="rect">
            <a:avLst/>
          </a:prstGeom>
        </p:spPr>
        <p:txBody>
          <a:bodyPr vert="horz" wrap="square" lIns="0" tIns="12700" rIns="0" bIns="0" rtlCol="0">
            <a:spAutoFit/>
          </a:bodyPr>
          <a:lstStyle/>
          <a:p>
            <a:pPr marL="12700" marR="5080">
              <a:lnSpc>
                <a:spcPct val="100000"/>
              </a:lnSpc>
              <a:spcBef>
                <a:spcPts val="100"/>
              </a:spcBef>
            </a:pPr>
            <a:r>
              <a:rPr sz="1400" b="1" spc="-30" dirty="0">
                <a:solidFill>
                  <a:srgbClr val="FF0000"/>
                </a:solidFill>
                <a:latin typeface="Calibri"/>
                <a:cs typeface="Calibri"/>
              </a:rPr>
              <a:t>S</a:t>
            </a:r>
            <a:r>
              <a:rPr sz="1400" b="1" spc="-20" dirty="0">
                <a:solidFill>
                  <a:srgbClr val="FF0000"/>
                </a:solidFill>
                <a:latin typeface="Calibri"/>
                <a:cs typeface="Calibri"/>
              </a:rPr>
              <a:t>y</a:t>
            </a:r>
            <a:r>
              <a:rPr sz="1400" b="1" spc="-10" dirty="0">
                <a:solidFill>
                  <a:srgbClr val="FF0000"/>
                </a:solidFill>
                <a:latin typeface="Calibri"/>
                <a:cs typeface="Calibri"/>
              </a:rPr>
              <a:t>st</a:t>
            </a:r>
            <a:r>
              <a:rPr sz="1400" b="1" spc="-5" dirty="0">
                <a:solidFill>
                  <a:srgbClr val="FF0000"/>
                </a:solidFill>
                <a:latin typeface="Calibri"/>
                <a:cs typeface="Calibri"/>
              </a:rPr>
              <a:t>em.ou</a:t>
            </a:r>
            <a:r>
              <a:rPr sz="1400" b="1" dirty="0">
                <a:solidFill>
                  <a:srgbClr val="FF0000"/>
                </a:solidFill>
                <a:latin typeface="Calibri"/>
                <a:cs typeface="Calibri"/>
              </a:rPr>
              <a:t>t</a:t>
            </a:r>
            <a:r>
              <a:rPr sz="1400" b="1" spc="-5" dirty="0">
                <a:solidFill>
                  <a:srgbClr val="FF0000"/>
                </a:solidFill>
                <a:latin typeface="Calibri"/>
                <a:cs typeface="Calibri"/>
              </a:rPr>
              <a:t>.p</a:t>
            </a:r>
            <a:r>
              <a:rPr sz="1400" b="1" dirty="0">
                <a:solidFill>
                  <a:srgbClr val="FF0000"/>
                </a:solidFill>
                <a:latin typeface="Calibri"/>
                <a:cs typeface="Calibri"/>
              </a:rPr>
              <a:t>ri</a:t>
            </a:r>
            <a:r>
              <a:rPr sz="1400" b="1" spc="-10" dirty="0">
                <a:solidFill>
                  <a:srgbClr val="FF0000"/>
                </a:solidFill>
                <a:latin typeface="Calibri"/>
                <a:cs typeface="Calibri"/>
              </a:rPr>
              <a:t>nt</a:t>
            </a:r>
            <a:r>
              <a:rPr sz="1400" b="1" dirty="0">
                <a:solidFill>
                  <a:srgbClr val="FF0000"/>
                </a:solidFill>
                <a:latin typeface="Calibri"/>
                <a:cs typeface="Calibri"/>
              </a:rPr>
              <a:t>l</a:t>
            </a:r>
            <a:r>
              <a:rPr sz="1400" b="1" spc="10" dirty="0">
                <a:solidFill>
                  <a:srgbClr val="FF0000"/>
                </a:solidFill>
                <a:latin typeface="Calibri"/>
                <a:cs typeface="Calibri"/>
              </a:rPr>
              <a:t>n</a:t>
            </a:r>
            <a:r>
              <a:rPr sz="1400" b="1" spc="-5" dirty="0">
                <a:solidFill>
                  <a:srgbClr val="FF0000"/>
                </a:solidFill>
                <a:latin typeface="Calibri"/>
                <a:cs typeface="Calibri"/>
              </a:rPr>
              <a:t>("Hel</a:t>
            </a:r>
            <a:r>
              <a:rPr sz="1400" b="1" dirty="0">
                <a:solidFill>
                  <a:srgbClr val="FF0000"/>
                </a:solidFill>
                <a:latin typeface="Calibri"/>
                <a:cs typeface="Calibri"/>
              </a:rPr>
              <a:t>lo"</a:t>
            </a:r>
            <a:r>
              <a:rPr sz="1400" b="1" spc="-10" dirty="0">
                <a:solidFill>
                  <a:srgbClr val="FF0000"/>
                </a:solidFill>
                <a:latin typeface="Calibri"/>
                <a:cs typeface="Calibri"/>
              </a:rPr>
              <a:t>)</a:t>
            </a:r>
            <a:r>
              <a:rPr sz="1400" b="1" dirty="0">
                <a:solidFill>
                  <a:srgbClr val="FF0000"/>
                </a:solidFill>
                <a:latin typeface="Calibri"/>
                <a:cs typeface="Calibri"/>
              </a:rPr>
              <a:t>;  </a:t>
            </a:r>
            <a:r>
              <a:rPr sz="1400" b="1" spc="-5" dirty="0">
                <a:solidFill>
                  <a:srgbClr val="FF0000"/>
                </a:solidFill>
                <a:latin typeface="Calibri"/>
                <a:cs typeface="Calibri"/>
              </a:rPr>
              <a:t>System.out.println("Hi");</a:t>
            </a:r>
            <a:endParaRPr sz="1400">
              <a:latin typeface="Calibri"/>
              <a:cs typeface="Calibri"/>
            </a:endParaRPr>
          </a:p>
        </p:txBody>
      </p:sp>
      <p:sp>
        <p:nvSpPr>
          <p:cNvPr id="11" name="object 11"/>
          <p:cNvSpPr txBox="1"/>
          <p:nvPr/>
        </p:nvSpPr>
        <p:spPr>
          <a:xfrm>
            <a:off x="114401" y="6051905"/>
            <a:ext cx="2296160" cy="453390"/>
          </a:xfrm>
          <a:prstGeom prst="rect">
            <a:avLst/>
          </a:prstGeom>
        </p:spPr>
        <p:txBody>
          <a:bodyPr vert="horz" wrap="square" lIns="0" tIns="13335" rIns="0" bIns="0" rtlCol="0">
            <a:spAutoFit/>
          </a:bodyPr>
          <a:lstStyle/>
          <a:p>
            <a:pPr marL="927100">
              <a:lnSpc>
                <a:spcPct val="100000"/>
              </a:lnSpc>
              <a:spcBef>
                <a:spcPts val="105"/>
              </a:spcBef>
            </a:pPr>
            <a:r>
              <a:rPr sz="1400" b="1" spc="-5" dirty="0">
                <a:latin typeface="Calibri"/>
                <a:cs typeface="Calibri"/>
              </a:rPr>
              <a:t>}// </a:t>
            </a:r>
            <a:r>
              <a:rPr sz="1400" b="1" dirty="0">
                <a:latin typeface="Calibri"/>
                <a:cs typeface="Calibri"/>
              </a:rPr>
              <a:t>End of</a:t>
            </a:r>
            <a:r>
              <a:rPr sz="1400" b="1" spc="-75" dirty="0">
                <a:latin typeface="Calibri"/>
                <a:cs typeface="Calibri"/>
              </a:rPr>
              <a:t> </a:t>
            </a:r>
            <a:r>
              <a:rPr sz="1400" b="1" spc="-5" dirty="0">
                <a:latin typeface="Calibri"/>
                <a:cs typeface="Calibri"/>
              </a:rPr>
              <a:t>Method</a:t>
            </a:r>
            <a:endParaRPr sz="1400">
              <a:latin typeface="Calibri"/>
              <a:cs typeface="Calibri"/>
            </a:endParaRPr>
          </a:p>
          <a:p>
            <a:pPr marL="12700">
              <a:lnSpc>
                <a:spcPct val="100000"/>
              </a:lnSpc>
            </a:pPr>
            <a:r>
              <a:rPr sz="1400" b="1" spc="-5" dirty="0">
                <a:latin typeface="Calibri"/>
                <a:cs typeface="Calibri"/>
              </a:rPr>
              <a:t>}// </a:t>
            </a:r>
            <a:r>
              <a:rPr sz="1400" b="1" dirty="0">
                <a:latin typeface="Calibri"/>
                <a:cs typeface="Calibri"/>
              </a:rPr>
              <a:t>End of </a:t>
            </a:r>
            <a:r>
              <a:rPr sz="1400" b="1" spc="-5" dirty="0">
                <a:latin typeface="Calibri"/>
                <a:cs typeface="Calibri"/>
              </a:rPr>
              <a:t>class</a:t>
            </a:r>
            <a:r>
              <a:rPr sz="1400" b="1" spc="-35" dirty="0">
                <a:latin typeface="Calibri"/>
                <a:cs typeface="Calibri"/>
              </a:rPr>
              <a:t> </a:t>
            </a:r>
            <a:r>
              <a:rPr sz="1400" b="1" spc="-5" dirty="0">
                <a:latin typeface="Calibri"/>
                <a:cs typeface="Calibri"/>
              </a:rPr>
              <a:t>StringDemo</a:t>
            </a:r>
            <a:endParaRPr sz="1400">
              <a:latin typeface="Calibri"/>
              <a:cs typeface="Calibri"/>
            </a:endParaRPr>
          </a:p>
        </p:txBody>
      </p:sp>
      <p:sp>
        <p:nvSpPr>
          <p:cNvPr id="12" name="object 12"/>
          <p:cNvSpPr txBox="1"/>
          <p:nvPr/>
        </p:nvSpPr>
        <p:spPr>
          <a:xfrm>
            <a:off x="6379845" y="3664457"/>
            <a:ext cx="2543810" cy="1854835"/>
          </a:xfrm>
          <a:prstGeom prst="rect">
            <a:avLst/>
          </a:prstGeom>
        </p:spPr>
        <p:txBody>
          <a:bodyPr vert="horz" wrap="square" lIns="0" tIns="12700" rIns="0" bIns="0" rtlCol="0">
            <a:spAutoFit/>
          </a:bodyPr>
          <a:lstStyle/>
          <a:p>
            <a:pPr marL="485140">
              <a:lnSpc>
                <a:spcPct val="100000"/>
              </a:lnSpc>
              <a:spcBef>
                <a:spcPts val="100"/>
              </a:spcBef>
            </a:pPr>
            <a:r>
              <a:rPr sz="2400" b="1" spc="-5" dirty="0">
                <a:solidFill>
                  <a:srgbClr val="FF0000"/>
                </a:solidFill>
                <a:latin typeface="Calibri"/>
                <a:cs typeface="Calibri"/>
              </a:rPr>
              <a:t>&lt;&lt;OUTPUT&gt;&gt;</a:t>
            </a:r>
            <a:endParaRPr sz="2400">
              <a:latin typeface="Calibri"/>
              <a:cs typeface="Calibri"/>
            </a:endParaRPr>
          </a:p>
          <a:p>
            <a:pPr marL="12700" marR="5080">
              <a:lnSpc>
                <a:spcPct val="100000"/>
              </a:lnSpc>
            </a:pPr>
            <a:r>
              <a:rPr sz="2400" spc="-10" dirty="0">
                <a:solidFill>
                  <a:srgbClr val="FF0000"/>
                </a:solidFill>
                <a:latin typeface="Calibri"/>
                <a:cs typeface="Calibri"/>
              </a:rPr>
              <a:t>F:\&gt;java</a:t>
            </a:r>
            <a:r>
              <a:rPr sz="2400" spc="-95" dirty="0">
                <a:solidFill>
                  <a:srgbClr val="FF0000"/>
                </a:solidFill>
                <a:latin typeface="Calibri"/>
                <a:cs typeface="Calibri"/>
              </a:rPr>
              <a:t> </a:t>
            </a:r>
            <a:r>
              <a:rPr sz="2400" spc="-5" dirty="0">
                <a:solidFill>
                  <a:srgbClr val="FF0000"/>
                </a:solidFill>
                <a:latin typeface="Calibri"/>
                <a:cs typeface="Calibri"/>
              </a:rPr>
              <a:t>StringDemo  </a:t>
            </a:r>
            <a:r>
              <a:rPr sz="2400" dirty="0">
                <a:solidFill>
                  <a:srgbClr val="FF0000"/>
                </a:solidFill>
                <a:latin typeface="Calibri"/>
                <a:cs typeface="Calibri"/>
              </a:rPr>
              <a:t>Hello</a:t>
            </a:r>
            <a:endParaRPr sz="2400">
              <a:latin typeface="Calibri"/>
              <a:cs typeface="Calibri"/>
            </a:endParaRPr>
          </a:p>
          <a:p>
            <a:pPr marL="12700" marR="1879600">
              <a:lnSpc>
                <a:spcPct val="100000"/>
              </a:lnSpc>
            </a:pPr>
            <a:r>
              <a:rPr sz="2400" spc="-5" dirty="0">
                <a:solidFill>
                  <a:srgbClr val="FF0000"/>
                </a:solidFill>
                <a:latin typeface="Calibri"/>
                <a:cs typeface="Calibri"/>
              </a:rPr>
              <a:t>H</a:t>
            </a:r>
            <a:r>
              <a:rPr sz="2400" spc="5" dirty="0">
                <a:solidFill>
                  <a:srgbClr val="FF0000"/>
                </a:solidFill>
                <a:latin typeface="Calibri"/>
                <a:cs typeface="Calibri"/>
              </a:rPr>
              <a:t>e</a:t>
            </a:r>
            <a:r>
              <a:rPr sz="2400" dirty="0">
                <a:solidFill>
                  <a:srgbClr val="FF0000"/>
                </a:solidFill>
                <a:latin typeface="Calibri"/>
                <a:cs typeface="Calibri"/>
              </a:rPr>
              <a:t>llo  </a:t>
            </a:r>
            <a:r>
              <a:rPr sz="2400" spc="-5" dirty="0">
                <a:solidFill>
                  <a:srgbClr val="FF0000"/>
                </a:solidFill>
                <a:latin typeface="Calibri"/>
                <a:cs typeface="Calibri"/>
              </a:rPr>
              <a:t>H</a:t>
            </a:r>
            <a:r>
              <a:rPr sz="2400" spc="5" dirty="0">
                <a:solidFill>
                  <a:srgbClr val="FF0000"/>
                </a:solidFill>
                <a:latin typeface="Calibri"/>
                <a:cs typeface="Calibri"/>
              </a:rPr>
              <a:t>e</a:t>
            </a:r>
            <a:r>
              <a:rPr sz="2400" dirty="0">
                <a:solidFill>
                  <a:srgbClr val="FF0000"/>
                </a:solidFill>
                <a:latin typeface="Calibri"/>
                <a:cs typeface="Calibri"/>
              </a:rPr>
              <a:t>llo</a:t>
            </a:r>
            <a:endParaRPr sz="24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5237"/>
            <a:ext cx="4926330" cy="513715"/>
          </a:xfrm>
          <a:prstGeom prst="rect">
            <a:avLst/>
          </a:prstGeom>
        </p:spPr>
        <p:txBody>
          <a:bodyPr vert="horz" wrap="square" lIns="0" tIns="13335" rIns="0" bIns="0" rtlCol="0">
            <a:spAutoFit/>
          </a:bodyPr>
          <a:lstStyle/>
          <a:p>
            <a:pPr marL="355600" indent="-342900">
              <a:lnSpc>
                <a:spcPct val="100000"/>
              </a:lnSpc>
              <a:spcBef>
                <a:spcPts val="105"/>
              </a:spcBef>
              <a:buClr>
                <a:srgbClr val="0F1141"/>
              </a:buClr>
              <a:buChar char="•"/>
              <a:tabLst>
                <a:tab pos="354965" algn="l"/>
                <a:tab pos="355600" algn="l"/>
              </a:tabLst>
            </a:pPr>
            <a:r>
              <a:rPr sz="3200" spc="-5" dirty="0">
                <a:latin typeface="Arial"/>
                <a:cs typeface="Arial"/>
              </a:rPr>
              <a:t>Important </a:t>
            </a:r>
            <a:r>
              <a:rPr sz="3200" dirty="0">
                <a:latin typeface="Arial"/>
                <a:cs typeface="Arial"/>
              </a:rPr>
              <a:t>String</a:t>
            </a:r>
            <a:r>
              <a:rPr sz="3200" spc="-65" dirty="0">
                <a:latin typeface="Arial"/>
                <a:cs typeface="Arial"/>
              </a:rPr>
              <a:t> </a:t>
            </a:r>
            <a:r>
              <a:rPr sz="3200" spc="-5" dirty="0">
                <a:latin typeface="Arial"/>
                <a:cs typeface="Arial"/>
              </a:rPr>
              <a:t>Methods</a:t>
            </a:r>
            <a:endParaRPr sz="32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7726"/>
            <a:ext cx="6711315" cy="2076450"/>
          </a:xfrm>
          <a:prstGeom prst="rect">
            <a:avLst/>
          </a:prstGeom>
        </p:spPr>
        <p:txBody>
          <a:bodyPr vert="horz" wrap="square" lIns="0" tIns="12700" rIns="0" bIns="0" rtlCol="0">
            <a:spAutoFit/>
          </a:bodyPr>
          <a:lstStyle/>
          <a:p>
            <a:pPr marL="355600" indent="-342900">
              <a:lnSpc>
                <a:spcPct val="100000"/>
              </a:lnSpc>
              <a:spcBef>
                <a:spcPts val="100"/>
              </a:spcBef>
              <a:buClr>
                <a:srgbClr val="0F1141"/>
              </a:buClr>
              <a:buChar char="•"/>
              <a:tabLst>
                <a:tab pos="354965" algn="l"/>
                <a:tab pos="355600" algn="l"/>
                <a:tab pos="927100" algn="l"/>
              </a:tabLst>
            </a:pPr>
            <a:r>
              <a:rPr sz="2400" spc="-5" dirty="0">
                <a:solidFill>
                  <a:srgbClr val="FF0000"/>
                </a:solidFill>
                <a:latin typeface="Arial"/>
                <a:cs typeface="Arial"/>
              </a:rPr>
              <a:t>int	length() </a:t>
            </a:r>
            <a:r>
              <a:rPr sz="2400" dirty="0">
                <a:latin typeface="Wingdings"/>
                <a:cs typeface="Wingdings"/>
              </a:rPr>
              <a:t></a:t>
            </a:r>
            <a:r>
              <a:rPr sz="2400" dirty="0">
                <a:latin typeface="Times New Roman"/>
                <a:cs typeface="Times New Roman"/>
              </a:rPr>
              <a:t> </a:t>
            </a:r>
            <a:r>
              <a:rPr sz="2400" spc="-5" dirty="0">
                <a:latin typeface="Arial"/>
                <a:cs typeface="Arial"/>
              </a:rPr>
              <a:t>Returns </a:t>
            </a:r>
            <a:r>
              <a:rPr sz="2400" dirty="0">
                <a:latin typeface="Arial"/>
                <a:cs typeface="Arial"/>
              </a:rPr>
              <a:t>the </a:t>
            </a:r>
            <a:r>
              <a:rPr sz="2400" spc="-5" dirty="0">
                <a:latin typeface="Arial"/>
                <a:cs typeface="Arial"/>
              </a:rPr>
              <a:t>length </a:t>
            </a:r>
            <a:r>
              <a:rPr sz="2400" dirty="0">
                <a:latin typeface="Arial"/>
                <a:cs typeface="Arial"/>
              </a:rPr>
              <a:t>of this</a:t>
            </a:r>
            <a:r>
              <a:rPr sz="2400" spc="85" dirty="0">
                <a:latin typeface="Arial"/>
                <a:cs typeface="Arial"/>
              </a:rPr>
              <a:t> </a:t>
            </a:r>
            <a:r>
              <a:rPr sz="2400" spc="-5" dirty="0">
                <a:latin typeface="Arial"/>
                <a:cs typeface="Arial"/>
              </a:rPr>
              <a:t>String</a:t>
            </a:r>
            <a:endParaRPr sz="2400" dirty="0">
              <a:latin typeface="Arial"/>
              <a:cs typeface="Arial"/>
            </a:endParaRPr>
          </a:p>
          <a:p>
            <a:pPr marL="355600">
              <a:lnSpc>
                <a:spcPct val="100000"/>
              </a:lnSpc>
              <a:spcBef>
                <a:spcPts val="15"/>
              </a:spcBef>
            </a:pPr>
            <a:r>
              <a:rPr sz="2400" dirty="0">
                <a:latin typeface="Arial"/>
                <a:cs typeface="Arial"/>
              </a:rPr>
              <a:t>reference</a:t>
            </a:r>
          </a:p>
          <a:p>
            <a:pPr marL="355600" indent="-342900">
              <a:lnSpc>
                <a:spcPct val="100000"/>
              </a:lnSpc>
              <a:spcBef>
                <a:spcPts val="575"/>
              </a:spcBef>
              <a:buClr>
                <a:srgbClr val="0F1141"/>
              </a:buClr>
              <a:buChar char="•"/>
              <a:tabLst>
                <a:tab pos="354965" algn="l"/>
                <a:tab pos="355600" algn="l"/>
              </a:tabLst>
            </a:pPr>
            <a:r>
              <a:rPr sz="2400" spc="-5" dirty="0">
                <a:latin typeface="Arial"/>
                <a:cs typeface="Arial"/>
              </a:rPr>
              <a:t>Example</a:t>
            </a:r>
            <a:endParaRPr sz="2400" dirty="0">
              <a:latin typeface="Arial"/>
              <a:cs typeface="Arial"/>
            </a:endParaRPr>
          </a:p>
          <a:p>
            <a:pPr marL="469900" indent="-457200">
              <a:lnSpc>
                <a:spcPct val="100000"/>
              </a:lnSpc>
              <a:spcBef>
                <a:spcPts val="575"/>
              </a:spcBef>
              <a:buClr>
                <a:srgbClr val="0F1141"/>
              </a:buClr>
              <a:buAutoNum type="arabicPeriod"/>
              <a:tabLst>
                <a:tab pos="469265" algn="l"/>
                <a:tab pos="469900" algn="l"/>
              </a:tabLst>
            </a:pPr>
            <a:r>
              <a:rPr sz="2400" spc="-5" dirty="0">
                <a:latin typeface="Arial"/>
                <a:cs typeface="Arial"/>
              </a:rPr>
              <a:t>“abc”.length() returns</a:t>
            </a:r>
            <a:r>
              <a:rPr sz="2400" spc="-10" dirty="0">
                <a:latin typeface="Arial"/>
                <a:cs typeface="Arial"/>
              </a:rPr>
              <a:t> </a:t>
            </a:r>
            <a:r>
              <a:rPr sz="2400" dirty="0">
                <a:latin typeface="Arial"/>
                <a:cs typeface="Arial"/>
              </a:rPr>
              <a:t>3</a:t>
            </a:r>
          </a:p>
          <a:p>
            <a:pPr marL="469900" indent="-457200">
              <a:lnSpc>
                <a:spcPct val="100000"/>
              </a:lnSpc>
              <a:spcBef>
                <a:spcPts val="580"/>
              </a:spcBef>
              <a:buClr>
                <a:srgbClr val="0F1141"/>
              </a:buClr>
              <a:buAutoNum type="arabicPeriod"/>
              <a:tabLst>
                <a:tab pos="469265" algn="l"/>
                <a:tab pos="469900" algn="l"/>
              </a:tabLst>
            </a:pPr>
            <a:r>
              <a:rPr sz="2400" spc="-5" dirty="0">
                <a:latin typeface="Arial"/>
                <a:cs typeface="Arial"/>
              </a:rPr>
              <a:t>String </a:t>
            </a:r>
            <a:r>
              <a:rPr sz="2400" dirty="0">
                <a:latin typeface="Arial"/>
                <a:cs typeface="Arial"/>
              </a:rPr>
              <a:t>s1 </a:t>
            </a:r>
            <a:r>
              <a:rPr sz="2400" spc="-5" dirty="0">
                <a:latin typeface="Arial"/>
                <a:cs typeface="Arial"/>
              </a:rPr>
              <a:t>=“Object”; s1.length() returns</a:t>
            </a:r>
            <a:r>
              <a:rPr sz="2400" spc="-20" dirty="0">
                <a:latin typeface="Arial"/>
                <a:cs typeface="Arial"/>
              </a:rPr>
              <a:t> </a:t>
            </a:r>
            <a:r>
              <a:rPr sz="2400" dirty="0">
                <a:latin typeface="Arial"/>
                <a:cs typeface="Arial"/>
              </a:rPr>
              <a:t>6</a:t>
            </a:r>
          </a:p>
        </p:txBody>
      </p:sp>
      <p:sp>
        <p:nvSpPr>
          <p:cNvPr id="3" name="object 3"/>
          <p:cNvSpPr txBox="1">
            <a:spLocks noGrp="1"/>
          </p:cNvSpPr>
          <p:nvPr>
            <p:ph type="title"/>
          </p:nvPr>
        </p:nvSpPr>
        <p:spPr>
          <a:xfrm>
            <a:off x="383540" y="379221"/>
            <a:ext cx="4922520" cy="574040"/>
          </a:xfrm>
          <a:prstGeom prst="rect">
            <a:avLst/>
          </a:prstGeom>
        </p:spPr>
        <p:txBody>
          <a:bodyPr vert="horz" wrap="square" lIns="0" tIns="12700" rIns="0" bIns="0" rtlCol="0">
            <a:spAutoFit/>
          </a:bodyPr>
          <a:lstStyle/>
          <a:p>
            <a:pPr marL="12700">
              <a:lnSpc>
                <a:spcPct val="100000"/>
              </a:lnSpc>
              <a:spcBef>
                <a:spcPts val="100"/>
              </a:spcBef>
            </a:pPr>
            <a:r>
              <a:rPr sz="3600" i="0" spc="-140" dirty="0">
                <a:solidFill>
                  <a:srgbClr val="000000"/>
                </a:solidFill>
                <a:latin typeface="Arial"/>
                <a:cs typeface="Arial"/>
              </a:rPr>
              <a:t>Getting </a:t>
            </a:r>
            <a:r>
              <a:rPr sz="3600" i="0" spc="-135" dirty="0">
                <a:solidFill>
                  <a:srgbClr val="000000"/>
                </a:solidFill>
                <a:latin typeface="Arial"/>
                <a:cs typeface="Arial"/>
              </a:rPr>
              <a:t>length </a:t>
            </a:r>
            <a:r>
              <a:rPr sz="3600" i="0" spc="-80" dirty="0">
                <a:solidFill>
                  <a:srgbClr val="000000"/>
                </a:solidFill>
                <a:latin typeface="Arial"/>
                <a:cs typeface="Arial"/>
              </a:rPr>
              <a:t>of</a:t>
            </a:r>
            <a:r>
              <a:rPr sz="3600" i="0" spc="-570" dirty="0">
                <a:solidFill>
                  <a:srgbClr val="000000"/>
                </a:solidFill>
                <a:latin typeface="Arial"/>
                <a:cs typeface="Arial"/>
              </a:rPr>
              <a:t> </a:t>
            </a:r>
            <a:r>
              <a:rPr sz="3600" i="0" spc="-140" dirty="0">
                <a:solidFill>
                  <a:srgbClr val="000000"/>
                </a:solidFill>
                <a:latin typeface="Arial"/>
                <a:cs typeface="Arial"/>
              </a:rPr>
              <a:t>Strings</a:t>
            </a:r>
            <a:endParaRPr sz="36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5868"/>
            <a:ext cx="7933690" cy="4636770"/>
          </a:xfrm>
          <a:prstGeom prst="rect">
            <a:avLst/>
          </a:prstGeom>
        </p:spPr>
        <p:txBody>
          <a:bodyPr vert="horz" wrap="square" lIns="0" tIns="49530" rIns="0" bIns="0" rtlCol="0">
            <a:spAutoFit/>
          </a:bodyPr>
          <a:lstStyle/>
          <a:p>
            <a:pPr marL="12700">
              <a:lnSpc>
                <a:spcPct val="100000"/>
              </a:lnSpc>
              <a:spcBef>
                <a:spcPts val="390"/>
              </a:spcBef>
              <a:tabLst>
                <a:tab pos="354965" algn="l"/>
              </a:tabLst>
            </a:pPr>
            <a:r>
              <a:rPr sz="2400" dirty="0">
                <a:solidFill>
                  <a:srgbClr val="0F1141"/>
                </a:solidFill>
                <a:latin typeface="Arial"/>
                <a:cs typeface="Arial"/>
              </a:rPr>
              <a:t>•	</a:t>
            </a:r>
            <a:r>
              <a:rPr sz="2400" dirty="0">
                <a:solidFill>
                  <a:srgbClr val="FF0000"/>
                </a:solidFill>
                <a:latin typeface="Arial"/>
                <a:cs typeface="Arial"/>
              </a:rPr>
              <a:t>+ </a:t>
            </a:r>
            <a:r>
              <a:rPr sz="2400" spc="-5" dirty="0">
                <a:latin typeface="Arial"/>
                <a:cs typeface="Arial"/>
              </a:rPr>
              <a:t>operator </a:t>
            </a:r>
            <a:r>
              <a:rPr sz="2400" dirty="0">
                <a:latin typeface="Arial"/>
                <a:cs typeface="Arial"/>
              </a:rPr>
              <a:t>can be </a:t>
            </a:r>
            <a:r>
              <a:rPr sz="2400" spc="-5" dirty="0">
                <a:latin typeface="Arial"/>
                <a:cs typeface="Arial"/>
              </a:rPr>
              <a:t>used </a:t>
            </a:r>
            <a:r>
              <a:rPr sz="2400" dirty="0">
                <a:latin typeface="Arial"/>
                <a:cs typeface="Arial"/>
              </a:rPr>
              <a:t>for string</a:t>
            </a:r>
            <a:r>
              <a:rPr sz="2400" spc="-5" dirty="0">
                <a:latin typeface="Arial"/>
                <a:cs typeface="Arial"/>
              </a:rPr>
              <a:t> concatenation</a:t>
            </a:r>
            <a:endParaRPr sz="2400" dirty="0">
              <a:latin typeface="Arial"/>
              <a:cs typeface="Arial"/>
            </a:endParaRPr>
          </a:p>
          <a:p>
            <a:pPr marL="355600" marR="5080" indent="-342900">
              <a:lnSpc>
                <a:spcPts val="2590"/>
              </a:lnSpc>
              <a:spcBef>
                <a:spcPts val="620"/>
              </a:spcBef>
              <a:tabLst>
                <a:tab pos="354965" algn="l"/>
              </a:tabLst>
            </a:pPr>
            <a:r>
              <a:rPr sz="2400" dirty="0">
                <a:solidFill>
                  <a:srgbClr val="0F1141"/>
                </a:solidFill>
                <a:latin typeface="Arial"/>
                <a:cs typeface="Arial"/>
              </a:rPr>
              <a:t>•	</a:t>
            </a:r>
            <a:r>
              <a:rPr sz="2400" dirty="0">
                <a:solidFill>
                  <a:srgbClr val="FF0000"/>
                </a:solidFill>
                <a:latin typeface="Arial"/>
                <a:cs typeface="Arial"/>
              </a:rPr>
              <a:t>+ </a:t>
            </a:r>
            <a:r>
              <a:rPr sz="2400" spc="-5" dirty="0">
                <a:latin typeface="Arial"/>
                <a:cs typeface="Arial"/>
              </a:rPr>
              <a:t>operator can concatenate </a:t>
            </a:r>
            <a:r>
              <a:rPr sz="2400" dirty="0">
                <a:latin typeface="Arial"/>
                <a:cs typeface="Arial"/>
              </a:rPr>
              <a:t>not </a:t>
            </a:r>
            <a:r>
              <a:rPr sz="2400" spc="-5" dirty="0">
                <a:latin typeface="Arial"/>
                <a:cs typeface="Arial"/>
              </a:rPr>
              <a:t>only </a:t>
            </a:r>
            <a:r>
              <a:rPr sz="2400" dirty="0">
                <a:latin typeface="Arial"/>
                <a:cs typeface="Arial"/>
              </a:rPr>
              <a:t>two </a:t>
            </a:r>
            <a:r>
              <a:rPr sz="2400" spc="-5" dirty="0">
                <a:latin typeface="Arial"/>
                <a:cs typeface="Arial"/>
              </a:rPr>
              <a:t>strings </a:t>
            </a:r>
            <a:r>
              <a:rPr sz="2400" dirty="0">
                <a:latin typeface="Arial"/>
                <a:cs typeface="Arial"/>
              </a:rPr>
              <a:t>but </a:t>
            </a:r>
            <a:r>
              <a:rPr sz="2400" spc="-5" dirty="0">
                <a:latin typeface="Arial"/>
                <a:cs typeface="Arial"/>
              </a:rPr>
              <a:t>also  a string </a:t>
            </a:r>
            <a:r>
              <a:rPr sz="2400" dirty="0">
                <a:latin typeface="Arial"/>
                <a:cs typeface="Arial"/>
              </a:rPr>
              <a:t>type </a:t>
            </a:r>
            <a:r>
              <a:rPr sz="2400" spc="-5" dirty="0">
                <a:latin typeface="Arial"/>
                <a:cs typeface="Arial"/>
              </a:rPr>
              <a:t>value with any other</a:t>
            </a:r>
            <a:r>
              <a:rPr sz="2400" spc="30" dirty="0">
                <a:latin typeface="Arial"/>
                <a:cs typeface="Arial"/>
              </a:rPr>
              <a:t> </a:t>
            </a:r>
            <a:r>
              <a:rPr sz="2400" dirty="0">
                <a:latin typeface="Arial"/>
                <a:cs typeface="Arial"/>
              </a:rPr>
              <a:t>type</a:t>
            </a:r>
          </a:p>
          <a:p>
            <a:pPr marL="355600" marR="234950" indent="-342900">
              <a:lnSpc>
                <a:spcPct val="90100"/>
              </a:lnSpc>
              <a:spcBef>
                <a:spcPts val="535"/>
              </a:spcBef>
              <a:buClr>
                <a:srgbClr val="0F1141"/>
              </a:buClr>
              <a:buChar char="•"/>
              <a:tabLst>
                <a:tab pos="354965" algn="l"/>
                <a:tab pos="355600" algn="l"/>
              </a:tabLst>
            </a:pPr>
            <a:r>
              <a:rPr sz="2400" spc="-5" dirty="0">
                <a:latin typeface="Arial"/>
                <a:cs typeface="Arial"/>
              </a:rPr>
              <a:t>Suppose </a:t>
            </a:r>
            <a:r>
              <a:rPr sz="2400" spc="-5" dirty="0">
                <a:solidFill>
                  <a:srgbClr val="FF0000"/>
                </a:solidFill>
                <a:latin typeface="Arial"/>
                <a:cs typeface="Arial"/>
              </a:rPr>
              <a:t>‘s’ </a:t>
            </a:r>
            <a:r>
              <a:rPr sz="2400" dirty="0">
                <a:latin typeface="Arial"/>
                <a:cs typeface="Arial"/>
              </a:rPr>
              <a:t>is </a:t>
            </a:r>
            <a:r>
              <a:rPr sz="2400" spc="-5" dirty="0">
                <a:latin typeface="Arial"/>
                <a:cs typeface="Arial"/>
              </a:rPr>
              <a:t>String </a:t>
            </a:r>
            <a:r>
              <a:rPr sz="2400" dirty="0">
                <a:latin typeface="Arial"/>
                <a:cs typeface="Arial"/>
              </a:rPr>
              <a:t>reference and </a:t>
            </a:r>
            <a:r>
              <a:rPr sz="2400" spc="-5" dirty="0">
                <a:solidFill>
                  <a:srgbClr val="FF0000"/>
                </a:solidFill>
                <a:latin typeface="Arial"/>
                <a:cs typeface="Arial"/>
              </a:rPr>
              <a:t>‘t’ </a:t>
            </a:r>
            <a:r>
              <a:rPr sz="2400" dirty="0">
                <a:latin typeface="Arial"/>
                <a:cs typeface="Arial"/>
              </a:rPr>
              <a:t>is </a:t>
            </a:r>
            <a:r>
              <a:rPr sz="2400" spc="-5" dirty="0">
                <a:latin typeface="Arial"/>
                <a:cs typeface="Arial"/>
              </a:rPr>
              <a:t>any </a:t>
            </a:r>
            <a:r>
              <a:rPr sz="2400" dirty="0">
                <a:latin typeface="Arial"/>
                <a:cs typeface="Arial"/>
              </a:rPr>
              <a:t>type</a:t>
            </a:r>
            <a:r>
              <a:rPr sz="2400" spc="-160" dirty="0">
                <a:latin typeface="Arial"/>
                <a:cs typeface="Arial"/>
              </a:rPr>
              <a:t> </a:t>
            </a:r>
            <a:r>
              <a:rPr sz="2400" dirty="0">
                <a:latin typeface="Arial"/>
                <a:cs typeface="Arial"/>
              </a:rPr>
              <a:t>other  than string. </a:t>
            </a:r>
            <a:r>
              <a:rPr sz="2400" spc="-5" dirty="0">
                <a:latin typeface="Arial"/>
                <a:cs typeface="Arial"/>
              </a:rPr>
              <a:t>Then an </a:t>
            </a:r>
            <a:r>
              <a:rPr sz="2400" spc="-10" dirty="0">
                <a:latin typeface="Arial"/>
                <a:cs typeface="Arial"/>
              </a:rPr>
              <a:t>expression </a:t>
            </a:r>
            <a:r>
              <a:rPr sz="2400" dirty="0">
                <a:latin typeface="Arial"/>
                <a:cs typeface="Arial"/>
              </a:rPr>
              <a:t>‘</a:t>
            </a:r>
            <a:r>
              <a:rPr sz="2400" dirty="0">
                <a:solidFill>
                  <a:srgbClr val="FF0000"/>
                </a:solidFill>
                <a:latin typeface="Arial"/>
                <a:cs typeface="Arial"/>
              </a:rPr>
              <a:t>s + t’ </a:t>
            </a:r>
            <a:r>
              <a:rPr sz="2400" spc="-5" dirty="0">
                <a:latin typeface="Arial"/>
                <a:cs typeface="Arial"/>
              </a:rPr>
              <a:t>will </a:t>
            </a:r>
            <a:r>
              <a:rPr sz="2400" dirty="0">
                <a:latin typeface="Arial"/>
                <a:cs typeface="Arial"/>
              </a:rPr>
              <a:t>convert t to  </a:t>
            </a:r>
            <a:r>
              <a:rPr sz="2400" spc="-5" dirty="0">
                <a:latin typeface="Arial"/>
                <a:cs typeface="Arial"/>
              </a:rPr>
              <a:t>string type and final result </a:t>
            </a:r>
            <a:r>
              <a:rPr sz="2400" spc="-10" dirty="0">
                <a:latin typeface="Arial"/>
                <a:cs typeface="Arial"/>
              </a:rPr>
              <a:t>will </a:t>
            </a:r>
            <a:r>
              <a:rPr sz="2400" spc="-5" dirty="0">
                <a:latin typeface="Arial"/>
                <a:cs typeface="Arial"/>
              </a:rPr>
              <a:t>be </a:t>
            </a:r>
            <a:r>
              <a:rPr sz="2400" dirty="0">
                <a:latin typeface="Arial"/>
                <a:cs typeface="Arial"/>
              </a:rPr>
              <a:t>of </a:t>
            </a:r>
            <a:r>
              <a:rPr sz="2400" spc="-5" dirty="0">
                <a:latin typeface="Arial"/>
                <a:cs typeface="Arial"/>
              </a:rPr>
              <a:t>String</a:t>
            </a:r>
            <a:r>
              <a:rPr sz="2400" spc="90" dirty="0">
                <a:latin typeface="Arial"/>
                <a:cs typeface="Arial"/>
              </a:rPr>
              <a:t> </a:t>
            </a:r>
            <a:r>
              <a:rPr sz="2400" spc="-5" dirty="0">
                <a:latin typeface="Arial"/>
                <a:cs typeface="Arial"/>
              </a:rPr>
              <a:t>type</a:t>
            </a:r>
            <a:endParaRPr sz="2400" dirty="0">
              <a:latin typeface="Arial"/>
              <a:cs typeface="Arial"/>
            </a:endParaRPr>
          </a:p>
          <a:p>
            <a:pPr marL="355600" indent="-342900">
              <a:lnSpc>
                <a:spcPct val="100000"/>
              </a:lnSpc>
              <a:spcBef>
                <a:spcPts val="290"/>
              </a:spcBef>
              <a:buClr>
                <a:srgbClr val="0F1141"/>
              </a:buClr>
              <a:buChar char="•"/>
              <a:tabLst>
                <a:tab pos="354965" algn="l"/>
                <a:tab pos="355600" algn="l"/>
              </a:tabLst>
            </a:pPr>
            <a:r>
              <a:rPr sz="2400" spc="-5" dirty="0">
                <a:latin typeface="Arial"/>
                <a:cs typeface="Arial"/>
              </a:rPr>
              <a:t>Examples</a:t>
            </a:r>
            <a:endParaRPr sz="2400" dirty="0">
              <a:latin typeface="Arial"/>
              <a:cs typeface="Arial"/>
            </a:endParaRPr>
          </a:p>
          <a:p>
            <a:pPr marL="539750" indent="-527685">
              <a:lnSpc>
                <a:spcPct val="100000"/>
              </a:lnSpc>
              <a:spcBef>
                <a:spcPts val="244"/>
              </a:spcBef>
              <a:buClr>
                <a:srgbClr val="0F1141"/>
              </a:buClr>
              <a:buAutoNum type="arabicPeriod"/>
              <a:tabLst>
                <a:tab pos="539750" algn="l"/>
                <a:tab pos="540385" algn="l"/>
              </a:tabLst>
            </a:pPr>
            <a:r>
              <a:rPr sz="2000" dirty="0">
                <a:latin typeface="Arial"/>
                <a:cs typeface="Arial"/>
              </a:rPr>
              <a:t>“abc” + 10 </a:t>
            </a:r>
            <a:r>
              <a:rPr sz="2000" spc="5" dirty="0">
                <a:latin typeface="Wingdings"/>
                <a:cs typeface="Wingdings"/>
              </a:rPr>
              <a:t></a:t>
            </a:r>
            <a:r>
              <a:rPr sz="2000" spc="5" dirty="0">
                <a:latin typeface="Times New Roman"/>
                <a:cs typeface="Times New Roman"/>
              </a:rPr>
              <a:t> </a:t>
            </a:r>
            <a:r>
              <a:rPr sz="2000" dirty="0">
                <a:latin typeface="Arial"/>
                <a:cs typeface="Arial"/>
              </a:rPr>
              <a:t>results in</a:t>
            </a:r>
            <a:r>
              <a:rPr sz="2000" spc="-75" dirty="0">
                <a:latin typeface="Arial"/>
                <a:cs typeface="Arial"/>
              </a:rPr>
              <a:t> </a:t>
            </a:r>
            <a:r>
              <a:rPr sz="2000" dirty="0">
                <a:latin typeface="Arial"/>
                <a:cs typeface="Arial"/>
              </a:rPr>
              <a:t>“abc10”</a:t>
            </a:r>
          </a:p>
          <a:p>
            <a:pPr marL="469900" indent="-457200">
              <a:lnSpc>
                <a:spcPct val="100000"/>
              </a:lnSpc>
              <a:spcBef>
                <a:spcPts val="240"/>
              </a:spcBef>
              <a:buClr>
                <a:srgbClr val="0F1141"/>
              </a:buClr>
              <a:buAutoNum type="arabicPeriod"/>
              <a:tabLst>
                <a:tab pos="469265" algn="l"/>
                <a:tab pos="469900" algn="l"/>
              </a:tabLst>
            </a:pPr>
            <a:r>
              <a:rPr sz="2000" spc="-5" dirty="0">
                <a:latin typeface="Arial"/>
                <a:cs typeface="Arial"/>
              </a:rPr>
              <a:t>10 </a:t>
            </a:r>
            <a:r>
              <a:rPr sz="2000" dirty="0">
                <a:latin typeface="Arial"/>
                <a:cs typeface="Arial"/>
              </a:rPr>
              <a:t>+ “abc” </a:t>
            </a:r>
            <a:r>
              <a:rPr sz="2000" dirty="0">
                <a:latin typeface="Wingdings"/>
                <a:cs typeface="Wingdings"/>
              </a:rPr>
              <a:t></a:t>
            </a:r>
            <a:r>
              <a:rPr sz="2000" dirty="0">
                <a:latin typeface="Times New Roman"/>
                <a:cs typeface="Times New Roman"/>
              </a:rPr>
              <a:t> </a:t>
            </a:r>
            <a:r>
              <a:rPr sz="2000" dirty="0">
                <a:latin typeface="Arial"/>
                <a:cs typeface="Arial"/>
              </a:rPr>
              <a:t>results </a:t>
            </a:r>
            <a:r>
              <a:rPr sz="2000" spc="-5" dirty="0">
                <a:latin typeface="Arial"/>
                <a:cs typeface="Arial"/>
              </a:rPr>
              <a:t>in</a:t>
            </a:r>
            <a:r>
              <a:rPr sz="2000" spc="-50" dirty="0">
                <a:latin typeface="Arial"/>
                <a:cs typeface="Arial"/>
              </a:rPr>
              <a:t> </a:t>
            </a:r>
            <a:r>
              <a:rPr sz="2000" dirty="0">
                <a:latin typeface="Arial"/>
                <a:cs typeface="Arial"/>
              </a:rPr>
              <a:t>“10abc”</a:t>
            </a:r>
          </a:p>
          <a:p>
            <a:pPr marL="469900" indent="-457200">
              <a:lnSpc>
                <a:spcPct val="100000"/>
              </a:lnSpc>
              <a:spcBef>
                <a:spcPts val="240"/>
              </a:spcBef>
              <a:buClr>
                <a:srgbClr val="0F1141"/>
              </a:buClr>
              <a:buAutoNum type="arabicPeriod"/>
              <a:tabLst>
                <a:tab pos="469265" algn="l"/>
                <a:tab pos="469900" algn="l"/>
              </a:tabLst>
            </a:pPr>
            <a:r>
              <a:rPr sz="2000" dirty="0">
                <a:latin typeface="Arial"/>
                <a:cs typeface="Arial"/>
              </a:rPr>
              <a:t>“abc” + </a:t>
            </a:r>
            <a:r>
              <a:rPr sz="2000" spc="-5" dirty="0">
                <a:latin typeface="Arial"/>
                <a:cs typeface="Arial"/>
              </a:rPr>
              <a:t>“def” </a:t>
            </a:r>
            <a:r>
              <a:rPr sz="2000" dirty="0">
                <a:latin typeface="Wingdings"/>
                <a:cs typeface="Wingdings"/>
              </a:rPr>
              <a:t></a:t>
            </a:r>
            <a:r>
              <a:rPr sz="2000" dirty="0">
                <a:latin typeface="Times New Roman"/>
                <a:cs typeface="Times New Roman"/>
              </a:rPr>
              <a:t> </a:t>
            </a:r>
            <a:r>
              <a:rPr sz="2000" dirty="0">
                <a:latin typeface="Arial"/>
                <a:cs typeface="Arial"/>
              </a:rPr>
              <a:t>results </a:t>
            </a:r>
            <a:r>
              <a:rPr sz="2000" spc="-5" dirty="0">
                <a:latin typeface="Arial"/>
                <a:cs typeface="Arial"/>
              </a:rPr>
              <a:t>in</a:t>
            </a:r>
            <a:r>
              <a:rPr sz="2000" spc="-70" dirty="0">
                <a:latin typeface="Arial"/>
                <a:cs typeface="Arial"/>
              </a:rPr>
              <a:t> </a:t>
            </a:r>
            <a:r>
              <a:rPr sz="2000" dirty="0">
                <a:latin typeface="Arial"/>
                <a:cs typeface="Arial"/>
              </a:rPr>
              <a:t>“abcdef”</a:t>
            </a:r>
          </a:p>
          <a:p>
            <a:pPr marL="469900" indent="-457200">
              <a:lnSpc>
                <a:spcPct val="100000"/>
              </a:lnSpc>
              <a:spcBef>
                <a:spcPts val="240"/>
              </a:spcBef>
              <a:buClr>
                <a:srgbClr val="0F1141"/>
              </a:buClr>
              <a:buAutoNum type="arabicPeriod"/>
              <a:tabLst>
                <a:tab pos="469265" algn="l"/>
                <a:tab pos="469900" algn="l"/>
              </a:tabLst>
            </a:pPr>
            <a:r>
              <a:rPr sz="2000" spc="-5" dirty="0">
                <a:latin typeface="Arial"/>
                <a:cs typeface="Arial"/>
              </a:rPr>
              <a:t>4.56 </a:t>
            </a:r>
            <a:r>
              <a:rPr sz="2000" dirty="0">
                <a:latin typeface="Arial"/>
                <a:cs typeface="Arial"/>
              </a:rPr>
              <a:t>+ “Object” </a:t>
            </a:r>
            <a:r>
              <a:rPr sz="2000" dirty="0">
                <a:latin typeface="Wingdings"/>
                <a:cs typeface="Wingdings"/>
              </a:rPr>
              <a:t></a:t>
            </a:r>
            <a:r>
              <a:rPr sz="2000" dirty="0">
                <a:latin typeface="Times New Roman"/>
                <a:cs typeface="Times New Roman"/>
              </a:rPr>
              <a:t> </a:t>
            </a:r>
            <a:r>
              <a:rPr sz="2000" dirty="0">
                <a:latin typeface="Arial"/>
                <a:cs typeface="Arial"/>
              </a:rPr>
              <a:t>results </a:t>
            </a:r>
            <a:r>
              <a:rPr sz="2000" spc="-5" dirty="0">
                <a:latin typeface="Arial"/>
                <a:cs typeface="Arial"/>
              </a:rPr>
              <a:t>in</a:t>
            </a:r>
            <a:r>
              <a:rPr sz="2000" spc="-75" dirty="0">
                <a:latin typeface="Arial"/>
                <a:cs typeface="Arial"/>
              </a:rPr>
              <a:t> </a:t>
            </a:r>
            <a:r>
              <a:rPr sz="2000" dirty="0">
                <a:latin typeface="Arial"/>
                <a:cs typeface="Arial"/>
              </a:rPr>
              <a:t>“4.56Object”</a:t>
            </a:r>
          </a:p>
          <a:p>
            <a:pPr marL="469900" indent="-457200">
              <a:lnSpc>
                <a:spcPct val="100000"/>
              </a:lnSpc>
              <a:spcBef>
                <a:spcPts val="240"/>
              </a:spcBef>
              <a:buClr>
                <a:srgbClr val="0F1141"/>
              </a:buClr>
              <a:buAutoNum type="arabicPeriod"/>
              <a:tabLst>
                <a:tab pos="469265" algn="l"/>
                <a:tab pos="469900" algn="l"/>
              </a:tabLst>
            </a:pPr>
            <a:r>
              <a:rPr sz="2000" dirty="0">
                <a:latin typeface="Arial"/>
                <a:cs typeface="Arial"/>
              </a:rPr>
              <a:t>10 + 20 + “Java” </a:t>
            </a:r>
            <a:r>
              <a:rPr sz="2000" spc="5" dirty="0">
                <a:latin typeface="Wingdings"/>
                <a:cs typeface="Wingdings"/>
              </a:rPr>
              <a:t></a:t>
            </a:r>
            <a:r>
              <a:rPr sz="2000" spc="5" dirty="0">
                <a:latin typeface="Times New Roman"/>
                <a:cs typeface="Times New Roman"/>
              </a:rPr>
              <a:t> </a:t>
            </a:r>
            <a:r>
              <a:rPr sz="2000" dirty="0">
                <a:latin typeface="Arial"/>
                <a:cs typeface="Arial"/>
              </a:rPr>
              <a:t>results in</a:t>
            </a:r>
            <a:r>
              <a:rPr sz="2000" spc="-110" dirty="0">
                <a:latin typeface="Arial"/>
                <a:cs typeface="Arial"/>
              </a:rPr>
              <a:t> </a:t>
            </a:r>
            <a:r>
              <a:rPr sz="2000" dirty="0">
                <a:latin typeface="Arial"/>
                <a:cs typeface="Arial"/>
              </a:rPr>
              <a:t>30Java</a:t>
            </a:r>
          </a:p>
          <a:p>
            <a:pPr marL="12700">
              <a:lnSpc>
                <a:spcPct val="100000"/>
              </a:lnSpc>
              <a:spcBef>
                <a:spcPts val="240"/>
              </a:spcBef>
              <a:tabLst>
                <a:tab pos="469265" algn="l"/>
              </a:tabLst>
            </a:pPr>
            <a:r>
              <a:rPr sz="2000" dirty="0">
                <a:solidFill>
                  <a:srgbClr val="0F1141"/>
                </a:solidFill>
                <a:latin typeface="Arial"/>
                <a:cs typeface="Arial"/>
              </a:rPr>
              <a:t>6.	</a:t>
            </a:r>
            <a:r>
              <a:rPr sz="2000" dirty="0">
                <a:latin typeface="Arial"/>
                <a:cs typeface="Arial"/>
              </a:rPr>
              <a:t>“Java”+10+20 </a:t>
            </a:r>
            <a:r>
              <a:rPr sz="2000" dirty="0">
                <a:latin typeface="Wingdings"/>
                <a:cs typeface="Wingdings"/>
              </a:rPr>
              <a:t></a:t>
            </a:r>
            <a:r>
              <a:rPr sz="2000" spc="-20" dirty="0">
                <a:latin typeface="Times New Roman"/>
                <a:cs typeface="Times New Roman"/>
              </a:rPr>
              <a:t> </a:t>
            </a:r>
            <a:r>
              <a:rPr sz="2000" dirty="0">
                <a:latin typeface="Arial"/>
                <a:cs typeface="Arial"/>
              </a:rPr>
              <a:t>Java1020</a:t>
            </a:r>
          </a:p>
        </p:txBody>
      </p:sp>
      <p:sp>
        <p:nvSpPr>
          <p:cNvPr id="3" name="object 3"/>
          <p:cNvSpPr txBox="1">
            <a:spLocks noGrp="1"/>
          </p:cNvSpPr>
          <p:nvPr>
            <p:ph type="title"/>
          </p:nvPr>
        </p:nvSpPr>
        <p:spPr>
          <a:xfrm>
            <a:off x="383540" y="150621"/>
            <a:ext cx="6139180" cy="1031240"/>
          </a:xfrm>
          <a:prstGeom prst="rect">
            <a:avLst/>
          </a:prstGeom>
        </p:spPr>
        <p:txBody>
          <a:bodyPr vert="horz" wrap="square" lIns="0" tIns="104139" rIns="0" bIns="0" rtlCol="0">
            <a:spAutoFit/>
          </a:bodyPr>
          <a:lstStyle/>
          <a:p>
            <a:pPr marL="12700" marR="5080">
              <a:lnSpc>
                <a:spcPts val="3600"/>
              </a:lnSpc>
              <a:spcBef>
                <a:spcPts val="819"/>
              </a:spcBef>
            </a:pPr>
            <a:r>
              <a:rPr sz="3600" i="0" spc="-135" dirty="0">
                <a:solidFill>
                  <a:srgbClr val="000000"/>
                </a:solidFill>
                <a:latin typeface="Arial"/>
                <a:cs typeface="Arial"/>
              </a:rPr>
              <a:t>String </a:t>
            </a:r>
            <a:r>
              <a:rPr sz="3600" i="0" spc="-145" dirty="0">
                <a:solidFill>
                  <a:srgbClr val="000000"/>
                </a:solidFill>
                <a:latin typeface="Arial"/>
                <a:cs typeface="Arial"/>
              </a:rPr>
              <a:t>Concatenation </a:t>
            </a:r>
            <a:r>
              <a:rPr sz="3600" i="0" spc="-130" dirty="0">
                <a:solidFill>
                  <a:srgbClr val="000000"/>
                </a:solidFill>
                <a:latin typeface="Arial"/>
                <a:cs typeface="Arial"/>
              </a:rPr>
              <a:t>Using</a:t>
            </a:r>
            <a:r>
              <a:rPr sz="3600" i="0" spc="-580" dirty="0">
                <a:solidFill>
                  <a:srgbClr val="000000"/>
                </a:solidFill>
                <a:latin typeface="Arial"/>
                <a:cs typeface="Arial"/>
              </a:rPr>
              <a:t> </a:t>
            </a:r>
            <a:r>
              <a:rPr sz="3600" i="0" spc="-110" dirty="0">
                <a:solidFill>
                  <a:srgbClr val="000000"/>
                </a:solidFill>
                <a:latin typeface="Arial"/>
                <a:cs typeface="Arial"/>
              </a:rPr>
              <a:t>‘+’  </a:t>
            </a:r>
            <a:r>
              <a:rPr sz="3600" i="0" spc="-140" dirty="0">
                <a:solidFill>
                  <a:srgbClr val="000000"/>
                </a:solidFill>
                <a:latin typeface="Arial"/>
                <a:cs typeface="Arial"/>
              </a:rPr>
              <a:t>operator</a:t>
            </a:r>
            <a:endParaRPr sz="3600" dirty="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7726"/>
            <a:ext cx="8061325" cy="3101340"/>
          </a:xfrm>
          <a:prstGeom prst="rect">
            <a:avLst/>
          </a:prstGeom>
        </p:spPr>
        <p:txBody>
          <a:bodyPr vert="horz" wrap="square" lIns="0" tIns="12700" rIns="0" bIns="0" rtlCol="0">
            <a:spAutoFit/>
          </a:bodyPr>
          <a:lstStyle/>
          <a:p>
            <a:pPr marL="355600" indent="-342900">
              <a:lnSpc>
                <a:spcPct val="100000"/>
              </a:lnSpc>
              <a:spcBef>
                <a:spcPts val="100"/>
              </a:spcBef>
              <a:buClr>
                <a:srgbClr val="0F1141"/>
              </a:buClr>
              <a:buChar char="•"/>
              <a:tabLst>
                <a:tab pos="354965" algn="l"/>
                <a:tab pos="355600" algn="l"/>
              </a:tabLst>
            </a:pPr>
            <a:r>
              <a:rPr sz="2400" spc="-5" dirty="0">
                <a:solidFill>
                  <a:srgbClr val="FF0000"/>
                </a:solidFill>
                <a:latin typeface="Arial"/>
                <a:cs typeface="Arial"/>
              </a:rPr>
              <a:t>String </a:t>
            </a:r>
            <a:r>
              <a:rPr sz="2400" dirty="0">
                <a:solidFill>
                  <a:srgbClr val="FF0000"/>
                </a:solidFill>
                <a:latin typeface="Arial"/>
                <a:cs typeface="Arial"/>
              </a:rPr>
              <a:t>concat(String s) </a:t>
            </a:r>
            <a:r>
              <a:rPr sz="2400" dirty="0">
                <a:solidFill>
                  <a:srgbClr val="FF0000"/>
                </a:solidFill>
                <a:latin typeface="Wingdings"/>
                <a:cs typeface="Wingdings"/>
              </a:rPr>
              <a:t></a:t>
            </a:r>
            <a:r>
              <a:rPr sz="2400" dirty="0">
                <a:solidFill>
                  <a:srgbClr val="FF0000"/>
                </a:solidFill>
                <a:latin typeface="Times New Roman"/>
                <a:cs typeface="Times New Roman"/>
              </a:rPr>
              <a:t> </a:t>
            </a:r>
            <a:r>
              <a:rPr sz="2400" spc="-5" dirty="0">
                <a:latin typeface="Arial"/>
                <a:cs typeface="Arial"/>
              </a:rPr>
              <a:t>Appends ‘s’ with this </a:t>
            </a:r>
            <a:r>
              <a:rPr sz="2400" dirty="0">
                <a:latin typeface="Arial"/>
                <a:cs typeface="Arial"/>
              </a:rPr>
              <a:t>String</a:t>
            </a:r>
            <a:r>
              <a:rPr sz="2400" spc="-160" dirty="0">
                <a:latin typeface="Arial"/>
                <a:cs typeface="Arial"/>
              </a:rPr>
              <a:t> </a:t>
            </a:r>
            <a:r>
              <a:rPr sz="2400" spc="-5" dirty="0">
                <a:latin typeface="Arial"/>
                <a:cs typeface="Arial"/>
              </a:rPr>
              <a:t>and</a:t>
            </a:r>
            <a:endParaRPr sz="2400">
              <a:latin typeface="Arial"/>
              <a:cs typeface="Arial"/>
            </a:endParaRPr>
          </a:p>
          <a:p>
            <a:pPr marL="355600">
              <a:lnSpc>
                <a:spcPct val="100000"/>
              </a:lnSpc>
              <a:spcBef>
                <a:spcPts val="15"/>
              </a:spcBef>
            </a:pPr>
            <a:r>
              <a:rPr sz="2400" dirty="0">
                <a:latin typeface="Arial"/>
                <a:cs typeface="Arial"/>
              </a:rPr>
              <a:t>returns </a:t>
            </a:r>
            <a:r>
              <a:rPr sz="2400" spc="-5" dirty="0">
                <a:latin typeface="Arial"/>
                <a:cs typeface="Arial"/>
              </a:rPr>
              <a:t>a new String with updated</a:t>
            </a:r>
            <a:r>
              <a:rPr sz="2400" spc="25" dirty="0">
                <a:latin typeface="Arial"/>
                <a:cs typeface="Arial"/>
              </a:rPr>
              <a:t> </a:t>
            </a:r>
            <a:r>
              <a:rPr sz="2400" dirty="0">
                <a:latin typeface="Arial"/>
                <a:cs typeface="Arial"/>
              </a:rPr>
              <a:t>contents</a:t>
            </a:r>
            <a:endParaRPr sz="2400">
              <a:latin typeface="Arial"/>
              <a:cs typeface="Arial"/>
            </a:endParaRPr>
          </a:p>
          <a:p>
            <a:pPr marL="355600" marR="45085" indent="-342900">
              <a:lnSpc>
                <a:spcPct val="100000"/>
              </a:lnSpc>
              <a:spcBef>
                <a:spcPts val="575"/>
              </a:spcBef>
              <a:buClr>
                <a:srgbClr val="0F1141"/>
              </a:buClr>
              <a:buChar char="•"/>
              <a:tabLst>
                <a:tab pos="354965" algn="l"/>
                <a:tab pos="355600" algn="l"/>
              </a:tabLst>
            </a:pPr>
            <a:r>
              <a:rPr sz="2400" spc="-20" dirty="0">
                <a:latin typeface="Arial"/>
                <a:cs typeface="Arial"/>
              </a:rPr>
              <a:t>However, </a:t>
            </a:r>
            <a:r>
              <a:rPr sz="2400" spc="-5" dirty="0">
                <a:latin typeface="Arial"/>
                <a:cs typeface="Arial"/>
              </a:rPr>
              <a:t>preferred way </a:t>
            </a:r>
            <a:r>
              <a:rPr sz="2400" dirty="0">
                <a:latin typeface="Arial"/>
                <a:cs typeface="Arial"/>
              </a:rPr>
              <a:t>for string </a:t>
            </a:r>
            <a:r>
              <a:rPr sz="2400" spc="-5" dirty="0">
                <a:latin typeface="Arial"/>
                <a:cs typeface="Arial"/>
              </a:rPr>
              <a:t>concatenation is </a:t>
            </a:r>
            <a:r>
              <a:rPr sz="2400" dirty="0">
                <a:latin typeface="Arial"/>
                <a:cs typeface="Arial"/>
              </a:rPr>
              <a:t>via </a:t>
            </a:r>
            <a:r>
              <a:rPr sz="2400" spc="-5" dirty="0">
                <a:latin typeface="Arial"/>
                <a:cs typeface="Arial"/>
              </a:rPr>
              <a:t>‘+’  operator</a:t>
            </a:r>
            <a:endParaRPr sz="2400">
              <a:latin typeface="Arial"/>
              <a:cs typeface="Arial"/>
            </a:endParaRPr>
          </a:p>
          <a:p>
            <a:pPr marL="355600" indent="-342900">
              <a:lnSpc>
                <a:spcPct val="100000"/>
              </a:lnSpc>
              <a:spcBef>
                <a:spcPts val="580"/>
              </a:spcBef>
              <a:buClr>
                <a:srgbClr val="0F1141"/>
              </a:buClr>
              <a:buChar char="•"/>
              <a:tabLst>
                <a:tab pos="354965" algn="l"/>
                <a:tab pos="355600" algn="l"/>
              </a:tabLst>
            </a:pPr>
            <a:r>
              <a:rPr sz="2400" spc="-5" dirty="0">
                <a:latin typeface="Arial"/>
                <a:cs typeface="Arial"/>
              </a:rPr>
              <a:t>Examples</a:t>
            </a:r>
            <a:endParaRPr sz="2400">
              <a:latin typeface="Arial"/>
              <a:cs typeface="Arial"/>
            </a:endParaRPr>
          </a:p>
          <a:p>
            <a:pPr marL="469900" indent="-457200">
              <a:lnSpc>
                <a:spcPct val="100000"/>
              </a:lnSpc>
              <a:spcBef>
                <a:spcPts val="484"/>
              </a:spcBef>
              <a:buClr>
                <a:srgbClr val="0F1141"/>
              </a:buClr>
              <a:buAutoNum type="arabicPeriod"/>
              <a:tabLst>
                <a:tab pos="469265" algn="l"/>
                <a:tab pos="469900" algn="l"/>
              </a:tabLst>
            </a:pPr>
            <a:r>
              <a:rPr sz="2000" dirty="0">
                <a:latin typeface="Arial"/>
                <a:cs typeface="Arial"/>
              </a:rPr>
              <a:t>String s1 =</a:t>
            </a:r>
            <a:r>
              <a:rPr sz="2000" spc="-50" dirty="0">
                <a:latin typeface="Arial"/>
                <a:cs typeface="Arial"/>
              </a:rPr>
              <a:t> </a:t>
            </a:r>
            <a:r>
              <a:rPr sz="2000" dirty="0">
                <a:latin typeface="Arial"/>
                <a:cs typeface="Arial"/>
              </a:rPr>
              <a:t>“Object”;</a:t>
            </a:r>
            <a:endParaRPr sz="2000">
              <a:latin typeface="Arial"/>
              <a:cs typeface="Arial"/>
            </a:endParaRPr>
          </a:p>
          <a:p>
            <a:pPr marL="431800">
              <a:lnSpc>
                <a:spcPct val="100000"/>
              </a:lnSpc>
              <a:spcBef>
                <a:spcPts val="480"/>
              </a:spcBef>
            </a:pPr>
            <a:r>
              <a:rPr sz="2000" dirty="0">
                <a:latin typeface="Arial"/>
                <a:cs typeface="Arial"/>
              </a:rPr>
              <a:t>String s2 = </a:t>
            </a:r>
            <a:r>
              <a:rPr sz="2000" spc="-5" dirty="0">
                <a:latin typeface="Arial"/>
                <a:cs typeface="Arial"/>
              </a:rPr>
              <a:t>s1.concat(“-Oriented</a:t>
            </a:r>
            <a:r>
              <a:rPr sz="2000" spc="-85" dirty="0">
                <a:latin typeface="Arial"/>
                <a:cs typeface="Arial"/>
              </a:rPr>
              <a:t> </a:t>
            </a:r>
            <a:r>
              <a:rPr sz="2000" dirty="0">
                <a:latin typeface="Arial"/>
                <a:cs typeface="Arial"/>
              </a:rPr>
              <a:t>Programming);</a:t>
            </a:r>
            <a:endParaRPr sz="2000">
              <a:latin typeface="Arial"/>
              <a:cs typeface="Arial"/>
            </a:endParaRPr>
          </a:p>
          <a:p>
            <a:pPr marL="433070" indent="-421005">
              <a:lnSpc>
                <a:spcPct val="100000"/>
              </a:lnSpc>
              <a:spcBef>
                <a:spcPts val="480"/>
              </a:spcBef>
              <a:buAutoNum type="arabicPeriod" startAt="2"/>
              <a:tabLst>
                <a:tab pos="433070" algn="l"/>
                <a:tab pos="433705" algn="l"/>
              </a:tabLst>
            </a:pPr>
            <a:r>
              <a:rPr sz="2000" dirty="0">
                <a:latin typeface="Arial"/>
                <a:cs typeface="Arial"/>
              </a:rPr>
              <a:t>System.out.println(“Java ”.concat(“</a:t>
            </a:r>
            <a:r>
              <a:rPr sz="2000" spc="-160" dirty="0">
                <a:latin typeface="Arial"/>
                <a:cs typeface="Arial"/>
              </a:rPr>
              <a:t> </a:t>
            </a:r>
            <a:r>
              <a:rPr sz="2000" spc="-5" dirty="0">
                <a:latin typeface="Arial"/>
                <a:cs typeface="Arial"/>
              </a:rPr>
              <a:t>World”));</a:t>
            </a:r>
            <a:endParaRPr sz="2000">
              <a:latin typeface="Arial"/>
              <a:cs typeface="Arial"/>
            </a:endParaRPr>
          </a:p>
        </p:txBody>
      </p:sp>
      <p:sp>
        <p:nvSpPr>
          <p:cNvPr id="3" name="object 3"/>
          <p:cNvSpPr txBox="1">
            <a:spLocks noGrp="1"/>
          </p:cNvSpPr>
          <p:nvPr>
            <p:ph type="title"/>
          </p:nvPr>
        </p:nvSpPr>
        <p:spPr>
          <a:xfrm>
            <a:off x="383540" y="150621"/>
            <a:ext cx="5565775" cy="1031240"/>
          </a:xfrm>
          <a:prstGeom prst="rect">
            <a:avLst/>
          </a:prstGeom>
        </p:spPr>
        <p:txBody>
          <a:bodyPr vert="horz" wrap="square" lIns="0" tIns="104139" rIns="0" bIns="0" rtlCol="0">
            <a:spAutoFit/>
          </a:bodyPr>
          <a:lstStyle/>
          <a:p>
            <a:pPr marL="12700" marR="5080">
              <a:lnSpc>
                <a:spcPts val="3600"/>
              </a:lnSpc>
              <a:spcBef>
                <a:spcPts val="819"/>
              </a:spcBef>
            </a:pPr>
            <a:r>
              <a:rPr sz="3600" i="0" spc="-135" dirty="0">
                <a:solidFill>
                  <a:srgbClr val="000000"/>
                </a:solidFill>
                <a:latin typeface="Arial"/>
                <a:cs typeface="Arial"/>
              </a:rPr>
              <a:t>String </a:t>
            </a:r>
            <a:r>
              <a:rPr sz="3600" i="0" spc="-145" dirty="0">
                <a:solidFill>
                  <a:srgbClr val="000000"/>
                </a:solidFill>
                <a:latin typeface="Arial"/>
                <a:cs typeface="Arial"/>
              </a:rPr>
              <a:t>Concatenation</a:t>
            </a:r>
            <a:r>
              <a:rPr sz="3600" i="0" spc="-434" dirty="0">
                <a:solidFill>
                  <a:srgbClr val="000000"/>
                </a:solidFill>
                <a:latin typeface="Arial"/>
                <a:cs typeface="Arial"/>
              </a:rPr>
              <a:t> </a:t>
            </a:r>
            <a:r>
              <a:rPr sz="3600" i="0" spc="-130" dirty="0">
                <a:solidFill>
                  <a:srgbClr val="000000"/>
                </a:solidFill>
                <a:latin typeface="Arial"/>
                <a:cs typeface="Arial"/>
              </a:rPr>
              <a:t>Using  </a:t>
            </a:r>
            <a:r>
              <a:rPr sz="3600" i="0" spc="-145" dirty="0">
                <a:solidFill>
                  <a:srgbClr val="000000"/>
                </a:solidFill>
                <a:latin typeface="Arial"/>
                <a:cs typeface="Arial"/>
              </a:rPr>
              <a:t>‘concat()’</a:t>
            </a:r>
            <a:r>
              <a:rPr sz="3600" i="0" spc="-459" dirty="0">
                <a:solidFill>
                  <a:srgbClr val="000000"/>
                </a:solidFill>
                <a:latin typeface="Arial"/>
                <a:cs typeface="Arial"/>
              </a:rPr>
              <a:t> </a:t>
            </a:r>
            <a:r>
              <a:rPr sz="3600" i="0" spc="-135" dirty="0">
                <a:solidFill>
                  <a:srgbClr val="000000"/>
                </a:solidFill>
                <a:latin typeface="Arial"/>
                <a:cs typeface="Arial"/>
              </a:rPr>
              <a:t>Method</a:t>
            </a:r>
            <a:endParaRPr sz="3600"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1519250"/>
            <a:ext cx="8773160" cy="2099945"/>
          </a:xfrm>
          <a:prstGeom prst="rect">
            <a:avLst/>
          </a:prstGeom>
        </p:spPr>
        <p:txBody>
          <a:bodyPr vert="horz" wrap="square" lIns="0" tIns="13335" rIns="0" bIns="0" rtlCol="0">
            <a:spAutoFit/>
          </a:bodyPr>
          <a:lstStyle/>
          <a:p>
            <a:pPr marL="469900" indent="-457200">
              <a:lnSpc>
                <a:spcPct val="100000"/>
              </a:lnSpc>
              <a:spcBef>
                <a:spcPts val="105"/>
              </a:spcBef>
              <a:buClr>
                <a:srgbClr val="0F1141"/>
              </a:buClr>
              <a:buChar char="•"/>
              <a:tabLst>
                <a:tab pos="469265" algn="l"/>
                <a:tab pos="469900" algn="l"/>
              </a:tabLst>
            </a:pPr>
            <a:r>
              <a:rPr sz="2000" dirty="0">
                <a:solidFill>
                  <a:srgbClr val="FF0000"/>
                </a:solidFill>
                <a:latin typeface="Arial"/>
                <a:cs typeface="Arial"/>
              </a:rPr>
              <a:t>char </a:t>
            </a:r>
            <a:r>
              <a:rPr sz="2000" spc="-5" dirty="0">
                <a:solidFill>
                  <a:srgbClr val="FF0000"/>
                </a:solidFill>
                <a:latin typeface="Arial"/>
                <a:cs typeface="Arial"/>
              </a:rPr>
              <a:t>chartAt(int index) </a:t>
            </a:r>
            <a:r>
              <a:rPr sz="2000" spc="5" dirty="0">
                <a:latin typeface="Wingdings"/>
                <a:cs typeface="Wingdings"/>
              </a:rPr>
              <a:t></a:t>
            </a:r>
            <a:r>
              <a:rPr sz="2000" spc="5" dirty="0">
                <a:latin typeface="Times New Roman"/>
                <a:cs typeface="Times New Roman"/>
              </a:rPr>
              <a:t> </a:t>
            </a:r>
            <a:r>
              <a:rPr sz="2000" spc="-5" dirty="0">
                <a:latin typeface="Arial"/>
                <a:cs typeface="Arial"/>
              </a:rPr>
              <a:t>Returns the character </a:t>
            </a:r>
            <a:r>
              <a:rPr sz="2000" dirty="0">
                <a:latin typeface="Arial"/>
                <a:cs typeface="Arial"/>
              </a:rPr>
              <a:t>at </a:t>
            </a:r>
            <a:r>
              <a:rPr sz="2000" spc="-5" dirty="0">
                <a:latin typeface="Arial"/>
                <a:cs typeface="Arial"/>
              </a:rPr>
              <a:t>index. The value</a:t>
            </a:r>
            <a:r>
              <a:rPr sz="2000" spc="65" dirty="0">
                <a:latin typeface="Arial"/>
                <a:cs typeface="Arial"/>
              </a:rPr>
              <a:t> </a:t>
            </a:r>
            <a:r>
              <a:rPr sz="2000" dirty="0">
                <a:latin typeface="Arial"/>
                <a:cs typeface="Arial"/>
              </a:rPr>
              <a:t>of</a:t>
            </a:r>
            <a:endParaRPr sz="2000">
              <a:latin typeface="Arial"/>
              <a:cs typeface="Arial"/>
            </a:endParaRPr>
          </a:p>
          <a:p>
            <a:pPr marL="469900">
              <a:lnSpc>
                <a:spcPct val="100000"/>
              </a:lnSpc>
            </a:pPr>
            <a:r>
              <a:rPr sz="2000" dirty="0">
                <a:latin typeface="Arial"/>
                <a:cs typeface="Arial"/>
              </a:rPr>
              <a:t>index should be </a:t>
            </a:r>
            <a:r>
              <a:rPr sz="2000" spc="-5" dirty="0">
                <a:latin typeface="Arial"/>
                <a:cs typeface="Arial"/>
              </a:rPr>
              <a:t>0&lt;=index&lt;=L-1, </a:t>
            </a:r>
            <a:r>
              <a:rPr sz="2000" dirty="0">
                <a:latin typeface="Arial"/>
                <a:cs typeface="Arial"/>
              </a:rPr>
              <a:t>where </a:t>
            </a:r>
            <a:r>
              <a:rPr sz="2000" spc="-40" dirty="0">
                <a:latin typeface="Arial"/>
                <a:cs typeface="Arial"/>
              </a:rPr>
              <a:t>‘L’ </a:t>
            </a:r>
            <a:r>
              <a:rPr sz="2000" spc="-5" dirty="0">
                <a:latin typeface="Arial"/>
                <a:cs typeface="Arial"/>
              </a:rPr>
              <a:t>is </a:t>
            </a:r>
            <a:r>
              <a:rPr sz="2000" dirty="0">
                <a:latin typeface="Arial"/>
                <a:cs typeface="Arial"/>
              </a:rPr>
              <a:t>length of</a:t>
            </a:r>
            <a:r>
              <a:rPr sz="2000" spc="-165" dirty="0">
                <a:latin typeface="Arial"/>
                <a:cs typeface="Arial"/>
              </a:rPr>
              <a:t> </a:t>
            </a:r>
            <a:r>
              <a:rPr sz="2000" dirty="0">
                <a:latin typeface="Arial"/>
                <a:cs typeface="Arial"/>
              </a:rPr>
              <a:t>string.</a:t>
            </a:r>
            <a:endParaRPr sz="2000">
              <a:latin typeface="Arial"/>
              <a:cs typeface="Arial"/>
            </a:endParaRPr>
          </a:p>
          <a:p>
            <a:pPr marL="469900" indent="-457200">
              <a:lnSpc>
                <a:spcPct val="100000"/>
              </a:lnSpc>
              <a:spcBef>
                <a:spcPts val="480"/>
              </a:spcBef>
              <a:buClr>
                <a:srgbClr val="0F1141"/>
              </a:buClr>
              <a:buChar char="•"/>
              <a:tabLst>
                <a:tab pos="469265" algn="l"/>
                <a:tab pos="469900" algn="l"/>
              </a:tabLst>
            </a:pPr>
            <a:r>
              <a:rPr sz="2000" dirty="0">
                <a:latin typeface="Arial"/>
                <a:cs typeface="Arial"/>
              </a:rPr>
              <a:t>Examples:</a:t>
            </a:r>
            <a:endParaRPr sz="2000">
              <a:latin typeface="Arial"/>
              <a:cs typeface="Arial"/>
            </a:endParaRPr>
          </a:p>
          <a:p>
            <a:pPr marL="469900" indent="-457200">
              <a:lnSpc>
                <a:spcPct val="100000"/>
              </a:lnSpc>
              <a:spcBef>
                <a:spcPts val="480"/>
              </a:spcBef>
              <a:buClr>
                <a:srgbClr val="0F1141"/>
              </a:buClr>
              <a:buAutoNum type="arabicPeriod"/>
              <a:tabLst>
                <a:tab pos="469265" algn="l"/>
                <a:tab pos="469900" algn="l"/>
              </a:tabLst>
            </a:pPr>
            <a:r>
              <a:rPr sz="2000" spc="-5" dirty="0">
                <a:latin typeface="Arial"/>
                <a:cs typeface="Arial"/>
              </a:rPr>
              <a:t>“abc”.charAt(0) </a:t>
            </a:r>
            <a:r>
              <a:rPr sz="2000" dirty="0">
                <a:latin typeface="Wingdings"/>
                <a:cs typeface="Wingdings"/>
              </a:rPr>
              <a:t></a:t>
            </a:r>
            <a:r>
              <a:rPr sz="2000" dirty="0">
                <a:latin typeface="Times New Roman"/>
                <a:cs typeface="Times New Roman"/>
              </a:rPr>
              <a:t> </a:t>
            </a:r>
            <a:r>
              <a:rPr sz="2000" dirty="0">
                <a:latin typeface="Arial"/>
                <a:cs typeface="Arial"/>
              </a:rPr>
              <a:t>returns</a:t>
            </a:r>
            <a:r>
              <a:rPr sz="2000" spc="-35" dirty="0">
                <a:latin typeface="Arial"/>
                <a:cs typeface="Arial"/>
              </a:rPr>
              <a:t> </a:t>
            </a:r>
            <a:r>
              <a:rPr sz="2000" spc="-5" dirty="0">
                <a:latin typeface="Arial"/>
                <a:cs typeface="Arial"/>
              </a:rPr>
              <a:t>‘a’</a:t>
            </a:r>
            <a:endParaRPr sz="2000">
              <a:latin typeface="Arial"/>
              <a:cs typeface="Arial"/>
            </a:endParaRPr>
          </a:p>
          <a:p>
            <a:pPr marL="469900" indent="-457200">
              <a:lnSpc>
                <a:spcPct val="100000"/>
              </a:lnSpc>
              <a:spcBef>
                <a:spcPts val="484"/>
              </a:spcBef>
              <a:buClr>
                <a:srgbClr val="0F1141"/>
              </a:buClr>
              <a:buAutoNum type="arabicPeriod"/>
              <a:tabLst>
                <a:tab pos="469265" algn="l"/>
                <a:tab pos="469900" algn="l"/>
              </a:tabLst>
            </a:pPr>
            <a:r>
              <a:rPr sz="2000" spc="-5" dirty="0">
                <a:latin typeface="Arial"/>
                <a:cs typeface="Arial"/>
              </a:rPr>
              <a:t>“abc”.charAt(3) </a:t>
            </a:r>
            <a:r>
              <a:rPr sz="2000" dirty="0">
                <a:latin typeface="Wingdings"/>
                <a:cs typeface="Wingdings"/>
              </a:rPr>
              <a:t></a:t>
            </a:r>
            <a:r>
              <a:rPr sz="2000" dirty="0">
                <a:latin typeface="Times New Roman"/>
                <a:cs typeface="Times New Roman"/>
              </a:rPr>
              <a:t> </a:t>
            </a:r>
            <a:r>
              <a:rPr sz="2000" dirty="0">
                <a:latin typeface="Arial"/>
                <a:cs typeface="Arial"/>
              </a:rPr>
              <a:t>results </a:t>
            </a:r>
            <a:r>
              <a:rPr sz="2000" spc="-5" dirty="0">
                <a:latin typeface="Arial"/>
                <a:cs typeface="Arial"/>
              </a:rPr>
              <a:t>in</a:t>
            </a:r>
            <a:r>
              <a:rPr sz="2000" spc="-30" dirty="0">
                <a:latin typeface="Arial"/>
                <a:cs typeface="Arial"/>
              </a:rPr>
              <a:t> </a:t>
            </a:r>
            <a:r>
              <a:rPr sz="2000" dirty="0">
                <a:latin typeface="Arial"/>
                <a:cs typeface="Arial"/>
              </a:rPr>
              <a:t>StringIndexOutofBoundsException</a:t>
            </a:r>
            <a:endParaRPr sz="2000">
              <a:latin typeface="Arial"/>
              <a:cs typeface="Arial"/>
            </a:endParaRPr>
          </a:p>
          <a:p>
            <a:pPr marL="469900" indent="-457200">
              <a:lnSpc>
                <a:spcPct val="100000"/>
              </a:lnSpc>
              <a:spcBef>
                <a:spcPts val="480"/>
              </a:spcBef>
              <a:buClr>
                <a:srgbClr val="0F1141"/>
              </a:buClr>
              <a:buAutoNum type="arabicPeriod"/>
              <a:tabLst>
                <a:tab pos="469265" algn="l"/>
                <a:tab pos="469900" algn="l"/>
              </a:tabLst>
            </a:pPr>
            <a:r>
              <a:rPr sz="2000" dirty="0">
                <a:latin typeface="Arial"/>
                <a:cs typeface="Arial"/>
              </a:rPr>
              <a:t>String s1 = </a:t>
            </a:r>
            <a:r>
              <a:rPr sz="2000" spc="-5" dirty="0">
                <a:latin typeface="Arial"/>
                <a:cs typeface="Arial"/>
              </a:rPr>
              <a:t>“Object-Oriented Programming”; </a:t>
            </a:r>
            <a:r>
              <a:rPr sz="2000" dirty="0">
                <a:latin typeface="Arial"/>
                <a:cs typeface="Arial"/>
              </a:rPr>
              <a:t>s1.charAt(10) </a:t>
            </a:r>
            <a:r>
              <a:rPr sz="2000" dirty="0">
                <a:latin typeface="Wingdings"/>
                <a:cs typeface="Wingdings"/>
              </a:rPr>
              <a:t></a:t>
            </a:r>
            <a:r>
              <a:rPr sz="2000" dirty="0">
                <a:latin typeface="Times New Roman"/>
                <a:cs typeface="Times New Roman"/>
              </a:rPr>
              <a:t> </a:t>
            </a:r>
            <a:r>
              <a:rPr sz="2000" dirty="0">
                <a:latin typeface="Arial"/>
                <a:cs typeface="Arial"/>
              </a:rPr>
              <a:t>returns</a:t>
            </a:r>
            <a:r>
              <a:rPr sz="2000" spc="-120" dirty="0">
                <a:latin typeface="Arial"/>
                <a:cs typeface="Arial"/>
              </a:rPr>
              <a:t> </a:t>
            </a:r>
            <a:r>
              <a:rPr sz="2000" spc="-5" dirty="0">
                <a:latin typeface="Arial"/>
                <a:cs typeface="Arial"/>
              </a:rPr>
              <a:t>‘e’</a:t>
            </a:r>
            <a:endParaRPr sz="2000">
              <a:latin typeface="Arial"/>
              <a:cs typeface="Arial"/>
            </a:endParaRPr>
          </a:p>
        </p:txBody>
      </p:sp>
      <p:sp>
        <p:nvSpPr>
          <p:cNvPr id="3" name="object 3"/>
          <p:cNvSpPr txBox="1">
            <a:spLocks noGrp="1"/>
          </p:cNvSpPr>
          <p:nvPr>
            <p:ph type="title"/>
          </p:nvPr>
        </p:nvSpPr>
        <p:spPr>
          <a:xfrm>
            <a:off x="383540" y="150621"/>
            <a:ext cx="4399915" cy="1031240"/>
          </a:xfrm>
          <a:prstGeom prst="rect">
            <a:avLst/>
          </a:prstGeom>
        </p:spPr>
        <p:txBody>
          <a:bodyPr vert="horz" wrap="square" lIns="0" tIns="104139" rIns="0" bIns="0" rtlCol="0">
            <a:spAutoFit/>
          </a:bodyPr>
          <a:lstStyle/>
          <a:p>
            <a:pPr marL="12700" marR="5080">
              <a:lnSpc>
                <a:spcPts val="3600"/>
              </a:lnSpc>
              <a:spcBef>
                <a:spcPts val="819"/>
              </a:spcBef>
            </a:pPr>
            <a:r>
              <a:rPr sz="3600" i="0" spc="-140" dirty="0">
                <a:solidFill>
                  <a:srgbClr val="000000"/>
                </a:solidFill>
                <a:latin typeface="Arial"/>
                <a:cs typeface="Arial"/>
              </a:rPr>
              <a:t>Character </a:t>
            </a:r>
            <a:r>
              <a:rPr sz="3600" i="0" spc="-145" dirty="0">
                <a:solidFill>
                  <a:srgbClr val="000000"/>
                </a:solidFill>
                <a:latin typeface="Arial"/>
                <a:cs typeface="Arial"/>
              </a:rPr>
              <a:t>Extraction</a:t>
            </a:r>
            <a:r>
              <a:rPr sz="3600" i="0" spc="-445" dirty="0">
                <a:solidFill>
                  <a:srgbClr val="000000"/>
                </a:solidFill>
                <a:latin typeface="Arial"/>
                <a:cs typeface="Arial"/>
              </a:rPr>
              <a:t> </a:t>
            </a:r>
            <a:r>
              <a:rPr sz="3600" i="0" dirty="0">
                <a:solidFill>
                  <a:srgbClr val="000000"/>
                </a:solidFill>
                <a:latin typeface="Arial"/>
                <a:cs typeface="Arial"/>
              </a:rPr>
              <a:t>:  </a:t>
            </a:r>
            <a:r>
              <a:rPr sz="3600" i="0" spc="-160" dirty="0">
                <a:solidFill>
                  <a:srgbClr val="000000"/>
                </a:solidFill>
                <a:latin typeface="Arial"/>
                <a:cs typeface="Arial"/>
              </a:rPr>
              <a:t>chartAt()</a:t>
            </a:r>
            <a:endParaRPr sz="3600" dirty="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1494866"/>
            <a:ext cx="8772525" cy="4406265"/>
          </a:xfrm>
          <a:prstGeom prst="rect">
            <a:avLst/>
          </a:prstGeom>
        </p:spPr>
        <p:txBody>
          <a:bodyPr vert="horz" wrap="square" lIns="0" tIns="13335" rIns="0" bIns="0" rtlCol="0">
            <a:spAutoFit/>
          </a:bodyPr>
          <a:lstStyle/>
          <a:p>
            <a:pPr marL="469900" indent="-457200">
              <a:lnSpc>
                <a:spcPct val="100000"/>
              </a:lnSpc>
              <a:spcBef>
                <a:spcPts val="105"/>
              </a:spcBef>
              <a:buClr>
                <a:srgbClr val="0F1141"/>
              </a:buClr>
              <a:buChar char="•"/>
              <a:tabLst>
                <a:tab pos="469265" algn="l"/>
                <a:tab pos="469900" algn="l"/>
              </a:tabLst>
            </a:pPr>
            <a:r>
              <a:rPr sz="1700" dirty="0">
                <a:solidFill>
                  <a:srgbClr val="FF0000"/>
                </a:solidFill>
                <a:latin typeface="Arial"/>
                <a:cs typeface="Arial"/>
              </a:rPr>
              <a:t>void getChars(int sourceStart, int sourceEnd, char </a:t>
            </a:r>
            <a:r>
              <a:rPr sz="1700" spc="-5" dirty="0">
                <a:solidFill>
                  <a:srgbClr val="FF0000"/>
                </a:solidFill>
                <a:latin typeface="Arial"/>
                <a:cs typeface="Arial"/>
              </a:rPr>
              <a:t>target[], </a:t>
            </a:r>
            <a:r>
              <a:rPr sz="1700" dirty="0">
                <a:solidFill>
                  <a:srgbClr val="FF0000"/>
                </a:solidFill>
                <a:latin typeface="Arial"/>
                <a:cs typeface="Arial"/>
              </a:rPr>
              <a:t>int</a:t>
            </a:r>
            <a:r>
              <a:rPr sz="1700" spc="40" dirty="0">
                <a:solidFill>
                  <a:srgbClr val="FF0000"/>
                </a:solidFill>
                <a:latin typeface="Arial"/>
                <a:cs typeface="Arial"/>
              </a:rPr>
              <a:t> </a:t>
            </a:r>
            <a:r>
              <a:rPr sz="1700" spc="-5" dirty="0">
                <a:solidFill>
                  <a:srgbClr val="FF0000"/>
                </a:solidFill>
                <a:latin typeface="Arial"/>
                <a:cs typeface="Arial"/>
              </a:rPr>
              <a:t>targetStart)</a:t>
            </a:r>
            <a:endParaRPr sz="1700">
              <a:latin typeface="Arial"/>
              <a:cs typeface="Arial"/>
            </a:endParaRPr>
          </a:p>
          <a:p>
            <a:pPr>
              <a:lnSpc>
                <a:spcPct val="100000"/>
              </a:lnSpc>
              <a:spcBef>
                <a:spcPts val="35"/>
              </a:spcBef>
              <a:buClr>
                <a:srgbClr val="0F1141"/>
              </a:buClr>
              <a:buFont typeface="Arial"/>
              <a:buChar char="•"/>
            </a:pPr>
            <a:endParaRPr sz="2100">
              <a:latin typeface="Arial"/>
              <a:cs typeface="Arial"/>
            </a:endParaRPr>
          </a:p>
          <a:p>
            <a:pPr marL="355600" indent="-342900">
              <a:lnSpc>
                <a:spcPct val="100000"/>
              </a:lnSpc>
              <a:buClr>
                <a:srgbClr val="0F1141"/>
              </a:buClr>
              <a:buChar char="•"/>
              <a:tabLst>
                <a:tab pos="354965" algn="l"/>
                <a:tab pos="355600" algn="l"/>
              </a:tabLst>
            </a:pPr>
            <a:r>
              <a:rPr sz="1700" dirty="0">
                <a:latin typeface="Arial"/>
                <a:cs typeface="Arial"/>
              </a:rPr>
              <a:t>Charcaters are </a:t>
            </a:r>
            <a:r>
              <a:rPr sz="1700" spc="-5" dirty="0">
                <a:latin typeface="Arial"/>
                <a:cs typeface="Arial"/>
              </a:rPr>
              <a:t>extracted from </a:t>
            </a:r>
            <a:r>
              <a:rPr sz="1700" dirty="0">
                <a:latin typeface="Arial"/>
                <a:cs typeface="Arial"/>
              </a:rPr>
              <a:t>invoking (this) </a:t>
            </a:r>
            <a:r>
              <a:rPr sz="1700" spc="-5" dirty="0">
                <a:latin typeface="Arial"/>
                <a:cs typeface="Arial"/>
              </a:rPr>
              <a:t>string</a:t>
            </a:r>
            <a:r>
              <a:rPr sz="1700" spc="25" dirty="0">
                <a:latin typeface="Arial"/>
                <a:cs typeface="Arial"/>
              </a:rPr>
              <a:t> </a:t>
            </a:r>
            <a:r>
              <a:rPr sz="1700" dirty="0">
                <a:latin typeface="Arial"/>
                <a:cs typeface="Arial"/>
              </a:rPr>
              <a:t>reference</a:t>
            </a:r>
            <a:endParaRPr sz="1700">
              <a:latin typeface="Arial"/>
              <a:cs typeface="Arial"/>
            </a:endParaRPr>
          </a:p>
          <a:p>
            <a:pPr>
              <a:lnSpc>
                <a:spcPct val="100000"/>
              </a:lnSpc>
              <a:spcBef>
                <a:spcPts val="30"/>
              </a:spcBef>
              <a:buClr>
                <a:srgbClr val="0F1141"/>
              </a:buClr>
              <a:buFont typeface="Arial"/>
              <a:buChar char="•"/>
            </a:pPr>
            <a:endParaRPr sz="2100">
              <a:latin typeface="Arial"/>
              <a:cs typeface="Arial"/>
            </a:endParaRPr>
          </a:p>
          <a:p>
            <a:pPr marL="355600" indent="-342900">
              <a:lnSpc>
                <a:spcPts val="1939"/>
              </a:lnSpc>
              <a:spcBef>
                <a:spcPts val="5"/>
              </a:spcBef>
              <a:buClr>
                <a:srgbClr val="0F1141"/>
              </a:buClr>
              <a:buChar char="•"/>
              <a:tabLst>
                <a:tab pos="354965" algn="l"/>
                <a:tab pos="355600" algn="l"/>
              </a:tabLst>
            </a:pPr>
            <a:r>
              <a:rPr sz="1700" dirty="0">
                <a:solidFill>
                  <a:srgbClr val="FF0000"/>
                </a:solidFill>
                <a:latin typeface="Arial"/>
                <a:cs typeface="Arial"/>
              </a:rPr>
              <a:t>sourceStart </a:t>
            </a:r>
            <a:r>
              <a:rPr sz="1700" dirty="0">
                <a:latin typeface="Wingdings"/>
                <a:cs typeface="Wingdings"/>
              </a:rPr>
              <a:t></a:t>
            </a:r>
            <a:r>
              <a:rPr sz="1700" dirty="0">
                <a:latin typeface="Times New Roman"/>
                <a:cs typeface="Times New Roman"/>
              </a:rPr>
              <a:t> </a:t>
            </a:r>
            <a:r>
              <a:rPr sz="1700" spc="-5" dirty="0">
                <a:latin typeface="Arial"/>
                <a:cs typeface="Arial"/>
              </a:rPr>
              <a:t>start </a:t>
            </a:r>
            <a:r>
              <a:rPr sz="1700" dirty="0">
                <a:latin typeface="Arial"/>
                <a:cs typeface="Arial"/>
              </a:rPr>
              <a:t>index </a:t>
            </a:r>
            <a:r>
              <a:rPr sz="1700" spc="5" dirty="0">
                <a:latin typeface="Arial"/>
                <a:cs typeface="Arial"/>
              </a:rPr>
              <a:t>of </a:t>
            </a:r>
            <a:r>
              <a:rPr sz="1700" dirty="0">
                <a:latin typeface="Arial"/>
                <a:cs typeface="Arial"/>
              </a:rPr>
              <a:t>invoking (this) </a:t>
            </a:r>
            <a:r>
              <a:rPr sz="1700" spc="-5" dirty="0">
                <a:latin typeface="Arial"/>
                <a:cs typeface="Arial"/>
              </a:rPr>
              <a:t>string </a:t>
            </a:r>
            <a:r>
              <a:rPr sz="1700" dirty="0">
                <a:latin typeface="Arial"/>
                <a:cs typeface="Arial"/>
              </a:rPr>
              <a:t>reference </a:t>
            </a:r>
            <a:r>
              <a:rPr sz="1700" spc="-5" dirty="0">
                <a:latin typeface="Arial"/>
                <a:cs typeface="Arial"/>
              </a:rPr>
              <a:t>from where</a:t>
            </a:r>
            <a:r>
              <a:rPr sz="1700" spc="190" dirty="0">
                <a:latin typeface="Arial"/>
                <a:cs typeface="Arial"/>
              </a:rPr>
              <a:t> </a:t>
            </a:r>
            <a:r>
              <a:rPr sz="1700" dirty="0">
                <a:latin typeface="Arial"/>
                <a:cs typeface="Arial"/>
              </a:rPr>
              <a:t>character</a:t>
            </a:r>
            <a:endParaRPr sz="1700">
              <a:latin typeface="Arial"/>
              <a:cs typeface="Arial"/>
            </a:endParaRPr>
          </a:p>
          <a:p>
            <a:pPr marL="354965">
              <a:lnSpc>
                <a:spcPts val="1939"/>
              </a:lnSpc>
            </a:pPr>
            <a:r>
              <a:rPr sz="1700" spc="-5" dirty="0">
                <a:latin typeface="Arial"/>
                <a:cs typeface="Arial"/>
              </a:rPr>
              <a:t>extraction will </a:t>
            </a:r>
            <a:r>
              <a:rPr sz="1700" dirty="0">
                <a:latin typeface="Arial"/>
                <a:cs typeface="Arial"/>
              </a:rPr>
              <a:t>start (0 &lt;= sourceStart &lt;= </a:t>
            </a:r>
            <a:r>
              <a:rPr sz="1700" spc="-5" dirty="0">
                <a:latin typeface="Arial"/>
                <a:cs typeface="Arial"/>
              </a:rPr>
              <a:t>L-1, where </a:t>
            </a:r>
            <a:r>
              <a:rPr sz="1700" dirty="0">
                <a:latin typeface="Arial"/>
                <a:cs typeface="Arial"/>
              </a:rPr>
              <a:t>L is length of invoking</a:t>
            </a:r>
            <a:r>
              <a:rPr sz="1700" spc="-30" dirty="0">
                <a:latin typeface="Arial"/>
                <a:cs typeface="Arial"/>
              </a:rPr>
              <a:t> </a:t>
            </a:r>
            <a:r>
              <a:rPr sz="1700" dirty="0">
                <a:latin typeface="Arial"/>
                <a:cs typeface="Arial"/>
              </a:rPr>
              <a:t>string)</a:t>
            </a:r>
            <a:endParaRPr sz="1700">
              <a:latin typeface="Arial"/>
              <a:cs typeface="Arial"/>
            </a:endParaRPr>
          </a:p>
          <a:p>
            <a:pPr>
              <a:lnSpc>
                <a:spcPct val="100000"/>
              </a:lnSpc>
              <a:spcBef>
                <a:spcPts val="35"/>
              </a:spcBef>
            </a:pPr>
            <a:endParaRPr sz="2100">
              <a:latin typeface="Arial"/>
              <a:cs typeface="Arial"/>
            </a:endParaRPr>
          </a:p>
          <a:p>
            <a:pPr marL="355600" indent="-342900">
              <a:lnSpc>
                <a:spcPts val="1939"/>
              </a:lnSpc>
              <a:buClr>
                <a:srgbClr val="0F1141"/>
              </a:buClr>
              <a:buChar char="•"/>
              <a:tabLst>
                <a:tab pos="354965" algn="l"/>
                <a:tab pos="355600" algn="l"/>
              </a:tabLst>
            </a:pPr>
            <a:r>
              <a:rPr sz="1700" dirty="0">
                <a:solidFill>
                  <a:srgbClr val="FF0000"/>
                </a:solidFill>
                <a:latin typeface="Arial"/>
                <a:cs typeface="Arial"/>
              </a:rPr>
              <a:t>sourceEnd</a:t>
            </a:r>
            <a:r>
              <a:rPr sz="1700" dirty="0">
                <a:latin typeface="Wingdings"/>
                <a:cs typeface="Wingdings"/>
              </a:rPr>
              <a:t></a:t>
            </a:r>
            <a:r>
              <a:rPr sz="1700" spc="150" dirty="0">
                <a:latin typeface="Times New Roman"/>
                <a:cs typeface="Times New Roman"/>
              </a:rPr>
              <a:t> </a:t>
            </a:r>
            <a:r>
              <a:rPr sz="1700" dirty="0">
                <a:latin typeface="Arial"/>
                <a:cs typeface="Arial"/>
              </a:rPr>
              <a:t>end</a:t>
            </a:r>
            <a:r>
              <a:rPr sz="1700" spc="100" dirty="0">
                <a:latin typeface="Arial"/>
                <a:cs typeface="Arial"/>
              </a:rPr>
              <a:t> </a:t>
            </a:r>
            <a:r>
              <a:rPr sz="1700" dirty="0">
                <a:latin typeface="Arial"/>
                <a:cs typeface="Arial"/>
              </a:rPr>
              <a:t>index</a:t>
            </a:r>
            <a:r>
              <a:rPr sz="1700" spc="100" dirty="0">
                <a:latin typeface="Arial"/>
                <a:cs typeface="Arial"/>
              </a:rPr>
              <a:t> </a:t>
            </a:r>
            <a:r>
              <a:rPr sz="1700" dirty="0">
                <a:latin typeface="Arial"/>
                <a:cs typeface="Arial"/>
              </a:rPr>
              <a:t>(exclusive)</a:t>
            </a:r>
            <a:r>
              <a:rPr sz="1700" spc="120" dirty="0">
                <a:latin typeface="Arial"/>
                <a:cs typeface="Arial"/>
              </a:rPr>
              <a:t> </a:t>
            </a:r>
            <a:r>
              <a:rPr sz="1700" dirty="0">
                <a:latin typeface="Arial"/>
                <a:cs typeface="Arial"/>
              </a:rPr>
              <a:t>of</a:t>
            </a:r>
            <a:r>
              <a:rPr sz="1700" spc="95" dirty="0">
                <a:latin typeface="Arial"/>
                <a:cs typeface="Arial"/>
              </a:rPr>
              <a:t> </a:t>
            </a:r>
            <a:r>
              <a:rPr sz="1700" dirty="0">
                <a:latin typeface="Arial"/>
                <a:cs typeface="Arial"/>
              </a:rPr>
              <a:t>invoking</a:t>
            </a:r>
            <a:r>
              <a:rPr sz="1700" spc="110" dirty="0">
                <a:latin typeface="Arial"/>
                <a:cs typeface="Arial"/>
              </a:rPr>
              <a:t> </a:t>
            </a:r>
            <a:r>
              <a:rPr sz="1700" dirty="0">
                <a:latin typeface="Arial"/>
                <a:cs typeface="Arial"/>
              </a:rPr>
              <a:t>(this)</a:t>
            </a:r>
            <a:r>
              <a:rPr sz="1700" spc="105" dirty="0">
                <a:latin typeface="Arial"/>
                <a:cs typeface="Arial"/>
              </a:rPr>
              <a:t> </a:t>
            </a:r>
            <a:r>
              <a:rPr sz="1700" spc="-5" dirty="0">
                <a:latin typeface="Arial"/>
                <a:cs typeface="Arial"/>
              </a:rPr>
              <a:t>string</a:t>
            </a:r>
            <a:r>
              <a:rPr sz="1700" spc="110" dirty="0">
                <a:latin typeface="Arial"/>
                <a:cs typeface="Arial"/>
              </a:rPr>
              <a:t> </a:t>
            </a:r>
            <a:r>
              <a:rPr sz="1700" dirty="0">
                <a:latin typeface="Arial"/>
                <a:cs typeface="Arial"/>
              </a:rPr>
              <a:t>reference.</a:t>
            </a:r>
            <a:r>
              <a:rPr sz="1700" spc="100" dirty="0">
                <a:latin typeface="Arial"/>
                <a:cs typeface="Arial"/>
              </a:rPr>
              <a:t> </a:t>
            </a:r>
            <a:r>
              <a:rPr sz="1700" spc="-5" dirty="0">
                <a:latin typeface="Arial"/>
                <a:cs typeface="Arial"/>
              </a:rPr>
              <a:t>(0</a:t>
            </a:r>
            <a:r>
              <a:rPr sz="1700" spc="105" dirty="0">
                <a:latin typeface="Arial"/>
                <a:cs typeface="Arial"/>
              </a:rPr>
              <a:t> </a:t>
            </a:r>
            <a:r>
              <a:rPr sz="1700" dirty="0">
                <a:latin typeface="Arial"/>
                <a:cs typeface="Arial"/>
              </a:rPr>
              <a:t>&lt;=</a:t>
            </a:r>
            <a:r>
              <a:rPr sz="1700" spc="105" dirty="0">
                <a:latin typeface="Arial"/>
                <a:cs typeface="Arial"/>
              </a:rPr>
              <a:t> </a:t>
            </a:r>
            <a:r>
              <a:rPr sz="1700" dirty="0">
                <a:latin typeface="Arial"/>
                <a:cs typeface="Arial"/>
              </a:rPr>
              <a:t>sourceEnd</a:t>
            </a:r>
            <a:endParaRPr sz="1700">
              <a:latin typeface="Arial"/>
              <a:cs typeface="Arial"/>
            </a:endParaRPr>
          </a:p>
          <a:p>
            <a:pPr marL="354965">
              <a:lnSpc>
                <a:spcPts val="1939"/>
              </a:lnSpc>
            </a:pPr>
            <a:r>
              <a:rPr sz="1700" dirty="0">
                <a:latin typeface="Arial"/>
                <a:cs typeface="Arial"/>
              </a:rPr>
              <a:t>&lt;= L-1, </a:t>
            </a:r>
            <a:r>
              <a:rPr sz="1700" spc="-5" dirty="0">
                <a:latin typeface="Arial"/>
                <a:cs typeface="Arial"/>
              </a:rPr>
              <a:t>where </a:t>
            </a:r>
            <a:r>
              <a:rPr sz="1700" dirty="0">
                <a:latin typeface="Arial"/>
                <a:cs typeface="Arial"/>
              </a:rPr>
              <a:t>L is length of invoking </a:t>
            </a:r>
            <a:r>
              <a:rPr sz="1700" spc="-5" dirty="0">
                <a:latin typeface="Arial"/>
                <a:cs typeface="Arial"/>
              </a:rPr>
              <a:t>string </a:t>
            </a:r>
            <a:r>
              <a:rPr sz="1700" dirty="0">
                <a:latin typeface="Arial"/>
                <a:cs typeface="Arial"/>
              </a:rPr>
              <a:t>and also</a:t>
            </a:r>
            <a:r>
              <a:rPr sz="1700" spc="-45" dirty="0">
                <a:latin typeface="Arial"/>
                <a:cs typeface="Arial"/>
              </a:rPr>
              <a:t> </a:t>
            </a:r>
            <a:r>
              <a:rPr sz="1700" dirty="0">
                <a:solidFill>
                  <a:srgbClr val="FF0000"/>
                </a:solidFill>
                <a:latin typeface="Arial"/>
                <a:cs typeface="Arial"/>
              </a:rPr>
              <a:t>sourceStart&lt;=sourceEnd</a:t>
            </a:r>
            <a:r>
              <a:rPr sz="1700" dirty="0">
                <a:latin typeface="Arial"/>
                <a:cs typeface="Arial"/>
              </a:rPr>
              <a:t>)</a:t>
            </a:r>
            <a:endParaRPr sz="1700">
              <a:latin typeface="Arial"/>
              <a:cs typeface="Arial"/>
            </a:endParaRPr>
          </a:p>
          <a:p>
            <a:pPr>
              <a:lnSpc>
                <a:spcPct val="100000"/>
              </a:lnSpc>
              <a:spcBef>
                <a:spcPts val="35"/>
              </a:spcBef>
            </a:pPr>
            <a:endParaRPr sz="2100">
              <a:latin typeface="Arial"/>
              <a:cs typeface="Arial"/>
            </a:endParaRPr>
          </a:p>
          <a:p>
            <a:pPr marL="355600" indent="-342900">
              <a:lnSpc>
                <a:spcPct val="100000"/>
              </a:lnSpc>
              <a:buClr>
                <a:srgbClr val="0F1141"/>
              </a:buClr>
              <a:buChar char="•"/>
              <a:tabLst>
                <a:tab pos="354965" algn="l"/>
                <a:tab pos="355600" algn="l"/>
              </a:tabLst>
            </a:pPr>
            <a:r>
              <a:rPr sz="1700" dirty="0">
                <a:latin typeface="Arial"/>
                <a:cs typeface="Arial"/>
              </a:rPr>
              <a:t>Characters are </a:t>
            </a:r>
            <a:r>
              <a:rPr sz="1700" spc="-5" dirty="0">
                <a:latin typeface="Arial"/>
                <a:cs typeface="Arial"/>
              </a:rPr>
              <a:t>extracted from </a:t>
            </a:r>
            <a:r>
              <a:rPr sz="1700" dirty="0">
                <a:solidFill>
                  <a:srgbClr val="FF0000"/>
                </a:solidFill>
                <a:latin typeface="Arial"/>
                <a:cs typeface="Arial"/>
              </a:rPr>
              <a:t>sourceStart </a:t>
            </a:r>
            <a:r>
              <a:rPr sz="1700" spc="-5" dirty="0">
                <a:latin typeface="Arial"/>
                <a:cs typeface="Arial"/>
              </a:rPr>
              <a:t>to</a:t>
            </a:r>
            <a:r>
              <a:rPr sz="1700" spc="50" dirty="0">
                <a:latin typeface="Arial"/>
                <a:cs typeface="Arial"/>
              </a:rPr>
              <a:t> </a:t>
            </a:r>
            <a:r>
              <a:rPr sz="1700" dirty="0">
                <a:solidFill>
                  <a:srgbClr val="FF0000"/>
                </a:solidFill>
                <a:latin typeface="Arial"/>
                <a:cs typeface="Arial"/>
              </a:rPr>
              <a:t>sourceEnd-1</a:t>
            </a:r>
            <a:endParaRPr sz="1700">
              <a:latin typeface="Arial"/>
              <a:cs typeface="Arial"/>
            </a:endParaRPr>
          </a:p>
          <a:p>
            <a:pPr>
              <a:lnSpc>
                <a:spcPct val="100000"/>
              </a:lnSpc>
              <a:spcBef>
                <a:spcPts val="30"/>
              </a:spcBef>
              <a:buClr>
                <a:srgbClr val="0F1141"/>
              </a:buClr>
              <a:buFont typeface="Arial"/>
              <a:buChar char="•"/>
            </a:pPr>
            <a:endParaRPr sz="2100">
              <a:latin typeface="Arial"/>
              <a:cs typeface="Arial"/>
            </a:endParaRPr>
          </a:p>
          <a:p>
            <a:pPr marL="355600" indent="-342900">
              <a:lnSpc>
                <a:spcPct val="100000"/>
              </a:lnSpc>
              <a:spcBef>
                <a:spcPts val="5"/>
              </a:spcBef>
              <a:buClr>
                <a:srgbClr val="0F1141"/>
              </a:buClr>
              <a:buChar char="•"/>
              <a:tabLst>
                <a:tab pos="354965" algn="l"/>
                <a:tab pos="355600" algn="l"/>
              </a:tabLst>
            </a:pPr>
            <a:r>
              <a:rPr sz="1700" dirty="0">
                <a:solidFill>
                  <a:srgbClr val="FF0000"/>
                </a:solidFill>
                <a:latin typeface="Arial"/>
                <a:cs typeface="Arial"/>
              </a:rPr>
              <a:t>target </a:t>
            </a:r>
            <a:r>
              <a:rPr sz="1700" dirty="0">
                <a:latin typeface="Arial"/>
                <a:cs typeface="Arial"/>
              </a:rPr>
              <a:t>represents </a:t>
            </a:r>
            <a:r>
              <a:rPr sz="1700" spc="-5" dirty="0">
                <a:latin typeface="Arial"/>
                <a:cs typeface="Arial"/>
              </a:rPr>
              <a:t>the </a:t>
            </a:r>
            <a:r>
              <a:rPr sz="1700" dirty="0">
                <a:latin typeface="Arial"/>
                <a:cs typeface="Arial"/>
              </a:rPr>
              <a:t>target character </a:t>
            </a:r>
            <a:r>
              <a:rPr sz="1700" spc="-5" dirty="0">
                <a:latin typeface="Arial"/>
                <a:cs typeface="Arial"/>
              </a:rPr>
              <a:t>array where extracted </a:t>
            </a:r>
            <a:r>
              <a:rPr sz="1700" dirty="0">
                <a:latin typeface="Arial"/>
                <a:cs typeface="Arial"/>
              </a:rPr>
              <a:t>characters </a:t>
            </a:r>
            <a:r>
              <a:rPr sz="1700" spc="-5" dirty="0">
                <a:latin typeface="Arial"/>
                <a:cs typeface="Arial"/>
              </a:rPr>
              <a:t>will </a:t>
            </a:r>
            <a:r>
              <a:rPr sz="1700" dirty="0">
                <a:latin typeface="Arial"/>
                <a:cs typeface="Arial"/>
              </a:rPr>
              <a:t>be</a:t>
            </a:r>
            <a:r>
              <a:rPr sz="1700" spc="120" dirty="0">
                <a:latin typeface="Arial"/>
                <a:cs typeface="Arial"/>
              </a:rPr>
              <a:t> </a:t>
            </a:r>
            <a:r>
              <a:rPr sz="1700" dirty="0">
                <a:latin typeface="Arial"/>
                <a:cs typeface="Arial"/>
              </a:rPr>
              <a:t>stored</a:t>
            </a:r>
            <a:endParaRPr sz="1700">
              <a:latin typeface="Arial"/>
              <a:cs typeface="Arial"/>
            </a:endParaRPr>
          </a:p>
          <a:p>
            <a:pPr>
              <a:lnSpc>
                <a:spcPct val="100000"/>
              </a:lnSpc>
              <a:spcBef>
                <a:spcPts val="30"/>
              </a:spcBef>
              <a:buClr>
                <a:srgbClr val="0F1141"/>
              </a:buClr>
              <a:buFont typeface="Arial"/>
              <a:buChar char="•"/>
            </a:pPr>
            <a:endParaRPr sz="2100">
              <a:latin typeface="Arial"/>
              <a:cs typeface="Arial"/>
            </a:endParaRPr>
          </a:p>
          <a:p>
            <a:pPr marL="355600" indent="-342900">
              <a:lnSpc>
                <a:spcPts val="1939"/>
              </a:lnSpc>
              <a:buClr>
                <a:srgbClr val="0F1141"/>
              </a:buClr>
              <a:buChar char="•"/>
              <a:tabLst>
                <a:tab pos="354965" algn="l"/>
                <a:tab pos="355600" algn="l"/>
              </a:tabLst>
            </a:pPr>
            <a:r>
              <a:rPr sz="1700" dirty="0">
                <a:solidFill>
                  <a:srgbClr val="FF0000"/>
                </a:solidFill>
                <a:latin typeface="Arial"/>
                <a:cs typeface="Arial"/>
              </a:rPr>
              <a:t>targetStart</a:t>
            </a:r>
            <a:r>
              <a:rPr sz="1700" spc="240" dirty="0">
                <a:solidFill>
                  <a:srgbClr val="FF0000"/>
                </a:solidFill>
                <a:latin typeface="Arial"/>
                <a:cs typeface="Arial"/>
              </a:rPr>
              <a:t> </a:t>
            </a:r>
            <a:r>
              <a:rPr sz="1700" spc="5" dirty="0">
                <a:latin typeface="Wingdings"/>
                <a:cs typeface="Wingdings"/>
              </a:rPr>
              <a:t></a:t>
            </a:r>
            <a:r>
              <a:rPr sz="1700" spc="290" dirty="0">
                <a:latin typeface="Times New Roman"/>
                <a:cs typeface="Times New Roman"/>
              </a:rPr>
              <a:t> </a:t>
            </a:r>
            <a:r>
              <a:rPr sz="1700" dirty="0">
                <a:latin typeface="Arial"/>
                <a:cs typeface="Arial"/>
              </a:rPr>
              <a:t>start</a:t>
            </a:r>
            <a:r>
              <a:rPr sz="1700" spc="250" dirty="0">
                <a:latin typeface="Arial"/>
                <a:cs typeface="Arial"/>
              </a:rPr>
              <a:t> </a:t>
            </a:r>
            <a:r>
              <a:rPr sz="1700" dirty="0">
                <a:latin typeface="Arial"/>
                <a:cs typeface="Arial"/>
              </a:rPr>
              <a:t>index</a:t>
            </a:r>
            <a:r>
              <a:rPr sz="1700" spc="245" dirty="0">
                <a:latin typeface="Arial"/>
                <a:cs typeface="Arial"/>
              </a:rPr>
              <a:t> </a:t>
            </a:r>
            <a:r>
              <a:rPr sz="1700" spc="5" dirty="0">
                <a:latin typeface="Arial"/>
                <a:cs typeface="Arial"/>
              </a:rPr>
              <a:t>of</a:t>
            </a:r>
            <a:r>
              <a:rPr sz="1700" spc="250" dirty="0">
                <a:latin typeface="Arial"/>
                <a:cs typeface="Arial"/>
              </a:rPr>
              <a:t> </a:t>
            </a:r>
            <a:r>
              <a:rPr sz="1700" dirty="0">
                <a:solidFill>
                  <a:srgbClr val="FF0000"/>
                </a:solidFill>
                <a:latin typeface="Arial"/>
                <a:cs typeface="Arial"/>
              </a:rPr>
              <a:t>target</a:t>
            </a:r>
            <a:r>
              <a:rPr sz="1700" spc="254" dirty="0">
                <a:solidFill>
                  <a:srgbClr val="FF0000"/>
                </a:solidFill>
                <a:latin typeface="Arial"/>
                <a:cs typeface="Arial"/>
              </a:rPr>
              <a:t> </a:t>
            </a:r>
            <a:r>
              <a:rPr sz="1700" dirty="0">
                <a:latin typeface="Arial"/>
                <a:cs typeface="Arial"/>
              </a:rPr>
              <a:t>from</a:t>
            </a:r>
            <a:r>
              <a:rPr sz="1700" spc="260" dirty="0">
                <a:latin typeface="Arial"/>
                <a:cs typeface="Arial"/>
              </a:rPr>
              <a:t> </a:t>
            </a:r>
            <a:r>
              <a:rPr sz="1700" spc="-5" dirty="0">
                <a:latin typeface="Arial"/>
                <a:cs typeface="Arial"/>
              </a:rPr>
              <a:t>where</a:t>
            </a:r>
            <a:r>
              <a:rPr sz="1700" spc="254" dirty="0">
                <a:latin typeface="Arial"/>
                <a:cs typeface="Arial"/>
              </a:rPr>
              <a:t> </a:t>
            </a:r>
            <a:r>
              <a:rPr sz="1700" dirty="0">
                <a:latin typeface="Arial"/>
                <a:cs typeface="Arial"/>
              </a:rPr>
              <a:t>characters</a:t>
            </a:r>
            <a:r>
              <a:rPr sz="1700" spc="254" dirty="0">
                <a:latin typeface="Arial"/>
                <a:cs typeface="Arial"/>
              </a:rPr>
              <a:t> </a:t>
            </a:r>
            <a:r>
              <a:rPr sz="1700" spc="-5" dirty="0">
                <a:latin typeface="Arial"/>
                <a:cs typeface="Arial"/>
              </a:rPr>
              <a:t>will</a:t>
            </a:r>
            <a:r>
              <a:rPr sz="1700" spc="245" dirty="0">
                <a:latin typeface="Arial"/>
                <a:cs typeface="Arial"/>
              </a:rPr>
              <a:t> </a:t>
            </a:r>
            <a:r>
              <a:rPr sz="1700" dirty="0">
                <a:latin typeface="Arial"/>
                <a:cs typeface="Arial"/>
              </a:rPr>
              <a:t>be</a:t>
            </a:r>
            <a:r>
              <a:rPr sz="1700" spc="254" dirty="0">
                <a:latin typeface="Arial"/>
                <a:cs typeface="Arial"/>
              </a:rPr>
              <a:t> </a:t>
            </a:r>
            <a:r>
              <a:rPr sz="1700" dirty="0">
                <a:latin typeface="Arial"/>
                <a:cs typeface="Arial"/>
              </a:rPr>
              <a:t>stored.</a:t>
            </a:r>
            <a:r>
              <a:rPr sz="1700" spc="254" dirty="0">
                <a:latin typeface="Arial"/>
                <a:cs typeface="Arial"/>
              </a:rPr>
              <a:t> </a:t>
            </a:r>
            <a:r>
              <a:rPr sz="1700" dirty="0">
                <a:latin typeface="Arial"/>
                <a:cs typeface="Arial"/>
              </a:rPr>
              <a:t>Note:</a:t>
            </a:r>
            <a:r>
              <a:rPr sz="1700" spc="254" dirty="0">
                <a:latin typeface="Arial"/>
                <a:cs typeface="Arial"/>
              </a:rPr>
              <a:t> </a:t>
            </a:r>
            <a:r>
              <a:rPr sz="1700" dirty="0">
                <a:solidFill>
                  <a:srgbClr val="FF0000"/>
                </a:solidFill>
                <a:latin typeface="Arial"/>
                <a:cs typeface="Arial"/>
              </a:rPr>
              <a:t>target</a:t>
            </a:r>
            <a:endParaRPr sz="1700">
              <a:latin typeface="Arial"/>
              <a:cs typeface="Arial"/>
            </a:endParaRPr>
          </a:p>
          <a:p>
            <a:pPr marL="354965">
              <a:lnSpc>
                <a:spcPts val="1939"/>
              </a:lnSpc>
            </a:pPr>
            <a:r>
              <a:rPr sz="1700" spc="-5" dirty="0">
                <a:latin typeface="Arial"/>
                <a:cs typeface="Arial"/>
              </a:rPr>
              <a:t>array </a:t>
            </a:r>
            <a:r>
              <a:rPr sz="1700" dirty="0">
                <a:latin typeface="Arial"/>
                <a:cs typeface="Arial"/>
              </a:rPr>
              <a:t>should be large enough </a:t>
            </a:r>
            <a:r>
              <a:rPr sz="1700" spc="-5" dirty="0">
                <a:latin typeface="Arial"/>
                <a:cs typeface="Arial"/>
              </a:rPr>
              <a:t>to store the extracted</a:t>
            </a:r>
            <a:r>
              <a:rPr sz="1700" spc="105" dirty="0">
                <a:latin typeface="Arial"/>
                <a:cs typeface="Arial"/>
              </a:rPr>
              <a:t> </a:t>
            </a:r>
            <a:r>
              <a:rPr sz="1700" dirty="0">
                <a:latin typeface="Arial"/>
                <a:cs typeface="Arial"/>
              </a:rPr>
              <a:t>characters.</a:t>
            </a:r>
            <a:endParaRPr sz="1700">
              <a:latin typeface="Arial"/>
              <a:cs typeface="Arial"/>
            </a:endParaRPr>
          </a:p>
        </p:txBody>
      </p:sp>
      <p:sp>
        <p:nvSpPr>
          <p:cNvPr id="3" name="object 3"/>
          <p:cNvSpPr txBox="1">
            <a:spLocks noGrp="1"/>
          </p:cNvSpPr>
          <p:nvPr>
            <p:ph type="title"/>
          </p:nvPr>
        </p:nvSpPr>
        <p:spPr>
          <a:xfrm>
            <a:off x="383540" y="150621"/>
            <a:ext cx="4399915" cy="1031240"/>
          </a:xfrm>
          <a:prstGeom prst="rect">
            <a:avLst/>
          </a:prstGeom>
        </p:spPr>
        <p:txBody>
          <a:bodyPr vert="horz" wrap="square" lIns="0" tIns="104139" rIns="0" bIns="0" rtlCol="0">
            <a:spAutoFit/>
          </a:bodyPr>
          <a:lstStyle/>
          <a:p>
            <a:pPr marL="12700" marR="5080">
              <a:lnSpc>
                <a:spcPts val="3600"/>
              </a:lnSpc>
              <a:spcBef>
                <a:spcPts val="819"/>
              </a:spcBef>
            </a:pPr>
            <a:r>
              <a:rPr sz="3600" i="0" spc="-140" dirty="0">
                <a:solidFill>
                  <a:srgbClr val="000000"/>
                </a:solidFill>
                <a:latin typeface="Arial"/>
                <a:cs typeface="Arial"/>
              </a:rPr>
              <a:t>Character </a:t>
            </a:r>
            <a:r>
              <a:rPr sz="3600" i="0" spc="-145" dirty="0">
                <a:solidFill>
                  <a:srgbClr val="000000"/>
                </a:solidFill>
                <a:latin typeface="Arial"/>
                <a:cs typeface="Arial"/>
              </a:rPr>
              <a:t>Extraction</a:t>
            </a:r>
            <a:r>
              <a:rPr sz="3600" i="0" spc="-445" dirty="0">
                <a:solidFill>
                  <a:srgbClr val="000000"/>
                </a:solidFill>
                <a:latin typeface="Arial"/>
                <a:cs typeface="Arial"/>
              </a:rPr>
              <a:t> </a:t>
            </a:r>
            <a:r>
              <a:rPr sz="3600" i="0" dirty="0">
                <a:solidFill>
                  <a:srgbClr val="000000"/>
                </a:solidFill>
                <a:latin typeface="Arial"/>
                <a:cs typeface="Arial"/>
              </a:rPr>
              <a:t>:  </a:t>
            </a:r>
            <a:r>
              <a:rPr sz="3600" i="0" spc="-160" dirty="0">
                <a:solidFill>
                  <a:srgbClr val="000000"/>
                </a:solidFill>
                <a:latin typeface="Arial"/>
                <a:cs typeface="Arial"/>
              </a:rPr>
              <a:t>getChars()</a:t>
            </a:r>
            <a:endParaRPr sz="3600" dirty="0">
              <a:latin typeface="Arial"/>
              <a:cs typeface="Arial"/>
            </a:endParaRPr>
          </a:p>
        </p:txBody>
      </p:sp>
      <p:sp>
        <p:nvSpPr>
          <p:cNvPr id="4" name="object 4"/>
          <p:cNvSpPr/>
          <p:nvPr/>
        </p:nvSpPr>
        <p:spPr>
          <a:xfrm>
            <a:off x="965847" y="1742693"/>
            <a:ext cx="5984240" cy="3729354"/>
          </a:xfrm>
          <a:custGeom>
            <a:avLst/>
            <a:gdLst/>
            <a:ahLst/>
            <a:cxnLst/>
            <a:rect l="l" t="t" r="r" b="b"/>
            <a:pathLst>
              <a:path w="5984240" h="3729354">
                <a:moveTo>
                  <a:pt x="78968" y="3094228"/>
                </a:moveTo>
                <a:lnTo>
                  <a:pt x="64516" y="3072765"/>
                </a:lnTo>
                <a:lnTo>
                  <a:pt x="0" y="3116072"/>
                </a:lnTo>
                <a:lnTo>
                  <a:pt x="14452" y="3137535"/>
                </a:lnTo>
                <a:lnTo>
                  <a:pt x="78968" y="3094228"/>
                </a:lnTo>
                <a:close/>
              </a:path>
              <a:path w="5984240" h="3729354">
                <a:moveTo>
                  <a:pt x="164985" y="3036443"/>
                </a:moveTo>
                <a:lnTo>
                  <a:pt x="150533" y="3014980"/>
                </a:lnTo>
                <a:lnTo>
                  <a:pt x="86017" y="3058287"/>
                </a:lnTo>
                <a:lnTo>
                  <a:pt x="100469" y="3079750"/>
                </a:lnTo>
                <a:lnTo>
                  <a:pt x="164985" y="3036443"/>
                </a:lnTo>
                <a:close/>
              </a:path>
              <a:path w="5984240" h="3729354">
                <a:moveTo>
                  <a:pt x="210934" y="3687826"/>
                </a:moveTo>
                <a:lnTo>
                  <a:pt x="197116" y="3665982"/>
                </a:lnTo>
                <a:lnTo>
                  <a:pt x="131381" y="3707384"/>
                </a:lnTo>
                <a:lnTo>
                  <a:pt x="145199" y="3729355"/>
                </a:lnTo>
                <a:lnTo>
                  <a:pt x="210934" y="3687826"/>
                </a:lnTo>
                <a:close/>
              </a:path>
              <a:path w="5984240" h="3729354">
                <a:moveTo>
                  <a:pt x="211950" y="980186"/>
                </a:moveTo>
                <a:lnTo>
                  <a:pt x="198894" y="957707"/>
                </a:lnTo>
                <a:lnTo>
                  <a:pt x="131762" y="996950"/>
                </a:lnTo>
                <a:lnTo>
                  <a:pt x="144818" y="1019302"/>
                </a:lnTo>
                <a:lnTo>
                  <a:pt x="211950" y="980186"/>
                </a:lnTo>
                <a:close/>
              </a:path>
              <a:path w="5984240" h="3729354">
                <a:moveTo>
                  <a:pt x="251002" y="2978658"/>
                </a:moveTo>
                <a:lnTo>
                  <a:pt x="236550" y="2957195"/>
                </a:lnTo>
                <a:lnTo>
                  <a:pt x="172046" y="3000502"/>
                </a:lnTo>
                <a:lnTo>
                  <a:pt x="186486" y="3021965"/>
                </a:lnTo>
                <a:lnTo>
                  <a:pt x="251002" y="2978658"/>
                </a:lnTo>
                <a:close/>
              </a:path>
              <a:path w="5984240" h="3729354">
                <a:moveTo>
                  <a:pt x="298589" y="3632581"/>
                </a:moveTo>
                <a:lnTo>
                  <a:pt x="284759" y="3610610"/>
                </a:lnTo>
                <a:lnTo>
                  <a:pt x="219024" y="3652139"/>
                </a:lnTo>
                <a:lnTo>
                  <a:pt x="232854" y="3673983"/>
                </a:lnTo>
                <a:lnTo>
                  <a:pt x="298589" y="3632581"/>
                </a:lnTo>
                <a:close/>
              </a:path>
              <a:path w="5984240" h="3729354">
                <a:moveTo>
                  <a:pt x="301472" y="927862"/>
                </a:moveTo>
                <a:lnTo>
                  <a:pt x="288417" y="905510"/>
                </a:lnTo>
                <a:lnTo>
                  <a:pt x="221272" y="944753"/>
                </a:lnTo>
                <a:lnTo>
                  <a:pt x="234327" y="967105"/>
                </a:lnTo>
                <a:lnTo>
                  <a:pt x="301472" y="927862"/>
                </a:lnTo>
                <a:close/>
              </a:path>
              <a:path w="5984240" h="3729354">
                <a:moveTo>
                  <a:pt x="337045" y="2920873"/>
                </a:moveTo>
                <a:lnTo>
                  <a:pt x="322567" y="2899283"/>
                </a:lnTo>
                <a:lnTo>
                  <a:pt x="258064" y="2942717"/>
                </a:lnTo>
                <a:lnTo>
                  <a:pt x="272503" y="2964180"/>
                </a:lnTo>
                <a:lnTo>
                  <a:pt x="337045" y="2920873"/>
                </a:lnTo>
                <a:close/>
              </a:path>
              <a:path w="5984240" h="3729354">
                <a:moveTo>
                  <a:pt x="370192" y="1734185"/>
                </a:moveTo>
                <a:lnTo>
                  <a:pt x="358127" y="1711198"/>
                </a:lnTo>
                <a:lnTo>
                  <a:pt x="289267" y="1747139"/>
                </a:lnTo>
                <a:lnTo>
                  <a:pt x="301256" y="1770126"/>
                </a:lnTo>
                <a:lnTo>
                  <a:pt x="370192" y="1734185"/>
                </a:lnTo>
                <a:close/>
              </a:path>
              <a:path w="5984240" h="3729354">
                <a:moveTo>
                  <a:pt x="386194" y="3577209"/>
                </a:moveTo>
                <a:lnTo>
                  <a:pt x="372351" y="3555365"/>
                </a:lnTo>
                <a:lnTo>
                  <a:pt x="306692" y="3596767"/>
                </a:lnTo>
                <a:lnTo>
                  <a:pt x="320535" y="3618738"/>
                </a:lnTo>
                <a:lnTo>
                  <a:pt x="386194" y="3577209"/>
                </a:lnTo>
                <a:close/>
              </a:path>
              <a:path w="5984240" h="3729354">
                <a:moveTo>
                  <a:pt x="391020" y="875665"/>
                </a:moveTo>
                <a:lnTo>
                  <a:pt x="377939" y="853313"/>
                </a:lnTo>
                <a:lnTo>
                  <a:pt x="310756" y="892429"/>
                </a:lnTo>
                <a:lnTo>
                  <a:pt x="323837" y="914908"/>
                </a:lnTo>
                <a:lnTo>
                  <a:pt x="391020" y="875665"/>
                </a:lnTo>
                <a:close/>
              </a:path>
              <a:path w="5984240" h="3729354">
                <a:moveTo>
                  <a:pt x="423024" y="2863088"/>
                </a:moveTo>
                <a:lnTo>
                  <a:pt x="408546" y="2841498"/>
                </a:lnTo>
                <a:lnTo>
                  <a:pt x="344030" y="2884932"/>
                </a:lnTo>
                <a:lnTo>
                  <a:pt x="358508" y="2906395"/>
                </a:lnTo>
                <a:lnTo>
                  <a:pt x="423024" y="2863088"/>
                </a:lnTo>
                <a:close/>
              </a:path>
              <a:path w="5984240" h="3729354">
                <a:moveTo>
                  <a:pt x="462013" y="1686306"/>
                </a:moveTo>
                <a:lnTo>
                  <a:pt x="450075" y="1663319"/>
                </a:lnTo>
                <a:lnTo>
                  <a:pt x="381114" y="1699260"/>
                </a:lnTo>
                <a:lnTo>
                  <a:pt x="393179" y="1722247"/>
                </a:lnTo>
                <a:lnTo>
                  <a:pt x="462013" y="1686306"/>
                </a:lnTo>
                <a:close/>
              </a:path>
              <a:path w="5984240" h="3729354">
                <a:moveTo>
                  <a:pt x="473824" y="3521964"/>
                </a:moveTo>
                <a:lnTo>
                  <a:pt x="460108" y="3499993"/>
                </a:lnTo>
                <a:lnTo>
                  <a:pt x="394322" y="3541522"/>
                </a:lnTo>
                <a:lnTo>
                  <a:pt x="408165" y="3563493"/>
                </a:lnTo>
                <a:lnTo>
                  <a:pt x="473824" y="3521964"/>
                </a:lnTo>
                <a:close/>
              </a:path>
              <a:path w="5984240" h="3729354">
                <a:moveTo>
                  <a:pt x="480555" y="823468"/>
                </a:moveTo>
                <a:lnTo>
                  <a:pt x="467474" y="801116"/>
                </a:lnTo>
                <a:lnTo>
                  <a:pt x="400291" y="840232"/>
                </a:lnTo>
                <a:lnTo>
                  <a:pt x="413372" y="862711"/>
                </a:lnTo>
                <a:lnTo>
                  <a:pt x="480555" y="823468"/>
                </a:lnTo>
                <a:close/>
              </a:path>
              <a:path w="5984240" h="3729354">
                <a:moveTo>
                  <a:pt x="509003" y="2805303"/>
                </a:moveTo>
                <a:lnTo>
                  <a:pt x="494652" y="2783713"/>
                </a:lnTo>
                <a:lnTo>
                  <a:pt x="430136" y="2827147"/>
                </a:lnTo>
                <a:lnTo>
                  <a:pt x="444487" y="2848610"/>
                </a:lnTo>
                <a:lnTo>
                  <a:pt x="509003" y="2805303"/>
                </a:lnTo>
                <a:close/>
              </a:path>
              <a:path w="5984240" h="3729354">
                <a:moveTo>
                  <a:pt x="553961" y="1638300"/>
                </a:moveTo>
                <a:lnTo>
                  <a:pt x="541896" y="1615313"/>
                </a:lnTo>
                <a:lnTo>
                  <a:pt x="473062" y="1651254"/>
                </a:lnTo>
                <a:lnTo>
                  <a:pt x="485000" y="1674241"/>
                </a:lnTo>
                <a:lnTo>
                  <a:pt x="553961" y="1638300"/>
                </a:lnTo>
                <a:close/>
              </a:path>
              <a:path w="5984240" h="3729354">
                <a:moveTo>
                  <a:pt x="561581" y="3466719"/>
                </a:moveTo>
                <a:lnTo>
                  <a:pt x="547738" y="3444748"/>
                </a:lnTo>
                <a:lnTo>
                  <a:pt x="481952" y="3486277"/>
                </a:lnTo>
                <a:lnTo>
                  <a:pt x="495795" y="3508121"/>
                </a:lnTo>
                <a:lnTo>
                  <a:pt x="561581" y="3466719"/>
                </a:lnTo>
                <a:close/>
              </a:path>
              <a:path w="5984240" h="3729354">
                <a:moveTo>
                  <a:pt x="569963" y="771271"/>
                </a:moveTo>
                <a:lnTo>
                  <a:pt x="557009" y="748919"/>
                </a:lnTo>
                <a:lnTo>
                  <a:pt x="489826" y="788035"/>
                </a:lnTo>
                <a:lnTo>
                  <a:pt x="502907" y="810387"/>
                </a:lnTo>
                <a:lnTo>
                  <a:pt x="569963" y="771271"/>
                </a:lnTo>
                <a:close/>
              </a:path>
              <a:path w="5984240" h="3729354">
                <a:moveTo>
                  <a:pt x="595109" y="2747518"/>
                </a:moveTo>
                <a:lnTo>
                  <a:pt x="580631" y="2725928"/>
                </a:lnTo>
                <a:lnTo>
                  <a:pt x="516115" y="2769362"/>
                </a:lnTo>
                <a:lnTo>
                  <a:pt x="530593" y="2790825"/>
                </a:lnTo>
                <a:lnTo>
                  <a:pt x="595109" y="2747518"/>
                </a:lnTo>
                <a:close/>
              </a:path>
              <a:path w="5984240" h="3729354">
                <a:moveTo>
                  <a:pt x="645782" y="1590421"/>
                </a:moveTo>
                <a:lnTo>
                  <a:pt x="633844" y="1567434"/>
                </a:lnTo>
                <a:lnTo>
                  <a:pt x="564883" y="1603375"/>
                </a:lnTo>
                <a:lnTo>
                  <a:pt x="576948" y="1626362"/>
                </a:lnTo>
                <a:lnTo>
                  <a:pt x="645782" y="1590421"/>
                </a:lnTo>
                <a:close/>
              </a:path>
              <a:path w="5984240" h="3729354">
                <a:moveTo>
                  <a:pt x="649211" y="3411347"/>
                </a:moveTo>
                <a:lnTo>
                  <a:pt x="635368" y="3389503"/>
                </a:lnTo>
                <a:lnTo>
                  <a:pt x="569582" y="3430905"/>
                </a:lnTo>
                <a:lnTo>
                  <a:pt x="583425" y="3452876"/>
                </a:lnTo>
                <a:lnTo>
                  <a:pt x="649211" y="3411347"/>
                </a:lnTo>
                <a:close/>
              </a:path>
              <a:path w="5984240" h="3729354">
                <a:moveTo>
                  <a:pt x="659498" y="719074"/>
                </a:moveTo>
                <a:lnTo>
                  <a:pt x="646417" y="696722"/>
                </a:lnTo>
                <a:lnTo>
                  <a:pt x="579361" y="735838"/>
                </a:lnTo>
                <a:lnTo>
                  <a:pt x="592442" y="758190"/>
                </a:lnTo>
                <a:lnTo>
                  <a:pt x="659498" y="719074"/>
                </a:lnTo>
                <a:close/>
              </a:path>
              <a:path w="5984240" h="3729354">
                <a:moveTo>
                  <a:pt x="681088" y="2689606"/>
                </a:moveTo>
                <a:lnTo>
                  <a:pt x="666597" y="2668143"/>
                </a:lnTo>
                <a:lnTo>
                  <a:pt x="602094" y="2711450"/>
                </a:lnTo>
                <a:lnTo>
                  <a:pt x="616572" y="2733040"/>
                </a:lnTo>
                <a:lnTo>
                  <a:pt x="681088" y="2689606"/>
                </a:lnTo>
                <a:close/>
              </a:path>
              <a:path w="5984240" h="3729354">
                <a:moveTo>
                  <a:pt x="736841" y="3356102"/>
                </a:moveTo>
                <a:lnTo>
                  <a:pt x="722998" y="3334131"/>
                </a:lnTo>
                <a:lnTo>
                  <a:pt x="657212" y="3375660"/>
                </a:lnTo>
                <a:lnTo>
                  <a:pt x="671042" y="3397504"/>
                </a:lnTo>
                <a:lnTo>
                  <a:pt x="736841" y="3356102"/>
                </a:lnTo>
                <a:close/>
              </a:path>
              <a:path w="5984240" h="3729354">
                <a:moveTo>
                  <a:pt x="737730" y="1542415"/>
                </a:moveTo>
                <a:lnTo>
                  <a:pt x="725665" y="1519428"/>
                </a:lnTo>
                <a:lnTo>
                  <a:pt x="656831" y="1555496"/>
                </a:lnTo>
                <a:lnTo>
                  <a:pt x="668769" y="1578356"/>
                </a:lnTo>
                <a:lnTo>
                  <a:pt x="737730" y="1542415"/>
                </a:lnTo>
                <a:close/>
              </a:path>
              <a:path w="5984240" h="3729354">
                <a:moveTo>
                  <a:pt x="749033" y="666877"/>
                </a:moveTo>
                <a:lnTo>
                  <a:pt x="735952" y="644398"/>
                </a:lnTo>
                <a:lnTo>
                  <a:pt x="668896" y="683641"/>
                </a:lnTo>
                <a:lnTo>
                  <a:pt x="681850" y="705993"/>
                </a:lnTo>
                <a:lnTo>
                  <a:pt x="749033" y="666877"/>
                </a:lnTo>
                <a:close/>
              </a:path>
              <a:path w="5984240" h="3729354">
                <a:moveTo>
                  <a:pt x="767067" y="2631821"/>
                </a:moveTo>
                <a:lnTo>
                  <a:pt x="752716" y="2610358"/>
                </a:lnTo>
                <a:lnTo>
                  <a:pt x="688200" y="2653665"/>
                </a:lnTo>
                <a:lnTo>
                  <a:pt x="702551" y="2675255"/>
                </a:lnTo>
                <a:lnTo>
                  <a:pt x="767067" y="2631821"/>
                </a:lnTo>
                <a:close/>
              </a:path>
              <a:path w="5984240" h="3729354">
                <a:moveTo>
                  <a:pt x="824471" y="3300730"/>
                </a:moveTo>
                <a:lnTo>
                  <a:pt x="810628" y="3278886"/>
                </a:lnTo>
                <a:lnTo>
                  <a:pt x="744969" y="3320288"/>
                </a:lnTo>
                <a:lnTo>
                  <a:pt x="758685" y="3342259"/>
                </a:lnTo>
                <a:lnTo>
                  <a:pt x="824471" y="3300730"/>
                </a:lnTo>
                <a:close/>
              </a:path>
              <a:path w="5984240" h="3729354">
                <a:moveTo>
                  <a:pt x="829551" y="1494536"/>
                </a:moveTo>
                <a:lnTo>
                  <a:pt x="817613" y="1471549"/>
                </a:lnTo>
                <a:lnTo>
                  <a:pt x="748652" y="1507490"/>
                </a:lnTo>
                <a:lnTo>
                  <a:pt x="760590" y="1530477"/>
                </a:lnTo>
                <a:lnTo>
                  <a:pt x="829551" y="1494536"/>
                </a:lnTo>
                <a:close/>
              </a:path>
              <a:path w="5984240" h="3729354">
                <a:moveTo>
                  <a:pt x="838568" y="614680"/>
                </a:moveTo>
                <a:lnTo>
                  <a:pt x="825487" y="592201"/>
                </a:lnTo>
                <a:lnTo>
                  <a:pt x="758431" y="631444"/>
                </a:lnTo>
                <a:lnTo>
                  <a:pt x="771385" y="653796"/>
                </a:lnTo>
                <a:lnTo>
                  <a:pt x="838568" y="614680"/>
                </a:lnTo>
                <a:close/>
              </a:path>
              <a:path w="5984240" h="3729354">
                <a:moveTo>
                  <a:pt x="853173" y="2574036"/>
                </a:moveTo>
                <a:lnTo>
                  <a:pt x="838695" y="2552573"/>
                </a:lnTo>
                <a:lnTo>
                  <a:pt x="774179" y="2595880"/>
                </a:lnTo>
                <a:lnTo>
                  <a:pt x="788657" y="2617470"/>
                </a:lnTo>
                <a:lnTo>
                  <a:pt x="853173" y="2574036"/>
                </a:lnTo>
                <a:close/>
              </a:path>
              <a:path w="5984240" h="3729354">
                <a:moveTo>
                  <a:pt x="912101" y="3245485"/>
                </a:moveTo>
                <a:lnTo>
                  <a:pt x="898258" y="3223641"/>
                </a:lnTo>
                <a:lnTo>
                  <a:pt x="832599" y="3265043"/>
                </a:lnTo>
                <a:lnTo>
                  <a:pt x="846315" y="3287014"/>
                </a:lnTo>
                <a:lnTo>
                  <a:pt x="912101" y="3245485"/>
                </a:lnTo>
                <a:close/>
              </a:path>
              <a:path w="5984240" h="3729354">
                <a:moveTo>
                  <a:pt x="921372" y="1446530"/>
                </a:moveTo>
                <a:lnTo>
                  <a:pt x="909434" y="1423670"/>
                </a:lnTo>
                <a:lnTo>
                  <a:pt x="840600" y="1459611"/>
                </a:lnTo>
                <a:lnTo>
                  <a:pt x="852538" y="1482598"/>
                </a:lnTo>
                <a:lnTo>
                  <a:pt x="921372" y="1446530"/>
                </a:lnTo>
                <a:close/>
              </a:path>
              <a:path w="5984240" h="3729354">
                <a:moveTo>
                  <a:pt x="928103" y="562356"/>
                </a:moveTo>
                <a:lnTo>
                  <a:pt x="915022" y="540004"/>
                </a:lnTo>
                <a:lnTo>
                  <a:pt x="847839" y="579247"/>
                </a:lnTo>
                <a:lnTo>
                  <a:pt x="860920" y="601599"/>
                </a:lnTo>
                <a:lnTo>
                  <a:pt x="928103" y="562356"/>
                </a:lnTo>
                <a:close/>
              </a:path>
              <a:path w="5984240" h="3729354">
                <a:moveTo>
                  <a:pt x="939152" y="2516251"/>
                </a:moveTo>
                <a:lnTo>
                  <a:pt x="924674" y="2494788"/>
                </a:lnTo>
                <a:lnTo>
                  <a:pt x="860158" y="2538095"/>
                </a:lnTo>
                <a:lnTo>
                  <a:pt x="874636" y="2559685"/>
                </a:lnTo>
                <a:lnTo>
                  <a:pt x="939152" y="2516251"/>
                </a:lnTo>
                <a:close/>
              </a:path>
              <a:path w="5984240" h="3729354">
                <a:moveTo>
                  <a:pt x="999731" y="3190240"/>
                </a:moveTo>
                <a:lnTo>
                  <a:pt x="985888" y="3168269"/>
                </a:lnTo>
                <a:lnTo>
                  <a:pt x="920229" y="3209798"/>
                </a:lnTo>
                <a:lnTo>
                  <a:pt x="934072" y="3231642"/>
                </a:lnTo>
                <a:lnTo>
                  <a:pt x="999731" y="3190240"/>
                </a:lnTo>
                <a:close/>
              </a:path>
              <a:path w="5984240" h="3729354">
                <a:moveTo>
                  <a:pt x="1013320" y="1398651"/>
                </a:moveTo>
                <a:lnTo>
                  <a:pt x="1001382" y="1375664"/>
                </a:lnTo>
                <a:lnTo>
                  <a:pt x="932421" y="1411605"/>
                </a:lnTo>
                <a:lnTo>
                  <a:pt x="944359" y="1434592"/>
                </a:lnTo>
                <a:lnTo>
                  <a:pt x="1013320" y="1398651"/>
                </a:lnTo>
                <a:close/>
              </a:path>
              <a:path w="5984240" h="3729354">
                <a:moveTo>
                  <a:pt x="1017638" y="510159"/>
                </a:moveTo>
                <a:lnTo>
                  <a:pt x="1004557" y="487807"/>
                </a:lnTo>
                <a:lnTo>
                  <a:pt x="937374" y="526923"/>
                </a:lnTo>
                <a:lnTo>
                  <a:pt x="950455" y="549402"/>
                </a:lnTo>
                <a:lnTo>
                  <a:pt x="1017638" y="510159"/>
                </a:lnTo>
                <a:close/>
              </a:path>
              <a:path w="5984240" h="3729354">
                <a:moveTo>
                  <a:pt x="1025131" y="2458466"/>
                </a:moveTo>
                <a:lnTo>
                  <a:pt x="1010780" y="2437003"/>
                </a:lnTo>
                <a:lnTo>
                  <a:pt x="946264" y="2480310"/>
                </a:lnTo>
                <a:lnTo>
                  <a:pt x="960615" y="2501900"/>
                </a:lnTo>
                <a:lnTo>
                  <a:pt x="1025131" y="2458466"/>
                </a:lnTo>
                <a:close/>
              </a:path>
              <a:path w="5984240" h="3729354">
                <a:moveTo>
                  <a:pt x="1087361" y="3134868"/>
                </a:moveTo>
                <a:lnTo>
                  <a:pt x="1073645" y="3113024"/>
                </a:lnTo>
                <a:lnTo>
                  <a:pt x="1007859" y="3154426"/>
                </a:lnTo>
                <a:lnTo>
                  <a:pt x="1021702" y="3176397"/>
                </a:lnTo>
                <a:lnTo>
                  <a:pt x="1087361" y="3134868"/>
                </a:lnTo>
                <a:close/>
              </a:path>
              <a:path w="5984240" h="3729354">
                <a:moveTo>
                  <a:pt x="1105141" y="1350772"/>
                </a:moveTo>
                <a:lnTo>
                  <a:pt x="1093203" y="1327785"/>
                </a:lnTo>
                <a:lnTo>
                  <a:pt x="1024242" y="1363726"/>
                </a:lnTo>
                <a:lnTo>
                  <a:pt x="1036307" y="1386713"/>
                </a:lnTo>
                <a:lnTo>
                  <a:pt x="1105141" y="1350772"/>
                </a:lnTo>
                <a:close/>
              </a:path>
              <a:path w="5984240" h="3729354">
                <a:moveTo>
                  <a:pt x="1107046" y="457962"/>
                </a:moveTo>
                <a:lnTo>
                  <a:pt x="1094092" y="435610"/>
                </a:lnTo>
                <a:lnTo>
                  <a:pt x="1026909" y="474726"/>
                </a:lnTo>
                <a:lnTo>
                  <a:pt x="1039990" y="497078"/>
                </a:lnTo>
                <a:lnTo>
                  <a:pt x="1107046" y="457962"/>
                </a:lnTo>
                <a:close/>
              </a:path>
              <a:path w="5984240" h="3729354">
                <a:moveTo>
                  <a:pt x="1111237" y="2400681"/>
                </a:moveTo>
                <a:lnTo>
                  <a:pt x="1096759" y="2379218"/>
                </a:lnTo>
                <a:lnTo>
                  <a:pt x="1032243" y="2422525"/>
                </a:lnTo>
                <a:lnTo>
                  <a:pt x="1046721" y="2443988"/>
                </a:lnTo>
                <a:lnTo>
                  <a:pt x="1111237" y="2400681"/>
                </a:lnTo>
                <a:close/>
              </a:path>
              <a:path w="5984240" h="3729354">
                <a:moveTo>
                  <a:pt x="1174991" y="3079623"/>
                </a:moveTo>
                <a:lnTo>
                  <a:pt x="1161275" y="3057652"/>
                </a:lnTo>
                <a:lnTo>
                  <a:pt x="1095489" y="3099181"/>
                </a:lnTo>
                <a:lnTo>
                  <a:pt x="1109332" y="3121025"/>
                </a:lnTo>
                <a:lnTo>
                  <a:pt x="1174991" y="3079623"/>
                </a:lnTo>
                <a:close/>
              </a:path>
              <a:path w="5984240" h="3729354">
                <a:moveTo>
                  <a:pt x="1196581" y="405765"/>
                </a:moveTo>
                <a:lnTo>
                  <a:pt x="1183627" y="383413"/>
                </a:lnTo>
                <a:lnTo>
                  <a:pt x="1116444" y="422529"/>
                </a:lnTo>
                <a:lnTo>
                  <a:pt x="1129525" y="444881"/>
                </a:lnTo>
                <a:lnTo>
                  <a:pt x="1196581" y="405765"/>
                </a:lnTo>
                <a:close/>
              </a:path>
              <a:path w="5984240" h="3729354">
                <a:moveTo>
                  <a:pt x="1197089" y="1302766"/>
                </a:moveTo>
                <a:lnTo>
                  <a:pt x="1185024" y="1279779"/>
                </a:lnTo>
                <a:lnTo>
                  <a:pt x="1116190" y="1315720"/>
                </a:lnTo>
                <a:lnTo>
                  <a:pt x="1128128" y="1338707"/>
                </a:lnTo>
                <a:lnTo>
                  <a:pt x="1197089" y="1302766"/>
                </a:lnTo>
                <a:close/>
              </a:path>
              <a:path w="5984240" h="3729354">
                <a:moveTo>
                  <a:pt x="1197216" y="2342896"/>
                </a:moveTo>
                <a:lnTo>
                  <a:pt x="1182738" y="2321433"/>
                </a:lnTo>
                <a:lnTo>
                  <a:pt x="1118222" y="2364740"/>
                </a:lnTo>
                <a:lnTo>
                  <a:pt x="1132700" y="2386203"/>
                </a:lnTo>
                <a:lnTo>
                  <a:pt x="1197216" y="2342896"/>
                </a:lnTo>
                <a:close/>
              </a:path>
              <a:path w="5984240" h="3729354">
                <a:moveTo>
                  <a:pt x="1262748" y="3024251"/>
                </a:moveTo>
                <a:lnTo>
                  <a:pt x="1248905" y="3002407"/>
                </a:lnTo>
                <a:lnTo>
                  <a:pt x="1183119" y="3043809"/>
                </a:lnTo>
                <a:lnTo>
                  <a:pt x="1196962" y="3065780"/>
                </a:lnTo>
                <a:lnTo>
                  <a:pt x="1262748" y="3024251"/>
                </a:lnTo>
                <a:close/>
              </a:path>
              <a:path w="5984240" h="3729354">
                <a:moveTo>
                  <a:pt x="1283195" y="2285111"/>
                </a:moveTo>
                <a:lnTo>
                  <a:pt x="1268844" y="2263648"/>
                </a:lnTo>
                <a:lnTo>
                  <a:pt x="1204328" y="2306955"/>
                </a:lnTo>
                <a:lnTo>
                  <a:pt x="1218679" y="2328418"/>
                </a:lnTo>
                <a:lnTo>
                  <a:pt x="1283195" y="2285111"/>
                </a:lnTo>
                <a:close/>
              </a:path>
              <a:path w="5984240" h="3729354">
                <a:moveTo>
                  <a:pt x="1286116" y="353568"/>
                </a:moveTo>
                <a:lnTo>
                  <a:pt x="1273035" y="331216"/>
                </a:lnTo>
                <a:lnTo>
                  <a:pt x="1205979" y="370332"/>
                </a:lnTo>
                <a:lnTo>
                  <a:pt x="1219060" y="392684"/>
                </a:lnTo>
                <a:lnTo>
                  <a:pt x="1286116" y="353568"/>
                </a:lnTo>
                <a:close/>
              </a:path>
              <a:path w="5984240" h="3729354">
                <a:moveTo>
                  <a:pt x="1288910" y="1254887"/>
                </a:moveTo>
                <a:lnTo>
                  <a:pt x="1276972" y="1231900"/>
                </a:lnTo>
                <a:lnTo>
                  <a:pt x="1208011" y="1267841"/>
                </a:lnTo>
                <a:lnTo>
                  <a:pt x="1220076" y="1290828"/>
                </a:lnTo>
                <a:lnTo>
                  <a:pt x="1288910" y="1254887"/>
                </a:lnTo>
                <a:close/>
              </a:path>
              <a:path w="5984240" h="3729354">
                <a:moveTo>
                  <a:pt x="1350378" y="2969006"/>
                </a:moveTo>
                <a:lnTo>
                  <a:pt x="1336535" y="2947162"/>
                </a:lnTo>
                <a:lnTo>
                  <a:pt x="1270749" y="2988564"/>
                </a:lnTo>
                <a:lnTo>
                  <a:pt x="1284592" y="3010535"/>
                </a:lnTo>
                <a:lnTo>
                  <a:pt x="1350378" y="2969006"/>
                </a:lnTo>
                <a:close/>
              </a:path>
              <a:path w="5984240" h="3729354">
                <a:moveTo>
                  <a:pt x="1369301" y="2227326"/>
                </a:moveTo>
                <a:lnTo>
                  <a:pt x="1354823" y="2205863"/>
                </a:lnTo>
                <a:lnTo>
                  <a:pt x="1290307" y="2249170"/>
                </a:lnTo>
                <a:lnTo>
                  <a:pt x="1304785" y="2270633"/>
                </a:lnTo>
                <a:lnTo>
                  <a:pt x="1369301" y="2227326"/>
                </a:lnTo>
                <a:close/>
              </a:path>
              <a:path w="5984240" h="3729354">
                <a:moveTo>
                  <a:pt x="1375651" y="301371"/>
                </a:moveTo>
                <a:lnTo>
                  <a:pt x="1362570" y="278892"/>
                </a:lnTo>
                <a:lnTo>
                  <a:pt x="1295514" y="318135"/>
                </a:lnTo>
                <a:lnTo>
                  <a:pt x="1308468" y="340487"/>
                </a:lnTo>
                <a:lnTo>
                  <a:pt x="1375651" y="301371"/>
                </a:lnTo>
                <a:close/>
              </a:path>
              <a:path w="5984240" h="3729354">
                <a:moveTo>
                  <a:pt x="1380858" y="1206881"/>
                </a:moveTo>
                <a:lnTo>
                  <a:pt x="1368793" y="1183894"/>
                </a:lnTo>
                <a:lnTo>
                  <a:pt x="1299959" y="1219835"/>
                </a:lnTo>
                <a:lnTo>
                  <a:pt x="1311897" y="1242822"/>
                </a:lnTo>
                <a:lnTo>
                  <a:pt x="1380858" y="1206881"/>
                </a:lnTo>
                <a:close/>
              </a:path>
              <a:path w="5984240" h="3729354">
                <a:moveTo>
                  <a:pt x="1438008" y="2913761"/>
                </a:moveTo>
                <a:lnTo>
                  <a:pt x="1424165" y="2891790"/>
                </a:lnTo>
                <a:lnTo>
                  <a:pt x="1358379" y="2933319"/>
                </a:lnTo>
                <a:lnTo>
                  <a:pt x="1372222" y="2955163"/>
                </a:lnTo>
                <a:lnTo>
                  <a:pt x="1438008" y="2913761"/>
                </a:lnTo>
                <a:close/>
              </a:path>
              <a:path w="5984240" h="3729354">
                <a:moveTo>
                  <a:pt x="1455280" y="2169541"/>
                </a:moveTo>
                <a:lnTo>
                  <a:pt x="1440802" y="2147951"/>
                </a:lnTo>
                <a:lnTo>
                  <a:pt x="1376286" y="2191385"/>
                </a:lnTo>
                <a:lnTo>
                  <a:pt x="1390764" y="2212848"/>
                </a:lnTo>
                <a:lnTo>
                  <a:pt x="1455280" y="2169541"/>
                </a:lnTo>
                <a:close/>
              </a:path>
              <a:path w="5984240" h="3729354">
                <a:moveTo>
                  <a:pt x="1465186" y="249047"/>
                </a:moveTo>
                <a:lnTo>
                  <a:pt x="1452105" y="226695"/>
                </a:lnTo>
                <a:lnTo>
                  <a:pt x="1384922" y="265938"/>
                </a:lnTo>
                <a:lnTo>
                  <a:pt x="1398003" y="288290"/>
                </a:lnTo>
                <a:lnTo>
                  <a:pt x="1465186" y="249047"/>
                </a:lnTo>
                <a:close/>
              </a:path>
              <a:path w="5984240" h="3729354">
                <a:moveTo>
                  <a:pt x="1472679" y="1159002"/>
                </a:moveTo>
                <a:lnTo>
                  <a:pt x="1460741" y="1136015"/>
                </a:lnTo>
                <a:lnTo>
                  <a:pt x="1391780" y="1171956"/>
                </a:lnTo>
                <a:lnTo>
                  <a:pt x="1403845" y="1194943"/>
                </a:lnTo>
                <a:lnTo>
                  <a:pt x="1472679" y="1159002"/>
                </a:lnTo>
                <a:close/>
              </a:path>
              <a:path w="5984240" h="3729354">
                <a:moveTo>
                  <a:pt x="1525638" y="2858389"/>
                </a:moveTo>
                <a:lnTo>
                  <a:pt x="1511795" y="2836545"/>
                </a:lnTo>
                <a:lnTo>
                  <a:pt x="1446136" y="2877947"/>
                </a:lnTo>
                <a:lnTo>
                  <a:pt x="1459852" y="2899918"/>
                </a:lnTo>
                <a:lnTo>
                  <a:pt x="1525638" y="2858389"/>
                </a:lnTo>
                <a:close/>
              </a:path>
              <a:path w="5984240" h="3729354">
                <a:moveTo>
                  <a:pt x="1541259" y="2111756"/>
                </a:moveTo>
                <a:lnTo>
                  <a:pt x="1526908" y="2090166"/>
                </a:lnTo>
                <a:lnTo>
                  <a:pt x="1462392" y="2133600"/>
                </a:lnTo>
                <a:lnTo>
                  <a:pt x="1476743" y="2155063"/>
                </a:lnTo>
                <a:lnTo>
                  <a:pt x="1541259" y="2111756"/>
                </a:lnTo>
                <a:close/>
              </a:path>
              <a:path w="5984240" h="3729354">
                <a:moveTo>
                  <a:pt x="1554721" y="196850"/>
                </a:moveTo>
                <a:lnTo>
                  <a:pt x="1541640" y="174498"/>
                </a:lnTo>
                <a:lnTo>
                  <a:pt x="1474457" y="213614"/>
                </a:lnTo>
                <a:lnTo>
                  <a:pt x="1487538" y="236093"/>
                </a:lnTo>
                <a:lnTo>
                  <a:pt x="1554721" y="196850"/>
                </a:lnTo>
                <a:close/>
              </a:path>
              <a:path w="5984240" h="3729354">
                <a:moveTo>
                  <a:pt x="1564627" y="1110996"/>
                </a:moveTo>
                <a:lnTo>
                  <a:pt x="1552562" y="1088009"/>
                </a:lnTo>
                <a:lnTo>
                  <a:pt x="1483728" y="1123950"/>
                </a:lnTo>
                <a:lnTo>
                  <a:pt x="1495666" y="1146937"/>
                </a:lnTo>
                <a:lnTo>
                  <a:pt x="1564627" y="1110996"/>
                </a:lnTo>
                <a:close/>
              </a:path>
              <a:path w="5984240" h="3729354">
                <a:moveTo>
                  <a:pt x="1613268" y="2803144"/>
                </a:moveTo>
                <a:lnTo>
                  <a:pt x="1599425" y="2781173"/>
                </a:lnTo>
                <a:lnTo>
                  <a:pt x="1533766" y="2822702"/>
                </a:lnTo>
                <a:lnTo>
                  <a:pt x="1547609" y="2844546"/>
                </a:lnTo>
                <a:lnTo>
                  <a:pt x="1613268" y="2803144"/>
                </a:lnTo>
                <a:close/>
              </a:path>
              <a:path w="5984240" h="3729354">
                <a:moveTo>
                  <a:pt x="1627365" y="2053971"/>
                </a:moveTo>
                <a:lnTo>
                  <a:pt x="1612887" y="2032381"/>
                </a:lnTo>
                <a:lnTo>
                  <a:pt x="1548371" y="2075815"/>
                </a:lnTo>
                <a:lnTo>
                  <a:pt x="1562849" y="2097278"/>
                </a:lnTo>
                <a:lnTo>
                  <a:pt x="1627365" y="2053971"/>
                </a:lnTo>
                <a:close/>
              </a:path>
              <a:path w="5984240" h="3729354">
                <a:moveTo>
                  <a:pt x="1644256" y="144653"/>
                </a:moveTo>
                <a:lnTo>
                  <a:pt x="1631175" y="122301"/>
                </a:lnTo>
                <a:lnTo>
                  <a:pt x="1563992" y="161417"/>
                </a:lnTo>
                <a:lnTo>
                  <a:pt x="1577073" y="183769"/>
                </a:lnTo>
                <a:lnTo>
                  <a:pt x="1644256" y="144653"/>
                </a:lnTo>
                <a:close/>
              </a:path>
              <a:path w="5984240" h="3729354">
                <a:moveTo>
                  <a:pt x="1656448" y="1063117"/>
                </a:moveTo>
                <a:lnTo>
                  <a:pt x="1644510" y="1040130"/>
                </a:lnTo>
                <a:lnTo>
                  <a:pt x="1575549" y="1076071"/>
                </a:lnTo>
                <a:lnTo>
                  <a:pt x="1587614" y="1099058"/>
                </a:lnTo>
                <a:lnTo>
                  <a:pt x="1656448" y="1063117"/>
                </a:lnTo>
                <a:close/>
              </a:path>
              <a:path w="5984240" h="3729354">
                <a:moveTo>
                  <a:pt x="1700898" y="2747772"/>
                </a:moveTo>
                <a:lnTo>
                  <a:pt x="1687055" y="2725928"/>
                </a:lnTo>
                <a:lnTo>
                  <a:pt x="1621396" y="2767330"/>
                </a:lnTo>
                <a:lnTo>
                  <a:pt x="1635239" y="2789301"/>
                </a:lnTo>
                <a:lnTo>
                  <a:pt x="1700898" y="2747772"/>
                </a:lnTo>
                <a:close/>
              </a:path>
              <a:path w="5984240" h="3729354">
                <a:moveTo>
                  <a:pt x="1713344" y="1996186"/>
                </a:moveTo>
                <a:lnTo>
                  <a:pt x="1698866" y="1974596"/>
                </a:lnTo>
                <a:lnTo>
                  <a:pt x="1634350" y="2018030"/>
                </a:lnTo>
                <a:lnTo>
                  <a:pt x="1648828" y="2039493"/>
                </a:lnTo>
                <a:lnTo>
                  <a:pt x="1713344" y="1996186"/>
                </a:lnTo>
                <a:close/>
              </a:path>
              <a:path w="5984240" h="3729354">
                <a:moveTo>
                  <a:pt x="1733664" y="92456"/>
                </a:moveTo>
                <a:lnTo>
                  <a:pt x="1720710" y="70104"/>
                </a:lnTo>
                <a:lnTo>
                  <a:pt x="1653527" y="109220"/>
                </a:lnTo>
                <a:lnTo>
                  <a:pt x="1666608" y="131572"/>
                </a:lnTo>
                <a:lnTo>
                  <a:pt x="1733664" y="92456"/>
                </a:lnTo>
                <a:close/>
              </a:path>
              <a:path w="5984240" h="3729354">
                <a:moveTo>
                  <a:pt x="1748396" y="1015111"/>
                </a:moveTo>
                <a:lnTo>
                  <a:pt x="1736331" y="992124"/>
                </a:lnTo>
                <a:lnTo>
                  <a:pt x="1667497" y="1028192"/>
                </a:lnTo>
                <a:lnTo>
                  <a:pt x="1679435" y="1051052"/>
                </a:lnTo>
                <a:lnTo>
                  <a:pt x="1748396" y="1015111"/>
                </a:lnTo>
                <a:close/>
              </a:path>
              <a:path w="5984240" h="3729354">
                <a:moveTo>
                  <a:pt x="1788528" y="2692527"/>
                </a:moveTo>
                <a:lnTo>
                  <a:pt x="1774812" y="2670683"/>
                </a:lnTo>
                <a:lnTo>
                  <a:pt x="1709026" y="2712085"/>
                </a:lnTo>
                <a:lnTo>
                  <a:pt x="1722869" y="2734056"/>
                </a:lnTo>
                <a:lnTo>
                  <a:pt x="1788528" y="2692527"/>
                </a:lnTo>
                <a:close/>
              </a:path>
              <a:path w="5984240" h="3729354">
                <a:moveTo>
                  <a:pt x="1799323" y="1938401"/>
                </a:moveTo>
                <a:lnTo>
                  <a:pt x="1784845" y="1916811"/>
                </a:lnTo>
                <a:lnTo>
                  <a:pt x="1720456" y="1960245"/>
                </a:lnTo>
                <a:lnTo>
                  <a:pt x="1734807" y="1981708"/>
                </a:lnTo>
                <a:lnTo>
                  <a:pt x="1799323" y="1938401"/>
                </a:lnTo>
                <a:close/>
              </a:path>
              <a:path w="5984240" h="3729354">
                <a:moveTo>
                  <a:pt x="1840217" y="967232"/>
                </a:moveTo>
                <a:lnTo>
                  <a:pt x="1828279" y="944245"/>
                </a:lnTo>
                <a:lnTo>
                  <a:pt x="1759318" y="980186"/>
                </a:lnTo>
                <a:lnTo>
                  <a:pt x="1771256" y="1003173"/>
                </a:lnTo>
                <a:lnTo>
                  <a:pt x="1840217" y="967232"/>
                </a:lnTo>
                <a:close/>
              </a:path>
              <a:path w="5984240" h="3729354">
                <a:moveTo>
                  <a:pt x="1866506" y="0"/>
                </a:moveTo>
                <a:lnTo>
                  <a:pt x="1779765" y="5588"/>
                </a:lnTo>
                <a:lnTo>
                  <a:pt x="1792808" y="28003"/>
                </a:lnTo>
                <a:lnTo>
                  <a:pt x="1743062" y="57023"/>
                </a:lnTo>
                <a:lnTo>
                  <a:pt x="1756143" y="79375"/>
                </a:lnTo>
                <a:lnTo>
                  <a:pt x="1805838" y="50393"/>
                </a:lnTo>
                <a:lnTo>
                  <a:pt x="1818881" y="72771"/>
                </a:lnTo>
                <a:lnTo>
                  <a:pt x="1852447" y="21463"/>
                </a:lnTo>
                <a:lnTo>
                  <a:pt x="1866506" y="0"/>
                </a:lnTo>
                <a:close/>
              </a:path>
              <a:path w="5984240" h="3729354">
                <a:moveTo>
                  <a:pt x="1876285" y="2637282"/>
                </a:moveTo>
                <a:lnTo>
                  <a:pt x="1862442" y="2615311"/>
                </a:lnTo>
                <a:lnTo>
                  <a:pt x="1796656" y="2656840"/>
                </a:lnTo>
                <a:lnTo>
                  <a:pt x="1810499" y="2678684"/>
                </a:lnTo>
                <a:lnTo>
                  <a:pt x="1876285" y="2637282"/>
                </a:lnTo>
                <a:close/>
              </a:path>
              <a:path w="5984240" h="3729354">
                <a:moveTo>
                  <a:pt x="1885429" y="1880489"/>
                </a:moveTo>
                <a:lnTo>
                  <a:pt x="1870951" y="1859038"/>
                </a:lnTo>
                <a:lnTo>
                  <a:pt x="1806435" y="1902333"/>
                </a:lnTo>
                <a:lnTo>
                  <a:pt x="1820913" y="1923923"/>
                </a:lnTo>
                <a:lnTo>
                  <a:pt x="1885429" y="1880489"/>
                </a:lnTo>
                <a:close/>
              </a:path>
              <a:path w="5984240" h="3729354">
                <a:moveTo>
                  <a:pt x="1932038" y="919226"/>
                </a:moveTo>
                <a:lnTo>
                  <a:pt x="1920100" y="896366"/>
                </a:lnTo>
                <a:lnTo>
                  <a:pt x="1851266" y="932307"/>
                </a:lnTo>
                <a:lnTo>
                  <a:pt x="1863204" y="955294"/>
                </a:lnTo>
                <a:lnTo>
                  <a:pt x="1932038" y="919226"/>
                </a:lnTo>
                <a:close/>
              </a:path>
              <a:path w="5984240" h="3729354">
                <a:moveTo>
                  <a:pt x="1963915" y="2581910"/>
                </a:moveTo>
                <a:lnTo>
                  <a:pt x="1950072" y="2560066"/>
                </a:lnTo>
                <a:lnTo>
                  <a:pt x="1884286" y="2601468"/>
                </a:lnTo>
                <a:lnTo>
                  <a:pt x="1898129" y="2623439"/>
                </a:lnTo>
                <a:lnTo>
                  <a:pt x="1963915" y="2581910"/>
                </a:lnTo>
                <a:close/>
              </a:path>
              <a:path w="5984240" h="3729354">
                <a:moveTo>
                  <a:pt x="1971408" y="1822704"/>
                </a:moveTo>
                <a:lnTo>
                  <a:pt x="1956930" y="1801241"/>
                </a:lnTo>
                <a:lnTo>
                  <a:pt x="1892414" y="1844548"/>
                </a:lnTo>
                <a:lnTo>
                  <a:pt x="1906892" y="1866138"/>
                </a:lnTo>
                <a:lnTo>
                  <a:pt x="1971408" y="1822704"/>
                </a:lnTo>
                <a:close/>
              </a:path>
              <a:path w="5984240" h="3729354">
                <a:moveTo>
                  <a:pt x="2023986" y="871347"/>
                </a:moveTo>
                <a:lnTo>
                  <a:pt x="2012048" y="848360"/>
                </a:lnTo>
                <a:lnTo>
                  <a:pt x="1943087" y="884301"/>
                </a:lnTo>
                <a:lnTo>
                  <a:pt x="1955025" y="907288"/>
                </a:lnTo>
                <a:lnTo>
                  <a:pt x="2023986" y="871347"/>
                </a:lnTo>
                <a:close/>
              </a:path>
              <a:path w="5984240" h="3729354">
                <a:moveTo>
                  <a:pt x="2051545" y="2526665"/>
                </a:moveTo>
                <a:lnTo>
                  <a:pt x="2037702" y="2504694"/>
                </a:lnTo>
                <a:lnTo>
                  <a:pt x="1971916" y="2546223"/>
                </a:lnTo>
                <a:lnTo>
                  <a:pt x="1985759" y="2568067"/>
                </a:lnTo>
                <a:lnTo>
                  <a:pt x="2051545" y="2526665"/>
                </a:lnTo>
                <a:close/>
              </a:path>
              <a:path w="5984240" h="3729354">
                <a:moveTo>
                  <a:pt x="2057387" y="1764919"/>
                </a:moveTo>
                <a:lnTo>
                  <a:pt x="2042909" y="1743456"/>
                </a:lnTo>
                <a:lnTo>
                  <a:pt x="1978393" y="1786775"/>
                </a:lnTo>
                <a:lnTo>
                  <a:pt x="1992871" y="1808353"/>
                </a:lnTo>
                <a:lnTo>
                  <a:pt x="2057387" y="1764919"/>
                </a:lnTo>
                <a:close/>
              </a:path>
              <a:path w="5984240" h="3729354">
                <a:moveTo>
                  <a:pt x="2115807" y="823468"/>
                </a:moveTo>
                <a:lnTo>
                  <a:pt x="2103869" y="800481"/>
                </a:lnTo>
                <a:lnTo>
                  <a:pt x="2034908" y="836422"/>
                </a:lnTo>
                <a:lnTo>
                  <a:pt x="2046973" y="859409"/>
                </a:lnTo>
                <a:lnTo>
                  <a:pt x="2115807" y="823468"/>
                </a:lnTo>
                <a:close/>
              </a:path>
              <a:path w="5984240" h="3729354">
                <a:moveTo>
                  <a:pt x="2139175" y="2471293"/>
                </a:moveTo>
                <a:lnTo>
                  <a:pt x="2125332" y="2449449"/>
                </a:lnTo>
                <a:lnTo>
                  <a:pt x="2059673" y="2490978"/>
                </a:lnTo>
                <a:lnTo>
                  <a:pt x="2073389" y="2512822"/>
                </a:lnTo>
                <a:lnTo>
                  <a:pt x="2139175" y="2471293"/>
                </a:lnTo>
                <a:close/>
              </a:path>
              <a:path w="5984240" h="3729354">
                <a:moveTo>
                  <a:pt x="2143493" y="1707134"/>
                </a:moveTo>
                <a:lnTo>
                  <a:pt x="2129015" y="1685671"/>
                </a:lnTo>
                <a:lnTo>
                  <a:pt x="2064499" y="1728978"/>
                </a:lnTo>
                <a:lnTo>
                  <a:pt x="2078977" y="1750568"/>
                </a:lnTo>
                <a:lnTo>
                  <a:pt x="2143493" y="1707134"/>
                </a:lnTo>
                <a:close/>
              </a:path>
              <a:path w="5984240" h="3729354">
                <a:moveTo>
                  <a:pt x="2207755" y="775462"/>
                </a:moveTo>
                <a:lnTo>
                  <a:pt x="2195690" y="752475"/>
                </a:lnTo>
                <a:lnTo>
                  <a:pt x="2126856" y="788416"/>
                </a:lnTo>
                <a:lnTo>
                  <a:pt x="2138794" y="811403"/>
                </a:lnTo>
                <a:lnTo>
                  <a:pt x="2207755" y="775462"/>
                </a:lnTo>
                <a:close/>
              </a:path>
              <a:path w="5984240" h="3729354">
                <a:moveTo>
                  <a:pt x="2226805" y="2416048"/>
                </a:moveTo>
                <a:lnTo>
                  <a:pt x="2212962" y="2394204"/>
                </a:lnTo>
                <a:lnTo>
                  <a:pt x="2147303" y="2435606"/>
                </a:lnTo>
                <a:lnTo>
                  <a:pt x="2161019" y="2457577"/>
                </a:lnTo>
                <a:lnTo>
                  <a:pt x="2226805" y="2416048"/>
                </a:lnTo>
                <a:close/>
              </a:path>
              <a:path w="5984240" h="3729354">
                <a:moveTo>
                  <a:pt x="2229472" y="1649349"/>
                </a:moveTo>
                <a:lnTo>
                  <a:pt x="2214994" y="1627886"/>
                </a:lnTo>
                <a:lnTo>
                  <a:pt x="2150478" y="1671193"/>
                </a:lnTo>
                <a:lnTo>
                  <a:pt x="2164956" y="1692656"/>
                </a:lnTo>
                <a:lnTo>
                  <a:pt x="2229472" y="1649349"/>
                </a:lnTo>
                <a:close/>
              </a:path>
              <a:path w="5984240" h="3729354">
                <a:moveTo>
                  <a:pt x="2299576" y="727583"/>
                </a:moveTo>
                <a:lnTo>
                  <a:pt x="2287638" y="704596"/>
                </a:lnTo>
                <a:lnTo>
                  <a:pt x="2218677" y="740537"/>
                </a:lnTo>
                <a:lnTo>
                  <a:pt x="2230742" y="763524"/>
                </a:lnTo>
                <a:lnTo>
                  <a:pt x="2299576" y="727583"/>
                </a:lnTo>
                <a:close/>
              </a:path>
              <a:path w="5984240" h="3729354">
                <a:moveTo>
                  <a:pt x="2314435" y="2360803"/>
                </a:moveTo>
                <a:lnTo>
                  <a:pt x="2300592" y="2338832"/>
                </a:lnTo>
                <a:lnTo>
                  <a:pt x="2234933" y="2380361"/>
                </a:lnTo>
                <a:lnTo>
                  <a:pt x="2248776" y="2402205"/>
                </a:lnTo>
                <a:lnTo>
                  <a:pt x="2314435" y="2360803"/>
                </a:lnTo>
                <a:close/>
              </a:path>
              <a:path w="5984240" h="3729354">
                <a:moveTo>
                  <a:pt x="2315451" y="1591564"/>
                </a:moveTo>
                <a:lnTo>
                  <a:pt x="2300973" y="1570101"/>
                </a:lnTo>
                <a:lnTo>
                  <a:pt x="2236457" y="1613408"/>
                </a:lnTo>
                <a:lnTo>
                  <a:pt x="2250935" y="1634871"/>
                </a:lnTo>
                <a:lnTo>
                  <a:pt x="2315451" y="1591564"/>
                </a:lnTo>
                <a:close/>
              </a:path>
              <a:path w="5984240" h="3729354">
                <a:moveTo>
                  <a:pt x="2391524" y="679577"/>
                </a:moveTo>
                <a:lnTo>
                  <a:pt x="2379459" y="656590"/>
                </a:lnTo>
                <a:lnTo>
                  <a:pt x="2310625" y="692531"/>
                </a:lnTo>
                <a:lnTo>
                  <a:pt x="2322563" y="715518"/>
                </a:lnTo>
                <a:lnTo>
                  <a:pt x="2391524" y="679577"/>
                </a:lnTo>
                <a:close/>
              </a:path>
              <a:path w="5984240" h="3729354">
                <a:moveTo>
                  <a:pt x="2401557" y="1533779"/>
                </a:moveTo>
                <a:lnTo>
                  <a:pt x="2387079" y="1512316"/>
                </a:lnTo>
                <a:lnTo>
                  <a:pt x="2322563" y="1555623"/>
                </a:lnTo>
                <a:lnTo>
                  <a:pt x="2337041" y="1577086"/>
                </a:lnTo>
                <a:lnTo>
                  <a:pt x="2401557" y="1533779"/>
                </a:lnTo>
                <a:close/>
              </a:path>
              <a:path w="5984240" h="3729354">
                <a:moveTo>
                  <a:pt x="2402065" y="2305431"/>
                </a:moveTo>
                <a:lnTo>
                  <a:pt x="2388349" y="2283587"/>
                </a:lnTo>
                <a:lnTo>
                  <a:pt x="2322563" y="2324989"/>
                </a:lnTo>
                <a:lnTo>
                  <a:pt x="2336393" y="2346960"/>
                </a:lnTo>
                <a:lnTo>
                  <a:pt x="2402065" y="2305431"/>
                </a:lnTo>
                <a:close/>
              </a:path>
              <a:path w="5984240" h="3729354">
                <a:moveTo>
                  <a:pt x="2483345" y="631698"/>
                </a:moveTo>
                <a:lnTo>
                  <a:pt x="2471407" y="608711"/>
                </a:lnTo>
                <a:lnTo>
                  <a:pt x="2402446" y="644652"/>
                </a:lnTo>
                <a:lnTo>
                  <a:pt x="2414511" y="667639"/>
                </a:lnTo>
                <a:lnTo>
                  <a:pt x="2483345" y="631698"/>
                </a:lnTo>
                <a:close/>
              </a:path>
              <a:path w="5984240" h="3729354">
                <a:moveTo>
                  <a:pt x="2487536" y="1475994"/>
                </a:moveTo>
                <a:lnTo>
                  <a:pt x="2473058" y="1454531"/>
                </a:lnTo>
                <a:lnTo>
                  <a:pt x="2408542" y="1497838"/>
                </a:lnTo>
                <a:lnTo>
                  <a:pt x="2423020" y="1519301"/>
                </a:lnTo>
                <a:lnTo>
                  <a:pt x="2487536" y="1475994"/>
                </a:lnTo>
                <a:close/>
              </a:path>
              <a:path w="5984240" h="3729354">
                <a:moveTo>
                  <a:pt x="2489695" y="2250186"/>
                </a:moveTo>
                <a:lnTo>
                  <a:pt x="2475979" y="2228215"/>
                </a:lnTo>
                <a:lnTo>
                  <a:pt x="2410193" y="2269744"/>
                </a:lnTo>
                <a:lnTo>
                  <a:pt x="2424036" y="2291588"/>
                </a:lnTo>
                <a:lnTo>
                  <a:pt x="2489695" y="2250186"/>
                </a:lnTo>
                <a:close/>
              </a:path>
              <a:path w="5984240" h="3729354">
                <a:moveTo>
                  <a:pt x="2573515" y="1418209"/>
                </a:moveTo>
                <a:lnTo>
                  <a:pt x="2559037" y="1396746"/>
                </a:lnTo>
                <a:lnTo>
                  <a:pt x="2494521" y="1440053"/>
                </a:lnTo>
                <a:lnTo>
                  <a:pt x="2508999" y="1461516"/>
                </a:lnTo>
                <a:lnTo>
                  <a:pt x="2573515" y="1418209"/>
                </a:lnTo>
                <a:close/>
              </a:path>
              <a:path w="5984240" h="3729354">
                <a:moveTo>
                  <a:pt x="2575293" y="583692"/>
                </a:moveTo>
                <a:lnTo>
                  <a:pt x="2563228" y="560705"/>
                </a:lnTo>
                <a:lnTo>
                  <a:pt x="2494394" y="596646"/>
                </a:lnTo>
                <a:lnTo>
                  <a:pt x="2506332" y="619633"/>
                </a:lnTo>
                <a:lnTo>
                  <a:pt x="2575293" y="583692"/>
                </a:lnTo>
                <a:close/>
              </a:path>
              <a:path w="5984240" h="3729354">
                <a:moveTo>
                  <a:pt x="2577452" y="2194941"/>
                </a:moveTo>
                <a:lnTo>
                  <a:pt x="2563609" y="2172970"/>
                </a:lnTo>
                <a:lnTo>
                  <a:pt x="2497823" y="2214499"/>
                </a:lnTo>
                <a:lnTo>
                  <a:pt x="2511666" y="2236343"/>
                </a:lnTo>
                <a:lnTo>
                  <a:pt x="2577452" y="2194941"/>
                </a:lnTo>
                <a:close/>
              </a:path>
              <a:path w="5984240" h="3729354">
                <a:moveTo>
                  <a:pt x="2659494" y="1360424"/>
                </a:moveTo>
                <a:lnTo>
                  <a:pt x="2645143" y="1338834"/>
                </a:lnTo>
                <a:lnTo>
                  <a:pt x="2580627" y="1382268"/>
                </a:lnTo>
                <a:lnTo>
                  <a:pt x="2594978" y="1403731"/>
                </a:lnTo>
                <a:lnTo>
                  <a:pt x="2659494" y="1360424"/>
                </a:lnTo>
                <a:close/>
              </a:path>
              <a:path w="5984240" h="3729354">
                <a:moveTo>
                  <a:pt x="2665082" y="2139569"/>
                </a:moveTo>
                <a:lnTo>
                  <a:pt x="2651239" y="2117725"/>
                </a:lnTo>
                <a:lnTo>
                  <a:pt x="2585453" y="2159127"/>
                </a:lnTo>
                <a:lnTo>
                  <a:pt x="2599296" y="2181098"/>
                </a:lnTo>
                <a:lnTo>
                  <a:pt x="2665082" y="2139569"/>
                </a:lnTo>
                <a:close/>
              </a:path>
              <a:path w="5984240" h="3729354">
                <a:moveTo>
                  <a:pt x="2667114" y="535813"/>
                </a:moveTo>
                <a:lnTo>
                  <a:pt x="2655176" y="512826"/>
                </a:lnTo>
                <a:lnTo>
                  <a:pt x="2586215" y="548767"/>
                </a:lnTo>
                <a:lnTo>
                  <a:pt x="2598153" y="571754"/>
                </a:lnTo>
                <a:lnTo>
                  <a:pt x="2667114" y="535813"/>
                </a:lnTo>
                <a:close/>
              </a:path>
              <a:path w="5984240" h="3729354">
                <a:moveTo>
                  <a:pt x="2745600" y="1302639"/>
                </a:moveTo>
                <a:lnTo>
                  <a:pt x="2731122" y="1281049"/>
                </a:lnTo>
                <a:lnTo>
                  <a:pt x="2666606" y="1324483"/>
                </a:lnTo>
                <a:lnTo>
                  <a:pt x="2681084" y="1345946"/>
                </a:lnTo>
                <a:lnTo>
                  <a:pt x="2745600" y="1302639"/>
                </a:lnTo>
                <a:close/>
              </a:path>
              <a:path w="5984240" h="3729354">
                <a:moveTo>
                  <a:pt x="2752712" y="2084324"/>
                </a:moveTo>
                <a:lnTo>
                  <a:pt x="2738869" y="2062353"/>
                </a:lnTo>
                <a:lnTo>
                  <a:pt x="2673083" y="2103882"/>
                </a:lnTo>
                <a:lnTo>
                  <a:pt x="2686926" y="2125726"/>
                </a:lnTo>
                <a:lnTo>
                  <a:pt x="2752712" y="2084324"/>
                </a:lnTo>
                <a:close/>
              </a:path>
              <a:path w="5984240" h="3729354">
                <a:moveTo>
                  <a:pt x="2759062" y="487807"/>
                </a:moveTo>
                <a:lnTo>
                  <a:pt x="2746997" y="464820"/>
                </a:lnTo>
                <a:lnTo>
                  <a:pt x="2678163" y="500888"/>
                </a:lnTo>
                <a:lnTo>
                  <a:pt x="2690101" y="523748"/>
                </a:lnTo>
                <a:lnTo>
                  <a:pt x="2759062" y="487807"/>
                </a:lnTo>
                <a:close/>
              </a:path>
              <a:path w="5984240" h="3729354">
                <a:moveTo>
                  <a:pt x="2831579" y="1244854"/>
                </a:moveTo>
                <a:lnTo>
                  <a:pt x="2817101" y="1223264"/>
                </a:lnTo>
                <a:lnTo>
                  <a:pt x="2752585" y="1266698"/>
                </a:lnTo>
                <a:lnTo>
                  <a:pt x="2767063" y="1288161"/>
                </a:lnTo>
                <a:lnTo>
                  <a:pt x="2831579" y="1244854"/>
                </a:lnTo>
                <a:close/>
              </a:path>
              <a:path w="5984240" h="3729354">
                <a:moveTo>
                  <a:pt x="2840342" y="2028952"/>
                </a:moveTo>
                <a:lnTo>
                  <a:pt x="2826499" y="2007108"/>
                </a:lnTo>
                <a:lnTo>
                  <a:pt x="2760840" y="2048510"/>
                </a:lnTo>
                <a:lnTo>
                  <a:pt x="2774556" y="2070481"/>
                </a:lnTo>
                <a:lnTo>
                  <a:pt x="2840342" y="2028952"/>
                </a:lnTo>
                <a:close/>
              </a:path>
              <a:path w="5984240" h="3729354">
                <a:moveTo>
                  <a:pt x="2850883" y="439928"/>
                </a:moveTo>
                <a:lnTo>
                  <a:pt x="2838945" y="416941"/>
                </a:lnTo>
                <a:lnTo>
                  <a:pt x="2769984" y="452882"/>
                </a:lnTo>
                <a:lnTo>
                  <a:pt x="2781922" y="475869"/>
                </a:lnTo>
                <a:lnTo>
                  <a:pt x="2850883" y="439928"/>
                </a:lnTo>
                <a:close/>
              </a:path>
              <a:path w="5984240" h="3729354">
                <a:moveTo>
                  <a:pt x="2917558" y="1187069"/>
                </a:moveTo>
                <a:lnTo>
                  <a:pt x="2903207" y="1165479"/>
                </a:lnTo>
                <a:lnTo>
                  <a:pt x="2838691" y="1208913"/>
                </a:lnTo>
                <a:lnTo>
                  <a:pt x="2853042" y="1230376"/>
                </a:lnTo>
                <a:lnTo>
                  <a:pt x="2917558" y="1187069"/>
                </a:lnTo>
                <a:close/>
              </a:path>
              <a:path w="5984240" h="3729354">
                <a:moveTo>
                  <a:pt x="2927972" y="1973707"/>
                </a:moveTo>
                <a:lnTo>
                  <a:pt x="2914129" y="1951736"/>
                </a:lnTo>
                <a:lnTo>
                  <a:pt x="2848470" y="1993265"/>
                </a:lnTo>
                <a:lnTo>
                  <a:pt x="2862313" y="2015109"/>
                </a:lnTo>
                <a:lnTo>
                  <a:pt x="2927972" y="1973707"/>
                </a:lnTo>
                <a:close/>
              </a:path>
              <a:path w="5984240" h="3729354">
                <a:moveTo>
                  <a:pt x="2942704" y="391922"/>
                </a:moveTo>
                <a:lnTo>
                  <a:pt x="2930766" y="369062"/>
                </a:lnTo>
                <a:lnTo>
                  <a:pt x="2861805" y="405003"/>
                </a:lnTo>
                <a:lnTo>
                  <a:pt x="2873870" y="427990"/>
                </a:lnTo>
                <a:lnTo>
                  <a:pt x="2942704" y="391922"/>
                </a:lnTo>
                <a:close/>
              </a:path>
              <a:path w="5984240" h="3729354">
                <a:moveTo>
                  <a:pt x="3003664" y="1129157"/>
                </a:moveTo>
                <a:lnTo>
                  <a:pt x="2989186" y="1107694"/>
                </a:lnTo>
                <a:lnTo>
                  <a:pt x="2924670" y="1151001"/>
                </a:lnTo>
                <a:lnTo>
                  <a:pt x="2939148" y="1172591"/>
                </a:lnTo>
                <a:lnTo>
                  <a:pt x="3003664" y="1129157"/>
                </a:lnTo>
                <a:close/>
              </a:path>
              <a:path w="5984240" h="3729354">
                <a:moveTo>
                  <a:pt x="3015602" y="1918462"/>
                </a:moveTo>
                <a:lnTo>
                  <a:pt x="3001759" y="1896491"/>
                </a:lnTo>
                <a:lnTo>
                  <a:pt x="2936100" y="1938020"/>
                </a:lnTo>
                <a:lnTo>
                  <a:pt x="2949943" y="1959864"/>
                </a:lnTo>
                <a:lnTo>
                  <a:pt x="3015602" y="1918462"/>
                </a:lnTo>
                <a:close/>
              </a:path>
              <a:path w="5984240" h="3729354">
                <a:moveTo>
                  <a:pt x="3034652" y="344043"/>
                </a:moveTo>
                <a:lnTo>
                  <a:pt x="3022714" y="321056"/>
                </a:lnTo>
                <a:lnTo>
                  <a:pt x="2953753" y="356997"/>
                </a:lnTo>
                <a:lnTo>
                  <a:pt x="2965691" y="379984"/>
                </a:lnTo>
                <a:lnTo>
                  <a:pt x="3034652" y="344043"/>
                </a:lnTo>
                <a:close/>
              </a:path>
              <a:path w="5984240" h="3729354">
                <a:moveTo>
                  <a:pt x="3089643" y="1071372"/>
                </a:moveTo>
                <a:lnTo>
                  <a:pt x="3075165" y="1049909"/>
                </a:lnTo>
                <a:lnTo>
                  <a:pt x="3010649" y="1093216"/>
                </a:lnTo>
                <a:lnTo>
                  <a:pt x="3025127" y="1114806"/>
                </a:lnTo>
                <a:lnTo>
                  <a:pt x="3089643" y="1071372"/>
                </a:lnTo>
                <a:close/>
              </a:path>
              <a:path w="5984240" h="3729354">
                <a:moveTo>
                  <a:pt x="3103232" y="1863102"/>
                </a:moveTo>
                <a:lnTo>
                  <a:pt x="3089516" y="1841246"/>
                </a:lnTo>
                <a:lnTo>
                  <a:pt x="3023730" y="1882648"/>
                </a:lnTo>
                <a:lnTo>
                  <a:pt x="3037573" y="1904619"/>
                </a:lnTo>
                <a:lnTo>
                  <a:pt x="3103232" y="1863102"/>
                </a:lnTo>
                <a:close/>
              </a:path>
              <a:path w="5984240" h="3729354">
                <a:moveTo>
                  <a:pt x="3126473" y="296164"/>
                </a:moveTo>
                <a:lnTo>
                  <a:pt x="3114535" y="273177"/>
                </a:lnTo>
                <a:lnTo>
                  <a:pt x="3045574" y="309118"/>
                </a:lnTo>
                <a:lnTo>
                  <a:pt x="3057639" y="332105"/>
                </a:lnTo>
                <a:lnTo>
                  <a:pt x="3126473" y="296164"/>
                </a:lnTo>
                <a:close/>
              </a:path>
              <a:path w="5984240" h="3729354">
                <a:moveTo>
                  <a:pt x="3175622" y="1013587"/>
                </a:moveTo>
                <a:lnTo>
                  <a:pt x="3161271" y="992124"/>
                </a:lnTo>
                <a:lnTo>
                  <a:pt x="3096755" y="1035431"/>
                </a:lnTo>
                <a:lnTo>
                  <a:pt x="3111106" y="1057021"/>
                </a:lnTo>
                <a:lnTo>
                  <a:pt x="3175622" y="1013587"/>
                </a:lnTo>
                <a:close/>
              </a:path>
              <a:path w="5984240" h="3729354">
                <a:moveTo>
                  <a:pt x="3190989" y="1807845"/>
                </a:moveTo>
                <a:lnTo>
                  <a:pt x="3177146" y="1785874"/>
                </a:lnTo>
                <a:lnTo>
                  <a:pt x="3111360" y="1827403"/>
                </a:lnTo>
                <a:lnTo>
                  <a:pt x="3125203" y="1849247"/>
                </a:lnTo>
                <a:lnTo>
                  <a:pt x="3190989" y="1807845"/>
                </a:lnTo>
                <a:close/>
              </a:path>
              <a:path w="5984240" h="3729354">
                <a:moveTo>
                  <a:pt x="3218421" y="248158"/>
                </a:moveTo>
                <a:lnTo>
                  <a:pt x="3206356" y="225171"/>
                </a:lnTo>
                <a:lnTo>
                  <a:pt x="3137522" y="261112"/>
                </a:lnTo>
                <a:lnTo>
                  <a:pt x="3149460" y="284099"/>
                </a:lnTo>
                <a:lnTo>
                  <a:pt x="3218421" y="248158"/>
                </a:lnTo>
                <a:close/>
              </a:path>
              <a:path w="5984240" h="3729354">
                <a:moveTo>
                  <a:pt x="3261728" y="955802"/>
                </a:moveTo>
                <a:lnTo>
                  <a:pt x="3247250" y="934339"/>
                </a:lnTo>
                <a:lnTo>
                  <a:pt x="3182734" y="977646"/>
                </a:lnTo>
                <a:lnTo>
                  <a:pt x="3197212" y="999236"/>
                </a:lnTo>
                <a:lnTo>
                  <a:pt x="3261728" y="955802"/>
                </a:lnTo>
                <a:close/>
              </a:path>
              <a:path w="5984240" h="3729354">
                <a:moveTo>
                  <a:pt x="3278619" y="1752473"/>
                </a:moveTo>
                <a:lnTo>
                  <a:pt x="3264776" y="1730629"/>
                </a:lnTo>
                <a:lnTo>
                  <a:pt x="3198990" y="1772031"/>
                </a:lnTo>
                <a:lnTo>
                  <a:pt x="3212833" y="1794014"/>
                </a:lnTo>
                <a:lnTo>
                  <a:pt x="3278619" y="1752473"/>
                </a:lnTo>
                <a:close/>
              </a:path>
              <a:path w="5984240" h="3729354">
                <a:moveTo>
                  <a:pt x="3310242" y="200279"/>
                </a:moveTo>
                <a:lnTo>
                  <a:pt x="3298304" y="177292"/>
                </a:lnTo>
                <a:lnTo>
                  <a:pt x="3229343" y="213233"/>
                </a:lnTo>
                <a:lnTo>
                  <a:pt x="3241408" y="236220"/>
                </a:lnTo>
                <a:lnTo>
                  <a:pt x="3310242" y="200279"/>
                </a:lnTo>
                <a:close/>
              </a:path>
              <a:path w="5984240" h="3729354">
                <a:moveTo>
                  <a:pt x="3347707" y="898017"/>
                </a:moveTo>
                <a:lnTo>
                  <a:pt x="3333229" y="876554"/>
                </a:lnTo>
                <a:lnTo>
                  <a:pt x="3268713" y="919861"/>
                </a:lnTo>
                <a:lnTo>
                  <a:pt x="3283191" y="941324"/>
                </a:lnTo>
                <a:lnTo>
                  <a:pt x="3347707" y="898017"/>
                </a:lnTo>
                <a:close/>
              </a:path>
              <a:path w="5984240" h="3729354">
                <a:moveTo>
                  <a:pt x="3366249" y="1697228"/>
                </a:moveTo>
                <a:lnTo>
                  <a:pt x="3352406" y="1675257"/>
                </a:lnTo>
                <a:lnTo>
                  <a:pt x="3286620" y="1716786"/>
                </a:lnTo>
                <a:lnTo>
                  <a:pt x="3300463" y="1738630"/>
                </a:lnTo>
                <a:lnTo>
                  <a:pt x="3366249" y="1697228"/>
                </a:lnTo>
                <a:close/>
              </a:path>
              <a:path w="5984240" h="3729354">
                <a:moveTo>
                  <a:pt x="3402190" y="152273"/>
                </a:moveTo>
                <a:lnTo>
                  <a:pt x="3390125" y="129286"/>
                </a:lnTo>
                <a:lnTo>
                  <a:pt x="3321291" y="165227"/>
                </a:lnTo>
                <a:lnTo>
                  <a:pt x="3333229" y="188214"/>
                </a:lnTo>
                <a:lnTo>
                  <a:pt x="3402190" y="152273"/>
                </a:lnTo>
                <a:close/>
              </a:path>
              <a:path w="5984240" h="3729354">
                <a:moveTo>
                  <a:pt x="3433686" y="840232"/>
                </a:moveTo>
                <a:lnTo>
                  <a:pt x="3419335" y="818769"/>
                </a:lnTo>
                <a:lnTo>
                  <a:pt x="3354819" y="862076"/>
                </a:lnTo>
                <a:lnTo>
                  <a:pt x="3369170" y="883539"/>
                </a:lnTo>
                <a:lnTo>
                  <a:pt x="3433686" y="840232"/>
                </a:lnTo>
                <a:close/>
              </a:path>
              <a:path w="5984240" h="3729354">
                <a:moveTo>
                  <a:pt x="3453879" y="1641983"/>
                </a:moveTo>
                <a:lnTo>
                  <a:pt x="3440036" y="1620012"/>
                </a:lnTo>
                <a:lnTo>
                  <a:pt x="3374377" y="1661541"/>
                </a:lnTo>
                <a:lnTo>
                  <a:pt x="3388093" y="1683385"/>
                </a:lnTo>
                <a:lnTo>
                  <a:pt x="3453879" y="1641983"/>
                </a:lnTo>
                <a:close/>
              </a:path>
              <a:path w="5984240" h="3729354">
                <a:moveTo>
                  <a:pt x="3494011" y="104394"/>
                </a:moveTo>
                <a:lnTo>
                  <a:pt x="3482073" y="81407"/>
                </a:lnTo>
                <a:lnTo>
                  <a:pt x="3413112" y="117348"/>
                </a:lnTo>
                <a:lnTo>
                  <a:pt x="3425177" y="140335"/>
                </a:lnTo>
                <a:lnTo>
                  <a:pt x="3494011" y="104394"/>
                </a:lnTo>
                <a:close/>
              </a:path>
              <a:path w="5984240" h="3729354">
                <a:moveTo>
                  <a:pt x="3519792" y="782447"/>
                </a:moveTo>
                <a:lnTo>
                  <a:pt x="3505314" y="760984"/>
                </a:lnTo>
                <a:lnTo>
                  <a:pt x="3440798" y="804291"/>
                </a:lnTo>
                <a:lnTo>
                  <a:pt x="3455276" y="825754"/>
                </a:lnTo>
                <a:lnTo>
                  <a:pt x="3519792" y="782447"/>
                </a:lnTo>
                <a:close/>
              </a:path>
              <a:path w="5984240" h="3729354">
                <a:moveTo>
                  <a:pt x="3541509" y="1586611"/>
                </a:moveTo>
                <a:lnTo>
                  <a:pt x="3527666" y="1564767"/>
                </a:lnTo>
                <a:lnTo>
                  <a:pt x="3462007" y="1606169"/>
                </a:lnTo>
                <a:lnTo>
                  <a:pt x="3475850" y="1628140"/>
                </a:lnTo>
                <a:lnTo>
                  <a:pt x="3541509" y="1586611"/>
                </a:lnTo>
                <a:close/>
              </a:path>
              <a:path w="5984240" h="3729354">
                <a:moveTo>
                  <a:pt x="3605771" y="724662"/>
                </a:moveTo>
                <a:lnTo>
                  <a:pt x="3591293" y="703199"/>
                </a:lnTo>
                <a:lnTo>
                  <a:pt x="3526777" y="746506"/>
                </a:lnTo>
                <a:lnTo>
                  <a:pt x="3541255" y="767969"/>
                </a:lnTo>
                <a:lnTo>
                  <a:pt x="3605771" y="724662"/>
                </a:lnTo>
                <a:close/>
              </a:path>
              <a:path w="5984240" h="3729354">
                <a:moveTo>
                  <a:pt x="3607676" y="30480"/>
                </a:moveTo>
                <a:lnTo>
                  <a:pt x="3520681" y="32004"/>
                </a:lnTo>
                <a:lnTo>
                  <a:pt x="3532670" y="54914"/>
                </a:lnTo>
                <a:lnTo>
                  <a:pt x="3505060" y="69342"/>
                </a:lnTo>
                <a:lnTo>
                  <a:pt x="3516998" y="92329"/>
                </a:lnTo>
                <a:lnTo>
                  <a:pt x="3544709" y="77889"/>
                </a:lnTo>
                <a:lnTo>
                  <a:pt x="3556749" y="100838"/>
                </a:lnTo>
                <a:lnTo>
                  <a:pt x="3594341" y="48895"/>
                </a:lnTo>
                <a:lnTo>
                  <a:pt x="3607676" y="30480"/>
                </a:lnTo>
                <a:close/>
              </a:path>
              <a:path w="5984240" h="3729354">
                <a:moveTo>
                  <a:pt x="3629139" y="1531366"/>
                </a:moveTo>
                <a:lnTo>
                  <a:pt x="3615296" y="1509395"/>
                </a:lnTo>
                <a:lnTo>
                  <a:pt x="3549637" y="1550924"/>
                </a:lnTo>
                <a:lnTo>
                  <a:pt x="3563480" y="1572768"/>
                </a:lnTo>
                <a:lnTo>
                  <a:pt x="3629139" y="1531366"/>
                </a:lnTo>
                <a:close/>
              </a:path>
              <a:path w="5984240" h="3729354">
                <a:moveTo>
                  <a:pt x="3691750" y="666877"/>
                </a:moveTo>
                <a:lnTo>
                  <a:pt x="3677399" y="645414"/>
                </a:lnTo>
                <a:lnTo>
                  <a:pt x="3612883" y="688721"/>
                </a:lnTo>
                <a:lnTo>
                  <a:pt x="3627234" y="710184"/>
                </a:lnTo>
                <a:lnTo>
                  <a:pt x="3691750" y="666877"/>
                </a:lnTo>
                <a:close/>
              </a:path>
              <a:path w="5984240" h="3729354">
                <a:moveTo>
                  <a:pt x="3716769" y="1475994"/>
                </a:moveTo>
                <a:lnTo>
                  <a:pt x="3703053" y="1454150"/>
                </a:lnTo>
                <a:lnTo>
                  <a:pt x="3637267" y="1495552"/>
                </a:lnTo>
                <a:lnTo>
                  <a:pt x="3651110" y="1517523"/>
                </a:lnTo>
                <a:lnTo>
                  <a:pt x="3716769" y="1475994"/>
                </a:lnTo>
                <a:close/>
              </a:path>
              <a:path w="5984240" h="3729354">
                <a:moveTo>
                  <a:pt x="3777856" y="609092"/>
                </a:moveTo>
                <a:lnTo>
                  <a:pt x="3763378" y="587502"/>
                </a:lnTo>
                <a:lnTo>
                  <a:pt x="3698862" y="630936"/>
                </a:lnTo>
                <a:lnTo>
                  <a:pt x="3713340" y="652399"/>
                </a:lnTo>
                <a:lnTo>
                  <a:pt x="3777856" y="609092"/>
                </a:lnTo>
                <a:close/>
              </a:path>
              <a:path w="5984240" h="3729354">
                <a:moveTo>
                  <a:pt x="3804526" y="1420749"/>
                </a:moveTo>
                <a:lnTo>
                  <a:pt x="3790683" y="1398778"/>
                </a:lnTo>
                <a:lnTo>
                  <a:pt x="3724897" y="1440307"/>
                </a:lnTo>
                <a:lnTo>
                  <a:pt x="3738740" y="1462278"/>
                </a:lnTo>
                <a:lnTo>
                  <a:pt x="3804526" y="1420749"/>
                </a:lnTo>
                <a:close/>
              </a:path>
              <a:path w="5984240" h="3729354">
                <a:moveTo>
                  <a:pt x="3863835" y="551307"/>
                </a:moveTo>
                <a:lnTo>
                  <a:pt x="3849357" y="529717"/>
                </a:lnTo>
                <a:lnTo>
                  <a:pt x="3784841" y="573151"/>
                </a:lnTo>
                <a:lnTo>
                  <a:pt x="3799319" y="594614"/>
                </a:lnTo>
                <a:lnTo>
                  <a:pt x="3863835" y="551307"/>
                </a:lnTo>
                <a:close/>
              </a:path>
              <a:path w="5984240" h="3729354">
                <a:moveTo>
                  <a:pt x="3892156" y="1365504"/>
                </a:moveTo>
                <a:lnTo>
                  <a:pt x="3878313" y="1343533"/>
                </a:lnTo>
                <a:lnTo>
                  <a:pt x="3812527" y="1385062"/>
                </a:lnTo>
                <a:lnTo>
                  <a:pt x="3826370" y="1406906"/>
                </a:lnTo>
                <a:lnTo>
                  <a:pt x="3892156" y="1365504"/>
                </a:lnTo>
                <a:close/>
              </a:path>
              <a:path w="5984240" h="3729354">
                <a:moveTo>
                  <a:pt x="3949814" y="493522"/>
                </a:moveTo>
                <a:lnTo>
                  <a:pt x="3935336" y="471932"/>
                </a:lnTo>
                <a:lnTo>
                  <a:pt x="3870947" y="515366"/>
                </a:lnTo>
                <a:lnTo>
                  <a:pt x="3885298" y="536829"/>
                </a:lnTo>
                <a:lnTo>
                  <a:pt x="3949814" y="493522"/>
                </a:lnTo>
                <a:close/>
              </a:path>
              <a:path w="5984240" h="3729354">
                <a:moveTo>
                  <a:pt x="3979786" y="1310132"/>
                </a:moveTo>
                <a:lnTo>
                  <a:pt x="3965943" y="1288288"/>
                </a:lnTo>
                <a:lnTo>
                  <a:pt x="3900157" y="1329690"/>
                </a:lnTo>
                <a:lnTo>
                  <a:pt x="3914000" y="1351661"/>
                </a:lnTo>
                <a:lnTo>
                  <a:pt x="3979786" y="1310132"/>
                </a:lnTo>
                <a:close/>
              </a:path>
              <a:path w="5984240" h="3729354">
                <a:moveTo>
                  <a:pt x="4035920" y="435737"/>
                </a:moveTo>
                <a:lnTo>
                  <a:pt x="4021442" y="414147"/>
                </a:lnTo>
                <a:lnTo>
                  <a:pt x="3956926" y="457581"/>
                </a:lnTo>
                <a:lnTo>
                  <a:pt x="3971404" y="479044"/>
                </a:lnTo>
                <a:lnTo>
                  <a:pt x="4035920" y="435737"/>
                </a:lnTo>
                <a:close/>
              </a:path>
              <a:path w="5984240" h="3729354">
                <a:moveTo>
                  <a:pt x="4067416" y="1254887"/>
                </a:moveTo>
                <a:lnTo>
                  <a:pt x="4053573" y="1232916"/>
                </a:lnTo>
                <a:lnTo>
                  <a:pt x="3987787" y="1274445"/>
                </a:lnTo>
                <a:lnTo>
                  <a:pt x="4001630" y="1296289"/>
                </a:lnTo>
                <a:lnTo>
                  <a:pt x="4067416" y="1254887"/>
                </a:lnTo>
                <a:close/>
              </a:path>
              <a:path w="5984240" h="3729354">
                <a:moveTo>
                  <a:pt x="4121899" y="377952"/>
                </a:moveTo>
                <a:lnTo>
                  <a:pt x="4107421" y="356362"/>
                </a:lnTo>
                <a:lnTo>
                  <a:pt x="4042905" y="399669"/>
                </a:lnTo>
                <a:lnTo>
                  <a:pt x="4057383" y="421259"/>
                </a:lnTo>
                <a:lnTo>
                  <a:pt x="4121899" y="377952"/>
                </a:lnTo>
                <a:close/>
              </a:path>
              <a:path w="5984240" h="3729354">
                <a:moveTo>
                  <a:pt x="4155046" y="1199515"/>
                </a:moveTo>
                <a:lnTo>
                  <a:pt x="4141203" y="1177671"/>
                </a:lnTo>
                <a:lnTo>
                  <a:pt x="4075544" y="1219073"/>
                </a:lnTo>
                <a:lnTo>
                  <a:pt x="4089260" y="1241044"/>
                </a:lnTo>
                <a:lnTo>
                  <a:pt x="4155046" y="1199515"/>
                </a:lnTo>
                <a:close/>
              </a:path>
              <a:path w="5984240" h="3729354">
                <a:moveTo>
                  <a:pt x="4207878" y="320040"/>
                </a:moveTo>
                <a:lnTo>
                  <a:pt x="4193400" y="298577"/>
                </a:lnTo>
                <a:lnTo>
                  <a:pt x="4128884" y="341884"/>
                </a:lnTo>
                <a:lnTo>
                  <a:pt x="4143362" y="363474"/>
                </a:lnTo>
                <a:lnTo>
                  <a:pt x="4207878" y="320040"/>
                </a:lnTo>
                <a:close/>
              </a:path>
              <a:path w="5984240" h="3729354">
                <a:moveTo>
                  <a:pt x="4242676" y="1144270"/>
                </a:moveTo>
                <a:lnTo>
                  <a:pt x="4228833" y="1122299"/>
                </a:lnTo>
                <a:lnTo>
                  <a:pt x="4163174" y="1163828"/>
                </a:lnTo>
                <a:lnTo>
                  <a:pt x="4177017" y="1185799"/>
                </a:lnTo>
                <a:lnTo>
                  <a:pt x="4242676" y="1144270"/>
                </a:lnTo>
                <a:close/>
              </a:path>
              <a:path w="5984240" h="3729354">
                <a:moveTo>
                  <a:pt x="4293984" y="262255"/>
                </a:moveTo>
                <a:lnTo>
                  <a:pt x="4279506" y="240792"/>
                </a:lnTo>
                <a:lnTo>
                  <a:pt x="4214990" y="284099"/>
                </a:lnTo>
                <a:lnTo>
                  <a:pt x="4229468" y="305689"/>
                </a:lnTo>
                <a:lnTo>
                  <a:pt x="4293984" y="262255"/>
                </a:lnTo>
                <a:close/>
              </a:path>
              <a:path w="5984240" h="3729354">
                <a:moveTo>
                  <a:pt x="4330306" y="1089025"/>
                </a:moveTo>
                <a:lnTo>
                  <a:pt x="4316463" y="1067054"/>
                </a:lnTo>
                <a:lnTo>
                  <a:pt x="4250804" y="1108583"/>
                </a:lnTo>
                <a:lnTo>
                  <a:pt x="4264647" y="1130427"/>
                </a:lnTo>
                <a:lnTo>
                  <a:pt x="4330306" y="1089025"/>
                </a:lnTo>
                <a:close/>
              </a:path>
              <a:path w="5984240" h="3729354">
                <a:moveTo>
                  <a:pt x="4379963" y="204470"/>
                </a:moveTo>
                <a:lnTo>
                  <a:pt x="4365485" y="183007"/>
                </a:lnTo>
                <a:lnTo>
                  <a:pt x="4300969" y="226314"/>
                </a:lnTo>
                <a:lnTo>
                  <a:pt x="4315447" y="247904"/>
                </a:lnTo>
                <a:lnTo>
                  <a:pt x="4379963" y="204470"/>
                </a:lnTo>
                <a:close/>
              </a:path>
              <a:path w="5984240" h="3729354">
                <a:moveTo>
                  <a:pt x="4417936" y="1033653"/>
                </a:moveTo>
                <a:lnTo>
                  <a:pt x="4404220" y="1011809"/>
                </a:lnTo>
                <a:lnTo>
                  <a:pt x="4338434" y="1053211"/>
                </a:lnTo>
                <a:lnTo>
                  <a:pt x="4352277" y="1075182"/>
                </a:lnTo>
                <a:lnTo>
                  <a:pt x="4417936" y="1033653"/>
                </a:lnTo>
                <a:close/>
              </a:path>
              <a:path w="5984240" h="3729354">
                <a:moveTo>
                  <a:pt x="4465942" y="146685"/>
                </a:moveTo>
                <a:lnTo>
                  <a:pt x="4451464" y="125222"/>
                </a:lnTo>
                <a:lnTo>
                  <a:pt x="4386948" y="168529"/>
                </a:lnTo>
                <a:lnTo>
                  <a:pt x="4401426" y="190119"/>
                </a:lnTo>
                <a:lnTo>
                  <a:pt x="4465942" y="146685"/>
                </a:lnTo>
                <a:close/>
              </a:path>
              <a:path w="5984240" h="3729354">
                <a:moveTo>
                  <a:pt x="4505693" y="978408"/>
                </a:moveTo>
                <a:lnTo>
                  <a:pt x="4491850" y="956437"/>
                </a:lnTo>
                <a:lnTo>
                  <a:pt x="4426064" y="997966"/>
                </a:lnTo>
                <a:lnTo>
                  <a:pt x="4439907" y="1019810"/>
                </a:lnTo>
                <a:lnTo>
                  <a:pt x="4505693" y="978408"/>
                </a:lnTo>
                <a:close/>
              </a:path>
              <a:path w="5984240" h="3729354">
                <a:moveTo>
                  <a:pt x="4552048" y="88900"/>
                </a:moveTo>
                <a:lnTo>
                  <a:pt x="4537570" y="67437"/>
                </a:lnTo>
                <a:lnTo>
                  <a:pt x="4473054" y="110744"/>
                </a:lnTo>
                <a:lnTo>
                  <a:pt x="4487532" y="132207"/>
                </a:lnTo>
                <a:lnTo>
                  <a:pt x="4552048" y="88900"/>
                </a:lnTo>
                <a:close/>
              </a:path>
              <a:path w="5984240" h="3729354">
                <a:moveTo>
                  <a:pt x="4593323" y="923036"/>
                </a:moveTo>
                <a:lnTo>
                  <a:pt x="4579480" y="901192"/>
                </a:lnTo>
                <a:lnTo>
                  <a:pt x="4513694" y="942594"/>
                </a:lnTo>
                <a:lnTo>
                  <a:pt x="4527537" y="964565"/>
                </a:lnTo>
                <a:lnTo>
                  <a:pt x="4593323" y="923036"/>
                </a:lnTo>
                <a:close/>
              </a:path>
              <a:path w="5984240" h="3729354">
                <a:moveTo>
                  <a:pt x="4615675" y="30480"/>
                </a:moveTo>
                <a:lnTo>
                  <a:pt x="4529569" y="41529"/>
                </a:lnTo>
                <a:lnTo>
                  <a:pt x="4572876" y="106045"/>
                </a:lnTo>
                <a:lnTo>
                  <a:pt x="4615675" y="30480"/>
                </a:lnTo>
                <a:close/>
              </a:path>
              <a:path w="5984240" h="3729354">
                <a:moveTo>
                  <a:pt x="4680953" y="867791"/>
                </a:moveTo>
                <a:lnTo>
                  <a:pt x="4667110" y="845820"/>
                </a:lnTo>
                <a:lnTo>
                  <a:pt x="4601324" y="887349"/>
                </a:lnTo>
                <a:lnTo>
                  <a:pt x="4615167" y="909320"/>
                </a:lnTo>
                <a:lnTo>
                  <a:pt x="4680953" y="867791"/>
                </a:lnTo>
                <a:close/>
              </a:path>
              <a:path w="5984240" h="3729354">
                <a:moveTo>
                  <a:pt x="4768583" y="812546"/>
                </a:moveTo>
                <a:lnTo>
                  <a:pt x="4754740" y="790575"/>
                </a:lnTo>
                <a:lnTo>
                  <a:pt x="4689081" y="832104"/>
                </a:lnTo>
                <a:lnTo>
                  <a:pt x="4702797" y="853948"/>
                </a:lnTo>
                <a:lnTo>
                  <a:pt x="4768583" y="812546"/>
                </a:lnTo>
                <a:close/>
              </a:path>
              <a:path w="5984240" h="3729354">
                <a:moveTo>
                  <a:pt x="4856213" y="757174"/>
                </a:moveTo>
                <a:lnTo>
                  <a:pt x="4842370" y="735330"/>
                </a:lnTo>
                <a:lnTo>
                  <a:pt x="4776711" y="776732"/>
                </a:lnTo>
                <a:lnTo>
                  <a:pt x="4790427" y="798703"/>
                </a:lnTo>
                <a:lnTo>
                  <a:pt x="4856213" y="757174"/>
                </a:lnTo>
                <a:close/>
              </a:path>
              <a:path w="5984240" h="3729354">
                <a:moveTo>
                  <a:pt x="4943843" y="701929"/>
                </a:moveTo>
                <a:lnTo>
                  <a:pt x="4930000" y="679958"/>
                </a:lnTo>
                <a:lnTo>
                  <a:pt x="4864341" y="721487"/>
                </a:lnTo>
                <a:lnTo>
                  <a:pt x="4878184" y="743331"/>
                </a:lnTo>
                <a:lnTo>
                  <a:pt x="4943843" y="701929"/>
                </a:lnTo>
                <a:close/>
              </a:path>
              <a:path w="5984240" h="3729354">
                <a:moveTo>
                  <a:pt x="5031473" y="646557"/>
                </a:moveTo>
                <a:lnTo>
                  <a:pt x="5017757" y="624713"/>
                </a:lnTo>
                <a:lnTo>
                  <a:pt x="4951971" y="666115"/>
                </a:lnTo>
                <a:lnTo>
                  <a:pt x="4965814" y="688086"/>
                </a:lnTo>
                <a:lnTo>
                  <a:pt x="5031473" y="646557"/>
                </a:lnTo>
                <a:close/>
              </a:path>
              <a:path w="5984240" h="3729354">
                <a:moveTo>
                  <a:pt x="5119230" y="591312"/>
                </a:moveTo>
                <a:lnTo>
                  <a:pt x="5105387" y="569341"/>
                </a:lnTo>
                <a:lnTo>
                  <a:pt x="5039601" y="610870"/>
                </a:lnTo>
                <a:lnTo>
                  <a:pt x="5053444" y="632841"/>
                </a:lnTo>
                <a:lnTo>
                  <a:pt x="5119230" y="591312"/>
                </a:lnTo>
                <a:close/>
              </a:path>
              <a:path w="5984240" h="3729354">
                <a:moveTo>
                  <a:pt x="5206860" y="536067"/>
                </a:moveTo>
                <a:lnTo>
                  <a:pt x="5193017" y="514096"/>
                </a:lnTo>
                <a:lnTo>
                  <a:pt x="5127231" y="555625"/>
                </a:lnTo>
                <a:lnTo>
                  <a:pt x="5141074" y="577469"/>
                </a:lnTo>
                <a:lnTo>
                  <a:pt x="5206860" y="536067"/>
                </a:lnTo>
                <a:close/>
              </a:path>
              <a:path w="5984240" h="3729354">
                <a:moveTo>
                  <a:pt x="5294490" y="480695"/>
                </a:moveTo>
                <a:lnTo>
                  <a:pt x="5280647" y="458851"/>
                </a:lnTo>
                <a:lnTo>
                  <a:pt x="5214861" y="500253"/>
                </a:lnTo>
                <a:lnTo>
                  <a:pt x="5228704" y="522224"/>
                </a:lnTo>
                <a:lnTo>
                  <a:pt x="5294490" y="480695"/>
                </a:lnTo>
                <a:close/>
              </a:path>
              <a:path w="5984240" h="3729354">
                <a:moveTo>
                  <a:pt x="5382120" y="425450"/>
                </a:moveTo>
                <a:lnTo>
                  <a:pt x="5368277" y="403479"/>
                </a:lnTo>
                <a:lnTo>
                  <a:pt x="5302491" y="445008"/>
                </a:lnTo>
                <a:lnTo>
                  <a:pt x="5316334" y="466852"/>
                </a:lnTo>
                <a:lnTo>
                  <a:pt x="5382120" y="425450"/>
                </a:lnTo>
                <a:close/>
              </a:path>
              <a:path w="5984240" h="3729354">
                <a:moveTo>
                  <a:pt x="5469750" y="370078"/>
                </a:moveTo>
                <a:lnTo>
                  <a:pt x="5455907" y="348234"/>
                </a:lnTo>
                <a:lnTo>
                  <a:pt x="5390248" y="389636"/>
                </a:lnTo>
                <a:lnTo>
                  <a:pt x="5403964" y="411607"/>
                </a:lnTo>
                <a:lnTo>
                  <a:pt x="5469750" y="370078"/>
                </a:lnTo>
                <a:close/>
              </a:path>
              <a:path w="5984240" h="3729354">
                <a:moveTo>
                  <a:pt x="5557380" y="314833"/>
                </a:moveTo>
                <a:lnTo>
                  <a:pt x="5543524" y="292862"/>
                </a:lnTo>
                <a:lnTo>
                  <a:pt x="5477878" y="334391"/>
                </a:lnTo>
                <a:lnTo>
                  <a:pt x="5491721" y="356362"/>
                </a:lnTo>
                <a:lnTo>
                  <a:pt x="5557380" y="314833"/>
                </a:lnTo>
                <a:close/>
              </a:path>
              <a:path w="5984240" h="3729354">
                <a:moveTo>
                  <a:pt x="5644997" y="259588"/>
                </a:moveTo>
                <a:lnTo>
                  <a:pt x="5631167" y="237617"/>
                </a:lnTo>
                <a:lnTo>
                  <a:pt x="5565508" y="279146"/>
                </a:lnTo>
                <a:lnTo>
                  <a:pt x="5579351" y="300990"/>
                </a:lnTo>
                <a:lnTo>
                  <a:pt x="5644997" y="259588"/>
                </a:lnTo>
                <a:close/>
              </a:path>
              <a:path w="5984240" h="3729354">
                <a:moveTo>
                  <a:pt x="5732640" y="204216"/>
                </a:moveTo>
                <a:lnTo>
                  <a:pt x="5718924" y="182372"/>
                </a:lnTo>
                <a:lnTo>
                  <a:pt x="5653125" y="223774"/>
                </a:lnTo>
                <a:lnTo>
                  <a:pt x="5666981" y="245745"/>
                </a:lnTo>
                <a:lnTo>
                  <a:pt x="5732640" y="204216"/>
                </a:lnTo>
                <a:close/>
              </a:path>
              <a:path w="5984240" h="3729354">
                <a:moveTo>
                  <a:pt x="5820397" y="148971"/>
                </a:moveTo>
                <a:lnTo>
                  <a:pt x="5806554" y="127000"/>
                </a:lnTo>
                <a:lnTo>
                  <a:pt x="5740768" y="168529"/>
                </a:lnTo>
                <a:lnTo>
                  <a:pt x="5754611" y="190373"/>
                </a:lnTo>
                <a:lnTo>
                  <a:pt x="5820397" y="148971"/>
                </a:lnTo>
                <a:close/>
              </a:path>
              <a:path w="5984240" h="3729354">
                <a:moveTo>
                  <a:pt x="5908027" y="93599"/>
                </a:moveTo>
                <a:lnTo>
                  <a:pt x="5894184" y="71755"/>
                </a:lnTo>
                <a:lnTo>
                  <a:pt x="5828398" y="113157"/>
                </a:lnTo>
                <a:lnTo>
                  <a:pt x="5842241" y="135128"/>
                </a:lnTo>
                <a:lnTo>
                  <a:pt x="5908027" y="93599"/>
                </a:lnTo>
                <a:close/>
              </a:path>
              <a:path w="5984240" h="3729354">
                <a:moveTo>
                  <a:pt x="5983846" y="30480"/>
                </a:moveTo>
                <a:lnTo>
                  <a:pt x="5897359" y="39116"/>
                </a:lnTo>
                <a:lnTo>
                  <a:pt x="5938888" y="104775"/>
                </a:lnTo>
                <a:lnTo>
                  <a:pt x="5953950" y="79883"/>
                </a:lnTo>
                <a:lnTo>
                  <a:pt x="5969546" y="54102"/>
                </a:lnTo>
                <a:lnTo>
                  <a:pt x="5983846" y="30480"/>
                </a:lnTo>
                <a:close/>
              </a:path>
            </a:pathLst>
          </a:custGeom>
          <a:solidFill>
            <a:srgbClr val="FF0000"/>
          </a:solid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4578985" cy="1031240"/>
          </a:xfrm>
          <a:prstGeom prst="rect">
            <a:avLst/>
          </a:prstGeom>
        </p:spPr>
        <p:txBody>
          <a:bodyPr vert="horz" wrap="square" lIns="0" tIns="104139" rIns="0" bIns="0" rtlCol="0">
            <a:spAutoFit/>
          </a:bodyPr>
          <a:lstStyle/>
          <a:p>
            <a:pPr marL="12700" marR="5080">
              <a:lnSpc>
                <a:spcPts val="3600"/>
              </a:lnSpc>
              <a:spcBef>
                <a:spcPts val="819"/>
              </a:spcBef>
            </a:pPr>
            <a:r>
              <a:rPr sz="3600" i="0" spc="-140" dirty="0">
                <a:solidFill>
                  <a:srgbClr val="000000"/>
                </a:solidFill>
                <a:latin typeface="Arial"/>
                <a:cs typeface="Arial"/>
              </a:rPr>
              <a:t>Character </a:t>
            </a:r>
            <a:r>
              <a:rPr sz="3600" i="0" spc="-145" dirty="0">
                <a:solidFill>
                  <a:srgbClr val="000000"/>
                </a:solidFill>
                <a:latin typeface="Arial"/>
                <a:cs typeface="Arial"/>
              </a:rPr>
              <a:t>Extraction </a:t>
            </a:r>
            <a:r>
              <a:rPr sz="3600" i="0" dirty="0">
                <a:solidFill>
                  <a:srgbClr val="000000"/>
                </a:solidFill>
                <a:latin typeface="Arial"/>
                <a:cs typeface="Arial"/>
              </a:rPr>
              <a:t>:  </a:t>
            </a:r>
            <a:r>
              <a:rPr sz="3600" i="0" spc="-145" dirty="0">
                <a:solidFill>
                  <a:srgbClr val="000000"/>
                </a:solidFill>
                <a:latin typeface="Arial"/>
                <a:cs typeface="Arial"/>
              </a:rPr>
              <a:t>getChars() </a:t>
            </a:r>
            <a:r>
              <a:rPr sz="3600" i="0" dirty="0">
                <a:solidFill>
                  <a:srgbClr val="000000"/>
                </a:solidFill>
                <a:latin typeface="Arial"/>
                <a:cs typeface="Arial"/>
              </a:rPr>
              <a:t>: </a:t>
            </a:r>
            <a:r>
              <a:rPr sz="3600" i="0" spc="-140" dirty="0">
                <a:solidFill>
                  <a:srgbClr val="000000"/>
                </a:solidFill>
                <a:latin typeface="Arial"/>
                <a:cs typeface="Arial"/>
              </a:rPr>
              <a:t>Example</a:t>
            </a:r>
            <a:r>
              <a:rPr sz="3600" i="0" spc="-710" dirty="0">
                <a:solidFill>
                  <a:srgbClr val="000000"/>
                </a:solidFill>
                <a:latin typeface="Arial"/>
                <a:cs typeface="Arial"/>
              </a:rPr>
              <a:t> </a:t>
            </a:r>
            <a:r>
              <a:rPr sz="3600" i="0" spc="-5" dirty="0">
                <a:solidFill>
                  <a:srgbClr val="000000"/>
                </a:solidFill>
                <a:latin typeface="Arial"/>
                <a:cs typeface="Arial"/>
              </a:rPr>
              <a:t>1</a:t>
            </a:r>
            <a:endParaRPr sz="3600">
              <a:latin typeface="Arial"/>
              <a:cs typeface="Arial"/>
            </a:endParaRPr>
          </a:p>
        </p:txBody>
      </p:sp>
      <p:sp>
        <p:nvSpPr>
          <p:cNvPr id="3" name="object 3"/>
          <p:cNvSpPr txBox="1"/>
          <p:nvPr/>
        </p:nvSpPr>
        <p:spPr>
          <a:xfrm>
            <a:off x="762406" y="1600580"/>
            <a:ext cx="4347845" cy="1397635"/>
          </a:xfrm>
          <a:prstGeom prst="rect">
            <a:avLst/>
          </a:prstGeom>
        </p:spPr>
        <p:txBody>
          <a:bodyPr vert="horz" wrap="square" lIns="0" tIns="12700" rIns="0" bIns="0" rtlCol="0">
            <a:spAutoFit/>
          </a:bodyPr>
          <a:lstStyle/>
          <a:p>
            <a:pPr marL="12700" marR="1497330">
              <a:lnSpc>
                <a:spcPct val="100000"/>
              </a:lnSpc>
              <a:spcBef>
                <a:spcPts val="100"/>
              </a:spcBef>
            </a:pPr>
            <a:r>
              <a:rPr sz="1800" b="1" spc="-5" dirty="0">
                <a:latin typeface="Carlito"/>
                <a:cs typeface="Carlito"/>
              </a:rPr>
              <a:t>//File </a:t>
            </a:r>
            <a:r>
              <a:rPr sz="1800" b="1" dirty="0">
                <a:latin typeface="Carlito"/>
                <a:cs typeface="Carlito"/>
              </a:rPr>
              <a:t>Name: </a:t>
            </a:r>
            <a:r>
              <a:rPr sz="1800" b="1" spc="-10" dirty="0">
                <a:latin typeface="Carlito"/>
                <a:cs typeface="Carlito"/>
              </a:rPr>
              <a:t>StringDemo.java  </a:t>
            </a:r>
            <a:r>
              <a:rPr sz="1800" b="1" spc="-5" dirty="0">
                <a:latin typeface="Carlito"/>
                <a:cs typeface="Carlito"/>
              </a:rPr>
              <a:t>class</a:t>
            </a:r>
            <a:r>
              <a:rPr sz="1800" b="1" spc="-25" dirty="0">
                <a:latin typeface="Carlito"/>
                <a:cs typeface="Carlito"/>
              </a:rPr>
              <a:t> </a:t>
            </a:r>
            <a:r>
              <a:rPr sz="1800" b="1" spc="-5" dirty="0">
                <a:latin typeface="Carlito"/>
                <a:cs typeface="Carlito"/>
              </a:rPr>
              <a:t>StringDemo</a:t>
            </a:r>
            <a:endParaRPr sz="1800">
              <a:latin typeface="Carlito"/>
              <a:cs typeface="Carlito"/>
            </a:endParaRPr>
          </a:p>
          <a:p>
            <a:pPr marL="12700">
              <a:lnSpc>
                <a:spcPct val="100000"/>
              </a:lnSpc>
            </a:pPr>
            <a:r>
              <a:rPr sz="1800" b="1" dirty="0">
                <a:latin typeface="Carlito"/>
                <a:cs typeface="Carlito"/>
              </a:rPr>
              <a:t>{</a:t>
            </a:r>
            <a:endParaRPr sz="1800">
              <a:latin typeface="Carlito"/>
              <a:cs typeface="Carlito"/>
            </a:endParaRPr>
          </a:p>
          <a:p>
            <a:pPr marL="927100">
              <a:lnSpc>
                <a:spcPct val="100000"/>
              </a:lnSpc>
            </a:pPr>
            <a:r>
              <a:rPr sz="1800" b="1" dirty="0">
                <a:latin typeface="Carlito"/>
                <a:cs typeface="Carlito"/>
              </a:rPr>
              <a:t>public </a:t>
            </a:r>
            <a:r>
              <a:rPr sz="1800" b="1" spc="-10" dirty="0">
                <a:latin typeface="Carlito"/>
                <a:cs typeface="Carlito"/>
              </a:rPr>
              <a:t>static </a:t>
            </a:r>
            <a:r>
              <a:rPr sz="1800" b="1" spc="-5" dirty="0">
                <a:latin typeface="Carlito"/>
                <a:cs typeface="Carlito"/>
              </a:rPr>
              <a:t>void main(String[]</a:t>
            </a:r>
            <a:r>
              <a:rPr sz="1800" b="1" spc="-100" dirty="0">
                <a:latin typeface="Carlito"/>
                <a:cs typeface="Carlito"/>
              </a:rPr>
              <a:t> </a:t>
            </a:r>
            <a:r>
              <a:rPr sz="1800" b="1" spc="-10" dirty="0">
                <a:latin typeface="Carlito"/>
                <a:cs typeface="Carlito"/>
              </a:rPr>
              <a:t>args)</a:t>
            </a:r>
            <a:endParaRPr sz="1800">
              <a:latin typeface="Carlito"/>
              <a:cs typeface="Carlito"/>
            </a:endParaRPr>
          </a:p>
          <a:p>
            <a:pPr marL="927100">
              <a:lnSpc>
                <a:spcPct val="100000"/>
              </a:lnSpc>
            </a:pPr>
            <a:r>
              <a:rPr sz="1800" b="1" dirty="0">
                <a:latin typeface="Carlito"/>
                <a:cs typeface="Carlito"/>
              </a:rPr>
              <a:t>{</a:t>
            </a:r>
            <a:endParaRPr sz="1800">
              <a:latin typeface="Carlito"/>
              <a:cs typeface="Carlito"/>
            </a:endParaRPr>
          </a:p>
        </p:txBody>
      </p:sp>
      <p:graphicFrame>
        <p:nvGraphicFramePr>
          <p:cNvPr id="4" name="object 4"/>
          <p:cNvGraphicFramePr>
            <a:graphicFrameLocks noGrp="1"/>
          </p:cNvGraphicFramePr>
          <p:nvPr/>
        </p:nvGraphicFramePr>
        <p:xfrm>
          <a:off x="2572511" y="3042411"/>
          <a:ext cx="4681853" cy="502920"/>
        </p:xfrm>
        <a:graphic>
          <a:graphicData uri="http://schemas.openxmlformats.org/drawingml/2006/table">
            <a:tbl>
              <a:tblPr firstRow="1" bandRow="1">
                <a:tableStyleId>{2D5ABB26-0587-4C30-8999-92F81FD0307C}</a:tableStyleId>
              </a:tblPr>
              <a:tblGrid>
                <a:gridCol w="770255">
                  <a:extLst>
                    <a:ext uri="{9D8B030D-6E8A-4147-A177-3AD203B41FA5}">
                      <a16:colId xmlns:a16="http://schemas.microsoft.com/office/drawing/2014/main" val="20000"/>
                    </a:ext>
                  </a:extLst>
                </a:gridCol>
                <a:gridCol w="883919">
                  <a:extLst>
                    <a:ext uri="{9D8B030D-6E8A-4147-A177-3AD203B41FA5}">
                      <a16:colId xmlns:a16="http://schemas.microsoft.com/office/drawing/2014/main" val="20001"/>
                    </a:ext>
                  </a:extLst>
                </a:gridCol>
                <a:gridCol w="3027679">
                  <a:extLst>
                    <a:ext uri="{9D8B030D-6E8A-4147-A177-3AD203B41FA5}">
                      <a16:colId xmlns:a16="http://schemas.microsoft.com/office/drawing/2014/main" val="20002"/>
                    </a:ext>
                  </a:extLst>
                </a:gridCol>
              </a:tblGrid>
              <a:tr h="251460">
                <a:tc>
                  <a:txBody>
                    <a:bodyPr/>
                    <a:lstStyle/>
                    <a:p>
                      <a:pPr marL="31750">
                        <a:lnSpc>
                          <a:spcPts val="1710"/>
                        </a:lnSpc>
                      </a:pPr>
                      <a:r>
                        <a:rPr sz="1800" b="1" dirty="0">
                          <a:solidFill>
                            <a:srgbClr val="FF0000"/>
                          </a:solidFill>
                          <a:latin typeface="Carlito"/>
                          <a:cs typeface="Carlito"/>
                        </a:rPr>
                        <a:t>String</a:t>
                      </a:r>
                      <a:endParaRPr sz="1800">
                        <a:latin typeface="Carlito"/>
                        <a:cs typeface="Carlito"/>
                      </a:endParaRPr>
                    </a:p>
                  </a:txBody>
                  <a:tcPr marL="0" marR="0" marT="0" marB="0"/>
                </a:tc>
                <a:tc>
                  <a:txBody>
                    <a:bodyPr/>
                    <a:lstStyle/>
                    <a:p>
                      <a:pPr marL="175895">
                        <a:lnSpc>
                          <a:spcPts val="1710"/>
                        </a:lnSpc>
                      </a:pPr>
                      <a:r>
                        <a:rPr sz="1800" b="1" dirty="0">
                          <a:solidFill>
                            <a:srgbClr val="FF0000"/>
                          </a:solidFill>
                          <a:latin typeface="Carlito"/>
                          <a:cs typeface="Carlito"/>
                        </a:rPr>
                        <a:t>s</a:t>
                      </a:r>
                      <a:endParaRPr sz="1800">
                        <a:latin typeface="Carlito"/>
                        <a:cs typeface="Carlito"/>
                      </a:endParaRPr>
                    </a:p>
                  </a:txBody>
                  <a:tcPr marL="0" marR="0" marT="0" marB="0"/>
                </a:tc>
                <a:tc>
                  <a:txBody>
                    <a:bodyPr/>
                    <a:lstStyle/>
                    <a:p>
                      <a:pPr marL="206375">
                        <a:lnSpc>
                          <a:spcPts val="1710"/>
                        </a:lnSpc>
                      </a:pPr>
                      <a:r>
                        <a:rPr sz="1800" b="1" dirty="0">
                          <a:solidFill>
                            <a:srgbClr val="FF0000"/>
                          </a:solidFill>
                          <a:latin typeface="Carlito"/>
                          <a:cs typeface="Carlito"/>
                        </a:rPr>
                        <a:t>= "When </a:t>
                      </a:r>
                      <a:r>
                        <a:rPr sz="1800" b="1" spc="-15" dirty="0">
                          <a:solidFill>
                            <a:srgbClr val="FF0000"/>
                          </a:solidFill>
                          <a:latin typeface="Carlito"/>
                          <a:cs typeface="Carlito"/>
                        </a:rPr>
                        <a:t>Java </a:t>
                      </a:r>
                      <a:r>
                        <a:rPr sz="1800" b="1" spc="-10" dirty="0">
                          <a:solidFill>
                            <a:srgbClr val="FF0000"/>
                          </a:solidFill>
                          <a:latin typeface="Carlito"/>
                          <a:cs typeface="Carlito"/>
                        </a:rPr>
                        <a:t>converts</a:t>
                      </a:r>
                      <a:r>
                        <a:rPr sz="1800" b="1" spc="-65" dirty="0">
                          <a:solidFill>
                            <a:srgbClr val="FF0000"/>
                          </a:solidFill>
                          <a:latin typeface="Carlito"/>
                          <a:cs typeface="Carlito"/>
                        </a:rPr>
                        <a:t> </a:t>
                      </a:r>
                      <a:r>
                        <a:rPr sz="1800" b="1" spc="-10" dirty="0">
                          <a:solidFill>
                            <a:srgbClr val="FF0000"/>
                          </a:solidFill>
                          <a:latin typeface="Carlito"/>
                          <a:cs typeface="Carlito"/>
                        </a:rPr>
                        <a:t>data";</a:t>
                      </a:r>
                      <a:endParaRPr sz="1800">
                        <a:latin typeface="Carlito"/>
                        <a:cs typeface="Carlito"/>
                      </a:endParaRPr>
                    </a:p>
                  </a:txBody>
                  <a:tcPr marL="0" marR="0" marT="0" marB="0"/>
                </a:tc>
                <a:extLst>
                  <a:ext uri="{0D108BD9-81ED-4DB2-BD59-A6C34878D82A}">
                    <a16:rowId xmlns:a16="http://schemas.microsoft.com/office/drawing/2014/main" val="10000"/>
                  </a:ext>
                </a:extLst>
              </a:tr>
              <a:tr h="251460">
                <a:tc>
                  <a:txBody>
                    <a:bodyPr/>
                    <a:lstStyle/>
                    <a:p>
                      <a:pPr marL="31750">
                        <a:lnSpc>
                          <a:spcPts val="1880"/>
                        </a:lnSpc>
                      </a:pPr>
                      <a:r>
                        <a:rPr sz="1800" b="1" dirty="0">
                          <a:solidFill>
                            <a:srgbClr val="FF0000"/>
                          </a:solidFill>
                          <a:latin typeface="Carlito"/>
                          <a:cs typeface="Carlito"/>
                        </a:rPr>
                        <a:t>char[]</a:t>
                      </a:r>
                      <a:endParaRPr sz="1800">
                        <a:latin typeface="Carlito"/>
                        <a:cs typeface="Carlito"/>
                      </a:endParaRPr>
                    </a:p>
                  </a:txBody>
                  <a:tcPr marL="0" marR="0" marT="0" marB="0"/>
                </a:tc>
                <a:tc>
                  <a:txBody>
                    <a:bodyPr/>
                    <a:lstStyle/>
                    <a:p>
                      <a:pPr marL="175895">
                        <a:lnSpc>
                          <a:spcPts val="1880"/>
                        </a:lnSpc>
                      </a:pPr>
                      <a:r>
                        <a:rPr sz="1800" b="1" spc="-10" dirty="0">
                          <a:solidFill>
                            <a:srgbClr val="FF0000"/>
                          </a:solidFill>
                          <a:latin typeface="Carlito"/>
                          <a:cs typeface="Carlito"/>
                        </a:rPr>
                        <a:t>chars</a:t>
                      </a:r>
                      <a:endParaRPr sz="1800">
                        <a:latin typeface="Carlito"/>
                        <a:cs typeface="Carlito"/>
                      </a:endParaRPr>
                    </a:p>
                  </a:txBody>
                  <a:tcPr marL="0" marR="0" marT="0" marB="0"/>
                </a:tc>
                <a:tc>
                  <a:txBody>
                    <a:bodyPr/>
                    <a:lstStyle/>
                    <a:p>
                      <a:pPr marL="206375">
                        <a:lnSpc>
                          <a:spcPts val="1880"/>
                        </a:lnSpc>
                      </a:pPr>
                      <a:r>
                        <a:rPr sz="1800" b="1" dirty="0">
                          <a:solidFill>
                            <a:srgbClr val="FF0000"/>
                          </a:solidFill>
                          <a:latin typeface="Carlito"/>
                          <a:cs typeface="Carlito"/>
                        </a:rPr>
                        <a:t>= </a:t>
                      </a:r>
                      <a:r>
                        <a:rPr sz="1800" b="1" spc="-5" dirty="0">
                          <a:solidFill>
                            <a:srgbClr val="FF0000"/>
                          </a:solidFill>
                          <a:latin typeface="Carlito"/>
                          <a:cs typeface="Carlito"/>
                        </a:rPr>
                        <a:t>new</a:t>
                      </a:r>
                      <a:r>
                        <a:rPr sz="1800" b="1" spc="-25" dirty="0">
                          <a:solidFill>
                            <a:srgbClr val="FF0000"/>
                          </a:solidFill>
                          <a:latin typeface="Carlito"/>
                          <a:cs typeface="Carlito"/>
                        </a:rPr>
                        <a:t> </a:t>
                      </a:r>
                      <a:r>
                        <a:rPr sz="1800" b="1" dirty="0">
                          <a:solidFill>
                            <a:srgbClr val="FF0000"/>
                          </a:solidFill>
                          <a:latin typeface="Carlito"/>
                          <a:cs typeface="Carlito"/>
                        </a:rPr>
                        <a:t>char[100];</a:t>
                      </a:r>
                      <a:endParaRPr sz="1800">
                        <a:latin typeface="Carlito"/>
                        <a:cs typeface="Carlito"/>
                      </a:endParaRPr>
                    </a:p>
                  </a:txBody>
                  <a:tcPr marL="0" marR="0" marT="0" marB="0"/>
                </a:tc>
                <a:extLst>
                  <a:ext uri="{0D108BD9-81ED-4DB2-BD59-A6C34878D82A}">
                    <a16:rowId xmlns:a16="http://schemas.microsoft.com/office/drawing/2014/main" val="10001"/>
                  </a:ext>
                </a:extLst>
              </a:tr>
            </a:tbl>
          </a:graphicData>
        </a:graphic>
      </p:graphicFrame>
      <p:sp>
        <p:nvSpPr>
          <p:cNvPr id="5" name="object 5"/>
          <p:cNvSpPr txBox="1"/>
          <p:nvPr/>
        </p:nvSpPr>
        <p:spPr>
          <a:xfrm>
            <a:off x="762406" y="3513277"/>
            <a:ext cx="5654040" cy="1283335"/>
          </a:xfrm>
          <a:prstGeom prst="rect">
            <a:avLst/>
          </a:prstGeom>
        </p:spPr>
        <p:txBody>
          <a:bodyPr vert="horz" wrap="square" lIns="0" tIns="12065" rIns="0" bIns="0" rtlCol="0">
            <a:spAutoFit/>
          </a:bodyPr>
          <a:lstStyle/>
          <a:p>
            <a:pPr marL="1841500">
              <a:lnSpc>
                <a:spcPct val="100000"/>
              </a:lnSpc>
              <a:spcBef>
                <a:spcPts val="95"/>
              </a:spcBef>
            </a:pPr>
            <a:r>
              <a:rPr sz="2800" b="1" spc="-5" dirty="0">
                <a:solidFill>
                  <a:srgbClr val="006FC0"/>
                </a:solidFill>
                <a:latin typeface="Carlito"/>
                <a:cs typeface="Carlito"/>
              </a:rPr>
              <a:t>s.getChars(10,30,chars,0);</a:t>
            </a:r>
            <a:endParaRPr sz="2800">
              <a:latin typeface="Carlito"/>
              <a:cs typeface="Carlito"/>
            </a:endParaRPr>
          </a:p>
          <a:p>
            <a:pPr marL="1841500">
              <a:lnSpc>
                <a:spcPct val="100000"/>
              </a:lnSpc>
              <a:spcBef>
                <a:spcPts val="70"/>
              </a:spcBef>
            </a:pPr>
            <a:r>
              <a:rPr sz="1800" b="1" spc="-10" dirty="0">
                <a:solidFill>
                  <a:srgbClr val="FF0000"/>
                </a:solidFill>
                <a:latin typeface="Carlito"/>
                <a:cs typeface="Carlito"/>
              </a:rPr>
              <a:t>System.out.println(chars);</a:t>
            </a:r>
            <a:endParaRPr sz="1800">
              <a:latin typeface="Carlito"/>
              <a:cs typeface="Carlito"/>
            </a:endParaRPr>
          </a:p>
          <a:p>
            <a:pPr marR="2971800" algn="r">
              <a:lnSpc>
                <a:spcPct val="100000"/>
              </a:lnSpc>
            </a:pPr>
            <a:r>
              <a:rPr sz="1800" b="1" dirty="0">
                <a:latin typeface="Carlito"/>
                <a:cs typeface="Carlito"/>
              </a:rPr>
              <a:t>}// End of</a:t>
            </a:r>
            <a:r>
              <a:rPr sz="1800" b="1" spc="-70" dirty="0">
                <a:latin typeface="Carlito"/>
                <a:cs typeface="Carlito"/>
              </a:rPr>
              <a:t> </a:t>
            </a:r>
            <a:r>
              <a:rPr sz="1800" b="1" spc="-5" dirty="0">
                <a:latin typeface="Carlito"/>
                <a:cs typeface="Carlito"/>
              </a:rPr>
              <a:t>Method</a:t>
            </a:r>
            <a:endParaRPr sz="1800">
              <a:latin typeface="Carlito"/>
              <a:cs typeface="Carlito"/>
            </a:endParaRPr>
          </a:p>
          <a:p>
            <a:pPr marR="3025775" algn="r">
              <a:lnSpc>
                <a:spcPct val="100000"/>
              </a:lnSpc>
            </a:pPr>
            <a:r>
              <a:rPr sz="1800" b="1" dirty="0">
                <a:latin typeface="Carlito"/>
                <a:cs typeface="Carlito"/>
              </a:rPr>
              <a:t>}// End of </a:t>
            </a:r>
            <a:r>
              <a:rPr sz="1800" b="1" spc="-5" dirty="0">
                <a:latin typeface="Carlito"/>
                <a:cs typeface="Carlito"/>
              </a:rPr>
              <a:t>class</a:t>
            </a:r>
            <a:r>
              <a:rPr sz="1800" b="1" spc="-50" dirty="0">
                <a:latin typeface="Carlito"/>
                <a:cs typeface="Carlito"/>
              </a:rPr>
              <a:t> </a:t>
            </a:r>
            <a:r>
              <a:rPr sz="1800" b="1" spc="-5" dirty="0">
                <a:latin typeface="Carlito"/>
                <a:cs typeface="Carlito"/>
              </a:rPr>
              <a:t>StringDemo</a:t>
            </a:r>
            <a:endParaRPr sz="1800">
              <a:latin typeface="Carlito"/>
              <a:cs typeface="Carlito"/>
            </a:endParaRPr>
          </a:p>
        </p:txBody>
      </p:sp>
      <p:sp>
        <p:nvSpPr>
          <p:cNvPr id="6" name="object 6"/>
          <p:cNvSpPr txBox="1"/>
          <p:nvPr/>
        </p:nvSpPr>
        <p:spPr>
          <a:xfrm>
            <a:off x="751128" y="5027803"/>
            <a:ext cx="7856220" cy="139700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rlito"/>
                <a:cs typeface="Carlito"/>
              </a:rPr>
              <a:t>F:\&gt;java</a:t>
            </a:r>
            <a:r>
              <a:rPr sz="1800" b="1" spc="5" dirty="0">
                <a:solidFill>
                  <a:srgbClr val="FF0000"/>
                </a:solidFill>
                <a:latin typeface="Carlito"/>
                <a:cs typeface="Carlito"/>
              </a:rPr>
              <a:t> </a:t>
            </a:r>
            <a:r>
              <a:rPr sz="1800" b="1" spc="-5" dirty="0">
                <a:solidFill>
                  <a:srgbClr val="FF0000"/>
                </a:solidFill>
                <a:latin typeface="Carlito"/>
                <a:cs typeface="Carlito"/>
              </a:rPr>
              <a:t>StringDemo</a:t>
            </a:r>
            <a:endParaRPr sz="1800">
              <a:latin typeface="Carlito"/>
              <a:cs typeface="Carlito"/>
            </a:endParaRPr>
          </a:p>
          <a:p>
            <a:pPr marL="12700" marR="5080">
              <a:lnSpc>
                <a:spcPct val="100000"/>
              </a:lnSpc>
            </a:pPr>
            <a:r>
              <a:rPr sz="1800" b="1" spc="-10" dirty="0">
                <a:solidFill>
                  <a:srgbClr val="FF0000"/>
                </a:solidFill>
                <a:latin typeface="Carlito"/>
                <a:cs typeface="Carlito"/>
              </a:rPr>
              <a:t>Exception </a:t>
            </a:r>
            <a:r>
              <a:rPr sz="1800" b="1" dirty="0">
                <a:solidFill>
                  <a:srgbClr val="FF0000"/>
                </a:solidFill>
                <a:latin typeface="Carlito"/>
                <a:cs typeface="Carlito"/>
              </a:rPr>
              <a:t>in </a:t>
            </a:r>
            <a:r>
              <a:rPr sz="1800" b="1" spc="-10" dirty="0">
                <a:solidFill>
                  <a:srgbClr val="FF0000"/>
                </a:solidFill>
                <a:latin typeface="Carlito"/>
                <a:cs typeface="Carlito"/>
              </a:rPr>
              <a:t>thread </a:t>
            </a:r>
            <a:r>
              <a:rPr sz="1800" b="1" spc="-5" dirty="0">
                <a:solidFill>
                  <a:srgbClr val="FF0000"/>
                </a:solidFill>
                <a:latin typeface="Carlito"/>
                <a:cs typeface="Carlito"/>
              </a:rPr>
              <a:t>"main" </a:t>
            </a:r>
            <a:r>
              <a:rPr sz="1800" b="1" spc="-10" dirty="0">
                <a:solidFill>
                  <a:srgbClr val="FF0000"/>
                </a:solidFill>
                <a:latin typeface="Carlito"/>
                <a:cs typeface="Carlito"/>
              </a:rPr>
              <a:t>java.lang.StringIndexOutOfBoundsException: </a:t>
            </a:r>
            <a:r>
              <a:rPr sz="1800" b="1" dirty="0">
                <a:solidFill>
                  <a:srgbClr val="FF0000"/>
                </a:solidFill>
                <a:latin typeface="Carlito"/>
                <a:cs typeface="Carlito"/>
              </a:rPr>
              <a:t>String ind  </a:t>
            </a:r>
            <a:r>
              <a:rPr sz="1800" b="1" spc="-10" dirty="0">
                <a:solidFill>
                  <a:srgbClr val="FF0000"/>
                </a:solidFill>
                <a:latin typeface="Carlito"/>
                <a:cs typeface="Carlito"/>
              </a:rPr>
              <a:t>ex </a:t>
            </a:r>
            <a:r>
              <a:rPr sz="1800" b="1" dirty="0">
                <a:solidFill>
                  <a:srgbClr val="FF0000"/>
                </a:solidFill>
                <a:latin typeface="Carlito"/>
                <a:cs typeface="Carlito"/>
              </a:rPr>
              <a:t>out of </a:t>
            </a:r>
            <a:r>
              <a:rPr sz="1800" b="1" spc="-15" dirty="0">
                <a:solidFill>
                  <a:srgbClr val="FF0000"/>
                </a:solidFill>
                <a:latin typeface="Carlito"/>
                <a:cs typeface="Carlito"/>
              </a:rPr>
              <a:t>range:</a:t>
            </a:r>
            <a:r>
              <a:rPr sz="1800" b="1" spc="-40" dirty="0">
                <a:solidFill>
                  <a:srgbClr val="FF0000"/>
                </a:solidFill>
                <a:latin typeface="Carlito"/>
                <a:cs typeface="Carlito"/>
              </a:rPr>
              <a:t> </a:t>
            </a:r>
            <a:r>
              <a:rPr sz="1800" b="1" dirty="0">
                <a:solidFill>
                  <a:srgbClr val="FF0000"/>
                </a:solidFill>
                <a:latin typeface="Carlito"/>
                <a:cs typeface="Carlito"/>
              </a:rPr>
              <a:t>30</a:t>
            </a:r>
            <a:endParaRPr sz="1800">
              <a:latin typeface="Carlito"/>
              <a:cs typeface="Carlito"/>
            </a:endParaRPr>
          </a:p>
          <a:p>
            <a:pPr marL="431800" marR="3073400">
              <a:lnSpc>
                <a:spcPct val="100000"/>
              </a:lnSpc>
            </a:pPr>
            <a:r>
              <a:rPr sz="1800" b="1" spc="-10" dirty="0">
                <a:solidFill>
                  <a:srgbClr val="FF0000"/>
                </a:solidFill>
                <a:latin typeface="Carlito"/>
                <a:cs typeface="Carlito"/>
              </a:rPr>
              <a:t>at java.lang.String.getChars(Unknown </a:t>
            </a:r>
            <a:r>
              <a:rPr sz="1800" b="1" spc="-5" dirty="0">
                <a:solidFill>
                  <a:srgbClr val="FF0000"/>
                </a:solidFill>
                <a:latin typeface="Carlito"/>
                <a:cs typeface="Carlito"/>
              </a:rPr>
              <a:t>Source)  </a:t>
            </a:r>
            <a:r>
              <a:rPr sz="1800" b="1" spc="-10" dirty="0">
                <a:solidFill>
                  <a:srgbClr val="FF0000"/>
                </a:solidFill>
                <a:latin typeface="Carlito"/>
                <a:cs typeface="Carlito"/>
              </a:rPr>
              <a:t>at</a:t>
            </a:r>
            <a:r>
              <a:rPr sz="1800" b="1" dirty="0">
                <a:solidFill>
                  <a:srgbClr val="FF0000"/>
                </a:solidFill>
                <a:latin typeface="Carlito"/>
                <a:cs typeface="Carlito"/>
              </a:rPr>
              <a:t> </a:t>
            </a:r>
            <a:r>
              <a:rPr sz="1800" b="1" spc="-10" dirty="0">
                <a:solidFill>
                  <a:srgbClr val="FF0000"/>
                </a:solidFill>
                <a:latin typeface="Carlito"/>
                <a:cs typeface="Carlito"/>
              </a:rPr>
              <a:t>StringDemo.main(xyz.java:8)</a:t>
            </a:r>
            <a:endParaRPr sz="1800">
              <a:latin typeface="Carlito"/>
              <a:cs typeface="Carlito"/>
            </a:endParaRPr>
          </a:p>
        </p:txBody>
      </p:sp>
      <p:grpSp>
        <p:nvGrpSpPr>
          <p:cNvPr id="7" name="object 7"/>
          <p:cNvGrpSpPr/>
          <p:nvPr/>
        </p:nvGrpSpPr>
        <p:grpSpPr>
          <a:xfrm>
            <a:off x="6431279" y="3633215"/>
            <a:ext cx="1004569" cy="314325"/>
            <a:chOff x="6431279" y="3633215"/>
            <a:chExt cx="1004569" cy="314325"/>
          </a:xfrm>
        </p:grpSpPr>
        <p:sp>
          <p:nvSpPr>
            <p:cNvPr id="8" name="object 8"/>
            <p:cNvSpPr/>
            <p:nvPr/>
          </p:nvSpPr>
          <p:spPr>
            <a:xfrm>
              <a:off x="6444233" y="3646169"/>
              <a:ext cx="978535" cy="288290"/>
            </a:xfrm>
            <a:custGeom>
              <a:avLst/>
              <a:gdLst/>
              <a:ahLst/>
              <a:cxnLst/>
              <a:rect l="l" t="t" r="r" b="b"/>
              <a:pathLst>
                <a:path w="978534" h="288289">
                  <a:moveTo>
                    <a:pt x="834389" y="0"/>
                  </a:moveTo>
                  <a:lnTo>
                    <a:pt x="834389" y="72008"/>
                  </a:lnTo>
                  <a:lnTo>
                    <a:pt x="0" y="72008"/>
                  </a:lnTo>
                  <a:lnTo>
                    <a:pt x="0" y="216026"/>
                  </a:lnTo>
                  <a:lnTo>
                    <a:pt x="834389" y="216026"/>
                  </a:lnTo>
                  <a:lnTo>
                    <a:pt x="834389" y="288035"/>
                  </a:lnTo>
                  <a:lnTo>
                    <a:pt x="978408" y="144017"/>
                  </a:lnTo>
                  <a:lnTo>
                    <a:pt x="834389" y="0"/>
                  </a:lnTo>
                  <a:close/>
                </a:path>
              </a:pathLst>
            </a:custGeom>
            <a:solidFill>
              <a:srgbClr val="4F81BC"/>
            </a:solidFill>
          </p:spPr>
          <p:txBody>
            <a:bodyPr wrap="square" lIns="0" tIns="0" rIns="0" bIns="0" rtlCol="0"/>
            <a:lstStyle/>
            <a:p>
              <a:endParaRPr/>
            </a:p>
          </p:txBody>
        </p:sp>
        <p:sp>
          <p:nvSpPr>
            <p:cNvPr id="9" name="object 9"/>
            <p:cNvSpPr/>
            <p:nvPr/>
          </p:nvSpPr>
          <p:spPr>
            <a:xfrm>
              <a:off x="6444233" y="3646169"/>
              <a:ext cx="978535" cy="288290"/>
            </a:xfrm>
            <a:custGeom>
              <a:avLst/>
              <a:gdLst/>
              <a:ahLst/>
              <a:cxnLst/>
              <a:rect l="l" t="t" r="r" b="b"/>
              <a:pathLst>
                <a:path w="978534" h="288289">
                  <a:moveTo>
                    <a:pt x="0" y="72008"/>
                  </a:moveTo>
                  <a:lnTo>
                    <a:pt x="834389" y="72008"/>
                  </a:lnTo>
                  <a:lnTo>
                    <a:pt x="834389" y="0"/>
                  </a:lnTo>
                  <a:lnTo>
                    <a:pt x="978408" y="144017"/>
                  </a:lnTo>
                  <a:lnTo>
                    <a:pt x="834389" y="288035"/>
                  </a:lnTo>
                  <a:lnTo>
                    <a:pt x="834389" y="216026"/>
                  </a:lnTo>
                  <a:lnTo>
                    <a:pt x="0" y="216026"/>
                  </a:lnTo>
                  <a:lnTo>
                    <a:pt x="0" y="72008"/>
                  </a:lnTo>
                  <a:close/>
                </a:path>
              </a:pathLst>
            </a:custGeom>
            <a:ln w="25907">
              <a:solidFill>
                <a:srgbClr val="385D89"/>
              </a:solidFill>
            </a:ln>
          </p:spPr>
          <p:txBody>
            <a:bodyPr wrap="square" lIns="0" tIns="0" rIns="0" bIns="0" rtlCol="0"/>
            <a:lstStyle/>
            <a:p>
              <a:endParaRPr/>
            </a:p>
          </p:txBody>
        </p:sp>
      </p:grpSp>
      <p:sp>
        <p:nvSpPr>
          <p:cNvPr id="10" name="object 10"/>
          <p:cNvSpPr txBox="1"/>
          <p:nvPr/>
        </p:nvSpPr>
        <p:spPr>
          <a:xfrm>
            <a:off x="7509764" y="3484626"/>
            <a:ext cx="1453515" cy="574040"/>
          </a:xfrm>
          <a:prstGeom prst="rect">
            <a:avLst/>
          </a:prstGeom>
        </p:spPr>
        <p:txBody>
          <a:bodyPr vert="horz" wrap="square" lIns="0" tIns="12700" rIns="0" bIns="0" rtlCol="0">
            <a:spAutoFit/>
          </a:bodyPr>
          <a:lstStyle/>
          <a:p>
            <a:pPr marL="12700" marR="5080">
              <a:lnSpc>
                <a:spcPct val="100000"/>
              </a:lnSpc>
              <a:spcBef>
                <a:spcPts val="100"/>
              </a:spcBef>
            </a:pPr>
            <a:r>
              <a:rPr sz="1800" b="1" spc="-5" dirty="0">
                <a:solidFill>
                  <a:srgbClr val="006FC0"/>
                </a:solidFill>
                <a:latin typeface="Carlito"/>
                <a:cs typeface="Carlito"/>
              </a:rPr>
              <a:t>Start index</a:t>
            </a:r>
            <a:r>
              <a:rPr sz="1800" b="1" spc="-90" dirty="0">
                <a:solidFill>
                  <a:srgbClr val="006FC0"/>
                </a:solidFill>
                <a:latin typeface="Carlito"/>
                <a:cs typeface="Carlito"/>
              </a:rPr>
              <a:t> </a:t>
            </a:r>
            <a:r>
              <a:rPr sz="1800" b="1" spc="-5" dirty="0">
                <a:solidFill>
                  <a:srgbClr val="006FC0"/>
                </a:solidFill>
                <a:latin typeface="Carlito"/>
                <a:cs typeface="Carlito"/>
              </a:rPr>
              <a:t>=10  </a:t>
            </a:r>
            <a:r>
              <a:rPr sz="1800" b="1" dirty="0">
                <a:solidFill>
                  <a:srgbClr val="006FC0"/>
                </a:solidFill>
                <a:latin typeface="Carlito"/>
                <a:cs typeface="Carlito"/>
              </a:rPr>
              <a:t>End </a:t>
            </a:r>
            <a:r>
              <a:rPr sz="1800" b="1" spc="-5" dirty="0">
                <a:solidFill>
                  <a:srgbClr val="006FC0"/>
                </a:solidFill>
                <a:latin typeface="Carlito"/>
                <a:cs typeface="Carlito"/>
              </a:rPr>
              <a:t>index </a:t>
            </a:r>
            <a:r>
              <a:rPr sz="1800" b="1" dirty="0">
                <a:solidFill>
                  <a:srgbClr val="006FC0"/>
                </a:solidFill>
                <a:latin typeface="Carlito"/>
                <a:cs typeface="Carlito"/>
              </a:rPr>
              <a:t>=</a:t>
            </a:r>
            <a:r>
              <a:rPr sz="1800" b="1" spc="-100" dirty="0">
                <a:solidFill>
                  <a:srgbClr val="006FC0"/>
                </a:solidFill>
                <a:latin typeface="Carlito"/>
                <a:cs typeface="Carlito"/>
              </a:rPr>
              <a:t> </a:t>
            </a:r>
            <a:r>
              <a:rPr sz="1800" b="1" dirty="0">
                <a:solidFill>
                  <a:srgbClr val="006FC0"/>
                </a:solidFill>
                <a:latin typeface="Carlito"/>
                <a:cs typeface="Carlito"/>
              </a:rPr>
              <a:t>29</a:t>
            </a:r>
            <a:endParaRPr sz="1800">
              <a:latin typeface="Carlito"/>
              <a:cs typeface="Carli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4578985" cy="1031240"/>
          </a:xfrm>
          <a:prstGeom prst="rect">
            <a:avLst/>
          </a:prstGeom>
        </p:spPr>
        <p:txBody>
          <a:bodyPr vert="horz" wrap="square" lIns="0" tIns="104139" rIns="0" bIns="0" rtlCol="0">
            <a:spAutoFit/>
          </a:bodyPr>
          <a:lstStyle/>
          <a:p>
            <a:pPr marL="12700" marR="5080">
              <a:lnSpc>
                <a:spcPts val="3600"/>
              </a:lnSpc>
              <a:spcBef>
                <a:spcPts val="819"/>
              </a:spcBef>
            </a:pPr>
            <a:r>
              <a:rPr sz="3600" i="0" spc="-140" dirty="0">
                <a:solidFill>
                  <a:srgbClr val="000000"/>
                </a:solidFill>
                <a:latin typeface="Arial"/>
                <a:cs typeface="Arial"/>
              </a:rPr>
              <a:t>Character </a:t>
            </a:r>
            <a:r>
              <a:rPr sz="3600" i="0" spc="-145" dirty="0">
                <a:solidFill>
                  <a:srgbClr val="000000"/>
                </a:solidFill>
                <a:latin typeface="Arial"/>
                <a:cs typeface="Arial"/>
              </a:rPr>
              <a:t>Extraction </a:t>
            </a:r>
            <a:r>
              <a:rPr sz="3600" i="0" dirty="0">
                <a:solidFill>
                  <a:srgbClr val="000000"/>
                </a:solidFill>
                <a:latin typeface="Arial"/>
                <a:cs typeface="Arial"/>
              </a:rPr>
              <a:t>:  </a:t>
            </a:r>
            <a:r>
              <a:rPr sz="3600" i="0" spc="-145" dirty="0">
                <a:solidFill>
                  <a:srgbClr val="000000"/>
                </a:solidFill>
                <a:latin typeface="Arial"/>
                <a:cs typeface="Arial"/>
              </a:rPr>
              <a:t>getChars() </a:t>
            </a:r>
            <a:r>
              <a:rPr sz="3600" i="0" dirty="0">
                <a:solidFill>
                  <a:srgbClr val="000000"/>
                </a:solidFill>
                <a:latin typeface="Arial"/>
                <a:cs typeface="Arial"/>
              </a:rPr>
              <a:t>: </a:t>
            </a:r>
            <a:r>
              <a:rPr sz="3600" i="0" spc="-140" dirty="0">
                <a:solidFill>
                  <a:srgbClr val="000000"/>
                </a:solidFill>
                <a:latin typeface="Arial"/>
                <a:cs typeface="Arial"/>
              </a:rPr>
              <a:t>Example</a:t>
            </a:r>
            <a:r>
              <a:rPr sz="3600" i="0" spc="-710" dirty="0">
                <a:solidFill>
                  <a:srgbClr val="000000"/>
                </a:solidFill>
                <a:latin typeface="Arial"/>
                <a:cs typeface="Arial"/>
              </a:rPr>
              <a:t> </a:t>
            </a:r>
            <a:r>
              <a:rPr sz="3600" i="0" spc="-5" dirty="0">
                <a:solidFill>
                  <a:srgbClr val="000000"/>
                </a:solidFill>
                <a:latin typeface="Arial"/>
                <a:cs typeface="Arial"/>
              </a:rPr>
              <a:t>2</a:t>
            </a:r>
            <a:endParaRPr sz="3600">
              <a:latin typeface="Arial"/>
              <a:cs typeface="Arial"/>
            </a:endParaRPr>
          </a:p>
        </p:txBody>
      </p:sp>
      <p:sp>
        <p:nvSpPr>
          <p:cNvPr id="3" name="object 3"/>
          <p:cNvSpPr txBox="1"/>
          <p:nvPr/>
        </p:nvSpPr>
        <p:spPr>
          <a:xfrm>
            <a:off x="762406" y="1600580"/>
            <a:ext cx="4347845" cy="1397635"/>
          </a:xfrm>
          <a:prstGeom prst="rect">
            <a:avLst/>
          </a:prstGeom>
        </p:spPr>
        <p:txBody>
          <a:bodyPr vert="horz" wrap="square" lIns="0" tIns="12700" rIns="0" bIns="0" rtlCol="0">
            <a:spAutoFit/>
          </a:bodyPr>
          <a:lstStyle/>
          <a:p>
            <a:pPr marL="12700" marR="1497330">
              <a:lnSpc>
                <a:spcPct val="100000"/>
              </a:lnSpc>
              <a:spcBef>
                <a:spcPts val="100"/>
              </a:spcBef>
            </a:pPr>
            <a:r>
              <a:rPr sz="1800" b="1" spc="-5" dirty="0">
                <a:latin typeface="Carlito"/>
                <a:cs typeface="Carlito"/>
              </a:rPr>
              <a:t>//File </a:t>
            </a:r>
            <a:r>
              <a:rPr sz="1800" b="1" dirty="0">
                <a:latin typeface="Carlito"/>
                <a:cs typeface="Carlito"/>
              </a:rPr>
              <a:t>Name: </a:t>
            </a:r>
            <a:r>
              <a:rPr sz="1800" b="1" spc="-10" dirty="0">
                <a:latin typeface="Carlito"/>
                <a:cs typeface="Carlito"/>
              </a:rPr>
              <a:t>StringDemo.java  </a:t>
            </a:r>
            <a:r>
              <a:rPr sz="1800" b="1" spc="-5" dirty="0">
                <a:latin typeface="Carlito"/>
                <a:cs typeface="Carlito"/>
              </a:rPr>
              <a:t>class</a:t>
            </a:r>
            <a:r>
              <a:rPr sz="1800" b="1" spc="-25" dirty="0">
                <a:latin typeface="Carlito"/>
                <a:cs typeface="Carlito"/>
              </a:rPr>
              <a:t> </a:t>
            </a:r>
            <a:r>
              <a:rPr sz="1800" b="1" spc="-5" dirty="0">
                <a:latin typeface="Carlito"/>
                <a:cs typeface="Carlito"/>
              </a:rPr>
              <a:t>StringDemo</a:t>
            </a:r>
            <a:endParaRPr sz="1800">
              <a:latin typeface="Carlito"/>
              <a:cs typeface="Carlito"/>
            </a:endParaRPr>
          </a:p>
          <a:p>
            <a:pPr marL="12700">
              <a:lnSpc>
                <a:spcPct val="100000"/>
              </a:lnSpc>
            </a:pPr>
            <a:r>
              <a:rPr sz="1800" b="1" dirty="0">
                <a:latin typeface="Carlito"/>
                <a:cs typeface="Carlito"/>
              </a:rPr>
              <a:t>{</a:t>
            </a:r>
            <a:endParaRPr sz="1800">
              <a:latin typeface="Carlito"/>
              <a:cs typeface="Carlito"/>
            </a:endParaRPr>
          </a:p>
          <a:p>
            <a:pPr marL="927100">
              <a:lnSpc>
                <a:spcPct val="100000"/>
              </a:lnSpc>
            </a:pPr>
            <a:r>
              <a:rPr sz="1800" b="1" dirty="0">
                <a:latin typeface="Carlito"/>
                <a:cs typeface="Carlito"/>
              </a:rPr>
              <a:t>public </a:t>
            </a:r>
            <a:r>
              <a:rPr sz="1800" b="1" spc="-10" dirty="0">
                <a:latin typeface="Carlito"/>
                <a:cs typeface="Carlito"/>
              </a:rPr>
              <a:t>static </a:t>
            </a:r>
            <a:r>
              <a:rPr sz="1800" b="1" spc="-5" dirty="0">
                <a:latin typeface="Carlito"/>
                <a:cs typeface="Carlito"/>
              </a:rPr>
              <a:t>void main(String[]</a:t>
            </a:r>
            <a:r>
              <a:rPr sz="1800" b="1" spc="-100" dirty="0">
                <a:latin typeface="Carlito"/>
                <a:cs typeface="Carlito"/>
              </a:rPr>
              <a:t> </a:t>
            </a:r>
            <a:r>
              <a:rPr sz="1800" b="1" spc="-10" dirty="0">
                <a:latin typeface="Carlito"/>
                <a:cs typeface="Carlito"/>
              </a:rPr>
              <a:t>args)</a:t>
            </a:r>
            <a:endParaRPr sz="1800">
              <a:latin typeface="Carlito"/>
              <a:cs typeface="Carlito"/>
            </a:endParaRPr>
          </a:p>
          <a:p>
            <a:pPr marL="927100">
              <a:lnSpc>
                <a:spcPct val="100000"/>
              </a:lnSpc>
            </a:pPr>
            <a:r>
              <a:rPr sz="1800" b="1" dirty="0">
                <a:latin typeface="Carlito"/>
                <a:cs typeface="Carlito"/>
              </a:rPr>
              <a:t>{</a:t>
            </a:r>
            <a:endParaRPr sz="1800">
              <a:latin typeface="Carlito"/>
              <a:cs typeface="Carlito"/>
            </a:endParaRPr>
          </a:p>
        </p:txBody>
      </p:sp>
      <p:graphicFrame>
        <p:nvGraphicFramePr>
          <p:cNvPr id="4" name="object 4"/>
          <p:cNvGraphicFramePr>
            <a:graphicFrameLocks noGrp="1"/>
          </p:cNvGraphicFramePr>
          <p:nvPr/>
        </p:nvGraphicFramePr>
        <p:xfrm>
          <a:off x="2572511" y="3042411"/>
          <a:ext cx="4681853" cy="502920"/>
        </p:xfrm>
        <a:graphic>
          <a:graphicData uri="http://schemas.openxmlformats.org/drawingml/2006/table">
            <a:tbl>
              <a:tblPr firstRow="1" bandRow="1">
                <a:tableStyleId>{2D5ABB26-0587-4C30-8999-92F81FD0307C}</a:tableStyleId>
              </a:tblPr>
              <a:tblGrid>
                <a:gridCol w="770255">
                  <a:extLst>
                    <a:ext uri="{9D8B030D-6E8A-4147-A177-3AD203B41FA5}">
                      <a16:colId xmlns:a16="http://schemas.microsoft.com/office/drawing/2014/main" val="20000"/>
                    </a:ext>
                  </a:extLst>
                </a:gridCol>
                <a:gridCol w="883919">
                  <a:extLst>
                    <a:ext uri="{9D8B030D-6E8A-4147-A177-3AD203B41FA5}">
                      <a16:colId xmlns:a16="http://schemas.microsoft.com/office/drawing/2014/main" val="20001"/>
                    </a:ext>
                  </a:extLst>
                </a:gridCol>
                <a:gridCol w="3027679">
                  <a:extLst>
                    <a:ext uri="{9D8B030D-6E8A-4147-A177-3AD203B41FA5}">
                      <a16:colId xmlns:a16="http://schemas.microsoft.com/office/drawing/2014/main" val="20002"/>
                    </a:ext>
                  </a:extLst>
                </a:gridCol>
              </a:tblGrid>
              <a:tr h="251460">
                <a:tc>
                  <a:txBody>
                    <a:bodyPr/>
                    <a:lstStyle/>
                    <a:p>
                      <a:pPr marL="31750">
                        <a:lnSpc>
                          <a:spcPts val="1710"/>
                        </a:lnSpc>
                      </a:pPr>
                      <a:r>
                        <a:rPr sz="1800" b="1" dirty="0">
                          <a:solidFill>
                            <a:srgbClr val="FF0000"/>
                          </a:solidFill>
                          <a:latin typeface="Carlito"/>
                          <a:cs typeface="Carlito"/>
                        </a:rPr>
                        <a:t>String</a:t>
                      </a:r>
                      <a:endParaRPr sz="1800">
                        <a:latin typeface="Carlito"/>
                        <a:cs typeface="Carlito"/>
                      </a:endParaRPr>
                    </a:p>
                  </a:txBody>
                  <a:tcPr marL="0" marR="0" marT="0" marB="0"/>
                </a:tc>
                <a:tc>
                  <a:txBody>
                    <a:bodyPr/>
                    <a:lstStyle/>
                    <a:p>
                      <a:pPr marL="175895">
                        <a:lnSpc>
                          <a:spcPts val="1710"/>
                        </a:lnSpc>
                      </a:pPr>
                      <a:r>
                        <a:rPr sz="1800" b="1" dirty="0">
                          <a:solidFill>
                            <a:srgbClr val="FF0000"/>
                          </a:solidFill>
                          <a:latin typeface="Carlito"/>
                          <a:cs typeface="Carlito"/>
                        </a:rPr>
                        <a:t>s</a:t>
                      </a:r>
                      <a:endParaRPr sz="1800">
                        <a:latin typeface="Carlito"/>
                        <a:cs typeface="Carlito"/>
                      </a:endParaRPr>
                    </a:p>
                  </a:txBody>
                  <a:tcPr marL="0" marR="0" marT="0" marB="0"/>
                </a:tc>
                <a:tc>
                  <a:txBody>
                    <a:bodyPr/>
                    <a:lstStyle/>
                    <a:p>
                      <a:pPr marL="206375">
                        <a:lnSpc>
                          <a:spcPts val="1710"/>
                        </a:lnSpc>
                      </a:pPr>
                      <a:r>
                        <a:rPr sz="1800" b="1" dirty="0">
                          <a:solidFill>
                            <a:srgbClr val="FF0000"/>
                          </a:solidFill>
                          <a:latin typeface="Carlito"/>
                          <a:cs typeface="Carlito"/>
                        </a:rPr>
                        <a:t>= "When </a:t>
                      </a:r>
                      <a:r>
                        <a:rPr sz="1800" b="1" spc="-15" dirty="0">
                          <a:solidFill>
                            <a:srgbClr val="FF0000"/>
                          </a:solidFill>
                          <a:latin typeface="Carlito"/>
                          <a:cs typeface="Carlito"/>
                        </a:rPr>
                        <a:t>Java </a:t>
                      </a:r>
                      <a:r>
                        <a:rPr sz="1800" b="1" spc="-10" dirty="0">
                          <a:solidFill>
                            <a:srgbClr val="FF0000"/>
                          </a:solidFill>
                          <a:latin typeface="Carlito"/>
                          <a:cs typeface="Carlito"/>
                        </a:rPr>
                        <a:t>converts</a:t>
                      </a:r>
                      <a:r>
                        <a:rPr sz="1800" b="1" spc="-65" dirty="0">
                          <a:solidFill>
                            <a:srgbClr val="FF0000"/>
                          </a:solidFill>
                          <a:latin typeface="Carlito"/>
                          <a:cs typeface="Carlito"/>
                        </a:rPr>
                        <a:t> </a:t>
                      </a:r>
                      <a:r>
                        <a:rPr sz="1800" b="1" spc="-10" dirty="0">
                          <a:solidFill>
                            <a:srgbClr val="FF0000"/>
                          </a:solidFill>
                          <a:latin typeface="Carlito"/>
                          <a:cs typeface="Carlito"/>
                        </a:rPr>
                        <a:t>data";</a:t>
                      </a:r>
                      <a:endParaRPr sz="1800">
                        <a:latin typeface="Carlito"/>
                        <a:cs typeface="Carlito"/>
                      </a:endParaRPr>
                    </a:p>
                  </a:txBody>
                  <a:tcPr marL="0" marR="0" marT="0" marB="0"/>
                </a:tc>
                <a:extLst>
                  <a:ext uri="{0D108BD9-81ED-4DB2-BD59-A6C34878D82A}">
                    <a16:rowId xmlns:a16="http://schemas.microsoft.com/office/drawing/2014/main" val="10000"/>
                  </a:ext>
                </a:extLst>
              </a:tr>
              <a:tr h="251460">
                <a:tc>
                  <a:txBody>
                    <a:bodyPr/>
                    <a:lstStyle/>
                    <a:p>
                      <a:pPr marL="31750">
                        <a:lnSpc>
                          <a:spcPts val="1880"/>
                        </a:lnSpc>
                      </a:pPr>
                      <a:r>
                        <a:rPr sz="1800" b="1" dirty="0">
                          <a:solidFill>
                            <a:srgbClr val="FF0000"/>
                          </a:solidFill>
                          <a:latin typeface="Carlito"/>
                          <a:cs typeface="Carlito"/>
                        </a:rPr>
                        <a:t>char[]</a:t>
                      </a:r>
                      <a:endParaRPr sz="1800">
                        <a:latin typeface="Carlito"/>
                        <a:cs typeface="Carlito"/>
                      </a:endParaRPr>
                    </a:p>
                  </a:txBody>
                  <a:tcPr marL="0" marR="0" marT="0" marB="0"/>
                </a:tc>
                <a:tc>
                  <a:txBody>
                    <a:bodyPr/>
                    <a:lstStyle/>
                    <a:p>
                      <a:pPr marL="175895">
                        <a:lnSpc>
                          <a:spcPts val="1880"/>
                        </a:lnSpc>
                      </a:pPr>
                      <a:r>
                        <a:rPr sz="1800" b="1" spc="-10" dirty="0">
                          <a:solidFill>
                            <a:srgbClr val="FF0000"/>
                          </a:solidFill>
                          <a:latin typeface="Carlito"/>
                          <a:cs typeface="Carlito"/>
                        </a:rPr>
                        <a:t>chars</a:t>
                      </a:r>
                      <a:endParaRPr sz="1800">
                        <a:latin typeface="Carlito"/>
                        <a:cs typeface="Carlito"/>
                      </a:endParaRPr>
                    </a:p>
                  </a:txBody>
                  <a:tcPr marL="0" marR="0" marT="0" marB="0"/>
                </a:tc>
                <a:tc>
                  <a:txBody>
                    <a:bodyPr/>
                    <a:lstStyle/>
                    <a:p>
                      <a:pPr marL="206375">
                        <a:lnSpc>
                          <a:spcPts val="1880"/>
                        </a:lnSpc>
                      </a:pPr>
                      <a:r>
                        <a:rPr sz="1800" b="1" dirty="0">
                          <a:solidFill>
                            <a:srgbClr val="FF0000"/>
                          </a:solidFill>
                          <a:latin typeface="Carlito"/>
                          <a:cs typeface="Carlito"/>
                        </a:rPr>
                        <a:t>= </a:t>
                      </a:r>
                      <a:r>
                        <a:rPr sz="1800" b="1" spc="-5" dirty="0">
                          <a:solidFill>
                            <a:srgbClr val="FF0000"/>
                          </a:solidFill>
                          <a:latin typeface="Carlito"/>
                          <a:cs typeface="Carlito"/>
                        </a:rPr>
                        <a:t>new</a:t>
                      </a:r>
                      <a:r>
                        <a:rPr sz="1800" b="1" spc="-25" dirty="0">
                          <a:solidFill>
                            <a:srgbClr val="FF0000"/>
                          </a:solidFill>
                          <a:latin typeface="Carlito"/>
                          <a:cs typeface="Carlito"/>
                        </a:rPr>
                        <a:t> </a:t>
                      </a:r>
                      <a:r>
                        <a:rPr sz="1800" b="1" dirty="0">
                          <a:solidFill>
                            <a:srgbClr val="FF0000"/>
                          </a:solidFill>
                          <a:latin typeface="Carlito"/>
                          <a:cs typeface="Carlito"/>
                        </a:rPr>
                        <a:t>char[100];</a:t>
                      </a:r>
                      <a:endParaRPr sz="1800">
                        <a:latin typeface="Carlito"/>
                        <a:cs typeface="Carlito"/>
                      </a:endParaRPr>
                    </a:p>
                  </a:txBody>
                  <a:tcPr marL="0" marR="0" marT="0" marB="0"/>
                </a:tc>
                <a:extLst>
                  <a:ext uri="{0D108BD9-81ED-4DB2-BD59-A6C34878D82A}">
                    <a16:rowId xmlns:a16="http://schemas.microsoft.com/office/drawing/2014/main" val="10001"/>
                  </a:ext>
                </a:extLst>
              </a:tr>
            </a:tbl>
          </a:graphicData>
        </a:graphic>
      </p:graphicFrame>
      <p:sp>
        <p:nvSpPr>
          <p:cNvPr id="5" name="object 5"/>
          <p:cNvSpPr txBox="1"/>
          <p:nvPr/>
        </p:nvSpPr>
        <p:spPr>
          <a:xfrm>
            <a:off x="762406" y="3513277"/>
            <a:ext cx="5640705" cy="1283335"/>
          </a:xfrm>
          <a:prstGeom prst="rect">
            <a:avLst/>
          </a:prstGeom>
        </p:spPr>
        <p:txBody>
          <a:bodyPr vert="horz" wrap="square" lIns="0" tIns="12065" rIns="0" bIns="0" rtlCol="0">
            <a:spAutoFit/>
          </a:bodyPr>
          <a:lstStyle/>
          <a:p>
            <a:pPr marL="1841500">
              <a:lnSpc>
                <a:spcPct val="100000"/>
              </a:lnSpc>
              <a:spcBef>
                <a:spcPts val="95"/>
              </a:spcBef>
            </a:pPr>
            <a:r>
              <a:rPr sz="2800" b="1" spc="-10" dirty="0">
                <a:solidFill>
                  <a:srgbClr val="1F487C"/>
                </a:solidFill>
                <a:latin typeface="Carlito"/>
                <a:cs typeface="Carlito"/>
              </a:rPr>
              <a:t>s.getChars(10, </a:t>
            </a:r>
            <a:r>
              <a:rPr sz="2800" b="1" spc="-5" dirty="0">
                <a:solidFill>
                  <a:srgbClr val="1F487C"/>
                </a:solidFill>
                <a:latin typeface="Carlito"/>
                <a:cs typeface="Carlito"/>
              </a:rPr>
              <a:t>5</a:t>
            </a:r>
            <a:r>
              <a:rPr sz="2800" b="1" spc="40" dirty="0">
                <a:solidFill>
                  <a:srgbClr val="1F487C"/>
                </a:solidFill>
                <a:latin typeface="Carlito"/>
                <a:cs typeface="Carlito"/>
              </a:rPr>
              <a:t> </a:t>
            </a:r>
            <a:r>
              <a:rPr sz="2800" b="1" spc="-5" dirty="0">
                <a:solidFill>
                  <a:srgbClr val="1F487C"/>
                </a:solidFill>
                <a:latin typeface="Carlito"/>
                <a:cs typeface="Carlito"/>
              </a:rPr>
              <a:t>,chars,0);</a:t>
            </a:r>
            <a:endParaRPr sz="2800">
              <a:latin typeface="Carlito"/>
              <a:cs typeface="Carlito"/>
            </a:endParaRPr>
          </a:p>
          <a:p>
            <a:pPr marL="1841500">
              <a:lnSpc>
                <a:spcPct val="100000"/>
              </a:lnSpc>
              <a:spcBef>
                <a:spcPts val="70"/>
              </a:spcBef>
            </a:pPr>
            <a:r>
              <a:rPr sz="1800" b="1" spc="-10" dirty="0">
                <a:solidFill>
                  <a:srgbClr val="FF0000"/>
                </a:solidFill>
                <a:latin typeface="Carlito"/>
                <a:cs typeface="Carlito"/>
              </a:rPr>
              <a:t>System.out.println(chars);</a:t>
            </a:r>
            <a:endParaRPr sz="1800">
              <a:latin typeface="Carlito"/>
              <a:cs typeface="Carlito"/>
            </a:endParaRPr>
          </a:p>
          <a:p>
            <a:pPr marR="2958465" algn="r">
              <a:lnSpc>
                <a:spcPct val="100000"/>
              </a:lnSpc>
            </a:pPr>
            <a:r>
              <a:rPr sz="1800" b="1" dirty="0">
                <a:latin typeface="Carlito"/>
                <a:cs typeface="Carlito"/>
              </a:rPr>
              <a:t>}// End of</a:t>
            </a:r>
            <a:r>
              <a:rPr sz="1800" b="1" spc="-70" dirty="0">
                <a:latin typeface="Carlito"/>
                <a:cs typeface="Carlito"/>
              </a:rPr>
              <a:t> </a:t>
            </a:r>
            <a:r>
              <a:rPr sz="1800" b="1" spc="-5" dirty="0">
                <a:latin typeface="Carlito"/>
                <a:cs typeface="Carlito"/>
              </a:rPr>
              <a:t>Method</a:t>
            </a:r>
            <a:endParaRPr sz="1800">
              <a:latin typeface="Carlito"/>
              <a:cs typeface="Carlito"/>
            </a:endParaRPr>
          </a:p>
          <a:p>
            <a:pPr marR="3012440" algn="r">
              <a:lnSpc>
                <a:spcPct val="100000"/>
              </a:lnSpc>
            </a:pPr>
            <a:r>
              <a:rPr sz="1800" b="1" dirty="0">
                <a:latin typeface="Carlito"/>
                <a:cs typeface="Carlito"/>
              </a:rPr>
              <a:t>}// End of </a:t>
            </a:r>
            <a:r>
              <a:rPr sz="1800" b="1" spc="-5" dirty="0">
                <a:latin typeface="Carlito"/>
                <a:cs typeface="Carlito"/>
              </a:rPr>
              <a:t>class</a:t>
            </a:r>
            <a:r>
              <a:rPr sz="1800" b="1" spc="-50" dirty="0">
                <a:latin typeface="Carlito"/>
                <a:cs typeface="Carlito"/>
              </a:rPr>
              <a:t> </a:t>
            </a:r>
            <a:r>
              <a:rPr sz="1800" b="1" spc="-5" dirty="0">
                <a:latin typeface="Carlito"/>
                <a:cs typeface="Carlito"/>
              </a:rPr>
              <a:t>StringDemo</a:t>
            </a:r>
            <a:endParaRPr sz="1800">
              <a:latin typeface="Carlito"/>
              <a:cs typeface="Carlito"/>
            </a:endParaRPr>
          </a:p>
        </p:txBody>
      </p:sp>
      <p:sp>
        <p:nvSpPr>
          <p:cNvPr id="6" name="object 6"/>
          <p:cNvSpPr txBox="1"/>
          <p:nvPr/>
        </p:nvSpPr>
        <p:spPr>
          <a:xfrm>
            <a:off x="618540" y="5027803"/>
            <a:ext cx="7856220" cy="139700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rlito"/>
                <a:cs typeface="Carlito"/>
              </a:rPr>
              <a:t>F:\&gt;java</a:t>
            </a:r>
            <a:r>
              <a:rPr sz="1800" b="1" spc="5" dirty="0">
                <a:solidFill>
                  <a:srgbClr val="FF0000"/>
                </a:solidFill>
                <a:latin typeface="Carlito"/>
                <a:cs typeface="Carlito"/>
              </a:rPr>
              <a:t> </a:t>
            </a:r>
            <a:r>
              <a:rPr sz="1800" b="1" spc="-5" dirty="0">
                <a:solidFill>
                  <a:srgbClr val="FF0000"/>
                </a:solidFill>
                <a:latin typeface="Carlito"/>
                <a:cs typeface="Carlito"/>
              </a:rPr>
              <a:t>StringDemo</a:t>
            </a:r>
            <a:endParaRPr sz="1800">
              <a:latin typeface="Carlito"/>
              <a:cs typeface="Carlito"/>
            </a:endParaRPr>
          </a:p>
          <a:p>
            <a:pPr marL="12700" marR="5080">
              <a:lnSpc>
                <a:spcPct val="100000"/>
              </a:lnSpc>
            </a:pPr>
            <a:r>
              <a:rPr sz="1800" b="1" spc="-10" dirty="0">
                <a:solidFill>
                  <a:srgbClr val="FF0000"/>
                </a:solidFill>
                <a:latin typeface="Carlito"/>
                <a:cs typeface="Carlito"/>
              </a:rPr>
              <a:t>Exception </a:t>
            </a:r>
            <a:r>
              <a:rPr sz="1800" b="1" dirty="0">
                <a:solidFill>
                  <a:srgbClr val="FF0000"/>
                </a:solidFill>
                <a:latin typeface="Carlito"/>
                <a:cs typeface="Carlito"/>
              </a:rPr>
              <a:t>in </a:t>
            </a:r>
            <a:r>
              <a:rPr sz="1800" b="1" spc="-10" dirty="0">
                <a:solidFill>
                  <a:srgbClr val="FF0000"/>
                </a:solidFill>
                <a:latin typeface="Carlito"/>
                <a:cs typeface="Carlito"/>
              </a:rPr>
              <a:t>thread </a:t>
            </a:r>
            <a:r>
              <a:rPr sz="1800" b="1" spc="-5" dirty="0">
                <a:solidFill>
                  <a:srgbClr val="FF0000"/>
                </a:solidFill>
                <a:latin typeface="Carlito"/>
                <a:cs typeface="Carlito"/>
              </a:rPr>
              <a:t>"main" </a:t>
            </a:r>
            <a:r>
              <a:rPr sz="1800" b="1" spc="-10" dirty="0">
                <a:solidFill>
                  <a:srgbClr val="FF0000"/>
                </a:solidFill>
                <a:latin typeface="Carlito"/>
                <a:cs typeface="Carlito"/>
              </a:rPr>
              <a:t>java.lang.StringIndexOutOfBoundsException: </a:t>
            </a:r>
            <a:r>
              <a:rPr sz="1800" b="1" dirty="0">
                <a:solidFill>
                  <a:srgbClr val="FF0000"/>
                </a:solidFill>
                <a:latin typeface="Carlito"/>
                <a:cs typeface="Carlito"/>
              </a:rPr>
              <a:t>String ind  </a:t>
            </a:r>
            <a:r>
              <a:rPr sz="1800" b="1" spc="-10" dirty="0">
                <a:solidFill>
                  <a:srgbClr val="FF0000"/>
                </a:solidFill>
                <a:latin typeface="Carlito"/>
                <a:cs typeface="Carlito"/>
              </a:rPr>
              <a:t>ex </a:t>
            </a:r>
            <a:r>
              <a:rPr sz="1800" b="1" dirty="0">
                <a:solidFill>
                  <a:srgbClr val="FF0000"/>
                </a:solidFill>
                <a:latin typeface="Carlito"/>
                <a:cs typeface="Carlito"/>
              </a:rPr>
              <a:t>out of </a:t>
            </a:r>
            <a:r>
              <a:rPr sz="1800" b="1" spc="-15" dirty="0">
                <a:solidFill>
                  <a:srgbClr val="FF0000"/>
                </a:solidFill>
                <a:latin typeface="Carlito"/>
                <a:cs typeface="Carlito"/>
              </a:rPr>
              <a:t>range:</a:t>
            </a:r>
            <a:r>
              <a:rPr sz="1800" b="1" spc="-40" dirty="0">
                <a:solidFill>
                  <a:srgbClr val="FF0000"/>
                </a:solidFill>
                <a:latin typeface="Carlito"/>
                <a:cs typeface="Carlito"/>
              </a:rPr>
              <a:t> </a:t>
            </a:r>
            <a:r>
              <a:rPr sz="1800" b="1" dirty="0">
                <a:solidFill>
                  <a:srgbClr val="FF0000"/>
                </a:solidFill>
                <a:latin typeface="Carlito"/>
                <a:cs typeface="Carlito"/>
              </a:rPr>
              <a:t>-5</a:t>
            </a:r>
            <a:endParaRPr sz="1800">
              <a:latin typeface="Carlito"/>
              <a:cs typeface="Carlito"/>
            </a:endParaRPr>
          </a:p>
          <a:p>
            <a:pPr marL="431165" marR="3073400">
              <a:lnSpc>
                <a:spcPct val="100000"/>
              </a:lnSpc>
            </a:pPr>
            <a:r>
              <a:rPr sz="1800" b="1" spc="-10" dirty="0">
                <a:solidFill>
                  <a:srgbClr val="FF0000"/>
                </a:solidFill>
                <a:latin typeface="Carlito"/>
                <a:cs typeface="Carlito"/>
              </a:rPr>
              <a:t>at java.lang.String.getChars(Unknown </a:t>
            </a:r>
            <a:r>
              <a:rPr sz="1800" b="1" spc="-5" dirty="0">
                <a:solidFill>
                  <a:srgbClr val="FF0000"/>
                </a:solidFill>
                <a:latin typeface="Carlito"/>
                <a:cs typeface="Carlito"/>
              </a:rPr>
              <a:t>Source)  </a:t>
            </a:r>
            <a:r>
              <a:rPr sz="1800" b="1" spc="-10" dirty="0">
                <a:solidFill>
                  <a:srgbClr val="FF0000"/>
                </a:solidFill>
                <a:latin typeface="Carlito"/>
                <a:cs typeface="Carlito"/>
              </a:rPr>
              <a:t>at</a:t>
            </a:r>
            <a:r>
              <a:rPr sz="1800" b="1" dirty="0">
                <a:solidFill>
                  <a:srgbClr val="FF0000"/>
                </a:solidFill>
                <a:latin typeface="Carlito"/>
                <a:cs typeface="Carlito"/>
              </a:rPr>
              <a:t> </a:t>
            </a:r>
            <a:r>
              <a:rPr sz="1800" b="1" spc="-10" dirty="0">
                <a:solidFill>
                  <a:srgbClr val="FF0000"/>
                </a:solidFill>
                <a:latin typeface="Carlito"/>
                <a:cs typeface="Carlito"/>
              </a:rPr>
              <a:t>StringDemo.main(xyz.java:8)</a:t>
            </a:r>
            <a:endParaRPr sz="1800">
              <a:latin typeface="Carlito"/>
              <a:cs typeface="Carlito"/>
            </a:endParaRPr>
          </a:p>
        </p:txBody>
      </p:sp>
      <p:grpSp>
        <p:nvGrpSpPr>
          <p:cNvPr id="7" name="object 7"/>
          <p:cNvGrpSpPr/>
          <p:nvPr/>
        </p:nvGrpSpPr>
        <p:grpSpPr>
          <a:xfrm>
            <a:off x="6431279" y="3633215"/>
            <a:ext cx="1004569" cy="314325"/>
            <a:chOff x="6431279" y="3633215"/>
            <a:chExt cx="1004569" cy="314325"/>
          </a:xfrm>
        </p:grpSpPr>
        <p:sp>
          <p:nvSpPr>
            <p:cNvPr id="8" name="object 8"/>
            <p:cNvSpPr/>
            <p:nvPr/>
          </p:nvSpPr>
          <p:spPr>
            <a:xfrm>
              <a:off x="6444233" y="3646169"/>
              <a:ext cx="978535" cy="288290"/>
            </a:xfrm>
            <a:custGeom>
              <a:avLst/>
              <a:gdLst/>
              <a:ahLst/>
              <a:cxnLst/>
              <a:rect l="l" t="t" r="r" b="b"/>
              <a:pathLst>
                <a:path w="978534" h="288289">
                  <a:moveTo>
                    <a:pt x="834389" y="0"/>
                  </a:moveTo>
                  <a:lnTo>
                    <a:pt x="834389" y="72008"/>
                  </a:lnTo>
                  <a:lnTo>
                    <a:pt x="0" y="72008"/>
                  </a:lnTo>
                  <a:lnTo>
                    <a:pt x="0" y="216026"/>
                  </a:lnTo>
                  <a:lnTo>
                    <a:pt x="834389" y="216026"/>
                  </a:lnTo>
                  <a:lnTo>
                    <a:pt x="834389" y="288035"/>
                  </a:lnTo>
                  <a:lnTo>
                    <a:pt x="978408" y="144017"/>
                  </a:lnTo>
                  <a:lnTo>
                    <a:pt x="834389" y="0"/>
                  </a:lnTo>
                  <a:close/>
                </a:path>
              </a:pathLst>
            </a:custGeom>
            <a:solidFill>
              <a:srgbClr val="4F81BC"/>
            </a:solidFill>
          </p:spPr>
          <p:txBody>
            <a:bodyPr wrap="square" lIns="0" tIns="0" rIns="0" bIns="0" rtlCol="0"/>
            <a:lstStyle/>
            <a:p>
              <a:endParaRPr/>
            </a:p>
          </p:txBody>
        </p:sp>
        <p:sp>
          <p:nvSpPr>
            <p:cNvPr id="9" name="object 9"/>
            <p:cNvSpPr/>
            <p:nvPr/>
          </p:nvSpPr>
          <p:spPr>
            <a:xfrm>
              <a:off x="6444233" y="3646169"/>
              <a:ext cx="978535" cy="288290"/>
            </a:xfrm>
            <a:custGeom>
              <a:avLst/>
              <a:gdLst/>
              <a:ahLst/>
              <a:cxnLst/>
              <a:rect l="l" t="t" r="r" b="b"/>
              <a:pathLst>
                <a:path w="978534" h="288289">
                  <a:moveTo>
                    <a:pt x="0" y="72008"/>
                  </a:moveTo>
                  <a:lnTo>
                    <a:pt x="834389" y="72008"/>
                  </a:lnTo>
                  <a:lnTo>
                    <a:pt x="834389" y="0"/>
                  </a:lnTo>
                  <a:lnTo>
                    <a:pt x="978408" y="144017"/>
                  </a:lnTo>
                  <a:lnTo>
                    <a:pt x="834389" y="288035"/>
                  </a:lnTo>
                  <a:lnTo>
                    <a:pt x="834389" y="216026"/>
                  </a:lnTo>
                  <a:lnTo>
                    <a:pt x="0" y="216026"/>
                  </a:lnTo>
                  <a:lnTo>
                    <a:pt x="0" y="72008"/>
                  </a:lnTo>
                  <a:close/>
                </a:path>
              </a:pathLst>
            </a:custGeom>
            <a:ln w="25907">
              <a:solidFill>
                <a:srgbClr val="385D89"/>
              </a:solidFill>
            </a:ln>
          </p:spPr>
          <p:txBody>
            <a:bodyPr wrap="square" lIns="0" tIns="0" rIns="0" bIns="0" rtlCol="0"/>
            <a:lstStyle/>
            <a:p>
              <a:endParaRPr/>
            </a:p>
          </p:txBody>
        </p:sp>
      </p:grpSp>
      <p:sp>
        <p:nvSpPr>
          <p:cNvPr id="10" name="object 10"/>
          <p:cNvSpPr txBox="1"/>
          <p:nvPr/>
        </p:nvSpPr>
        <p:spPr>
          <a:xfrm>
            <a:off x="7551801" y="3484245"/>
            <a:ext cx="1070610" cy="574040"/>
          </a:xfrm>
          <a:prstGeom prst="rect">
            <a:avLst/>
          </a:prstGeom>
        </p:spPr>
        <p:txBody>
          <a:bodyPr vert="horz" wrap="square" lIns="0" tIns="12700" rIns="0" bIns="0" rtlCol="0">
            <a:spAutoFit/>
          </a:bodyPr>
          <a:lstStyle/>
          <a:p>
            <a:pPr marL="12700" marR="5080">
              <a:lnSpc>
                <a:spcPct val="100000"/>
              </a:lnSpc>
              <a:spcBef>
                <a:spcPts val="100"/>
              </a:spcBef>
            </a:pPr>
            <a:r>
              <a:rPr sz="1800" b="1" spc="-10" dirty="0">
                <a:solidFill>
                  <a:srgbClr val="006FC0"/>
                </a:solidFill>
                <a:latin typeface="Carlito"/>
                <a:cs typeface="Carlito"/>
              </a:rPr>
              <a:t>endIndex</a:t>
            </a:r>
            <a:r>
              <a:rPr sz="1800" b="1" spc="-95" dirty="0">
                <a:solidFill>
                  <a:srgbClr val="006FC0"/>
                </a:solidFill>
                <a:latin typeface="Carlito"/>
                <a:cs typeface="Carlito"/>
              </a:rPr>
              <a:t> </a:t>
            </a:r>
            <a:r>
              <a:rPr sz="1800" b="1" dirty="0">
                <a:solidFill>
                  <a:srgbClr val="006FC0"/>
                </a:solidFill>
                <a:latin typeface="Carlito"/>
                <a:cs typeface="Carlito"/>
              </a:rPr>
              <a:t>&lt;  </a:t>
            </a:r>
            <a:r>
              <a:rPr sz="1800" b="1" spc="-10" dirty="0">
                <a:solidFill>
                  <a:srgbClr val="006FC0"/>
                </a:solidFill>
                <a:latin typeface="Carlito"/>
                <a:cs typeface="Carlito"/>
              </a:rPr>
              <a:t>startIndex</a:t>
            </a:r>
            <a:endParaRPr sz="1800">
              <a:latin typeface="Carlito"/>
              <a:cs typeface="Carli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4578985" cy="1031240"/>
          </a:xfrm>
          <a:prstGeom prst="rect">
            <a:avLst/>
          </a:prstGeom>
        </p:spPr>
        <p:txBody>
          <a:bodyPr vert="horz" wrap="square" lIns="0" tIns="104139" rIns="0" bIns="0" rtlCol="0">
            <a:spAutoFit/>
          </a:bodyPr>
          <a:lstStyle/>
          <a:p>
            <a:pPr marL="12700" marR="5080">
              <a:lnSpc>
                <a:spcPts val="3600"/>
              </a:lnSpc>
              <a:spcBef>
                <a:spcPts val="819"/>
              </a:spcBef>
            </a:pPr>
            <a:r>
              <a:rPr sz="3600" i="0" spc="-140" dirty="0">
                <a:solidFill>
                  <a:srgbClr val="000000"/>
                </a:solidFill>
                <a:latin typeface="Arial"/>
                <a:cs typeface="Arial"/>
              </a:rPr>
              <a:t>Character </a:t>
            </a:r>
            <a:r>
              <a:rPr sz="3600" i="0" spc="-145" dirty="0">
                <a:solidFill>
                  <a:srgbClr val="000000"/>
                </a:solidFill>
                <a:latin typeface="Arial"/>
                <a:cs typeface="Arial"/>
              </a:rPr>
              <a:t>Extraction </a:t>
            </a:r>
            <a:r>
              <a:rPr sz="3600" i="0" dirty="0">
                <a:solidFill>
                  <a:srgbClr val="000000"/>
                </a:solidFill>
                <a:latin typeface="Arial"/>
                <a:cs typeface="Arial"/>
              </a:rPr>
              <a:t>:  </a:t>
            </a:r>
            <a:r>
              <a:rPr sz="3600" i="0" spc="-145" dirty="0">
                <a:solidFill>
                  <a:srgbClr val="000000"/>
                </a:solidFill>
                <a:latin typeface="Arial"/>
                <a:cs typeface="Arial"/>
              </a:rPr>
              <a:t>getChars() </a:t>
            </a:r>
            <a:r>
              <a:rPr sz="3600" i="0" dirty="0">
                <a:solidFill>
                  <a:srgbClr val="000000"/>
                </a:solidFill>
                <a:latin typeface="Arial"/>
                <a:cs typeface="Arial"/>
              </a:rPr>
              <a:t>: </a:t>
            </a:r>
            <a:r>
              <a:rPr sz="3600" i="0" spc="-140" dirty="0">
                <a:solidFill>
                  <a:srgbClr val="000000"/>
                </a:solidFill>
                <a:latin typeface="Arial"/>
                <a:cs typeface="Arial"/>
              </a:rPr>
              <a:t>Example</a:t>
            </a:r>
            <a:r>
              <a:rPr sz="3600" i="0" spc="-710" dirty="0">
                <a:solidFill>
                  <a:srgbClr val="000000"/>
                </a:solidFill>
                <a:latin typeface="Arial"/>
                <a:cs typeface="Arial"/>
              </a:rPr>
              <a:t> </a:t>
            </a:r>
            <a:r>
              <a:rPr sz="3600" i="0" spc="-5" dirty="0">
                <a:solidFill>
                  <a:srgbClr val="000000"/>
                </a:solidFill>
                <a:latin typeface="Arial"/>
                <a:cs typeface="Arial"/>
              </a:rPr>
              <a:t>3</a:t>
            </a:r>
            <a:endParaRPr sz="3600">
              <a:latin typeface="Arial"/>
              <a:cs typeface="Arial"/>
            </a:endParaRP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2700" marR="1497330">
              <a:lnSpc>
                <a:spcPct val="100000"/>
              </a:lnSpc>
              <a:spcBef>
                <a:spcPts val="100"/>
              </a:spcBef>
            </a:pPr>
            <a:r>
              <a:rPr spc="-5" dirty="0"/>
              <a:t>//File </a:t>
            </a:r>
            <a:r>
              <a:rPr dirty="0"/>
              <a:t>Name: </a:t>
            </a:r>
            <a:r>
              <a:rPr spc="-10" dirty="0"/>
              <a:t>StringDemo.java  </a:t>
            </a:r>
            <a:r>
              <a:rPr spc="-5" dirty="0"/>
              <a:t>class</a:t>
            </a:r>
            <a:r>
              <a:rPr spc="-25" dirty="0"/>
              <a:t> </a:t>
            </a:r>
            <a:r>
              <a:rPr spc="-5" dirty="0"/>
              <a:t>StringDemo</a:t>
            </a:r>
          </a:p>
          <a:p>
            <a:pPr marL="12700">
              <a:lnSpc>
                <a:spcPct val="100000"/>
              </a:lnSpc>
            </a:pPr>
            <a:r>
              <a:rPr dirty="0"/>
              <a:t>{</a:t>
            </a:r>
          </a:p>
          <a:p>
            <a:pPr marL="927100">
              <a:lnSpc>
                <a:spcPct val="100000"/>
              </a:lnSpc>
            </a:pPr>
            <a:r>
              <a:rPr dirty="0"/>
              <a:t>public </a:t>
            </a:r>
            <a:r>
              <a:rPr spc="-10" dirty="0"/>
              <a:t>static </a:t>
            </a:r>
            <a:r>
              <a:rPr spc="-5" dirty="0"/>
              <a:t>void main(String[]</a:t>
            </a:r>
            <a:r>
              <a:rPr spc="-100" dirty="0"/>
              <a:t> </a:t>
            </a:r>
            <a:r>
              <a:rPr spc="-10" dirty="0"/>
              <a:t>args)</a:t>
            </a:r>
          </a:p>
          <a:p>
            <a:pPr marL="927100">
              <a:lnSpc>
                <a:spcPct val="100000"/>
              </a:lnSpc>
            </a:pPr>
            <a:r>
              <a:rPr dirty="0"/>
              <a:t>{</a:t>
            </a:r>
          </a:p>
        </p:txBody>
      </p:sp>
      <p:sp>
        <p:nvSpPr>
          <p:cNvPr id="4" name="object 4"/>
          <p:cNvSpPr txBox="1"/>
          <p:nvPr/>
        </p:nvSpPr>
        <p:spPr>
          <a:xfrm>
            <a:off x="2591561" y="2972561"/>
            <a:ext cx="4644390" cy="299720"/>
          </a:xfrm>
          <a:prstGeom prst="rect">
            <a:avLst/>
          </a:prstGeom>
        </p:spPr>
        <p:txBody>
          <a:bodyPr vert="horz" wrap="square" lIns="0" tIns="12700" rIns="0" bIns="0" rtlCol="0">
            <a:spAutoFit/>
          </a:bodyPr>
          <a:lstStyle/>
          <a:p>
            <a:pPr marL="12700">
              <a:lnSpc>
                <a:spcPct val="100000"/>
              </a:lnSpc>
              <a:spcBef>
                <a:spcPts val="100"/>
              </a:spcBef>
              <a:tabLst>
                <a:tab pos="927100" algn="l"/>
                <a:tab pos="1841500" algn="l"/>
              </a:tabLst>
            </a:pPr>
            <a:r>
              <a:rPr sz="1800" b="1" dirty="0">
                <a:solidFill>
                  <a:srgbClr val="FF0000"/>
                </a:solidFill>
                <a:latin typeface="Carlito"/>
                <a:cs typeface="Carlito"/>
              </a:rPr>
              <a:t>String	s	= "When </a:t>
            </a:r>
            <a:r>
              <a:rPr sz="1800" b="1" spc="-15" dirty="0">
                <a:solidFill>
                  <a:srgbClr val="FF0000"/>
                </a:solidFill>
                <a:latin typeface="Carlito"/>
                <a:cs typeface="Carlito"/>
              </a:rPr>
              <a:t>Java </a:t>
            </a:r>
            <a:r>
              <a:rPr sz="1800" b="1" spc="-10" dirty="0">
                <a:solidFill>
                  <a:srgbClr val="FF0000"/>
                </a:solidFill>
                <a:latin typeface="Carlito"/>
                <a:cs typeface="Carlito"/>
              </a:rPr>
              <a:t>converts</a:t>
            </a:r>
            <a:r>
              <a:rPr sz="1800" b="1" spc="-70" dirty="0">
                <a:solidFill>
                  <a:srgbClr val="FF0000"/>
                </a:solidFill>
                <a:latin typeface="Carlito"/>
                <a:cs typeface="Carlito"/>
              </a:rPr>
              <a:t> </a:t>
            </a:r>
            <a:r>
              <a:rPr sz="1800" b="1" spc="-10" dirty="0">
                <a:solidFill>
                  <a:srgbClr val="FF0000"/>
                </a:solidFill>
                <a:latin typeface="Carlito"/>
                <a:cs typeface="Carlito"/>
              </a:rPr>
              <a:t>data";</a:t>
            </a:r>
            <a:endParaRPr sz="1800">
              <a:latin typeface="Carlito"/>
              <a:cs typeface="Carlito"/>
            </a:endParaRPr>
          </a:p>
        </p:txBody>
      </p:sp>
      <p:sp>
        <p:nvSpPr>
          <p:cNvPr id="5" name="object 5"/>
          <p:cNvSpPr txBox="1"/>
          <p:nvPr/>
        </p:nvSpPr>
        <p:spPr>
          <a:xfrm>
            <a:off x="1677161" y="3239261"/>
            <a:ext cx="5071110" cy="1435735"/>
          </a:xfrm>
          <a:prstGeom prst="rect">
            <a:avLst/>
          </a:prstGeom>
        </p:spPr>
        <p:txBody>
          <a:bodyPr vert="horz" wrap="square" lIns="0" tIns="12065" rIns="0" bIns="0" rtlCol="0">
            <a:spAutoFit/>
          </a:bodyPr>
          <a:lstStyle/>
          <a:p>
            <a:pPr marL="927100" marR="5080">
              <a:lnSpc>
                <a:spcPct val="100000"/>
              </a:lnSpc>
              <a:spcBef>
                <a:spcPts val="95"/>
              </a:spcBef>
              <a:tabLst>
                <a:tab pos="2755900" algn="l"/>
              </a:tabLst>
            </a:pPr>
            <a:r>
              <a:rPr sz="2800" b="1" spc="-5" dirty="0">
                <a:solidFill>
                  <a:srgbClr val="006FC0"/>
                </a:solidFill>
                <a:latin typeface="Carlito"/>
                <a:cs typeface="Carlito"/>
              </a:rPr>
              <a:t>char[]</a:t>
            </a:r>
            <a:r>
              <a:rPr sz="2800" b="1" spc="-290" dirty="0">
                <a:solidFill>
                  <a:srgbClr val="006FC0"/>
                </a:solidFill>
                <a:latin typeface="Carlito"/>
                <a:cs typeface="Carlito"/>
              </a:rPr>
              <a:t> </a:t>
            </a:r>
            <a:r>
              <a:rPr sz="2800" b="1" spc="-15" dirty="0">
                <a:solidFill>
                  <a:srgbClr val="006FC0"/>
                </a:solidFill>
                <a:latin typeface="Carlito"/>
                <a:cs typeface="Carlito"/>
              </a:rPr>
              <a:t>chars	</a:t>
            </a:r>
            <a:r>
              <a:rPr sz="2800" b="1" spc="-5" dirty="0">
                <a:solidFill>
                  <a:srgbClr val="006FC0"/>
                </a:solidFill>
                <a:latin typeface="Carlito"/>
                <a:cs typeface="Carlito"/>
              </a:rPr>
              <a:t>= </a:t>
            </a:r>
            <a:r>
              <a:rPr sz="2800" b="1" spc="-10" dirty="0">
                <a:solidFill>
                  <a:srgbClr val="006FC0"/>
                </a:solidFill>
                <a:latin typeface="Carlito"/>
                <a:cs typeface="Carlito"/>
              </a:rPr>
              <a:t>new</a:t>
            </a:r>
            <a:r>
              <a:rPr sz="2800" b="1" spc="-55" dirty="0">
                <a:solidFill>
                  <a:srgbClr val="006FC0"/>
                </a:solidFill>
                <a:latin typeface="Carlito"/>
                <a:cs typeface="Carlito"/>
              </a:rPr>
              <a:t> </a:t>
            </a:r>
            <a:r>
              <a:rPr sz="2800" b="1" spc="-5" dirty="0">
                <a:solidFill>
                  <a:srgbClr val="006FC0"/>
                </a:solidFill>
                <a:latin typeface="Carlito"/>
                <a:cs typeface="Carlito"/>
              </a:rPr>
              <a:t>char[20];  </a:t>
            </a:r>
            <a:r>
              <a:rPr sz="2800" b="1" spc="-10" dirty="0">
                <a:solidFill>
                  <a:srgbClr val="1F487C"/>
                </a:solidFill>
                <a:latin typeface="Carlito"/>
                <a:cs typeface="Carlito"/>
              </a:rPr>
              <a:t>s.getChars(4, </a:t>
            </a:r>
            <a:r>
              <a:rPr sz="2800" b="1" spc="-5" dirty="0">
                <a:solidFill>
                  <a:srgbClr val="1F487C"/>
                </a:solidFill>
                <a:latin typeface="Carlito"/>
                <a:cs typeface="Carlito"/>
              </a:rPr>
              <a:t>14</a:t>
            </a:r>
            <a:r>
              <a:rPr sz="2800" b="1" spc="50" dirty="0">
                <a:solidFill>
                  <a:srgbClr val="1F487C"/>
                </a:solidFill>
                <a:latin typeface="Carlito"/>
                <a:cs typeface="Carlito"/>
              </a:rPr>
              <a:t> </a:t>
            </a:r>
            <a:r>
              <a:rPr sz="2800" b="1" spc="-5" dirty="0">
                <a:solidFill>
                  <a:srgbClr val="1F487C"/>
                </a:solidFill>
                <a:latin typeface="Carlito"/>
                <a:cs typeface="Carlito"/>
              </a:rPr>
              <a:t>,chars,14);</a:t>
            </a:r>
            <a:endParaRPr sz="2800">
              <a:latin typeface="Carlito"/>
              <a:cs typeface="Carlito"/>
            </a:endParaRPr>
          </a:p>
          <a:p>
            <a:pPr marL="927100">
              <a:lnSpc>
                <a:spcPct val="100000"/>
              </a:lnSpc>
              <a:spcBef>
                <a:spcPts val="65"/>
              </a:spcBef>
            </a:pPr>
            <a:r>
              <a:rPr sz="1800" b="1" spc="-10" dirty="0">
                <a:solidFill>
                  <a:srgbClr val="FF0000"/>
                </a:solidFill>
                <a:latin typeface="Carlito"/>
                <a:cs typeface="Carlito"/>
              </a:rPr>
              <a:t>System.out.println(chars);</a:t>
            </a:r>
            <a:endParaRPr sz="1800">
              <a:latin typeface="Carlito"/>
              <a:cs typeface="Carlito"/>
            </a:endParaRPr>
          </a:p>
          <a:p>
            <a:pPr marL="12700">
              <a:lnSpc>
                <a:spcPct val="100000"/>
              </a:lnSpc>
            </a:pPr>
            <a:r>
              <a:rPr sz="1800" b="1" dirty="0">
                <a:latin typeface="Carlito"/>
                <a:cs typeface="Carlito"/>
              </a:rPr>
              <a:t>}// End of </a:t>
            </a:r>
            <a:r>
              <a:rPr sz="1800" b="1" spc="-5" dirty="0">
                <a:latin typeface="Carlito"/>
                <a:cs typeface="Carlito"/>
              </a:rPr>
              <a:t>Method</a:t>
            </a:r>
            <a:endParaRPr sz="1800">
              <a:latin typeface="Carlito"/>
              <a:cs typeface="Carlito"/>
            </a:endParaRPr>
          </a:p>
        </p:txBody>
      </p:sp>
      <p:sp>
        <p:nvSpPr>
          <p:cNvPr id="6" name="object 6"/>
          <p:cNvSpPr txBox="1"/>
          <p:nvPr/>
        </p:nvSpPr>
        <p:spPr>
          <a:xfrm>
            <a:off x="762406" y="4649216"/>
            <a:ext cx="263334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rlito"/>
                <a:cs typeface="Carlito"/>
              </a:rPr>
              <a:t>}// End of </a:t>
            </a:r>
            <a:r>
              <a:rPr sz="1800" b="1" spc="-5" dirty="0">
                <a:latin typeface="Carlito"/>
                <a:cs typeface="Carlito"/>
              </a:rPr>
              <a:t>class</a:t>
            </a:r>
            <a:r>
              <a:rPr sz="1800" b="1" spc="-50" dirty="0">
                <a:latin typeface="Carlito"/>
                <a:cs typeface="Carlito"/>
              </a:rPr>
              <a:t> </a:t>
            </a:r>
            <a:r>
              <a:rPr sz="1800" b="1" spc="-5" dirty="0">
                <a:latin typeface="Carlito"/>
                <a:cs typeface="Carlito"/>
              </a:rPr>
              <a:t>StringDemo</a:t>
            </a:r>
            <a:endParaRPr sz="1800">
              <a:latin typeface="Carlito"/>
              <a:cs typeface="Carlito"/>
            </a:endParaRPr>
          </a:p>
        </p:txBody>
      </p:sp>
      <p:sp>
        <p:nvSpPr>
          <p:cNvPr id="7" name="object 7"/>
          <p:cNvSpPr txBox="1"/>
          <p:nvPr/>
        </p:nvSpPr>
        <p:spPr>
          <a:xfrm>
            <a:off x="5299709" y="1720722"/>
            <a:ext cx="3155950" cy="574675"/>
          </a:xfrm>
          <a:prstGeom prst="rect">
            <a:avLst/>
          </a:prstGeom>
        </p:spPr>
        <p:txBody>
          <a:bodyPr vert="horz" wrap="square" lIns="0" tIns="12700" rIns="0" bIns="0" rtlCol="0">
            <a:spAutoFit/>
          </a:bodyPr>
          <a:lstStyle/>
          <a:p>
            <a:pPr marL="12700" marR="5080">
              <a:lnSpc>
                <a:spcPct val="100000"/>
              </a:lnSpc>
              <a:spcBef>
                <a:spcPts val="100"/>
              </a:spcBef>
            </a:pPr>
            <a:r>
              <a:rPr sz="1800" b="1" spc="-15" dirty="0">
                <a:solidFill>
                  <a:srgbClr val="FF0000"/>
                </a:solidFill>
                <a:latin typeface="Carlito"/>
                <a:cs typeface="Carlito"/>
              </a:rPr>
              <a:t>Characters </a:t>
            </a:r>
            <a:r>
              <a:rPr sz="1800" b="1" spc="-5" dirty="0">
                <a:solidFill>
                  <a:srgbClr val="FF0000"/>
                </a:solidFill>
                <a:latin typeface="Carlito"/>
                <a:cs typeface="Carlito"/>
              </a:rPr>
              <a:t>will </a:t>
            </a:r>
            <a:r>
              <a:rPr sz="1800" b="1" dirty="0">
                <a:solidFill>
                  <a:srgbClr val="FF0000"/>
                </a:solidFill>
                <a:latin typeface="Carlito"/>
                <a:cs typeface="Carlito"/>
              </a:rPr>
              <a:t>be </a:t>
            </a:r>
            <a:r>
              <a:rPr sz="1800" b="1" spc="-15" dirty="0">
                <a:solidFill>
                  <a:srgbClr val="FF0000"/>
                </a:solidFill>
                <a:latin typeface="Carlito"/>
                <a:cs typeface="Carlito"/>
              </a:rPr>
              <a:t>extracted </a:t>
            </a:r>
            <a:r>
              <a:rPr sz="1800" b="1" spc="-10" dirty="0">
                <a:solidFill>
                  <a:srgbClr val="FF0000"/>
                </a:solidFill>
                <a:latin typeface="Carlito"/>
                <a:cs typeface="Carlito"/>
              </a:rPr>
              <a:t>from  </a:t>
            </a:r>
            <a:r>
              <a:rPr sz="1800" b="1" spc="-5" dirty="0">
                <a:solidFill>
                  <a:srgbClr val="FF0000"/>
                </a:solidFill>
                <a:latin typeface="Carlito"/>
                <a:cs typeface="Carlito"/>
              </a:rPr>
              <a:t>index </a:t>
            </a:r>
            <a:r>
              <a:rPr sz="1800" b="1" dirty="0">
                <a:solidFill>
                  <a:srgbClr val="FF0000"/>
                </a:solidFill>
                <a:latin typeface="Carlito"/>
                <a:cs typeface="Carlito"/>
              </a:rPr>
              <a:t>4 </a:t>
            </a:r>
            <a:r>
              <a:rPr sz="1800" b="1" spc="-10" dirty="0">
                <a:solidFill>
                  <a:srgbClr val="FF0000"/>
                </a:solidFill>
                <a:latin typeface="Carlito"/>
                <a:cs typeface="Carlito"/>
              </a:rPr>
              <a:t>to </a:t>
            </a:r>
            <a:r>
              <a:rPr sz="1800" b="1" dirty="0">
                <a:solidFill>
                  <a:srgbClr val="FF0000"/>
                </a:solidFill>
                <a:latin typeface="Carlito"/>
                <a:cs typeface="Carlito"/>
              </a:rPr>
              <a:t>13 (10</a:t>
            </a:r>
            <a:r>
              <a:rPr sz="1800" b="1" spc="-50" dirty="0">
                <a:solidFill>
                  <a:srgbClr val="FF0000"/>
                </a:solidFill>
                <a:latin typeface="Carlito"/>
                <a:cs typeface="Carlito"/>
              </a:rPr>
              <a:t> </a:t>
            </a:r>
            <a:r>
              <a:rPr sz="1800" b="1" spc="-10" dirty="0">
                <a:solidFill>
                  <a:srgbClr val="FF0000"/>
                </a:solidFill>
                <a:latin typeface="Carlito"/>
                <a:cs typeface="Carlito"/>
              </a:rPr>
              <a:t>characters)</a:t>
            </a:r>
            <a:endParaRPr sz="1800">
              <a:latin typeface="Carlito"/>
              <a:cs typeface="Carlito"/>
            </a:endParaRPr>
          </a:p>
        </p:txBody>
      </p:sp>
      <p:grpSp>
        <p:nvGrpSpPr>
          <p:cNvPr id="8" name="object 8"/>
          <p:cNvGrpSpPr/>
          <p:nvPr/>
        </p:nvGrpSpPr>
        <p:grpSpPr>
          <a:xfrm>
            <a:off x="4200144" y="2349245"/>
            <a:ext cx="1957705" cy="1598295"/>
            <a:chOff x="4200144" y="2349245"/>
            <a:chExt cx="1957705" cy="1598295"/>
          </a:xfrm>
        </p:grpSpPr>
        <p:sp>
          <p:nvSpPr>
            <p:cNvPr id="9" name="object 9"/>
            <p:cNvSpPr/>
            <p:nvPr/>
          </p:nvSpPr>
          <p:spPr>
            <a:xfrm>
              <a:off x="4213098" y="3429761"/>
              <a:ext cx="841375" cy="504825"/>
            </a:xfrm>
            <a:custGeom>
              <a:avLst/>
              <a:gdLst/>
              <a:ahLst/>
              <a:cxnLst/>
              <a:rect l="l" t="t" r="r" b="b"/>
              <a:pathLst>
                <a:path w="841375" h="504825">
                  <a:moveTo>
                    <a:pt x="0" y="504444"/>
                  </a:moveTo>
                  <a:lnTo>
                    <a:pt x="4270" y="453606"/>
                  </a:lnTo>
                  <a:lnTo>
                    <a:pt x="16519" y="406259"/>
                  </a:lnTo>
                  <a:lnTo>
                    <a:pt x="35904" y="363415"/>
                  </a:lnTo>
                  <a:lnTo>
                    <a:pt x="61579" y="326088"/>
                  </a:lnTo>
                  <a:lnTo>
                    <a:pt x="92701" y="295292"/>
                  </a:lnTo>
                  <a:lnTo>
                    <a:pt x="128426" y="272039"/>
                  </a:lnTo>
                  <a:lnTo>
                    <a:pt x="167911" y="257345"/>
                  </a:lnTo>
                  <a:lnTo>
                    <a:pt x="210312" y="252221"/>
                  </a:lnTo>
                  <a:lnTo>
                    <a:pt x="252712" y="247098"/>
                  </a:lnTo>
                  <a:lnTo>
                    <a:pt x="292197" y="232404"/>
                  </a:lnTo>
                  <a:lnTo>
                    <a:pt x="327922" y="209151"/>
                  </a:lnTo>
                  <a:lnTo>
                    <a:pt x="359044" y="178355"/>
                  </a:lnTo>
                  <a:lnTo>
                    <a:pt x="384719" y="141028"/>
                  </a:lnTo>
                  <a:lnTo>
                    <a:pt x="404104" y="98184"/>
                  </a:lnTo>
                  <a:lnTo>
                    <a:pt x="416353" y="50837"/>
                  </a:lnTo>
                  <a:lnTo>
                    <a:pt x="420624" y="0"/>
                  </a:lnTo>
                  <a:lnTo>
                    <a:pt x="424894" y="50837"/>
                  </a:lnTo>
                  <a:lnTo>
                    <a:pt x="437143" y="98184"/>
                  </a:lnTo>
                  <a:lnTo>
                    <a:pt x="456528" y="141028"/>
                  </a:lnTo>
                  <a:lnTo>
                    <a:pt x="482203" y="178355"/>
                  </a:lnTo>
                  <a:lnTo>
                    <a:pt x="513325" y="209151"/>
                  </a:lnTo>
                  <a:lnTo>
                    <a:pt x="549050" y="232404"/>
                  </a:lnTo>
                  <a:lnTo>
                    <a:pt x="588535" y="247098"/>
                  </a:lnTo>
                  <a:lnTo>
                    <a:pt x="630936" y="252221"/>
                  </a:lnTo>
                  <a:lnTo>
                    <a:pt x="673336" y="257345"/>
                  </a:lnTo>
                  <a:lnTo>
                    <a:pt x="712821" y="272039"/>
                  </a:lnTo>
                  <a:lnTo>
                    <a:pt x="748546" y="295292"/>
                  </a:lnTo>
                  <a:lnTo>
                    <a:pt x="779668" y="326088"/>
                  </a:lnTo>
                  <a:lnTo>
                    <a:pt x="805343" y="363415"/>
                  </a:lnTo>
                  <a:lnTo>
                    <a:pt x="824728" y="406259"/>
                  </a:lnTo>
                  <a:lnTo>
                    <a:pt x="836977" y="453606"/>
                  </a:lnTo>
                  <a:lnTo>
                    <a:pt x="841248" y="504444"/>
                  </a:lnTo>
                </a:path>
              </a:pathLst>
            </a:custGeom>
            <a:ln w="25908">
              <a:solidFill>
                <a:srgbClr val="FF0000"/>
              </a:solidFill>
              <a:prstDash val="sysDash"/>
            </a:ln>
          </p:spPr>
          <p:txBody>
            <a:bodyPr wrap="square" lIns="0" tIns="0" rIns="0" bIns="0" rtlCol="0"/>
            <a:lstStyle/>
            <a:p>
              <a:endParaRPr/>
            </a:p>
          </p:txBody>
        </p:sp>
        <p:sp>
          <p:nvSpPr>
            <p:cNvPr id="10" name="object 10"/>
            <p:cNvSpPr/>
            <p:nvPr/>
          </p:nvSpPr>
          <p:spPr>
            <a:xfrm>
              <a:off x="4626229" y="2349245"/>
              <a:ext cx="1531620" cy="1090930"/>
            </a:xfrm>
            <a:custGeom>
              <a:avLst/>
              <a:gdLst/>
              <a:ahLst/>
              <a:cxnLst/>
              <a:rect l="l" t="t" r="r" b="b"/>
              <a:pathLst>
                <a:path w="1531620" h="1090929">
                  <a:moveTo>
                    <a:pt x="63373" y="1024636"/>
                  </a:moveTo>
                  <a:lnTo>
                    <a:pt x="0" y="1069593"/>
                  </a:lnTo>
                  <a:lnTo>
                    <a:pt x="14986" y="1090676"/>
                  </a:lnTo>
                  <a:lnTo>
                    <a:pt x="78359" y="1045717"/>
                  </a:lnTo>
                  <a:lnTo>
                    <a:pt x="63373" y="1024636"/>
                  </a:lnTo>
                  <a:close/>
                </a:path>
                <a:path w="1531620" h="1090929">
                  <a:moveTo>
                    <a:pt x="147955" y="964691"/>
                  </a:moveTo>
                  <a:lnTo>
                    <a:pt x="84582" y="1009650"/>
                  </a:lnTo>
                  <a:lnTo>
                    <a:pt x="99568" y="1030731"/>
                  </a:lnTo>
                  <a:lnTo>
                    <a:pt x="162941" y="985774"/>
                  </a:lnTo>
                  <a:lnTo>
                    <a:pt x="147955" y="964691"/>
                  </a:lnTo>
                  <a:close/>
                </a:path>
                <a:path w="1531620" h="1090929">
                  <a:moveTo>
                    <a:pt x="232537" y="904748"/>
                  </a:moveTo>
                  <a:lnTo>
                    <a:pt x="169037" y="949705"/>
                  </a:lnTo>
                  <a:lnTo>
                    <a:pt x="184023" y="970788"/>
                  </a:lnTo>
                  <a:lnTo>
                    <a:pt x="247523" y="925829"/>
                  </a:lnTo>
                  <a:lnTo>
                    <a:pt x="232537" y="904748"/>
                  </a:lnTo>
                  <a:close/>
                </a:path>
                <a:path w="1531620" h="1090929">
                  <a:moveTo>
                    <a:pt x="316992" y="844803"/>
                  </a:moveTo>
                  <a:lnTo>
                    <a:pt x="253619" y="889762"/>
                  </a:lnTo>
                  <a:lnTo>
                    <a:pt x="268605" y="910843"/>
                  </a:lnTo>
                  <a:lnTo>
                    <a:pt x="331978" y="866013"/>
                  </a:lnTo>
                  <a:lnTo>
                    <a:pt x="316992" y="844803"/>
                  </a:lnTo>
                  <a:close/>
                </a:path>
                <a:path w="1531620" h="1090929">
                  <a:moveTo>
                    <a:pt x="401574" y="784859"/>
                  </a:moveTo>
                  <a:lnTo>
                    <a:pt x="338200" y="829817"/>
                  </a:lnTo>
                  <a:lnTo>
                    <a:pt x="353187" y="851026"/>
                  </a:lnTo>
                  <a:lnTo>
                    <a:pt x="416560" y="806068"/>
                  </a:lnTo>
                  <a:lnTo>
                    <a:pt x="401574" y="784859"/>
                  </a:lnTo>
                  <a:close/>
                </a:path>
                <a:path w="1531620" h="1090929">
                  <a:moveTo>
                    <a:pt x="486156" y="724915"/>
                  </a:moveTo>
                  <a:lnTo>
                    <a:pt x="422783" y="769874"/>
                  </a:lnTo>
                  <a:lnTo>
                    <a:pt x="437769" y="791082"/>
                  </a:lnTo>
                  <a:lnTo>
                    <a:pt x="501142" y="746125"/>
                  </a:lnTo>
                  <a:lnTo>
                    <a:pt x="486156" y="724915"/>
                  </a:lnTo>
                  <a:close/>
                </a:path>
                <a:path w="1531620" h="1090929">
                  <a:moveTo>
                    <a:pt x="570738" y="664971"/>
                  </a:moveTo>
                  <a:lnTo>
                    <a:pt x="507238" y="709929"/>
                  </a:lnTo>
                  <a:lnTo>
                    <a:pt x="522224" y="731138"/>
                  </a:lnTo>
                  <a:lnTo>
                    <a:pt x="585724" y="686180"/>
                  </a:lnTo>
                  <a:lnTo>
                    <a:pt x="570738" y="664971"/>
                  </a:lnTo>
                  <a:close/>
                </a:path>
                <a:path w="1531620" h="1090929">
                  <a:moveTo>
                    <a:pt x="655193" y="605154"/>
                  </a:moveTo>
                  <a:lnTo>
                    <a:pt x="591820" y="649986"/>
                  </a:lnTo>
                  <a:lnTo>
                    <a:pt x="606806" y="671194"/>
                  </a:lnTo>
                  <a:lnTo>
                    <a:pt x="670179" y="626237"/>
                  </a:lnTo>
                  <a:lnTo>
                    <a:pt x="655193" y="605154"/>
                  </a:lnTo>
                  <a:close/>
                </a:path>
                <a:path w="1531620" h="1090929">
                  <a:moveTo>
                    <a:pt x="739775" y="545211"/>
                  </a:moveTo>
                  <a:lnTo>
                    <a:pt x="676401" y="590168"/>
                  </a:lnTo>
                  <a:lnTo>
                    <a:pt x="691388" y="611251"/>
                  </a:lnTo>
                  <a:lnTo>
                    <a:pt x="754761" y="566292"/>
                  </a:lnTo>
                  <a:lnTo>
                    <a:pt x="739775" y="545211"/>
                  </a:lnTo>
                  <a:close/>
                </a:path>
                <a:path w="1531620" h="1090929">
                  <a:moveTo>
                    <a:pt x="824357" y="485266"/>
                  </a:moveTo>
                  <a:lnTo>
                    <a:pt x="760857" y="530225"/>
                  </a:lnTo>
                  <a:lnTo>
                    <a:pt x="775843" y="551306"/>
                  </a:lnTo>
                  <a:lnTo>
                    <a:pt x="839343" y="506349"/>
                  </a:lnTo>
                  <a:lnTo>
                    <a:pt x="824357" y="485266"/>
                  </a:lnTo>
                  <a:close/>
                </a:path>
                <a:path w="1531620" h="1090929">
                  <a:moveTo>
                    <a:pt x="908812" y="425323"/>
                  </a:moveTo>
                  <a:lnTo>
                    <a:pt x="845438" y="470280"/>
                  </a:lnTo>
                  <a:lnTo>
                    <a:pt x="860425" y="491363"/>
                  </a:lnTo>
                  <a:lnTo>
                    <a:pt x="923798" y="446404"/>
                  </a:lnTo>
                  <a:lnTo>
                    <a:pt x="908812" y="425323"/>
                  </a:lnTo>
                  <a:close/>
                </a:path>
                <a:path w="1531620" h="1090929">
                  <a:moveTo>
                    <a:pt x="993394" y="365378"/>
                  </a:moveTo>
                  <a:lnTo>
                    <a:pt x="930021" y="410337"/>
                  </a:lnTo>
                  <a:lnTo>
                    <a:pt x="945007" y="431418"/>
                  </a:lnTo>
                  <a:lnTo>
                    <a:pt x="1008380" y="386461"/>
                  </a:lnTo>
                  <a:lnTo>
                    <a:pt x="993394" y="365378"/>
                  </a:lnTo>
                  <a:close/>
                </a:path>
                <a:path w="1531620" h="1090929">
                  <a:moveTo>
                    <a:pt x="1077976" y="305434"/>
                  </a:moveTo>
                  <a:lnTo>
                    <a:pt x="1014603" y="350392"/>
                  </a:lnTo>
                  <a:lnTo>
                    <a:pt x="1029588" y="371475"/>
                  </a:lnTo>
                  <a:lnTo>
                    <a:pt x="1092962" y="326643"/>
                  </a:lnTo>
                  <a:lnTo>
                    <a:pt x="1077976" y="305434"/>
                  </a:lnTo>
                  <a:close/>
                </a:path>
                <a:path w="1531620" h="1090929">
                  <a:moveTo>
                    <a:pt x="1162558" y="245490"/>
                  </a:moveTo>
                  <a:lnTo>
                    <a:pt x="1099058" y="290449"/>
                  </a:lnTo>
                  <a:lnTo>
                    <a:pt x="1114044" y="311657"/>
                  </a:lnTo>
                  <a:lnTo>
                    <a:pt x="1177544" y="266700"/>
                  </a:lnTo>
                  <a:lnTo>
                    <a:pt x="1162558" y="245490"/>
                  </a:lnTo>
                  <a:close/>
                </a:path>
                <a:path w="1531620" h="1090929">
                  <a:moveTo>
                    <a:pt x="1247013" y="185546"/>
                  </a:moveTo>
                  <a:lnTo>
                    <a:pt x="1183640" y="230504"/>
                  </a:lnTo>
                  <a:lnTo>
                    <a:pt x="1198626" y="251713"/>
                  </a:lnTo>
                  <a:lnTo>
                    <a:pt x="1261999" y="206755"/>
                  </a:lnTo>
                  <a:lnTo>
                    <a:pt x="1247013" y="185546"/>
                  </a:lnTo>
                  <a:close/>
                </a:path>
                <a:path w="1531620" h="1090929">
                  <a:moveTo>
                    <a:pt x="1331595" y="125602"/>
                  </a:moveTo>
                  <a:lnTo>
                    <a:pt x="1268222" y="170561"/>
                  </a:lnTo>
                  <a:lnTo>
                    <a:pt x="1283208" y="191769"/>
                  </a:lnTo>
                  <a:lnTo>
                    <a:pt x="1346581" y="146812"/>
                  </a:lnTo>
                  <a:lnTo>
                    <a:pt x="1331595" y="125602"/>
                  </a:lnTo>
                  <a:close/>
                </a:path>
                <a:path w="1531620" h="1090929">
                  <a:moveTo>
                    <a:pt x="1416177" y="65786"/>
                  </a:moveTo>
                  <a:lnTo>
                    <a:pt x="1352677" y="110616"/>
                  </a:lnTo>
                  <a:lnTo>
                    <a:pt x="1367663" y="131825"/>
                  </a:lnTo>
                  <a:lnTo>
                    <a:pt x="1431163" y="86867"/>
                  </a:lnTo>
                  <a:lnTo>
                    <a:pt x="1416177" y="65786"/>
                  </a:lnTo>
                  <a:close/>
                </a:path>
                <a:path w="1531620" h="1090929">
                  <a:moveTo>
                    <a:pt x="1516885" y="26924"/>
                  </a:moveTo>
                  <a:lnTo>
                    <a:pt x="1470914" y="26924"/>
                  </a:lnTo>
                  <a:lnTo>
                    <a:pt x="1485900" y="48005"/>
                  </a:lnTo>
                  <a:lnTo>
                    <a:pt x="1475332" y="55503"/>
                  </a:lnTo>
                  <a:lnTo>
                    <a:pt x="1490345" y="76707"/>
                  </a:lnTo>
                  <a:lnTo>
                    <a:pt x="1516885" y="26924"/>
                  </a:lnTo>
                  <a:close/>
                </a:path>
                <a:path w="1531620" h="1090929">
                  <a:moveTo>
                    <a:pt x="1460385" y="34392"/>
                  </a:moveTo>
                  <a:lnTo>
                    <a:pt x="1437259" y="50800"/>
                  </a:lnTo>
                  <a:lnTo>
                    <a:pt x="1452245" y="71881"/>
                  </a:lnTo>
                  <a:lnTo>
                    <a:pt x="1475332" y="55503"/>
                  </a:lnTo>
                  <a:lnTo>
                    <a:pt x="1460385" y="34392"/>
                  </a:lnTo>
                  <a:close/>
                </a:path>
                <a:path w="1531620" h="1090929">
                  <a:moveTo>
                    <a:pt x="1470914" y="26924"/>
                  </a:moveTo>
                  <a:lnTo>
                    <a:pt x="1460385" y="34392"/>
                  </a:lnTo>
                  <a:lnTo>
                    <a:pt x="1475332" y="55503"/>
                  </a:lnTo>
                  <a:lnTo>
                    <a:pt x="1485900" y="48005"/>
                  </a:lnTo>
                  <a:lnTo>
                    <a:pt x="1470914" y="26924"/>
                  </a:lnTo>
                  <a:close/>
                </a:path>
                <a:path w="1531620" h="1090929">
                  <a:moveTo>
                    <a:pt x="1531239" y="0"/>
                  </a:moveTo>
                  <a:lnTo>
                    <a:pt x="1445387" y="13207"/>
                  </a:lnTo>
                  <a:lnTo>
                    <a:pt x="1460385" y="34392"/>
                  </a:lnTo>
                  <a:lnTo>
                    <a:pt x="1470914" y="26924"/>
                  </a:lnTo>
                  <a:lnTo>
                    <a:pt x="1516885" y="26924"/>
                  </a:lnTo>
                  <a:lnTo>
                    <a:pt x="1531239" y="0"/>
                  </a:lnTo>
                  <a:close/>
                </a:path>
              </a:pathLst>
            </a:custGeom>
            <a:solidFill>
              <a:srgbClr val="FF0000"/>
            </a:solidFill>
          </p:spPr>
          <p:txBody>
            <a:bodyPr wrap="square" lIns="0" tIns="0" rIns="0" bIns="0" rtlCol="0"/>
            <a:lstStyle/>
            <a:p>
              <a:endParaRPr/>
            </a:p>
          </p:txBody>
        </p:sp>
      </p:grpSp>
      <p:sp>
        <p:nvSpPr>
          <p:cNvPr id="11" name="object 11"/>
          <p:cNvSpPr/>
          <p:nvPr/>
        </p:nvSpPr>
        <p:spPr>
          <a:xfrm>
            <a:off x="6216522" y="4074286"/>
            <a:ext cx="114300" cy="579755"/>
          </a:xfrm>
          <a:custGeom>
            <a:avLst/>
            <a:gdLst/>
            <a:ahLst/>
            <a:cxnLst/>
            <a:rect l="l" t="t" r="r" b="b"/>
            <a:pathLst>
              <a:path w="114300" h="579754">
                <a:moveTo>
                  <a:pt x="25653" y="0"/>
                </a:moveTo>
                <a:lnTo>
                  <a:pt x="0" y="3301"/>
                </a:lnTo>
                <a:lnTo>
                  <a:pt x="9525" y="80390"/>
                </a:lnTo>
                <a:lnTo>
                  <a:pt x="35305" y="77215"/>
                </a:lnTo>
                <a:lnTo>
                  <a:pt x="25653" y="0"/>
                </a:lnTo>
                <a:close/>
              </a:path>
              <a:path w="114300" h="579754">
                <a:moveTo>
                  <a:pt x="38480" y="102869"/>
                </a:moveTo>
                <a:lnTo>
                  <a:pt x="12826" y="106044"/>
                </a:lnTo>
                <a:lnTo>
                  <a:pt x="22351" y="183261"/>
                </a:lnTo>
                <a:lnTo>
                  <a:pt x="48132" y="179958"/>
                </a:lnTo>
                <a:lnTo>
                  <a:pt x="38480" y="102869"/>
                </a:lnTo>
                <a:close/>
              </a:path>
              <a:path w="114300" h="579754">
                <a:moveTo>
                  <a:pt x="51307" y="205739"/>
                </a:moveTo>
                <a:lnTo>
                  <a:pt x="25653" y="208914"/>
                </a:lnTo>
                <a:lnTo>
                  <a:pt x="35178" y="286004"/>
                </a:lnTo>
                <a:lnTo>
                  <a:pt x="60960" y="282829"/>
                </a:lnTo>
                <a:lnTo>
                  <a:pt x="51307" y="205739"/>
                </a:lnTo>
                <a:close/>
              </a:path>
              <a:path w="114300" h="579754">
                <a:moveTo>
                  <a:pt x="64135" y="308610"/>
                </a:moveTo>
                <a:lnTo>
                  <a:pt x="38353" y="311785"/>
                </a:lnTo>
                <a:lnTo>
                  <a:pt x="48005" y="388874"/>
                </a:lnTo>
                <a:lnTo>
                  <a:pt x="73787" y="385699"/>
                </a:lnTo>
                <a:lnTo>
                  <a:pt x="64135" y="308610"/>
                </a:lnTo>
                <a:close/>
              </a:path>
              <a:path w="114300" h="579754">
                <a:moveTo>
                  <a:pt x="76962" y="411352"/>
                </a:moveTo>
                <a:lnTo>
                  <a:pt x="51180" y="414655"/>
                </a:lnTo>
                <a:lnTo>
                  <a:pt x="60832" y="491744"/>
                </a:lnTo>
                <a:lnTo>
                  <a:pt x="86613" y="488569"/>
                </a:lnTo>
                <a:lnTo>
                  <a:pt x="76962" y="411352"/>
                </a:lnTo>
                <a:close/>
              </a:path>
              <a:path w="114300" h="579754">
                <a:moveTo>
                  <a:pt x="113791" y="497458"/>
                </a:moveTo>
                <a:lnTo>
                  <a:pt x="36702" y="507111"/>
                </a:lnTo>
                <a:lnTo>
                  <a:pt x="84836" y="579501"/>
                </a:lnTo>
                <a:lnTo>
                  <a:pt x="113791" y="497458"/>
                </a:lnTo>
                <a:close/>
              </a:path>
            </a:pathLst>
          </a:custGeom>
          <a:solidFill>
            <a:srgbClr val="FF0000"/>
          </a:solidFill>
        </p:spPr>
        <p:txBody>
          <a:bodyPr wrap="square" lIns="0" tIns="0" rIns="0" bIns="0" rtlCol="0"/>
          <a:lstStyle/>
          <a:p>
            <a:endParaRPr/>
          </a:p>
        </p:txBody>
      </p:sp>
      <p:sp>
        <p:nvSpPr>
          <p:cNvPr id="12" name="object 12"/>
          <p:cNvSpPr txBox="1"/>
          <p:nvPr/>
        </p:nvSpPr>
        <p:spPr>
          <a:xfrm>
            <a:off x="5083555" y="4543805"/>
            <a:ext cx="3479800" cy="848360"/>
          </a:xfrm>
          <a:prstGeom prst="rect">
            <a:avLst/>
          </a:prstGeom>
        </p:spPr>
        <p:txBody>
          <a:bodyPr vert="horz" wrap="square" lIns="0" tIns="12700" rIns="0" bIns="0" rtlCol="0">
            <a:spAutoFit/>
          </a:bodyPr>
          <a:lstStyle/>
          <a:p>
            <a:pPr marL="12700" marR="226060">
              <a:lnSpc>
                <a:spcPct val="100000"/>
              </a:lnSpc>
              <a:spcBef>
                <a:spcPts val="100"/>
              </a:spcBef>
            </a:pPr>
            <a:r>
              <a:rPr sz="1800" b="1" spc="-80" dirty="0">
                <a:solidFill>
                  <a:srgbClr val="FF0000"/>
                </a:solidFill>
                <a:latin typeface="Carlito"/>
                <a:cs typeface="Carlito"/>
              </a:rPr>
              <a:t>To </a:t>
            </a:r>
            <a:r>
              <a:rPr sz="1800" b="1" spc="-15" dirty="0">
                <a:solidFill>
                  <a:srgbClr val="FF0000"/>
                </a:solidFill>
                <a:latin typeface="Carlito"/>
                <a:cs typeface="Carlito"/>
              </a:rPr>
              <a:t>store </a:t>
            </a:r>
            <a:r>
              <a:rPr sz="1800" b="1" dirty="0">
                <a:solidFill>
                  <a:srgbClr val="FF0000"/>
                </a:solidFill>
                <a:latin typeface="Carlito"/>
                <a:cs typeface="Carlito"/>
              </a:rPr>
              <a:t>10 </a:t>
            </a:r>
            <a:r>
              <a:rPr sz="1800" b="1" spc="-10" dirty="0">
                <a:solidFill>
                  <a:srgbClr val="FF0000"/>
                </a:solidFill>
                <a:latin typeface="Carlito"/>
                <a:cs typeface="Carlito"/>
              </a:rPr>
              <a:t>chacters from </a:t>
            </a:r>
            <a:r>
              <a:rPr sz="1800" b="1" spc="-5" dirty="0">
                <a:solidFill>
                  <a:srgbClr val="FF0000"/>
                </a:solidFill>
                <a:latin typeface="Carlito"/>
                <a:cs typeface="Carlito"/>
              </a:rPr>
              <a:t>index </a:t>
            </a:r>
            <a:r>
              <a:rPr sz="1800" b="1" dirty="0">
                <a:solidFill>
                  <a:srgbClr val="FF0000"/>
                </a:solidFill>
                <a:latin typeface="Carlito"/>
                <a:cs typeface="Carlito"/>
              </a:rPr>
              <a:t>14  the </a:t>
            </a:r>
            <a:r>
              <a:rPr sz="1800" b="1" spc="-10" dirty="0">
                <a:solidFill>
                  <a:srgbClr val="FF0000"/>
                </a:solidFill>
                <a:latin typeface="Carlito"/>
                <a:cs typeface="Carlito"/>
              </a:rPr>
              <a:t>last </a:t>
            </a:r>
            <a:r>
              <a:rPr sz="1800" b="1" spc="-5" dirty="0">
                <a:solidFill>
                  <a:srgbClr val="FF0000"/>
                </a:solidFill>
                <a:latin typeface="Carlito"/>
                <a:cs typeface="Carlito"/>
              </a:rPr>
              <a:t>index should </a:t>
            </a:r>
            <a:r>
              <a:rPr sz="1800" b="1" dirty="0">
                <a:solidFill>
                  <a:srgbClr val="FF0000"/>
                </a:solidFill>
                <a:latin typeface="Carlito"/>
                <a:cs typeface="Carlito"/>
              </a:rPr>
              <a:t>be</a:t>
            </a:r>
            <a:r>
              <a:rPr sz="1800" b="1" spc="-90" dirty="0">
                <a:solidFill>
                  <a:srgbClr val="FF0000"/>
                </a:solidFill>
                <a:latin typeface="Carlito"/>
                <a:cs typeface="Carlito"/>
              </a:rPr>
              <a:t> </a:t>
            </a:r>
            <a:r>
              <a:rPr sz="1800" b="1" dirty="0">
                <a:solidFill>
                  <a:srgbClr val="FF0000"/>
                </a:solidFill>
                <a:latin typeface="Carlito"/>
                <a:cs typeface="Carlito"/>
              </a:rPr>
              <a:t>23</a:t>
            </a:r>
            <a:endParaRPr sz="1800">
              <a:latin typeface="Carlito"/>
              <a:cs typeface="Carlito"/>
            </a:endParaRPr>
          </a:p>
          <a:p>
            <a:pPr marL="12700">
              <a:lnSpc>
                <a:spcPct val="100000"/>
              </a:lnSpc>
            </a:pPr>
            <a:r>
              <a:rPr sz="1800" b="1" spc="-10" dirty="0">
                <a:solidFill>
                  <a:srgbClr val="FF0000"/>
                </a:solidFill>
                <a:latin typeface="Carlito"/>
                <a:cs typeface="Carlito"/>
              </a:rPr>
              <a:t>However </a:t>
            </a:r>
            <a:r>
              <a:rPr sz="1800" b="1" dirty="0">
                <a:solidFill>
                  <a:srgbClr val="FF0000"/>
                </a:solidFill>
                <a:latin typeface="Carlito"/>
                <a:cs typeface="Carlito"/>
              </a:rPr>
              <a:t>the </a:t>
            </a:r>
            <a:r>
              <a:rPr sz="1800" b="1" spc="-10" dirty="0">
                <a:solidFill>
                  <a:srgbClr val="FF0000"/>
                </a:solidFill>
                <a:latin typeface="Carlito"/>
                <a:cs typeface="Carlito"/>
              </a:rPr>
              <a:t>last </a:t>
            </a:r>
            <a:r>
              <a:rPr sz="1800" b="1" spc="-5" dirty="0">
                <a:solidFill>
                  <a:srgbClr val="FF0000"/>
                </a:solidFill>
                <a:latin typeface="Carlito"/>
                <a:cs typeface="Carlito"/>
              </a:rPr>
              <a:t>index </a:t>
            </a:r>
            <a:r>
              <a:rPr sz="1800" b="1" dirty="0">
                <a:solidFill>
                  <a:srgbClr val="FF0000"/>
                </a:solidFill>
                <a:latin typeface="Carlito"/>
                <a:cs typeface="Carlito"/>
              </a:rPr>
              <a:t>of </a:t>
            </a:r>
            <a:r>
              <a:rPr sz="1800" b="1" spc="-10" dirty="0">
                <a:solidFill>
                  <a:srgbClr val="FF0000"/>
                </a:solidFill>
                <a:latin typeface="Carlito"/>
                <a:cs typeface="Carlito"/>
              </a:rPr>
              <a:t>chars </a:t>
            </a:r>
            <a:r>
              <a:rPr sz="1800" b="1" dirty="0">
                <a:solidFill>
                  <a:srgbClr val="FF0000"/>
                </a:solidFill>
                <a:latin typeface="Carlito"/>
                <a:cs typeface="Carlito"/>
              </a:rPr>
              <a:t>is</a:t>
            </a:r>
            <a:r>
              <a:rPr sz="1800" b="1" spc="-95" dirty="0">
                <a:solidFill>
                  <a:srgbClr val="FF0000"/>
                </a:solidFill>
                <a:latin typeface="Carlito"/>
                <a:cs typeface="Carlito"/>
              </a:rPr>
              <a:t> </a:t>
            </a:r>
            <a:r>
              <a:rPr sz="1800" b="1" dirty="0">
                <a:solidFill>
                  <a:srgbClr val="FF0000"/>
                </a:solidFill>
                <a:latin typeface="Carlito"/>
                <a:cs typeface="Carlito"/>
              </a:rPr>
              <a:t>19</a:t>
            </a:r>
            <a:endParaRPr sz="1800">
              <a:latin typeface="Carlito"/>
              <a:cs typeface="Carlito"/>
            </a:endParaRPr>
          </a:p>
        </p:txBody>
      </p:sp>
      <p:sp>
        <p:nvSpPr>
          <p:cNvPr id="13" name="object 13"/>
          <p:cNvSpPr txBox="1"/>
          <p:nvPr/>
        </p:nvSpPr>
        <p:spPr>
          <a:xfrm>
            <a:off x="474370" y="5121655"/>
            <a:ext cx="196977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rlito"/>
                <a:cs typeface="Carlito"/>
              </a:rPr>
              <a:t>F:\&gt;java</a:t>
            </a:r>
            <a:r>
              <a:rPr sz="1800" b="1" spc="-35" dirty="0">
                <a:solidFill>
                  <a:srgbClr val="FF0000"/>
                </a:solidFill>
                <a:latin typeface="Carlito"/>
                <a:cs typeface="Carlito"/>
              </a:rPr>
              <a:t> </a:t>
            </a:r>
            <a:r>
              <a:rPr sz="1800" b="1" spc="-5" dirty="0">
                <a:solidFill>
                  <a:srgbClr val="FF0000"/>
                </a:solidFill>
                <a:latin typeface="Carlito"/>
                <a:cs typeface="Carlito"/>
              </a:rPr>
              <a:t>StringDemo</a:t>
            </a:r>
            <a:endParaRPr sz="1800">
              <a:latin typeface="Carlito"/>
              <a:cs typeface="Carlito"/>
            </a:endParaRPr>
          </a:p>
        </p:txBody>
      </p:sp>
      <p:sp>
        <p:nvSpPr>
          <p:cNvPr id="14" name="object 14"/>
          <p:cNvSpPr txBox="1"/>
          <p:nvPr/>
        </p:nvSpPr>
        <p:spPr>
          <a:xfrm>
            <a:off x="474370" y="5395976"/>
            <a:ext cx="6793865" cy="1123315"/>
          </a:xfrm>
          <a:prstGeom prst="rect">
            <a:avLst/>
          </a:prstGeom>
        </p:spPr>
        <p:txBody>
          <a:bodyPr vert="horz" wrap="square" lIns="0" tIns="12700" rIns="0" bIns="0" rtlCol="0">
            <a:spAutoFit/>
          </a:bodyPr>
          <a:lstStyle/>
          <a:p>
            <a:pPr marL="431800" marR="5080" indent="-419100">
              <a:lnSpc>
                <a:spcPct val="100000"/>
              </a:lnSpc>
              <a:spcBef>
                <a:spcPts val="100"/>
              </a:spcBef>
            </a:pPr>
            <a:r>
              <a:rPr sz="1800" b="1" spc="-10" dirty="0">
                <a:solidFill>
                  <a:srgbClr val="FF0000"/>
                </a:solidFill>
                <a:latin typeface="Carlito"/>
                <a:cs typeface="Carlito"/>
              </a:rPr>
              <a:t>Exception </a:t>
            </a:r>
            <a:r>
              <a:rPr sz="1800" b="1" dirty="0">
                <a:solidFill>
                  <a:srgbClr val="FF0000"/>
                </a:solidFill>
                <a:latin typeface="Carlito"/>
                <a:cs typeface="Carlito"/>
              </a:rPr>
              <a:t>in </a:t>
            </a:r>
            <a:r>
              <a:rPr sz="1800" b="1" spc="-10" dirty="0">
                <a:solidFill>
                  <a:srgbClr val="FF0000"/>
                </a:solidFill>
                <a:latin typeface="Carlito"/>
                <a:cs typeface="Carlito"/>
              </a:rPr>
              <a:t>thread </a:t>
            </a:r>
            <a:r>
              <a:rPr sz="1800" b="1" spc="-5" dirty="0">
                <a:solidFill>
                  <a:srgbClr val="FF0000"/>
                </a:solidFill>
                <a:latin typeface="Carlito"/>
                <a:cs typeface="Carlito"/>
              </a:rPr>
              <a:t>"main" </a:t>
            </a:r>
            <a:r>
              <a:rPr sz="1800" b="1" spc="-10" dirty="0">
                <a:solidFill>
                  <a:srgbClr val="FF0000"/>
                </a:solidFill>
                <a:latin typeface="Carlito"/>
                <a:cs typeface="Carlito"/>
              </a:rPr>
              <a:t>java.lang.ArrayIndexOutOfBoundsException  at </a:t>
            </a:r>
            <a:r>
              <a:rPr sz="1800" b="1" spc="-15" dirty="0">
                <a:solidFill>
                  <a:srgbClr val="FF0000"/>
                </a:solidFill>
                <a:latin typeface="Carlito"/>
                <a:cs typeface="Carlito"/>
              </a:rPr>
              <a:t>java.lang.System.arraycopy(Native</a:t>
            </a:r>
            <a:r>
              <a:rPr sz="1800" b="1" dirty="0">
                <a:solidFill>
                  <a:srgbClr val="FF0000"/>
                </a:solidFill>
                <a:latin typeface="Carlito"/>
                <a:cs typeface="Carlito"/>
              </a:rPr>
              <a:t> </a:t>
            </a:r>
            <a:r>
              <a:rPr sz="1800" b="1" spc="-5" dirty="0">
                <a:solidFill>
                  <a:srgbClr val="FF0000"/>
                </a:solidFill>
                <a:latin typeface="Carlito"/>
                <a:cs typeface="Carlito"/>
              </a:rPr>
              <a:t>Method)</a:t>
            </a:r>
            <a:endParaRPr sz="1800">
              <a:latin typeface="Carlito"/>
              <a:cs typeface="Carlito"/>
            </a:endParaRPr>
          </a:p>
          <a:p>
            <a:pPr marL="431800" marR="2011045">
              <a:lnSpc>
                <a:spcPct val="100000"/>
              </a:lnSpc>
            </a:pPr>
            <a:r>
              <a:rPr sz="1800" b="1" spc="-10" dirty="0">
                <a:solidFill>
                  <a:srgbClr val="FF0000"/>
                </a:solidFill>
                <a:latin typeface="Carlito"/>
                <a:cs typeface="Carlito"/>
              </a:rPr>
              <a:t>at java.lang.String.getChars(Unknown </a:t>
            </a:r>
            <a:r>
              <a:rPr sz="1800" b="1" spc="-5" dirty="0">
                <a:solidFill>
                  <a:srgbClr val="FF0000"/>
                </a:solidFill>
                <a:latin typeface="Carlito"/>
                <a:cs typeface="Carlito"/>
              </a:rPr>
              <a:t>Source)  </a:t>
            </a:r>
            <a:r>
              <a:rPr sz="1800" b="1" spc="-10" dirty="0">
                <a:solidFill>
                  <a:srgbClr val="FF0000"/>
                </a:solidFill>
                <a:latin typeface="Carlito"/>
                <a:cs typeface="Carlito"/>
              </a:rPr>
              <a:t>at</a:t>
            </a:r>
            <a:r>
              <a:rPr sz="1800" b="1" dirty="0">
                <a:solidFill>
                  <a:srgbClr val="FF0000"/>
                </a:solidFill>
                <a:latin typeface="Carlito"/>
                <a:cs typeface="Carlito"/>
              </a:rPr>
              <a:t> </a:t>
            </a:r>
            <a:r>
              <a:rPr sz="1800" b="1" spc="-10" dirty="0">
                <a:solidFill>
                  <a:srgbClr val="FF0000"/>
                </a:solidFill>
                <a:latin typeface="Carlito"/>
                <a:cs typeface="Carlito"/>
              </a:rPr>
              <a:t>StringDemo.main(xyz.java:8)</a:t>
            </a:r>
            <a:endParaRPr sz="1800">
              <a:latin typeface="Carlito"/>
              <a:cs typeface="Carli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4578985" cy="1031240"/>
          </a:xfrm>
          <a:prstGeom prst="rect">
            <a:avLst/>
          </a:prstGeom>
        </p:spPr>
        <p:txBody>
          <a:bodyPr vert="horz" wrap="square" lIns="0" tIns="104139" rIns="0" bIns="0" rtlCol="0">
            <a:spAutoFit/>
          </a:bodyPr>
          <a:lstStyle/>
          <a:p>
            <a:pPr marL="12700" marR="5080">
              <a:lnSpc>
                <a:spcPts val="3600"/>
              </a:lnSpc>
              <a:spcBef>
                <a:spcPts val="819"/>
              </a:spcBef>
            </a:pPr>
            <a:r>
              <a:rPr sz="3600" i="0" spc="-140" dirty="0">
                <a:solidFill>
                  <a:srgbClr val="000000"/>
                </a:solidFill>
                <a:latin typeface="Arial"/>
                <a:cs typeface="Arial"/>
              </a:rPr>
              <a:t>Character </a:t>
            </a:r>
            <a:r>
              <a:rPr sz="3600" i="0" spc="-145" dirty="0">
                <a:solidFill>
                  <a:srgbClr val="000000"/>
                </a:solidFill>
                <a:latin typeface="Arial"/>
                <a:cs typeface="Arial"/>
              </a:rPr>
              <a:t>Extraction </a:t>
            </a:r>
            <a:r>
              <a:rPr sz="3600" i="0" dirty="0">
                <a:solidFill>
                  <a:srgbClr val="000000"/>
                </a:solidFill>
                <a:latin typeface="Arial"/>
                <a:cs typeface="Arial"/>
              </a:rPr>
              <a:t>:  </a:t>
            </a:r>
            <a:r>
              <a:rPr sz="3600" i="0" spc="-145" dirty="0">
                <a:solidFill>
                  <a:srgbClr val="000000"/>
                </a:solidFill>
                <a:latin typeface="Arial"/>
                <a:cs typeface="Arial"/>
              </a:rPr>
              <a:t>getChars() </a:t>
            </a:r>
            <a:r>
              <a:rPr sz="3600" i="0" dirty="0">
                <a:solidFill>
                  <a:srgbClr val="000000"/>
                </a:solidFill>
                <a:latin typeface="Arial"/>
                <a:cs typeface="Arial"/>
              </a:rPr>
              <a:t>: </a:t>
            </a:r>
            <a:r>
              <a:rPr sz="3600" i="0" spc="-140" dirty="0">
                <a:solidFill>
                  <a:srgbClr val="000000"/>
                </a:solidFill>
                <a:latin typeface="Arial"/>
                <a:cs typeface="Arial"/>
              </a:rPr>
              <a:t>Example</a:t>
            </a:r>
            <a:r>
              <a:rPr sz="3600" i="0" spc="-710" dirty="0">
                <a:solidFill>
                  <a:srgbClr val="000000"/>
                </a:solidFill>
                <a:latin typeface="Arial"/>
                <a:cs typeface="Arial"/>
              </a:rPr>
              <a:t> </a:t>
            </a:r>
            <a:r>
              <a:rPr sz="3600" i="0" spc="-5" dirty="0">
                <a:solidFill>
                  <a:srgbClr val="000000"/>
                </a:solidFill>
                <a:latin typeface="Arial"/>
                <a:cs typeface="Arial"/>
              </a:rPr>
              <a:t>4</a:t>
            </a:r>
            <a:endParaRPr sz="3600">
              <a:latin typeface="Arial"/>
              <a:cs typeface="Arial"/>
            </a:endParaRP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2700" marR="1497330">
              <a:lnSpc>
                <a:spcPct val="100000"/>
              </a:lnSpc>
              <a:spcBef>
                <a:spcPts val="100"/>
              </a:spcBef>
            </a:pPr>
            <a:r>
              <a:rPr spc="-5" dirty="0"/>
              <a:t>//File </a:t>
            </a:r>
            <a:r>
              <a:rPr dirty="0"/>
              <a:t>Name: </a:t>
            </a:r>
            <a:r>
              <a:rPr spc="-10" dirty="0"/>
              <a:t>StringDemo.java  </a:t>
            </a:r>
            <a:r>
              <a:rPr spc="-5" dirty="0"/>
              <a:t>class</a:t>
            </a:r>
            <a:r>
              <a:rPr spc="-25" dirty="0"/>
              <a:t> </a:t>
            </a:r>
            <a:r>
              <a:rPr spc="-5" dirty="0"/>
              <a:t>StringDemo</a:t>
            </a:r>
          </a:p>
          <a:p>
            <a:pPr marL="12700">
              <a:lnSpc>
                <a:spcPct val="100000"/>
              </a:lnSpc>
            </a:pPr>
            <a:r>
              <a:rPr dirty="0"/>
              <a:t>{</a:t>
            </a:r>
          </a:p>
          <a:p>
            <a:pPr marL="927100">
              <a:lnSpc>
                <a:spcPct val="100000"/>
              </a:lnSpc>
            </a:pPr>
            <a:r>
              <a:rPr dirty="0"/>
              <a:t>public </a:t>
            </a:r>
            <a:r>
              <a:rPr spc="-10" dirty="0"/>
              <a:t>static </a:t>
            </a:r>
            <a:r>
              <a:rPr spc="-5" dirty="0"/>
              <a:t>void main(String[]</a:t>
            </a:r>
            <a:r>
              <a:rPr spc="-100" dirty="0"/>
              <a:t> </a:t>
            </a:r>
            <a:r>
              <a:rPr spc="-10" dirty="0"/>
              <a:t>args)</a:t>
            </a:r>
          </a:p>
          <a:p>
            <a:pPr marL="927100">
              <a:lnSpc>
                <a:spcPct val="100000"/>
              </a:lnSpc>
            </a:pPr>
            <a:r>
              <a:rPr dirty="0"/>
              <a:t>{</a:t>
            </a:r>
          </a:p>
        </p:txBody>
      </p:sp>
      <p:sp>
        <p:nvSpPr>
          <p:cNvPr id="4" name="object 4"/>
          <p:cNvSpPr txBox="1"/>
          <p:nvPr/>
        </p:nvSpPr>
        <p:spPr>
          <a:xfrm>
            <a:off x="5299709" y="1720722"/>
            <a:ext cx="3155950" cy="574675"/>
          </a:xfrm>
          <a:prstGeom prst="rect">
            <a:avLst/>
          </a:prstGeom>
        </p:spPr>
        <p:txBody>
          <a:bodyPr vert="horz" wrap="square" lIns="0" tIns="12700" rIns="0" bIns="0" rtlCol="0">
            <a:spAutoFit/>
          </a:bodyPr>
          <a:lstStyle/>
          <a:p>
            <a:pPr marL="12700" marR="5080">
              <a:lnSpc>
                <a:spcPct val="100000"/>
              </a:lnSpc>
              <a:spcBef>
                <a:spcPts val="100"/>
              </a:spcBef>
            </a:pPr>
            <a:r>
              <a:rPr sz="1800" b="1" spc="-15" dirty="0">
                <a:solidFill>
                  <a:srgbClr val="FF0000"/>
                </a:solidFill>
                <a:latin typeface="Carlito"/>
                <a:cs typeface="Carlito"/>
              </a:rPr>
              <a:t>Characters </a:t>
            </a:r>
            <a:r>
              <a:rPr sz="1800" b="1" spc="-5" dirty="0">
                <a:solidFill>
                  <a:srgbClr val="FF0000"/>
                </a:solidFill>
                <a:latin typeface="Carlito"/>
                <a:cs typeface="Carlito"/>
              </a:rPr>
              <a:t>will </a:t>
            </a:r>
            <a:r>
              <a:rPr sz="1800" b="1" dirty="0">
                <a:solidFill>
                  <a:srgbClr val="FF0000"/>
                </a:solidFill>
                <a:latin typeface="Carlito"/>
                <a:cs typeface="Carlito"/>
              </a:rPr>
              <a:t>be </a:t>
            </a:r>
            <a:r>
              <a:rPr sz="1800" b="1" spc="-15" dirty="0">
                <a:solidFill>
                  <a:srgbClr val="FF0000"/>
                </a:solidFill>
                <a:latin typeface="Carlito"/>
                <a:cs typeface="Carlito"/>
              </a:rPr>
              <a:t>extracted </a:t>
            </a:r>
            <a:r>
              <a:rPr sz="1800" b="1" spc="-10" dirty="0">
                <a:solidFill>
                  <a:srgbClr val="FF0000"/>
                </a:solidFill>
                <a:latin typeface="Carlito"/>
                <a:cs typeface="Carlito"/>
              </a:rPr>
              <a:t>from  </a:t>
            </a:r>
            <a:r>
              <a:rPr sz="1800" b="1" spc="-5" dirty="0">
                <a:solidFill>
                  <a:srgbClr val="FF0000"/>
                </a:solidFill>
                <a:latin typeface="Carlito"/>
                <a:cs typeface="Carlito"/>
              </a:rPr>
              <a:t>index </a:t>
            </a:r>
            <a:r>
              <a:rPr sz="1800" b="1" dirty="0">
                <a:solidFill>
                  <a:srgbClr val="FF0000"/>
                </a:solidFill>
                <a:latin typeface="Carlito"/>
                <a:cs typeface="Carlito"/>
              </a:rPr>
              <a:t>4 </a:t>
            </a:r>
            <a:r>
              <a:rPr sz="1800" b="1" spc="-10" dirty="0">
                <a:solidFill>
                  <a:srgbClr val="FF0000"/>
                </a:solidFill>
                <a:latin typeface="Carlito"/>
                <a:cs typeface="Carlito"/>
              </a:rPr>
              <a:t>to </a:t>
            </a:r>
            <a:r>
              <a:rPr sz="1800" b="1" dirty="0">
                <a:solidFill>
                  <a:srgbClr val="FF0000"/>
                </a:solidFill>
                <a:latin typeface="Carlito"/>
                <a:cs typeface="Carlito"/>
              </a:rPr>
              <a:t>13 (10</a:t>
            </a:r>
            <a:r>
              <a:rPr sz="1800" b="1" spc="-50" dirty="0">
                <a:solidFill>
                  <a:srgbClr val="FF0000"/>
                </a:solidFill>
                <a:latin typeface="Carlito"/>
                <a:cs typeface="Carlito"/>
              </a:rPr>
              <a:t> </a:t>
            </a:r>
            <a:r>
              <a:rPr sz="1800" b="1" spc="-10" dirty="0">
                <a:solidFill>
                  <a:srgbClr val="FF0000"/>
                </a:solidFill>
                <a:latin typeface="Carlito"/>
                <a:cs typeface="Carlito"/>
              </a:rPr>
              <a:t>characters)</a:t>
            </a:r>
            <a:endParaRPr sz="1800">
              <a:latin typeface="Carlito"/>
              <a:cs typeface="Carlito"/>
            </a:endParaRPr>
          </a:p>
        </p:txBody>
      </p:sp>
      <p:grpSp>
        <p:nvGrpSpPr>
          <p:cNvPr id="5" name="object 5"/>
          <p:cNvGrpSpPr/>
          <p:nvPr/>
        </p:nvGrpSpPr>
        <p:grpSpPr>
          <a:xfrm>
            <a:off x="4200144" y="2349245"/>
            <a:ext cx="1957705" cy="1598295"/>
            <a:chOff x="4200144" y="2349245"/>
            <a:chExt cx="1957705" cy="1598295"/>
          </a:xfrm>
        </p:grpSpPr>
        <p:sp>
          <p:nvSpPr>
            <p:cNvPr id="6" name="object 6"/>
            <p:cNvSpPr/>
            <p:nvPr/>
          </p:nvSpPr>
          <p:spPr>
            <a:xfrm>
              <a:off x="4213098" y="3429761"/>
              <a:ext cx="841375" cy="504825"/>
            </a:xfrm>
            <a:custGeom>
              <a:avLst/>
              <a:gdLst/>
              <a:ahLst/>
              <a:cxnLst/>
              <a:rect l="l" t="t" r="r" b="b"/>
              <a:pathLst>
                <a:path w="841375" h="504825">
                  <a:moveTo>
                    <a:pt x="0" y="504444"/>
                  </a:moveTo>
                  <a:lnTo>
                    <a:pt x="4270" y="453606"/>
                  </a:lnTo>
                  <a:lnTo>
                    <a:pt x="16519" y="406259"/>
                  </a:lnTo>
                  <a:lnTo>
                    <a:pt x="35904" y="363415"/>
                  </a:lnTo>
                  <a:lnTo>
                    <a:pt x="61579" y="326088"/>
                  </a:lnTo>
                  <a:lnTo>
                    <a:pt x="92701" y="295292"/>
                  </a:lnTo>
                  <a:lnTo>
                    <a:pt x="128426" y="272039"/>
                  </a:lnTo>
                  <a:lnTo>
                    <a:pt x="167911" y="257345"/>
                  </a:lnTo>
                  <a:lnTo>
                    <a:pt x="210312" y="252221"/>
                  </a:lnTo>
                  <a:lnTo>
                    <a:pt x="252712" y="247098"/>
                  </a:lnTo>
                  <a:lnTo>
                    <a:pt x="292197" y="232404"/>
                  </a:lnTo>
                  <a:lnTo>
                    <a:pt x="327922" y="209151"/>
                  </a:lnTo>
                  <a:lnTo>
                    <a:pt x="359044" y="178355"/>
                  </a:lnTo>
                  <a:lnTo>
                    <a:pt x="384719" y="141028"/>
                  </a:lnTo>
                  <a:lnTo>
                    <a:pt x="404104" y="98184"/>
                  </a:lnTo>
                  <a:lnTo>
                    <a:pt x="416353" y="50837"/>
                  </a:lnTo>
                  <a:lnTo>
                    <a:pt x="420624" y="0"/>
                  </a:lnTo>
                  <a:lnTo>
                    <a:pt x="424894" y="50837"/>
                  </a:lnTo>
                  <a:lnTo>
                    <a:pt x="437143" y="98184"/>
                  </a:lnTo>
                  <a:lnTo>
                    <a:pt x="456528" y="141028"/>
                  </a:lnTo>
                  <a:lnTo>
                    <a:pt x="482203" y="178355"/>
                  </a:lnTo>
                  <a:lnTo>
                    <a:pt x="513325" y="209151"/>
                  </a:lnTo>
                  <a:lnTo>
                    <a:pt x="549050" y="232404"/>
                  </a:lnTo>
                  <a:lnTo>
                    <a:pt x="588535" y="247098"/>
                  </a:lnTo>
                  <a:lnTo>
                    <a:pt x="630936" y="252221"/>
                  </a:lnTo>
                  <a:lnTo>
                    <a:pt x="673336" y="257345"/>
                  </a:lnTo>
                  <a:lnTo>
                    <a:pt x="712821" y="272039"/>
                  </a:lnTo>
                  <a:lnTo>
                    <a:pt x="748546" y="295292"/>
                  </a:lnTo>
                  <a:lnTo>
                    <a:pt x="779668" y="326088"/>
                  </a:lnTo>
                  <a:lnTo>
                    <a:pt x="805343" y="363415"/>
                  </a:lnTo>
                  <a:lnTo>
                    <a:pt x="824728" y="406259"/>
                  </a:lnTo>
                  <a:lnTo>
                    <a:pt x="836977" y="453606"/>
                  </a:lnTo>
                  <a:lnTo>
                    <a:pt x="841248" y="504444"/>
                  </a:lnTo>
                </a:path>
              </a:pathLst>
            </a:custGeom>
            <a:ln w="25908">
              <a:solidFill>
                <a:srgbClr val="FF0000"/>
              </a:solidFill>
              <a:prstDash val="sysDash"/>
            </a:ln>
          </p:spPr>
          <p:txBody>
            <a:bodyPr wrap="square" lIns="0" tIns="0" rIns="0" bIns="0" rtlCol="0"/>
            <a:lstStyle/>
            <a:p>
              <a:endParaRPr/>
            </a:p>
          </p:txBody>
        </p:sp>
        <p:sp>
          <p:nvSpPr>
            <p:cNvPr id="7" name="object 7"/>
            <p:cNvSpPr/>
            <p:nvPr/>
          </p:nvSpPr>
          <p:spPr>
            <a:xfrm>
              <a:off x="4626229" y="2349245"/>
              <a:ext cx="1531620" cy="1090930"/>
            </a:xfrm>
            <a:custGeom>
              <a:avLst/>
              <a:gdLst/>
              <a:ahLst/>
              <a:cxnLst/>
              <a:rect l="l" t="t" r="r" b="b"/>
              <a:pathLst>
                <a:path w="1531620" h="1090929">
                  <a:moveTo>
                    <a:pt x="63373" y="1024636"/>
                  </a:moveTo>
                  <a:lnTo>
                    <a:pt x="0" y="1069593"/>
                  </a:lnTo>
                  <a:lnTo>
                    <a:pt x="14986" y="1090676"/>
                  </a:lnTo>
                  <a:lnTo>
                    <a:pt x="78359" y="1045717"/>
                  </a:lnTo>
                  <a:lnTo>
                    <a:pt x="63373" y="1024636"/>
                  </a:lnTo>
                  <a:close/>
                </a:path>
                <a:path w="1531620" h="1090929">
                  <a:moveTo>
                    <a:pt x="147955" y="964691"/>
                  </a:moveTo>
                  <a:lnTo>
                    <a:pt x="84582" y="1009650"/>
                  </a:lnTo>
                  <a:lnTo>
                    <a:pt x="99568" y="1030731"/>
                  </a:lnTo>
                  <a:lnTo>
                    <a:pt x="162941" y="985774"/>
                  </a:lnTo>
                  <a:lnTo>
                    <a:pt x="147955" y="964691"/>
                  </a:lnTo>
                  <a:close/>
                </a:path>
                <a:path w="1531620" h="1090929">
                  <a:moveTo>
                    <a:pt x="232537" y="904748"/>
                  </a:moveTo>
                  <a:lnTo>
                    <a:pt x="169037" y="949705"/>
                  </a:lnTo>
                  <a:lnTo>
                    <a:pt x="184023" y="970788"/>
                  </a:lnTo>
                  <a:lnTo>
                    <a:pt x="247523" y="925829"/>
                  </a:lnTo>
                  <a:lnTo>
                    <a:pt x="232537" y="904748"/>
                  </a:lnTo>
                  <a:close/>
                </a:path>
                <a:path w="1531620" h="1090929">
                  <a:moveTo>
                    <a:pt x="316992" y="844803"/>
                  </a:moveTo>
                  <a:lnTo>
                    <a:pt x="253619" y="889762"/>
                  </a:lnTo>
                  <a:lnTo>
                    <a:pt x="268605" y="910843"/>
                  </a:lnTo>
                  <a:lnTo>
                    <a:pt x="331978" y="866013"/>
                  </a:lnTo>
                  <a:lnTo>
                    <a:pt x="316992" y="844803"/>
                  </a:lnTo>
                  <a:close/>
                </a:path>
                <a:path w="1531620" h="1090929">
                  <a:moveTo>
                    <a:pt x="401574" y="784859"/>
                  </a:moveTo>
                  <a:lnTo>
                    <a:pt x="338200" y="829817"/>
                  </a:lnTo>
                  <a:lnTo>
                    <a:pt x="353187" y="851026"/>
                  </a:lnTo>
                  <a:lnTo>
                    <a:pt x="416560" y="806068"/>
                  </a:lnTo>
                  <a:lnTo>
                    <a:pt x="401574" y="784859"/>
                  </a:lnTo>
                  <a:close/>
                </a:path>
                <a:path w="1531620" h="1090929">
                  <a:moveTo>
                    <a:pt x="486156" y="724915"/>
                  </a:moveTo>
                  <a:lnTo>
                    <a:pt x="422783" y="769874"/>
                  </a:lnTo>
                  <a:lnTo>
                    <a:pt x="437769" y="791082"/>
                  </a:lnTo>
                  <a:lnTo>
                    <a:pt x="501142" y="746125"/>
                  </a:lnTo>
                  <a:lnTo>
                    <a:pt x="486156" y="724915"/>
                  </a:lnTo>
                  <a:close/>
                </a:path>
                <a:path w="1531620" h="1090929">
                  <a:moveTo>
                    <a:pt x="570738" y="664971"/>
                  </a:moveTo>
                  <a:lnTo>
                    <a:pt x="507238" y="709929"/>
                  </a:lnTo>
                  <a:lnTo>
                    <a:pt x="522224" y="731138"/>
                  </a:lnTo>
                  <a:lnTo>
                    <a:pt x="585724" y="686180"/>
                  </a:lnTo>
                  <a:lnTo>
                    <a:pt x="570738" y="664971"/>
                  </a:lnTo>
                  <a:close/>
                </a:path>
                <a:path w="1531620" h="1090929">
                  <a:moveTo>
                    <a:pt x="655193" y="605154"/>
                  </a:moveTo>
                  <a:lnTo>
                    <a:pt x="591820" y="649986"/>
                  </a:lnTo>
                  <a:lnTo>
                    <a:pt x="606806" y="671194"/>
                  </a:lnTo>
                  <a:lnTo>
                    <a:pt x="670179" y="626237"/>
                  </a:lnTo>
                  <a:lnTo>
                    <a:pt x="655193" y="605154"/>
                  </a:lnTo>
                  <a:close/>
                </a:path>
                <a:path w="1531620" h="1090929">
                  <a:moveTo>
                    <a:pt x="739775" y="545211"/>
                  </a:moveTo>
                  <a:lnTo>
                    <a:pt x="676401" y="590168"/>
                  </a:lnTo>
                  <a:lnTo>
                    <a:pt x="691388" y="611251"/>
                  </a:lnTo>
                  <a:lnTo>
                    <a:pt x="754761" y="566292"/>
                  </a:lnTo>
                  <a:lnTo>
                    <a:pt x="739775" y="545211"/>
                  </a:lnTo>
                  <a:close/>
                </a:path>
                <a:path w="1531620" h="1090929">
                  <a:moveTo>
                    <a:pt x="824357" y="485266"/>
                  </a:moveTo>
                  <a:lnTo>
                    <a:pt x="760857" y="530225"/>
                  </a:lnTo>
                  <a:lnTo>
                    <a:pt x="775843" y="551306"/>
                  </a:lnTo>
                  <a:lnTo>
                    <a:pt x="839343" y="506349"/>
                  </a:lnTo>
                  <a:lnTo>
                    <a:pt x="824357" y="485266"/>
                  </a:lnTo>
                  <a:close/>
                </a:path>
                <a:path w="1531620" h="1090929">
                  <a:moveTo>
                    <a:pt x="908812" y="425323"/>
                  </a:moveTo>
                  <a:lnTo>
                    <a:pt x="845438" y="470280"/>
                  </a:lnTo>
                  <a:lnTo>
                    <a:pt x="860425" y="491363"/>
                  </a:lnTo>
                  <a:lnTo>
                    <a:pt x="923798" y="446404"/>
                  </a:lnTo>
                  <a:lnTo>
                    <a:pt x="908812" y="425323"/>
                  </a:lnTo>
                  <a:close/>
                </a:path>
                <a:path w="1531620" h="1090929">
                  <a:moveTo>
                    <a:pt x="993394" y="365378"/>
                  </a:moveTo>
                  <a:lnTo>
                    <a:pt x="930021" y="410337"/>
                  </a:lnTo>
                  <a:lnTo>
                    <a:pt x="945007" y="431418"/>
                  </a:lnTo>
                  <a:lnTo>
                    <a:pt x="1008380" y="386461"/>
                  </a:lnTo>
                  <a:lnTo>
                    <a:pt x="993394" y="365378"/>
                  </a:lnTo>
                  <a:close/>
                </a:path>
                <a:path w="1531620" h="1090929">
                  <a:moveTo>
                    <a:pt x="1077976" y="305434"/>
                  </a:moveTo>
                  <a:lnTo>
                    <a:pt x="1014603" y="350392"/>
                  </a:lnTo>
                  <a:lnTo>
                    <a:pt x="1029588" y="371475"/>
                  </a:lnTo>
                  <a:lnTo>
                    <a:pt x="1092962" y="326643"/>
                  </a:lnTo>
                  <a:lnTo>
                    <a:pt x="1077976" y="305434"/>
                  </a:lnTo>
                  <a:close/>
                </a:path>
                <a:path w="1531620" h="1090929">
                  <a:moveTo>
                    <a:pt x="1162558" y="245490"/>
                  </a:moveTo>
                  <a:lnTo>
                    <a:pt x="1099058" y="290449"/>
                  </a:lnTo>
                  <a:lnTo>
                    <a:pt x="1114044" y="311657"/>
                  </a:lnTo>
                  <a:lnTo>
                    <a:pt x="1177544" y="266700"/>
                  </a:lnTo>
                  <a:lnTo>
                    <a:pt x="1162558" y="245490"/>
                  </a:lnTo>
                  <a:close/>
                </a:path>
                <a:path w="1531620" h="1090929">
                  <a:moveTo>
                    <a:pt x="1247013" y="185546"/>
                  </a:moveTo>
                  <a:lnTo>
                    <a:pt x="1183640" y="230504"/>
                  </a:lnTo>
                  <a:lnTo>
                    <a:pt x="1198626" y="251713"/>
                  </a:lnTo>
                  <a:lnTo>
                    <a:pt x="1261999" y="206755"/>
                  </a:lnTo>
                  <a:lnTo>
                    <a:pt x="1247013" y="185546"/>
                  </a:lnTo>
                  <a:close/>
                </a:path>
                <a:path w="1531620" h="1090929">
                  <a:moveTo>
                    <a:pt x="1331595" y="125602"/>
                  </a:moveTo>
                  <a:lnTo>
                    <a:pt x="1268222" y="170561"/>
                  </a:lnTo>
                  <a:lnTo>
                    <a:pt x="1283208" y="191769"/>
                  </a:lnTo>
                  <a:lnTo>
                    <a:pt x="1346581" y="146812"/>
                  </a:lnTo>
                  <a:lnTo>
                    <a:pt x="1331595" y="125602"/>
                  </a:lnTo>
                  <a:close/>
                </a:path>
                <a:path w="1531620" h="1090929">
                  <a:moveTo>
                    <a:pt x="1416177" y="65786"/>
                  </a:moveTo>
                  <a:lnTo>
                    <a:pt x="1352677" y="110616"/>
                  </a:lnTo>
                  <a:lnTo>
                    <a:pt x="1367663" y="131825"/>
                  </a:lnTo>
                  <a:lnTo>
                    <a:pt x="1431163" y="86867"/>
                  </a:lnTo>
                  <a:lnTo>
                    <a:pt x="1416177" y="65786"/>
                  </a:lnTo>
                  <a:close/>
                </a:path>
                <a:path w="1531620" h="1090929">
                  <a:moveTo>
                    <a:pt x="1516885" y="26924"/>
                  </a:moveTo>
                  <a:lnTo>
                    <a:pt x="1470914" y="26924"/>
                  </a:lnTo>
                  <a:lnTo>
                    <a:pt x="1485900" y="48005"/>
                  </a:lnTo>
                  <a:lnTo>
                    <a:pt x="1475332" y="55503"/>
                  </a:lnTo>
                  <a:lnTo>
                    <a:pt x="1490345" y="76707"/>
                  </a:lnTo>
                  <a:lnTo>
                    <a:pt x="1516885" y="26924"/>
                  </a:lnTo>
                  <a:close/>
                </a:path>
                <a:path w="1531620" h="1090929">
                  <a:moveTo>
                    <a:pt x="1460385" y="34392"/>
                  </a:moveTo>
                  <a:lnTo>
                    <a:pt x="1437259" y="50800"/>
                  </a:lnTo>
                  <a:lnTo>
                    <a:pt x="1452245" y="71881"/>
                  </a:lnTo>
                  <a:lnTo>
                    <a:pt x="1475332" y="55503"/>
                  </a:lnTo>
                  <a:lnTo>
                    <a:pt x="1460385" y="34392"/>
                  </a:lnTo>
                  <a:close/>
                </a:path>
                <a:path w="1531620" h="1090929">
                  <a:moveTo>
                    <a:pt x="1470914" y="26924"/>
                  </a:moveTo>
                  <a:lnTo>
                    <a:pt x="1460385" y="34392"/>
                  </a:lnTo>
                  <a:lnTo>
                    <a:pt x="1475332" y="55503"/>
                  </a:lnTo>
                  <a:lnTo>
                    <a:pt x="1485900" y="48005"/>
                  </a:lnTo>
                  <a:lnTo>
                    <a:pt x="1470914" y="26924"/>
                  </a:lnTo>
                  <a:close/>
                </a:path>
                <a:path w="1531620" h="1090929">
                  <a:moveTo>
                    <a:pt x="1531239" y="0"/>
                  </a:moveTo>
                  <a:lnTo>
                    <a:pt x="1445387" y="13207"/>
                  </a:lnTo>
                  <a:lnTo>
                    <a:pt x="1460385" y="34392"/>
                  </a:lnTo>
                  <a:lnTo>
                    <a:pt x="1470914" y="26924"/>
                  </a:lnTo>
                  <a:lnTo>
                    <a:pt x="1516885" y="26924"/>
                  </a:lnTo>
                  <a:lnTo>
                    <a:pt x="1531239" y="0"/>
                  </a:lnTo>
                  <a:close/>
                </a:path>
              </a:pathLst>
            </a:custGeom>
            <a:solidFill>
              <a:srgbClr val="FF0000"/>
            </a:solidFill>
          </p:spPr>
          <p:txBody>
            <a:bodyPr wrap="square" lIns="0" tIns="0" rIns="0" bIns="0" rtlCol="0"/>
            <a:lstStyle/>
            <a:p>
              <a:endParaRPr/>
            </a:p>
          </p:txBody>
        </p:sp>
      </p:grpSp>
      <p:sp>
        <p:nvSpPr>
          <p:cNvPr id="8" name="object 8"/>
          <p:cNvSpPr txBox="1"/>
          <p:nvPr/>
        </p:nvSpPr>
        <p:spPr>
          <a:xfrm>
            <a:off x="762406" y="2972561"/>
            <a:ext cx="6473190" cy="3154045"/>
          </a:xfrm>
          <a:prstGeom prst="rect">
            <a:avLst/>
          </a:prstGeom>
        </p:spPr>
        <p:txBody>
          <a:bodyPr vert="horz" wrap="square" lIns="0" tIns="12700" rIns="0" bIns="0" rtlCol="0">
            <a:spAutoFit/>
          </a:bodyPr>
          <a:lstStyle/>
          <a:p>
            <a:pPr marL="1841500">
              <a:lnSpc>
                <a:spcPts val="2130"/>
              </a:lnSpc>
              <a:spcBef>
                <a:spcPts val="100"/>
              </a:spcBef>
              <a:tabLst>
                <a:tab pos="2755900" algn="l"/>
                <a:tab pos="3670300" algn="l"/>
              </a:tabLst>
            </a:pPr>
            <a:r>
              <a:rPr sz="1800" b="1" dirty="0">
                <a:solidFill>
                  <a:srgbClr val="FF0000"/>
                </a:solidFill>
                <a:latin typeface="Carlito"/>
                <a:cs typeface="Carlito"/>
              </a:rPr>
              <a:t>String	s	= "When </a:t>
            </a:r>
            <a:r>
              <a:rPr sz="1800" b="1" spc="-15" dirty="0">
                <a:solidFill>
                  <a:srgbClr val="FF0000"/>
                </a:solidFill>
                <a:latin typeface="Carlito"/>
                <a:cs typeface="Carlito"/>
              </a:rPr>
              <a:t>Java </a:t>
            </a:r>
            <a:r>
              <a:rPr sz="1800" b="1" spc="-10" dirty="0">
                <a:solidFill>
                  <a:srgbClr val="FF0000"/>
                </a:solidFill>
                <a:latin typeface="Carlito"/>
                <a:cs typeface="Carlito"/>
              </a:rPr>
              <a:t>converts</a:t>
            </a:r>
            <a:r>
              <a:rPr sz="1800" b="1" spc="-70" dirty="0">
                <a:solidFill>
                  <a:srgbClr val="FF0000"/>
                </a:solidFill>
                <a:latin typeface="Carlito"/>
                <a:cs typeface="Carlito"/>
              </a:rPr>
              <a:t> </a:t>
            </a:r>
            <a:r>
              <a:rPr sz="1800" b="1" spc="-10" dirty="0">
                <a:solidFill>
                  <a:srgbClr val="FF0000"/>
                </a:solidFill>
                <a:latin typeface="Carlito"/>
                <a:cs typeface="Carlito"/>
              </a:rPr>
              <a:t>data";</a:t>
            </a:r>
            <a:endParaRPr sz="1800">
              <a:latin typeface="Carlito"/>
              <a:cs typeface="Carlito"/>
            </a:endParaRPr>
          </a:p>
          <a:p>
            <a:pPr marL="1841500" marR="492125">
              <a:lnSpc>
                <a:spcPts val="3360"/>
              </a:lnSpc>
              <a:spcBef>
                <a:spcPts val="80"/>
              </a:spcBef>
              <a:tabLst>
                <a:tab pos="3670300" algn="l"/>
              </a:tabLst>
            </a:pPr>
            <a:r>
              <a:rPr sz="2800" b="1" spc="-5" dirty="0">
                <a:solidFill>
                  <a:srgbClr val="006FC0"/>
                </a:solidFill>
                <a:latin typeface="Carlito"/>
                <a:cs typeface="Carlito"/>
              </a:rPr>
              <a:t>char[]</a:t>
            </a:r>
            <a:r>
              <a:rPr sz="2800" b="1" spc="-290" dirty="0">
                <a:solidFill>
                  <a:srgbClr val="006FC0"/>
                </a:solidFill>
                <a:latin typeface="Carlito"/>
                <a:cs typeface="Carlito"/>
              </a:rPr>
              <a:t> </a:t>
            </a:r>
            <a:r>
              <a:rPr sz="2800" b="1" spc="-15" dirty="0">
                <a:solidFill>
                  <a:srgbClr val="006FC0"/>
                </a:solidFill>
                <a:latin typeface="Carlito"/>
                <a:cs typeface="Carlito"/>
              </a:rPr>
              <a:t>chars	</a:t>
            </a:r>
            <a:r>
              <a:rPr sz="2800" b="1" spc="-5" dirty="0">
                <a:solidFill>
                  <a:srgbClr val="006FC0"/>
                </a:solidFill>
                <a:latin typeface="Carlito"/>
                <a:cs typeface="Carlito"/>
              </a:rPr>
              <a:t>= </a:t>
            </a:r>
            <a:r>
              <a:rPr sz="2800" b="1" spc="-10" dirty="0">
                <a:solidFill>
                  <a:srgbClr val="006FC0"/>
                </a:solidFill>
                <a:latin typeface="Carlito"/>
                <a:cs typeface="Carlito"/>
              </a:rPr>
              <a:t>new</a:t>
            </a:r>
            <a:r>
              <a:rPr sz="2800" b="1" spc="-55" dirty="0">
                <a:solidFill>
                  <a:srgbClr val="006FC0"/>
                </a:solidFill>
                <a:latin typeface="Carlito"/>
                <a:cs typeface="Carlito"/>
              </a:rPr>
              <a:t> </a:t>
            </a:r>
            <a:r>
              <a:rPr sz="2800" b="1" spc="-5" dirty="0">
                <a:solidFill>
                  <a:srgbClr val="006FC0"/>
                </a:solidFill>
                <a:latin typeface="Carlito"/>
                <a:cs typeface="Carlito"/>
              </a:rPr>
              <a:t>char[20];  </a:t>
            </a:r>
            <a:r>
              <a:rPr sz="2800" b="1" spc="-10" dirty="0">
                <a:solidFill>
                  <a:srgbClr val="1F487C"/>
                </a:solidFill>
                <a:latin typeface="Carlito"/>
                <a:cs typeface="Carlito"/>
              </a:rPr>
              <a:t>s.getChars(4, </a:t>
            </a:r>
            <a:r>
              <a:rPr sz="2800" b="1" spc="-5" dirty="0">
                <a:solidFill>
                  <a:srgbClr val="1F487C"/>
                </a:solidFill>
                <a:latin typeface="Carlito"/>
                <a:cs typeface="Carlito"/>
              </a:rPr>
              <a:t>14</a:t>
            </a:r>
            <a:r>
              <a:rPr sz="2800" b="1" spc="60" dirty="0">
                <a:solidFill>
                  <a:srgbClr val="1F487C"/>
                </a:solidFill>
                <a:latin typeface="Carlito"/>
                <a:cs typeface="Carlito"/>
              </a:rPr>
              <a:t> </a:t>
            </a:r>
            <a:r>
              <a:rPr sz="2800" b="1" spc="-5" dirty="0">
                <a:solidFill>
                  <a:srgbClr val="1F487C"/>
                </a:solidFill>
                <a:latin typeface="Carlito"/>
                <a:cs typeface="Carlito"/>
              </a:rPr>
              <a:t>,chars,</a:t>
            </a:r>
            <a:r>
              <a:rPr sz="2800" b="1" spc="-5" dirty="0">
                <a:solidFill>
                  <a:srgbClr val="FF0000"/>
                </a:solidFill>
                <a:latin typeface="Carlito"/>
                <a:cs typeface="Carlito"/>
              </a:rPr>
              <a:t>4</a:t>
            </a:r>
            <a:r>
              <a:rPr sz="2800" b="1" spc="-5" dirty="0">
                <a:solidFill>
                  <a:srgbClr val="1F487C"/>
                </a:solidFill>
                <a:latin typeface="Carlito"/>
                <a:cs typeface="Carlito"/>
              </a:rPr>
              <a:t>);</a:t>
            </a:r>
            <a:endParaRPr sz="2800">
              <a:latin typeface="Carlito"/>
              <a:cs typeface="Carlito"/>
            </a:endParaRPr>
          </a:p>
          <a:p>
            <a:pPr marL="1841500">
              <a:lnSpc>
                <a:spcPts val="2115"/>
              </a:lnSpc>
            </a:pPr>
            <a:r>
              <a:rPr sz="1800" b="1" spc="-10" dirty="0">
                <a:solidFill>
                  <a:srgbClr val="FF0000"/>
                </a:solidFill>
                <a:latin typeface="Carlito"/>
                <a:cs typeface="Carlito"/>
              </a:rPr>
              <a:t>System.out.println(chars);</a:t>
            </a:r>
            <a:endParaRPr sz="1800">
              <a:latin typeface="Carlito"/>
              <a:cs typeface="Carlito"/>
            </a:endParaRPr>
          </a:p>
          <a:p>
            <a:pPr marR="3790950" algn="r">
              <a:lnSpc>
                <a:spcPct val="100000"/>
              </a:lnSpc>
            </a:pPr>
            <a:r>
              <a:rPr sz="1800" b="1" dirty="0">
                <a:latin typeface="Carlito"/>
                <a:cs typeface="Carlito"/>
              </a:rPr>
              <a:t>}// End of</a:t>
            </a:r>
            <a:r>
              <a:rPr sz="1800" b="1" spc="-70" dirty="0">
                <a:latin typeface="Carlito"/>
                <a:cs typeface="Carlito"/>
              </a:rPr>
              <a:t> </a:t>
            </a:r>
            <a:r>
              <a:rPr sz="1800" b="1" spc="-5" dirty="0">
                <a:latin typeface="Carlito"/>
                <a:cs typeface="Carlito"/>
              </a:rPr>
              <a:t>Method</a:t>
            </a:r>
            <a:endParaRPr sz="1800">
              <a:latin typeface="Carlito"/>
              <a:cs typeface="Carlito"/>
            </a:endParaRPr>
          </a:p>
          <a:p>
            <a:pPr marR="3844925" algn="r">
              <a:lnSpc>
                <a:spcPct val="100000"/>
              </a:lnSpc>
            </a:pPr>
            <a:r>
              <a:rPr sz="1800" b="1" dirty="0">
                <a:latin typeface="Carlito"/>
                <a:cs typeface="Carlito"/>
              </a:rPr>
              <a:t>}// End of </a:t>
            </a:r>
            <a:r>
              <a:rPr sz="1800" b="1" spc="-5" dirty="0">
                <a:latin typeface="Carlito"/>
                <a:cs typeface="Carlito"/>
              </a:rPr>
              <a:t>class</a:t>
            </a:r>
            <a:r>
              <a:rPr sz="1800" b="1" spc="-50" dirty="0">
                <a:latin typeface="Carlito"/>
                <a:cs typeface="Carlito"/>
              </a:rPr>
              <a:t> </a:t>
            </a:r>
            <a:r>
              <a:rPr sz="1800" b="1" spc="-5" dirty="0">
                <a:latin typeface="Carlito"/>
                <a:cs typeface="Carlito"/>
              </a:rPr>
              <a:t>StringDemo</a:t>
            </a:r>
            <a:endParaRPr sz="1800">
              <a:latin typeface="Carlito"/>
              <a:cs typeface="Carlito"/>
            </a:endParaRPr>
          </a:p>
          <a:p>
            <a:pPr>
              <a:lnSpc>
                <a:spcPct val="100000"/>
              </a:lnSpc>
              <a:spcBef>
                <a:spcPts val="40"/>
              </a:spcBef>
            </a:pPr>
            <a:endParaRPr sz="2250">
              <a:latin typeface="Carlito"/>
              <a:cs typeface="Carlito"/>
            </a:endParaRPr>
          </a:p>
          <a:p>
            <a:pPr marR="534035" algn="r">
              <a:lnSpc>
                <a:spcPct val="100000"/>
              </a:lnSpc>
              <a:spcBef>
                <a:spcPts val="5"/>
              </a:spcBef>
            </a:pPr>
            <a:r>
              <a:rPr sz="1800" b="1" spc="-5" dirty="0">
                <a:solidFill>
                  <a:srgbClr val="FF0000"/>
                </a:solidFill>
                <a:latin typeface="Carlito"/>
                <a:cs typeface="Carlito"/>
              </a:rPr>
              <a:t>&lt;</a:t>
            </a:r>
            <a:r>
              <a:rPr sz="1800" b="1" spc="5" dirty="0">
                <a:solidFill>
                  <a:srgbClr val="FF0000"/>
                </a:solidFill>
                <a:latin typeface="Carlito"/>
                <a:cs typeface="Carlito"/>
              </a:rPr>
              <a:t>&lt;</a:t>
            </a:r>
            <a:r>
              <a:rPr sz="1800" b="1" spc="-5" dirty="0">
                <a:solidFill>
                  <a:srgbClr val="FF0000"/>
                </a:solidFill>
                <a:latin typeface="Carlito"/>
                <a:cs typeface="Carlito"/>
              </a:rPr>
              <a:t>OU</a:t>
            </a:r>
            <a:r>
              <a:rPr sz="1800" b="1" spc="-10" dirty="0">
                <a:solidFill>
                  <a:srgbClr val="FF0000"/>
                </a:solidFill>
                <a:latin typeface="Carlito"/>
                <a:cs typeface="Carlito"/>
              </a:rPr>
              <a:t>T</a:t>
            </a:r>
            <a:r>
              <a:rPr sz="1800" b="1" spc="-5" dirty="0">
                <a:solidFill>
                  <a:srgbClr val="FF0000"/>
                </a:solidFill>
                <a:latin typeface="Carlito"/>
                <a:cs typeface="Carlito"/>
              </a:rPr>
              <a:t>PUT&gt;&gt;</a:t>
            </a:r>
            <a:endParaRPr sz="1800">
              <a:latin typeface="Carlito"/>
              <a:cs typeface="Carlito"/>
            </a:endParaRPr>
          </a:p>
          <a:p>
            <a:pPr marL="3108960" marR="1410970">
              <a:lnSpc>
                <a:spcPct val="100000"/>
              </a:lnSpc>
            </a:pPr>
            <a:r>
              <a:rPr sz="1800" b="1" spc="-10" dirty="0">
                <a:solidFill>
                  <a:srgbClr val="FF0000"/>
                </a:solidFill>
                <a:latin typeface="Carlito"/>
                <a:cs typeface="Carlito"/>
              </a:rPr>
              <a:t>F:\&gt;java </a:t>
            </a:r>
            <a:r>
              <a:rPr sz="1800" b="1" spc="-5" dirty="0">
                <a:solidFill>
                  <a:srgbClr val="FF0000"/>
                </a:solidFill>
                <a:latin typeface="Carlito"/>
                <a:cs typeface="Carlito"/>
              </a:rPr>
              <a:t>StringDemo  </a:t>
            </a:r>
            <a:r>
              <a:rPr sz="1800" b="1" spc="-15" dirty="0">
                <a:solidFill>
                  <a:srgbClr val="FF0000"/>
                </a:solidFill>
                <a:latin typeface="Carlito"/>
                <a:cs typeface="Carlito"/>
              </a:rPr>
              <a:t>Java</a:t>
            </a:r>
            <a:r>
              <a:rPr sz="1800" b="1" spc="-5" dirty="0">
                <a:solidFill>
                  <a:srgbClr val="FF0000"/>
                </a:solidFill>
                <a:latin typeface="Carlito"/>
                <a:cs typeface="Carlito"/>
              </a:rPr>
              <a:t> </a:t>
            </a:r>
            <a:r>
              <a:rPr sz="1800" b="1" spc="-10" dirty="0">
                <a:solidFill>
                  <a:srgbClr val="FF0000"/>
                </a:solidFill>
                <a:latin typeface="Carlito"/>
                <a:cs typeface="Carlito"/>
              </a:rPr>
              <a:t>conv</a:t>
            </a:r>
            <a:endParaRPr sz="1800">
              <a:latin typeface="Carlito"/>
              <a:cs typeface="Carli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81150"/>
            <a:ext cx="7882890" cy="1125220"/>
          </a:xfrm>
          <a:prstGeom prst="rect">
            <a:avLst/>
          </a:prstGeom>
        </p:spPr>
        <p:txBody>
          <a:bodyPr vert="horz" wrap="square" lIns="0" tIns="12700" rIns="0" bIns="0" rtlCol="0">
            <a:spAutoFit/>
          </a:bodyPr>
          <a:lstStyle/>
          <a:p>
            <a:pPr marL="355600" indent="-342900">
              <a:lnSpc>
                <a:spcPts val="2745"/>
              </a:lnSpc>
              <a:spcBef>
                <a:spcPts val="100"/>
              </a:spcBef>
              <a:buClr>
                <a:srgbClr val="0F1141"/>
              </a:buClr>
              <a:buChar char="•"/>
              <a:tabLst>
                <a:tab pos="354965" algn="l"/>
                <a:tab pos="355600" algn="l"/>
              </a:tabLst>
            </a:pPr>
            <a:r>
              <a:rPr sz="2400" dirty="0">
                <a:solidFill>
                  <a:srgbClr val="FF0000"/>
                </a:solidFill>
                <a:latin typeface="Arial"/>
                <a:cs typeface="Arial"/>
              </a:rPr>
              <a:t>byte[] </a:t>
            </a:r>
            <a:r>
              <a:rPr sz="2400" spc="-5" dirty="0">
                <a:solidFill>
                  <a:srgbClr val="FF0000"/>
                </a:solidFill>
                <a:latin typeface="Arial"/>
                <a:cs typeface="Arial"/>
              </a:rPr>
              <a:t>getBytes() </a:t>
            </a:r>
            <a:r>
              <a:rPr sz="2400" dirty="0">
                <a:solidFill>
                  <a:srgbClr val="FF0000"/>
                </a:solidFill>
                <a:latin typeface="Wingdings"/>
                <a:cs typeface="Wingdings"/>
              </a:rPr>
              <a:t></a:t>
            </a:r>
            <a:r>
              <a:rPr sz="2400" dirty="0">
                <a:solidFill>
                  <a:srgbClr val="FF0000"/>
                </a:solidFill>
                <a:latin typeface="Times New Roman"/>
                <a:cs typeface="Times New Roman"/>
              </a:rPr>
              <a:t> </a:t>
            </a:r>
            <a:r>
              <a:rPr sz="2400" spc="-5" dirty="0">
                <a:latin typeface="Arial"/>
                <a:cs typeface="Arial"/>
              </a:rPr>
              <a:t>Converts each character </a:t>
            </a:r>
            <a:r>
              <a:rPr sz="2400" dirty="0">
                <a:latin typeface="Arial"/>
                <a:cs typeface="Arial"/>
              </a:rPr>
              <a:t>of string</a:t>
            </a:r>
            <a:r>
              <a:rPr sz="2400" spc="95" dirty="0">
                <a:latin typeface="Arial"/>
                <a:cs typeface="Arial"/>
              </a:rPr>
              <a:t> </a:t>
            </a:r>
            <a:r>
              <a:rPr sz="2400" dirty="0">
                <a:latin typeface="Arial"/>
                <a:cs typeface="Arial"/>
              </a:rPr>
              <a:t>to</a:t>
            </a:r>
            <a:endParaRPr sz="2400">
              <a:latin typeface="Arial"/>
              <a:cs typeface="Arial"/>
            </a:endParaRPr>
          </a:p>
          <a:p>
            <a:pPr marL="355600">
              <a:lnSpc>
                <a:spcPts val="2745"/>
              </a:lnSpc>
            </a:pPr>
            <a:r>
              <a:rPr sz="2400" spc="-5" dirty="0">
                <a:latin typeface="Arial"/>
                <a:cs typeface="Arial"/>
              </a:rPr>
              <a:t>byte and </a:t>
            </a:r>
            <a:r>
              <a:rPr sz="2400" dirty="0">
                <a:latin typeface="Arial"/>
                <a:cs typeface="Arial"/>
              </a:rPr>
              <a:t>returns </a:t>
            </a:r>
            <a:r>
              <a:rPr sz="2400" spc="-5" dirty="0">
                <a:latin typeface="Arial"/>
                <a:cs typeface="Arial"/>
              </a:rPr>
              <a:t>a </a:t>
            </a:r>
            <a:r>
              <a:rPr sz="2400" dirty="0">
                <a:latin typeface="Arial"/>
                <a:cs typeface="Arial"/>
              </a:rPr>
              <a:t>byte</a:t>
            </a:r>
            <a:r>
              <a:rPr sz="2400" spc="10" dirty="0">
                <a:latin typeface="Arial"/>
                <a:cs typeface="Arial"/>
              </a:rPr>
              <a:t> </a:t>
            </a:r>
            <a:r>
              <a:rPr sz="2400" spc="-5" dirty="0">
                <a:latin typeface="Arial"/>
                <a:cs typeface="Arial"/>
              </a:rPr>
              <a:t>arrays</a:t>
            </a:r>
            <a:endParaRPr sz="2400">
              <a:latin typeface="Arial"/>
              <a:cs typeface="Arial"/>
            </a:endParaRPr>
          </a:p>
          <a:p>
            <a:pPr marL="355600" indent="-342900">
              <a:lnSpc>
                <a:spcPct val="100000"/>
              </a:lnSpc>
              <a:spcBef>
                <a:spcPts val="290"/>
              </a:spcBef>
              <a:buClr>
                <a:srgbClr val="0F1141"/>
              </a:buClr>
              <a:buChar char="•"/>
              <a:tabLst>
                <a:tab pos="354965" algn="l"/>
                <a:tab pos="355600" algn="l"/>
              </a:tabLst>
            </a:pPr>
            <a:r>
              <a:rPr sz="2400" spc="-5" dirty="0">
                <a:latin typeface="Arial"/>
                <a:cs typeface="Arial"/>
              </a:rPr>
              <a:t>Example</a:t>
            </a:r>
            <a:endParaRPr sz="2400">
              <a:latin typeface="Arial"/>
              <a:cs typeface="Arial"/>
            </a:endParaRPr>
          </a:p>
        </p:txBody>
      </p:sp>
      <p:sp>
        <p:nvSpPr>
          <p:cNvPr id="3" name="object 3"/>
          <p:cNvSpPr txBox="1"/>
          <p:nvPr/>
        </p:nvSpPr>
        <p:spPr>
          <a:xfrm>
            <a:off x="396240" y="2580741"/>
            <a:ext cx="4458335" cy="1032510"/>
          </a:xfrm>
          <a:prstGeom prst="rect">
            <a:avLst/>
          </a:prstGeom>
        </p:spPr>
        <p:txBody>
          <a:bodyPr vert="horz" wrap="square" lIns="0" tIns="12700" rIns="0" bIns="0" rtlCol="0">
            <a:spAutoFit/>
          </a:bodyPr>
          <a:lstStyle/>
          <a:p>
            <a:pPr marL="419100" marR="335915" indent="-419100">
              <a:lnSpc>
                <a:spcPct val="110100"/>
              </a:lnSpc>
              <a:spcBef>
                <a:spcPts val="100"/>
              </a:spcBef>
              <a:tabLst>
                <a:tab pos="456565" algn="l"/>
                <a:tab pos="1828800" algn="l"/>
                <a:tab pos="3657600" algn="l"/>
              </a:tabLst>
            </a:pPr>
            <a:r>
              <a:rPr sz="2000" dirty="0">
                <a:solidFill>
                  <a:srgbClr val="0F1141"/>
                </a:solidFill>
                <a:latin typeface="Arial"/>
                <a:cs typeface="Arial"/>
              </a:rPr>
              <a:t>1.		</a:t>
            </a:r>
            <a:r>
              <a:rPr sz="2000" dirty="0">
                <a:latin typeface="Arial"/>
                <a:cs typeface="Arial"/>
              </a:rPr>
              <a:t>byte[]	values	=  for(int i =0; i &lt; values.length;</a:t>
            </a:r>
            <a:r>
              <a:rPr sz="2000" spc="-165" dirty="0">
                <a:latin typeface="Arial"/>
                <a:cs typeface="Arial"/>
              </a:rPr>
              <a:t> </a:t>
            </a:r>
            <a:r>
              <a:rPr sz="2000" dirty="0">
                <a:latin typeface="Arial"/>
                <a:cs typeface="Arial"/>
              </a:rPr>
              <a:t>i++)</a:t>
            </a:r>
          </a:p>
          <a:p>
            <a:pPr marL="914400">
              <a:lnSpc>
                <a:spcPct val="100000"/>
              </a:lnSpc>
              <a:spcBef>
                <a:spcPts val="240"/>
              </a:spcBef>
            </a:pPr>
            <a:r>
              <a:rPr sz="2000" spc="-5" dirty="0">
                <a:latin typeface="Arial"/>
                <a:cs typeface="Arial"/>
              </a:rPr>
              <a:t>System.out.print(values[i] </a:t>
            </a:r>
            <a:r>
              <a:rPr sz="2000" dirty="0">
                <a:latin typeface="Arial"/>
                <a:cs typeface="Arial"/>
              </a:rPr>
              <a:t>+ “</a:t>
            </a:r>
            <a:r>
              <a:rPr sz="2000" spc="-40" dirty="0">
                <a:latin typeface="Arial"/>
                <a:cs typeface="Arial"/>
              </a:rPr>
              <a:t> </a:t>
            </a:r>
            <a:r>
              <a:rPr sz="2000" dirty="0">
                <a:latin typeface="Arial"/>
                <a:cs typeface="Arial"/>
              </a:rPr>
              <a:t>“);</a:t>
            </a:r>
          </a:p>
        </p:txBody>
      </p:sp>
      <p:sp>
        <p:nvSpPr>
          <p:cNvPr id="4" name="object 4"/>
          <p:cNvSpPr txBox="1"/>
          <p:nvPr/>
        </p:nvSpPr>
        <p:spPr>
          <a:xfrm>
            <a:off x="4956428" y="2610993"/>
            <a:ext cx="2229485"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Arial"/>
                <a:cs typeface="Arial"/>
              </a:rPr>
              <a:t>“Object”.getBytes();</a:t>
            </a:r>
            <a:endParaRPr sz="2000">
              <a:latin typeface="Arial"/>
              <a:cs typeface="Arial"/>
            </a:endParaRPr>
          </a:p>
        </p:txBody>
      </p:sp>
      <p:graphicFrame>
        <p:nvGraphicFramePr>
          <p:cNvPr id="5" name="object 5"/>
          <p:cNvGraphicFramePr>
            <a:graphicFrameLocks noGrp="1"/>
          </p:cNvGraphicFramePr>
          <p:nvPr/>
        </p:nvGraphicFramePr>
        <p:xfrm>
          <a:off x="364490" y="4324836"/>
          <a:ext cx="5289549" cy="954892"/>
        </p:xfrm>
        <a:graphic>
          <a:graphicData uri="http://schemas.openxmlformats.org/drawingml/2006/table">
            <a:tbl>
              <a:tblPr firstRow="1" bandRow="1">
                <a:tableStyleId>{2D5ABB26-0587-4C30-8999-92F81FD0307C}</a:tableStyleId>
              </a:tblPr>
              <a:tblGrid>
                <a:gridCol w="1487805">
                  <a:extLst>
                    <a:ext uri="{9D8B030D-6E8A-4147-A177-3AD203B41FA5}">
                      <a16:colId xmlns:a16="http://schemas.microsoft.com/office/drawing/2014/main" val="20000"/>
                    </a:ext>
                  </a:extLst>
                </a:gridCol>
                <a:gridCol w="1133475">
                  <a:extLst>
                    <a:ext uri="{9D8B030D-6E8A-4147-A177-3AD203B41FA5}">
                      <a16:colId xmlns:a16="http://schemas.microsoft.com/office/drawing/2014/main" val="20001"/>
                    </a:ext>
                  </a:extLst>
                </a:gridCol>
                <a:gridCol w="685165">
                  <a:extLst>
                    <a:ext uri="{9D8B030D-6E8A-4147-A177-3AD203B41FA5}">
                      <a16:colId xmlns:a16="http://schemas.microsoft.com/office/drawing/2014/main" val="20002"/>
                    </a:ext>
                  </a:extLst>
                </a:gridCol>
                <a:gridCol w="1983104">
                  <a:extLst>
                    <a:ext uri="{9D8B030D-6E8A-4147-A177-3AD203B41FA5}">
                      <a16:colId xmlns:a16="http://schemas.microsoft.com/office/drawing/2014/main" val="20003"/>
                    </a:ext>
                  </a:extLst>
                </a:gridCol>
              </a:tblGrid>
              <a:tr h="309806">
                <a:tc>
                  <a:txBody>
                    <a:bodyPr/>
                    <a:lstStyle/>
                    <a:p>
                      <a:pPr marR="368935" algn="r">
                        <a:lnSpc>
                          <a:spcPts val="2215"/>
                        </a:lnSpc>
                        <a:tabLst>
                          <a:tab pos="456565" algn="l"/>
                        </a:tabLst>
                      </a:pPr>
                      <a:r>
                        <a:rPr sz="2000" dirty="0">
                          <a:solidFill>
                            <a:srgbClr val="0F1141"/>
                          </a:solidFill>
                          <a:latin typeface="Arial"/>
                          <a:cs typeface="Arial"/>
                        </a:rPr>
                        <a:t>2.	</a:t>
                      </a:r>
                      <a:r>
                        <a:rPr sz="2000" dirty="0">
                          <a:latin typeface="Arial"/>
                          <a:cs typeface="Arial"/>
                        </a:rPr>
                        <a:t>byte[]</a:t>
                      </a:r>
                      <a:endParaRPr sz="2000">
                        <a:latin typeface="Arial"/>
                        <a:cs typeface="Arial"/>
                      </a:endParaRPr>
                    </a:p>
                  </a:txBody>
                  <a:tcPr marL="0" marR="0" marT="0" marB="0"/>
                </a:tc>
                <a:tc>
                  <a:txBody>
                    <a:bodyPr/>
                    <a:lstStyle/>
                    <a:p>
                      <a:pPr marL="372110">
                        <a:lnSpc>
                          <a:spcPts val="2215"/>
                        </a:lnSpc>
                      </a:pPr>
                      <a:r>
                        <a:rPr sz="2000" spc="-5" dirty="0">
                          <a:latin typeface="Arial"/>
                          <a:cs typeface="Arial"/>
                        </a:rPr>
                        <a:t>bytes</a:t>
                      </a:r>
                      <a:endParaRPr sz="2000">
                        <a:latin typeface="Arial"/>
                        <a:cs typeface="Arial"/>
                      </a:endParaRPr>
                    </a:p>
                  </a:txBody>
                  <a:tcPr marL="0" marR="0" marT="0" marB="0"/>
                </a:tc>
                <a:tc>
                  <a:txBody>
                    <a:bodyPr/>
                    <a:lstStyle/>
                    <a:p>
                      <a:pPr marL="153670">
                        <a:lnSpc>
                          <a:spcPts val="2215"/>
                        </a:lnSpc>
                      </a:pPr>
                      <a:r>
                        <a:rPr sz="2000" dirty="0">
                          <a:latin typeface="Arial"/>
                          <a:cs typeface="Arial"/>
                        </a:rPr>
                        <a:t>=</a:t>
                      </a:r>
                      <a:endParaRPr sz="2000">
                        <a:latin typeface="Arial"/>
                        <a:cs typeface="Arial"/>
                      </a:endParaRPr>
                    </a:p>
                  </a:txBody>
                  <a:tcPr marL="0" marR="0" marT="0" marB="0"/>
                </a:tc>
                <a:tc>
                  <a:txBody>
                    <a:bodyPr/>
                    <a:lstStyle/>
                    <a:p>
                      <a:pPr marL="382270">
                        <a:lnSpc>
                          <a:spcPts val="2215"/>
                        </a:lnSpc>
                      </a:pPr>
                      <a:r>
                        <a:rPr sz="2000" dirty="0">
                          <a:latin typeface="Arial"/>
                          <a:cs typeface="Arial"/>
                        </a:rPr>
                        <a:t>new</a:t>
                      </a:r>
                      <a:r>
                        <a:rPr sz="2000" spc="-55" dirty="0">
                          <a:latin typeface="Arial"/>
                          <a:cs typeface="Arial"/>
                        </a:rPr>
                        <a:t> </a:t>
                      </a:r>
                      <a:r>
                        <a:rPr sz="2000" dirty="0">
                          <a:latin typeface="Arial"/>
                          <a:cs typeface="Arial"/>
                        </a:rPr>
                        <a:t>byte[10];</a:t>
                      </a:r>
                      <a:endParaRPr sz="2000">
                        <a:latin typeface="Arial"/>
                        <a:cs typeface="Arial"/>
                      </a:endParaRPr>
                    </a:p>
                  </a:txBody>
                  <a:tcPr marL="0" marR="0" marT="0" marB="0"/>
                </a:tc>
                <a:extLst>
                  <a:ext uri="{0D108BD9-81ED-4DB2-BD59-A6C34878D82A}">
                    <a16:rowId xmlns:a16="http://schemas.microsoft.com/office/drawing/2014/main" val="10000"/>
                  </a:ext>
                </a:extLst>
              </a:tr>
              <a:tr h="335280">
                <a:tc>
                  <a:txBody>
                    <a:bodyPr/>
                    <a:lstStyle/>
                    <a:p>
                      <a:pPr marR="364490" algn="r">
                        <a:lnSpc>
                          <a:spcPct val="100000"/>
                        </a:lnSpc>
                        <a:spcBef>
                          <a:spcPts val="15"/>
                        </a:spcBef>
                      </a:pPr>
                      <a:r>
                        <a:rPr sz="2000" dirty="0">
                          <a:latin typeface="Arial"/>
                          <a:cs typeface="Arial"/>
                        </a:rPr>
                        <a:t>S</a:t>
                      </a:r>
                      <a:r>
                        <a:rPr sz="2000" spc="-10" dirty="0">
                          <a:latin typeface="Arial"/>
                          <a:cs typeface="Arial"/>
                        </a:rPr>
                        <a:t>t</a:t>
                      </a:r>
                      <a:r>
                        <a:rPr sz="2000" dirty="0">
                          <a:latin typeface="Arial"/>
                          <a:cs typeface="Arial"/>
                        </a:rPr>
                        <a:t>ri</a:t>
                      </a:r>
                      <a:r>
                        <a:rPr sz="2000" spc="5" dirty="0">
                          <a:latin typeface="Arial"/>
                          <a:cs typeface="Arial"/>
                        </a:rPr>
                        <a:t>n</a:t>
                      </a:r>
                      <a:r>
                        <a:rPr sz="2000" dirty="0">
                          <a:latin typeface="Arial"/>
                          <a:cs typeface="Arial"/>
                        </a:rPr>
                        <a:t>g</a:t>
                      </a:r>
                      <a:endParaRPr sz="2000">
                        <a:latin typeface="Arial"/>
                        <a:cs typeface="Arial"/>
                      </a:endParaRPr>
                    </a:p>
                  </a:txBody>
                  <a:tcPr marL="0" marR="0" marT="1905" marB="0"/>
                </a:tc>
                <a:tc>
                  <a:txBody>
                    <a:bodyPr/>
                    <a:lstStyle/>
                    <a:p>
                      <a:pPr marL="372110">
                        <a:lnSpc>
                          <a:spcPct val="100000"/>
                        </a:lnSpc>
                        <a:spcBef>
                          <a:spcPts val="15"/>
                        </a:spcBef>
                      </a:pPr>
                      <a:r>
                        <a:rPr sz="2000" dirty="0">
                          <a:latin typeface="Arial"/>
                          <a:cs typeface="Arial"/>
                        </a:rPr>
                        <a:t>s1</a:t>
                      </a:r>
                      <a:endParaRPr sz="2000">
                        <a:latin typeface="Arial"/>
                        <a:cs typeface="Arial"/>
                      </a:endParaRPr>
                    </a:p>
                  </a:txBody>
                  <a:tcPr marL="0" marR="0" marT="1905" marB="0"/>
                </a:tc>
                <a:tc>
                  <a:txBody>
                    <a:bodyPr/>
                    <a:lstStyle/>
                    <a:p>
                      <a:pPr marL="153670">
                        <a:lnSpc>
                          <a:spcPct val="100000"/>
                        </a:lnSpc>
                        <a:spcBef>
                          <a:spcPts val="15"/>
                        </a:spcBef>
                      </a:pPr>
                      <a:r>
                        <a:rPr sz="2000" dirty="0">
                          <a:latin typeface="Arial"/>
                          <a:cs typeface="Arial"/>
                        </a:rPr>
                        <a:t>=</a:t>
                      </a:r>
                      <a:endParaRPr sz="2000">
                        <a:latin typeface="Arial"/>
                        <a:cs typeface="Arial"/>
                      </a:endParaRPr>
                    </a:p>
                  </a:txBody>
                  <a:tcPr marL="0" marR="0" marT="1905" marB="0"/>
                </a:tc>
                <a:tc>
                  <a:txBody>
                    <a:bodyPr/>
                    <a:lstStyle/>
                    <a:p>
                      <a:pPr marL="382270">
                        <a:lnSpc>
                          <a:spcPct val="100000"/>
                        </a:lnSpc>
                        <a:spcBef>
                          <a:spcPts val="15"/>
                        </a:spcBef>
                      </a:pPr>
                      <a:r>
                        <a:rPr sz="2000" spc="-5" dirty="0">
                          <a:latin typeface="Arial"/>
                          <a:cs typeface="Arial"/>
                        </a:rPr>
                        <a:t>“Java”;</a:t>
                      </a:r>
                      <a:endParaRPr sz="2000">
                        <a:latin typeface="Arial"/>
                        <a:cs typeface="Arial"/>
                      </a:endParaRPr>
                    </a:p>
                  </a:txBody>
                  <a:tcPr marL="0" marR="0" marT="1905" marB="0"/>
                </a:tc>
                <a:extLst>
                  <a:ext uri="{0D108BD9-81ED-4DB2-BD59-A6C34878D82A}">
                    <a16:rowId xmlns:a16="http://schemas.microsoft.com/office/drawing/2014/main" val="10001"/>
                  </a:ext>
                </a:extLst>
              </a:tr>
              <a:tr h="309806">
                <a:tc>
                  <a:txBody>
                    <a:bodyPr/>
                    <a:lstStyle/>
                    <a:p>
                      <a:pPr marL="450850">
                        <a:lnSpc>
                          <a:spcPts val="2325"/>
                        </a:lnSpc>
                        <a:spcBef>
                          <a:spcPts val="15"/>
                        </a:spcBef>
                      </a:pPr>
                      <a:r>
                        <a:rPr sz="2000" dirty="0">
                          <a:latin typeface="Arial"/>
                          <a:cs typeface="Arial"/>
                        </a:rPr>
                        <a:t>bytes</a:t>
                      </a:r>
                      <a:endParaRPr sz="2000">
                        <a:latin typeface="Arial"/>
                        <a:cs typeface="Arial"/>
                      </a:endParaRPr>
                    </a:p>
                  </a:txBody>
                  <a:tcPr marL="0" marR="0" marT="1905" marB="0"/>
                </a:tc>
                <a:tc>
                  <a:txBody>
                    <a:bodyPr/>
                    <a:lstStyle/>
                    <a:p>
                      <a:pPr>
                        <a:lnSpc>
                          <a:spcPct val="100000"/>
                        </a:lnSpc>
                      </a:pPr>
                      <a:endParaRPr sz="1900">
                        <a:latin typeface="Times New Roman"/>
                        <a:cs typeface="Times New Roman"/>
                      </a:endParaRPr>
                    </a:p>
                  </a:txBody>
                  <a:tcPr marL="0" marR="0" marT="0" marB="0"/>
                </a:tc>
                <a:tc>
                  <a:txBody>
                    <a:bodyPr/>
                    <a:lstStyle/>
                    <a:p>
                      <a:pPr marL="153670">
                        <a:lnSpc>
                          <a:spcPts val="2325"/>
                        </a:lnSpc>
                        <a:spcBef>
                          <a:spcPts val="15"/>
                        </a:spcBef>
                      </a:pPr>
                      <a:r>
                        <a:rPr sz="2000" dirty="0">
                          <a:latin typeface="Arial"/>
                          <a:cs typeface="Arial"/>
                        </a:rPr>
                        <a:t>=</a:t>
                      </a:r>
                      <a:endParaRPr sz="2000">
                        <a:latin typeface="Arial"/>
                        <a:cs typeface="Arial"/>
                      </a:endParaRPr>
                    </a:p>
                  </a:txBody>
                  <a:tcPr marL="0" marR="0" marT="1905" marB="0"/>
                </a:tc>
                <a:tc>
                  <a:txBody>
                    <a:bodyPr/>
                    <a:lstStyle/>
                    <a:p>
                      <a:pPr marL="382270">
                        <a:lnSpc>
                          <a:spcPts val="2325"/>
                        </a:lnSpc>
                        <a:spcBef>
                          <a:spcPts val="15"/>
                        </a:spcBef>
                      </a:pPr>
                      <a:r>
                        <a:rPr sz="2000" dirty="0">
                          <a:latin typeface="Arial"/>
                          <a:cs typeface="Arial"/>
                        </a:rPr>
                        <a:t>s1.getBytes();</a:t>
                      </a:r>
                      <a:endParaRPr sz="2000">
                        <a:latin typeface="Arial"/>
                        <a:cs typeface="Arial"/>
                      </a:endParaRPr>
                    </a:p>
                  </a:txBody>
                  <a:tcPr marL="0" marR="0" marT="1905" marB="0"/>
                </a:tc>
                <a:extLst>
                  <a:ext uri="{0D108BD9-81ED-4DB2-BD59-A6C34878D82A}">
                    <a16:rowId xmlns:a16="http://schemas.microsoft.com/office/drawing/2014/main" val="10002"/>
                  </a:ext>
                </a:extLst>
              </a:tr>
            </a:tbl>
          </a:graphicData>
        </a:graphic>
      </p:graphicFrame>
      <p:sp>
        <p:nvSpPr>
          <p:cNvPr id="6" name="object 6"/>
          <p:cNvSpPr txBox="1"/>
          <p:nvPr/>
        </p:nvSpPr>
        <p:spPr>
          <a:xfrm>
            <a:off x="802640" y="5263412"/>
            <a:ext cx="3923665" cy="697230"/>
          </a:xfrm>
          <a:prstGeom prst="rect">
            <a:avLst/>
          </a:prstGeom>
        </p:spPr>
        <p:txBody>
          <a:bodyPr vert="horz" wrap="square" lIns="0" tIns="43180" rIns="0" bIns="0" rtlCol="0">
            <a:spAutoFit/>
          </a:bodyPr>
          <a:lstStyle/>
          <a:p>
            <a:pPr marL="12700">
              <a:lnSpc>
                <a:spcPct val="100000"/>
              </a:lnSpc>
              <a:spcBef>
                <a:spcPts val="340"/>
              </a:spcBef>
            </a:pPr>
            <a:r>
              <a:rPr sz="2000" dirty="0">
                <a:latin typeface="Arial"/>
                <a:cs typeface="Arial"/>
              </a:rPr>
              <a:t>for(int i =0; i &lt; bytes.length;</a:t>
            </a:r>
            <a:r>
              <a:rPr sz="2000" spc="-160" dirty="0">
                <a:latin typeface="Arial"/>
                <a:cs typeface="Arial"/>
              </a:rPr>
              <a:t> </a:t>
            </a:r>
            <a:r>
              <a:rPr sz="2000" dirty="0">
                <a:latin typeface="Arial"/>
                <a:cs typeface="Arial"/>
              </a:rPr>
              <a:t>i++)</a:t>
            </a:r>
            <a:endParaRPr sz="2000">
              <a:latin typeface="Arial"/>
              <a:cs typeface="Arial"/>
            </a:endParaRPr>
          </a:p>
          <a:p>
            <a:pPr marL="508000">
              <a:lnSpc>
                <a:spcPct val="100000"/>
              </a:lnSpc>
              <a:spcBef>
                <a:spcPts val="245"/>
              </a:spcBef>
            </a:pPr>
            <a:r>
              <a:rPr sz="2000" spc="-5" dirty="0">
                <a:latin typeface="Arial"/>
                <a:cs typeface="Arial"/>
              </a:rPr>
              <a:t>System.out.print(bytes[i] </a:t>
            </a:r>
            <a:r>
              <a:rPr sz="2000" dirty="0">
                <a:latin typeface="Arial"/>
                <a:cs typeface="Arial"/>
              </a:rPr>
              <a:t>+ “</a:t>
            </a:r>
            <a:r>
              <a:rPr sz="2000" spc="-50" dirty="0">
                <a:latin typeface="Arial"/>
                <a:cs typeface="Arial"/>
              </a:rPr>
              <a:t> </a:t>
            </a:r>
            <a:r>
              <a:rPr sz="2000" dirty="0">
                <a:latin typeface="Arial"/>
                <a:cs typeface="Arial"/>
              </a:rPr>
              <a:t>“);</a:t>
            </a:r>
            <a:endParaRPr sz="2000">
              <a:latin typeface="Arial"/>
              <a:cs typeface="Arial"/>
            </a:endParaRPr>
          </a:p>
        </p:txBody>
      </p:sp>
      <p:sp>
        <p:nvSpPr>
          <p:cNvPr id="7" name="object 7"/>
          <p:cNvSpPr txBox="1">
            <a:spLocks noGrp="1"/>
          </p:cNvSpPr>
          <p:nvPr>
            <p:ph type="title"/>
          </p:nvPr>
        </p:nvSpPr>
        <p:spPr>
          <a:xfrm>
            <a:off x="383540" y="379221"/>
            <a:ext cx="5184140" cy="574040"/>
          </a:xfrm>
          <a:prstGeom prst="rect">
            <a:avLst/>
          </a:prstGeom>
        </p:spPr>
        <p:txBody>
          <a:bodyPr vert="horz" wrap="square" lIns="0" tIns="12700" rIns="0" bIns="0" rtlCol="0">
            <a:spAutoFit/>
          </a:bodyPr>
          <a:lstStyle/>
          <a:p>
            <a:pPr marL="12700">
              <a:lnSpc>
                <a:spcPct val="100000"/>
              </a:lnSpc>
              <a:spcBef>
                <a:spcPts val="100"/>
              </a:spcBef>
            </a:pPr>
            <a:r>
              <a:rPr sz="3600" i="0" spc="-135" dirty="0">
                <a:solidFill>
                  <a:srgbClr val="000000"/>
                </a:solidFill>
                <a:latin typeface="Arial"/>
                <a:cs typeface="Arial"/>
              </a:rPr>
              <a:t>byte[] </a:t>
            </a:r>
            <a:r>
              <a:rPr sz="3600" i="0" spc="-140" dirty="0">
                <a:solidFill>
                  <a:srgbClr val="000000"/>
                </a:solidFill>
                <a:latin typeface="Arial"/>
                <a:cs typeface="Arial"/>
              </a:rPr>
              <a:t>getBytes() </a:t>
            </a:r>
            <a:r>
              <a:rPr sz="3600" i="0" dirty="0">
                <a:solidFill>
                  <a:srgbClr val="000000"/>
                </a:solidFill>
                <a:latin typeface="Arial"/>
                <a:cs typeface="Arial"/>
              </a:rPr>
              <a:t>:</a:t>
            </a:r>
            <a:r>
              <a:rPr sz="3600" i="0" spc="-605" dirty="0">
                <a:solidFill>
                  <a:srgbClr val="000000"/>
                </a:solidFill>
                <a:latin typeface="Arial"/>
                <a:cs typeface="Arial"/>
              </a:rPr>
              <a:t> </a:t>
            </a:r>
            <a:r>
              <a:rPr sz="3600" i="0" spc="-135" dirty="0">
                <a:solidFill>
                  <a:srgbClr val="000000"/>
                </a:solidFill>
                <a:latin typeface="Arial"/>
                <a:cs typeface="Arial"/>
              </a:rPr>
              <a:t>Method</a:t>
            </a:r>
            <a:endParaRPr sz="3600" dirty="0">
              <a:latin typeface="Arial"/>
              <a:cs typeface="Arial"/>
            </a:endParaRPr>
          </a:p>
        </p:txBody>
      </p:sp>
      <p:sp>
        <p:nvSpPr>
          <p:cNvPr id="8" name="object 8"/>
          <p:cNvSpPr txBox="1"/>
          <p:nvPr/>
        </p:nvSpPr>
        <p:spPr>
          <a:xfrm>
            <a:off x="5388990" y="3311144"/>
            <a:ext cx="2481580" cy="330835"/>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FF0000"/>
                </a:solidFill>
                <a:latin typeface="Arial"/>
                <a:cs typeface="Arial"/>
              </a:rPr>
              <a:t>79 98 106 101 99</a:t>
            </a:r>
            <a:r>
              <a:rPr sz="2000" b="1" spc="-135" dirty="0">
                <a:solidFill>
                  <a:srgbClr val="FF0000"/>
                </a:solidFill>
                <a:latin typeface="Arial"/>
                <a:cs typeface="Arial"/>
              </a:rPr>
              <a:t> </a:t>
            </a:r>
            <a:r>
              <a:rPr sz="2000" b="1" spc="-35" dirty="0">
                <a:solidFill>
                  <a:srgbClr val="FF0000"/>
                </a:solidFill>
                <a:latin typeface="Arial"/>
                <a:cs typeface="Arial"/>
              </a:rPr>
              <a:t>116</a:t>
            </a:r>
            <a:endParaRPr sz="2000">
              <a:latin typeface="Arial"/>
              <a:cs typeface="Arial"/>
            </a:endParaRPr>
          </a:p>
        </p:txBody>
      </p:sp>
      <p:sp>
        <p:nvSpPr>
          <p:cNvPr id="9" name="object 9"/>
          <p:cNvSpPr txBox="1"/>
          <p:nvPr/>
        </p:nvSpPr>
        <p:spPr>
          <a:xfrm>
            <a:off x="5515736" y="5520638"/>
            <a:ext cx="178943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0000"/>
                </a:solidFill>
                <a:latin typeface="Arial"/>
                <a:cs typeface="Arial"/>
              </a:rPr>
              <a:t>74 97 </a:t>
            </a:r>
            <a:r>
              <a:rPr sz="2400" b="1" spc="-50" dirty="0">
                <a:solidFill>
                  <a:srgbClr val="FF0000"/>
                </a:solidFill>
                <a:latin typeface="Arial"/>
                <a:cs typeface="Arial"/>
              </a:rPr>
              <a:t>118</a:t>
            </a:r>
            <a:r>
              <a:rPr sz="2400" b="1" spc="-40" dirty="0">
                <a:solidFill>
                  <a:srgbClr val="FF0000"/>
                </a:solidFill>
                <a:latin typeface="Arial"/>
                <a:cs typeface="Arial"/>
              </a:rPr>
              <a:t> </a:t>
            </a:r>
            <a:r>
              <a:rPr sz="2400" b="1" spc="-5" dirty="0">
                <a:solidFill>
                  <a:srgbClr val="FF0000"/>
                </a:solidFill>
                <a:latin typeface="Arial"/>
                <a:cs typeface="Arial"/>
              </a:rPr>
              <a:t>97</a:t>
            </a:r>
            <a:endParaRPr sz="240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7726"/>
            <a:ext cx="8475980" cy="3912870"/>
          </a:xfrm>
          <a:prstGeom prst="rect">
            <a:avLst/>
          </a:prstGeom>
        </p:spPr>
        <p:txBody>
          <a:bodyPr vert="horz" wrap="square" lIns="0" tIns="12700" rIns="0" bIns="0" rtlCol="0">
            <a:spAutoFit/>
          </a:bodyPr>
          <a:lstStyle/>
          <a:p>
            <a:pPr marL="355600" indent="-342900">
              <a:lnSpc>
                <a:spcPct val="100000"/>
              </a:lnSpc>
              <a:spcBef>
                <a:spcPts val="100"/>
              </a:spcBef>
              <a:buClr>
                <a:srgbClr val="0F1141"/>
              </a:buClr>
              <a:buChar char="•"/>
              <a:tabLst>
                <a:tab pos="354965" algn="l"/>
                <a:tab pos="355600" algn="l"/>
              </a:tabLst>
            </a:pPr>
            <a:r>
              <a:rPr sz="2400" spc="-5" dirty="0">
                <a:solidFill>
                  <a:srgbClr val="FF0000"/>
                </a:solidFill>
                <a:latin typeface="Arial"/>
                <a:cs typeface="Arial"/>
              </a:rPr>
              <a:t>char[ </a:t>
            </a:r>
            <a:r>
              <a:rPr sz="2400" dirty="0">
                <a:solidFill>
                  <a:srgbClr val="FF0000"/>
                </a:solidFill>
                <a:latin typeface="Arial"/>
                <a:cs typeface="Arial"/>
              </a:rPr>
              <a:t>] </a:t>
            </a:r>
            <a:r>
              <a:rPr sz="2400" spc="-5" dirty="0">
                <a:solidFill>
                  <a:srgbClr val="FF0000"/>
                </a:solidFill>
                <a:latin typeface="Arial"/>
                <a:cs typeface="Arial"/>
              </a:rPr>
              <a:t>toCharArray() </a:t>
            </a:r>
            <a:r>
              <a:rPr sz="2400" dirty="0">
                <a:latin typeface="Wingdings"/>
                <a:cs typeface="Wingdings"/>
              </a:rPr>
              <a:t></a:t>
            </a:r>
            <a:r>
              <a:rPr sz="2400" dirty="0">
                <a:latin typeface="Times New Roman"/>
                <a:cs typeface="Times New Roman"/>
              </a:rPr>
              <a:t> </a:t>
            </a:r>
            <a:r>
              <a:rPr sz="2400" spc="-5" dirty="0">
                <a:latin typeface="Arial"/>
                <a:cs typeface="Arial"/>
              </a:rPr>
              <a:t>converts </a:t>
            </a:r>
            <a:r>
              <a:rPr sz="2400" dirty="0">
                <a:latin typeface="Arial"/>
                <a:cs typeface="Arial"/>
              </a:rPr>
              <a:t>a </a:t>
            </a:r>
            <a:r>
              <a:rPr sz="2400" spc="-5" dirty="0">
                <a:latin typeface="Arial"/>
                <a:cs typeface="Arial"/>
              </a:rPr>
              <a:t>string into </a:t>
            </a:r>
            <a:r>
              <a:rPr sz="2400" dirty="0">
                <a:latin typeface="Arial"/>
                <a:cs typeface="Arial"/>
              </a:rPr>
              <a:t>a char</a:t>
            </a:r>
            <a:r>
              <a:rPr sz="2400" spc="114" dirty="0">
                <a:latin typeface="Arial"/>
                <a:cs typeface="Arial"/>
              </a:rPr>
              <a:t> </a:t>
            </a:r>
            <a:r>
              <a:rPr sz="2400" dirty="0">
                <a:latin typeface="Arial"/>
                <a:cs typeface="Arial"/>
              </a:rPr>
              <a:t>type</a:t>
            </a:r>
          </a:p>
          <a:p>
            <a:pPr marL="355600">
              <a:lnSpc>
                <a:spcPct val="100000"/>
              </a:lnSpc>
              <a:spcBef>
                <a:spcPts val="15"/>
              </a:spcBef>
            </a:pPr>
            <a:r>
              <a:rPr sz="2400" spc="-5" dirty="0">
                <a:latin typeface="Arial"/>
                <a:cs typeface="Arial"/>
              </a:rPr>
              <a:t>array and </a:t>
            </a:r>
            <a:r>
              <a:rPr sz="2400" dirty="0">
                <a:latin typeface="Arial"/>
                <a:cs typeface="Arial"/>
              </a:rPr>
              <a:t>returns</a:t>
            </a:r>
            <a:r>
              <a:rPr sz="2400" spc="-10" dirty="0">
                <a:latin typeface="Arial"/>
                <a:cs typeface="Arial"/>
              </a:rPr>
              <a:t> </a:t>
            </a:r>
            <a:r>
              <a:rPr sz="2400" dirty="0">
                <a:latin typeface="Arial"/>
                <a:cs typeface="Arial"/>
              </a:rPr>
              <a:t>char[]</a:t>
            </a:r>
          </a:p>
          <a:p>
            <a:pPr marL="310515" marR="5407025">
              <a:lnSpc>
                <a:spcPct val="100000"/>
              </a:lnSpc>
              <a:spcBef>
                <a:spcPts val="345"/>
              </a:spcBef>
            </a:pPr>
            <a:r>
              <a:rPr sz="1800" spc="-5" dirty="0">
                <a:latin typeface="Carlito"/>
                <a:cs typeface="Carlito"/>
              </a:rPr>
              <a:t>//File </a:t>
            </a:r>
            <a:r>
              <a:rPr sz="1800" dirty="0">
                <a:latin typeface="Carlito"/>
                <a:cs typeface="Carlito"/>
              </a:rPr>
              <a:t>Name: </a:t>
            </a:r>
            <a:r>
              <a:rPr sz="1800" spc="-10" dirty="0">
                <a:latin typeface="Carlito"/>
                <a:cs typeface="Carlito"/>
              </a:rPr>
              <a:t>StringDemo.java  </a:t>
            </a:r>
            <a:r>
              <a:rPr sz="1800" spc="-5" dirty="0">
                <a:latin typeface="Carlito"/>
                <a:cs typeface="Carlito"/>
              </a:rPr>
              <a:t>class</a:t>
            </a:r>
            <a:r>
              <a:rPr sz="1800" dirty="0">
                <a:latin typeface="Carlito"/>
                <a:cs typeface="Carlito"/>
              </a:rPr>
              <a:t> </a:t>
            </a:r>
            <a:r>
              <a:rPr sz="1800" spc="-5" dirty="0">
                <a:latin typeface="Carlito"/>
                <a:cs typeface="Carlito"/>
              </a:rPr>
              <a:t>StringDemo</a:t>
            </a:r>
            <a:endParaRPr sz="1800" dirty="0">
              <a:latin typeface="Carlito"/>
              <a:cs typeface="Carlito"/>
            </a:endParaRPr>
          </a:p>
          <a:p>
            <a:pPr marL="310515">
              <a:lnSpc>
                <a:spcPct val="100000"/>
              </a:lnSpc>
            </a:pPr>
            <a:r>
              <a:rPr sz="1800" dirty="0">
                <a:latin typeface="Carlito"/>
                <a:cs typeface="Carlito"/>
              </a:rPr>
              <a:t>{</a:t>
            </a:r>
          </a:p>
          <a:p>
            <a:pPr marL="1225550">
              <a:lnSpc>
                <a:spcPct val="100000"/>
              </a:lnSpc>
              <a:spcBef>
                <a:spcPts val="5"/>
              </a:spcBef>
            </a:pPr>
            <a:r>
              <a:rPr sz="1800" spc="-5" dirty="0">
                <a:latin typeface="Carlito"/>
                <a:cs typeface="Carlito"/>
              </a:rPr>
              <a:t>public </a:t>
            </a:r>
            <a:r>
              <a:rPr sz="1800" spc="-15" dirty="0">
                <a:latin typeface="Carlito"/>
                <a:cs typeface="Carlito"/>
              </a:rPr>
              <a:t>static </a:t>
            </a:r>
            <a:r>
              <a:rPr sz="1800" spc="-10" dirty="0">
                <a:latin typeface="Carlito"/>
                <a:cs typeface="Carlito"/>
              </a:rPr>
              <a:t>void </a:t>
            </a:r>
            <a:r>
              <a:rPr sz="1800" spc="-5" dirty="0">
                <a:latin typeface="Carlito"/>
                <a:cs typeface="Carlito"/>
              </a:rPr>
              <a:t>main(String[]</a:t>
            </a:r>
            <a:r>
              <a:rPr sz="1800" spc="85" dirty="0">
                <a:latin typeface="Carlito"/>
                <a:cs typeface="Carlito"/>
              </a:rPr>
              <a:t> </a:t>
            </a:r>
            <a:r>
              <a:rPr sz="1800" spc="-5" dirty="0">
                <a:latin typeface="Carlito"/>
                <a:cs typeface="Carlito"/>
              </a:rPr>
              <a:t>args)</a:t>
            </a:r>
            <a:endParaRPr sz="1800" dirty="0">
              <a:latin typeface="Carlito"/>
              <a:cs typeface="Carlito"/>
            </a:endParaRPr>
          </a:p>
          <a:p>
            <a:pPr marL="1225550">
              <a:lnSpc>
                <a:spcPts val="2140"/>
              </a:lnSpc>
            </a:pPr>
            <a:r>
              <a:rPr sz="1800" dirty="0">
                <a:latin typeface="Carlito"/>
                <a:cs typeface="Carlito"/>
              </a:rPr>
              <a:t>{</a:t>
            </a:r>
          </a:p>
          <a:p>
            <a:pPr marL="2139950" marR="5080">
              <a:lnSpc>
                <a:spcPts val="2880"/>
              </a:lnSpc>
              <a:spcBef>
                <a:spcPts val="75"/>
              </a:spcBef>
            </a:pPr>
            <a:r>
              <a:rPr sz="2400" spc="-10" dirty="0">
                <a:solidFill>
                  <a:srgbClr val="FF0000"/>
                </a:solidFill>
                <a:latin typeface="Carlito"/>
                <a:cs typeface="Carlito"/>
              </a:rPr>
              <a:t>System.out.println("Thomas Alva Edison".length());  </a:t>
            </a:r>
            <a:r>
              <a:rPr sz="2400" dirty="0">
                <a:solidFill>
                  <a:srgbClr val="FF0000"/>
                </a:solidFill>
                <a:latin typeface="Carlito"/>
                <a:cs typeface="Carlito"/>
              </a:rPr>
              <a:t>char[] </a:t>
            </a:r>
            <a:r>
              <a:rPr sz="2400" spc="-5" dirty="0">
                <a:solidFill>
                  <a:srgbClr val="FF0000"/>
                </a:solidFill>
                <a:latin typeface="Carlito"/>
                <a:cs typeface="Carlito"/>
              </a:rPr>
              <a:t>name </a:t>
            </a:r>
            <a:r>
              <a:rPr sz="2400" dirty="0">
                <a:solidFill>
                  <a:srgbClr val="FF0000"/>
                </a:solidFill>
                <a:latin typeface="Carlito"/>
                <a:cs typeface="Carlito"/>
              </a:rPr>
              <a:t>= </a:t>
            </a:r>
            <a:r>
              <a:rPr sz="2400" spc="-5" dirty="0">
                <a:solidFill>
                  <a:srgbClr val="FF0000"/>
                </a:solidFill>
                <a:latin typeface="Carlito"/>
                <a:cs typeface="Carlito"/>
              </a:rPr>
              <a:t>"Thomas </a:t>
            </a:r>
            <a:r>
              <a:rPr sz="2400" spc="-10" dirty="0">
                <a:solidFill>
                  <a:srgbClr val="FF0000"/>
                </a:solidFill>
                <a:latin typeface="Carlito"/>
                <a:cs typeface="Carlito"/>
              </a:rPr>
              <a:t>Alva</a:t>
            </a:r>
            <a:r>
              <a:rPr sz="2400" dirty="0">
                <a:solidFill>
                  <a:srgbClr val="FF0000"/>
                </a:solidFill>
                <a:latin typeface="Carlito"/>
                <a:cs typeface="Carlito"/>
              </a:rPr>
              <a:t> </a:t>
            </a:r>
            <a:r>
              <a:rPr sz="2400" spc="-15" dirty="0">
                <a:solidFill>
                  <a:srgbClr val="FF0000"/>
                </a:solidFill>
                <a:latin typeface="Carlito"/>
                <a:cs typeface="Carlito"/>
              </a:rPr>
              <a:t>Edison".toCharArray();</a:t>
            </a:r>
            <a:endParaRPr sz="2400" dirty="0">
              <a:latin typeface="Carlito"/>
              <a:cs typeface="Carlito"/>
            </a:endParaRPr>
          </a:p>
          <a:p>
            <a:pPr marL="2139950" marR="2213610">
              <a:lnSpc>
                <a:spcPts val="2880"/>
              </a:lnSpc>
              <a:spcBef>
                <a:spcPts val="5"/>
              </a:spcBef>
            </a:pPr>
            <a:r>
              <a:rPr sz="2400" spc="-10" dirty="0">
                <a:solidFill>
                  <a:srgbClr val="FF0000"/>
                </a:solidFill>
                <a:latin typeface="Carlito"/>
                <a:cs typeface="Carlito"/>
              </a:rPr>
              <a:t>System.out.println(name.length);  System.out.println(name);</a:t>
            </a:r>
            <a:endParaRPr sz="2400" dirty="0">
              <a:latin typeface="Carlito"/>
              <a:cs typeface="Carlito"/>
            </a:endParaRPr>
          </a:p>
          <a:p>
            <a:pPr marL="1225550">
              <a:lnSpc>
                <a:spcPts val="2100"/>
              </a:lnSpc>
            </a:pPr>
            <a:r>
              <a:rPr sz="1800" spc="-5" dirty="0">
                <a:latin typeface="Carlito"/>
                <a:cs typeface="Carlito"/>
              </a:rPr>
              <a:t>}// End of</a:t>
            </a:r>
            <a:r>
              <a:rPr sz="1800" spc="20" dirty="0">
                <a:latin typeface="Carlito"/>
                <a:cs typeface="Carlito"/>
              </a:rPr>
              <a:t> </a:t>
            </a:r>
            <a:r>
              <a:rPr sz="1800" spc="-5" dirty="0">
                <a:latin typeface="Carlito"/>
                <a:cs typeface="Carlito"/>
              </a:rPr>
              <a:t>Method</a:t>
            </a:r>
            <a:endParaRPr sz="1800" dirty="0">
              <a:latin typeface="Carlito"/>
              <a:cs typeface="Carlito"/>
            </a:endParaRPr>
          </a:p>
        </p:txBody>
      </p:sp>
      <p:sp>
        <p:nvSpPr>
          <p:cNvPr id="3" name="object 3"/>
          <p:cNvSpPr txBox="1">
            <a:spLocks noGrp="1"/>
          </p:cNvSpPr>
          <p:nvPr>
            <p:ph type="title"/>
          </p:nvPr>
        </p:nvSpPr>
        <p:spPr>
          <a:xfrm>
            <a:off x="383540" y="379221"/>
            <a:ext cx="4122420" cy="574040"/>
          </a:xfrm>
          <a:prstGeom prst="rect">
            <a:avLst/>
          </a:prstGeom>
        </p:spPr>
        <p:txBody>
          <a:bodyPr vert="horz" wrap="square" lIns="0" tIns="12700" rIns="0" bIns="0" rtlCol="0">
            <a:spAutoFit/>
          </a:bodyPr>
          <a:lstStyle/>
          <a:p>
            <a:pPr marL="12700">
              <a:lnSpc>
                <a:spcPct val="100000"/>
              </a:lnSpc>
              <a:spcBef>
                <a:spcPts val="100"/>
              </a:spcBef>
            </a:pPr>
            <a:r>
              <a:rPr sz="3600" i="0" spc="-130" dirty="0">
                <a:solidFill>
                  <a:srgbClr val="000000"/>
                </a:solidFill>
                <a:latin typeface="Arial"/>
                <a:cs typeface="Arial"/>
              </a:rPr>
              <a:t>char[ </a:t>
            </a:r>
            <a:r>
              <a:rPr sz="3600" i="0" dirty="0">
                <a:solidFill>
                  <a:srgbClr val="000000"/>
                </a:solidFill>
                <a:latin typeface="Arial"/>
                <a:cs typeface="Arial"/>
              </a:rPr>
              <a:t>]</a:t>
            </a:r>
            <a:r>
              <a:rPr sz="3600" i="0" spc="-480" dirty="0">
                <a:solidFill>
                  <a:srgbClr val="000000"/>
                </a:solidFill>
                <a:latin typeface="Arial"/>
                <a:cs typeface="Arial"/>
              </a:rPr>
              <a:t> </a:t>
            </a:r>
            <a:r>
              <a:rPr sz="3600" i="0" spc="-160" dirty="0">
                <a:solidFill>
                  <a:srgbClr val="000000"/>
                </a:solidFill>
                <a:latin typeface="Arial"/>
                <a:cs typeface="Arial"/>
              </a:rPr>
              <a:t>toCharArray()</a:t>
            </a:r>
            <a:endParaRPr sz="3600" dirty="0">
              <a:latin typeface="Arial"/>
              <a:cs typeface="Arial"/>
            </a:endParaRPr>
          </a:p>
        </p:txBody>
      </p:sp>
      <p:sp>
        <p:nvSpPr>
          <p:cNvPr id="4" name="object 4"/>
          <p:cNvSpPr txBox="1"/>
          <p:nvPr/>
        </p:nvSpPr>
        <p:spPr>
          <a:xfrm>
            <a:off x="681939" y="5404510"/>
            <a:ext cx="256222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 End of class</a:t>
            </a:r>
            <a:r>
              <a:rPr sz="1800" spc="-10" dirty="0">
                <a:latin typeface="Carlito"/>
                <a:cs typeface="Carlito"/>
              </a:rPr>
              <a:t> </a:t>
            </a:r>
            <a:r>
              <a:rPr sz="1800" spc="-5" dirty="0">
                <a:latin typeface="Carlito"/>
                <a:cs typeface="Carlito"/>
              </a:rPr>
              <a:t>StringDemo</a:t>
            </a:r>
            <a:endParaRPr sz="1800">
              <a:latin typeface="Carlito"/>
              <a:cs typeface="Carlito"/>
            </a:endParaRPr>
          </a:p>
        </p:txBody>
      </p:sp>
      <p:sp>
        <p:nvSpPr>
          <p:cNvPr id="5" name="object 5"/>
          <p:cNvSpPr txBox="1"/>
          <p:nvPr/>
        </p:nvSpPr>
        <p:spPr>
          <a:xfrm>
            <a:off x="5587746" y="5387441"/>
            <a:ext cx="1969770" cy="1122680"/>
          </a:xfrm>
          <a:prstGeom prst="rect">
            <a:avLst/>
          </a:prstGeom>
        </p:spPr>
        <p:txBody>
          <a:bodyPr vert="horz" wrap="square" lIns="0" tIns="12700" rIns="0" bIns="0" rtlCol="0">
            <a:spAutoFit/>
          </a:bodyPr>
          <a:lstStyle/>
          <a:p>
            <a:pPr marL="12700" marR="5080">
              <a:lnSpc>
                <a:spcPct val="100000"/>
              </a:lnSpc>
              <a:spcBef>
                <a:spcPts val="100"/>
              </a:spcBef>
            </a:pPr>
            <a:r>
              <a:rPr sz="1800" b="1" spc="-10" dirty="0">
                <a:solidFill>
                  <a:srgbClr val="FF0000"/>
                </a:solidFill>
                <a:latin typeface="Carlito"/>
                <a:cs typeface="Carlito"/>
              </a:rPr>
              <a:t>F:\&gt;java </a:t>
            </a:r>
            <a:r>
              <a:rPr sz="1800" b="1" spc="-5" dirty="0">
                <a:solidFill>
                  <a:srgbClr val="FF0000"/>
                </a:solidFill>
                <a:latin typeface="Carlito"/>
                <a:cs typeface="Carlito"/>
              </a:rPr>
              <a:t>StringDemo  18</a:t>
            </a:r>
            <a:endParaRPr sz="1800">
              <a:latin typeface="Carlito"/>
              <a:cs typeface="Carlito"/>
            </a:endParaRPr>
          </a:p>
          <a:p>
            <a:pPr marL="12700">
              <a:lnSpc>
                <a:spcPct val="100000"/>
              </a:lnSpc>
            </a:pPr>
            <a:r>
              <a:rPr sz="1800" b="1" spc="-5" dirty="0">
                <a:solidFill>
                  <a:srgbClr val="FF0000"/>
                </a:solidFill>
                <a:latin typeface="Carlito"/>
                <a:cs typeface="Carlito"/>
              </a:rPr>
              <a:t>18</a:t>
            </a:r>
            <a:endParaRPr sz="1800">
              <a:latin typeface="Carlito"/>
              <a:cs typeface="Carlito"/>
            </a:endParaRPr>
          </a:p>
          <a:p>
            <a:pPr marL="12700">
              <a:lnSpc>
                <a:spcPct val="100000"/>
              </a:lnSpc>
            </a:pPr>
            <a:r>
              <a:rPr sz="1800" b="1" spc="-5" dirty="0">
                <a:solidFill>
                  <a:srgbClr val="FF0000"/>
                </a:solidFill>
                <a:latin typeface="Carlito"/>
                <a:cs typeface="Carlito"/>
              </a:rPr>
              <a:t>Thomas </a:t>
            </a:r>
            <a:r>
              <a:rPr sz="1800" b="1" spc="-10" dirty="0">
                <a:solidFill>
                  <a:srgbClr val="FF0000"/>
                </a:solidFill>
                <a:latin typeface="Carlito"/>
                <a:cs typeface="Carlito"/>
              </a:rPr>
              <a:t>Alva</a:t>
            </a:r>
            <a:r>
              <a:rPr sz="1800" b="1" spc="-75" dirty="0">
                <a:solidFill>
                  <a:srgbClr val="FF0000"/>
                </a:solidFill>
                <a:latin typeface="Carlito"/>
                <a:cs typeface="Carlito"/>
              </a:rPr>
              <a:t> </a:t>
            </a:r>
            <a:r>
              <a:rPr sz="1800" b="1" spc="-5" dirty="0">
                <a:solidFill>
                  <a:srgbClr val="FF0000"/>
                </a:solidFill>
                <a:latin typeface="Carlito"/>
                <a:cs typeface="Carlito"/>
              </a:rPr>
              <a:t>Edison</a:t>
            </a:r>
            <a:endParaRPr sz="1800">
              <a:latin typeface="Carlito"/>
              <a:cs typeface="Carli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7726"/>
            <a:ext cx="7910830" cy="3173730"/>
          </a:xfrm>
          <a:prstGeom prst="rect">
            <a:avLst/>
          </a:prstGeom>
        </p:spPr>
        <p:txBody>
          <a:bodyPr vert="horz" wrap="square" lIns="0" tIns="12700" rIns="0" bIns="0" rtlCol="0">
            <a:spAutoFit/>
          </a:bodyPr>
          <a:lstStyle/>
          <a:p>
            <a:pPr marL="355600" indent="-342900">
              <a:lnSpc>
                <a:spcPct val="100000"/>
              </a:lnSpc>
              <a:spcBef>
                <a:spcPts val="100"/>
              </a:spcBef>
              <a:buClr>
                <a:srgbClr val="0F1141"/>
              </a:buClr>
              <a:buChar char="•"/>
              <a:tabLst>
                <a:tab pos="354965" algn="l"/>
                <a:tab pos="355600" algn="l"/>
              </a:tabLst>
            </a:pPr>
            <a:r>
              <a:rPr sz="2400" spc="-5" dirty="0">
                <a:solidFill>
                  <a:srgbClr val="FF0000"/>
                </a:solidFill>
                <a:latin typeface="Arial"/>
                <a:cs typeface="Arial"/>
              </a:rPr>
              <a:t>boolean equals(String </a:t>
            </a:r>
            <a:r>
              <a:rPr sz="2400" dirty="0">
                <a:solidFill>
                  <a:srgbClr val="FF0000"/>
                </a:solidFill>
                <a:latin typeface="Arial"/>
                <a:cs typeface="Arial"/>
              </a:rPr>
              <a:t>other) </a:t>
            </a:r>
            <a:r>
              <a:rPr sz="2400" dirty="0">
                <a:latin typeface="Wingdings"/>
                <a:cs typeface="Wingdings"/>
              </a:rPr>
              <a:t></a:t>
            </a:r>
            <a:r>
              <a:rPr sz="2400" spc="125" dirty="0">
                <a:latin typeface="Times New Roman"/>
                <a:cs typeface="Times New Roman"/>
              </a:rPr>
              <a:t> </a:t>
            </a:r>
            <a:r>
              <a:rPr sz="2400" spc="-5" dirty="0">
                <a:latin typeface="Arial"/>
                <a:cs typeface="Arial"/>
              </a:rPr>
              <a:t>case-sensitive</a:t>
            </a:r>
            <a:endParaRPr sz="2400">
              <a:latin typeface="Arial"/>
              <a:cs typeface="Arial"/>
            </a:endParaRPr>
          </a:p>
          <a:p>
            <a:pPr marL="355600">
              <a:lnSpc>
                <a:spcPct val="100000"/>
              </a:lnSpc>
              <a:spcBef>
                <a:spcPts val="15"/>
              </a:spcBef>
            </a:pPr>
            <a:r>
              <a:rPr sz="2400" spc="-5" dirty="0">
                <a:latin typeface="Arial"/>
                <a:cs typeface="Arial"/>
              </a:rPr>
              <a:t>comparison [upper and lower-case letters are </a:t>
            </a:r>
            <a:r>
              <a:rPr sz="2400" dirty="0">
                <a:latin typeface="Arial"/>
                <a:cs typeface="Arial"/>
              </a:rPr>
              <a:t>not</a:t>
            </a:r>
            <a:r>
              <a:rPr sz="2400" spc="140" dirty="0">
                <a:latin typeface="Arial"/>
                <a:cs typeface="Arial"/>
              </a:rPr>
              <a:t> </a:t>
            </a:r>
            <a:r>
              <a:rPr sz="2400" spc="-5" dirty="0">
                <a:latin typeface="Arial"/>
                <a:cs typeface="Arial"/>
              </a:rPr>
              <a:t>equal]</a:t>
            </a:r>
            <a:endParaRPr sz="2400">
              <a:latin typeface="Arial"/>
              <a:cs typeface="Arial"/>
            </a:endParaRPr>
          </a:p>
          <a:p>
            <a:pPr marL="355600" marR="1648460" indent="-342900">
              <a:lnSpc>
                <a:spcPct val="100000"/>
              </a:lnSpc>
              <a:spcBef>
                <a:spcPts val="575"/>
              </a:spcBef>
              <a:buClr>
                <a:srgbClr val="0F1141"/>
              </a:buClr>
              <a:buChar char="•"/>
              <a:tabLst>
                <a:tab pos="354965" algn="l"/>
                <a:tab pos="355600" algn="l"/>
              </a:tabLst>
            </a:pPr>
            <a:r>
              <a:rPr sz="2400" spc="-10" dirty="0">
                <a:latin typeface="Arial"/>
                <a:cs typeface="Arial"/>
              </a:rPr>
              <a:t>Example </a:t>
            </a:r>
            <a:r>
              <a:rPr sz="2400" dirty="0">
                <a:latin typeface="Arial"/>
                <a:cs typeface="Arial"/>
              </a:rPr>
              <a:t>: </a:t>
            </a:r>
            <a:r>
              <a:rPr sz="2400" spc="-5" dirty="0">
                <a:latin typeface="Arial"/>
                <a:cs typeface="Arial"/>
              </a:rPr>
              <a:t>“abc”.equals(“Abc”) </a:t>
            </a:r>
            <a:r>
              <a:rPr sz="2400" dirty="0">
                <a:latin typeface="Arial"/>
                <a:cs typeface="Arial"/>
              </a:rPr>
              <a:t>returns false,  </a:t>
            </a:r>
            <a:r>
              <a:rPr sz="2400" spc="-5" dirty="0">
                <a:latin typeface="Arial"/>
                <a:cs typeface="Arial"/>
              </a:rPr>
              <a:t>“abc”.equals(“abc”) </a:t>
            </a:r>
            <a:r>
              <a:rPr sz="2400" dirty="0">
                <a:latin typeface="Arial"/>
                <a:cs typeface="Arial"/>
              </a:rPr>
              <a:t>returns</a:t>
            </a:r>
            <a:r>
              <a:rPr sz="2400" spc="10" dirty="0">
                <a:latin typeface="Arial"/>
                <a:cs typeface="Arial"/>
              </a:rPr>
              <a:t> </a:t>
            </a:r>
            <a:r>
              <a:rPr sz="2400" spc="-5" dirty="0">
                <a:latin typeface="Arial"/>
                <a:cs typeface="Arial"/>
              </a:rPr>
              <a:t>true</a:t>
            </a:r>
            <a:endParaRPr sz="2400">
              <a:latin typeface="Arial"/>
              <a:cs typeface="Arial"/>
            </a:endParaRPr>
          </a:p>
          <a:p>
            <a:pPr marL="355600" marR="6985" indent="-342900">
              <a:lnSpc>
                <a:spcPct val="100400"/>
              </a:lnSpc>
              <a:spcBef>
                <a:spcPts val="555"/>
              </a:spcBef>
              <a:buClr>
                <a:srgbClr val="0F1141"/>
              </a:buClr>
              <a:buChar char="•"/>
              <a:tabLst>
                <a:tab pos="354965" algn="l"/>
                <a:tab pos="355600" algn="l"/>
              </a:tabLst>
            </a:pPr>
            <a:r>
              <a:rPr sz="2400" spc="-5" dirty="0">
                <a:solidFill>
                  <a:srgbClr val="FF0000"/>
                </a:solidFill>
                <a:latin typeface="Arial"/>
                <a:cs typeface="Arial"/>
              </a:rPr>
              <a:t>boolean equalsIgnoreCase(String other) </a:t>
            </a:r>
            <a:r>
              <a:rPr sz="2400" dirty="0">
                <a:latin typeface="Wingdings"/>
                <a:cs typeface="Wingdings"/>
              </a:rPr>
              <a:t></a:t>
            </a:r>
            <a:r>
              <a:rPr sz="2400" dirty="0">
                <a:latin typeface="Times New Roman"/>
                <a:cs typeface="Times New Roman"/>
              </a:rPr>
              <a:t> </a:t>
            </a:r>
            <a:r>
              <a:rPr sz="2400" spc="-5" dirty="0">
                <a:latin typeface="Arial"/>
                <a:cs typeface="Arial"/>
              </a:rPr>
              <a:t>Comparison  by ignoring </a:t>
            </a:r>
            <a:r>
              <a:rPr sz="2400" dirty="0">
                <a:latin typeface="Arial"/>
                <a:cs typeface="Arial"/>
              </a:rPr>
              <a:t>the </a:t>
            </a:r>
            <a:r>
              <a:rPr sz="2400" spc="-5" dirty="0">
                <a:latin typeface="Arial"/>
                <a:cs typeface="Arial"/>
              </a:rPr>
              <a:t>case </a:t>
            </a:r>
            <a:r>
              <a:rPr sz="2400" dirty="0">
                <a:latin typeface="Arial"/>
                <a:cs typeface="Arial"/>
              </a:rPr>
              <a:t>of</a:t>
            </a:r>
            <a:r>
              <a:rPr sz="2400" spc="35" dirty="0">
                <a:latin typeface="Arial"/>
                <a:cs typeface="Arial"/>
              </a:rPr>
              <a:t> </a:t>
            </a:r>
            <a:r>
              <a:rPr sz="2400" spc="-5" dirty="0">
                <a:latin typeface="Arial"/>
                <a:cs typeface="Arial"/>
              </a:rPr>
              <a:t>characters</a:t>
            </a:r>
            <a:endParaRPr sz="2400">
              <a:latin typeface="Arial"/>
              <a:cs typeface="Arial"/>
            </a:endParaRPr>
          </a:p>
          <a:p>
            <a:pPr marL="355600" indent="-342900">
              <a:lnSpc>
                <a:spcPct val="100000"/>
              </a:lnSpc>
              <a:spcBef>
                <a:spcPts val="575"/>
              </a:spcBef>
              <a:buClr>
                <a:srgbClr val="0F1141"/>
              </a:buClr>
              <a:buChar char="•"/>
              <a:tabLst>
                <a:tab pos="354965" algn="l"/>
                <a:tab pos="355600" algn="l"/>
              </a:tabLst>
            </a:pPr>
            <a:r>
              <a:rPr sz="2400" spc="-10" dirty="0">
                <a:latin typeface="Arial"/>
                <a:cs typeface="Arial"/>
              </a:rPr>
              <a:t>Example </a:t>
            </a:r>
            <a:r>
              <a:rPr sz="2400" dirty="0">
                <a:latin typeface="Arial"/>
                <a:cs typeface="Arial"/>
              </a:rPr>
              <a:t>: </a:t>
            </a:r>
            <a:r>
              <a:rPr sz="2400" spc="-5" dirty="0">
                <a:latin typeface="Arial"/>
                <a:cs typeface="Arial"/>
              </a:rPr>
              <a:t>“abc”.equalsIgnoreCase (“ABC”) or</a:t>
            </a:r>
            <a:r>
              <a:rPr sz="2400" spc="110" dirty="0">
                <a:latin typeface="Arial"/>
                <a:cs typeface="Arial"/>
              </a:rPr>
              <a:t> </a:t>
            </a:r>
            <a:r>
              <a:rPr sz="2400" spc="-5" dirty="0">
                <a:latin typeface="Arial"/>
                <a:cs typeface="Arial"/>
              </a:rPr>
              <a:t>“aBc”.</a:t>
            </a:r>
            <a:endParaRPr sz="2400">
              <a:latin typeface="Arial"/>
              <a:cs typeface="Arial"/>
            </a:endParaRPr>
          </a:p>
          <a:p>
            <a:pPr marL="355600">
              <a:lnSpc>
                <a:spcPct val="100000"/>
              </a:lnSpc>
              <a:spcBef>
                <a:spcPts val="5"/>
              </a:spcBef>
            </a:pPr>
            <a:r>
              <a:rPr sz="2400" spc="-5" dirty="0">
                <a:latin typeface="Arial"/>
                <a:cs typeface="Arial"/>
              </a:rPr>
              <a:t>equalsIgnoreCase (“abC”) returns</a:t>
            </a:r>
            <a:r>
              <a:rPr sz="2400" spc="50" dirty="0">
                <a:latin typeface="Arial"/>
                <a:cs typeface="Arial"/>
              </a:rPr>
              <a:t> </a:t>
            </a:r>
            <a:r>
              <a:rPr sz="2400" dirty="0">
                <a:latin typeface="Arial"/>
                <a:cs typeface="Arial"/>
              </a:rPr>
              <a:t>true</a:t>
            </a:r>
            <a:endParaRPr sz="2400">
              <a:latin typeface="Arial"/>
              <a:cs typeface="Arial"/>
            </a:endParaRPr>
          </a:p>
        </p:txBody>
      </p:sp>
      <p:sp>
        <p:nvSpPr>
          <p:cNvPr id="3" name="object 3"/>
          <p:cNvSpPr txBox="1">
            <a:spLocks noGrp="1"/>
          </p:cNvSpPr>
          <p:nvPr>
            <p:ph type="title"/>
          </p:nvPr>
        </p:nvSpPr>
        <p:spPr>
          <a:xfrm>
            <a:off x="383540" y="150621"/>
            <a:ext cx="5906770" cy="1031240"/>
          </a:xfrm>
          <a:prstGeom prst="rect">
            <a:avLst/>
          </a:prstGeom>
        </p:spPr>
        <p:txBody>
          <a:bodyPr vert="horz" wrap="square" lIns="0" tIns="104139" rIns="0" bIns="0" rtlCol="0">
            <a:spAutoFit/>
          </a:bodyPr>
          <a:lstStyle/>
          <a:p>
            <a:pPr marL="12700" marR="5080">
              <a:lnSpc>
                <a:spcPts val="3600"/>
              </a:lnSpc>
              <a:spcBef>
                <a:spcPts val="819"/>
              </a:spcBef>
            </a:pPr>
            <a:r>
              <a:rPr sz="3600" i="0" spc="-135" dirty="0">
                <a:solidFill>
                  <a:srgbClr val="000000"/>
                </a:solidFill>
                <a:latin typeface="Arial"/>
                <a:cs typeface="Arial"/>
              </a:rPr>
              <a:t>String </a:t>
            </a:r>
            <a:r>
              <a:rPr sz="3600" i="0" spc="-145" dirty="0">
                <a:solidFill>
                  <a:srgbClr val="000000"/>
                </a:solidFill>
                <a:latin typeface="Arial"/>
                <a:cs typeface="Arial"/>
              </a:rPr>
              <a:t>Comparisons:</a:t>
            </a:r>
            <a:r>
              <a:rPr sz="3600" i="0" spc="-434" dirty="0">
                <a:solidFill>
                  <a:srgbClr val="000000"/>
                </a:solidFill>
                <a:latin typeface="Arial"/>
                <a:cs typeface="Arial"/>
              </a:rPr>
              <a:t> </a:t>
            </a:r>
            <a:r>
              <a:rPr sz="3600" i="0" spc="-140" dirty="0">
                <a:solidFill>
                  <a:srgbClr val="000000"/>
                </a:solidFill>
                <a:latin typeface="Arial"/>
                <a:cs typeface="Arial"/>
              </a:rPr>
              <a:t>equals()  </a:t>
            </a:r>
            <a:r>
              <a:rPr sz="3600" i="0" spc="-105" dirty="0">
                <a:solidFill>
                  <a:srgbClr val="000000"/>
                </a:solidFill>
                <a:latin typeface="Arial"/>
                <a:cs typeface="Arial"/>
              </a:rPr>
              <a:t>and</a:t>
            </a:r>
            <a:r>
              <a:rPr sz="3600" i="0" spc="-290" dirty="0">
                <a:solidFill>
                  <a:srgbClr val="000000"/>
                </a:solidFill>
                <a:latin typeface="Arial"/>
                <a:cs typeface="Arial"/>
              </a:rPr>
              <a:t> </a:t>
            </a:r>
            <a:r>
              <a:rPr sz="3600" i="0" spc="-160" dirty="0">
                <a:solidFill>
                  <a:srgbClr val="000000"/>
                </a:solidFill>
                <a:latin typeface="Arial"/>
                <a:cs typeface="Arial"/>
              </a:rPr>
              <a:t>equalsIgnoreCase()</a:t>
            </a:r>
            <a:endParaRPr sz="3600" dirty="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6240" y="3096005"/>
            <a:ext cx="128905" cy="208279"/>
          </a:xfrm>
          <a:prstGeom prst="rect">
            <a:avLst/>
          </a:prstGeom>
        </p:spPr>
        <p:txBody>
          <a:bodyPr vert="horz" wrap="square" lIns="0" tIns="12700" rIns="0" bIns="0" rtlCol="0">
            <a:spAutoFit/>
          </a:bodyPr>
          <a:lstStyle/>
          <a:p>
            <a:pPr>
              <a:lnSpc>
                <a:spcPct val="100000"/>
              </a:lnSpc>
              <a:spcBef>
                <a:spcPts val="100"/>
              </a:spcBef>
            </a:pPr>
            <a:r>
              <a:rPr sz="1200" b="1" i="1" dirty="0">
                <a:solidFill>
                  <a:srgbClr val="0F1141"/>
                </a:solidFill>
                <a:latin typeface="Arial"/>
                <a:cs typeface="Arial"/>
              </a:rPr>
              <a:t>1.</a:t>
            </a:r>
            <a:endParaRPr sz="1200">
              <a:latin typeface="Arial"/>
              <a:cs typeface="Arial"/>
            </a:endParaRPr>
          </a:p>
        </p:txBody>
      </p:sp>
      <p:sp>
        <p:nvSpPr>
          <p:cNvPr id="3" name="object 3"/>
          <p:cNvSpPr txBox="1"/>
          <p:nvPr/>
        </p:nvSpPr>
        <p:spPr>
          <a:xfrm>
            <a:off x="383540" y="1517726"/>
            <a:ext cx="8664575" cy="1788795"/>
          </a:xfrm>
          <a:prstGeom prst="rect">
            <a:avLst/>
          </a:prstGeom>
        </p:spPr>
        <p:txBody>
          <a:bodyPr vert="horz" wrap="square" lIns="0" tIns="12065" rIns="0" bIns="0" rtlCol="0">
            <a:spAutoFit/>
          </a:bodyPr>
          <a:lstStyle/>
          <a:p>
            <a:pPr marL="355600" marR="967740" indent="-342900" algn="just">
              <a:lnSpc>
                <a:spcPct val="100200"/>
              </a:lnSpc>
              <a:spcBef>
                <a:spcPts val="95"/>
              </a:spcBef>
              <a:buClr>
                <a:srgbClr val="0F1141"/>
              </a:buClr>
              <a:buChar char="•"/>
              <a:tabLst>
                <a:tab pos="355600" algn="l"/>
              </a:tabLst>
            </a:pPr>
            <a:r>
              <a:rPr sz="2400" spc="-5" dirty="0">
                <a:solidFill>
                  <a:srgbClr val="FF0000"/>
                </a:solidFill>
                <a:latin typeface="Arial"/>
                <a:cs typeface="Arial"/>
              </a:rPr>
              <a:t>regionMatches() </a:t>
            </a:r>
            <a:r>
              <a:rPr sz="2400" dirty="0">
                <a:solidFill>
                  <a:srgbClr val="FF0000"/>
                </a:solidFill>
                <a:latin typeface="Wingdings"/>
                <a:cs typeface="Wingdings"/>
              </a:rPr>
              <a:t></a:t>
            </a:r>
            <a:r>
              <a:rPr sz="2400" dirty="0">
                <a:solidFill>
                  <a:srgbClr val="FF0000"/>
                </a:solidFill>
                <a:latin typeface="Times New Roman"/>
                <a:cs typeface="Times New Roman"/>
              </a:rPr>
              <a:t> </a:t>
            </a:r>
            <a:r>
              <a:rPr sz="2400" spc="-5" dirty="0">
                <a:latin typeface="Arial"/>
                <a:cs typeface="Arial"/>
              </a:rPr>
              <a:t>compares </a:t>
            </a:r>
            <a:r>
              <a:rPr sz="2400" dirty="0">
                <a:latin typeface="Arial"/>
                <a:cs typeface="Arial"/>
              </a:rPr>
              <a:t>the </a:t>
            </a:r>
            <a:r>
              <a:rPr sz="2400" spc="-5" dirty="0">
                <a:latin typeface="Arial"/>
                <a:cs typeface="Arial"/>
              </a:rPr>
              <a:t>regions </a:t>
            </a:r>
            <a:r>
              <a:rPr sz="2400" dirty="0">
                <a:latin typeface="Arial"/>
                <a:cs typeface="Arial"/>
              </a:rPr>
              <a:t>of two string  </a:t>
            </a:r>
            <a:r>
              <a:rPr sz="2400" spc="-5" dirty="0">
                <a:latin typeface="Arial"/>
                <a:cs typeface="Arial"/>
              </a:rPr>
              <a:t>references </a:t>
            </a:r>
            <a:r>
              <a:rPr sz="2400" dirty="0">
                <a:latin typeface="Arial"/>
                <a:cs typeface="Arial"/>
              </a:rPr>
              <a:t>for </a:t>
            </a:r>
            <a:r>
              <a:rPr sz="2400" spc="-5" dirty="0">
                <a:latin typeface="Arial"/>
                <a:cs typeface="Arial"/>
              </a:rPr>
              <a:t>equality </a:t>
            </a:r>
            <a:r>
              <a:rPr sz="2400" dirty="0">
                <a:latin typeface="Arial"/>
                <a:cs typeface="Arial"/>
              </a:rPr>
              <a:t>[returns true </a:t>
            </a:r>
            <a:r>
              <a:rPr sz="2400" spc="-10" dirty="0">
                <a:latin typeface="Arial"/>
                <a:cs typeface="Arial"/>
              </a:rPr>
              <a:t>if </a:t>
            </a:r>
            <a:r>
              <a:rPr sz="2400" spc="-5" dirty="0">
                <a:latin typeface="Arial"/>
                <a:cs typeface="Arial"/>
              </a:rPr>
              <a:t>regions </a:t>
            </a:r>
            <a:r>
              <a:rPr sz="2400" dirty="0">
                <a:latin typeface="Arial"/>
                <a:cs typeface="Arial"/>
              </a:rPr>
              <a:t>matches  </a:t>
            </a:r>
            <a:r>
              <a:rPr sz="2400" spc="-5" dirty="0">
                <a:latin typeface="Arial"/>
                <a:cs typeface="Arial"/>
              </a:rPr>
              <a:t>otherwise</a:t>
            </a:r>
            <a:r>
              <a:rPr sz="2400" dirty="0">
                <a:latin typeface="Arial"/>
                <a:cs typeface="Arial"/>
              </a:rPr>
              <a:t> false]</a:t>
            </a:r>
            <a:endParaRPr sz="2400">
              <a:latin typeface="Arial"/>
              <a:cs typeface="Arial"/>
            </a:endParaRPr>
          </a:p>
          <a:p>
            <a:pPr marL="355600" indent="-342900" algn="just">
              <a:lnSpc>
                <a:spcPct val="100000"/>
              </a:lnSpc>
              <a:spcBef>
                <a:spcPts val="575"/>
              </a:spcBef>
              <a:buClr>
                <a:srgbClr val="0F1141"/>
              </a:buClr>
              <a:buChar char="•"/>
              <a:tabLst>
                <a:tab pos="355600" algn="l"/>
              </a:tabLst>
            </a:pPr>
            <a:r>
              <a:rPr sz="2400" spc="-5" dirty="0">
                <a:latin typeface="Arial"/>
                <a:cs typeface="Arial"/>
              </a:rPr>
              <a:t>Syntax:</a:t>
            </a:r>
            <a:endParaRPr sz="2400">
              <a:latin typeface="Arial"/>
              <a:cs typeface="Arial"/>
            </a:endParaRPr>
          </a:p>
          <a:p>
            <a:pPr marL="469900">
              <a:lnSpc>
                <a:spcPct val="100000"/>
              </a:lnSpc>
              <a:spcBef>
                <a:spcPts val="265"/>
              </a:spcBef>
            </a:pPr>
            <a:r>
              <a:rPr sz="1200" b="1" i="1" dirty="0">
                <a:solidFill>
                  <a:srgbClr val="FF0000"/>
                </a:solidFill>
                <a:latin typeface="Arial"/>
                <a:cs typeface="Arial"/>
              </a:rPr>
              <a:t>boolean </a:t>
            </a:r>
            <a:r>
              <a:rPr sz="1200" b="1" i="1" spc="-5" dirty="0">
                <a:solidFill>
                  <a:srgbClr val="FF0000"/>
                </a:solidFill>
                <a:latin typeface="Arial"/>
                <a:cs typeface="Arial"/>
              </a:rPr>
              <a:t>regionMatches(int </a:t>
            </a:r>
            <a:r>
              <a:rPr sz="1200" b="1" i="1" dirty="0">
                <a:solidFill>
                  <a:srgbClr val="FF0000"/>
                </a:solidFill>
                <a:latin typeface="Arial"/>
                <a:cs typeface="Arial"/>
              </a:rPr>
              <a:t>startIndex, String </a:t>
            </a:r>
            <a:r>
              <a:rPr sz="1200" b="1" i="1" spc="-5" dirty="0">
                <a:solidFill>
                  <a:srgbClr val="FF0000"/>
                </a:solidFill>
                <a:latin typeface="Arial"/>
                <a:cs typeface="Arial"/>
              </a:rPr>
              <a:t>str2, </a:t>
            </a:r>
            <a:r>
              <a:rPr sz="1200" b="1" i="1" dirty="0">
                <a:solidFill>
                  <a:srgbClr val="FF0000"/>
                </a:solidFill>
                <a:latin typeface="Arial"/>
                <a:cs typeface="Arial"/>
              </a:rPr>
              <a:t>int </a:t>
            </a:r>
            <a:r>
              <a:rPr sz="1200" b="1" i="1" spc="-5" dirty="0">
                <a:solidFill>
                  <a:srgbClr val="FF0000"/>
                </a:solidFill>
                <a:latin typeface="Arial"/>
                <a:cs typeface="Arial"/>
              </a:rPr>
              <a:t>str2startIndex, </a:t>
            </a:r>
            <a:r>
              <a:rPr sz="1200" b="1" i="1" dirty="0">
                <a:solidFill>
                  <a:srgbClr val="FF0000"/>
                </a:solidFill>
                <a:latin typeface="Arial"/>
                <a:cs typeface="Arial"/>
              </a:rPr>
              <a:t>int numChars) </a:t>
            </a:r>
            <a:r>
              <a:rPr sz="1250" i="1" spc="-50" dirty="0">
                <a:solidFill>
                  <a:srgbClr val="FF0000"/>
                </a:solidFill>
                <a:latin typeface="Wingdings"/>
                <a:cs typeface="Wingdings"/>
              </a:rPr>
              <a:t></a:t>
            </a:r>
            <a:r>
              <a:rPr sz="1250" i="1" spc="-50" dirty="0">
                <a:solidFill>
                  <a:srgbClr val="FF0000"/>
                </a:solidFill>
                <a:latin typeface="Times New Roman"/>
                <a:cs typeface="Times New Roman"/>
              </a:rPr>
              <a:t> </a:t>
            </a:r>
            <a:r>
              <a:rPr sz="1200" b="1" i="1" spc="-5" dirty="0">
                <a:solidFill>
                  <a:srgbClr val="FF0000"/>
                </a:solidFill>
                <a:latin typeface="Arial"/>
                <a:cs typeface="Arial"/>
              </a:rPr>
              <a:t>case-sensitive</a:t>
            </a:r>
            <a:r>
              <a:rPr sz="1200" b="1" i="1" spc="140" dirty="0">
                <a:solidFill>
                  <a:srgbClr val="FF0000"/>
                </a:solidFill>
                <a:latin typeface="Arial"/>
                <a:cs typeface="Arial"/>
              </a:rPr>
              <a:t> </a:t>
            </a:r>
            <a:r>
              <a:rPr sz="1200" b="1" i="1" dirty="0">
                <a:solidFill>
                  <a:srgbClr val="FF0000"/>
                </a:solidFill>
                <a:latin typeface="Arial"/>
                <a:cs typeface="Arial"/>
              </a:rPr>
              <a:t>comparison</a:t>
            </a:r>
            <a:endParaRPr sz="1200">
              <a:latin typeface="Arial"/>
              <a:cs typeface="Arial"/>
            </a:endParaRPr>
          </a:p>
        </p:txBody>
      </p:sp>
      <p:sp>
        <p:nvSpPr>
          <p:cNvPr id="4" name="object 4"/>
          <p:cNvSpPr txBox="1"/>
          <p:nvPr/>
        </p:nvSpPr>
        <p:spPr>
          <a:xfrm>
            <a:off x="383540" y="4851907"/>
            <a:ext cx="154305" cy="208279"/>
          </a:xfrm>
          <a:prstGeom prst="rect">
            <a:avLst/>
          </a:prstGeom>
        </p:spPr>
        <p:txBody>
          <a:bodyPr vert="horz" wrap="square" lIns="0" tIns="12700" rIns="0" bIns="0" rtlCol="0">
            <a:spAutoFit/>
          </a:bodyPr>
          <a:lstStyle/>
          <a:p>
            <a:pPr marL="12700">
              <a:lnSpc>
                <a:spcPct val="100000"/>
              </a:lnSpc>
              <a:spcBef>
                <a:spcPts val="100"/>
              </a:spcBef>
            </a:pPr>
            <a:r>
              <a:rPr sz="1200" b="1" i="1" dirty="0">
                <a:solidFill>
                  <a:srgbClr val="0F1141"/>
                </a:solidFill>
                <a:latin typeface="Arial"/>
                <a:cs typeface="Arial"/>
              </a:rPr>
              <a:t>2.</a:t>
            </a:r>
            <a:endParaRPr sz="1200">
              <a:latin typeface="Arial"/>
              <a:cs typeface="Arial"/>
            </a:endParaRPr>
          </a:p>
        </p:txBody>
      </p:sp>
      <p:sp>
        <p:nvSpPr>
          <p:cNvPr id="5" name="object 5"/>
          <p:cNvSpPr txBox="1"/>
          <p:nvPr/>
        </p:nvSpPr>
        <p:spPr>
          <a:xfrm>
            <a:off x="840739" y="4843665"/>
            <a:ext cx="8091805" cy="399415"/>
          </a:xfrm>
          <a:prstGeom prst="rect">
            <a:avLst/>
          </a:prstGeom>
        </p:spPr>
        <p:txBody>
          <a:bodyPr vert="horz" wrap="square" lIns="0" tIns="14605" rIns="0" bIns="0" rtlCol="0">
            <a:spAutoFit/>
          </a:bodyPr>
          <a:lstStyle/>
          <a:p>
            <a:pPr marL="12700" marR="5080">
              <a:lnSpc>
                <a:spcPct val="100000"/>
              </a:lnSpc>
              <a:spcBef>
                <a:spcPts val="115"/>
              </a:spcBef>
            </a:pPr>
            <a:r>
              <a:rPr sz="1200" b="1" i="1" dirty="0">
                <a:solidFill>
                  <a:srgbClr val="FF0000"/>
                </a:solidFill>
                <a:latin typeface="Arial"/>
                <a:cs typeface="Arial"/>
              </a:rPr>
              <a:t>boolean </a:t>
            </a:r>
            <a:r>
              <a:rPr sz="1200" b="1" i="1" spc="-5" dirty="0">
                <a:solidFill>
                  <a:srgbClr val="FF0000"/>
                </a:solidFill>
                <a:latin typeface="Arial"/>
                <a:cs typeface="Arial"/>
              </a:rPr>
              <a:t>regionMatches(boolean </a:t>
            </a:r>
            <a:r>
              <a:rPr sz="1200" b="1" i="1" dirty="0">
                <a:solidFill>
                  <a:srgbClr val="FF0000"/>
                </a:solidFill>
                <a:latin typeface="Arial"/>
                <a:cs typeface="Arial"/>
              </a:rPr>
              <a:t>ignoreCase, int startIndex, String </a:t>
            </a:r>
            <a:r>
              <a:rPr sz="1200" b="1" i="1" spc="-5" dirty="0">
                <a:solidFill>
                  <a:srgbClr val="FF0000"/>
                </a:solidFill>
                <a:latin typeface="Arial"/>
                <a:cs typeface="Arial"/>
              </a:rPr>
              <a:t>str2, </a:t>
            </a:r>
            <a:r>
              <a:rPr sz="1200" b="1" i="1" dirty="0">
                <a:solidFill>
                  <a:srgbClr val="FF0000"/>
                </a:solidFill>
                <a:latin typeface="Arial"/>
                <a:cs typeface="Arial"/>
              </a:rPr>
              <a:t>int str2startIndex, int numChars) </a:t>
            </a:r>
            <a:r>
              <a:rPr sz="1250" i="1" spc="-50" dirty="0">
                <a:solidFill>
                  <a:srgbClr val="FF0000"/>
                </a:solidFill>
                <a:latin typeface="Wingdings"/>
                <a:cs typeface="Wingdings"/>
              </a:rPr>
              <a:t></a:t>
            </a:r>
            <a:r>
              <a:rPr sz="1250" i="1" spc="-50" dirty="0">
                <a:solidFill>
                  <a:srgbClr val="FF0000"/>
                </a:solidFill>
                <a:latin typeface="Times New Roman"/>
                <a:cs typeface="Times New Roman"/>
              </a:rPr>
              <a:t> </a:t>
            </a:r>
            <a:r>
              <a:rPr sz="1200" b="1" i="1" dirty="0">
                <a:solidFill>
                  <a:srgbClr val="FF0000"/>
                </a:solidFill>
                <a:latin typeface="Arial"/>
                <a:cs typeface="Arial"/>
              </a:rPr>
              <a:t>Can  ignore case if </a:t>
            </a:r>
            <a:r>
              <a:rPr sz="1200" b="1" i="1" spc="-5" dirty="0">
                <a:solidFill>
                  <a:srgbClr val="FF0000"/>
                </a:solidFill>
                <a:latin typeface="Arial"/>
                <a:cs typeface="Arial"/>
              </a:rPr>
              <a:t>the </a:t>
            </a:r>
            <a:r>
              <a:rPr sz="1200" b="1" i="1" dirty="0">
                <a:solidFill>
                  <a:srgbClr val="FF0000"/>
                </a:solidFill>
                <a:latin typeface="Arial"/>
                <a:cs typeface="Arial"/>
              </a:rPr>
              <a:t>first </a:t>
            </a:r>
            <a:r>
              <a:rPr sz="1200" b="1" i="1" spc="-5" dirty="0">
                <a:solidFill>
                  <a:srgbClr val="FF0000"/>
                </a:solidFill>
                <a:latin typeface="Arial"/>
                <a:cs typeface="Arial"/>
              </a:rPr>
              <a:t>parameter </a:t>
            </a:r>
            <a:r>
              <a:rPr sz="1200" b="1" i="1" dirty="0">
                <a:solidFill>
                  <a:srgbClr val="FF0000"/>
                </a:solidFill>
                <a:latin typeface="Arial"/>
                <a:cs typeface="Arial"/>
              </a:rPr>
              <a:t>value is</a:t>
            </a:r>
            <a:r>
              <a:rPr sz="1200" b="1" i="1" spc="-65" dirty="0">
                <a:solidFill>
                  <a:srgbClr val="FF0000"/>
                </a:solidFill>
                <a:latin typeface="Arial"/>
                <a:cs typeface="Arial"/>
              </a:rPr>
              <a:t> </a:t>
            </a:r>
            <a:r>
              <a:rPr sz="1200" b="1" i="1" dirty="0">
                <a:solidFill>
                  <a:srgbClr val="FF0000"/>
                </a:solidFill>
                <a:latin typeface="Arial"/>
                <a:cs typeface="Arial"/>
              </a:rPr>
              <a:t>true.</a:t>
            </a:r>
            <a:endParaRPr sz="1200">
              <a:latin typeface="Arial"/>
              <a:cs typeface="Arial"/>
            </a:endParaRPr>
          </a:p>
        </p:txBody>
      </p:sp>
      <p:sp>
        <p:nvSpPr>
          <p:cNvPr id="6" name="object 6"/>
          <p:cNvSpPr txBox="1">
            <a:spLocks noGrp="1"/>
          </p:cNvSpPr>
          <p:nvPr>
            <p:ph type="title"/>
          </p:nvPr>
        </p:nvSpPr>
        <p:spPr>
          <a:xfrm>
            <a:off x="383540" y="150621"/>
            <a:ext cx="4197350" cy="1031240"/>
          </a:xfrm>
          <a:prstGeom prst="rect">
            <a:avLst/>
          </a:prstGeom>
        </p:spPr>
        <p:txBody>
          <a:bodyPr vert="horz" wrap="square" lIns="0" tIns="104139" rIns="0" bIns="0" rtlCol="0">
            <a:spAutoFit/>
          </a:bodyPr>
          <a:lstStyle/>
          <a:p>
            <a:pPr marL="12700" marR="5080">
              <a:lnSpc>
                <a:spcPts val="3600"/>
              </a:lnSpc>
              <a:spcBef>
                <a:spcPts val="819"/>
              </a:spcBef>
            </a:pPr>
            <a:r>
              <a:rPr sz="3600" i="0" spc="-135" dirty="0">
                <a:solidFill>
                  <a:srgbClr val="000000"/>
                </a:solidFill>
                <a:latin typeface="Arial"/>
                <a:cs typeface="Arial"/>
              </a:rPr>
              <a:t>String</a:t>
            </a:r>
            <a:r>
              <a:rPr sz="3600" i="0" spc="-340" dirty="0">
                <a:solidFill>
                  <a:srgbClr val="000000"/>
                </a:solidFill>
                <a:latin typeface="Arial"/>
                <a:cs typeface="Arial"/>
              </a:rPr>
              <a:t> </a:t>
            </a:r>
            <a:r>
              <a:rPr sz="3600" i="0" spc="-145" dirty="0">
                <a:solidFill>
                  <a:srgbClr val="000000"/>
                </a:solidFill>
                <a:latin typeface="Arial"/>
                <a:cs typeface="Arial"/>
              </a:rPr>
              <a:t>Comparisons:  </a:t>
            </a:r>
            <a:r>
              <a:rPr sz="3600" i="0" spc="-160" dirty="0">
                <a:solidFill>
                  <a:srgbClr val="000000"/>
                </a:solidFill>
                <a:latin typeface="Arial"/>
                <a:cs typeface="Arial"/>
              </a:rPr>
              <a:t>regionMatches()</a:t>
            </a:r>
            <a:endParaRPr sz="3600" dirty="0">
              <a:latin typeface="Arial"/>
              <a:cs typeface="Arial"/>
            </a:endParaRPr>
          </a:p>
        </p:txBody>
      </p:sp>
      <p:sp>
        <p:nvSpPr>
          <p:cNvPr id="7" name="object 7"/>
          <p:cNvSpPr/>
          <p:nvPr/>
        </p:nvSpPr>
        <p:spPr>
          <a:xfrm>
            <a:off x="1111834" y="3276980"/>
            <a:ext cx="3173730" cy="714375"/>
          </a:xfrm>
          <a:custGeom>
            <a:avLst/>
            <a:gdLst/>
            <a:ahLst/>
            <a:cxnLst/>
            <a:rect l="l" t="t" r="r" b="b"/>
            <a:pathLst>
              <a:path w="3173729" h="714375">
                <a:moveTo>
                  <a:pt x="81889" y="687070"/>
                </a:moveTo>
                <a:lnTo>
                  <a:pt x="72898" y="662813"/>
                </a:lnTo>
                <a:lnTo>
                  <a:pt x="0" y="689737"/>
                </a:lnTo>
                <a:lnTo>
                  <a:pt x="8991" y="713994"/>
                </a:lnTo>
                <a:lnTo>
                  <a:pt x="81889" y="687070"/>
                </a:lnTo>
                <a:close/>
              </a:path>
              <a:path w="3173729" h="714375">
                <a:moveTo>
                  <a:pt x="179120" y="651129"/>
                </a:moveTo>
                <a:lnTo>
                  <a:pt x="170103" y="626872"/>
                </a:lnTo>
                <a:lnTo>
                  <a:pt x="97205" y="653796"/>
                </a:lnTo>
                <a:lnTo>
                  <a:pt x="106184" y="678053"/>
                </a:lnTo>
                <a:lnTo>
                  <a:pt x="179120" y="651129"/>
                </a:lnTo>
                <a:close/>
              </a:path>
              <a:path w="3173729" h="714375">
                <a:moveTo>
                  <a:pt x="276275" y="615188"/>
                </a:moveTo>
                <a:lnTo>
                  <a:pt x="267258" y="590931"/>
                </a:lnTo>
                <a:lnTo>
                  <a:pt x="194360" y="617855"/>
                </a:lnTo>
                <a:lnTo>
                  <a:pt x="203377" y="642112"/>
                </a:lnTo>
                <a:lnTo>
                  <a:pt x="276275" y="615188"/>
                </a:lnTo>
                <a:close/>
              </a:path>
              <a:path w="3173729" h="714375">
                <a:moveTo>
                  <a:pt x="373430" y="579247"/>
                </a:moveTo>
                <a:lnTo>
                  <a:pt x="364540" y="554863"/>
                </a:lnTo>
                <a:lnTo>
                  <a:pt x="291642" y="581914"/>
                </a:lnTo>
                <a:lnTo>
                  <a:pt x="300532" y="606171"/>
                </a:lnTo>
                <a:lnTo>
                  <a:pt x="373430" y="579247"/>
                </a:lnTo>
                <a:close/>
              </a:path>
              <a:path w="3173729" h="714375">
                <a:moveTo>
                  <a:pt x="470712" y="543306"/>
                </a:moveTo>
                <a:lnTo>
                  <a:pt x="461695" y="518922"/>
                </a:lnTo>
                <a:lnTo>
                  <a:pt x="388797" y="545973"/>
                </a:lnTo>
                <a:lnTo>
                  <a:pt x="397814" y="570230"/>
                </a:lnTo>
                <a:lnTo>
                  <a:pt x="470712" y="543306"/>
                </a:lnTo>
                <a:close/>
              </a:path>
              <a:path w="3173729" h="714375">
                <a:moveTo>
                  <a:pt x="567867" y="507365"/>
                </a:moveTo>
                <a:lnTo>
                  <a:pt x="558850" y="482981"/>
                </a:lnTo>
                <a:lnTo>
                  <a:pt x="485952" y="510032"/>
                </a:lnTo>
                <a:lnTo>
                  <a:pt x="494969" y="534289"/>
                </a:lnTo>
                <a:lnTo>
                  <a:pt x="567867" y="507365"/>
                </a:lnTo>
                <a:close/>
              </a:path>
              <a:path w="3173729" h="714375">
                <a:moveTo>
                  <a:pt x="665022" y="471424"/>
                </a:moveTo>
                <a:lnTo>
                  <a:pt x="656132" y="447040"/>
                </a:lnTo>
                <a:lnTo>
                  <a:pt x="583234" y="474091"/>
                </a:lnTo>
                <a:lnTo>
                  <a:pt x="592124" y="498348"/>
                </a:lnTo>
                <a:lnTo>
                  <a:pt x="665022" y="471424"/>
                </a:lnTo>
                <a:close/>
              </a:path>
              <a:path w="3173729" h="714375">
                <a:moveTo>
                  <a:pt x="762304" y="435483"/>
                </a:moveTo>
                <a:lnTo>
                  <a:pt x="753287" y="411099"/>
                </a:lnTo>
                <a:lnTo>
                  <a:pt x="680389" y="438150"/>
                </a:lnTo>
                <a:lnTo>
                  <a:pt x="689406" y="462407"/>
                </a:lnTo>
                <a:lnTo>
                  <a:pt x="762304" y="435483"/>
                </a:lnTo>
                <a:close/>
              </a:path>
              <a:path w="3173729" h="714375">
                <a:moveTo>
                  <a:pt x="859459" y="399542"/>
                </a:moveTo>
                <a:lnTo>
                  <a:pt x="850442" y="375158"/>
                </a:lnTo>
                <a:lnTo>
                  <a:pt x="777544" y="402209"/>
                </a:lnTo>
                <a:lnTo>
                  <a:pt x="786561" y="426466"/>
                </a:lnTo>
                <a:lnTo>
                  <a:pt x="859459" y="399542"/>
                </a:lnTo>
                <a:close/>
              </a:path>
              <a:path w="3173729" h="714375">
                <a:moveTo>
                  <a:pt x="956614" y="363601"/>
                </a:moveTo>
                <a:lnTo>
                  <a:pt x="947724" y="339217"/>
                </a:lnTo>
                <a:lnTo>
                  <a:pt x="874826" y="366268"/>
                </a:lnTo>
                <a:lnTo>
                  <a:pt x="883716" y="390525"/>
                </a:lnTo>
                <a:lnTo>
                  <a:pt x="956614" y="363601"/>
                </a:lnTo>
                <a:close/>
              </a:path>
              <a:path w="3173729" h="714375">
                <a:moveTo>
                  <a:pt x="1053896" y="327660"/>
                </a:moveTo>
                <a:lnTo>
                  <a:pt x="1044879" y="303288"/>
                </a:lnTo>
                <a:lnTo>
                  <a:pt x="971981" y="330327"/>
                </a:lnTo>
                <a:lnTo>
                  <a:pt x="980998" y="354584"/>
                </a:lnTo>
                <a:lnTo>
                  <a:pt x="1053896" y="327660"/>
                </a:lnTo>
                <a:close/>
              </a:path>
              <a:path w="3173729" h="714375">
                <a:moveTo>
                  <a:pt x="1151051" y="291719"/>
                </a:moveTo>
                <a:lnTo>
                  <a:pt x="1142034" y="267335"/>
                </a:lnTo>
                <a:lnTo>
                  <a:pt x="1069136" y="294386"/>
                </a:lnTo>
                <a:lnTo>
                  <a:pt x="1078153" y="318643"/>
                </a:lnTo>
                <a:lnTo>
                  <a:pt x="1151051" y="291719"/>
                </a:lnTo>
                <a:close/>
              </a:path>
              <a:path w="3173729" h="714375">
                <a:moveTo>
                  <a:pt x="1248333" y="255790"/>
                </a:moveTo>
                <a:lnTo>
                  <a:pt x="1239316" y="231394"/>
                </a:lnTo>
                <a:lnTo>
                  <a:pt x="1166418" y="258445"/>
                </a:lnTo>
                <a:lnTo>
                  <a:pt x="1175435" y="282714"/>
                </a:lnTo>
                <a:lnTo>
                  <a:pt x="1248333" y="255790"/>
                </a:lnTo>
                <a:close/>
              </a:path>
              <a:path w="3173729" h="714375">
                <a:moveTo>
                  <a:pt x="1345488" y="219837"/>
                </a:moveTo>
                <a:lnTo>
                  <a:pt x="1336471" y="195453"/>
                </a:lnTo>
                <a:lnTo>
                  <a:pt x="1263573" y="222504"/>
                </a:lnTo>
                <a:lnTo>
                  <a:pt x="1272590" y="246761"/>
                </a:lnTo>
                <a:lnTo>
                  <a:pt x="1345488" y="219837"/>
                </a:lnTo>
                <a:close/>
              </a:path>
              <a:path w="3173729" h="714375">
                <a:moveTo>
                  <a:pt x="1442643" y="183896"/>
                </a:moveTo>
                <a:lnTo>
                  <a:pt x="1433626" y="159512"/>
                </a:lnTo>
                <a:lnTo>
                  <a:pt x="1360728" y="186436"/>
                </a:lnTo>
                <a:lnTo>
                  <a:pt x="1369745" y="210820"/>
                </a:lnTo>
                <a:lnTo>
                  <a:pt x="1442643" y="183896"/>
                </a:lnTo>
                <a:close/>
              </a:path>
              <a:path w="3173729" h="714375">
                <a:moveTo>
                  <a:pt x="1539925" y="147955"/>
                </a:moveTo>
                <a:lnTo>
                  <a:pt x="1530908" y="123571"/>
                </a:lnTo>
                <a:lnTo>
                  <a:pt x="1458010" y="150495"/>
                </a:lnTo>
                <a:lnTo>
                  <a:pt x="1467027" y="174879"/>
                </a:lnTo>
                <a:lnTo>
                  <a:pt x="1539925" y="147955"/>
                </a:lnTo>
                <a:close/>
              </a:path>
              <a:path w="3173729" h="714375">
                <a:moveTo>
                  <a:pt x="1637080" y="112014"/>
                </a:moveTo>
                <a:lnTo>
                  <a:pt x="1628063" y="87630"/>
                </a:lnTo>
                <a:lnTo>
                  <a:pt x="1555165" y="114554"/>
                </a:lnTo>
                <a:lnTo>
                  <a:pt x="1564182" y="138938"/>
                </a:lnTo>
                <a:lnTo>
                  <a:pt x="1637080" y="112014"/>
                </a:lnTo>
                <a:close/>
              </a:path>
              <a:path w="3173729" h="714375">
                <a:moveTo>
                  <a:pt x="1715947" y="681736"/>
                </a:moveTo>
                <a:lnTo>
                  <a:pt x="1705279" y="658114"/>
                </a:lnTo>
                <a:lnTo>
                  <a:pt x="1634413" y="690118"/>
                </a:lnTo>
                <a:lnTo>
                  <a:pt x="1645081" y="713613"/>
                </a:lnTo>
                <a:lnTo>
                  <a:pt x="1715947" y="681736"/>
                </a:lnTo>
                <a:close/>
              </a:path>
              <a:path w="3173729" h="714375">
                <a:moveTo>
                  <a:pt x="1734235" y="75946"/>
                </a:moveTo>
                <a:lnTo>
                  <a:pt x="1725218" y="51689"/>
                </a:lnTo>
                <a:lnTo>
                  <a:pt x="1652320" y="78613"/>
                </a:lnTo>
                <a:lnTo>
                  <a:pt x="1661337" y="102997"/>
                </a:lnTo>
                <a:lnTo>
                  <a:pt x="1734235" y="75946"/>
                </a:lnTo>
                <a:close/>
              </a:path>
              <a:path w="3173729" h="714375">
                <a:moveTo>
                  <a:pt x="1810308" y="639064"/>
                </a:moveTo>
                <a:lnTo>
                  <a:pt x="1799767" y="615442"/>
                </a:lnTo>
                <a:lnTo>
                  <a:pt x="1728901" y="647446"/>
                </a:lnTo>
                <a:lnTo>
                  <a:pt x="1739569" y="671068"/>
                </a:lnTo>
                <a:lnTo>
                  <a:pt x="1810308" y="639064"/>
                </a:lnTo>
                <a:close/>
              </a:path>
              <a:path w="3173729" h="714375">
                <a:moveTo>
                  <a:pt x="1876729" y="9525"/>
                </a:moveTo>
                <a:lnTo>
                  <a:pt x="1790369" y="0"/>
                </a:lnTo>
                <a:lnTo>
                  <a:pt x="1799336" y="24295"/>
                </a:lnTo>
                <a:lnTo>
                  <a:pt x="1749602" y="42672"/>
                </a:lnTo>
                <a:lnTo>
                  <a:pt x="1758619" y="67056"/>
                </a:lnTo>
                <a:lnTo>
                  <a:pt x="1808340" y="48679"/>
                </a:lnTo>
                <a:lnTo>
                  <a:pt x="1817293" y="72898"/>
                </a:lnTo>
                <a:lnTo>
                  <a:pt x="1867077" y="19812"/>
                </a:lnTo>
                <a:lnTo>
                  <a:pt x="1876729" y="9525"/>
                </a:lnTo>
                <a:close/>
              </a:path>
              <a:path w="3173729" h="714375">
                <a:moveTo>
                  <a:pt x="1904796" y="596392"/>
                </a:moveTo>
                <a:lnTo>
                  <a:pt x="1894128" y="572770"/>
                </a:lnTo>
                <a:lnTo>
                  <a:pt x="1823262" y="604774"/>
                </a:lnTo>
                <a:lnTo>
                  <a:pt x="1833930" y="628396"/>
                </a:lnTo>
                <a:lnTo>
                  <a:pt x="1904796" y="596392"/>
                </a:lnTo>
                <a:close/>
              </a:path>
              <a:path w="3173729" h="714375">
                <a:moveTo>
                  <a:pt x="1999284" y="553720"/>
                </a:moveTo>
                <a:lnTo>
                  <a:pt x="1988616" y="530098"/>
                </a:lnTo>
                <a:lnTo>
                  <a:pt x="1917750" y="562102"/>
                </a:lnTo>
                <a:lnTo>
                  <a:pt x="1928418" y="585724"/>
                </a:lnTo>
                <a:lnTo>
                  <a:pt x="1999284" y="553720"/>
                </a:lnTo>
                <a:close/>
              </a:path>
              <a:path w="3173729" h="714375">
                <a:moveTo>
                  <a:pt x="2093772" y="511175"/>
                </a:moveTo>
                <a:lnTo>
                  <a:pt x="2083104" y="487553"/>
                </a:lnTo>
                <a:lnTo>
                  <a:pt x="2012238" y="519557"/>
                </a:lnTo>
                <a:lnTo>
                  <a:pt x="2022906" y="543052"/>
                </a:lnTo>
                <a:lnTo>
                  <a:pt x="2093772" y="511175"/>
                </a:lnTo>
                <a:close/>
              </a:path>
              <a:path w="3173729" h="714375">
                <a:moveTo>
                  <a:pt x="2188121" y="468503"/>
                </a:moveTo>
                <a:lnTo>
                  <a:pt x="2177465" y="444881"/>
                </a:lnTo>
                <a:lnTo>
                  <a:pt x="2106726" y="476885"/>
                </a:lnTo>
                <a:lnTo>
                  <a:pt x="2117394" y="500507"/>
                </a:lnTo>
                <a:lnTo>
                  <a:pt x="2188121" y="468503"/>
                </a:lnTo>
                <a:close/>
              </a:path>
              <a:path w="3173729" h="714375">
                <a:moveTo>
                  <a:pt x="2282621" y="425831"/>
                </a:moveTo>
                <a:lnTo>
                  <a:pt x="2271953" y="402209"/>
                </a:lnTo>
                <a:lnTo>
                  <a:pt x="2201087" y="434213"/>
                </a:lnTo>
                <a:lnTo>
                  <a:pt x="2211755" y="457835"/>
                </a:lnTo>
                <a:lnTo>
                  <a:pt x="2282621" y="425831"/>
                </a:lnTo>
                <a:close/>
              </a:path>
              <a:path w="3173729" h="714375">
                <a:moveTo>
                  <a:pt x="2377109" y="383159"/>
                </a:moveTo>
                <a:lnTo>
                  <a:pt x="2366441" y="359537"/>
                </a:lnTo>
                <a:lnTo>
                  <a:pt x="2295575" y="391541"/>
                </a:lnTo>
                <a:lnTo>
                  <a:pt x="2306243" y="415163"/>
                </a:lnTo>
                <a:lnTo>
                  <a:pt x="2377109" y="383159"/>
                </a:lnTo>
                <a:close/>
              </a:path>
              <a:path w="3173729" h="714375">
                <a:moveTo>
                  <a:pt x="2471597" y="340614"/>
                </a:moveTo>
                <a:lnTo>
                  <a:pt x="2460929" y="316992"/>
                </a:lnTo>
                <a:lnTo>
                  <a:pt x="2390063" y="348996"/>
                </a:lnTo>
                <a:lnTo>
                  <a:pt x="2400731" y="372491"/>
                </a:lnTo>
                <a:lnTo>
                  <a:pt x="2471597" y="340614"/>
                </a:lnTo>
                <a:close/>
              </a:path>
              <a:path w="3173729" h="714375">
                <a:moveTo>
                  <a:pt x="2565958" y="297942"/>
                </a:moveTo>
                <a:lnTo>
                  <a:pt x="2555290" y="274320"/>
                </a:lnTo>
                <a:lnTo>
                  <a:pt x="2484551" y="306324"/>
                </a:lnTo>
                <a:lnTo>
                  <a:pt x="2495092" y="329946"/>
                </a:lnTo>
                <a:lnTo>
                  <a:pt x="2565958" y="297942"/>
                </a:lnTo>
                <a:close/>
              </a:path>
              <a:path w="3173729" h="714375">
                <a:moveTo>
                  <a:pt x="2660446" y="255270"/>
                </a:moveTo>
                <a:lnTo>
                  <a:pt x="2649778" y="231648"/>
                </a:lnTo>
                <a:lnTo>
                  <a:pt x="2578912" y="263664"/>
                </a:lnTo>
                <a:lnTo>
                  <a:pt x="2589580" y="287274"/>
                </a:lnTo>
                <a:lnTo>
                  <a:pt x="2660446" y="255270"/>
                </a:lnTo>
                <a:close/>
              </a:path>
              <a:path w="3173729" h="714375">
                <a:moveTo>
                  <a:pt x="2754934" y="212598"/>
                </a:moveTo>
                <a:lnTo>
                  <a:pt x="2744266" y="188976"/>
                </a:lnTo>
                <a:lnTo>
                  <a:pt x="2673400" y="220980"/>
                </a:lnTo>
                <a:lnTo>
                  <a:pt x="2684068" y="244602"/>
                </a:lnTo>
                <a:lnTo>
                  <a:pt x="2754934" y="212598"/>
                </a:lnTo>
                <a:close/>
              </a:path>
              <a:path w="3173729" h="714375">
                <a:moveTo>
                  <a:pt x="2849295" y="170053"/>
                </a:moveTo>
                <a:lnTo>
                  <a:pt x="2838754" y="146431"/>
                </a:lnTo>
                <a:lnTo>
                  <a:pt x="2767888" y="178308"/>
                </a:lnTo>
                <a:lnTo>
                  <a:pt x="2778556" y="201930"/>
                </a:lnTo>
                <a:lnTo>
                  <a:pt x="2849295" y="170053"/>
                </a:lnTo>
                <a:close/>
              </a:path>
              <a:path w="3173729" h="714375">
                <a:moveTo>
                  <a:pt x="2943783" y="127381"/>
                </a:moveTo>
                <a:lnTo>
                  <a:pt x="2933115" y="103759"/>
                </a:lnTo>
                <a:lnTo>
                  <a:pt x="2862249" y="135763"/>
                </a:lnTo>
                <a:lnTo>
                  <a:pt x="2872917" y="159385"/>
                </a:lnTo>
                <a:lnTo>
                  <a:pt x="2943783" y="127381"/>
                </a:lnTo>
                <a:close/>
              </a:path>
              <a:path w="3173729" h="714375">
                <a:moveTo>
                  <a:pt x="3038271" y="84709"/>
                </a:moveTo>
                <a:lnTo>
                  <a:pt x="3027603" y="61087"/>
                </a:lnTo>
                <a:lnTo>
                  <a:pt x="2956737" y="93091"/>
                </a:lnTo>
                <a:lnTo>
                  <a:pt x="2967405" y="116713"/>
                </a:lnTo>
                <a:lnTo>
                  <a:pt x="3038271" y="84709"/>
                </a:lnTo>
                <a:close/>
              </a:path>
              <a:path w="3173729" h="714375">
                <a:moveTo>
                  <a:pt x="3173399" y="9525"/>
                </a:moveTo>
                <a:lnTo>
                  <a:pt x="3086531" y="6096"/>
                </a:lnTo>
                <a:lnTo>
                  <a:pt x="3097187" y="29718"/>
                </a:lnTo>
                <a:lnTo>
                  <a:pt x="3051225" y="50419"/>
                </a:lnTo>
                <a:lnTo>
                  <a:pt x="3061893" y="74041"/>
                </a:lnTo>
                <a:lnTo>
                  <a:pt x="3107855" y="53340"/>
                </a:lnTo>
                <a:lnTo>
                  <a:pt x="3118535" y="76962"/>
                </a:lnTo>
                <a:lnTo>
                  <a:pt x="3161309" y="24384"/>
                </a:lnTo>
                <a:lnTo>
                  <a:pt x="3173399" y="9525"/>
                </a:lnTo>
                <a:close/>
              </a:path>
            </a:pathLst>
          </a:custGeom>
          <a:solidFill>
            <a:srgbClr val="FF0000"/>
          </a:solidFill>
        </p:spPr>
        <p:txBody>
          <a:bodyPr wrap="square" lIns="0" tIns="0" rIns="0" bIns="0" rtlCol="0"/>
          <a:lstStyle/>
          <a:p>
            <a:endParaRPr/>
          </a:p>
        </p:txBody>
      </p:sp>
      <p:sp>
        <p:nvSpPr>
          <p:cNvPr id="8" name="object 8"/>
          <p:cNvSpPr txBox="1"/>
          <p:nvPr/>
        </p:nvSpPr>
        <p:spPr>
          <a:xfrm>
            <a:off x="567944" y="3996054"/>
            <a:ext cx="1476375" cy="574675"/>
          </a:xfrm>
          <a:prstGeom prst="rect">
            <a:avLst/>
          </a:prstGeom>
        </p:spPr>
        <p:txBody>
          <a:bodyPr vert="horz" wrap="square" lIns="0" tIns="12700" rIns="0" bIns="0" rtlCol="0">
            <a:spAutoFit/>
          </a:bodyPr>
          <a:lstStyle/>
          <a:p>
            <a:pPr marL="12700">
              <a:lnSpc>
                <a:spcPct val="100000"/>
              </a:lnSpc>
              <a:spcBef>
                <a:spcPts val="100"/>
              </a:spcBef>
              <a:tabLst>
                <a:tab pos="603885" algn="l"/>
                <a:tab pos="1272540" algn="l"/>
              </a:tabLst>
            </a:pPr>
            <a:r>
              <a:rPr sz="1800" spc="-20" dirty="0">
                <a:solidFill>
                  <a:srgbClr val="FF0000"/>
                </a:solidFill>
                <a:latin typeface="Carlito"/>
                <a:cs typeface="Carlito"/>
              </a:rPr>
              <a:t>s</a:t>
            </a:r>
            <a:r>
              <a:rPr sz="1800" spc="-30" dirty="0">
                <a:solidFill>
                  <a:srgbClr val="FF0000"/>
                </a:solidFill>
                <a:latin typeface="Carlito"/>
                <a:cs typeface="Carlito"/>
              </a:rPr>
              <a:t>t</a:t>
            </a:r>
            <a:r>
              <a:rPr sz="1800" dirty="0">
                <a:solidFill>
                  <a:srgbClr val="FF0000"/>
                </a:solidFill>
                <a:latin typeface="Carlito"/>
                <a:cs typeface="Carlito"/>
              </a:rPr>
              <a:t>art	</a:t>
            </a:r>
            <a:r>
              <a:rPr sz="1800" spc="-5" dirty="0">
                <a:solidFill>
                  <a:srgbClr val="FF0000"/>
                </a:solidFill>
                <a:latin typeface="Carlito"/>
                <a:cs typeface="Carlito"/>
              </a:rPr>
              <a:t>in</a:t>
            </a:r>
            <a:r>
              <a:rPr sz="1800" dirty="0">
                <a:solidFill>
                  <a:srgbClr val="FF0000"/>
                </a:solidFill>
                <a:latin typeface="Carlito"/>
                <a:cs typeface="Carlito"/>
              </a:rPr>
              <a:t>d</a:t>
            </a:r>
            <a:r>
              <a:rPr sz="1800" spc="-20" dirty="0">
                <a:solidFill>
                  <a:srgbClr val="FF0000"/>
                </a:solidFill>
                <a:latin typeface="Carlito"/>
                <a:cs typeface="Carlito"/>
              </a:rPr>
              <a:t>e</a:t>
            </a:r>
            <a:r>
              <a:rPr sz="1800" dirty="0">
                <a:solidFill>
                  <a:srgbClr val="FF0000"/>
                </a:solidFill>
                <a:latin typeface="Carlito"/>
                <a:cs typeface="Carlito"/>
              </a:rPr>
              <a:t>x	</a:t>
            </a:r>
            <a:r>
              <a:rPr sz="1800" spc="-5" dirty="0">
                <a:solidFill>
                  <a:srgbClr val="FF0000"/>
                </a:solidFill>
                <a:latin typeface="Carlito"/>
                <a:cs typeface="Carlito"/>
              </a:rPr>
              <a:t>of</a:t>
            </a:r>
            <a:endParaRPr sz="1800">
              <a:latin typeface="Carlito"/>
              <a:cs typeface="Carlito"/>
            </a:endParaRPr>
          </a:p>
          <a:p>
            <a:pPr marL="12700">
              <a:lnSpc>
                <a:spcPct val="100000"/>
              </a:lnSpc>
            </a:pPr>
            <a:r>
              <a:rPr sz="1800" spc="-10" dirty="0">
                <a:solidFill>
                  <a:srgbClr val="FF0000"/>
                </a:solidFill>
                <a:latin typeface="Carlito"/>
                <a:cs typeface="Carlito"/>
              </a:rPr>
              <a:t>invoking</a:t>
            </a:r>
            <a:r>
              <a:rPr sz="1800" spc="-20" dirty="0">
                <a:solidFill>
                  <a:srgbClr val="FF0000"/>
                </a:solidFill>
                <a:latin typeface="Carlito"/>
                <a:cs typeface="Carlito"/>
              </a:rPr>
              <a:t> </a:t>
            </a:r>
            <a:r>
              <a:rPr sz="1800" spc="-10" dirty="0">
                <a:solidFill>
                  <a:srgbClr val="FF0000"/>
                </a:solidFill>
                <a:latin typeface="Carlito"/>
                <a:cs typeface="Carlito"/>
              </a:rPr>
              <a:t>string</a:t>
            </a:r>
            <a:endParaRPr sz="1800">
              <a:latin typeface="Carlito"/>
              <a:cs typeface="Carlito"/>
            </a:endParaRPr>
          </a:p>
        </p:txBody>
      </p:sp>
      <p:sp>
        <p:nvSpPr>
          <p:cNvPr id="9" name="object 9"/>
          <p:cNvSpPr txBox="1"/>
          <p:nvPr/>
        </p:nvSpPr>
        <p:spPr>
          <a:xfrm>
            <a:off x="2202942" y="3996054"/>
            <a:ext cx="1473835" cy="574675"/>
          </a:xfrm>
          <a:prstGeom prst="rect">
            <a:avLst/>
          </a:prstGeom>
        </p:spPr>
        <p:txBody>
          <a:bodyPr vert="horz" wrap="square" lIns="0" tIns="12700" rIns="0" bIns="0" rtlCol="0">
            <a:spAutoFit/>
          </a:bodyPr>
          <a:lstStyle/>
          <a:p>
            <a:pPr marL="12700">
              <a:lnSpc>
                <a:spcPct val="100000"/>
              </a:lnSpc>
              <a:spcBef>
                <a:spcPts val="100"/>
              </a:spcBef>
              <a:tabLst>
                <a:tab pos="920750" algn="l"/>
              </a:tabLst>
            </a:pPr>
            <a:r>
              <a:rPr sz="1800" spc="-10" dirty="0">
                <a:solidFill>
                  <a:srgbClr val="FF0000"/>
                </a:solidFill>
                <a:latin typeface="Carlito"/>
                <a:cs typeface="Carlito"/>
              </a:rPr>
              <a:t>Second	String</a:t>
            </a:r>
            <a:endParaRPr sz="1800">
              <a:latin typeface="Carlito"/>
              <a:cs typeface="Carlito"/>
            </a:endParaRPr>
          </a:p>
          <a:p>
            <a:pPr marL="12700">
              <a:lnSpc>
                <a:spcPct val="100000"/>
              </a:lnSpc>
            </a:pPr>
            <a:r>
              <a:rPr sz="1800" spc="-15" dirty="0">
                <a:solidFill>
                  <a:srgbClr val="FF0000"/>
                </a:solidFill>
                <a:latin typeface="Carlito"/>
                <a:cs typeface="Carlito"/>
              </a:rPr>
              <a:t>for</a:t>
            </a:r>
            <a:r>
              <a:rPr sz="1800" spc="-35" dirty="0">
                <a:solidFill>
                  <a:srgbClr val="FF0000"/>
                </a:solidFill>
                <a:latin typeface="Carlito"/>
                <a:cs typeface="Carlito"/>
              </a:rPr>
              <a:t> </a:t>
            </a:r>
            <a:r>
              <a:rPr sz="1800" spc="-10" dirty="0">
                <a:solidFill>
                  <a:srgbClr val="FF0000"/>
                </a:solidFill>
                <a:latin typeface="Carlito"/>
                <a:cs typeface="Carlito"/>
              </a:rPr>
              <a:t>comparison</a:t>
            </a:r>
            <a:endParaRPr sz="1800">
              <a:latin typeface="Carlito"/>
              <a:cs typeface="Carlito"/>
            </a:endParaRPr>
          </a:p>
        </p:txBody>
      </p:sp>
      <p:sp>
        <p:nvSpPr>
          <p:cNvPr id="10" name="object 10"/>
          <p:cNvSpPr/>
          <p:nvPr/>
        </p:nvSpPr>
        <p:spPr>
          <a:xfrm>
            <a:off x="4396866" y="3286505"/>
            <a:ext cx="607695" cy="701040"/>
          </a:xfrm>
          <a:custGeom>
            <a:avLst/>
            <a:gdLst/>
            <a:ahLst/>
            <a:cxnLst/>
            <a:rect l="l" t="t" r="r" b="b"/>
            <a:pathLst>
              <a:path w="607695" h="701039">
                <a:moveTo>
                  <a:pt x="50800" y="625094"/>
                </a:moveTo>
                <a:lnTo>
                  <a:pt x="0" y="683895"/>
                </a:lnTo>
                <a:lnTo>
                  <a:pt x="19558" y="700786"/>
                </a:lnTo>
                <a:lnTo>
                  <a:pt x="70358" y="641985"/>
                </a:lnTo>
                <a:lnTo>
                  <a:pt x="50800" y="625094"/>
                </a:lnTo>
                <a:close/>
              </a:path>
              <a:path w="607695" h="701039">
                <a:moveTo>
                  <a:pt x="118491" y="546608"/>
                </a:moveTo>
                <a:lnTo>
                  <a:pt x="67691" y="605409"/>
                </a:lnTo>
                <a:lnTo>
                  <a:pt x="87249" y="622300"/>
                </a:lnTo>
                <a:lnTo>
                  <a:pt x="138049" y="563499"/>
                </a:lnTo>
                <a:lnTo>
                  <a:pt x="118491" y="546608"/>
                </a:lnTo>
                <a:close/>
              </a:path>
              <a:path w="607695" h="701039">
                <a:moveTo>
                  <a:pt x="186182" y="468122"/>
                </a:moveTo>
                <a:lnTo>
                  <a:pt x="135382" y="526923"/>
                </a:lnTo>
                <a:lnTo>
                  <a:pt x="154940" y="543941"/>
                </a:lnTo>
                <a:lnTo>
                  <a:pt x="205740" y="485013"/>
                </a:lnTo>
                <a:lnTo>
                  <a:pt x="186182" y="468122"/>
                </a:lnTo>
                <a:close/>
              </a:path>
              <a:path w="607695" h="701039">
                <a:moveTo>
                  <a:pt x="253873" y="389636"/>
                </a:moveTo>
                <a:lnTo>
                  <a:pt x="203073" y="448564"/>
                </a:lnTo>
                <a:lnTo>
                  <a:pt x="222758" y="465455"/>
                </a:lnTo>
                <a:lnTo>
                  <a:pt x="273431" y="406654"/>
                </a:lnTo>
                <a:lnTo>
                  <a:pt x="253873" y="389636"/>
                </a:lnTo>
                <a:close/>
              </a:path>
              <a:path w="607695" h="701039">
                <a:moveTo>
                  <a:pt x="321563" y="311150"/>
                </a:moveTo>
                <a:lnTo>
                  <a:pt x="270763" y="370078"/>
                </a:lnTo>
                <a:lnTo>
                  <a:pt x="290449" y="386969"/>
                </a:lnTo>
                <a:lnTo>
                  <a:pt x="341249" y="328168"/>
                </a:lnTo>
                <a:lnTo>
                  <a:pt x="321563" y="311150"/>
                </a:lnTo>
                <a:close/>
              </a:path>
              <a:path w="607695" h="701039">
                <a:moveTo>
                  <a:pt x="389255" y="232791"/>
                </a:moveTo>
                <a:lnTo>
                  <a:pt x="338455" y="291592"/>
                </a:lnTo>
                <a:lnTo>
                  <a:pt x="358140" y="308483"/>
                </a:lnTo>
                <a:lnTo>
                  <a:pt x="408940" y="249682"/>
                </a:lnTo>
                <a:lnTo>
                  <a:pt x="389255" y="232791"/>
                </a:lnTo>
                <a:close/>
              </a:path>
              <a:path w="607695" h="701039">
                <a:moveTo>
                  <a:pt x="456946" y="154305"/>
                </a:moveTo>
                <a:lnTo>
                  <a:pt x="406273" y="213106"/>
                </a:lnTo>
                <a:lnTo>
                  <a:pt x="425831" y="230124"/>
                </a:lnTo>
                <a:lnTo>
                  <a:pt x="476631" y="171196"/>
                </a:lnTo>
                <a:lnTo>
                  <a:pt x="456946" y="154305"/>
                </a:lnTo>
                <a:close/>
              </a:path>
              <a:path w="607695" h="701039">
                <a:moveTo>
                  <a:pt x="524763" y="75819"/>
                </a:moveTo>
                <a:lnTo>
                  <a:pt x="473963" y="134747"/>
                </a:lnTo>
                <a:lnTo>
                  <a:pt x="493522" y="151638"/>
                </a:lnTo>
                <a:lnTo>
                  <a:pt x="544322" y="92710"/>
                </a:lnTo>
                <a:lnTo>
                  <a:pt x="524763" y="75819"/>
                </a:lnTo>
                <a:close/>
              </a:path>
              <a:path w="607695" h="701039">
                <a:moveTo>
                  <a:pt x="596987" y="40513"/>
                </a:moveTo>
                <a:lnTo>
                  <a:pt x="555117" y="40513"/>
                </a:lnTo>
                <a:lnTo>
                  <a:pt x="574802" y="57531"/>
                </a:lnTo>
                <a:lnTo>
                  <a:pt x="566297" y="67307"/>
                </a:lnTo>
                <a:lnTo>
                  <a:pt x="585851" y="84201"/>
                </a:lnTo>
                <a:lnTo>
                  <a:pt x="596987" y="40513"/>
                </a:lnTo>
                <a:close/>
              </a:path>
              <a:path w="607695" h="701039">
                <a:moveTo>
                  <a:pt x="546691" y="50369"/>
                </a:moveTo>
                <a:lnTo>
                  <a:pt x="541655" y="56261"/>
                </a:lnTo>
                <a:lnTo>
                  <a:pt x="561213" y="73152"/>
                </a:lnTo>
                <a:lnTo>
                  <a:pt x="566297" y="67307"/>
                </a:lnTo>
                <a:lnTo>
                  <a:pt x="546691" y="50369"/>
                </a:lnTo>
                <a:close/>
              </a:path>
              <a:path w="607695" h="701039">
                <a:moveTo>
                  <a:pt x="555117" y="40513"/>
                </a:moveTo>
                <a:lnTo>
                  <a:pt x="546691" y="50369"/>
                </a:lnTo>
                <a:lnTo>
                  <a:pt x="566297" y="67307"/>
                </a:lnTo>
                <a:lnTo>
                  <a:pt x="574802" y="57531"/>
                </a:lnTo>
                <a:lnTo>
                  <a:pt x="555117" y="40513"/>
                </a:lnTo>
                <a:close/>
              </a:path>
              <a:path w="607695" h="701039">
                <a:moveTo>
                  <a:pt x="607313" y="0"/>
                </a:moveTo>
                <a:lnTo>
                  <a:pt x="527050" y="33401"/>
                </a:lnTo>
                <a:lnTo>
                  <a:pt x="546691" y="50369"/>
                </a:lnTo>
                <a:lnTo>
                  <a:pt x="555117" y="40513"/>
                </a:lnTo>
                <a:lnTo>
                  <a:pt x="596987" y="40513"/>
                </a:lnTo>
                <a:lnTo>
                  <a:pt x="607313" y="0"/>
                </a:lnTo>
                <a:close/>
              </a:path>
            </a:pathLst>
          </a:custGeom>
          <a:solidFill>
            <a:srgbClr val="FF0000"/>
          </a:solidFill>
        </p:spPr>
        <p:txBody>
          <a:bodyPr wrap="square" lIns="0" tIns="0" rIns="0" bIns="0" rtlCol="0"/>
          <a:lstStyle/>
          <a:p>
            <a:endParaRPr/>
          </a:p>
        </p:txBody>
      </p:sp>
      <p:sp>
        <p:nvSpPr>
          <p:cNvPr id="11" name="object 11"/>
          <p:cNvSpPr txBox="1"/>
          <p:nvPr/>
        </p:nvSpPr>
        <p:spPr>
          <a:xfrm>
            <a:off x="3859148" y="3996054"/>
            <a:ext cx="1475105" cy="574675"/>
          </a:xfrm>
          <a:prstGeom prst="rect">
            <a:avLst/>
          </a:prstGeom>
        </p:spPr>
        <p:txBody>
          <a:bodyPr vert="horz" wrap="square" lIns="0" tIns="12700" rIns="0" bIns="0" rtlCol="0">
            <a:spAutoFit/>
          </a:bodyPr>
          <a:lstStyle/>
          <a:p>
            <a:pPr marL="12700">
              <a:lnSpc>
                <a:spcPct val="100000"/>
              </a:lnSpc>
              <a:spcBef>
                <a:spcPts val="100"/>
              </a:spcBef>
              <a:tabLst>
                <a:tab pos="1271270" algn="l"/>
              </a:tabLst>
            </a:pPr>
            <a:r>
              <a:rPr sz="1800" spc="-20" dirty="0">
                <a:solidFill>
                  <a:srgbClr val="FF0000"/>
                </a:solidFill>
                <a:latin typeface="Carlito"/>
                <a:cs typeface="Carlito"/>
              </a:rPr>
              <a:t>s</a:t>
            </a:r>
            <a:r>
              <a:rPr sz="1800" spc="-30" dirty="0">
                <a:solidFill>
                  <a:srgbClr val="FF0000"/>
                </a:solidFill>
                <a:latin typeface="Carlito"/>
                <a:cs typeface="Carlito"/>
              </a:rPr>
              <a:t>t</a:t>
            </a:r>
            <a:r>
              <a:rPr sz="1800" dirty="0">
                <a:solidFill>
                  <a:srgbClr val="FF0000"/>
                </a:solidFill>
                <a:latin typeface="Carlito"/>
                <a:cs typeface="Carlito"/>
              </a:rPr>
              <a:t>art </a:t>
            </a:r>
            <a:r>
              <a:rPr sz="1800" spc="45" dirty="0">
                <a:solidFill>
                  <a:srgbClr val="FF0000"/>
                </a:solidFill>
                <a:latin typeface="Carlito"/>
                <a:cs typeface="Carlito"/>
              </a:rPr>
              <a:t> </a:t>
            </a:r>
            <a:r>
              <a:rPr sz="1800" spc="-5" dirty="0">
                <a:solidFill>
                  <a:srgbClr val="FF0000"/>
                </a:solidFill>
                <a:latin typeface="Carlito"/>
                <a:cs typeface="Carlito"/>
              </a:rPr>
              <a:t>in</a:t>
            </a:r>
            <a:r>
              <a:rPr sz="1800" dirty="0">
                <a:solidFill>
                  <a:srgbClr val="FF0000"/>
                </a:solidFill>
                <a:latin typeface="Carlito"/>
                <a:cs typeface="Carlito"/>
              </a:rPr>
              <a:t>d</a:t>
            </a:r>
            <a:r>
              <a:rPr sz="1800" spc="-20" dirty="0">
                <a:solidFill>
                  <a:srgbClr val="FF0000"/>
                </a:solidFill>
                <a:latin typeface="Carlito"/>
                <a:cs typeface="Carlito"/>
              </a:rPr>
              <a:t>e</a:t>
            </a:r>
            <a:r>
              <a:rPr sz="1800" dirty="0">
                <a:solidFill>
                  <a:srgbClr val="FF0000"/>
                </a:solidFill>
                <a:latin typeface="Carlito"/>
                <a:cs typeface="Carlito"/>
              </a:rPr>
              <a:t>x	</a:t>
            </a:r>
            <a:r>
              <a:rPr sz="1800" spc="-5" dirty="0">
                <a:solidFill>
                  <a:srgbClr val="FF0000"/>
                </a:solidFill>
                <a:latin typeface="Carlito"/>
                <a:cs typeface="Carlito"/>
              </a:rPr>
              <a:t>of</a:t>
            </a:r>
            <a:endParaRPr sz="1800">
              <a:latin typeface="Carlito"/>
              <a:cs typeface="Carlito"/>
            </a:endParaRPr>
          </a:p>
          <a:p>
            <a:pPr marL="12700">
              <a:lnSpc>
                <a:spcPct val="100000"/>
              </a:lnSpc>
            </a:pPr>
            <a:r>
              <a:rPr sz="1800" spc="-5" dirty="0">
                <a:solidFill>
                  <a:srgbClr val="FF0000"/>
                </a:solidFill>
                <a:latin typeface="Carlito"/>
                <a:cs typeface="Carlito"/>
              </a:rPr>
              <a:t>second</a:t>
            </a:r>
            <a:r>
              <a:rPr sz="1800" spc="-10" dirty="0">
                <a:solidFill>
                  <a:srgbClr val="FF0000"/>
                </a:solidFill>
                <a:latin typeface="Carlito"/>
                <a:cs typeface="Carlito"/>
              </a:rPr>
              <a:t> String</a:t>
            </a:r>
            <a:endParaRPr sz="1800">
              <a:latin typeface="Carlito"/>
              <a:cs typeface="Carlito"/>
            </a:endParaRPr>
          </a:p>
        </p:txBody>
      </p:sp>
      <p:sp>
        <p:nvSpPr>
          <p:cNvPr id="12" name="object 12"/>
          <p:cNvSpPr/>
          <p:nvPr/>
        </p:nvSpPr>
        <p:spPr>
          <a:xfrm>
            <a:off x="6229350" y="3274948"/>
            <a:ext cx="1052830" cy="384175"/>
          </a:xfrm>
          <a:custGeom>
            <a:avLst/>
            <a:gdLst/>
            <a:ahLst/>
            <a:cxnLst/>
            <a:rect l="l" t="t" r="r" b="b"/>
            <a:pathLst>
              <a:path w="1052829" h="384175">
                <a:moveTo>
                  <a:pt x="978916" y="334137"/>
                </a:moveTo>
                <a:lnTo>
                  <a:pt x="970533" y="358648"/>
                </a:lnTo>
                <a:lnTo>
                  <a:pt x="1044067" y="383794"/>
                </a:lnTo>
                <a:lnTo>
                  <a:pt x="1052449" y="359282"/>
                </a:lnTo>
                <a:lnTo>
                  <a:pt x="978916" y="334137"/>
                </a:lnTo>
                <a:close/>
              </a:path>
              <a:path w="1052829" h="384175">
                <a:moveTo>
                  <a:pt x="880999" y="300481"/>
                </a:moveTo>
                <a:lnTo>
                  <a:pt x="872490" y="324992"/>
                </a:lnTo>
                <a:lnTo>
                  <a:pt x="946023" y="350138"/>
                </a:lnTo>
                <a:lnTo>
                  <a:pt x="954404" y="325627"/>
                </a:lnTo>
                <a:lnTo>
                  <a:pt x="880999" y="300481"/>
                </a:lnTo>
                <a:close/>
              </a:path>
              <a:path w="1052829" h="384175">
                <a:moveTo>
                  <a:pt x="782954" y="266826"/>
                </a:moveTo>
                <a:lnTo>
                  <a:pt x="774573" y="291211"/>
                </a:lnTo>
                <a:lnTo>
                  <a:pt x="847978" y="316484"/>
                </a:lnTo>
                <a:lnTo>
                  <a:pt x="856488" y="291973"/>
                </a:lnTo>
                <a:lnTo>
                  <a:pt x="782954" y="266826"/>
                </a:lnTo>
                <a:close/>
              </a:path>
              <a:path w="1052829" h="384175">
                <a:moveTo>
                  <a:pt x="684910" y="233045"/>
                </a:moveTo>
                <a:lnTo>
                  <a:pt x="676528" y="257555"/>
                </a:lnTo>
                <a:lnTo>
                  <a:pt x="750061" y="282828"/>
                </a:lnTo>
                <a:lnTo>
                  <a:pt x="758444" y="258317"/>
                </a:lnTo>
                <a:lnTo>
                  <a:pt x="684910" y="233045"/>
                </a:lnTo>
                <a:close/>
              </a:path>
              <a:path w="1052829" h="384175">
                <a:moveTo>
                  <a:pt x="586867" y="199389"/>
                </a:moveTo>
                <a:lnTo>
                  <a:pt x="578484" y="223900"/>
                </a:lnTo>
                <a:lnTo>
                  <a:pt x="652018" y="249174"/>
                </a:lnTo>
                <a:lnTo>
                  <a:pt x="660400" y="224662"/>
                </a:lnTo>
                <a:lnTo>
                  <a:pt x="586867" y="199389"/>
                </a:lnTo>
                <a:close/>
              </a:path>
              <a:path w="1052829" h="384175">
                <a:moveTo>
                  <a:pt x="488950" y="165735"/>
                </a:moveTo>
                <a:lnTo>
                  <a:pt x="480441" y="190246"/>
                </a:lnTo>
                <a:lnTo>
                  <a:pt x="553974" y="215518"/>
                </a:lnTo>
                <a:lnTo>
                  <a:pt x="562355" y="191008"/>
                </a:lnTo>
                <a:lnTo>
                  <a:pt x="488950" y="165735"/>
                </a:lnTo>
                <a:close/>
              </a:path>
              <a:path w="1052829" h="384175">
                <a:moveTo>
                  <a:pt x="390905" y="132079"/>
                </a:moveTo>
                <a:lnTo>
                  <a:pt x="382524" y="156590"/>
                </a:lnTo>
                <a:lnTo>
                  <a:pt x="455929" y="181863"/>
                </a:lnTo>
                <a:lnTo>
                  <a:pt x="464439" y="157352"/>
                </a:lnTo>
                <a:lnTo>
                  <a:pt x="390905" y="132079"/>
                </a:lnTo>
                <a:close/>
              </a:path>
              <a:path w="1052829" h="384175">
                <a:moveTo>
                  <a:pt x="292861" y="98425"/>
                </a:moveTo>
                <a:lnTo>
                  <a:pt x="284479" y="122936"/>
                </a:lnTo>
                <a:lnTo>
                  <a:pt x="358013" y="148209"/>
                </a:lnTo>
                <a:lnTo>
                  <a:pt x="366395" y="123698"/>
                </a:lnTo>
                <a:lnTo>
                  <a:pt x="292861" y="98425"/>
                </a:lnTo>
                <a:close/>
              </a:path>
              <a:path w="1052829" h="384175">
                <a:moveTo>
                  <a:pt x="194817" y="64770"/>
                </a:moveTo>
                <a:lnTo>
                  <a:pt x="186436" y="89280"/>
                </a:lnTo>
                <a:lnTo>
                  <a:pt x="259969" y="114553"/>
                </a:lnTo>
                <a:lnTo>
                  <a:pt x="268350" y="90042"/>
                </a:lnTo>
                <a:lnTo>
                  <a:pt x="194817" y="64770"/>
                </a:lnTo>
                <a:close/>
              </a:path>
              <a:path w="1052829" h="384175">
                <a:moveTo>
                  <a:pt x="96900" y="31114"/>
                </a:moveTo>
                <a:lnTo>
                  <a:pt x="88391" y="55625"/>
                </a:lnTo>
                <a:lnTo>
                  <a:pt x="161925" y="80899"/>
                </a:lnTo>
                <a:lnTo>
                  <a:pt x="170307" y="56387"/>
                </a:lnTo>
                <a:lnTo>
                  <a:pt x="96900" y="31114"/>
                </a:lnTo>
                <a:close/>
              </a:path>
              <a:path w="1052829" h="384175">
                <a:moveTo>
                  <a:pt x="86105" y="0"/>
                </a:moveTo>
                <a:lnTo>
                  <a:pt x="0" y="11556"/>
                </a:lnTo>
                <a:lnTo>
                  <a:pt x="60833" y="73533"/>
                </a:lnTo>
                <a:lnTo>
                  <a:pt x="69868" y="47243"/>
                </a:lnTo>
                <a:lnTo>
                  <a:pt x="63880" y="47243"/>
                </a:lnTo>
                <a:lnTo>
                  <a:pt x="57023" y="44830"/>
                </a:lnTo>
                <a:lnTo>
                  <a:pt x="65404" y="20320"/>
                </a:lnTo>
                <a:lnTo>
                  <a:pt x="79122" y="20320"/>
                </a:lnTo>
                <a:lnTo>
                  <a:pt x="86105" y="0"/>
                </a:lnTo>
                <a:close/>
              </a:path>
              <a:path w="1052829" h="384175">
                <a:moveTo>
                  <a:pt x="65404" y="20320"/>
                </a:moveTo>
                <a:lnTo>
                  <a:pt x="57023" y="44830"/>
                </a:lnTo>
                <a:lnTo>
                  <a:pt x="63880" y="47243"/>
                </a:lnTo>
                <a:lnTo>
                  <a:pt x="72389" y="22733"/>
                </a:lnTo>
                <a:lnTo>
                  <a:pt x="65404" y="20320"/>
                </a:lnTo>
                <a:close/>
              </a:path>
              <a:path w="1052829" h="384175">
                <a:moveTo>
                  <a:pt x="79122" y="20320"/>
                </a:moveTo>
                <a:lnTo>
                  <a:pt x="65404" y="20320"/>
                </a:lnTo>
                <a:lnTo>
                  <a:pt x="72389" y="22733"/>
                </a:lnTo>
                <a:lnTo>
                  <a:pt x="63880" y="47243"/>
                </a:lnTo>
                <a:lnTo>
                  <a:pt x="69868" y="47243"/>
                </a:lnTo>
                <a:lnTo>
                  <a:pt x="79122" y="20320"/>
                </a:lnTo>
                <a:close/>
              </a:path>
            </a:pathLst>
          </a:custGeom>
          <a:solidFill>
            <a:srgbClr val="FF0000"/>
          </a:solidFill>
        </p:spPr>
        <p:txBody>
          <a:bodyPr wrap="square" lIns="0" tIns="0" rIns="0" bIns="0" rtlCol="0"/>
          <a:lstStyle/>
          <a:p>
            <a:endParaRPr/>
          </a:p>
        </p:txBody>
      </p:sp>
      <p:sp>
        <p:nvSpPr>
          <p:cNvPr id="13" name="object 13"/>
          <p:cNvSpPr txBox="1"/>
          <p:nvPr/>
        </p:nvSpPr>
        <p:spPr>
          <a:xfrm>
            <a:off x="5515736" y="3649726"/>
            <a:ext cx="3421379" cy="1123315"/>
          </a:xfrm>
          <a:prstGeom prst="rect">
            <a:avLst/>
          </a:prstGeom>
        </p:spPr>
        <p:txBody>
          <a:bodyPr vert="horz" wrap="square" lIns="0" tIns="12700" rIns="0" bIns="0" rtlCol="0">
            <a:spAutoFit/>
          </a:bodyPr>
          <a:lstStyle/>
          <a:p>
            <a:pPr marL="12700">
              <a:lnSpc>
                <a:spcPct val="100000"/>
              </a:lnSpc>
              <a:spcBef>
                <a:spcPts val="100"/>
              </a:spcBef>
              <a:tabLst>
                <a:tab pos="1040130" algn="l"/>
                <a:tab pos="1494155" algn="l"/>
                <a:tab pos="2716530" algn="l"/>
                <a:tab pos="3173730" algn="l"/>
              </a:tabLst>
            </a:pPr>
            <a:r>
              <a:rPr sz="1800" dirty="0">
                <a:solidFill>
                  <a:srgbClr val="FF0000"/>
                </a:solidFill>
                <a:latin typeface="Carlito"/>
                <a:cs typeface="Carlito"/>
              </a:rPr>
              <a:t>Num</a:t>
            </a:r>
            <a:r>
              <a:rPr sz="1800" spc="-5" dirty="0">
                <a:solidFill>
                  <a:srgbClr val="FF0000"/>
                </a:solidFill>
                <a:latin typeface="Carlito"/>
                <a:cs typeface="Carlito"/>
              </a:rPr>
              <a:t>b</a:t>
            </a:r>
            <a:r>
              <a:rPr sz="1800" dirty="0">
                <a:solidFill>
                  <a:srgbClr val="FF0000"/>
                </a:solidFill>
                <a:latin typeface="Carlito"/>
                <a:cs typeface="Carlito"/>
              </a:rPr>
              <a:t>er	</a:t>
            </a:r>
            <a:r>
              <a:rPr sz="1800" spc="-5" dirty="0">
                <a:solidFill>
                  <a:srgbClr val="FF0000"/>
                </a:solidFill>
                <a:latin typeface="Carlito"/>
                <a:cs typeface="Carlito"/>
              </a:rPr>
              <a:t>o</a:t>
            </a:r>
            <a:r>
              <a:rPr sz="1800" dirty="0">
                <a:solidFill>
                  <a:srgbClr val="FF0000"/>
                </a:solidFill>
                <a:latin typeface="Carlito"/>
                <a:cs typeface="Carlito"/>
              </a:rPr>
              <a:t>f	</a:t>
            </a:r>
            <a:r>
              <a:rPr sz="1800" spc="-10" dirty="0">
                <a:solidFill>
                  <a:srgbClr val="FF0000"/>
                </a:solidFill>
                <a:latin typeface="Carlito"/>
                <a:cs typeface="Carlito"/>
              </a:rPr>
              <a:t>c</a:t>
            </a:r>
            <a:r>
              <a:rPr sz="1800" spc="-5" dirty="0">
                <a:solidFill>
                  <a:srgbClr val="FF0000"/>
                </a:solidFill>
                <a:latin typeface="Carlito"/>
                <a:cs typeface="Carlito"/>
              </a:rPr>
              <a:t>ha</a:t>
            </a:r>
            <a:r>
              <a:rPr sz="1800" spc="-40" dirty="0">
                <a:solidFill>
                  <a:srgbClr val="FF0000"/>
                </a:solidFill>
                <a:latin typeface="Carlito"/>
                <a:cs typeface="Carlito"/>
              </a:rPr>
              <a:t>r</a:t>
            </a:r>
            <a:r>
              <a:rPr sz="1800" dirty="0">
                <a:solidFill>
                  <a:srgbClr val="FF0000"/>
                </a:solidFill>
                <a:latin typeface="Carlito"/>
                <a:cs typeface="Carlito"/>
              </a:rPr>
              <a:t>ac</a:t>
            </a:r>
            <a:r>
              <a:rPr sz="1800" spc="-35" dirty="0">
                <a:solidFill>
                  <a:srgbClr val="FF0000"/>
                </a:solidFill>
                <a:latin typeface="Carlito"/>
                <a:cs typeface="Carlito"/>
              </a:rPr>
              <a:t>t</a:t>
            </a:r>
            <a:r>
              <a:rPr sz="1800" spc="15" dirty="0">
                <a:solidFill>
                  <a:srgbClr val="FF0000"/>
                </a:solidFill>
                <a:latin typeface="Carlito"/>
                <a:cs typeface="Carlito"/>
              </a:rPr>
              <a:t>e</a:t>
            </a:r>
            <a:r>
              <a:rPr sz="1800" spc="-40" dirty="0">
                <a:solidFill>
                  <a:srgbClr val="FF0000"/>
                </a:solidFill>
                <a:latin typeface="Carlito"/>
                <a:cs typeface="Carlito"/>
              </a:rPr>
              <a:t>r</a:t>
            </a:r>
            <a:r>
              <a:rPr sz="1800" dirty="0">
                <a:solidFill>
                  <a:srgbClr val="FF0000"/>
                </a:solidFill>
                <a:latin typeface="Carlito"/>
                <a:cs typeface="Carlito"/>
              </a:rPr>
              <a:t>s	</a:t>
            </a:r>
            <a:r>
              <a:rPr sz="1800" spc="-15" dirty="0">
                <a:solidFill>
                  <a:srgbClr val="FF0000"/>
                </a:solidFill>
                <a:latin typeface="Carlito"/>
                <a:cs typeface="Carlito"/>
              </a:rPr>
              <a:t>t</a:t>
            </a:r>
            <a:r>
              <a:rPr sz="1800" dirty="0">
                <a:solidFill>
                  <a:srgbClr val="FF0000"/>
                </a:solidFill>
                <a:latin typeface="Carlito"/>
                <a:cs typeface="Carlito"/>
              </a:rPr>
              <a:t>o	be</a:t>
            </a:r>
            <a:endParaRPr sz="1800">
              <a:latin typeface="Carlito"/>
              <a:cs typeface="Carlito"/>
            </a:endParaRPr>
          </a:p>
          <a:p>
            <a:pPr marL="12700">
              <a:lnSpc>
                <a:spcPct val="100000"/>
              </a:lnSpc>
            </a:pPr>
            <a:r>
              <a:rPr sz="1800" spc="-10" dirty="0">
                <a:solidFill>
                  <a:srgbClr val="FF0000"/>
                </a:solidFill>
                <a:latin typeface="Carlito"/>
                <a:cs typeface="Carlito"/>
              </a:rPr>
              <a:t>compared</a:t>
            </a:r>
            <a:endParaRPr sz="1800">
              <a:latin typeface="Carlito"/>
              <a:cs typeface="Carlito"/>
            </a:endParaRPr>
          </a:p>
          <a:p>
            <a:pPr marL="12700" marR="5080">
              <a:lnSpc>
                <a:spcPct val="100000"/>
              </a:lnSpc>
              <a:tabLst>
                <a:tab pos="1590040" algn="l"/>
              </a:tabLst>
            </a:pPr>
            <a:r>
              <a:rPr sz="1800" spc="-10" dirty="0">
                <a:solidFill>
                  <a:srgbClr val="FF0000"/>
                </a:solidFill>
                <a:latin typeface="Carlito"/>
                <a:cs typeface="Carlito"/>
              </a:rPr>
              <a:t>[str2startIndex	to str2startIndex </a:t>
            </a:r>
            <a:r>
              <a:rPr sz="1800" dirty="0">
                <a:solidFill>
                  <a:srgbClr val="FF0000"/>
                </a:solidFill>
                <a:latin typeface="Carlito"/>
                <a:cs typeface="Carlito"/>
              </a:rPr>
              <a:t>+  </a:t>
            </a:r>
            <a:r>
              <a:rPr sz="1800" spc="-10" dirty="0">
                <a:solidFill>
                  <a:srgbClr val="FF0000"/>
                </a:solidFill>
                <a:latin typeface="Carlito"/>
                <a:cs typeface="Carlito"/>
              </a:rPr>
              <a:t>numChars </a:t>
            </a:r>
            <a:r>
              <a:rPr sz="1800" dirty="0">
                <a:solidFill>
                  <a:srgbClr val="FF0000"/>
                </a:solidFill>
                <a:latin typeface="Carlito"/>
                <a:cs typeface="Carlito"/>
              </a:rPr>
              <a:t>–</a:t>
            </a:r>
            <a:r>
              <a:rPr sz="1800" spc="25" dirty="0">
                <a:solidFill>
                  <a:srgbClr val="FF0000"/>
                </a:solidFill>
                <a:latin typeface="Carlito"/>
                <a:cs typeface="Carlito"/>
              </a:rPr>
              <a:t> </a:t>
            </a:r>
            <a:r>
              <a:rPr sz="1800" spc="-5" dirty="0">
                <a:solidFill>
                  <a:srgbClr val="FF0000"/>
                </a:solidFill>
                <a:latin typeface="Carlito"/>
                <a:cs typeface="Carlito"/>
              </a:rPr>
              <a:t>1]</a:t>
            </a:r>
            <a:endParaRPr sz="1800">
              <a:latin typeface="Carlito"/>
              <a:cs typeface="Carlito"/>
            </a:endParaRPr>
          </a:p>
        </p:txBody>
      </p:sp>
      <p:sp>
        <p:nvSpPr>
          <p:cNvPr id="14" name="object 14"/>
          <p:cNvSpPr txBox="1"/>
          <p:nvPr/>
        </p:nvSpPr>
        <p:spPr>
          <a:xfrm>
            <a:off x="906576" y="5752591"/>
            <a:ext cx="1152525" cy="299720"/>
          </a:xfrm>
          <a:prstGeom prst="rect">
            <a:avLst/>
          </a:prstGeom>
        </p:spPr>
        <p:txBody>
          <a:bodyPr vert="horz" wrap="square" lIns="0" tIns="12700" rIns="0" bIns="0" rtlCol="0">
            <a:spAutoFit/>
          </a:bodyPr>
          <a:lstStyle/>
          <a:p>
            <a:pPr marL="299085" indent="-287020">
              <a:lnSpc>
                <a:spcPct val="100000"/>
              </a:lnSpc>
              <a:spcBef>
                <a:spcPts val="100"/>
              </a:spcBef>
              <a:buFont typeface="Arial"/>
              <a:buChar char="•"/>
              <a:tabLst>
                <a:tab pos="299085" algn="l"/>
                <a:tab pos="299720" algn="l"/>
                <a:tab pos="1076325" algn="l"/>
              </a:tabLst>
            </a:pPr>
            <a:r>
              <a:rPr sz="1800" b="1" dirty="0">
                <a:solidFill>
                  <a:srgbClr val="FF0000"/>
                </a:solidFill>
                <a:latin typeface="Carlito"/>
                <a:cs typeface="Carlito"/>
              </a:rPr>
              <a:t>No</a:t>
            </a:r>
            <a:r>
              <a:rPr sz="1800" b="1" spc="-40" dirty="0">
                <a:solidFill>
                  <a:srgbClr val="FF0000"/>
                </a:solidFill>
                <a:latin typeface="Carlito"/>
                <a:cs typeface="Carlito"/>
              </a:rPr>
              <a:t>t</a:t>
            </a:r>
            <a:r>
              <a:rPr sz="1800" b="1" dirty="0">
                <a:solidFill>
                  <a:srgbClr val="FF0000"/>
                </a:solidFill>
                <a:latin typeface="Carlito"/>
                <a:cs typeface="Carlito"/>
              </a:rPr>
              <a:t>e	:</a:t>
            </a:r>
            <a:endParaRPr sz="1800">
              <a:latin typeface="Carlito"/>
              <a:cs typeface="Carlito"/>
            </a:endParaRPr>
          </a:p>
        </p:txBody>
      </p:sp>
      <p:sp>
        <p:nvSpPr>
          <p:cNvPr id="15" name="object 15"/>
          <p:cNvSpPr txBox="1"/>
          <p:nvPr/>
        </p:nvSpPr>
        <p:spPr>
          <a:xfrm>
            <a:off x="2346705" y="5752591"/>
            <a:ext cx="6470650" cy="299720"/>
          </a:xfrm>
          <a:prstGeom prst="rect">
            <a:avLst/>
          </a:prstGeom>
        </p:spPr>
        <p:txBody>
          <a:bodyPr vert="horz" wrap="square" lIns="0" tIns="12700" rIns="0" bIns="0" rtlCol="0">
            <a:spAutoFit/>
          </a:bodyPr>
          <a:lstStyle/>
          <a:p>
            <a:pPr marL="12700">
              <a:lnSpc>
                <a:spcPct val="100000"/>
              </a:lnSpc>
              <a:spcBef>
                <a:spcPts val="100"/>
              </a:spcBef>
              <a:tabLst>
                <a:tab pos="847725" algn="l"/>
                <a:tab pos="2244090" algn="l"/>
                <a:tab pos="3193415" algn="l"/>
                <a:tab pos="3743960" algn="l"/>
                <a:tab pos="4662805" algn="l"/>
                <a:tab pos="5506085" algn="l"/>
              </a:tabLst>
            </a:pPr>
            <a:r>
              <a:rPr sz="1800" b="1" dirty="0">
                <a:solidFill>
                  <a:srgbClr val="FF0000"/>
                </a:solidFill>
                <a:latin typeface="Carlito"/>
                <a:cs typeface="Carlito"/>
              </a:rPr>
              <a:t>I</a:t>
            </a:r>
            <a:r>
              <a:rPr sz="1800" b="1" spc="5" dirty="0">
                <a:solidFill>
                  <a:srgbClr val="FF0000"/>
                </a:solidFill>
                <a:latin typeface="Carlito"/>
                <a:cs typeface="Carlito"/>
              </a:rPr>
              <a:t>n</a:t>
            </a:r>
            <a:r>
              <a:rPr sz="1800" b="1" dirty="0">
                <a:solidFill>
                  <a:srgbClr val="FF0000"/>
                </a:solidFill>
                <a:latin typeface="Carlito"/>
                <a:cs typeface="Carlito"/>
              </a:rPr>
              <a:t>d</a:t>
            </a:r>
            <a:r>
              <a:rPr sz="1800" b="1" spc="-35" dirty="0">
                <a:solidFill>
                  <a:srgbClr val="FF0000"/>
                </a:solidFill>
                <a:latin typeface="Carlito"/>
                <a:cs typeface="Carlito"/>
              </a:rPr>
              <a:t>e</a:t>
            </a:r>
            <a:r>
              <a:rPr sz="1800" b="1" dirty="0">
                <a:solidFill>
                  <a:srgbClr val="FF0000"/>
                </a:solidFill>
                <a:latin typeface="Carlito"/>
                <a:cs typeface="Carlito"/>
              </a:rPr>
              <a:t>x	pa</a:t>
            </a:r>
            <a:r>
              <a:rPr sz="1800" b="1" spc="-40" dirty="0">
                <a:solidFill>
                  <a:srgbClr val="FF0000"/>
                </a:solidFill>
                <a:latin typeface="Carlito"/>
                <a:cs typeface="Carlito"/>
              </a:rPr>
              <a:t>r</a:t>
            </a:r>
            <a:r>
              <a:rPr sz="1800" b="1" dirty="0">
                <a:solidFill>
                  <a:srgbClr val="FF0000"/>
                </a:solidFill>
                <a:latin typeface="Carlito"/>
                <a:cs typeface="Carlito"/>
              </a:rPr>
              <a:t>a</a:t>
            </a:r>
            <a:r>
              <a:rPr sz="1800" b="1" spc="-15" dirty="0">
                <a:solidFill>
                  <a:srgbClr val="FF0000"/>
                </a:solidFill>
                <a:latin typeface="Carlito"/>
                <a:cs typeface="Carlito"/>
              </a:rPr>
              <a:t>m</a:t>
            </a:r>
            <a:r>
              <a:rPr sz="1800" b="1" spc="-10" dirty="0">
                <a:solidFill>
                  <a:srgbClr val="FF0000"/>
                </a:solidFill>
                <a:latin typeface="Carlito"/>
                <a:cs typeface="Carlito"/>
              </a:rPr>
              <a:t>e</a:t>
            </a:r>
            <a:r>
              <a:rPr sz="1800" b="1" spc="-40" dirty="0">
                <a:solidFill>
                  <a:srgbClr val="FF0000"/>
                </a:solidFill>
                <a:latin typeface="Carlito"/>
                <a:cs typeface="Carlito"/>
              </a:rPr>
              <a:t>t</a:t>
            </a:r>
            <a:r>
              <a:rPr sz="1800" b="1" dirty="0">
                <a:solidFill>
                  <a:srgbClr val="FF0000"/>
                </a:solidFill>
                <a:latin typeface="Carlito"/>
                <a:cs typeface="Carlito"/>
              </a:rPr>
              <a:t>e</a:t>
            </a:r>
            <a:r>
              <a:rPr sz="1800" b="1" spc="-30" dirty="0">
                <a:solidFill>
                  <a:srgbClr val="FF0000"/>
                </a:solidFill>
                <a:latin typeface="Carlito"/>
                <a:cs typeface="Carlito"/>
              </a:rPr>
              <a:t>r</a:t>
            </a:r>
            <a:r>
              <a:rPr sz="1800" b="1" dirty="0">
                <a:solidFill>
                  <a:srgbClr val="FF0000"/>
                </a:solidFill>
                <a:latin typeface="Carlito"/>
                <a:cs typeface="Carlito"/>
              </a:rPr>
              <a:t>s	sh</a:t>
            </a:r>
            <a:r>
              <a:rPr sz="1800" b="1" spc="-15" dirty="0">
                <a:solidFill>
                  <a:srgbClr val="FF0000"/>
                </a:solidFill>
                <a:latin typeface="Carlito"/>
                <a:cs typeface="Carlito"/>
              </a:rPr>
              <a:t>o</a:t>
            </a:r>
            <a:r>
              <a:rPr sz="1800" b="1" dirty="0">
                <a:solidFill>
                  <a:srgbClr val="FF0000"/>
                </a:solidFill>
                <a:latin typeface="Carlito"/>
                <a:cs typeface="Carlito"/>
              </a:rPr>
              <a:t>u</a:t>
            </a:r>
            <a:r>
              <a:rPr sz="1800" b="1" spc="-15" dirty="0">
                <a:solidFill>
                  <a:srgbClr val="FF0000"/>
                </a:solidFill>
                <a:latin typeface="Carlito"/>
                <a:cs typeface="Carlito"/>
              </a:rPr>
              <a:t>l</a:t>
            </a:r>
            <a:r>
              <a:rPr sz="1800" b="1" dirty="0">
                <a:solidFill>
                  <a:srgbClr val="FF0000"/>
                </a:solidFill>
                <a:latin typeface="Carlito"/>
                <a:cs typeface="Carlito"/>
              </a:rPr>
              <a:t>d	</a:t>
            </a:r>
            <a:r>
              <a:rPr sz="1800" b="1" spc="-10" dirty="0">
                <a:solidFill>
                  <a:srgbClr val="FF0000"/>
                </a:solidFill>
                <a:latin typeface="Carlito"/>
                <a:cs typeface="Carlito"/>
              </a:rPr>
              <a:t>b</a:t>
            </a:r>
            <a:r>
              <a:rPr sz="1800" b="1" dirty="0">
                <a:solidFill>
                  <a:srgbClr val="FF0000"/>
                </a:solidFill>
                <a:latin typeface="Carlito"/>
                <a:cs typeface="Carlito"/>
              </a:rPr>
              <a:t>e	wi</a:t>
            </a:r>
            <a:r>
              <a:rPr sz="1800" b="1" spc="-15" dirty="0">
                <a:solidFill>
                  <a:srgbClr val="FF0000"/>
                </a:solidFill>
                <a:latin typeface="Carlito"/>
                <a:cs typeface="Carlito"/>
              </a:rPr>
              <a:t>t</a:t>
            </a:r>
            <a:r>
              <a:rPr sz="1800" b="1" dirty="0">
                <a:solidFill>
                  <a:srgbClr val="FF0000"/>
                </a:solidFill>
                <a:latin typeface="Carlito"/>
                <a:cs typeface="Carlito"/>
              </a:rPr>
              <a:t>hin	</a:t>
            </a:r>
            <a:r>
              <a:rPr sz="1800" b="1" spc="-45" dirty="0">
                <a:solidFill>
                  <a:srgbClr val="FF0000"/>
                </a:solidFill>
                <a:latin typeface="Carlito"/>
                <a:cs typeface="Carlito"/>
              </a:rPr>
              <a:t>r</a:t>
            </a:r>
            <a:r>
              <a:rPr sz="1800" b="1" spc="-15" dirty="0">
                <a:solidFill>
                  <a:srgbClr val="FF0000"/>
                </a:solidFill>
                <a:latin typeface="Carlito"/>
                <a:cs typeface="Carlito"/>
              </a:rPr>
              <a:t>a</a:t>
            </a:r>
            <a:r>
              <a:rPr sz="1800" b="1" dirty="0">
                <a:solidFill>
                  <a:srgbClr val="FF0000"/>
                </a:solidFill>
                <a:latin typeface="Carlito"/>
                <a:cs typeface="Carlito"/>
              </a:rPr>
              <a:t>n</a:t>
            </a:r>
            <a:r>
              <a:rPr sz="1800" b="1" spc="-40" dirty="0">
                <a:solidFill>
                  <a:srgbClr val="FF0000"/>
                </a:solidFill>
                <a:latin typeface="Carlito"/>
                <a:cs typeface="Carlito"/>
              </a:rPr>
              <a:t>g</a:t>
            </a:r>
            <a:r>
              <a:rPr sz="1800" b="1" dirty="0">
                <a:solidFill>
                  <a:srgbClr val="FF0000"/>
                </a:solidFill>
                <a:latin typeface="Carlito"/>
                <a:cs typeface="Carlito"/>
              </a:rPr>
              <a:t>e	other</a:t>
            </a:r>
            <a:r>
              <a:rPr sz="1800" b="1" spc="-10" dirty="0">
                <a:solidFill>
                  <a:srgbClr val="FF0000"/>
                </a:solidFill>
                <a:latin typeface="Carlito"/>
                <a:cs typeface="Carlito"/>
              </a:rPr>
              <a:t>w</a:t>
            </a:r>
            <a:r>
              <a:rPr sz="1800" b="1" spc="-15" dirty="0">
                <a:solidFill>
                  <a:srgbClr val="FF0000"/>
                </a:solidFill>
                <a:latin typeface="Carlito"/>
                <a:cs typeface="Carlito"/>
              </a:rPr>
              <a:t>is</a:t>
            </a:r>
            <a:r>
              <a:rPr sz="1800" b="1" dirty="0">
                <a:solidFill>
                  <a:srgbClr val="FF0000"/>
                </a:solidFill>
                <a:latin typeface="Carlito"/>
                <a:cs typeface="Carlito"/>
              </a:rPr>
              <a:t>e</a:t>
            </a:r>
            <a:endParaRPr sz="1800">
              <a:latin typeface="Carlito"/>
              <a:cs typeface="Carlito"/>
            </a:endParaRPr>
          </a:p>
        </p:txBody>
      </p:sp>
      <p:sp>
        <p:nvSpPr>
          <p:cNvPr id="16" name="object 16"/>
          <p:cNvSpPr txBox="1"/>
          <p:nvPr/>
        </p:nvSpPr>
        <p:spPr>
          <a:xfrm>
            <a:off x="1193088" y="6026911"/>
            <a:ext cx="470598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rlito"/>
                <a:cs typeface="Carlito"/>
              </a:rPr>
              <a:t>StringIndexOutofBoundsException </a:t>
            </a:r>
            <a:r>
              <a:rPr sz="1800" b="1" spc="-5" dirty="0">
                <a:solidFill>
                  <a:srgbClr val="FF0000"/>
                </a:solidFill>
                <a:latin typeface="Carlito"/>
                <a:cs typeface="Carlito"/>
              </a:rPr>
              <a:t>will </a:t>
            </a:r>
            <a:r>
              <a:rPr sz="1800" b="1" dirty="0">
                <a:solidFill>
                  <a:srgbClr val="FF0000"/>
                </a:solidFill>
                <a:latin typeface="Carlito"/>
                <a:cs typeface="Carlito"/>
              </a:rPr>
              <a:t>be</a:t>
            </a:r>
            <a:r>
              <a:rPr sz="1800" b="1" spc="-20" dirty="0">
                <a:solidFill>
                  <a:srgbClr val="FF0000"/>
                </a:solidFill>
                <a:latin typeface="Carlito"/>
                <a:cs typeface="Carlito"/>
              </a:rPr>
              <a:t> </a:t>
            </a:r>
            <a:r>
              <a:rPr sz="1800" b="1" spc="-5" dirty="0">
                <a:solidFill>
                  <a:srgbClr val="FF0000"/>
                </a:solidFill>
                <a:latin typeface="Carlito"/>
                <a:cs typeface="Carlito"/>
              </a:rPr>
              <a:t>thrown</a:t>
            </a:r>
            <a:endParaRPr sz="1800">
              <a:latin typeface="Carlito"/>
              <a:cs typeface="Carli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5380990" cy="1031240"/>
          </a:xfrm>
          <a:prstGeom prst="rect">
            <a:avLst/>
          </a:prstGeom>
        </p:spPr>
        <p:txBody>
          <a:bodyPr vert="horz" wrap="square" lIns="0" tIns="104139" rIns="0" bIns="0" rtlCol="0">
            <a:spAutoFit/>
          </a:bodyPr>
          <a:lstStyle/>
          <a:p>
            <a:pPr marL="12700" marR="5080">
              <a:lnSpc>
                <a:spcPts val="3600"/>
              </a:lnSpc>
              <a:spcBef>
                <a:spcPts val="819"/>
              </a:spcBef>
            </a:pPr>
            <a:r>
              <a:rPr sz="3600" i="0" spc="-135" dirty="0">
                <a:solidFill>
                  <a:srgbClr val="000000"/>
                </a:solidFill>
                <a:latin typeface="Arial"/>
                <a:cs typeface="Arial"/>
              </a:rPr>
              <a:t>String </a:t>
            </a:r>
            <a:r>
              <a:rPr sz="3600" i="0" spc="-145" dirty="0">
                <a:solidFill>
                  <a:srgbClr val="000000"/>
                </a:solidFill>
                <a:latin typeface="Arial"/>
                <a:cs typeface="Arial"/>
              </a:rPr>
              <a:t>Comparisons:  regionMatches() </a:t>
            </a:r>
            <a:r>
              <a:rPr sz="3600" i="0" dirty="0">
                <a:solidFill>
                  <a:srgbClr val="000000"/>
                </a:solidFill>
                <a:latin typeface="Arial"/>
                <a:cs typeface="Arial"/>
              </a:rPr>
              <a:t>:</a:t>
            </a:r>
            <a:r>
              <a:rPr sz="3600" i="0" spc="-475" dirty="0">
                <a:solidFill>
                  <a:srgbClr val="000000"/>
                </a:solidFill>
                <a:latin typeface="Arial"/>
                <a:cs typeface="Arial"/>
              </a:rPr>
              <a:t> </a:t>
            </a:r>
            <a:r>
              <a:rPr sz="3600" i="0" spc="-140" dirty="0">
                <a:solidFill>
                  <a:srgbClr val="000000"/>
                </a:solidFill>
                <a:latin typeface="Arial"/>
                <a:cs typeface="Arial"/>
              </a:rPr>
              <a:t>Example</a:t>
            </a:r>
            <a:endParaRPr sz="3600">
              <a:latin typeface="Arial"/>
              <a:cs typeface="Arial"/>
            </a:endParaRPr>
          </a:p>
        </p:txBody>
      </p:sp>
      <p:sp>
        <p:nvSpPr>
          <p:cNvPr id="3" name="object 3"/>
          <p:cNvSpPr txBox="1"/>
          <p:nvPr/>
        </p:nvSpPr>
        <p:spPr>
          <a:xfrm>
            <a:off x="383540" y="1426845"/>
            <a:ext cx="6239510" cy="848994"/>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Carlito"/>
                <a:cs typeface="Carlito"/>
              </a:rPr>
              <a:t>String s1 </a:t>
            </a:r>
            <a:r>
              <a:rPr sz="1800" dirty="0">
                <a:solidFill>
                  <a:srgbClr val="FF0000"/>
                </a:solidFill>
                <a:latin typeface="Carlito"/>
                <a:cs typeface="Carlito"/>
              </a:rPr>
              <a:t>= "India </a:t>
            </a:r>
            <a:r>
              <a:rPr sz="1800" spc="-10" dirty="0">
                <a:solidFill>
                  <a:srgbClr val="FF0000"/>
                </a:solidFill>
                <a:latin typeface="Carlito"/>
                <a:cs typeface="Carlito"/>
              </a:rPr>
              <a:t>finally </a:t>
            </a:r>
            <a:r>
              <a:rPr sz="1800" spc="-5" dirty="0">
                <a:solidFill>
                  <a:srgbClr val="FF0000"/>
                </a:solidFill>
                <a:latin typeface="Carlito"/>
                <a:cs typeface="Carlito"/>
              </a:rPr>
              <a:t>has </a:t>
            </a:r>
            <a:r>
              <a:rPr sz="1800" spc="-15" dirty="0">
                <a:solidFill>
                  <a:srgbClr val="FF0000"/>
                </a:solidFill>
                <a:latin typeface="Carlito"/>
                <a:cs typeface="Carlito"/>
              </a:rPr>
              <a:t>started </a:t>
            </a:r>
            <a:r>
              <a:rPr sz="1800" spc="-10" dirty="0">
                <a:solidFill>
                  <a:srgbClr val="FF0000"/>
                </a:solidFill>
                <a:latin typeface="Carlito"/>
                <a:cs typeface="Carlito"/>
              </a:rPr>
              <a:t>preparations </a:t>
            </a:r>
            <a:r>
              <a:rPr sz="1800" spc="-15" dirty="0">
                <a:solidFill>
                  <a:srgbClr val="FF0000"/>
                </a:solidFill>
                <a:latin typeface="Carlito"/>
                <a:cs typeface="Carlito"/>
              </a:rPr>
              <a:t>for </a:t>
            </a:r>
            <a:r>
              <a:rPr sz="1800" spc="-5" dirty="0">
                <a:solidFill>
                  <a:srgbClr val="FF0000"/>
                </a:solidFill>
                <a:latin typeface="Carlito"/>
                <a:cs typeface="Carlito"/>
              </a:rPr>
              <a:t>Rio</a:t>
            </a:r>
            <a:r>
              <a:rPr sz="1800" spc="120" dirty="0">
                <a:solidFill>
                  <a:srgbClr val="FF0000"/>
                </a:solidFill>
                <a:latin typeface="Carlito"/>
                <a:cs typeface="Carlito"/>
              </a:rPr>
              <a:t> </a:t>
            </a:r>
            <a:r>
              <a:rPr sz="1800" spc="-5" dirty="0">
                <a:solidFill>
                  <a:srgbClr val="FF0000"/>
                </a:solidFill>
                <a:latin typeface="Carlito"/>
                <a:cs typeface="Carlito"/>
              </a:rPr>
              <a:t>Olympics";</a:t>
            </a:r>
            <a:endParaRPr sz="1800" dirty="0">
              <a:latin typeface="Carlito"/>
              <a:cs typeface="Carlito"/>
            </a:endParaRPr>
          </a:p>
          <a:p>
            <a:pPr>
              <a:lnSpc>
                <a:spcPct val="100000"/>
              </a:lnSpc>
              <a:spcBef>
                <a:spcPts val="20"/>
              </a:spcBef>
            </a:pPr>
            <a:endParaRPr sz="1750" dirty="0">
              <a:latin typeface="Carlito"/>
              <a:cs typeface="Carlito"/>
            </a:endParaRPr>
          </a:p>
          <a:p>
            <a:pPr marL="12700">
              <a:lnSpc>
                <a:spcPct val="100000"/>
              </a:lnSpc>
            </a:pPr>
            <a:r>
              <a:rPr sz="1800" spc="-5" dirty="0">
                <a:solidFill>
                  <a:srgbClr val="FF0000"/>
                </a:solidFill>
                <a:latin typeface="Carlito"/>
                <a:cs typeface="Carlito"/>
              </a:rPr>
              <a:t>String s2 </a:t>
            </a:r>
            <a:r>
              <a:rPr sz="1800" dirty="0">
                <a:solidFill>
                  <a:srgbClr val="FF0000"/>
                </a:solidFill>
                <a:latin typeface="Carlito"/>
                <a:cs typeface="Carlito"/>
              </a:rPr>
              <a:t>= </a:t>
            </a:r>
            <a:r>
              <a:rPr sz="1800" spc="-5" dirty="0">
                <a:solidFill>
                  <a:srgbClr val="FF0000"/>
                </a:solidFill>
                <a:latin typeface="Carlito"/>
                <a:cs typeface="Carlito"/>
              </a:rPr>
              <a:t>"David has </a:t>
            </a:r>
            <a:r>
              <a:rPr sz="1800" spc="-15" dirty="0">
                <a:solidFill>
                  <a:srgbClr val="FF0000"/>
                </a:solidFill>
                <a:latin typeface="Carlito"/>
                <a:cs typeface="Carlito"/>
              </a:rPr>
              <a:t>started </a:t>
            </a:r>
            <a:r>
              <a:rPr sz="1800" spc="-10" dirty="0">
                <a:solidFill>
                  <a:srgbClr val="FF0000"/>
                </a:solidFill>
                <a:latin typeface="Carlito"/>
                <a:cs typeface="Carlito"/>
              </a:rPr>
              <a:t>preparations </a:t>
            </a:r>
            <a:r>
              <a:rPr sz="1800" spc="-15" dirty="0">
                <a:solidFill>
                  <a:srgbClr val="FF0000"/>
                </a:solidFill>
                <a:latin typeface="Carlito"/>
                <a:cs typeface="Carlito"/>
              </a:rPr>
              <a:t>for </a:t>
            </a:r>
            <a:r>
              <a:rPr sz="1800" spc="-5" dirty="0">
                <a:solidFill>
                  <a:srgbClr val="FF0000"/>
                </a:solidFill>
                <a:latin typeface="Carlito"/>
                <a:cs typeface="Carlito"/>
              </a:rPr>
              <a:t>Final</a:t>
            </a:r>
            <a:r>
              <a:rPr sz="1800" spc="95" dirty="0">
                <a:solidFill>
                  <a:srgbClr val="FF0000"/>
                </a:solidFill>
                <a:latin typeface="Carlito"/>
                <a:cs typeface="Carlito"/>
              </a:rPr>
              <a:t> </a:t>
            </a:r>
            <a:r>
              <a:rPr sz="1800" spc="-10" dirty="0">
                <a:solidFill>
                  <a:srgbClr val="FF0000"/>
                </a:solidFill>
                <a:latin typeface="Carlito"/>
                <a:cs typeface="Carlito"/>
              </a:rPr>
              <a:t>Exams";</a:t>
            </a:r>
            <a:endParaRPr sz="1800" dirty="0">
              <a:latin typeface="Carlito"/>
              <a:cs typeface="Carlito"/>
            </a:endParaRPr>
          </a:p>
        </p:txBody>
      </p:sp>
      <p:sp>
        <p:nvSpPr>
          <p:cNvPr id="4" name="object 4"/>
          <p:cNvSpPr txBox="1"/>
          <p:nvPr/>
        </p:nvSpPr>
        <p:spPr>
          <a:xfrm>
            <a:off x="383540" y="2524505"/>
            <a:ext cx="7074534" cy="2494915"/>
          </a:xfrm>
          <a:prstGeom prst="rect">
            <a:avLst/>
          </a:prstGeom>
        </p:spPr>
        <p:txBody>
          <a:bodyPr vert="horz" wrap="square" lIns="0" tIns="12700" rIns="0" bIns="0" rtlCol="0">
            <a:spAutoFit/>
          </a:bodyPr>
          <a:lstStyle/>
          <a:p>
            <a:pPr marL="12700" algn="just">
              <a:lnSpc>
                <a:spcPct val="100000"/>
              </a:lnSpc>
              <a:spcBef>
                <a:spcPts val="100"/>
              </a:spcBef>
            </a:pPr>
            <a:r>
              <a:rPr sz="1800" spc="-5" dirty="0">
                <a:solidFill>
                  <a:srgbClr val="FF0000"/>
                </a:solidFill>
                <a:latin typeface="Carlito"/>
                <a:cs typeface="Carlito"/>
              </a:rPr>
              <a:t>String s3 </a:t>
            </a:r>
            <a:r>
              <a:rPr sz="1800" dirty="0">
                <a:solidFill>
                  <a:srgbClr val="FF0000"/>
                </a:solidFill>
                <a:latin typeface="Carlito"/>
                <a:cs typeface="Carlito"/>
              </a:rPr>
              <a:t>= </a:t>
            </a:r>
            <a:r>
              <a:rPr sz="1800" spc="-5" dirty="0">
                <a:solidFill>
                  <a:srgbClr val="FF0000"/>
                </a:solidFill>
                <a:latin typeface="Carlito"/>
                <a:cs typeface="Carlito"/>
              </a:rPr>
              <a:t>"David has </a:t>
            </a:r>
            <a:r>
              <a:rPr sz="1800" spc="-10" dirty="0">
                <a:solidFill>
                  <a:srgbClr val="FF0000"/>
                </a:solidFill>
                <a:latin typeface="Carlito"/>
                <a:cs typeface="Carlito"/>
              </a:rPr>
              <a:t>Started </a:t>
            </a:r>
            <a:r>
              <a:rPr sz="1800" spc="-30" dirty="0">
                <a:solidFill>
                  <a:srgbClr val="FF0000"/>
                </a:solidFill>
                <a:latin typeface="Carlito"/>
                <a:cs typeface="Carlito"/>
              </a:rPr>
              <a:t>PREPARATIONS </a:t>
            </a:r>
            <a:r>
              <a:rPr sz="1800" spc="-5" dirty="0">
                <a:solidFill>
                  <a:srgbClr val="FF0000"/>
                </a:solidFill>
                <a:latin typeface="Carlito"/>
                <a:cs typeface="Carlito"/>
              </a:rPr>
              <a:t>FOR Final</a:t>
            </a:r>
            <a:r>
              <a:rPr sz="1800" spc="85" dirty="0">
                <a:solidFill>
                  <a:srgbClr val="FF0000"/>
                </a:solidFill>
                <a:latin typeface="Carlito"/>
                <a:cs typeface="Carlito"/>
              </a:rPr>
              <a:t> </a:t>
            </a:r>
            <a:r>
              <a:rPr sz="1800" spc="-10" dirty="0">
                <a:solidFill>
                  <a:srgbClr val="FF0000"/>
                </a:solidFill>
                <a:latin typeface="Carlito"/>
                <a:cs typeface="Carlito"/>
              </a:rPr>
              <a:t>Exams";</a:t>
            </a:r>
            <a:endParaRPr sz="1800" dirty="0">
              <a:latin typeface="Carlito"/>
              <a:cs typeface="Carlito"/>
            </a:endParaRPr>
          </a:p>
          <a:p>
            <a:pPr marL="12700" marR="5080" algn="just">
              <a:lnSpc>
                <a:spcPct val="200000"/>
              </a:lnSpc>
              <a:tabLst>
                <a:tab pos="5499735" algn="l"/>
              </a:tabLst>
            </a:pPr>
            <a:r>
              <a:rPr sz="1800" spc="-10" dirty="0">
                <a:solidFill>
                  <a:srgbClr val="FF0000"/>
                </a:solidFill>
                <a:latin typeface="Carlito"/>
                <a:cs typeface="Carlito"/>
              </a:rPr>
              <a:t>System.out.println(s1.regionMatches(14,s2,6,24));	</a:t>
            </a:r>
            <a:r>
              <a:rPr sz="1800" spc="-5" dirty="0">
                <a:solidFill>
                  <a:srgbClr val="FF0000"/>
                </a:solidFill>
                <a:latin typeface="Carlito"/>
                <a:cs typeface="Carlito"/>
              </a:rPr>
              <a:t>// Case-Sensitive  </a:t>
            </a:r>
            <a:r>
              <a:rPr sz="1800" spc="-10" dirty="0">
                <a:solidFill>
                  <a:srgbClr val="FF0000"/>
                </a:solidFill>
                <a:latin typeface="Carlito"/>
                <a:cs typeface="Carlito"/>
              </a:rPr>
              <a:t>System.out.println(s1.regionMatches(14,s3,6,24));	</a:t>
            </a:r>
            <a:r>
              <a:rPr sz="1800" spc="-5" dirty="0">
                <a:solidFill>
                  <a:srgbClr val="FF0000"/>
                </a:solidFill>
                <a:latin typeface="Carlito"/>
                <a:cs typeface="Carlito"/>
              </a:rPr>
              <a:t>// Case-Sensitive  </a:t>
            </a:r>
            <a:r>
              <a:rPr sz="1800" spc="-10" dirty="0">
                <a:solidFill>
                  <a:srgbClr val="FF0000"/>
                </a:solidFill>
                <a:latin typeface="Carlito"/>
                <a:cs typeface="Carlito"/>
              </a:rPr>
              <a:t>System.out.println(s1.regionMatches(true,14,s3,6,24)); </a:t>
            </a:r>
            <a:r>
              <a:rPr sz="1800" dirty="0">
                <a:solidFill>
                  <a:srgbClr val="FF0000"/>
                </a:solidFill>
                <a:latin typeface="Carlito"/>
                <a:cs typeface="Carlito"/>
              </a:rPr>
              <a:t>//</a:t>
            </a:r>
            <a:r>
              <a:rPr sz="1800" spc="-75" dirty="0">
                <a:solidFill>
                  <a:srgbClr val="FF0000"/>
                </a:solidFill>
                <a:latin typeface="Carlito"/>
                <a:cs typeface="Carlito"/>
              </a:rPr>
              <a:t> </a:t>
            </a:r>
            <a:r>
              <a:rPr sz="1800" spc="-5" dirty="0">
                <a:solidFill>
                  <a:srgbClr val="FF0000"/>
                </a:solidFill>
                <a:latin typeface="Carlito"/>
                <a:cs typeface="Carlito"/>
              </a:rPr>
              <a:t>Ignore-case</a:t>
            </a:r>
            <a:endParaRPr sz="1800" dirty="0">
              <a:latin typeface="Carlito"/>
              <a:cs typeface="Carlito"/>
            </a:endParaRPr>
          </a:p>
          <a:p>
            <a:pPr>
              <a:lnSpc>
                <a:spcPct val="100000"/>
              </a:lnSpc>
              <a:spcBef>
                <a:spcPts val="25"/>
              </a:spcBef>
            </a:pPr>
            <a:endParaRPr sz="1750" dirty="0">
              <a:latin typeface="Carlito"/>
              <a:cs typeface="Carlito"/>
            </a:endParaRPr>
          </a:p>
          <a:p>
            <a:pPr marL="12700" algn="just">
              <a:lnSpc>
                <a:spcPct val="100000"/>
              </a:lnSpc>
            </a:pPr>
            <a:r>
              <a:rPr sz="1800" spc="-10" dirty="0">
                <a:solidFill>
                  <a:srgbClr val="FF0000"/>
                </a:solidFill>
                <a:latin typeface="Carlito"/>
                <a:cs typeface="Carlito"/>
              </a:rPr>
              <a:t>System.out.println(s1.regionMatches(false,14,s3,6,24)); </a:t>
            </a:r>
            <a:r>
              <a:rPr sz="1800" dirty="0">
                <a:solidFill>
                  <a:srgbClr val="FF0000"/>
                </a:solidFill>
                <a:latin typeface="Carlito"/>
                <a:cs typeface="Carlito"/>
              </a:rPr>
              <a:t>//</a:t>
            </a:r>
            <a:r>
              <a:rPr sz="1800" spc="45" dirty="0">
                <a:solidFill>
                  <a:srgbClr val="FF0000"/>
                </a:solidFill>
                <a:latin typeface="Carlito"/>
                <a:cs typeface="Carlito"/>
              </a:rPr>
              <a:t> </a:t>
            </a:r>
            <a:r>
              <a:rPr sz="1800" spc="-5" dirty="0">
                <a:solidFill>
                  <a:srgbClr val="FF0000"/>
                </a:solidFill>
                <a:latin typeface="Carlito"/>
                <a:cs typeface="Carlito"/>
              </a:rPr>
              <a:t>Case-Sensitive</a:t>
            </a:r>
            <a:endParaRPr sz="1800" dirty="0">
              <a:latin typeface="Carlito"/>
              <a:cs typeface="Carlito"/>
            </a:endParaRPr>
          </a:p>
        </p:txBody>
      </p:sp>
      <p:sp>
        <p:nvSpPr>
          <p:cNvPr id="5" name="object 5"/>
          <p:cNvSpPr txBox="1"/>
          <p:nvPr/>
        </p:nvSpPr>
        <p:spPr>
          <a:xfrm>
            <a:off x="7938261" y="3013963"/>
            <a:ext cx="469265" cy="330835"/>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FF0000"/>
                </a:solidFill>
                <a:latin typeface="Carlito"/>
                <a:cs typeface="Carlito"/>
              </a:rPr>
              <a:t>true</a:t>
            </a:r>
            <a:endParaRPr sz="2000">
              <a:latin typeface="Carlito"/>
              <a:cs typeface="Carlito"/>
            </a:endParaRPr>
          </a:p>
        </p:txBody>
      </p:sp>
      <p:sp>
        <p:nvSpPr>
          <p:cNvPr id="6" name="object 6"/>
          <p:cNvSpPr txBox="1"/>
          <p:nvPr/>
        </p:nvSpPr>
        <p:spPr>
          <a:xfrm>
            <a:off x="7913878" y="3623817"/>
            <a:ext cx="518795" cy="330835"/>
          </a:xfrm>
          <a:prstGeom prst="rect">
            <a:avLst/>
          </a:prstGeom>
        </p:spPr>
        <p:txBody>
          <a:bodyPr vert="horz" wrap="square" lIns="0" tIns="12700" rIns="0" bIns="0" rtlCol="0">
            <a:spAutoFit/>
          </a:bodyPr>
          <a:lstStyle/>
          <a:p>
            <a:pPr marL="12700">
              <a:lnSpc>
                <a:spcPct val="100000"/>
              </a:lnSpc>
              <a:spcBef>
                <a:spcPts val="100"/>
              </a:spcBef>
            </a:pPr>
            <a:r>
              <a:rPr sz="2000" b="1" spc="-35" dirty="0">
                <a:solidFill>
                  <a:srgbClr val="FF0000"/>
                </a:solidFill>
                <a:latin typeface="Carlito"/>
                <a:cs typeface="Carlito"/>
              </a:rPr>
              <a:t>f</a:t>
            </a:r>
            <a:r>
              <a:rPr sz="2000" b="1" dirty="0">
                <a:solidFill>
                  <a:srgbClr val="FF0000"/>
                </a:solidFill>
                <a:latin typeface="Carlito"/>
                <a:cs typeface="Carlito"/>
              </a:rPr>
              <a:t>a</a:t>
            </a:r>
            <a:r>
              <a:rPr sz="2000" b="1" spc="-10" dirty="0">
                <a:solidFill>
                  <a:srgbClr val="FF0000"/>
                </a:solidFill>
                <a:latin typeface="Carlito"/>
                <a:cs typeface="Carlito"/>
              </a:rPr>
              <a:t>l</a:t>
            </a:r>
            <a:r>
              <a:rPr sz="2000" b="1" dirty="0">
                <a:solidFill>
                  <a:srgbClr val="FF0000"/>
                </a:solidFill>
                <a:latin typeface="Carlito"/>
                <a:cs typeface="Carlito"/>
              </a:rPr>
              <a:t>se</a:t>
            </a:r>
            <a:endParaRPr sz="2000">
              <a:latin typeface="Carlito"/>
              <a:cs typeface="Carlito"/>
            </a:endParaRPr>
          </a:p>
        </p:txBody>
      </p:sp>
      <p:sp>
        <p:nvSpPr>
          <p:cNvPr id="7" name="object 7"/>
          <p:cNvSpPr txBox="1"/>
          <p:nvPr/>
        </p:nvSpPr>
        <p:spPr>
          <a:xfrm>
            <a:off x="7938261" y="4233417"/>
            <a:ext cx="469265"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FF0000"/>
                </a:solidFill>
                <a:latin typeface="Carlito"/>
                <a:cs typeface="Carlito"/>
              </a:rPr>
              <a:t>true</a:t>
            </a:r>
            <a:endParaRPr sz="2000">
              <a:latin typeface="Carlito"/>
              <a:cs typeface="Carlito"/>
            </a:endParaRPr>
          </a:p>
        </p:txBody>
      </p:sp>
      <p:sp>
        <p:nvSpPr>
          <p:cNvPr id="8" name="object 8"/>
          <p:cNvSpPr txBox="1"/>
          <p:nvPr/>
        </p:nvSpPr>
        <p:spPr>
          <a:xfrm>
            <a:off x="7913878" y="4842713"/>
            <a:ext cx="519430" cy="331470"/>
          </a:xfrm>
          <a:prstGeom prst="rect">
            <a:avLst/>
          </a:prstGeom>
        </p:spPr>
        <p:txBody>
          <a:bodyPr vert="horz" wrap="square" lIns="0" tIns="13335" rIns="0" bIns="0" rtlCol="0">
            <a:spAutoFit/>
          </a:bodyPr>
          <a:lstStyle/>
          <a:p>
            <a:pPr marL="12700">
              <a:lnSpc>
                <a:spcPct val="100000"/>
              </a:lnSpc>
              <a:spcBef>
                <a:spcPts val="105"/>
              </a:spcBef>
            </a:pPr>
            <a:r>
              <a:rPr sz="2000" b="1" spc="-35" dirty="0">
                <a:solidFill>
                  <a:srgbClr val="FF0000"/>
                </a:solidFill>
                <a:latin typeface="Carlito"/>
                <a:cs typeface="Carlito"/>
              </a:rPr>
              <a:t>f</a:t>
            </a:r>
            <a:r>
              <a:rPr sz="2000" b="1" spc="-10" dirty="0">
                <a:solidFill>
                  <a:srgbClr val="FF0000"/>
                </a:solidFill>
                <a:latin typeface="Carlito"/>
                <a:cs typeface="Carlito"/>
              </a:rPr>
              <a:t>a</a:t>
            </a:r>
            <a:r>
              <a:rPr sz="2000" b="1" dirty="0">
                <a:solidFill>
                  <a:srgbClr val="FF0000"/>
                </a:solidFill>
                <a:latin typeface="Carlito"/>
                <a:cs typeface="Carlito"/>
              </a:rPr>
              <a:t>lse</a:t>
            </a:r>
            <a:endParaRPr sz="2000">
              <a:latin typeface="Carlito"/>
              <a:cs typeface="Carli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7726"/>
            <a:ext cx="8360409" cy="3832225"/>
          </a:xfrm>
          <a:prstGeom prst="rect">
            <a:avLst/>
          </a:prstGeom>
        </p:spPr>
        <p:txBody>
          <a:bodyPr vert="horz" wrap="square" lIns="0" tIns="12065" rIns="0" bIns="0" rtlCol="0">
            <a:spAutoFit/>
          </a:bodyPr>
          <a:lstStyle/>
          <a:p>
            <a:pPr marL="355600" marR="5080" indent="-342900" algn="just">
              <a:lnSpc>
                <a:spcPct val="100200"/>
              </a:lnSpc>
              <a:spcBef>
                <a:spcPts val="95"/>
              </a:spcBef>
              <a:buClr>
                <a:srgbClr val="0F1141"/>
              </a:buClr>
              <a:buChar char="•"/>
              <a:tabLst>
                <a:tab pos="355600" algn="l"/>
              </a:tabLst>
            </a:pPr>
            <a:r>
              <a:rPr sz="2400" dirty="0">
                <a:solidFill>
                  <a:srgbClr val="FF0000"/>
                </a:solidFill>
                <a:latin typeface="Arial"/>
                <a:cs typeface="Arial"/>
              </a:rPr>
              <a:t>boolean </a:t>
            </a:r>
            <a:r>
              <a:rPr sz="2400" spc="-5" dirty="0">
                <a:solidFill>
                  <a:srgbClr val="FF0000"/>
                </a:solidFill>
                <a:latin typeface="Arial"/>
                <a:cs typeface="Arial"/>
              </a:rPr>
              <a:t>startsWith(String </a:t>
            </a:r>
            <a:r>
              <a:rPr sz="2400" dirty="0">
                <a:solidFill>
                  <a:srgbClr val="FF0000"/>
                </a:solidFill>
                <a:latin typeface="Arial"/>
                <a:cs typeface="Arial"/>
              </a:rPr>
              <a:t>str) </a:t>
            </a:r>
            <a:r>
              <a:rPr sz="2400" dirty="0">
                <a:latin typeface="Wingdings"/>
                <a:cs typeface="Wingdings"/>
              </a:rPr>
              <a:t></a:t>
            </a:r>
            <a:r>
              <a:rPr sz="2400" dirty="0">
                <a:latin typeface="Times New Roman"/>
                <a:cs typeface="Times New Roman"/>
              </a:rPr>
              <a:t> </a:t>
            </a:r>
            <a:r>
              <a:rPr sz="2400" spc="-5" dirty="0">
                <a:latin typeface="Arial"/>
                <a:cs typeface="Arial"/>
              </a:rPr>
              <a:t>Returns true if </a:t>
            </a:r>
            <a:r>
              <a:rPr sz="2400" dirty="0">
                <a:solidFill>
                  <a:srgbClr val="FF0000"/>
                </a:solidFill>
                <a:latin typeface="Arial"/>
                <a:cs typeface="Arial"/>
              </a:rPr>
              <a:t>this </a:t>
            </a:r>
            <a:r>
              <a:rPr sz="2400" spc="-5" dirty="0">
                <a:latin typeface="Arial"/>
                <a:cs typeface="Arial"/>
              </a:rPr>
              <a:t>string  </a:t>
            </a:r>
            <a:r>
              <a:rPr sz="2400" dirty="0">
                <a:latin typeface="Arial"/>
                <a:cs typeface="Arial"/>
              </a:rPr>
              <a:t>starts </a:t>
            </a:r>
            <a:r>
              <a:rPr sz="2400" spc="-5" dirty="0">
                <a:latin typeface="Arial"/>
                <a:cs typeface="Arial"/>
              </a:rPr>
              <a:t>with </a:t>
            </a:r>
            <a:r>
              <a:rPr sz="2400" spc="15" dirty="0">
                <a:latin typeface="Arial"/>
                <a:cs typeface="Arial"/>
              </a:rPr>
              <a:t>‘</a:t>
            </a:r>
            <a:r>
              <a:rPr sz="2400" spc="15" dirty="0">
                <a:solidFill>
                  <a:srgbClr val="FF0000"/>
                </a:solidFill>
                <a:latin typeface="Arial"/>
                <a:cs typeface="Arial"/>
              </a:rPr>
              <a:t>str</a:t>
            </a:r>
            <a:r>
              <a:rPr sz="2400" spc="15" dirty="0">
                <a:latin typeface="Arial"/>
                <a:cs typeface="Arial"/>
              </a:rPr>
              <a:t>’ </a:t>
            </a:r>
            <a:r>
              <a:rPr sz="2400" dirty="0">
                <a:latin typeface="Arial"/>
                <a:cs typeface="Arial"/>
              </a:rPr>
              <a:t>otherwise </a:t>
            </a:r>
            <a:r>
              <a:rPr sz="2400" spc="-5" dirty="0">
                <a:latin typeface="Arial"/>
                <a:cs typeface="Arial"/>
              </a:rPr>
              <a:t>false. For Example,  “Object”startsWith(“Obj”) </a:t>
            </a:r>
            <a:r>
              <a:rPr sz="2400" dirty="0">
                <a:latin typeface="Arial"/>
                <a:cs typeface="Arial"/>
              </a:rPr>
              <a:t>returns</a:t>
            </a:r>
            <a:r>
              <a:rPr sz="2400" spc="-45" dirty="0">
                <a:latin typeface="Arial"/>
                <a:cs typeface="Arial"/>
              </a:rPr>
              <a:t> </a:t>
            </a:r>
            <a:r>
              <a:rPr sz="2400" dirty="0">
                <a:latin typeface="Arial"/>
                <a:cs typeface="Arial"/>
              </a:rPr>
              <a:t>true.</a:t>
            </a:r>
            <a:endParaRPr sz="2400">
              <a:latin typeface="Arial"/>
              <a:cs typeface="Arial"/>
            </a:endParaRPr>
          </a:p>
          <a:p>
            <a:pPr marL="355600" marR="5080" indent="-342900" algn="just">
              <a:lnSpc>
                <a:spcPct val="100200"/>
              </a:lnSpc>
              <a:spcBef>
                <a:spcPts val="560"/>
              </a:spcBef>
              <a:buClr>
                <a:srgbClr val="0F1141"/>
              </a:buClr>
              <a:buChar char="•"/>
              <a:tabLst>
                <a:tab pos="355600" algn="l"/>
              </a:tabLst>
            </a:pPr>
            <a:r>
              <a:rPr sz="2400" dirty="0">
                <a:solidFill>
                  <a:srgbClr val="FF0000"/>
                </a:solidFill>
                <a:latin typeface="Arial"/>
                <a:cs typeface="Arial"/>
              </a:rPr>
              <a:t>boolean </a:t>
            </a:r>
            <a:r>
              <a:rPr sz="2400" spc="-5" dirty="0">
                <a:solidFill>
                  <a:srgbClr val="FF0000"/>
                </a:solidFill>
                <a:latin typeface="Arial"/>
                <a:cs typeface="Arial"/>
              </a:rPr>
              <a:t>startsWith(String </a:t>
            </a:r>
            <a:r>
              <a:rPr sz="2400" spc="-35" dirty="0">
                <a:solidFill>
                  <a:srgbClr val="FF0000"/>
                </a:solidFill>
                <a:latin typeface="Arial"/>
                <a:cs typeface="Arial"/>
              </a:rPr>
              <a:t>str, </a:t>
            </a:r>
            <a:r>
              <a:rPr sz="2400" spc="-5" dirty="0">
                <a:solidFill>
                  <a:srgbClr val="FF0000"/>
                </a:solidFill>
                <a:latin typeface="Arial"/>
                <a:cs typeface="Arial"/>
              </a:rPr>
              <a:t>int startIndex) </a:t>
            </a:r>
            <a:r>
              <a:rPr sz="2400" dirty="0">
                <a:latin typeface="Wingdings"/>
                <a:cs typeface="Wingdings"/>
              </a:rPr>
              <a:t></a:t>
            </a:r>
            <a:r>
              <a:rPr sz="2400" dirty="0">
                <a:latin typeface="Times New Roman"/>
                <a:cs typeface="Times New Roman"/>
              </a:rPr>
              <a:t> </a:t>
            </a:r>
            <a:r>
              <a:rPr sz="2400" dirty="0">
                <a:latin typeface="Arial"/>
                <a:cs typeface="Arial"/>
              </a:rPr>
              <a:t>Overloaded  </a:t>
            </a:r>
            <a:r>
              <a:rPr sz="2400" spc="-20" dirty="0">
                <a:latin typeface="Arial"/>
                <a:cs typeface="Arial"/>
              </a:rPr>
              <a:t>Flavor. </a:t>
            </a:r>
            <a:r>
              <a:rPr sz="2400" spc="-5" dirty="0">
                <a:latin typeface="Arial"/>
                <a:cs typeface="Arial"/>
              </a:rPr>
              <a:t>Returns </a:t>
            </a:r>
            <a:r>
              <a:rPr sz="2400" dirty="0">
                <a:latin typeface="Arial"/>
                <a:cs typeface="Arial"/>
              </a:rPr>
              <a:t>true </a:t>
            </a:r>
            <a:r>
              <a:rPr sz="2400" spc="-5" dirty="0">
                <a:latin typeface="Arial"/>
                <a:cs typeface="Arial"/>
              </a:rPr>
              <a:t>if </a:t>
            </a:r>
            <a:r>
              <a:rPr sz="2400" dirty="0">
                <a:solidFill>
                  <a:srgbClr val="FF0000"/>
                </a:solidFill>
                <a:latin typeface="Arial"/>
                <a:cs typeface="Arial"/>
              </a:rPr>
              <a:t>this </a:t>
            </a:r>
            <a:r>
              <a:rPr sz="2400" spc="-5" dirty="0">
                <a:latin typeface="Arial"/>
                <a:cs typeface="Arial"/>
              </a:rPr>
              <a:t>string </a:t>
            </a:r>
            <a:r>
              <a:rPr sz="2400" dirty="0">
                <a:latin typeface="Arial"/>
                <a:cs typeface="Arial"/>
              </a:rPr>
              <a:t>starts </a:t>
            </a:r>
            <a:r>
              <a:rPr sz="2400" spc="-5" dirty="0">
                <a:latin typeface="Arial"/>
                <a:cs typeface="Arial"/>
              </a:rPr>
              <a:t>with </a:t>
            </a:r>
            <a:r>
              <a:rPr sz="2400" spc="15" dirty="0">
                <a:latin typeface="Arial"/>
                <a:cs typeface="Arial"/>
              </a:rPr>
              <a:t>‘</a:t>
            </a:r>
            <a:r>
              <a:rPr sz="2400" spc="15" dirty="0">
                <a:solidFill>
                  <a:srgbClr val="FF0000"/>
                </a:solidFill>
                <a:latin typeface="Arial"/>
                <a:cs typeface="Arial"/>
              </a:rPr>
              <a:t>str</a:t>
            </a:r>
            <a:r>
              <a:rPr sz="2400" spc="15" dirty="0">
                <a:latin typeface="Arial"/>
                <a:cs typeface="Arial"/>
              </a:rPr>
              <a:t>’ </a:t>
            </a:r>
            <a:r>
              <a:rPr sz="2400" dirty="0">
                <a:latin typeface="Arial"/>
                <a:cs typeface="Arial"/>
              </a:rPr>
              <a:t>from </a:t>
            </a:r>
            <a:r>
              <a:rPr sz="2400" spc="-5" dirty="0">
                <a:latin typeface="Arial"/>
                <a:cs typeface="Arial"/>
              </a:rPr>
              <a:t>index </a:t>
            </a:r>
            <a:r>
              <a:rPr sz="2400" spc="-5" dirty="0">
                <a:solidFill>
                  <a:srgbClr val="FF0000"/>
                </a:solidFill>
                <a:latin typeface="Arial"/>
                <a:cs typeface="Arial"/>
              </a:rPr>
              <a:t> startIndex </a:t>
            </a:r>
            <a:r>
              <a:rPr sz="2400" dirty="0">
                <a:latin typeface="Arial"/>
                <a:cs typeface="Arial"/>
              </a:rPr>
              <a:t>otherwise false. </a:t>
            </a:r>
            <a:r>
              <a:rPr sz="2400" spc="-5" dirty="0">
                <a:latin typeface="Arial"/>
                <a:cs typeface="Arial"/>
              </a:rPr>
              <a:t>For Example,  “Object”startsWith(“ect”,3) </a:t>
            </a:r>
            <a:r>
              <a:rPr sz="2400" dirty="0">
                <a:latin typeface="Arial"/>
                <a:cs typeface="Arial"/>
              </a:rPr>
              <a:t>returns</a:t>
            </a:r>
            <a:r>
              <a:rPr sz="2400" spc="-40" dirty="0">
                <a:latin typeface="Arial"/>
                <a:cs typeface="Arial"/>
              </a:rPr>
              <a:t> </a:t>
            </a:r>
            <a:r>
              <a:rPr sz="2400" dirty="0">
                <a:latin typeface="Arial"/>
                <a:cs typeface="Arial"/>
              </a:rPr>
              <a:t>true.</a:t>
            </a:r>
            <a:endParaRPr sz="2400">
              <a:latin typeface="Arial"/>
              <a:cs typeface="Arial"/>
            </a:endParaRPr>
          </a:p>
          <a:p>
            <a:pPr marL="355600" marR="5080" indent="-342900" algn="just">
              <a:lnSpc>
                <a:spcPct val="100200"/>
              </a:lnSpc>
              <a:spcBef>
                <a:spcPts val="560"/>
              </a:spcBef>
              <a:buClr>
                <a:srgbClr val="0F1141"/>
              </a:buClr>
              <a:buChar char="•"/>
              <a:tabLst>
                <a:tab pos="355600" algn="l"/>
              </a:tabLst>
            </a:pPr>
            <a:r>
              <a:rPr sz="2400" dirty="0">
                <a:solidFill>
                  <a:srgbClr val="FF0000"/>
                </a:solidFill>
                <a:latin typeface="Arial"/>
                <a:cs typeface="Arial"/>
              </a:rPr>
              <a:t>boolean </a:t>
            </a:r>
            <a:r>
              <a:rPr sz="2400" spc="-5" dirty="0">
                <a:solidFill>
                  <a:srgbClr val="FF0000"/>
                </a:solidFill>
                <a:latin typeface="Arial"/>
                <a:cs typeface="Arial"/>
              </a:rPr>
              <a:t>endsWith(String </a:t>
            </a:r>
            <a:r>
              <a:rPr sz="2400" dirty="0">
                <a:solidFill>
                  <a:srgbClr val="FF0000"/>
                </a:solidFill>
                <a:latin typeface="Arial"/>
                <a:cs typeface="Arial"/>
              </a:rPr>
              <a:t>str) </a:t>
            </a:r>
            <a:r>
              <a:rPr sz="2400" dirty="0">
                <a:latin typeface="Wingdings"/>
                <a:cs typeface="Wingdings"/>
              </a:rPr>
              <a:t></a:t>
            </a:r>
            <a:r>
              <a:rPr sz="2400" dirty="0">
                <a:latin typeface="Times New Roman"/>
                <a:cs typeface="Times New Roman"/>
              </a:rPr>
              <a:t> </a:t>
            </a:r>
            <a:r>
              <a:rPr sz="2400" spc="-5" dirty="0">
                <a:latin typeface="Arial"/>
                <a:cs typeface="Arial"/>
              </a:rPr>
              <a:t>Returns </a:t>
            </a:r>
            <a:r>
              <a:rPr sz="2400" dirty="0">
                <a:latin typeface="Arial"/>
                <a:cs typeface="Arial"/>
              </a:rPr>
              <a:t>true </a:t>
            </a:r>
            <a:r>
              <a:rPr sz="2400" spc="-5" dirty="0">
                <a:latin typeface="Arial"/>
                <a:cs typeface="Arial"/>
              </a:rPr>
              <a:t>if </a:t>
            </a:r>
            <a:r>
              <a:rPr sz="2400" dirty="0">
                <a:solidFill>
                  <a:srgbClr val="FF0000"/>
                </a:solidFill>
                <a:latin typeface="Arial"/>
                <a:cs typeface="Arial"/>
              </a:rPr>
              <a:t>this </a:t>
            </a:r>
            <a:r>
              <a:rPr sz="2400" spc="-5" dirty="0">
                <a:latin typeface="Arial"/>
                <a:cs typeface="Arial"/>
              </a:rPr>
              <a:t>string  ends with </a:t>
            </a:r>
            <a:r>
              <a:rPr sz="2400" spc="15" dirty="0">
                <a:latin typeface="Arial"/>
                <a:cs typeface="Arial"/>
              </a:rPr>
              <a:t>‘</a:t>
            </a:r>
            <a:r>
              <a:rPr sz="2400" spc="15" dirty="0">
                <a:solidFill>
                  <a:srgbClr val="FF0000"/>
                </a:solidFill>
                <a:latin typeface="Arial"/>
                <a:cs typeface="Arial"/>
              </a:rPr>
              <a:t>str</a:t>
            </a:r>
            <a:r>
              <a:rPr sz="2400" spc="15" dirty="0">
                <a:latin typeface="Arial"/>
                <a:cs typeface="Arial"/>
              </a:rPr>
              <a:t>’ </a:t>
            </a:r>
            <a:r>
              <a:rPr sz="2400" dirty="0">
                <a:latin typeface="Arial"/>
                <a:cs typeface="Arial"/>
              </a:rPr>
              <a:t>otherwise </a:t>
            </a:r>
            <a:r>
              <a:rPr sz="2400" spc="-5" dirty="0">
                <a:latin typeface="Arial"/>
                <a:cs typeface="Arial"/>
              </a:rPr>
              <a:t>false. For Example,  “FooBar”.endsWith(“Bar”); </a:t>
            </a:r>
            <a:r>
              <a:rPr sz="2400" dirty="0">
                <a:latin typeface="Arial"/>
                <a:cs typeface="Arial"/>
              </a:rPr>
              <a:t>returns</a:t>
            </a:r>
            <a:r>
              <a:rPr sz="2400" spc="-5" dirty="0">
                <a:latin typeface="Arial"/>
                <a:cs typeface="Arial"/>
              </a:rPr>
              <a:t> </a:t>
            </a:r>
            <a:r>
              <a:rPr sz="2400" dirty="0">
                <a:latin typeface="Arial"/>
                <a:cs typeface="Arial"/>
              </a:rPr>
              <a:t>true</a:t>
            </a:r>
            <a:endParaRPr sz="2400">
              <a:latin typeface="Arial"/>
              <a:cs typeface="Arial"/>
            </a:endParaRPr>
          </a:p>
        </p:txBody>
      </p:sp>
      <p:sp>
        <p:nvSpPr>
          <p:cNvPr id="3" name="object 3"/>
          <p:cNvSpPr txBox="1">
            <a:spLocks noGrp="1"/>
          </p:cNvSpPr>
          <p:nvPr>
            <p:ph type="title"/>
          </p:nvPr>
        </p:nvSpPr>
        <p:spPr>
          <a:xfrm>
            <a:off x="383540" y="150621"/>
            <a:ext cx="5472430" cy="1031240"/>
          </a:xfrm>
          <a:prstGeom prst="rect">
            <a:avLst/>
          </a:prstGeom>
        </p:spPr>
        <p:txBody>
          <a:bodyPr vert="horz" wrap="square" lIns="0" tIns="104139" rIns="0" bIns="0" rtlCol="0">
            <a:spAutoFit/>
          </a:bodyPr>
          <a:lstStyle/>
          <a:p>
            <a:pPr marL="12700" marR="10160">
              <a:lnSpc>
                <a:spcPts val="3600"/>
              </a:lnSpc>
              <a:spcBef>
                <a:spcPts val="819"/>
              </a:spcBef>
            </a:pPr>
            <a:r>
              <a:rPr sz="3600" i="0" spc="-135" dirty="0">
                <a:solidFill>
                  <a:srgbClr val="000000"/>
                </a:solidFill>
                <a:latin typeface="Arial"/>
                <a:cs typeface="Arial"/>
              </a:rPr>
              <a:t>String </a:t>
            </a:r>
            <a:r>
              <a:rPr sz="3600" i="0" spc="-145" dirty="0">
                <a:solidFill>
                  <a:srgbClr val="000000"/>
                </a:solidFill>
                <a:latin typeface="Arial"/>
                <a:cs typeface="Arial"/>
              </a:rPr>
              <a:t>Comparisons:  </a:t>
            </a:r>
            <a:r>
              <a:rPr sz="3600" i="0" spc="-150" dirty="0">
                <a:solidFill>
                  <a:srgbClr val="000000"/>
                </a:solidFill>
                <a:latin typeface="Arial"/>
                <a:cs typeface="Arial"/>
              </a:rPr>
              <a:t>startsWith() </a:t>
            </a:r>
            <a:r>
              <a:rPr sz="3600" i="0" spc="-105" dirty="0">
                <a:solidFill>
                  <a:srgbClr val="000000"/>
                </a:solidFill>
                <a:latin typeface="Arial"/>
                <a:cs typeface="Arial"/>
              </a:rPr>
              <a:t>and</a:t>
            </a:r>
            <a:r>
              <a:rPr sz="3600" i="0" spc="-415" dirty="0">
                <a:solidFill>
                  <a:srgbClr val="000000"/>
                </a:solidFill>
                <a:latin typeface="Arial"/>
                <a:cs typeface="Arial"/>
              </a:rPr>
              <a:t> </a:t>
            </a:r>
            <a:r>
              <a:rPr sz="3600" i="0" spc="-160" dirty="0">
                <a:solidFill>
                  <a:srgbClr val="000000"/>
                </a:solidFill>
                <a:latin typeface="Arial"/>
                <a:cs typeface="Arial"/>
              </a:rPr>
              <a:t>endsWith()</a:t>
            </a:r>
            <a:endParaRPr sz="3600" dirty="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88770"/>
            <a:ext cx="8498840" cy="4721860"/>
          </a:xfrm>
          <a:prstGeom prst="rect">
            <a:avLst/>
          </a:prstGeom>
        </p:spPr>
        <p:txBody>
          <a:bodyPr vert="horz" wrap="square" lIns="0" tIns="47625" rIns="0" bIns="0" rtlCol="0">
            <a:spAutoFit/>
          </a:bodyPr>
          <a:lstStyle/>
          <a:p>
            <a:pPr marL="355600" marR="133985" indent="-342900">
              <a:lnSpc>
                <a:spcPts val="2160"/>
              </a:lnSpc>
              <a:spcBef>
                <a:spcPts val="375"/>
              </a:spcBef>
              <a:buClr>
                <a:srgbClr val="0F1141"/>
              </a:buClr>
              <a:buChar char="•"/>
              <a:tabLst>
                <a:tab pos="354965" algn="l"/>
                <a:tab pos="355600" algn="l"/>
              </a:tabLst>
            </a:pPr>
            <a:r>
              <a:rPr sz="2000" dirty="0">
                <a:solidFill>
                  <a:srgbClr val="FF0000"/>
                </a:solidFill>
                <a:latin typeface="Arial"/>
                <a:cs typeface="Arial"/>
              </a:rPr>
              <a:t>int </a:t>
            </a:r>
            <a:r>
              <a:rPr sz="2000" spc="-15" dirty="0">
                <a:solidFill>
                  <a:srgbClr val="FF0000"/>
                </a:solidFill>
                <a:latin typeface="Arial"/>
                <a:cs typeface="Arial"/>
              </a:rPr>
              <a:t>compareTo(String </a:t>
            </a:r>
            <a:r>
              <a:rPr sz="2000" dirty="0">
                <a:solidFill>
                  <a:srgbClr val="FF0000"/>
                </a:solidFill>
                <a:latin typeface="Arial"/>
                <a:cs typeface="Arial"/>
              </a:rPr>
              <a:t>str) </a:t>
            </a:r>
            <a:r>
              <a:rPr sz="2000" spc="5" dirty="0">
                <a:latin typeface="Wingdings"/>
                <a:cs typeface="Wingdings"/>
              </a:rPr>
              <a:t></a:t>
            </a:r>
            <a:r>
              <a:rPr sz="2000" spc="5" dirty="0">
                <a:latin typeface="Times New Roman"/>
                <a:cs typeface="Times New Roman"/>
              </a:rPr>
              <a:t> </a:t>
            </a:r>
            <a:r>
              <a:rPr sz="2000" dirty="0">
                <a:latin typeface="Arial"/>
                <a:cs typeface="Arial"/>
              </a:rPr>
              <a:t>Case-Sensitive Comparison. returns a</a:t>
            </a:r>
            <a:r>
              <a:rPr sz="2000" spc="-110" dirty="0">
                <a:latin typeface="Arial"/>
                <a:cs typeface="Arial"/>
              </a:rPr>
              <a:t> </a:t>
            </a:r>
            <a:r>
              <a:rPr sz="2000" dirty="0">
                <a:latin typeface="Arial"/>
                <a:cs typeface="Arial"/>
              </a:rPr>
              <a:t>+ive  value if </a:t>
            </a:r>
            <a:r>
              <a:rPr sz="2000" dirty="0">
                <a:solidFill>
                  <a:srgbClr val="FF0000"/>
                </a:solidFill>
                <a:latin typeface="Arial"/>
                <a:cs typeface="Arial"/>
              </a:rPr>
              <a:t>this </a:t>
            </a:r>
            <a:r>
              <a:rPr sz="2000" dirty="0">
                <a:latin typeface="Arial"/>
                <a:cs typeface="Arial"/>
              </a:rPr>
              <a:t>string is &gt; </a:t>
            </a:r>
            <a:r>
              <a:rPr sz="2000" dirty="0">
                <a:solidFill>
                  <a:srgbClr val="FF0000"/>
                </a:solidFill>
                <a:latin typeface="Arial"/>
                <a:cs typeface="Arial"/>
              </a:rPr>
              <a:t>str </a:t>
            </a:r>
            <a:r>
              <a:rPr sz="2000" dirty="0">
                <a:latin typeface="Arial"/>
                <a:cs typeface="Arial"/>
              </a:rPr>
              <a:t>, </a:t>
            </a:r>
            <a:r>
              <a:rPr sz="2000" spc="-5" dirty="0">
                <a:latin typeface="Arial"/>
                <a:cs typeface="Arial"/>
              </a:rPr>
              <a:t>-ive </a:t>
            </a:r>
            <a:r>
              <a:rPr sz="2000" dirty="0">
                <a:latin typeface="Arial"/>
                <a:cs typeface="Arial"/>
              </a:rPr>
              <a:t>value if </a:t>
            </a:r>
            <a:r>
              <a:rPr sz="2000" dirty="0">
                <a:solidFill>
                  <a:srgbClr val="FF0000"/>
                </a:solidFill>
                <a:latin typeface="Arial"/>
                <a:cs typeface="Arial"/>
              </a:rPr>
              <a:t>this </a:t>
            </a:r>
            <a:r>
              <a:rPr sz="2000" dirty="0">
                <a:latin typeface="Arial"/>
                <a:cs typeface="Arial"/>
              </a:rPr>
              <a:t>string is &lt; </a:t>
            </a:r>
            <a:r>
              <a:rPr sz="2000" spc="-25" dirty="0">
                <a:solidFill>
                  <a:srgbClr val="FF0000"/>
                </a:solidFill>
                <a:latin typeface="Arial"/>
                <a:cs typeface="Arial"/>
              </a:rPr>
              <a:t>str</a:t>
            </a:r>
            <a:r>
              <a:rPr sz="2000" spc="-25" dirty="0">
                <a:latin typeface="Arial"/>
                <a:cs typeface="Arial"/>
              </a:rPr>
              <a:t>, </a:t>
            </a:r>
            <a:r>
              <a:rPr sz="2000" dirty="0">
                <a:latin typeface="Arial"/>
                <a:cs typeface="Arial"/>
              </a:rPr>
              <a:t>otherwise a 0  (zero) value. Used For sorting an arrays of String</a:t>
            </a:r>
            <a:r>
              <a:rPr sz="2000" spc="-180" dirty="0">
                <a:latin typeface="Arial"/>
                <a:cs typeface="Arial"/>
              </a:rPr>
              <a:t> </a:t>
            </a:r>
            <a:r>
              <a:rPr sz="2000" dirty="0">
                <a:latin typeface="Arial"/>
                <a:cs typeface="Arial"/>
              </a:rPr>
              <a:t>values.</a:t>
            </a:r>
            <a:endParaRPr sz="2000">
              <a:latin typeface="Arial"/>
              <a:cs typeface="Arial"/>
            </a:endParaRPr>
          </a:p>
          <a:p>
            <a:pPr marL="355600" marR="5080" indent="-342900">
              <a:lnSpc>
                <a:spcPct val="90100"/>
              </a:lnSpc>
              <a:spcBef>
                <a:spcPts val="450"/>
              </a:spcBef>
              <a:buClr>
                <a:srgbClr val="0F1141"/>
              </a:buClr>
              <a:buChar char="•"/>
              <a:tabLst>
                <a:tab pos="354965" algn="l"/>
                <a:tab pos="355600" algn="l"/>
              </a:tabLst>
            </a:pPr>
            <a:r>
              <a:rPr sz="2000" dirty="0">
                <a:latin typeface="Arial"/>
                <a:cs typeface="Arial"/>
              </a:rPr>
              <a:t>Comparison is done character by </a:t>
            </a:r>
            <a:r>
              <a:rPr sz="2000" spc="-15" dirty="0">
                <a:latin typeface="Arial"/>
                <a:cs typeface="Arial"/>
              </a:rPr>
              <a:t>character. </a:t>
            </a:r>
            <a:r>
              <a:rPr sz="2000" dirty="0">
                <a:latin typeface="Arial"/>
                <a:cs typeface="Arial"/>
              </a:rPr>
              <a:t>If all characters of both  strings matches then 0 </a:t>
            </a:r>
            <a:r>
              <a:rPr sz="2000" spc="-5" dirty="0">
                <a:latin typeface="Arial"/>
                <a:cs typeface="Arial"/>
              </a:rPr>
              <a:t>is </a:t>
            </a:r>
            <a:r>
              <a:rPr sz="2000" dirty="0">
                <a:latin typeface="Arial"/>
                <a:cs typeface="Arial"/>
              </a:rPr>
              <a:t>returned otherwise a </a:t>
            </a:r>
            <a:r>
              <a:rPr sz="2000" spc="-5" dirty="0">
                <a:latin typeface="Arial"/>
                <a:cs typeface="Arial"/>
              </a:rPr>
              <a:t>difference </a:t>
            </a:r>
            <a:r>
              <a:rPr sz="2000" dirty="0">
                <a:latin typeface="Arial"/>
                <a:cs typeface="Arial"/>
              </a:rPr>
              <a:t>of the first</a:t>
            </a:r>
            <a:r>
              <a:rPr sz="2000" spc="-225" dirty="0">
                <a:latin typeface="Arial"/>
                <a:cs typeface="Arial"/>
              </a:rPr>
              <a:t> </a:t>
            </a:r>
            <a:r>
              <a:rPr sz="2000" spc="5" dirty="0">
                <a:latin typeface="Arial"/>
                <a:cs typeface="Arial"/>
              </a:rPr>
              <a:t>non-  </a:t>
            </a:r>
            <a:r>
              <a:rPr sz="2000" dirty="0">
                <a:latin typeface="Arial"/>
                <a:cs typeface="Arial"/>
              </a:rPr>
              <a:t>matched character is</a:t>
            </a:r>
            <a:r>
              <a:rPr sz="2000" spc="-100" dirty="0">
                <a:latin typeface="Arial"/>
                <a:cs typeface="Arial"/>
              </a:rPr>
              <a:t> </a:t>
            </a:r>
            <a:r>
              <a:rPr sz="2000" dirty="0">
                <a:latin typeface="Arial"/>
                <a:cs typeface="Arial"/>
              </a:rPr>
              <a:t>returned</a:t>
            </a:r>
            <a:endParaRPr sz="2000">
              <a:latin typeface="Arial"/>
              <a:cs typeface="Arial"/>
            </a:endParaRPr>
          </a:p>
          <a:p>
            <a:pPr marL="355600" indent="-342900">
              <a:lnSpc>
                <a:spcPct val="100000"/>
              </a:lnSpc>
              <a:spcBef>
                <a:spcPts val="240"/>
              </a:spcBef>
              <a:buClr>
                <a:srgbClr val="0F1141"/>
              </a:buClr>
              <a:buChar char="•"/>
              <a:tabLst>
                <a:tab pos="354965" algn="l"/>
                <a:tab pos="355600" algn="l"/>
              </a:tabLst>
            </a:pPr>
            <a:r>
              <a:rPr sz="2000" dirty="0">
                <a:latin typeface="Arial"/>
                <a:cs typeface="Arial"/>
              </a:rPr>
              <a:t>Examples</a:t>
            </a:r>
            <a:endParaRPr sz="2000">
              <a:latin typeface="Arial"/>
              <a:cs typeface="Arial"/>
            </a:endParaRPr>
          </a:p>
          <a:p>
            <a:pPr marL="927100" lvl="1" indent="-457834">
              <a:lnSpc>
                <a:spcPct val="100000"/>
              </a:lnSpc>
              <a:spcBef>
                <a:spcPts val="240"/>
              </a:spcBef>
              <a:buAutoNum type="arabicPeriod"/>
              <a:tabLst>
                <a:tab pos="927100" algn="l"/>
                <a:tab pos="927735" algn="l"/>
                <a:tab pos="6414135" algn="l"/>
              </a:tabLst>
            </a:pPr>
            <a:r>
              <a:rPr sz="2000" spc="-10" dirty="0">
                <a:latin typeface="Arial"/>
                <a:cs typeface="Arial"/>
              </a:rPr>
              <a:t>System.out.println("Ram".compareTo("RAM"));	</a:t>
            </a:r>
            <a:r>
              <a:rPr sz="2000" b="1" dirty="0">
                <a:solidFill>
                  <a:srgbClr val="FF0000"/>
                </a:solidFill>
                <a:latin typeface="Arial"/>
                <a:cs typeface="Arial"/>
              </a:rPr>
              <a:t>// Prints</a:t>
            </a:r>
            <a:r>
              <a:rPr sz="2000" b="1" spc="-60" dirty="0">
                <a:solidFill>
                  <a:srgbClr val="FF0000"/>
                </a:solidFill>
                <a:latin typeface="Arial"/>
                <a:cs typeface="Arial"/>
              </a:rPr>
              <a:t> </a:t>
            </a:r>
            <a:r>
              <a:rPr sz="2000" b="1" dirty="0">
                <a:solidFill>
                  <a:srgbClr val="FF0000"/>
                </a:solidFill>
                <a:latin typeface="Arial"/>
                <a:cs typeface="Arial"/>
              </a:rPr>
              <a:t>32</a:t>
            </a:r>
            <a:endParaRPr sz="2000">
              <a:latin typeface="Arial"/>
              <a:cs typeface="Arial"/>
            </a:endParaRPr>
          </a:p>
          <a:p>
            <a:pPr marL="927100" lvl="1" indent="-457834">
              <a:lnSpc>
                <a:spcPct val="100000"/>
              </a:lnSpc>
              <a:spcBef>
                <a:spcPts val="240"/>
              </a:spcBef>
              <a:buAutoNum type="arabicPeriod"/>
              <a:tabLst>
                <a:tab pos="927100" algn="l"/>
                <a:tab pos="927735" algn="l"/>
              </a:tabLst>
            </a:pPr>
            <a:r>
              <a:rPr sz="2000" spc="-10" dirty="0">
                <a:latin typeface="Arial"/>
                <a:cs typeface="Arial"/>
              </a:rPr>
              <a:t>System.out.println("Java".compareTo("Object")); </a:t>
            </a:r>
            <a:r>
              <a:rPr sz="2000" b="1" dirty="0">
                <a:solidFill>
                  <a:srgbClr val="FF0000"/>
                </a:solidFill>
                <a:latin typeface="Arial"/>
                <a:cs typeface="Arial"/>
              </a:rPr>
              <a:t>// Prints</a:t>
            </a:r>
            <a:r>
              <a:rPr sz="2000" b="1" spc="120" dirty="0">
                <a:solidFill>
                  <a:srgbClr val="FF0000"/>
                </a:solidFill>
                <a:latin typeface="Arial"/>
                <a:cs typeface="Arial"/>
              </a:rPr>
              <a:t> </a:t>
            </a:r>
            <a:r>
              <a:rPr sz="2000" b="1" dirty="0">
                <a:solidFill>
                  <a:srgbClr val="FF0000"/>
                </a:solidFill>
                <a:latin typeface="Arial"/>
                <a:cs typeface="Arial"/>
              </a:rPr>
              <a:t>-5</a:t>
            </a:r>
            <a:endParaRPr sz="2000">
              <a:latin typeface="Arial"/>
              <a:cs typeface="Arial"/>
            </a:endParaRPr>
          </a:p>
          <a:p>
            <a:pPr marL="927100" lvl="1" indent="-457834">
              <a:lnSpc>
                <a:spcPct val="100000"/>
              </a:lnSpc>
              <a:spcBef>
                <a:spcPts val="240"/>
              </a:spcBef>
              <a:buAutoNum type="arabicPeriod"/>
              <a:tabLst>
                <a:tab pos="927100" algn="l"/>
                <a:tab pos="927735" algn="l"/>
              </a:tabLst>
            </a:pPr>
            <a:r>
              <a:rPr sz="2000" spc="-10" dirty="0">
                <a:latin typeface="Arial"/>
                <a:cs typeface="Arial"/>
              </a:rPr>
              <a:t>System.out.println("Hello".compareTo("Welcome")); </a:t>
            </a:r>
            <a:r>
              <a:rPr sz="2000" b="1" dirty="0">
                <a:solidFill>
                  <a:srgbClr val="FF0000"/>
                </a:solidFill>
                <a:latin typeface="Arial"/>
                <a:cs typeface="Arial"/>
              </a:rPr>
              <a:t>// Prints</a:t>
            </a:r>
            <a:r>
              <a:rPr sz="2000" b="1" spc="-30" dirty="0">
                <a:solidFill>
                  <a:srgbClr val="FF0000"/>
                </a:solidFill>
                <a:latin typeface="Arial"/>
                <a:cs typeface="Arial"/>
              </a:rPr>
              <a:t> </a:t>
            </a:r>
            <a:r>
              <a:rPr sz="2000" b="1" dirty="0">
                <a:solidFill>
                  <a:srgbClr val="FF0000"/>
                </a:solidFill>
                <a:latin typeface="Arial"/>
                <a:cs typeface="Arial"/>
              </a:rPr>
              <a:t>-15</a:t>
            </a:r>
            <a:endParaRPr sz="2000">
              <a:latin typeface="Arial"/>
              <a:cs typeface="Arial"/>
            </a:endParaRPr>
          </a:p>
          <a:p>
            <a:pPr marL="355600" indent="-342900">
              <a:lnSpc>
                <a:spcPct val="100000"/>
              </a:lnSpc>
              <a:spcBef>
                <a:spcPts val="240"/>
              </a:spcBef>
              <a:buClr>
                <a:srgbClr val="0F1141"/>
              </a:buClr>
              <a:buChar char="•"/>
              <a:tabLst>
                <a:tab pos="354965" algn="l"/>
                <a:tab pos="355600" algn="l"/>
              </a:tabLst>
            </a:pPr>
            <a:r>
              <a:rPr sz="2000" dirty="0">
                <a:solidFill>
                  <a:srgbClr val="FF0000"/>
                </a:solidFill>
                <a:latin typeface="Arial"/>
                <a:cs typeface="Arial"/>
              </a:rPr>
              <a:t>int </a:t>
            </a:r>
            <a:r>
              <a:rPr sz="2000" spc="-10" dirty="0">
                <a:solidFill>
                  <a:srgbClr val="FF0000"/>
                </a:solidFill>
                <a:latin typeface="Arial"/>
                <a:cs typeface="Arial"/>
              </a:rPr>
              <a:t>compareToIgnoreCase(String </a:t>
            </a:r>
            <a:r>
              <a:rPr sz="2000" dirty="0">
                <a:solidFill>
                  <a:srgbClr val="FF0000"/>
                </a:solidFill>
                <a:latin typeface="Arial"/>
                <a:cs typeface="Arial"/>
              </a:rPr>
              <a:t>str) </a:t>
            </a:r>
            <a:r>
              <a:rPr sz="2000" dirty="0">
                <a:latin typeface="Wingdings"/>
                <a:cs typeface="Wingdings"/>
              </a:rPr>
              <a:t></a:t>
            </a:r>
            <a:r>
              <a:rPr sz="2000" dirty="0">
                <a:latin typeface="Times New Roman"/>
                <a:cs typeface="Times New Roman"/>
              </a:rPr>
              <a:t> </a:t>
            </a:r>
            <a:r>
              <a:rPr sz="2000" dirty="0">
                <a:latin typeface="Arial"/>
                <a:cs typeface="Arial"/>
              </a:rPr>
              <a:t>Ignore case</a:t>
            </a:r>
            <a:r>
              <a:rPr sz="2000" spc="-80" dirty="0">
                <a:latin typeface="Arial"/>
                <a:cs typeface="Arial"/>
              </a:rPr>
              <a:t> </a:t>
            </a:r>
            <a:r>
              <a:rPr sz="2000" dirty="0">
                <a:latin typeface="Arial"/>
                <a:cs typeface="Arial"/>
              </a:rPr>
              <a:t>comparison.</a:t>
            </a:r>
            <a:endParaRPr sz="2000">
              <a:latin typeface="Arial"/>
              <a:cs typeface="Arial"/>
            </a:endParaRPr>
          </a:p>
          <a:p>
            <a:pPr marL="355600" indent="-342900">
              <a:lnSpc>
                <a:spcPct val="100000"/>
              </a:lnSpc>
              <a:spcBef>
                <a:spcPts val="240"/>
              </a:spcBef>
              <a:buClr>
                <a:srgbClr val="0F1141"/>
              </a:buClr>
              <a:buChar char="•"/>
              <a:tabLst>
                <a:tab pos="354965" algn="l"/>
                <a:tab pos="355600" algn="l"/>
              </a:tabLst>
            </a:pPr>
            <a:r>
              <a:rPr sz="2000" dirty="0">
                <a:latin typeface="Arial"/>
                <a:cs typeface="Arial"/>
              </a:rPr>
              <a:t>Examples</a:t>
            </a:r>
            <a:endParaRPr sz="2000">
              <a:latin typeface="Arial"/>
              <a:cs typeface="Arial"/>
            </a:endParaRPr>
          </a:p>
          <a:p>
            <a:pPr marL="870585" lvl="1" indent="-457834">
              <a:lnSpc>
                <a:spcPts val="2280"/>
              </a:lnSpc>
              <a:spcBef>
                <a:spcPts val="240"/>
              </a:spcBef>
              <a:buAutoNum type="arabicPeriod"/>
              <a:tabLst>
                <a:tab pos="870585" algn="l"/>
                <a:tab pos="871219" algn="l"/>
              </a:tabLst>
            </a:pPr>
            <a:r>
              <a:rPr sz="2000" spc="-5" dirty="0">
                <a:latin typeface="Arial"/>
                <a:cs typeface="Arial"/>
              </a:rPr>
              <a:t>System.out.println("Ram".compareToIgnoreCase("RAM")); </a:t>
            </a:r>
            <a:r>
              <a:rPr sz="2000" b="1" dirty="0">
                <a:solidFill>
                  <a:srgbClr val="FF0000"/>
                </a:solidFill>
                <a:latin typeface="Arial"/>
                <a:cs typeface="Arial"/>
              </a:rPr>
              <a:t>//</a:t>
            </a:r>
            <a:r>
              <a:rPr sz="2000" b="1" spc="-130" dirty="0">
                <a:solidFill>
                  <a:srgbClr val="FF0000"/>
                </a:solidFill>
                <a:latin typeface="Arial"/>
                <a:cs typeface="Arial"/>
              </a:rPr>
              <a:t> </a:t>
            </a:r>
            <a:r>
              <a:rPr sz="2000" b="1" spc="-5" dirty="0">
                <a:solidFill>
                  <a:srgbClr val="FF0000"/>
                </a:solidFill>
                <a:latin typeface="Arial"/>
                <a:cs typeface="Arial"/>
              </a:rPr>
              <a:t>Prints</a:t>
            </a:r>
            <a:endParaRPr sz="2000">
              <a:latin typeface="Arial"/>
              <a:cs typeface="Arial"/>
            </a:endParaRPr>
          </a:p>
          <a:p>
            <a:pPr marL="870585">
              <a:lnSpc>
                <a:spcPts val="2280"/>
              </a:lnSpc>
            </a:pPr>
            <a:r>
              <a:rPr sz="2000" b="1" dirty="0">
                <a:solidFill>
                  <a:srgbClr val="FF0000"/>
                </a:solidFill>
                <a:latin typeface="Arial"/>
                <a:cs typeface="Arial"/>
              </a:rPr>
              <a:t>0</a:t>
            </a:r>
            <a:endParaRPr sz="2000">
              <a:latin typeface="Arial"/>
              <a:cs typeface="Arial"/>
            </a:endParaRPr>
          </a:p>
          <a:p>
            <a:pPr marL="870585" lvl="1" indent="-457834">
              <a:lnSpc>
                <a:spcPct val="100000"/>
              </a:lnSpc>
              <a:spcBef>
                <a:spcPts val="240"/>
              </a:spcBef>
              <a:buAutoNum type="arabicPeriod" startAt="2"/>
              <a:tabLst>
                <a:tab pos="870585" algn="l"/>
                <a:tab pos="871219" algn="l"/>
              </a:tabLst>
            </a:pPr>
            <a:r>
              <a:rPr sz="2000" spc="-5" dirty="0">
                <a:latin typeface="Arial"/>
                <a:cs typeface="Arial"/>
              </a:rPr>
              <a:t>System.out.println(“oBjeCt”.compareTo(“OBJECT")); </a:t>
            </a:r>
            <a:r>
              <a:rPr sz="2000" b="1" dirty="0">
                <a:solidFill>
                  <a:srgbClr val="FF0000"/>
                </a:solidFill>
                <a:latin typeface="Arial"/>
                <a:cs typeface="Arial"/>
              </a:rPr>
              <a:t>// Prints</a:t>
            </a:r>
            <a:r>
              <a:rPr sz="2000" b="1" spc="-180" dirty="0">
                <a:solidFill>
                  <a:srgbClr val="FF0000"/>
                </a:solidFill>
                <a:latin typeface="Arial"/>
                <a:cs typeface="Arial"/>
              </a:rPr>
              <a:t> </a:t>
            </a:r>
            <a:r>
              <a:rPr sz="2000" b="1" dirty="0">
                <a:solidFill>
                  <a:srgbClr val="FF0000"/>
                </a:solidFill>
                <a:latin typeface="Arial"/>
                <a:cs typeface="Arial"/>
              </a:rPr>
              <a:t>0</a:t>
            </a:r>
            <a:endParaRPr sz="2000">
              <a:latin typeface="Arial"/>
              <a:cs typeface="Arial"/>
            </a:endParaRPr>
          </a:p>
        </p:txBody>
      </p:sp>
      <p:sp>
        <p:nvSpPr>
          <p:cNvPr id="3" name="object 3"/>
          <p:cNvSpPr txBox="1">
            <a:spLocks noGrp="1"/>
          </p:cNvSpPr>
          <p:nvPr>
            <p:ph type="title"/>
          </p:nvPr>
        </p:nvSpPr>
        <p:spPr>
          <a:xfrm>
            <a:off x="383540" y="0"/>
            <a:ext cx="4197350" cy="1031875"/>
          </a:xfrm>
          <a:prstGeom prst="rect">
            <a:avLst/>
          </a:prstGeom>
        </p:spPr>
        <p:txBody>
          <a:bodyPr vert="horz" wrap="square" lIns="0" tIns="104139" rIns="0" bIns="0" rtlCol="0">
            <a:spAutoFit/>
          </a:bodyPr>
          <a:lstStyle/>
          <a:p>
            <a:pPr marL="12700" marR="5080">
              <a:lnSpc>
                <a:spcPts val="3600"/>
              </a:lnSpc>
              <a:spcBef>
                <a:spcPts val="819"/>
              </a:spcBef>
            </a:pPr>
            <a:r>
              <a:rPr sz="3600" i="0" spc="-135" dirty="0">
                <a:solidFill>
                  <a:srgbClr val="000000"/>
                </a:solidFill>
                <a:latin typeface="Arial"/>
                <a:cs typeface="Arial"/>
              </a:rPr>
              <a:t>String</a:t>
            </a:r>
            <a:r>
              <a:rPr sz="3600" i="0" spc="-335" dirty="0">
                <a:solidFill>
                  <a:srgbClr val="000000"/>
                </a:solidFill>
                <a:latin typeface="Arial"/>
                <a:cs typeface="Arial"/>
              </a:rPr>
              <a:t> </a:t>
            </a:r>
            <a:r>
              <a:rPr sz="3600" i="0" spc="-145" dirty="0">
                <a:solidFill>
                  <a:srgbClr val="000000"/>
                </a:solidFill>
                <a:latin typeface="Arial"/>
                <a:cs typeface="Arial"/>
              </a:rPr>
              <a:t>Comparisons:  </a:t>
            </a:r>
            <a:r>
              <a:rPr sz="3600" i="0" spc="-185" dirty="0">
                <a:solidFill>
                  <a:srgbClr val="000000"/>
                </a:solidFill>
                <a:latin typeface="Arial"/>
                <a:cs typeface="Arial"/>
              </a:rPr>
              <a:t>compareTo()</a:t>
            </a:r>
            <a:endParaRPr sz="3600" dirty="0">
              <a:latin typeface="Arial"/>
              <a:cs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12289"/>
            <a:ext cx="7386955" cy="2742565"/>
          </a:xfrm>
          <a:prstGeom prst="rect">
            <a:avLst/>
          </a:prstGeom>
        </p:spPr>
        <p:txBody>
          <a:bodyPr vert="horz" wrap="square" lIns="0" tIns="116205" rIns="0" bIns="0" rtlCol="0">
            <a:spAutoFit/>
          </a:bodyPr>
          <a:lstStyle/>
          <a:p>
            <a:pPr marL="355600" indent="-342900">
              <a:lnSpc>
                <a:spcPct val="100000"/>
              </a:lnSpc>
              <a:spcBef>
                <a:spcPts val="915"/>
              </a:spcBef>
              <a:buClr>
                <a:srgbClr val="0F1141"/>
              </a:buClr>
              <a:buChar char="•"/>
              <a:tabLst>
                <a:tab pos="354965" algn="l"/>
                <a:tab pos="355600" algn="l"/>
              </a:tabLst>
            </a:pPr>
            <a:r>
              <a:rPr sz="3200" spc="-5" dirty="0">
                <a:latin typeface="Arial"/>
                <a:cs typeface="Arial"/>
              </a:rPr>
              <a:t>Important </a:t>
            </a:r>
            <a:r>
              <a:rPr sz="3200" dirty="0">
                <a:latin typeface="Arial"/>
                <a:cs typeface="Arial"/>
              </a:rPr>
              <a:t>String</a:t>
            </a:r>
            <a:r>
              <a:rPr sz="3200" spc="-40" dirty="0">
                <a:latin typeface="Arial"/>
                <a:cs typeface="Arial"/>
              </a:rPr>
              <a:t> </a:t>
            </a:r>
            <a:r>
              <a:rPr sz="3200" spc="-5" dirty="0">
                <a:latin typeface="Arial"/>
                <a:cs typeface="Arial"/>
              </a:rPr>
              <a:t>Methods</a:t>
            </a:r>
            <a:endParaRPr sz="3200" dirty="0">
              <a:latin typeface="Arial"/>
              <a:cs typeface="Arial"/>
            </a:endParaRPr>
          </a:p>
          <a:p>
            <a:pPr marL="469900" indent="-457200">
              <a:lnSpc>
                <a:spcPct val="100000"/>
              </a:lnSpc>
              <a:spcBef>
                <a:spcPts val="605"/>
              </a:spcBef>
              <a:buClr>
                <a:srgbClr val="0F1141"/>
              </a:buClr>
              <a:buFont typeface="Wingdings"/>
              <a:buChar char=""/>
              <a:tabLst>
                <a:tab pos="469265" algn="l"/>
                <a:tab pos="469900" algn="l"/>
              </a:tabLst>
            </a:pPr>
            <a:r>
              <a:rPr sz="2400" spc="-5" dirty="0">
                <a:latin typeface="Arial"/>
                <a:cs typeface="Arial"/>
              </a:rPr>
              <a:t>Searching Strings [indexOf() and</a:t>
            </a:r>
            <a:r>
              <a:rPr sz="2400" spc="70" dirty="0">
                <a:latin typeface="Arial"/>
                <a:cs typeface="Arial"/>
              </a:rPr>
              <a:t> </a:t>
            </a:r>
            <a:r>
              <a:rPr sz="2400" spc="-5" dirty="0">
                <a:latin typeface="Arial"/>
                <a:cs typeface="Arial"/>
              </a:rPr>
              <a:t>lastIndexOf()]</a:t>
            </a:r>
            <a:endParaRPr sz="2400" dirty="0">
              <a:latin typeface="Arial"/>
              <a:cs typeface="Arial"/>
            </a:endParaRPr>
          </a:p>
          <a:p>
            <a:pPr marL="469900" indent="-457200">
              <a:lnSpc>
                <a:spcPct val="100000"/>
              </a:lnSpc>
              <a:spcBef>
                <a:spcPts val="575"/>
              </a:spcBef>
              <a:buClr>
                <a:srgbClr val="0F1141"/>
              </a:buClr>
              <a:buFont typeface="Wingdings"/>
              <a:buChar char=""/>
              <a:tabLst>
                <a:tab pos="469265" algn="l"/>
                <a:tab pos="469900" algn="l"/>
              </a:tabLst>
            </a:pPr>
            <a:r>
              <a:rPr sz="2400" spc="-5" dirty="0">
                <a:latin typeface="Arial"/>
                <a:cs typeface="Arial"/>
              </a:rPr>
              <a:t>Modifying a String </a:t>
            </a:r>
            <a:r>
              <a:rPr sz="2400" dirty="0">
                <a:latin typeface="Arial"/>
                <a:cs typeface="Arial"/>
              </a:rPr>
              <a:t>[substring(), </a:t>
            </a:r>
            <a:r>
              <a:rPr sz="2400" spc="-5" dirty="0">
                <a:latin typeface="Arial"/>
                <a:cs typeface="Arial"/>
              </a:rPr>
              <a:t>replace() and</a:t>
            </a:r>
            <a:r>
              <a:rPr sz="2400" spc="105" dirty="0">
                <a:latin typeface="Arial"/>
                <a:cs typeface="Arial"/>
              </a:rPr>
              <a:t> </a:t>
            </a:r>
            <a:r>
              <a:rPr sz="2400" dirty="0">
                <a:latin typeface="Arial"/>
                <a:cs typeface="Arial"/>
              </a:rPr>
              <a:t>trim()]</a:t>
            </a:r>
          </a:p>
          <a:p>
            <a:pPr marL="469900" indent="-457200">
              <a:lnSpc>
                <a:spcPct val="100000"/>
              </a:lnSpc>
              <a:spcBef>
                <a:spcPts val="580"/>
              </a:spcBef>
              <a:buClr>
                <a:srgbClr val="0F1141"/>
              </a:buClr>
              <a:buFont typeface="Wingdings"/>
              <a:buChar char=""/>
              <a:tabLst>
                <a:tab pos="469265" algn="l"/>
                <a:tab pos="469900" algn="l"/>
              </a:tabLst>
            </a:pPr>
            <a:r>
              <a:rPr sz="2400" spc="-5" dirty="0">
                <a:latin typeface="Arial"/>
                <a:cs typeface="Arial"/>
              </a:rPr>
              <a:t>Data Conversion</a:t>
            </a:r>
            <a:r>
              <a:rPr sz="2400" spc="50" dirty="0">
                <a:latin typeface="Arial"/>
                <a:cs typeface="Arial"/>
              </a:rPr>
              <a:t> </a:t>
            </a:r>
            <a:r>
              <a:rPr sz="2400" spc="-5" dirty="0">
                <a:latin typeface="Arial"/>
                <a:cs typeface="Arial"/>
              </a:rPr>
              <a:t>[valueOf()]</a:t>
            </a:r>
            <a:endParaRPr sz="2400" dirty="0">
              <a:latin typeface="Arial"/>
              <a:cs typeface="Arial"/>
            </a:endParaRPr>
          </a:p>
          <a:p>
            <a:pPr marL="469900" marR="125730" indent="-457200">
              <a:lnSpc>
                <a:spcPct val="100000"/>
              </a:lnSpc>
              <a:spcBef>
                <a:spcPts val="575"/>
              </a:spcBef>
              <a:buClr>
                <a:srgbClr val="0F1141"/>
              </a:buClr>
              <a:buFont typeface="Wingdings"/>
              <a:buChar char=""/>
              <a:tabLst>
                <a:tab pos="469265" algn="l"/>
                <a:tab pos="469900" algn="l"/>
              </a:tabLst>
            </a:pPr>
            <a:r>
              <a:rPr sz="2400" spc="-5" dirty="0">
                <a:latin typeface="Arial"/>
                <a:cs typeface="Arial"/>
              </a:rPr>
              <a:t>Changing Case </a:t>
            </a:r>
            <a:r>
              <a:rPr sz="2400" dirty="0">
                <a:latin typeface="Arial"/>
                <a:cs typeface="Arial"/>
              </a:rPr>
              <a:t>of </a:t>
            </a:r>
            <a:r>
              <a:rPr sz="2400" spc="-5" dirty="0">
                <a:latin typeface="Arial"/>
                <a:cs typeface="Arial"/>
              </a:rPr>
              <a:t>Characters [toUpperCase() and  toLowerCase()]</a:t>
            </a:r>
            <a:endParaRPr sz="2400" dirty="0">
              <a:latin typeface="Arial"/>
              <a:cs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1468958"/>
            <a:ext cx="8803005" cy="4587875"/>
          </a:xfrm>
          <a:prstGeom prst="rect">
            <a:avLst/>
          </a:prstGeom>
        </p:spPr>
        <p:txBody>
          <a:bodyPr vert="horz" wrap="square" lIns="0" tIns="13335" rIns="0" bIns="0" rtlCol="0">
            <a:spAutoFit/>
          </a:bodyPr>
          <a:lstStyle/>
          <a:p>
            <a:pPr marL="355600" indent="-342900">
              <a:lnSpc>
                <a:spcPts val="1835"/>
              </a:lnSpc>
              <a:spcBef>
                <a:spcPts val="105"/>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indexOf(int ch) </a:t>
            </a:r>
            <a:r>
              <a:rPr sz="1700" spc="5" dirty="0">
                <a:solidFill>
                  <a:srgbClr val="FF0000"/>
                </a:solidFill>
                <a:latin typeface="Wingdings"/>
                <a:cs typeface="Wingdings"/>
              </a:rPr>
              <a:t></a:t>
            </a:r>
            <a:r>
              <a:rPr sz="1700" spc="5" dirty="0">
                <a:solidFill>
                  <a:srgbClr val="FF0000"/>
                </a:solidFill>
                <a:latin typeface="Times New Roman"/>
                <a:cs typeface="Times New Roman"/>
              </a:rPr>
              <a:t> </a:t>
            </a:r>
            <a:r>
              <a:rPr sz="1700" dirty="0">
                <a:latin typeface="Arial"/>
                <a:cs typeface="Arial"/>
              </a:rPr>
              <a:t>Searches the index of character </a:t>
            </a:r>
            <a:r>
              <a:rPr sz="1700" spc="-5" dirty="0">
                <a:solidFill>
                  <a:srgbClr val="FF0000"/>
                </a:solidFill>
                <a:latin typeface="Arial"/>
                <a:cs typeface="Arial"/>
              </a:rPr>
              <a:t>‘ch’ </a:t>
            </a:r>
            <a:r>
              <a:rPr sz="1700" dirty="0">
                <a:latin typeface="Arial"/>
                <a:cs typeface="Arial"/>
              </a:rPr>
              <a:t>in </a:t>
            </a:r>
            <a:r>
              <a:rPr sz="1700" spc="-5" dirty="0">
                <a:solidFill>
                  <a:srgbClr val="FF0000"/>
                </a:solidFill>
                <a:latin typeface="Arial"/>
                <a:cs typeface="Arial"/>
              </a:rPr>
              <a:t>this </a:t>
            </a:r>
            <a:r>
              <a:rPr sz="1700" dirty="0">
                <a:latin typeface="Arial"/>
                <a:cs typeface="Arial"/>
              </a:rPr>
              <a:t>string and </a:t>
            </a:r>
            <a:r>
              <a:rPr sz="1700" spc="-5" dirty="0">
                <a:latin typeface="Arial"/>
                <a:cs typeface="Arial"/>
              </a:rPr>
              <a:t>returns</a:t>
            </a:r>
            <a:r>
              <a:rPr sz="1700" spc="75" dirty="0">
                <a:latin typeface="Arial"/>
                <a:cs typeface="Arial"/>
              </a:rPr>
              <a:t> </a:t>
            </a:r>
            <a:r>
              <a:rPr sz="1700" dirty="0">
                <a:latin typeface="Arial"/>
                <a:cs typeface="Arial"/>
              </a:rPr>
              <a:t>that</a:t>
            </a:r>
          </a:p>
          <a:p>
            <a:pPr marL="354965">
              <a:lnSpc>
                <a:spcPts val="1835"/>
              </a:lnSpc>
            </a:pPr>
            <a:r>
              <a:rPr sz="1700" dirty="0">
                <a:latin typeface="Arial"/>
                <a:cs typeface="Arial"/>
              </a:rPr>
              <a:t>index value </a:t>
            </a:r>
            <a:r>
              <a:rPr sz="1700" spc="-5" dirty="0">
                <a:latin typeface="Arial"/>
                <a:cs typeface="Arial"/>
              </a:rPr>
              <a:t>(if </a:t>
            </a:r>
            <a:r>
              <a:rPr sz="1700" dirty="0">
                <a:latin typeface="Arial"/>
                <a:cs typeface="Arial"/>
              </a:rPr>
              <a:t>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a:t>
            </a:r>
            <a:r>
              <a:rPr sz="1700" spc="45" dirty="0">
                <a:latin typeface="Arial"/>
                <a:cs typeface="Arial"/>
              </a:rPr>
              <a:t> </a:t>
            </a:r>
            <a:r>
              <a:rPr sz="1700" dirty="0">
                <a:latin typeface="Arial"/>
                <a:cs typeface="Arial"/>
              </a:rPr>
              <a:t>found)</a:t>
            </a:r>
          </a:p>
          <a:p>
            <a:pPr marL="354965" marR="594995" indent="-342900">
              <a:lnSpc>
                <a:spcPts val="1630"/>
              </a:lnSpc>
              <a:spcBef>
                <a:spcPts val="395"/>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lastIndexOf(int </a:t>
            </a:r>
            <a:r>
              <a:rPr sz="1700" dirty="0">
                <a:solidFill>
                  <a:srgbClr val="FF0000"/>
                </a:solidFill>
                <a:latin typeface="Arial"/>
                <a:cs typeface="Arial"/>
              </a:rPr>
              <a:t>ch) </a:t>
            </a:r>
            <a:r>
              <a:rPr sz="1700" dirty="0">
                <a:solidFill>
                  <a:srgbClr val="FF0000"/>
                </a:solidFill>
                <a:latin typeface="Wingdings"/>
                <a:cs typeface="Wingdings"/>
              </a:rPr>
              <a:t></a:t>
            </a:r>
            <a:r>
              <a:rPr sz="1700" dirty="0">
                <a:solidFill>
                  <a:srgbClr val="FF0000"/>
                </a:solidFill>
                <a:latin typeface="Times New Roman"/>
                <a:cs typeface="Times New Roman"/>
              </a:rPr>
              <a:t> </a:t>
            </a:r>
            <a:r>
              <a:rPr sz="1700" dirty="0">
                <a:latin typeface="Arial"/>
                <a:cs typeface="Arial"/>
              </a:rPr>
              <a:t>Searches </a:t>
            </a:r>
            <a:r>
              <a:rPr sz="1700" spc="-5" dirty="0">
                <a:latin typeface="Arial"/>
                <a:cs typeface="Arial"/>
              </a:rPr>
              <a:t>the </a:t>
            </a:r>
            <a:r>
              <a:rPr sz="1700" dirty="0">
                <a:latin typeface="Arial"/>
                <a:cs typeface="Arial"/>
              </a:rPr>
              <a:t>last index of character </a:t>
            </a:r>
            <a:r>
              <a:rPr sz="1700" dirty="0">
                <a:solidFill>
                  <a:srgbClr val="FF0000"/>
                </a:solidFill>
                <a:latin typeface="Arial"/>
                <a:cs typeface="Arial"/>
              </a:rPr>
              <a:t>‘ch’ </a:t>
            </a:r>
            <a:r>
              <a:rPr sz="1700" dirty="0">
                <a:latin typeface="Arial"/>
                <a:cs typeface="Arial"/>
              </a:rPr>
              <a:t>in </a:t>
            </a:r>
            <a:r>
              <a:rPr sz="1700" dirty="0">
                <a:solidFill>
                  <a:srgbClr val="FF0000"/>
                </a:solidFill>
                <a:latin typeface="Arial"/>
                <a:cs typeface="Arial"/>
              </a:rPr>
              <a:t>this </a:t>
            </a:r>
            <a:r>
              <a:rPr sz="1700" spc="-5" dirty="0">
                <a:latin typeface="Arial"/>
                <a:cs typeface="Arial"/>
              </a:rPr>
              <a:t>string </a:t>
            </a:r>
            <a:r>
              <a:rPr sz="1700" dirty="0">
                <a:latin typeface="Arial"/>
                <a:cs typeface="Arial"/>
              </a:rPr>
              <a:t>and  returns that index value (if 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a:t>
            </a:r>
            <a:r>
              <a:rPr sz="1700" spc="50" dirty="0">
                <a:latin typeface="Arial"/>
                <a:cs typeface="Arial"/>
              </a:rPr>
              <a:t> </a:t>
            </a:r>
            <a:r>
              <a:rPr sz="1700" dirty="0">
                <a:latin typeface="Arial"/>
                <a:cs typeface="Arial"/>
              </a:rPr>
              <a:t>found)</a:t>
            </a:r>
          </a:p>
          <a:p>
            <a:pPr marL="354965" marR="145415" indent="-342900">
              <a:lnSpc>
                <a:spcPts val="1630"/>
              </a:lnSpc>
              <a:spcBef>
                <a:spcPts val="414"/>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indexOf(String str) </a:t>
            </a:r>
            <a:r>
              <a:rPr sz="1700" dirty="0">
                <a:solidFill>
                  <a:srgbClr val="FF0000"/>
                </a:solidFill>
                <a:latin typeface="Wingdings"/>
                <a:cs typeface="Wingdings"/>
              </a:rPr>
              <a:t></a:t>
            </a:r>
            <a:r>
              <a:rPr sz="1700" dirty="0">
                <a:solidFill>
                  <a:srgbClr val="FF0000"/>
                </a:solidFill>
                <a:latin typeface="Times New Roman"/>
                <a:cs typeface="Times New Roman"/>
              </a:rPr>
              <a:t> </a:t>
            </a:r>
            <a:r>
              <a:rPr sz="1700" dirty="0">
                <a:latin typeface="Arial"/>
                <a:cs typeface="Arial"/>
              </a:rPr>
              <a:t>Searches </a:t>
            </a:r>
            <a:r>
              <a:rPr sz="1700" spc="-5" dirty="0">
                <a:latin typeface="Arial"/>
                <a:cs typeface="Arial"/>
              </a:rPr>
              <a:t>the </a:t>
            </a:r>
            <a:r>
              <a:rPr sz="1700" dirty="0">
                <a:latin typeface="Arial"/>
                <a:cs typeface="Arial"/>
              </a:rPr>
              <a:t>index of </a:t>
            </a:r>
            <a:r>
              <a:rPr sz="1700" spc="-5" dirty="0">
                <a:latin typeface="Arial"/>
                <a:cs typeface="Arial"/>
              </a:rPr>
              <a:t>string </a:t>
            </a:r>
            <a:r>
              <a:rPr sz="1700" spc="-5" dirty="0">
                <a:solidFill>
                  <a:srgbClr val="FF0000"/>
                </a:solidFill>
                <a:latin typeface="Arial"/>
                <a:cs typeface="Arial"/>
              </a:rPr>
              <a:t>“str” </a:t>
            </a:r>
            <a:r>
              <a:rPr sz="1700" dirty="0">
                <a:latin typeface="Arial"/>
                <a:cs typeface="Arial"/>
              </a:rPr>
              <a:t>in </a:t>
            </a:r>
            <a:r>
              <a:rPr sz="1700" dirty="0">
                <a:solidFill>
                  <a:srgbClr val="FF0000"/>
                </a:solidFill>
                <a:latin typeface="Arial"/>
                <a:cs typeface="Arial"/>
              </a:rPr>
              <a:t>this </a:t>
            </a:r>
            <a:r>
              <a:rPr sz="1700" spc="-5" dirty="0">
                <a:latin typeface="Arial"/>
                <a:cs typeface="Arial"/>
              </a:rPr>
              <a:t>string </a:t>
            </a:r>
            <a:r>
              <a:rPr sz="1700" dirty="0">
                <a:latin typeface="Arial"/>
                <a:cs typeface="Arial"/>
              </a:rPr>
              <a:t>and returns that  index value (if 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a:t>
            </a:r>
            <a:r>
              <a:rPr sz="1700" spc="30" dirty="0">
                <a:latin typeface="Arial"/>
                <a:cs typeface="Arial"/>
              </a:rPr>
              <a:t> </a:t>
            </a:r>
            <a:r>
              <a:rPr sz="1700" dirty="0">
                <a:latin typeface="Arial"/>
                <a:cs typeface="Arial"/>
              </a:rPr>
              <a:t>found)</a:t>
            </a:r>
          </a:p>
          <a:p>
            <a:pPr marL="355600" indent="-342900">
              <a:lnSpc>
                <a:spcPts val="1839"/>
              </a:lnSpc>
              <a:spcBef>
                <a:spcPts val="15"/>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lastIndexOf(String str) </a:t>
            </a:r>
            <a:r>
              <a:rPr sz="1700" spc="5" dirty="0">
                <a:solidFill>
                  <a:srgbClr val="FF0000"/>
                </a:solidFill>
                <a:latin typeface="Wingdings"/>
                <a:cs typeface="Wingdings"/>
              </a:rPr>
              <a:t></a:t>
            </a:r>
            <a:r>
              <a:rPr sz="1700" spc="5" dirty="0">
                <a:solidFill>
                  <a:srgbClr val="FF0000"/>
                </a:solidFill>
                <a:latin typeface="Times New Roman"/>
                <a:cs typeface="Times New Roman"/>
              </a:rPr>
              <a:t> </a:t>
            </a:r>
            <a:r>
              <a:rPr sz="1700" dirty="0">
                <a:latin typeface="Arial"/>
                <a:cs typeface="Arial"/>
              </a:rPr>
              <a:t>Searches </a:t>
            </a:r>
            <a:r>
              <a:rPr sz="1700" spc="-5" dirty="0">
                <a:latin typeface="Arial"/>
                <a:cs typeface="Arial"/>
              </a:rPr>
              <a:t>the </a:t>
            </a:r>
            <a:r>
              <a:rPr sz="1700" dirty="0">
                <a:latin typeface="Arial"/>
                <a:cs typeface="Arial"/>
              </a:rPr>
              <a:t>last index of string </a:t>
            </a:r>
            <a:r>
              <a:rPr sz="1700" spc="-5" dirty="0">
                <a:solidFill>
                  <a:srgbClr val="FF0000"/>
                </a:solidFill>
                <a:latin typeface="Arial"/>
                <a:cs typeface="Arial"/>
              </a:rPr>
              <a:t>“str” </a:t>
            </a:r>
            <a:r>
              <a:rPr sz="1700" dirty="0">
                <a:latin typeface="Arial"/>
                <a:cs typeface="Arial"/>
              </a:rPr>
              <a:t>in </a:t>
            </a:r>
            <a:r>
              <a:rPr sz="1700" spc="-5" dirty="0">
                <a:solidFill>
                  <a:srgbClr val="FF0000"/>
                </a:solidFill>
                <a:latin typeface="Arial"/>
                <a:cs typeface="Arial"/>
              </a:rPr>
              <a:t>this </a:t>
            </a:r>
            <a:r>
              <a:rPr sz="1700" dirty="0">
                <a:latin typeface="Arial"/>
                <a:cs typeface="Arial"/>
              </a:rPr>
              <a:t>string</a:t>
            </a:r>
            <a:r>
              <a:rPr sz="1700" spc="135" dirty="0">
                <a:latin typeface="Arial"/>
                <a:cs typeface="Arial"/>
              </a:rPr>
              <a:t> </a:t>
            </a:r>
            <a:r>
              <a:rPr sz="1700" dirty="0">
                <a:latin typeface="Arial"/>
                <a:cs typeface="Arial"/>
              </a:rPr>
              <a:t>and</a:t>
            </a:r>
          </a:p>
          <a:p>
            <a:pPr marL="354965">
              <a:lnSpc>
                <a:spcPts val="1839"/>
              </a:lnSpc>
            </a:pPr>
            <a:r>
              <a:rPr sz="1700" dirty="0">
                <a:latin typeface="Arial"/>
                <a:cs typeface="Arial"/>
              </a:rPr>
              <a:t>returns that index value </a:t>
            </a:r>
            <a:r>
              <a:rPr sz="1700" spc="-5" dirty="0">
                <a:latin typeface="Arial"/>
                <a:cs typeface="Arial"/>
              </a:rPr>
              <a:t>(if </a:t>
            </a:r>
            <a:r>
              <a:rPr sz="1700" dirty="0">
                <a:latin typeface="Arial"/>
                <a:cs typeface="Arial"/>
              </a:rPr>
              <a:t>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a:t>
            </a:r>
            <a:r>
              <a:rPr sz="1700" spc="65" dirty="0">
                <a:latin typeface="Arial"/>
                <a:cs typeface="Arial"/>
              </a:rPr>
              <a:t> </a:t>
            </a:r>
            <a:r>
              <a:rPr sz="1700" dirty="0">
                <a:latin typeface="Arial"/>
                <a:cs typeface="Arial"/>
              </a:rPr>
              <a:t>found)</a:t>
            </a:r>
          </a:p>
          <a:p>
            <a:pPr marL="354965" marR="5080" indent="-342900">
              <a:lnSpc>
                <a:spcPct val="80000"/>
              </a:lnSpc>
              <a:spcBef>
                <a:spcPts val="405"/>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indexOf(int </a:t>
            </a:r>
            <a:r>
              <a:rPr sz="1700" dirty="0">
                <a:solidFill>
                  <a:srgbClr val="FF0000"/>
                </a:solidFill>
                <a:latin typeface="Arial"/>
                <a:cs typeface="Arial"/>
              </a:rPr>
              <a:t>ch, int </a:t>
            </a:r>
            <a:r>
              <a:rPr sz="1700" spc="-5" dirty="0">
                <a:solidFill>
                  <a:srgbClr val="FF0000"/>
                </a:solidFill>
                <a:latin typeface="Arial"/>
                <a:cs typeface="Arial"/>
              </a:rPr>
              <a:t>startIndex) </a:t>
            </a:r>
            <a:r>
              <a:rPr sz="1700" dirty="0">
                <a:solidFill>
                  <a:srgbClr val="FF0000"/>
                </a:solidFill>
                <a:latin typeface="Wingdings"/>
                <a:cs typeface="Wingdings"/>
              </a:rPr>
              <a:t></a:t>
            </a:r>
            <a:r>
              <a:rPr sz="1700" dirty="0">
                <a:solidFill>
                  <a:srgbClr val="FF0000"/>
                </a:solidFill>
                <a:latin typeface="Times New Roman"/>
                <a:cs typeface="Times New Roman"/>
              </a:rPr>
              <a:t> </a:t>
            </a:r>
            <a:r>
              <a:rPr sz="1700" dirty="0">
                <a:latin typeface="Arial"/>
                <a:cs typeface="Arial"/>
              </a:rPr>
              <a:t>Searches </a:t>
            </a:r>
            <a:r>
              <a:rPr sz="1700" spc="-5" dirty="0">
                <a:latin typeface="Arial"/>
                <a:cs typeface="Arial"/>
              </a:rPr>
              <a:t>the </a:t>
            </a:r>
            <a:r>
              <a:rPr sz="1700" dirty="0">
                <a:latin typeface="Arial"/>
                <a:cs typeface="Arial"/>
              </a:rPr>
              <a:t>index of charcter </a:t>
            </a:r>
            <a:r>
              <a:rPr sz="1700" dirty="0">
                <a:solidFill>
                  <a:srgbClr val="FF0000"/>
                </a:solidFill>
                <a:latin typeface="Arial"/>
                <a:cs typeface="Arial"/>
              </a:rPr>
              <a:t>‘ch’ </a:t>
            </a:r>
            <a:r>
              <a:rPr sz="1700" dirty="0">
                <a:latin typeface="Arial"/>
                <a:cs typeface="Arial"/>
              </a:rPr>
              <a:t>in </a:t>
            </a:r>
            <a:r>
              <a:rPr sz="1700" dirty="0">
                <a:solidFill>
                  <a:srgbClr val="FF0000"/>
                </a:solidFill>
                <a:latin typeface="Arial"/>
                <a:cs typeface="Arial"/>
              </a:rPr>
              <a:t>this </a:t>
            </a:r>
            <a:r>
              <a:rPr sz="1700" spc="-5" dirty="0">
                <a:latin typeface="Arial"/>
                <a:cs typeface="Arial"/>
              </a:rPr>
              <a:t>string  starting from </a:t>
            </a:r>
            <a:r>
              <a:rPr sz="1700" spc="-5" dirty="0">
                <a:solidFill>
                  <a:srgbClr val="FF0000"/>
                </a:solidFill>
                <a:latin typeface="Arial"/>
                <a:cs typeface="Arial"/>
              </a:rPr>
              <a:t>startIndex </a:t>
            </a:r>
            <a:r>
              <a:rPr sz="1700" dirty="0">
                <a:latin typeface="Arial"/>
                <a:cs typeface="Arial"/>
              </a:rPr>
              <a:t>and returns </a:t>
            </a:r>
            <a:r>
              <a:rPr sz="1700" spc="-5" dirty="0">
                <a:latin typeface="Arial"/>
                <a:cs typeface="Arial"/>
              </a:rPr>
              <a:t>that </a:t>
            </a:r>
            <a:r>
              <a:rPr sz="1700" dirty="0">
                <a:latin typeface="Arial"/>
                <a:cs typeface="Arial"/>
              </a:rPr>
              <a:t>index value (if 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  found)</a:t>
            </a:r>
          </a:p>
          <a:p>
            <a:pPr marL="354965" marR="15875" indent="-342900">
              <a:lnSpc>
                <a:spcPts val="1630"/>
              </a:lnSpc>
              <a:spcBef>
                <a:spcPts val="400"/>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lastIndexOf(int </a:t>
            </a:r>
            <a:r>
              <a:rPr sz="1700" dirty="0">
                <a:solidFill>
                  <a:srgbClr val="FF0000"/>
                </a:solidFill>
                <a:latin typeface="Arial"/>
                <a:cs typeface="Arial"/>
              </a:rPr>
              <a:t>ch, int </a:t>
            </a:r>
            <a:r>
              <a:rPr sz="1700" spc="-5" dirty="0">
                <a:solidFill>
                  <a:srgbClr val="FF0000"/>
                </a:solidFill>
                <a:latin typeface="Arial"/>
                <a:cs typeface="Arial"/>
              </a:rPr>
              <a:t>startIndex) </a:t>
            </a:r>
            <a:r>
              <a:rPr sz="1700" dirty="0">
                <a:solidFill>
                  <a:srgbClr val="FF0000"/>
                </a:solidFill>
                <a:latin typeface="Wingdings"/>
                <a:cs typeface="Wingdings"/>
              </a:rPr>
              <a:t></a:t>
            </a:r>
            <a:r>
              <a:rPr sz="1700" dirty="0">
                <a:solidFill>
                  <a:srgbClr val="FF0000"/>
                </a:solidFill>
                <a:latin typeface="Times New Roman"/>
                <a:cs typeface="Times New Roman"/>
              </a:rPr>
              <a:t> </a:t>
            </a:r>
            <a:r>
              <a:rPr sz="1700" dirty="0">
                <a:latin typeface="Arial"/>
                <a:cs typeface="Arial"/>
              </a:rPr>
              <a:t>Searches </a:t>
            </a:r>
            <a:r>
              <a:rPr sz="1700" spc="-5" dirty="0">
                <a:latin typeface="Arial"/>
                <a:cs typeface="Arial"/>
              </a:rPr>
              <a:t>the </a:t>
            </a:r>
            <a:r>
              <a:rPr sz="1700" dirty="0">
                <a:latin typeface="Arial"/>
                <a:cs typeface="Arial"/>
              </a:rPr>
              <a:t>last index of character </a:t>
            </a:r>
            <a:r>
              <a:rPr sz="1700" dirty="0">
                <a:solidFill>
                  <a:srgbClr val="FF0000"/>
                </a:solidFill>
                <a:latin typeface="Arial"/>
                <a:cs typeface="Arial"/>
              </a:rPr>
              <a:t>‘ch’ </a:t>
            </a:r>
            <a:r>
              <a:rPr sz="1700" dirty="0">
                <a:latin typeface="Arial"/>
                <a:cs typeface="Arial"/>
              </a:rPr>
              <a:t>in </a:t>
            </a:r>
            <a:r>
              <a:rPr sz="1700" dirty="0">
                <a:solidFill>
                  <a:srgbClr val="FF0000"/>
                </a:solidFill>
                <a:latin typeface="Arial"/>
                <a:cs typeface="Arial"/>
              </a:rPr>
              <a:t>this </a:t>
            </a:r>
            <a:r>
              <a:rPr sz="1700" dirty="0">
                <a:latin typeface="Arial"/>
                <a:cs typeface="Arial"/>
              </a:rPr>
              <a:t> </a:t>
            </a:r>
            <a:r>
              <a:rPr sz="1700" spc="-5" dirty="0">
                <a:latin typeface="Arial"/>
                <a:cs typeface="Arial"/>
              </a:rPr>
              <a:t>string starting from </a:t>
            </a:r>
            <a:r>
              <a:rPr sz="1700" spc="-5" dirty="0">
                <a:solidFill>
                  <a:srgbClr val="FF0000"/>
                </a:solidFill>
                <a:latin typeface="Arial"/>
                <a:cs typeface="Arial"/>
              </a:rPr>
              <a:t>startIndex </a:t>
            </a:r>
            <a:r>
              <a:rPr sz="1700" dirty="0">
                <a:latin typeface="Arial"/>
                <a:cs typeface="Arial"/>
              </a:rPr>
              <a:t>and returns that index value </a:t>
            </a:r>
            <a:r>
              <a:rPr sz="1700" spc="-5" dirty="0">
                <a:latin typeface="Arial"/>
                <a:cs typeface="Arial"/>
              </a:rPr>
              <a:t>(if </a:t>
            </a:r>
            <a:r>
              <a:rPr sz="1700" dirty="0">
                <a:latin typeface="Arial"/>
                <a:cs typeface="Arial"/>
              </a:rPr>
              <a:t>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a:t>
            </a:r>
            <a:r>
              <a:rPr sz="1700" spc="-5" dirty="0">
                <a:latin typeface="Arial"/>
                <a:cs typeface="Arial"/>
              </a:rPr>
              <a:t> </a:t>
            </a:r>
            <a:r>
              <a:rPr sz="1700" dirty="0">
                <a:latin typeface="Arial"/>
                <a:cs typeface="Arial"/>
              </a:rPr>
              <a:t>found)</a:t>
            </a:r>
          </a:p>
          <a:p>
            <a:pPr marL="354965" marR="5080" indent="-342900">
              <a:lnSpc>
                <a:spcPts val="1630"/>
              </a:lnSpc>
              <a:spcBef>
                <a:spcPts val="415"/>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indexOf(String </a:t>
            </a:r>
            <a:r>
              <a:rPr sz="1700" spc="-30" dirty="0">
                <a:solidFill>
                  <a:srgbClr val="FF0000"/>
                </a:solidFill>
                <a:latin typeface="Arial"/>
                <a:cs typeface="Arial"/>
              </a:rPr>
              <a:t>str, </a:t>
            </a:r>
            <a:r>
              <a:rPr sz="1700" dirty="0">
                <a:solidFill>
                  <a:srgbClr val="FF0000"/>
                </a:solidFill>
                <a:latin typeface="Arial"/>
                <a:cs typeface="Arial"/>
              </a:rPr>
              <a:t>int </a:t>
            </a:r>
            <a:r>
              <a:rPr sz="1700" spc="-5" dirty="0">
                <a:solidFill>
                  <a:srgbClr val="FF0000"/>
                </a:solidFill>
                <a:latin typeface="Arial"/>
                <a:cs typeface="Arial"/>
              </a:rPr>
              <a:t>startIndex) </a:t>
            </a:r>
            <a:r>
              <a:rPr sz="1700" dirty="0">
                <a:solidFill>
                  <a:srgbClr val="FF0000"/>
                </a:solidFill>
                <a:latin typeface="Wingdings"/>
                <a:cs typeface="Wingdings"/>
              </a:rPr>
              <a:t></a:t>
            </a:r>
            <a:r>
              <a:rPr sz="1700" dirty="0">
                <a:solidFill>
                  <a:srgbClr val="FF0000"/>
                </a:solidFill>
                <a:latin typeface="Times New Roman"/>
                <a:cs typeface="Times New Roman"/>
              </a:rPr>
              <a:t> </a:t>
            </a:r>
            <a:r>
              <a:rPr sz="1700" dirty="0">
                <a:latin typeface="Arial"/>
                <a:cs typeface="Arial"/>
              </a:rPr>
              <a:t>Searches </a:t>
            </a:r>
            <a:r>
              <a:rPr sz="1700" spc="-5" dirty="0">
                <a:latin typeface="Arial"/>
                <a:cs typeface="Arial"/>
              </a:rPr>
              <a:t>the </a:t>
            </a:r>
            <a:r>
              <a:rPr sz="1700" dirty="0">
                <a:latin typeface="Arial"/>
                <a:cs typeface="Arial"/>
              </a:rPr>
              <a:t>index of </a:t>
            </a:r>
            <a:r>
              <a:rPr sz="1700" spc="-5" dirty="0">
                <a:latin typeface="Arial"/>
                <a:cs typeface="Arial"/>
              </a:rPr>
              <a:t>string </a:t>
            </a:r>
            <a:r>
              <a:rPr sz="1700" spc="-5" dirty="0">
                <a:solidFill>
                  <a:srgbClr val="FF0000"/>
                </a:solidFill>
                <a:latin typeface="Arial"/>
                <a:cs typeface="Arial"/>
              </a:rPr>
              <a:t>“str” </a:t>
            </a:r>
            <a:r>
              <a:rPr sz="1700" dirty="0">
                <a:latin typeface="Arial"/>
                <a:cs typeface="Arial"/>
              </a:rPr>
              <a:t>in </a:t>
            </a:r>
            <a:r>
              <a:rPr sz="1700" dirty="0">
                <a:solidFill>
                  <a:srgbClr val="FF0000"/>
                </a:solidFill>
                <a:latin typeface="Arial"/>
                <a:cs typeface="Arial"/>
              </a:rPr>
              <a:t>this </a:t>
            </a:r>
            <a:r>
              <a:rPr sz="1700" spc="-5" dirty="0">
                <a:latin typeface="Arial"/>
                <a:cs typeface="Arial"/>
              </a:rPr>
              <a:t>string  starting from </a:t>
            </a:r>
            <a:r>
              <a:rPr sz="1700" spc="-5" dirty="0">
                <a:solidFill>
                  <a:srgbClr val="FF0000"/>
                </a:solidFill>
                <a:latin typeface="Arial"/>
                <a:cs typeface="Arial"/>
              </a:rPr>
              <a:t>startIndex </a:t>
            </a:r>
            <a:r>
              <a:rPr sz="1700" dirty="0">
                <a:latin typeface="Arial"/>
                <a:cs typeface="Arial"/>
              </a:rPr>
              <a:t>and returns </a:t>
            </a:r>
            <a:r>
              <a:rPr sz="1700" spc="-5" dirty="0">
                <a:latin typeface="Arial"/>
                <a:cs typeface="Arial"/>
              </a:rPr>
              <a:t>that </a:t>
            </a:r>
            <a:r>
              <a:rPr sz="1700" dirty="0">
                <a:latin typeface="Arial"/>
                <a:cs typeface="Arial"/>
              </a:rPr>
              <a:t>index value (if 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  found)</a:t>
            </a:r>
          </a:p>
          <a:p>
            <a:pPr marL="354965" marR="15875" indent="-342900">
              <a:lnSpc>
                <a:spcPct val="80100"/>
              </a:lnSpc>
              <a:spcBef>
                <a:spcPts val="425"/>
              </a:spcBef>
              <a:buClr>
                <a:srgbClr val="0F1141"/>
              </a:buClr>
              <a:buChar char="•"/>
              <a:tabLst>
                <a:tab pos="354965" algn="l"/>
                <a:tab pos="355600" algn="l"/>
              </a:tabLst>
            </a:pPr>
            <a:r>
              <a:rPr sz="1700" dirty="0">
                <a:solidFill>
                  <a:srgbClr val="FF0000"/>
                </a:solidFill>
                <a:latin typeface="Arial"/>
                <a:cs typeface="Arial"/>
              </a:rPr>
              <a:t>int </a:t>
            </a:r>
            <a:r>
              <a:rPr sz="1700" spc="-5" dirty="0">
                <a:solidFill>
                  <a:srgbClr val="FF0000"/>
                </a:solidFill>
                <a:latin typeface="Arial"/>
                <a:cs typeface="Arial"/>
              </a:rPr>
              <a:t>lastIndexOf(String </a:t>
            </a:r>
            <a:r>
              <a:rPr sz="1700" spc="-30" dirty="0">
                <a:solidFill>
                  <a:srgbClr val="FF0000"/>
                </a:solidFill>
                <a:latin typeface="Arial"/>
                <a:cs typeface="Arial"/>
              </a:rPr>
              <a:t>str, </a:t>
            </a:r>
            <a:r>
              <a:rPr sz="1700" dirty="0">
                <a:solidFill>
                  <a:srgbClr val="FF0000"/>
                </a:solidFill>
                <a:latin typeface="Arial"/>
                <a:cs typeface="Arial"/>
              </a:rPr>
              <a:t>int </a:t>
            </a:r>
            <a:r>
              <a:rPr sz="1700" spc="-5" dirty="0">
                <a:solidFill>
                  <a:srgbClr val="FF0000"/>
                </a:solidFill>
                <a:latin typeface="Arial"/>
                <a:cs typeface="Arial"/>
              </a:rPr>
              <a:t>startIndex) </a:t>
            </a:r>
            <a:r>
              <a:rPr sz="1700" spc="5" dirty="0">
                <a:solidFill>
                  <a:srgbClr val="FF0000"/>
                </a:solidFill>
                <a:latin typeface="Wingdings"/>
                <a:cs typeface="Wingdings"/>
              </a:rPr>
              <a:t></a:t>
            </a:r>
            <a:r>
              <a:rPr sz="1700" spc="5" dirty="0">
                <a:solidFill>
                  <a:srgbClr val="FF0000"/>
                </a:solidFill>
                <a:latin typeface="Times New Roman"/>
                <a:cs typeface="Times New Roman"/>
              </a:rPr>
              <a:t> </a:t>
            </a:r>
            <a:r>
              <a:rPr sz="1700" dirty="0">
                <a:latin typeface="Arial"/>
                <a:cs typeface="Arial"/>
              </a:rPr>
              <a:t>Searches the last index of string </a:t>
            </a:r>
            <a:r>
              <a:rPr sz="1700" spc="-5" dirty="0">
                <a:solidFill>
                  <a:srgbClr val="FF0000"/>
                </a:solidFill>
                <a:latin typeface="Arial"/>
                <a:cs typeface="Arial"/>
              </a:rPr>
              <a:t>“str” </a:t>
            </a:r>
            <a:r>
              <a:rPr sz="1700" dirty="0">
                <a:latin typeface="Arial"/>
                <a:cs typeface="Arial"/>
              </a:rPr>
              <a:t>in </a:t>
            </a:r>
            <a:r>
              <a:rPr sz="1700" spc="-5" dirty="0">
                <a:solidFill>
                  <a:srgbClr val="FF0000"/>
                </a:solidFill>
                <a:latin typeface="Arial"/>
                <a:cs typeface="Arial"/>
              </a:rPr>
              <a:t>this </a:t>
            </a:r>
            <a:r>
              <a:rPr sz="1700" spc="-5" dirty="0">
                <a:latin typeface="Arial"/>
                <a:cs typeface="Arial"/>
              </a:rPr>
              <a:t> string starting from </a:t>
            </a:r>
            <a:r>
              <a:rPr sz="1700" spc="-5" dirty="0">
                <a:solidFill>
                  <a:srgbClr val="FF0000"/>
                </a:solidFill>
                <a:latin typeface="Arial"/>
                <a:cs typeface="Arial"/>
              </a:rPr>
              <a:t>startIndex </a:t>
            </a:r>
            <a:r>
              <a:rPr sz="1700" dirty="0">
                <a:latin typeface="Arial"/>
                <a:cs typeface="Arial"/>
              </a:rPr>
              <a:t>and returns that index value </a:t>
            </a:r>
            <a:r>
              <a:rPr sz="1700" spc="-5" dirty="0">
                <a:latin typeface="Arial"/>
                <a:cs typeface="Arial"/>
              </a:rPr>
              <a:t>(if </a:t>
            </a:r>
            <a:r>
              <a:rPr sz="1700" dirty="0">
                <a:latin typeface="Arial"/>
                <a:cs typeface="Arial"/>
              </a:rPr>
              <a:t>found) </a:t>
            </a:r>
            <a:r>
              <a:rPr sz="1700" spc="-5" dirty="0">
                <a:latin typeface="Arial"/>
                <a:cs typeface="Arial"/>
              </a:rPr>
              <a:t>otherwise </a:t>
            </a:r>
            <a:r>
              <a:rPr sz="1700" dirty="0">
                <a:latin typeface="Arial"/>
                <a:cs typeface="Arial"/>
              </a:rPr>
              <a:t>returns </a:t>
            </a:r>
            <a:r>
              <a:rPr sz="1700" spc="-5" dirty="0">
                <a:latin typeface="Arial"/>
                <a:cs typeface="Arial"/>
              </a:rPr>
              <a:t>-1  </a:t>
            </a:r>
            <a:r>
              <a:rPr sz="1700" dirty="0">
                <a:latin typeface="Arial"/>
                <a:cs typeface="Arial"/>
              </a:rPr>
              <a:t>(if not</a:t>
            </a:r>
            <a:r>
              <a:rPr sz="1700" spc="-5" dirty="0">
                <a:latin typeface="Arial"/>
                <a:cs typeface="Arial"/>
              </a:rPr>
              <a:t> </a:t>
            </a:r>
            <a:r>
              <a:rPr sz="1700" dirty="0">
                <a:latin typeface="Arial"/>
                <a:cs typeface="Arial"/>
              </a:rPr>
              <a:t>found)</a:t>
            </a:r>
          </a:p>
        </p:txBody>
      </p:sp>
      <p:sp>
        <p:nvSpPr>
          <p:cNvPr id="3" name="object 3"/>
          <p:cNvSpPr txBox="1">
            <a:spLocks noGrp="1"/>
          </p:cNvSpPr>
          <p:nvPr>
            <p:ph type="title"/>
          </p:nvPr>
        </p:nvSpPr>
        <p:spPr>
          <a:xfrm>
            <a:off x="383540" y="150621"/>
            <a:ext cx="5811520" cy="1031240"/>
          </a:xfrm>
          <a:prstGeom prst="rect">
            <a:avLst/>
          </a:prstGeom>
        </p:spPr>
        <p:txBody>
          <a:bodyPr vert="horz" wrap="square" lIns="0" tIns="104139" rIns="0" bIns="0" rtlCol="0">
            <a:spAutoFit/>
          </a:bodyPr>
          <a:lstStyle/>
          <a:p>
            <a:pPr marL="12700" marR="5080">
              <a:lnSpc>
                <a:spcPts val="3600"/>
              </a:lnSpc>
              <a:spcBef>
                <a:spcPts val="819"/>
              </a:spcBef>
            </a:pPr>
            <a:r>
              <a:rPr sz="3600" i="0" spc="-145" dirty="0">
                <a:solidFill>
                  <a:srgbClr val="000000"/>
                </a:solidFill>
                <a:latin typeface="Arial"/>
                <a:cs typeface="Arial"/>
              </a:rPr>
              <a:t>Searching </a:t>
            </a:r>
            <a:r>
              <a:rPr sz="3600" i="0" spc="-140" dirty="0">
                <a:solidFill>
                  <a:srgbClr val="000000"/>
                </a:solidFill>
                <a:latin typeface="Arial"/>
                <a:cs typeface="Arial"/>
              </a:rPr>
              <a:t>Strings </a:t>
            </a:r>
            <a:r>
              <a:rPr sz="3600" i="0" dirty="0">
                <a:solidFill>
                  <a:srgbClr val="000000"/>
                </a:solidFill>
                <a:latin typeface="Arial"/>
                <a:cs typeface="Arial"/>
              </a:rPr>
              <a:t>:</a:t>
            </a:r>
            <a:r>
              <a:rPr sz="3600" i="0" spc="-565" dirty="0">
                <a:solidFill>
                  <a:srgbClr val="000000"/>
                </a:solidFill>
                <a:latin typeface="Arial"/>
                <a:cs typeface="Arial"/>
              </a:rPr>
              <a:t> </a:t>
            </a:r>
            <a:r>
              <a:rPr sz="3600" i="0" spc="-140" dirty="0">
                <a:solidFill>
                  <a:srgbClr val="000000"/>
                </a:solidFill>
                <a:latin typeface="Arial"/>
                <a:cs typeface="Arial"/>
              </a:rPr>
              <a:t>indexOf()  </a:t>
            </a:r>
            <a:r>
              <a:rPr sz="3600" i="0" spc="-105" dirty="0">
                <a:solidFill>
                  <a:srgbClr val="000000"/>
                </a:solidFill>
                <a:latin typeface="Arial"/>
                <a:cs typeface="Arial"/>
              </a:rPr>
              <a:t>and</a:t>
            </a:r>
            <a:r>
              <a:rPr sz="3600" i="0" spc="-290" dirty="0">
                <a:solidFill>
                  <a:srgbClr val="000000"/>
                </a:solidFill>
                <a:latin typeface="Arial"/>
                <a:cs typeface="Arial"/>
              </a:rPr>
              <a:t> </a:t>
            </a:r>
            <a:r>
              <a:rPr sz="3600" i="0" spc="-155" dirty="0">
                <a:solidFill>
                  <a:srgbClr val="000000"/>
                </a:solidFill>
                <a:latin typeface="Arial"/>
                <a:cs typeface="Arial"/>
              </a:rPr>
              <a:t>lastIndexOf()</a:t>
            </a:r>
            <a:endParaRPr sz="360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5811520" cy="1031240"/>
          </a:xfrm>
          <a:prstGeom prst="rect">
            <a:avLst/>
          </a:prstGeom>
        </p:spPr>
        <p:txBody>
          <a:bodyPr vert="horz" wrap="square" lIns="0" tIns="104139" rIns="0" bIns="0" rtlCol="0">
            <a:spAutoFit/>
          </a:bodyPr>
          <a:lstStyle/>
          <a:p>
            <a:pPr marL="12700" marR="5080">
              <a:lnSpc>
                <a:spcPts val="3600"/>
              </a:lnSpc>
              <a:spcBef>
                <a:spcPts val="819"/>
              </a:spcBef>
            </a:pPr>
            <a:r>
              <a:rPr sz="3600" i="0" spc="-145" dirty="0">
                <a:solidFill>
                  <a:srgbClr val="000000"/>
                </a:solidFill>
                <a:latin typeface="Arial"/>
                <a:cs typeface="Arial"/>
              </a:rPr>
              <a:t>Searching </a:t>
            </a:r>
            <a:r>
              <a:rPr sz="3600" i="0" spc="-140" dirty="0">
                <a:solidFill>
                  <a:srgbClr val="000000"/>
                </a:solidFill>
                <a:latin typeface="Arial"/>
                <a:cs typeface="Arial"/>
              </a:rPr>
              <a:t>Strings </a:t>
            </a:r>
            <a:r>
              <a:rPr sz="3600" i="0" dirty="0">
                <a:solidFill>
                  <a:srgbClr val="000000"/>
                </a:solidFill>
                <a:latin typeface="Arial"/>
                <a:cs typeface="Arial"/>
              </a:rPr>
              <a:t>:</a:t>
            </a:r>
            <a:r>
              <a:rPr sz="3600" i="0" spc="-565" dirty="0">
                <a:solidFill>
                  <a:srgbClr val="000000"/>
                </a:solidFill>
                <a:latin typeface="Arial"/>
                <a:cs typeface="Arial"/>
              </a:rPr>
              <a:t> </a:t>
            </a:r>
            <a:r>
              <a:rPr sz="3600" i="0" spc="-140" dirty="0">
                <a:solidFill>
                  <a:srgbClr val="000000"/>
                </a:solidFill>
                <a:latin typeface="Arial"/>
                <a:cs typeface="Arial"/>
              </a:rPr>
              <a:t>indexOf()  </a:t>
            </a:r>
            <a:r>
              <a:rPr sz="3600" i="0" spc="-105" dirty="0">
                <a:solidFill>
                  <a:srgbClr val="000000"/>
                </a:solidFill>
                <a:latin typeface="Arial"/>
                <a:cs typeface="Arial"/>
              </a:rPr>
              <a:t>and </a:t>
            </a:r>
            <a:r>
              <a:rPr sz="3600" i="0" spc="-145" dirty="0">
                <a:solidFill>
                  <a:srgbClr val="000000"/>
                </a:solidFill>
                <a:latin typeface="Arial"/>
                <a:cs typeface="Arial"/>
              </a:rPr>
              <a:t>lastIndexOf() </a:t>
            </a:r>
            <a:r>
              <a:rPr sz="3600" i="0" dirty="0">
                <a:solidFill>
                  <a:srgbClr val="000000"/>
                </a:solidFill>
                <a:latin typeface="Arial"/>
                <a:cs typeface="Arial"/>
              </a:rPr>
              <a:t>:</a:t>
            </a:r>
            <a:r>
              <a:rPr sz="3600" i="0" spc="-615" dirty="0">
                <a:solidFill>
                  <a:srgbClr val="000000"/>
                </a:solidFill>
                <a:latin typeface="Arial"/>
                <a:cs typeface="Arial"/>
              </a:rPr>
              <a:t> </a:t>
            </a:r>
            <a:r>
              <a:rPr sz="3600" i="0" spc="-140" dirty="0">
                <a:solidFill>
                  <a:srgbClr val="000000"/>
                </a:solidFill>
                <a:latin typeface="Arial"/>
                <a:cs typeface="Arial"/>
              </a:rPr>
              <a:t>Example</a:t>
            </a:r>
            <a:endParaRPr sz="3600" dirty="0">
              <a:latin typeface="Arial"/>
              <a:cs typeface="Arial"/>
            </a:endParaRPr>
          </a:p>
        </p:txBody>
      </p:sp>
      <p:graphicFrame>
        <p:nvGraphicFramePr>
          <p:cNvPr id="3" name="object 3"/>
          <p:cNvGraphicFramePr>
            <a:graphicFrameLocks noGrp="1"/>
          </p:cNvGraphicFramePr>
          <p:nvPr/>
        </p:nvGraphicFramePr>
        <p:xfrm>
          <a:off x="364490" y="1572894"/>
          <a:ext cx="5909945" cy="502919"/>
        </p:xfrm>
        <a:graphic>
          <a:graphicData uri="http://schemas.openxmlformats.org/drawingml/2006/table">
            <a:tbl>
              <a:tblPr firstRow="1" bandRow="1">
                <a:tableStyleId>{2D5ABB26-0587-4C30-8999-92F81FD0307C}</a:tableStyleId>
              </a:tblPr>
              <a:tblGrid>
                <a:gridCol w="767080">
                  <a:extLst>
                    <a:ext uri="{9D8B030D-6E8A-4147-A177-3AD203B41FA5}">
                      <a16:colId xmlns:a16="http://schemas.microsoft.com/office/drawing/2014/main" val="20000"/>
                    </a:ext>
                  </a:extLst>
                </a:gridCol>
                <a:gridCol w="681990">
                  <a:extLst>
                    <a:ext uri="{9D8B030D-6E8A-4147-A177-3AD203B41FA5}">
                      <a16:colId xmlns:a16="http://schemas.microsoft.com/office/drawing/2014/main" val="20001"/>
                    </a:ext>
                  </a:extLst>
                </a:gridCol>
                <a:gridCol w="925830">
                  <a:extLst>
                    <a:ext uri="{9D8B030D-6E8A-4147-A177-3AD203B41FA5}">
                      <a16:colId xmlns:a16="http://schemas.microsoft.com/office/drawing/2014/main" val="20002"/>
                    </a:ext>
                  </a:extLst>
                </a:gridCol>
                <a:gridCol w="3535045">
                  <a:extLst>
                    <a:ext uri="{9D8B030D-6E8A-4147-A177-3AD203B41FA5}">
                      <a16:colId xmlns:a16="http://schemas.microsoft.com/office/drawing/2014/main" val="20003"/>
                    </a:ext>
                  </a:extLst>
                </a:gridCol>
              </a:tblGrid>
              <a:tr h="251459">
                <a:tc>
                  <a:txBody>
                    <a:bodyPr/>
                    <a:lstStyle/>
                    <a:p>
                      <a:pPr marL="31750">
                        <a:lnSpc>
                          <a:spcPts val="1710"/>
                        </a:lnSpc>
                      </a:pPr>
                      <a:r>
                        <a:rPr sz="1800" b="1" dirty="0">
                          <a:solidFill>
                            <a:srgbClr val="FF0000"/>
                          </a:solidFill>
                          <a:latin typeface="Calibri"/>
                          <a:cs typeface="Calibri"/>
                        </a:rPr>
                        <a:t>String</a:t>
                      </a:r>
                      <a:endParaRPr sz="1800">
                        <a:latin typeface="Calibri"/>
                        <a:cs typeface="Calibri"/>
                      </a:endParaRPr>
                    </a:p>
                  </a:txBody>
                  <a:tcPr marL="0" marR="0" marT="0" marB="0"/>
                </a:tc>
                <a:tc>
                  <a:txBody>
                    <a:bodyPr/>
                    <a:lstStyle/>
                    <a:p>
                      <a:pPr marL="179070">
                        <a:lnSpc>
                          <a:spcPts val="1710"/>
                        </a:lnSpc>
                      </a:pPr>
                      <a:r>
                        <a:rPr sz="1800" b="1" dirty="0">
                          <a:solidFill>
                            <a:srgbClr val="FF0000"/>
                          </a:solidFill>
                          <a:latin typeface="Calibri"/>
                          <a:cs typeface="Calibri"/>
                        </a:rPr>
                        <a:t>s</a:t>
                      </a:r>
                      <a:endParaRPr sz="1800">
                        <a:latin typeface="Calibri"/>
                        <a:cs typeface="Calibri"/>
                      </a:endParaRPr>
                    </a:p>
                  </a:txBody>
                  <a:tcPr marL="0" marR="0" marT="0" marB="0"/>
                </a:tc>
                <a:tc>
                  <a:txBody>
                    <a:bodyPr/>
                    <a:lstStyle/>
                    <a:p>
                      <a:pPr marL="10795" algn="ctr">
                        <a:lnSpc>
                          <a:spcPts val="1710"/>
                        </a:lnSpc>
                      </a:pPr>
                      <a:r>
                        <a:rPr sz="1800" b="1" dirty="0">
                          <a:solidFill>
                            <a:srgbClr val="FF0000"/>
                          </a:solidFill>
                          <a:latin typeface="Calibri"/>
                          <a:cs typeface="Calibri"/>
                        </a:rPr>
                        <a:t>=</a:t>
                      </a:r>
                      <a:endParaRPr sz="1800">
                        <a:latin typeface="Calibri"/>
                        <a:cs typeface="Calibri"/>
                      </a:endParaRPr>
                    </a:p>
                  </a:txBody>
                  <a:tcPr marL="0" marR="0" marT="0" marB="0"/>
                </a:tc>
                <a:tc>
                  <a:txBody>
                    <a:bodyPr/>
                    <a:lstStyle/>
                    <a:p>
                      <a:pPr marR="24130" algn="r">
                        <a:lnSpc>
                          <a:spcPts val="1710"/>
                        </a:lnSpc>
                      </a:pPr>
                      <a:r>
                        <a:rPr sz="1800" b="1" spc="-5" dirty="0">
                          <a:solidFill>
                            <a:srgbClr val="FF0000"/>
                          </a:solidFill>
                          <a:latin typeface="Calibri"/>
                          <a:cs typeface="Calibri"/>
                        </a:rPr>
                        <a:t>"Now </a:t>
                      </a:r>
                      <a:r>
                        <a:rPr sz="1800" b="1" dirty="0">
                          <a:solidFill>
                            <a:srgbClr val="FF0000"/>
                          </a:solidFill>
                          <a:latin typeface="Calibri"/>
                          <a:cs typeface="Calibri"/>
                        </a:rPr>
                        <a:t>is the </a:t>
                      </a:r>
                      <a:r>
                        <a:rPr sz="1800" b="1" spc="-5" dirty="0">
                          <a:solidFill>
                            <a:srgbClr val="FF0000"/>
                          </a:solidFill>
                          <a:latin typeface="Calibri"/>
                          <a:cs typeface="Calibri"/>
                        </a:rPr>
                        <a:t>Time </a:t>
                      </a:r>
                      <a:r>
                        <a:rPr sz="1800" b="1" spc="-10" dirty="0">
                          <a:solidFill>
                            <a:srgbClr val="FF0000"/>
                          </a:solidFill>
                          <a:latin typeface="Calibri"/>
                          <a:cs typeface="Calibri"/>
                        </a:rPr>
                        <a:t>For </a:t>
                      </a:r>
                      <a:r>
                        <a:rPr sz="1800" b="1" dirty="0">
                          <a:solidFill>
                            <a:srgbClr val="FF0000"/>
                          </a:solidFill>
                          <a:latin typeface="Calibri"/>
                          <a:cs typeface="Calibri"/>
                        </a:rPr>
                        <a:t>All</a:t>
                      </a:r>
                      <a:r>
                        <a:rPr sz="1800" b="1" spc="-85" dirty="0">
                          <a:solidFill>
                            <a:srgbClr val="FF0000"/>
                          </a:solidFill>
                          <a:latin typeface="Calibri"/>
                          <a:cs typeface="Calibri"/>
                        </a:rPr>
                        <a:t> </a:t>
                      </a:r>
                      <a:r>
                        <a:rPr sz="1800" b="1" spc="-5" dirty="0">
                          <a:solidFill>
                            <a:srgbClr val="FF0000"/>
                          </a:solidFill>
                          <a:latin typeface="Calibri"/>
                          <a:cs typeface="Calibri"/>
                        </a:rPr>
                        <a:t>Indian";</a:t>
                      </a:r>
                      <a:endParaRPr sz="1800">
                        <a:latin typeface="Calibri"/>
                        <a:cs typeface="Calibri"/>
                      </a:endParaRPr>
                    </a:p>
                  </a:txBody>
                  <a:tcPr marL="0" marR="0" marT="0" marB="0"/>
                </a:tc>
                <a:extLst>
                  <a:ext uri="{0D108BD9-81ED-4DB2-BD59-A6C34878D82A}">
                    <a16:rowId xmlns:a16="http://schemas.microsoft.com/office/drawing/2014/main" val="10000"/>
                  </a:ext>
                </a:extLst>
              </a:tr>
              <a:tr h="251460">
                <a:tc>
                  <a:txBody>
                    <a:bodyPr/>
                    <a:lstStyle/>
                    <a:p>
                      <a:pPr>
                        <a:lnSpc>
                          <a:spcPct val="100000"/>
                        </a:lnSpc>
                      </a:pPr>
                      <a:endParaRPr sz="1500">
                        <a:latin typeface="Times New Roman"/>
                        <a:cs typeface="Times New Roman"/>
                      </a:endParaRPr>
                    </a:p>
                  </a:txBody>
                  <a:tcPr marL="0" marR="0" marT="0" marB="0"/>
                </a:tc>
                <a:tc>
                  <a:txBody>
                    <a:bodyPr/>
                    <a:lstStyle/>
                    <a:p>
                      <a:pPr marL="179070">
                        <a:lnSpc>
                          <a:spcPts val="1880"/>
                        </a:lnSpc>
                      </a:pPr>
                      <a:r>
                        <a:rPr sz="1800" b="1" dirty="0">
                          <a:solidFill>
                            <a:srgbClr val="FF0000"/>
                          </a:solidFill>
                          <a:latin typeface="Calibri"/>
                          <a:cs typeface="Calibri"/>
                        </a:rPr>
                        <a:t>s</a:t>
                      </a:r>
                      <a:endParaRPr sz="1800">
                        <a:latin typeface="Calibri"/>
                        <a:cs typeface="Calibri"/>
                      </a:endParaRPr>
                    </a:p>
                  </a:txBody>
                  <a:tcPr marL="0" marR="0" marT="0" marB="0"/>
                </a:tc>
                <a:tc>
                  <a:txBody>
                    <a:bodyPr/>
                    <a:lstStyle/>
                    <a:p>
                      <a:pPr marL="10795" algn="ctr">
                        <a:lnSpc>
                          <a:spcPts val="1880"/>
                        </a:lnSpc>
                      </a:pPr>
                      <a:r>
                        <a:rPr sz="1800" b="1" dirty="0">
                          <a:solidFill>
                            <a:srgbClr val="FF0000"/>
                          </a:solidFill>
                          <a:latin typeface="Calibri"/>
                          <a:cs typeface="Calibri"/>
                        </a:rPr>
                        <a:t>=</a:t>
                      </a:r>
                      <a:endParaRPr sz="1800">
                        <a:latin typeface="Calibri"/>
                        <a:cs typeface="Calibri"/>
                      </a:endParaRPr>
                    </a:p>
                  </a:txBody>
                  <a:tcPr marL="0" marR="0" marT="0" marB="0"/>
                </a:tc>
                <a:tc>
                  <a:txBody>
                    <a:bodyPr/>
                    <a:lstStyle/>
                    <a:p>
                      <a:pPr marR="45085" algn="r">
                        <a:lnSpc>
                          <a:spcPts val="1880"/>
                        </a:lnSpc>
                      </a:pPr>
                      <a:r>
                        <a:rPr sz="1800" b="1" dirty="0">
                          <a:solidFill>
                            <a:srgbClr val="FF0000"/>
                          </a:solidFill>
                          <a:latin typeface="Calibri"/>
                          <a:cs typeface="Calibri"/>
                        </a:rPr>
                        <a:t>s + </a:t>
                      </a:r>
                      <a:r>
                        <a:rPr sz="1800" b="1" spc="-5" dirty="0">
                          <a:solidFill>
                            <a:srgbClr val="FF0000"/>
                          </a:solidFill>
                          <a:latin typeface="Calibri"/>
                          <a:cs typeface="Calibri"/>
                        </a:rPr>
                        <a:t>"to come </a:t>
                      </a:r>
                      <a:r>
                        <a:rPr sz="1800" b="1" spc="-10" dirty="0">
                          <a:solidFill>
                            <a:srgbClr val="FF0000"/>
                          </a:solidFill>
                          <a:latin typeface="Calibri"/>
                          <a:cs typeface="Calibri"/>
                        </a:rPr>
                        <a:t>to </a:t>
                      </a:r>
                      <a:r>
                        <a:rPr sz="1800" b="1" dirty="0">
                          <a:solidFill>
                            <a:srgbClr val="FF0000"/>
                          </a:solidFill>
                          <a:latin typeface="Calibri"/>
                          <a:cs typeface="Calibri"/>
                        </a:rPr>
                        <a:t>the aid of</a:t>
                      </a:r>
                      <a:r>
                        <a:rPr sz="1800" b="1" spc="-95" dirty="0">
                          <a:solidFill>
                            <a:srgbClr val="FF0000"/>
                          </a:solidFill>
                          <a:latin typeface="Calibri"/>
                          <a:cs typeface="Calibri"/>
                        </a:rPr>
                        <a:t> </a:t>
                      </a:r>
                      <a:r>
                        <a:rPr sz="1800" b="1" dirty="0">
                          <a:solidFill>
                            <a:srgbClr val="FF0000"/>
                          </a:solidFill>
                          <a:latin typeface="Calibri"/>
                          <a:cs typeface="Calibri"/>
                        </a:rPr>
                        <a:t>India";</a:t>
                      </a:r>
                      <a:endParaRPr sz="1800">
                        <a:latin typeface="Calibri"/>
                        <a:cs typeface="Calibri"/>
                      </a:endParaRPr>
                    </a:p>
                  </a:txBody>
                  <a:tcPr marL="0" marR="0" marT="0" marB="0"/>
                </a:tc>
                <a:extLst>
                  <a:ext uri="{0D108BD9-81ED-4DB2-BD59-A6C34878D82A}">
                    <a16:rowId xmlns:a16="http://schemas.microsoft.com/office/drawing/2014/main" val="10001"/>
                  </a:ext>
                </a:extLst>
              </a:tr>
            </a:tbl>
          </a:graphicData>
        </a:graphic>
      </p:graphicFrame>
      <p:grpSp>
        <p:nvGrpSpPr>
          <p:cNvPr id="4" name="object 4"/>
          <p:cNvGrpSpPr/>
          <p:nvPr/>
        </p:nvGrpSpPr>
        <p:grpSpPr>
          <a:xfrm>
            <a:off x="3695700" y="2368295"/>
            <a:ext cx="3770629" cy="314325"/>
            <a:chOff x="3695700" y="2368295"/>
            <a:chExt cx="3770629" cy="314325"/>
          </a:xfrm>
        </p:grpSpPr>
        <p:sp>
          <p:nvSpPr>
            <p:cNvPr id="5" name="object 5"/>
            <p:cNvSpPr/>
            <p:nvPr/>
          </p:nvSpPr>
          <p:spPr>
            <a:xfrm>
              <a:off x="3708653" y="2381249"/>
              <a:ext cx="3744595" cy="288290"/>
            </a:xfrm>
            <a:custGeom>
              <a:avLst/>
              <a:gdLst/>
              <a:ahLst/>
              <a:cxnLst/>
              <a:rect l="l" t="t" r="r" b="b"/>
              <a:pathLst>
                <a:path w="3744595" h="288289">
                  <a:moveTo>
                    <a:pt x="3600450" y="0"/>
                  </a:moveTo>
                  <a:lnTo>
                    <a:pt x="3600450" y="72009"/>
                  </a:lnTo>
                  <a:lnTo>
                    <a:pt x="0" y="72009"/>
                  </a:lnTo>
                  <a:lnTo>
                    <a:pt x="0" y="216026"/>
                  </a:lnTo>
                  <a:lnTo>
                    <a:pt x="3600450" y="216026"/>
                  </a:lnTo>
                  <a:lnTo>
                    <a:pt x="3600450" y="288036"/>
                  </a:lnTo>
                  <a:lnTo>
                    <a:pt x="3744468" y="144017"/>
                  </a:lnTo>
                  <a:lnTo>
                    <a:pt x="3600450" y="0"/>
                  </a:lnTo>
                  <a:close/>
                </a:path>
              </a:pathLst>
            </a:custGeom>
            <a:solidFill>
              <a:srgbClr val="4F81BC"/>
            </a:solidFill>
          </p:spPr>
          <p:txBody>
            <a:bodyPr wrap="square" lIns="0" tIns="0" rIns="0" bIns="0" rtlCol="0"/>
            <a:lstStyle/>
            <a:p>
              <a:endParaRPr/>
            </a:p>
          </p:txBody>
        </p:sp>
        <p:sp>
          <p:nvSpPr>
            <p:cNvPr id="6" name="object 6"/>
            <p:cNvSpPr/>
            <p:nvPr/>
          </p:nvSpPr>
          <p:spPr>
            <a:xfrm>
              <a:off x="3708653" y="2381249"/>
              <a:ext cx="3744595" cy="288290"/>
            </a:xfrm>
            <a:custGeom>
              <a:avLst/>
              <a:gdLst/>
              <a:ahLst/>
              <a:cxnLst/>
              <a:rect l="l" t="t" r="r" b="b"/>
              <a:pathLst>
                <a:path w="3744595" h="288289">
                  <a:moveTo>
                    <a:pt x="0" y="72009"/>
                  </a:moveTo>
                  <a:lnTo>
                    <a:pt x="3600450" y="72009"/>
                  </a:lnTo>
                  <a:lnTo>
                    <a:pt x="3600450" y="0"/>
                  </a:lnTo>
                  <a:lnTo>
                    <a:pt x="3744468" y="144017"/>
                  </a:lnTo>
                  <a:lnTo>
                    <a:pt x="3600450" y="288036"/>
                  </a:lnTo>
                  <a:lnTo>
                    <a:pt x="3600450" y="216026"/>
                  </a:lnTo>
                  <a:lnTo>
                    <a:pt x="0" y="216026"/>
                  </a:lnTo>
                  <a:lnTo>
                    <a:pt x="0" y="72009"/>
                  </a:lnTo>
                  <a:close/>
                </a:path>
              </a:pathLst>
            </a:custGeom>
            <a:ln w="25908">
              <a:solidFill>
                <a:srgbClr val="385D89"/>
              </a:solidFill>
            </a:ln>
          </p:spPr>
          <p:txBody>
            <a:bodyPr wrap="square" lIns="0" tIns="0" rIns="0" bIns="0" rtlCol="0"/>
            <a:lstStyle/>
            <a:p>
              <a:endParaRPr/>
            </a:p>
          </p:txBody>
        </p:sp>
      </p:grpSp>
      <p:grpSp>
        <p:nvGrpSpPr>
          <p:cNvPr id="7" name="object 7"/>
          <p:cNvGrpSpPr/>
          <p:nvPr/>
        </p:nvGrpSpPr>
        <p:grpSpPr>
          <a:xfrm>
            <a:off x="3695700" y="2904744"/>
            <a:ext cx="3770629" cy="314325"/>
            <a:chOff x="3695700" y="2904744"/>
            <a:chExt cx="3770629" cy="314325"/>
          </a:xfrm>
        </p:grpSpPr>
        <p:sp>
          <p:nvSpPr>
            <p:cNvPr id="8" name="object 8"/>
            <p:cNvSpPr/>
            <p:nvPr/>
          </p:nvSpPr>
          <p:spPr>
            <a:xfrm>
              <a:off x="3708653" y="2917698"/>
              <a:ext cx="3744595" cy="288290"/>
            </a:xfrm>
            <a:custGeom>
              <a:avLst/>
              <a:gdLst/>
              <a:ahLst/>
              <a:cxnLst/>
              <a:rect l="l" t="t" r="r" b="b"/>
              <a:pathLst>
                <a:path w="3744595" h="288289">
                  <a:moveTo>
                    <a:pt x="3600450" y="0"/>
                  </a:moveTo>
                  <a:lnTo>
                    <a:pt x="3600450" y="72009"/>
                  </a:lnTo>
                  <a:lnTo>
                    <a:pt x="0" y="72009"/>
                  </a:lnTo>
                  <a:lnTo>
                    <a:pt x="0" y="216026"/>
                  </a:lnTo>
                  <a:lnTo>
                    <a:pt x="3600450" y="216026"/>
                  </a:lnTo>
                  <a:lnTo>
                    <a:pt x="3600450" y="288036"/>
                  </a:lnTo>
                  <a:lnTo>
                    <a:pt x="3744468" y="144017"/>
                  </a:lnTo>
                  <a:lnTo>
                    <a:pt x="3600450" y="0"/>
                  </a:lnTo>
                  <a:close/>
                </a:path>
              </a:pathLst>
            </a:custGeom>
            <a:solidFill>
              <a:srgbClr val="4F81BC"/>
            </a:solidFill>
          </p:spPr>
          <p:txBody>
            <a:bodyPr wrap="square" lIns="0" tIns="0" rIns="0" bIns="0" rtlCol="0"/>
            <a:lstStyle/>
            <a:p>
              <a:endParaRPr/>
            </a:p>
          </p:txBody>
        </p:sp>
        <p:sp>
          <p:nvSpPr>
            <p:cNvPr id="9" name="object 9"/>
            <p:cNvSpPr/>
            <p:nvPr/>
          </p:nvSpPr>
          <p:spPr>
            <a:xfrm>
              <a:off x="3708653" y="2917698"/>
              <a:ext cx="3744595" cy="288290"/>
            </a:xfrm>
            <a:custGeom>
              <a:avLst/>
              <a:gdLst/>
              <a:ahLst/>
              <a:cxnLst/>
              <a:rect l="l" t="t" r="r" b="b"/>
              <a:pathLst>
                <a:path w="3744595" h="288289">
                  <a:moveTo>
                    <a:pt x="0" y="72009"/>
                  </a:moveTo>
                  <a:lnTo>
                    <a:pt x="3600450" y="72009"/>
                  </a:lnTo>
                  <a:lnTo>
                    <a:pt x="3600450" y="0"/>
                  </a:lnTo>
                  <a:lnTo>
                    <a:pt x="3744468" y="144017"/>
                  </a:lnTo>
                  <a:lnTo>
                    <a:pt x="3600450" y="288036"/>
                  </a:lnTo>
                  <a:lnTo>
                    <a:pt x="3600450" y="216026"/>
                  </a:lnTo>
                  <a:lnTo>
                    <a:pt x="0" y="216026"/>
                  </a:lnTo>
                  <a:lnTo>
                    <a:pt x="0" y="72009"/>
                  </a:lnTo>
                  <a:close/>
                </a:path>
              </a:pathLst>
            </a:custGeom>
            <a:ln w="25908">
              <a:solidFill>
                <a:srgbClr val="385D89"/>
              </a:solidFill>
            </a:ln>
          </p:spPr>
          <p:txBody>
            <a:bodyPr wrap="square" lIns="0" tIns="0" rIns="0" bIns="0" rtlCol="0"/>
            <a:lstStyle/>
            <a:p>
              <a:endParaRPr/>
            </a:p>
          </p:txBody>
        </p:sp>
      </p:grpSp>
      <p:grpSp>
        <p:nvGrpSpPr>
          <p:cNvPr id="10" name="object 10"/>
          <p:cNvGrpSpPr/>
          <p:nvPr/>
        </p:nvGrpSpPr>
        <p:grpSpPr>
          <a:xfrm>
            <a:off x="3983735" y="3462528"/>
            <a:ext cx="3770629" cy="314325"/>
            <a:chOff x="3983735" y="3462528"/>
            <a:chExt cx="3770629" cy="314325"/>
          </a:xfrm>
        </p:grpSpPr>
        <p:sp>
          <p:nvSpPr>
            <p:cNvPr id="11" name="object 11"/>
            <p:cNvSpPr/>
            <p:nvPr/>
          </p:nvSpPr>
          <p:spPr>
            <a:xfrm>
              <a:off x="3996689" y="3475482"/>
              <a:ext cx="3744595" cy="288290"/>
            </a:xfrm>
            <a:custGeom>
              <a:avLst/>
              <a:gdLst/>
              <a:ahLst/>
              <a:cxnLst/>
              <a:rect l="l" t="t" r="r" b="b"/>
              <a:pathLst>
                <a:path w="3744595" h="288289">
                  <a:moveTo>
                    <a:pt x="3600450" y="0"/>
                  </a:moveTo>
                  <a:lnTo>
                    <a:pt x="3600450" y="72008"/>
                  </a:lnTo>
                  <a:lnTo>
                    <a:pt x="0" y="72008"/>
                  </a:lnTo>
                  <a:lnTo>
                    <a:pt x="0" y="216026"/>
                  </a:lnTo>
                  <a:lnTo>
                    <a:pt x="3600450" y="216026"/>
                  </a:lnTo>
                  <a:lnTo>
                    <a:pt x="3600450" y="288035"/>
                  </a:lnTo>
                  <a:lnTo>
                    <a:pt x="3744467" y="144017"/>
                  </a:lnTo>
                  <a:lnTo>
                    <a:pt x="3600450" y="0"/>
                  </a:lnTo>
                  <a:close/>
                </a:path>
              </a:pathLst>
            </a:custGeom>
            <a:solidFill>
              <a:srgbClr val="4F81BC"/>
            </a:solidFill>
          </p:spPr>
          <p:txBody>
            <a:bodyPr wrap="square" lIns="0" tIns="0" rIns="0" bIns="0" rtlCol="0"/>
            <a:lstStyle/>
            <a:p>
              <a:endParaRPr/>
            </a:p>
          </p:txBody>
        </p:sp>
        <p:sp>
          <p:nvSpPr>
            <p:cNvPr id="12" name="object 12"/>
            <p:cNvSpPr/>
            <p:nvPr/>
          </p:nvSpPr>
          <p:spPr>
            <a:xfrm>
              <a:off x="3996689" y="3475482"/>
              <a:ext cx="3744595" cy="288290"/>
            </a:xfrm>
            <a:custGeom>
              <a:avLst/>
              <a:gdLst/>
              <a:ahLst/>
              <a:cxnLst/>
              <a:rect l="l" t="t" r="r" b="b"/>
              <a:pathLst>
                <a:path w="3744595" h="288289">
                  <a:moveTo>
                    <a:pt x="0" y="72008"/>
                  </a:moveTo>
                  <a:lnTo>
                    <a:pt x="3600450" y="72008"/>
                  </a:lnTo>
                  <a:lnTo>
                    <a:pt x="3600450" y="0"/>
                  </a:lnTo>
                  <a:lnTo>
                    <a:pt x="3744467" y="144017"/>
                  </a:lnTo>
                  <a:lnTo>
                    <a:pt x="3600450" y="288035"/>
                  </a:lnTo>
                  <a:lnTo>
                    <a:pt x="3600450" y="216026"/>
                  </a:lnTo>
                  <a:lnTo>
                    <a:pt x="0" y="216026"/>
                  </a:lnTo>
                  <a:lnTo>
                    <a:pt x="0" y="72008"/>
                  </a:lnTo>
                  <a:close/>
                </a:path>
              </a:pathLst>
            </a:custGeom>
            <a:ln w="25908">
              <a:solidFill>
                <a:srgbClr val="385D89"/>
              </a:solidFill>
            </a:ln>
          </p:spPr>
          <p:txBody>
            <a:bodyPr wrap="square" lIns="0" tIns="0" rIns="0" bIns="0" rtlCol="0"/>
            <a:lstStyle/>
            <a:p>
              <a:endParaRPr/>
            </a:p>
          </p:txBody>
        </p:sp>
      </p:grpSp>
      <p:grpSp>
        <p:nvGrpSpPr>
          <p:cNvPr id="13" name="object 13"/>
          <p:cNvGrpSpPr/>
          <p:nvPr/>
        </p:nvGrpSpPr>
        <p:grpSpPr>
          <a:xfrm>
            <a:off x="3962400" y="4020311"/>
            <a:ext cx="3770629" cy="314325"/>
            <a:chOff x="3962400" y="4020311"/>
            <a:chExt cx="3770629" cy="314325"/>
          </a:xfrm>
        </p:grpSpPr>
        <p:sp>
          <p:nvSpPr>
            <p:cNvPr id="14" name="object 14"/>
            <p:cNvSpPr/>
            <p:nvPr/>
          </p:nvSpPr>
          <p:spPr>
            <a:xfrm>
              <a:off x="3975353" y="4033265"/>
              <a:ext cx="3744595" cy="288290"/>
            </a:xfrm>
            <a:custGeom>
              <a:avLst/>
              <a:gdLst/>
              <a:ahLst/>
              <a:cxnLst/>
              <a:rect l="l" t="t" r="r" b="b"/>
              <a:pathLst>
                <a:path w="3744595" h="288289">
                  <a:moveTo>
                    <a:pt x="3600450" y="0"/>
                  </a:moveTo>
                  <a:lnTo>
                    <a:pt x="3600450" y="72008"/>
                  </a:lnTo>
                  <a:lnTo>
                    <a:pt x="0" y="72008"/>
                  </a:lnTo>
                  <a:lnTo>
                    <a:pt x="0" y="216026"/>
                  </a:lnTo>
                  <a:lnTo>
                    <a:pt x="3600450" y="216026"/>
                  </a:lnTo>
                  <a:lnTo>
                    <a:pt x="3600450" y="288035"/>
                  </a:lnTo>
                  <a:lnTo>
                    <a:pt x="3744468" y="144017"/>
                  </a:lnTo>
                  <a:lnTo>
                    <a:pt x="3600450" y="0"/>
                  </a:lnTo>
                  <a:close/>
                </a:path>
              </a:pathLst>
            </a:custGeom>
            <a:solidFill>
              <a:srgbClr val="4F81BC"/>
            </a:solidFill>
          </p:spPr>
          <p:txBody>
            <a:bodyPr wrap="square" lIns="0" tIns="0" rIns="0" bIns="0" rtlCol="0"/>
            <a:lstStyle/>
            <a:p>
              <a:endParaRPr/>
            </a:p>
          </p:txBody>
        </p:sp>
        <p:sp>
          <p:nvSpPr>
            <p:cNvPr id="15" name="object 15"/>
            <p:cNvSpPr/>
            <p:nvPr/>
          </p:nvSpPr>
          <p:spPr>
            <a:xfrm>
              <a:off x="3975353" y="4033265"/>
              <a:ext cx="3744595" cy="288290"/>
            </a:xfrm>
            <a:custGeom>
              <a:avLst/>
              <a:gdLst/>
              <a:ahLst/>
              <a:cxnLst/>
              <a:rect l="l" t="t" r="r" b="b"/>
              <a:pathLst>
                <a:path w="3744595" h="288289">
                  <a:moveTo>
                    <a:pt x="0" y="72008"/>
                  </a:moveTo>
                  <a:lnTo>
                    <a:pt x="3600450" y="72008"/>
                  </a:lnTo>
                  <a:lnTo>
                    <a:pt x="3600450" y="0"/>
                  </a:lnTo>
                  <a:lnTo>
                    <a:pt x="3744468" y="144017"/>
                  </a:lnTo>
                  <a:lnTo>
                    <a:pt x="3600450" y="288035"/>
                  </a:lnTo>
                  <a:lnTo>
                    <a:pt x="3600450" y="216026"/>
                  </a:lnTo>
                  <a:lnTo>
                    <a:pt x="0" y="216026"/>
                  </a:lnTo>
                  <a:lnTo>
                    <a:pt x="0" y="72008"/>
                  </a:lnTo>
                  <a:close/>
                </a:path>
              </a:pathLst>
            </a:custGeom>
            <a:ln w="25908">
              <a:solidFill>
                <a:srgbClr val="385D89"/>
              </a:solidFill>
            </a:ln>
          </p:spPr>
          <p:txBody>
            <a:bodyPr wrap="square" lIns="0" tIns="0" rIns="0" bIns="0" rtlCol="0"/>
            <a:lstStyle/>
            <a:p>
              <a:endParaRPr/>
            </a:p>
          </p:txBody>
        </p:sp>
      </p:grpSp>
      <p:grpSp>
        <p:nvGrpSpPr>
          <p:cNvPr id="16" name="object 16"/>
          <p:cNvGrpSpPr/>
          <p:nvPr/>
        </p:nvGrpSpPr>
        <p:grpSpPr>
          <a:xfrm>
            <a:off x="4343400" y="4552188"/>
            <a:ext cx="3602990" cy="314325"/>
            <a:chOff x="4343400" y="4552188"/>
            <a:chExt cx="3602990" cy="314325"/>
          </a:xfrm>
        </p:grpSpPr>
        <p:sp>
          <p:nvSpPr>
            <p:cNvPr id="17" name="object 17"/>
            <p:cNvSpPr/>
            <p:nvPr/>
          </p:nvSpPr>
          <p:spPr>
            <a:xfrm>
              <a:off x="4356353" y="4565142"/>
              <a:ext cx="3576954" cy="288290"/>
            </a:xfrm>
            <a:custGeom>
              <a:avLst/>
              <a:gdLst/>
              <a:ahLst/>
              <a:cxnLst/>
              <a:rect l="l" t="t" r="r" b="b"/>
              <a:pathLst>
                <a:path w="3576954" h="288289">
                  <a:moveTo>
                    <a:pt x="3432810" y="0"/>
                  </a:moveTo>
                  <a:lnTo>
                    <a:pt x="3432810" y="72008"/>
                  </a:lnTo>
                  <a:lnTo>
                    <a:pt x="0" y="72008"/>
                  </a:lnTo>
                  <a:lnTo>
                    <a:pt x="0" y="216026"/>
                  </a:lnTo>
                  <a:lnTo>
                    <a:pt x="3432810" y="216026"/>
                  </a:lnTo>
                  <a:lnTo>
                    <a:pt x="3432810" y="288035"/>
                  </a:lnTo>
                  <a:lnTo>
                    <a:pt x="3576828" y="144017"/>
                  </a:lnTo>
                  <a:lnTo>
                    <a:pt x="3432810" y="0"/>
                  </a:lnTo>
                  <a:close/>
                </a:path>
              </a:pathLst>
            </a:custGeom>
            <a:solidFill>
              <a:srgbClr val="4F81BC"/>
            </a:solidFill>
          </p:spPr>
          <p:txBody>
            <a:bodyPr wrap="square" lIns="0" tIns="0" rIns="0" bIns="0" rtlCol="0"/>
            <a:lstStyle/>
            <a:p>
              <a:endParaRPr/>
            </a:p>
          </p:txBody>
        </p:sp>
        <p:sp>
          <p:nvSpPr>
            <p:cNvPr id="18" name="object 18"/>
            <p:cNvSpPr/>
            <p:nvPr/>
          </p:nvSpPr>
          <p:spPr>
            <a:xfrm>
              <a:off x="4356353" y="4565142"/>
              <a:ext cx="3576954" cy="288290"/>
            </a:xfrm>
            <a:custGeom>
              <a:avLst/>
              <a:gdLst/>
              <a:ahLst/>
              <a:cxnLst/>
              <a:rect l="l" t="t" r="r" b="b"/>
              <a:pathLst>
                <a:path w="3576954" h="288289">
                  <a:moveTo>
                    <a:pt x="0" y="72008"/>
                  </a:moveTo>
                  <a:lnTo>
                    <a:pt x="3432810" y="72008"/>
                  </a:lnTo>
                  <a:lnTo>
                    <a:pt x="3432810" y="0"/>
                  </a:lnTo>
                  <a:lnTo>
                    <a:pt x="3576828" y="144017"/>
                  </a:lnTo>
                  <a:lnTo>
                    <a:pt x="3432810" y="288035"/>
                  </a:lnTo>
                  <a:lnTo>
                    <a:pt x="3432810" y="216026"/>
                  </a:lnTo>
                  <a:lnTo>
                    <a:pt x="0" y="216026"/>
                  </a:lnTo>
                  <a:lnTo>
                    <a:pt x="0" y="72008"/>
                  </a:lnTo>
                  <a:close/>
                </a:path>
              </a:pathLst>
            </a:custGeom>
            <a:ln w="25907">
              <a:solidFill>
                <a:srgbClr val="385D89"/>
              </a:solidFill>
            </a:ln>
          </p:spPr>
          <p:txBody>
            <a:bodyPr wrap="square" lIns="0" tIns="0" rIns="0" bIns="0" rtlCol="0"/>
            <a:lstStyle/>
            <a:p>
              <a:endParaRPr/>
            </a:p>
          </p:txBody>
        </p:sp>
      </p:grpSp>
      <p:grpSp>
        <p:nvGrpSpPr>
          <p:cNvPr id="19" name="object 19"/>
          <p:cNvGrpSpPr/>
          <p:nvPr/>
        </p:nvGrpSpPr>
        <p:grpSpPr>
          <a:xfrm>
            <a:off x="4267200" y="5096255"/>
            <a:ext cx="3770629" cy="314325"/>
            <a:chOff x="4267200" y="5096255"/>
            <a:chExt cx="3770629" cy="314325"/>
          </a:xfrm>
        </p:grpSpPr>
        <p:sp>
          <p:nvSpPr>
            <p:cNvPr id="20" name="object 20"/>
            <p:cNvSpPr/>
            <p:nvPr/>
          </p:nvSpPr>
          <p:spPr>
            <a:xfrm>
              <a:off x="4280153" y="5109209"/>
              <a:ext cx="3744595" cy="288290"/>
            </a:xfrm>
            <a:custGeom>
              <a:avLst/>
              <a:gdLst/>
              <a:ahLst/>
              <a:cxnLst/>
              <a:rect l="l" t="t" r="r" b="b"/>
              <a:pathLst>
                <a:path w="3744595" h="288289">
                  <a:moveTo>
                    <a:pt x="3600450" y="0"/>
                  </a:moveTo>
                  <a:lnTo>
                    <a:pt x="3600450" y="72008"/>
                  </a:lnTo>
                  <a:lnTo>
                    <a:pt x="0" y="72008"/>
                  </a:lnTo>
                  <a:lnTo>
                    <a:pt x="0" y="216026"/>
                  </a:lnTo>
                  <a:lnTo>
                    <a:pt x="3600450" y="216026"/>
                  </a:lnTo>
                  <a:lnTo>
                    <a:pt x="3600450" y="288035"/>
                  </a:lnTo>
                  <a:lnTo>
                    <a:pt x="3744468" y="144017"/>
                  </a:lnTo>
                  <a:lnTo>
                    <a:pt x="3600450" y="0"/>
                  </a:lnTo>
                  <a:close/>
                </a:path>
              </a:pathLst>
            </a:custGeom>
            <a:solidFill>
              <a:srgbClr val="4F81BC"/>
            </a:solidFill>
          </p:spPr>
          <p:txBody>
            <a:bodyPr wrap="square" lIns="0" tIns="0" rIns="0" bIns="0" rtlCol="0"/>
            <a:lstStyle/>
            <a:p>
              <a:endParaRPr/>
            </a:p>
          </p:txBody>
        </p:sp>
        <p:sp>
          <p:nvSpPr>
            <p:cNvPr id="21" name="object 21"/>
            <p:cNvSpPr/>
            <p:nvPr/>
          </p:nvSpPr>
          <p:spPr>
            <a:xfrm>
              <a:off x="4280153" y="5109209"/>
              <a:ext cx="3744595" cy="288290"/>
            </a:xfrm>
            <a:custGeom>
              <a:avLst/>
              <a:gdLst/>
              <a:ahLst/>
              <a:cxnLst/>
              <a:rect l="l" t="t" r="r" b="b"/>
              <a:pathLst>
                <a:path w="3744595" h="288289">
                  <a:moveTo>
                    <a:pt x="0" y="72008"/>
                  </a:moveTo>
                  <a:lnTo>
                    <a:pt x="3600450" y="72008"/>
                  </a:lnTo>
                  <a:lnTo>
                    <a:pt x="3600450" y="0"/>
                  </a:lnTo>
                  <a:lnTo>
                    <a:pt x="3744468" y="144017"/>
                  </a:lnTo>
                  <a:lnTo>
                    <a:pt x="3600450" y="288035"/>
                  </a:lnTo>
                  <a:lnTo>
                    <a:pt x="3600450" y="216026"/>
                  </a:lnTo>
                  <a:lnTo>
                    <a:pt x="0" y="216026"/>
                  </a:lnTo>
                  <a:lnTo>
                    <a:pt x="0" y="72008"/>
                  </a:lnTo>
                  <a:close/>
                </a:path>
              </a:pathLst>
            </a:custGeom>
            <a:ln w="25908">
              <a:solidFill>
                <a:srgbClr val="385D89"/>
              </a:solidFill>
            </a:ln>
          </p:spPr>
          <p:txBody>
            <a:bodyPr wrap="square" lIns="0" tIns="0" rIns="0" bIns="0" rtlCol="0"/>
            <a:lstStyle/>
            <a:p>
              <a:endParaRPr/>
            </a:p>
          </p:txBody>
        </p:sp>
      </p:grpSp>
      <p:graphicFrame>
        <p:nvGraphicFramePr>
          <p:cNvPr id="22" name="object 22"/>
          <p:cNvGraphicFramePr>
            <a:graphicFrameLocks noGrp="1"/>
          </p:cNvGraphicFramePr>
          <p:nvPr/>
        </p:nvGraphicFramePr>
        <p:xfrm>
          <a:off x="364490" y="2395854"/>
          <a:ext cx="8092440" cy="2988689"/>
        </p:xfrm>
        <a:graphic>
          <a:graphicData uri="http://schemas.openxmlformats.org/drawingml/2006/table">
            <a:tbl>
              <a:tblPr firstRow="1" bandRow="1">
                <a:tableStyleId>{2D5ABB26-0587-4C30-8999-92F81FD0307C}</a:tableStyleId>
              </a:tblPr>
              <a:tblGrid>
                <a:gridCol w="5544185">
                  <a:extLst>
                    <a:ext uri="{9D8B030D-6E8A-4147-A177-3AD203B41FA5}">
                      <a16:colId xmlns:a16="http://schemas.microsoft.com/office/drawing/2014/main" val="20000"/>
                    </a:ext>
                  </a:extLst>
                </a:gridCol>
                <a:gridCol w="1937385">
                  <a:extLst>
                    <a:ext uri="{9D8B030D-6E8A-4147-A177-3AD203B41FA5}">
                      <a16:colId xmlns:a16="http://schemas.microsoft.com/office/drawing/2014/main" val="20001"/>
                    </a:ext>
                  </a:extLst>
                </a:gridCol>
                <a:gridCol w="610870">
                  <a:extLst>
                    <a:ext uri="{9D8B030D-6E8A-4147-A177-3AD203B41FA5}">
                      <a16:colId xmlns:a16="http://schemas.microsoft.com/office/drawing/2014/main" val="20002"/>
                    </a:ext>
                  </a:extLst>
                </a:gridCol>
              </a:tblGrid>
              <a:tr h="401358">
                <a:tc>
                  <a:txBody>
                    <a:bodyPr/>
                    <a:lstStyle/>
                    <a:p>
                      <a:pPr marL="31750">
                        <a:lnSpc>
                          <a:spcPts val="1710"/>
                        </a:lnSpc>
                      </a:pPr>
                      <a:r>
                        <a:rPr sz="1800" b="1" spc="-10" dirty="0">
                          <a:solidFill>
                            <a:srgbClr val="FF0000"/>
                          </a:solidFill>
                          <a:latin typeface="Calibri"/>
                          <a:cs typeface="Calibri"/>
                        </a:rPr>
                        <a:t>System.out.println(s.indexOf("x"));</a:t>
                      </a:r>
                      <a:endParaRPr sz="1800">
                        <a:latin typeface="Calibri"/>
                        <a:cs typeface="Calibri"/>
                      </a:endParaRPr>
                    </a:p>
                  </a:txBody>
                  <a:tcPr marL="0" marR="0" marT="0" marB="0"/>
                </a:tc>
                <a:tc>
                  <a:txBody>
                    <a:bodyPr/>
                    <a:lstStyle/>
                    <a:p>
                      <a:pPr marR="59055" algn="r">
                        <a:lnSpc>
                          <a:spcPts val="1950"/>
                        </a:lnSpc>
                      </a:pPr>
                      <a:r>
                        <a:rPr sz="2000" b="1" spc="-5" dirty="0">
                          <a:solidFill>
                            <a:srgbClr val="FF0000"/>
                          </a:solidFill>
                          <a:latin typeface="Calibri"/>
                          <a:cs typeface="Calibri"/>
                        </a:rPr>
                        <a:t>-</a:t>
                      </a:r>
                      <a:r>
                        <a:rPr sz="2000" b="1" dirty="0">
                          <a:solidFill>
                            <a:srgbClr val="FF0000"/>
                          </a:solidFill>
                          <a:latin typeface="Calibri"/>
                          <a:cs typeface="Calibri"/>
                        </a:rPr>
                        <a:t>1</a:t>
                      </a:r>
                      <a:endParaRPr sz="2000">
                        <a:latin typeface="Calibri"/>
                        <a:cs typeface="Calibri"/>
                      </a:endParaRPr>
                    </a:p>
                  </a:txBody>
                  <a:tcPr marL="0" marR="0" marT="0" marB="0"/>
                </a:tc>
                <a:tc rowSpan="2">
                  <a:txBody>
                    <a:bodyPr/>
                    <a:lstStyle/>
                    <a:p>
                      <a:pPr>
                        <a:lnSpc>
                          <a:spcPct val="100000"/>
                        </a:lnSpc>
                      </a:pPr>
                      <a:endParaRPr sz="1900">
                        <a:latin typeface="Times New Roman"/>
                        <a:cs typeface="Times New Roman"/>
                      </a:endParaRPr>
                    </a:p>
                  </a:txBody>
                  <a:tcPr marL="0" marR="0" marT="0" marB="0"/>
                </a:tc>
                <a:extLst>
                  <a:ext uri="{0D108BD9-81ED-4DB2-BD59-A6C34878D82A}">
                    <a16:rowId xmlns:a16="http://schemas.microsoft.com/office/drawing/2014/main" val="10000"/>
                  </a:ext>
                </a:extLst>
              </a:tr>
              <a:tr h="545871">
                <a:tc>
                  <a:txBody>
                    <a:bodyPr/>
                    <a:lstStyle/>
                    <a:p>
                      <a:pPr marL="31750">
                        <a:lnSpc>
                          <a:spcPct val="100000"/>
                        </a:lnSpc>
                        <a:spcBef>
                          <a:spcPts val="710"/>
                        </a:spcBef>
                      </a:pPr>
                      <a:r>
                        <a:rPr sz="1800" b="1" spc="-10" dirty="0">
                          <a:solidFill>
                            <a:srgbClr val="FF0000"/>
                          </a:solidFill>
                          <a:latin typeface="Calibri"/>
                          <a:cs typeface="Calibri"/>
                        </a:rPr>
                        <a:t>System.out.println(s.indexOf("a"));</a:t>
                      </a:r>
                      <a:endParaRPr sz="1800">
                        <a:latin typeface="Calibri"/>
                        <a:cs typeface="Calibri"/>
                      </a:endParaRPr>
                    </a:p>
                  </a:txBody>
                  <a:tcPr marL="0" marR="0" marT="90170" marB="0"/>
                </a:tc>
                <a:tc>
                  <a:txBody>
                    <a:bodyPr/>
                    <a:lstStyle/>
                    <a:p>
                      <a:pPr marR="6350" algn="r">
                        <a:lnSpc>
                          <a:spcPct val="100000"/>
                        </a:lnSpc>
                        <a:spcBef>
                          <a:spcPts val="610"/>
                        </a:spcBef>
                      </a:pPr>
                      <a:r>
                        <a:rPr sz="2000" b="1" dirty="0">
                          <a:solidFill>
                            <a:srgbClr val="FF0000"/>
                          </a:solidFill>
                          <a:latin typeface="Calibri"/>
                          <a:cs typeface="Calibri"/>
                        </a:rPr>
                        <a:t>28</a:t>
                      </a:r>
                      <a:endParaRPr sz="2000">
                        <a:latin typeface="Calibri"/>
                        <a:cs typeface="Calibri"/>
                      </a:endParaRPr>
                    </a:p>
                  </a:txBody>
                  <a:tcPr marL="0" marR="0" marT="77470" marB="0"/>
                </a:tc>
                <a:tc vMerge="1">
                  <a:txBody>
                    <a:bodyPr/>
                    <a:lstStyle/>
                    <a:p>
                      <a:endParaRPr/>
                    </a:p>
                  </a:txBody>
                  <a:tcPr marL="0" marR="0" marT="0" marB="0"/>
                </a:tc>
                <a:extLst>
                  <a:ext uri="{0D108BD9-81ED-4DB2-BD59-A6C34878D82A}">
                    <a16:rowId xmlns:a16="http://schemas.microsoft.com/office/drawing/2014/main" val="10001"/>
                  </a:ext>
                </a:extLst>
              </a:tr>
              <a:tr h="553212">
                <a:tc>
                  <a:txBody>
                    <a:bodyPr/>
                    <a:lstStyle/>
                    <a:p>
                      <a:pPr marL="31750">
                        <a:lnSpc>
                          <a:spcPct val="100000"/>
                        </a:lnSpc>
                        <a:spcBef>
                          <a:spcPts val="735"/>
                        </a:spcBef>
                      </a:pPr>
                      <a:r>
                        <a:rPr sz="1800" b="1" spc="-10" dirty="0">
                          <a:solidFill>
                            <a:srgbClr val="FF0000"/>
                          </a:solidFill>
                          <a:latin typeface="Calibri"/>
                          <a:cs typeface="Calibri"/>
                        </a:rPr>
                        <a:t>System.out.println(s.lastIndexOf("a"));</a:t>
                      </a:r>
                      <a:endParaRPr sz="1800">
                        <a:latin typeface="Calibri"/>
                        <a:cs typeface="Calibri"/>
                      </a:endParaRPr>
                    </a:p>
                  </a:txBody>
                  <a:tcPr marL="0" marR="0" marT="93345" marB="0"/>
                </a:tc>
                <a:tc>
                  <a:txBody>
                    <a:bodyPr/>
                    <a:lstStyle/>
                    <a:p>
                      <a:pPr>
                        <a:lnSpc>
                          <a:spcPct val="100000"/>
                        </a:lnSpc>
                      </a:pPr>
                      <a:endParaRPr sz="1900">
                        <a:latin typeface="Times New Roman"/>
                        <a:cs typeface="Times New Roman"/>
                      </a:endParaRPr>
                    </a:p>
                  </a:txBody>
                  <a:tcPr marL="0" marR="0" marT="0" marB="0"/>
                </a:tc>
                <a:tc>
                  <a:txBody>
                    <a:bodyPr/>
                    <a:lstStyle/>
                    <a:p>
                      <a:pPr marL="13970">
                        <a:lnSpc>
                          <a:spcPct val="100000"/>
                        </a:lnSpc>
                        <a:spcBef>
                          <a:spcPts val="705"/>
                        </a:spcBef>
                      </a:pPr>
                      <a:r>
                        <a:rPr sz="2000" b="1" dirty="0">
                          <a:solidFill>
                            <a:srgbClr val="FF0000"/>
                          </a:solidFill>
                          <a:latin typeface="Calibri"/>
                          <a:cs typeface="Calibri"/>
                        </a:rPr>
                        <a:t>56</a:t>
                      </a:r>
                      <a:endParaRPr sz="2000">
                        <a:latin typeface="Calibri"/>
                        <a:cs typeface="Calibri"/>
                      </a:endParaRPr>
                    </a:p>
                  </a:txBody>
                  <a:tcPr marL="0" marR="0" marT="89535" marB="0"/>
                </a:tc>
                <a:extLst>
                  <a:ext uri="{0D108BD9-81ED-4DB2-BD59-A6C34878D82A}">
                    <a16:rowId xmlns:a16="http://schemas.microsoft.com/office/drawing/2014/main" val="10002"/>
                  </a:ext>
                </a:extLst>
              </a:tr>
              <a:tr h="550354">
                <a:tc>
                  <a:txBody>
                    <a:bodyPr/>
                    <a:lstStyle/>
                    <a:p>
                      <a:pPr marL="31750">
                        <a:lnSpc>
                          <a:spcPct val="100000"/>
                        </a:lnSpc>
                        <a:spcBef>
                          <a:spcPts val="700"/>
                        </a:spcBef>
                      </a:pPr>
                      <a:r>
                        <a:rPr sz="1800" b="1" spc="-10" dirty="0">
                          <a:solidFill>
                            <a:srgbClr val="FF0000"/>
                          </a:solidFill>
                          <a:latin typeface="Calibri"/>
                          <a:cs typeface="Calibri"/>
                        </a:rPr>
                        <a:t>System.out.println(s.indexOf("Ind"));</a:t>
                      </a:r>
                      <a:endParaRPr sz="1800">
                        <a:latin typeface="Calibri"/>
                        <a:cs typeface="Calibri"/>
                      </a:endParaRPr>
                    </a:p>
                  </a:txBody>
                  <a:tcPr marL="0" marR="0" marT="88900" marB="0"/>
                </a:tc>
                <a:tc>
                  <a:txBody>
                    <a:bodyPr/>
                    <a:lstStyle/>
                    <a:p>
                      <a:pPr>
                        <a:lnSpc>
                          <a:spcPct val="100000"/>
                        </a:lnSpc>
                      </a:pPr>
                      <a:endParaRPr sz="1900">
                        <a:latin typeface="Times New Roman"/>
                        <a:cs typeface="Times New Roman"/>
                      </a:endParaRPr>
                    </a:p>
                  </a:txBody>
                  <a:tcPr marL="0" marR="0" marT="0" marB="0"/>
                </a:tc>
                <a:tc>
                  <a:txBody>
                    <a:bodyPr/>
                    <a:lstStyle/>
                    <a:p>
                      <a:pPr marL="13970">
                        <a:lnSpc>
                          <a:spcPct val="100000"/>
                        </a:lnSpc>
                        <a:spcBef>
                          <a:spcPts val="735"/>
                        </a:spcBef>
                      </a:pPr>
                      <a:r>
                        <a:rPr sz="2000" b="1" dirty="0">
                          <a:solidFill>
                            <a:srgbClr val="FF0000"/>
                          </a:solidFill>
                          <a:latin typeface="Calibri"/>
                          <a:cs typeface="Calibri"/>
                        </a:rPr>
                        <a:t>24</a:t>
                      </a:r>
                      <a:endParaRPr sz="2000">
                        <a:latin typeface="Calibri"/>
                        <a:cs typeface="Calibri"/>
                      </a:endParaRPr>
                    </a:p>
                  </a:txBody>
                  <a:tcPr marL="0" marR="0" marT="93345" marB="0"/>
                </a:tc>
                <a:extLst>
                  <a:ext uri="{0D108BD9-81ED-4DB2-BD59-A6C34878D82A}">
                    <a16:rowId xmlns:a16="http://schemas.microsoft.com/office/drawing/2014/main" val="10003"/>
                  </a:ext>
                </a:extLst>
              </a:tr>
              <a:tr h="538416">
                <a:tc>
                  <a:txBody>
                    <a:bodyPr/>
                    <a:lstStyle/>
                    <a:p>
                      <a:pPr marL="31750">
                        <a:lnSpc>
                          <a:spcPct val="100000"/>
                        </a:lnSpc>
                        <a:spcBef>
                          <a:spcPts val="685"/>
                        </a:spcBef>
                      </a:pPr>
                      <a:r>
                        <a:rPr sz="1800" b="1" spc="-10" dirty="0">
                          <a:solidFill>
                            <a:srgbClr val="FF0000"/>
                          </a:solidFill>
                          <a:latin typeface="Calibri"/>
                          <a:cs typeface="Calibri"/>
                        </a:rPr>
                        <a:t>System.out.println(s.lastIndexOf("Ind"));</a:t>
                      </a:r>
                      <a:endParaRPr sz="1800">
                        <a:latin typeface="Calibri"/>
                        <a:cs typeface="Calibri"/>
                      </a:endParaRPr>
                    </a:p>
                  </a:txBody>
                  <a:tcPr marL="0" marR="0" marT="86995" marB="0"/>
                </a:tc>
                <a:tc>
                  <a:txBody>
                    <a:bodyPr/>
                    <a:lstStyle/>
                    <a:p>
                      <a:pPr>
                        <a:lnSpc>
                          <a:spcPct val="100000"/>
                        </a:lnSpc>
                      </a:pPr>
                      <a:endParaRPr sz="1900">
                        <a:latin typeface="Times New Roman"/>
                        <a:cs typeface="Times New Roman"/>
                      </a:endParaRPr>
                    </a:p>
                  </a:txBody>
                  <a:tcPr marL="0" marR="0" marT="0" marB="0"/>
                </a:tc>
                <a:tc>
                  <a:txBody>
                    <a:bodyPr/>
                    <a:lstStyle/>
                    <a:p>
                      <a:pPr marL="227965">
                        <a:lnSpc>
                          <a:spcPct val="100000"/>
                        </a:lnSpc>
                        <a:spcBef>
                          <a:spcPts val="595"/>
                        </a:spcBef>
                      </a:pPr>
                      <a:r>
                        <a:rPr sz="2000" b="1" dirty="0">
                          <a:solidFill>
                            <a:srgbClr val="FF0000"/>
                          </a:solidFill>
                          <a:latin typeface="Calibri"/>
                          <a:cs typeface="Calibri"/>
                        </a:rPr>
                        <a:t>52</a:t>
                      </a:r>
                      <a:endParaRPr sz="2000">
                        <a:latin typeface="Calibri"/>
                        <a:cs typeface="Calibri"/>
                      </a:endParaRPr>
                    </a:p>
                  </a:txBody>
                  <a:tcPr marL="0" marR="0" marT="75565" marB="0"/>
                </a:tc>
                <a:extLst>
                  <a:ext uri="{0D108BD9-81ED-4DB2-BD59-A6C34878D82A}">
                    <a16:rowId xmlns:a16="http://schemas.microsoft.com/office/drawing/2014/main" val="10004"/>
                  </a:ext>
                </a:extLst>
              </a:tr>
              <a:tr h="399478">
                <a:tc>
                  <a:txBody>
                    <a:bodyPr/>
                    <a:lstStyle/>
                    <a:p>
                      <a:pPr marL="31750">
                        <a:lnSpc>
                          <a:spcPct val="100000"/>
                        </a:lnSpc>
                        <a:spcBef>
                          <a:spcPts val="765"/>
                        </a:spcBef>
                      </a:pPr>
                      <a:r>
                        <a:rPr sz="1800" b="1" spc="-10" dirty="0">
                          <a:solidFill>
                            <a:srgbClr val="FF0000"/>
                          </a:solidFill>
                          <a:latin typeface="Calibri"/>
                          <a:cs typeface="Calibri"/>
                        </a:rPr>
                        <a:t>System.out.println(s.indexOf("Ind",30));</a:t>
                      </a:r>
                      <a:endParaRPr sz="1800">
                        <a:latin typeface="Calibri"/>
                        <a:cs typeface="Calibri"/>
                      </a:endParaRPr>
                    </a:p>
                  </a:txBody>
                  <a:tcPr marL="0" marR="0" marT="97155" marB="0"/>
                </a:tc>
                <a:tc>
                  <a:txBody>
                    <a:bodyPr/>
                    <a:lstStyle/>
                    <a:p>
                      <a:pPr>
                        <a:lnSpc>
                          <a:spcPct val="100000"/>
                        </a:lnSpc>
                      </a:pPr>
                      <a:endParaRPr sz="1900">
                        <a:latin typeface="Times New Roman"/>
                        <a:cs typeface="Times New Roman"/>
                      </a:endParaRPr>
                    </a:p>
                  </a:txBody>
                  <a:tcPr marL="0" marR="0" marT="0" marB="0"/>
                </a:tc>
                <a:tc>
                  <a:txBody>
                    <a:bodyPr/>
                    <a:lstStyle/>
                    <a:p>
                      <a:pPr marL="319405">
                        <a:lnSpc>
                          <a:spcPct val="100000"/>
                        </a:lnSpc>
                        <a:spcBef>
                          <a:spcPts val="645"/>
                        </a:spcBef>
                      </a:pPr>
                      <a:r>
                        <a:rPr sz="2000" b="1" dirty="0">
                          <a:solidFill>
                            <a:srgbClr val="FF0000"/>
                          </a:solidFill>
                          <a:latin typeface="Calibri"/>
                          <a:cs typeface="Calibri"/>
                        </a:rPr>
                        <a:t>52</a:t>
                      </a:r>
                      <a:endParaRPr sz="2000">
                        <a:latin typeface="Calibri"/>
                        <a:cs typeface="Calibri"/>
                      </a:endParaRPr>
                    </a:p>
                  </a:txBody>
                  <a:tcPr marL="0" marR="0" marT="81915" marB="0"/>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9250"/>
            <a:ext cx="8684260" cy="3867785"/>
          </a:xfrm>
          <a:prstGeom prst="rect">
            <a:avLst/>
          </a:prstGeom>
        </p:spPr>
        <p:txBody>
          <a:bodyPr vert="horz" wrap="square" lIns="0" tIns="13335" rIns="0" bIns="0" rtlCol="0">
            <a:spAutoFit/>
          </a:bodyPr>
          <a:lstStyle/>
          <a:p>
            <a:pPr marL="355600" marR="5080" indent="-342900" algn="just">
              <a:lnSpc>
                <a:spcPct val="100000"/>
              </a:lnSpc>
              <a:spcBef>
                <a:spcPts val="105"/>
              </a:spcBef>
              <a:buClr>
                <a:srgbClr val="0F1141"/>
              </a:buClr>
              <a:buChar char="•"/>
              <a:tabLst>
                <a:tab pos="355600" algn="l"/>
              </a:tabLst>
            </a:pPr>
            <a:r>
              <a:rPr sz="2000" dirty="0">
                <a:solidFill>
                  <a:srgbClr val="FF0000"/>
                </a:solidFill>
                <a:latin typeface="Arial"/>
                <a:cs typeface="Arial"/>
              </a:rPr>
              <a:t>String </a:t>
            </a:r>
            <a:r>
              <a:rPr sz="2000" spc="-5" dirty="0">
                <a:solidFill>
                  <a:srgbClr val="FF0000"/>
                </a:solidFill>
                <a:latin typeface="Arial"/>
                <a:cs typeface="Arial"/>
              </a:rPr>
              <a:t>substring(int startIndex) </a:t>
            </a:r>
            <a:r>
              <a:rPr sz="2000" spc="5" dirty="0">
                <a:solidFill>
                  <a:srgbClr val="FF0000"/>
                </a:solidFill>
                <a:latin typeface="Wingdings"/>
                <a:cs typeface="Wingdings"/>
              </a:rPr>
              <a:t></a:t>
            </a:r>
            <a:r>
              <a:rPr sz="2000" spc="5" dirty="0">
                <a:solidFill>
                  <a:srgbClr val="FF0000"/>
                </a:solidFill>
                <a:latin typeface="Times New Roman"/>
                <a:cs typeface="Times New Roman"/>
              </a:rPr>
              <a:t> </a:t>
            </a:r>
            <a:r>
              <a:rPr sz="2000" spc="-5" dirty="0">
                <a:latin typeface="Arial"/>
                <a:cs typeface="Arial"/>
              </a:rPr>
              <a:t>Returns </a:t>
            </a:r>
            <a:r>
              <a:rPr sz="2000" dirty="0">
                <a:latin typeface="Arial"/>
                <a:cs typeface="Arial"/>
              </a:rPr>
              <a:t>a </a:t>
            </a:r>
            <a:r>
              <a:rPr sz="2000" spc="-5" dirty="0">
                <a:latin typeface="Arial"/>
                <a:cs typeface="Arial"/>
              </a:rPr>
              <a:t>substring starting from </a:t>
            </a:r>
            <a:r>
              <a:rPr sz="2000" spc="-5" dirty="0">
                <a:solidFill>
                  <a:srgbClr val="FF0000"/>
                </a:solidFill>
                <a:latin typeface="Arial"/>
                <a:cs typeface="Arial"/>
              </a:rPr>
              <a:t> stratIndex </a:t>
            </a:r>
            <a:r>
              <a:rPr sz="2000" dirty="0">
                <a:latin typeface="Arial"/>
                <a:cs typeface="Arial"/>
              </a:rPr>
              <a:t>(inclusive) </a:t>
            </a:r>
            <a:r>
              <a:rPr sz="2000" spc="-5" dirty="0">
                <a:latin typeface="Arial"/>
                <a:cs typeface="Arial"/>
              </a:rPr>
              <a:t>to </a:t>
            </a:r>
            <a:r>
              <a:rPr sz="2000" spc="-10" dirty="0">
                <a:latin typeface="Arial"/>
                <a:cs typeface="Arial"/>
              </a:rPr>
              <a:t>the </a:t>
            </a:r>
            <a:r>
              <a:rPr sz="2000" dirty="0">
                <a:solidFill>
                  <a:srgbClr val="FF0000"/>
                </a:solidFill>
                <a:latin typeface="Arial"/>
                <a:cs typeface="Arial"/>
              </a:rPr>
              <a:t>last </a:t>
            </a:r>
            <a:r>
              <a:rPr sz="2000" spc="-10" dirty="0">
                <a:latin typeface="Arial"/>
                <a:cs typeface="Arial"/>
              </a:rPr>
              <a:t>of </a:t>
            </a:r>
            <a:r>
              <a:rPr sz="2000" dirty="0">
                <a:solidFill>
                  <a:srgbClr val="FF0000"/>
                </a:solidFill>
                <a:latin typeface="Arial"/>
                <a:cs typeface="Arial"/>
              </a:rPr>
              <a:t>this </a:t>
            </a:r>
            <a:r>
              <a:rPr sz="2000" spc="-5" dirty="0">
                <a:latin typeface="Arial"/>
                <a:cs typeface="Arial"/>
              </a:rPr>
              <a:t>string [Note: </a:t>
            </a:r>
            <a:r>
              <a:rPr sz="2000" spc="-5" dirty="0">
                <a:solidFill>
                  <a:srgbClr val="FF0000"/>
                </a:solidFill>
                <a:latin typeface="Arial"/>
                <a:cs typeface="Arial"/>
              </a:rPr>
              <a:t>0&lt;=startIndex&lt;=L</a:t>
            </a:r>
            <a:r>
              <a:rPr sz="2000" spc="-5" dirty="0">
                <a:latin typeface="Arial"/>
                <a:cs typeface="Arial"/>
              </a:rPr>
              <a:t>, </a:t>
            </a:r>
            <a:r>
              <a:rPr sz="2000" spc="545" dirty="0">
                <a:latin typeface="Arial"/>
                <a:cs typeface="Arial"/>
              </a:rPr>
              <a:t> </a:t>
            </a:r>
            <a:r>
              <a:rPr sz="2000" dirty="0">
                <a:latin typeface="Arial"/>
                <a:cs typeface="Arial"/>
              </a:rPr>
              <a:t>where </a:t>
            </a:r>
            <a:r>
              <a:rPr sz="2000" dirty="0">
                <a:solidFill>
                  <a:srgbClr val="FF0000"/>
                </a:solidFill>
                <a:latin typeface="Arial"/>
                <a:cs typeface="Arial"/>
              </a:rPr>
              <a:t>L </a:t>
            </a:r>
            <a:r>
              <a:rPr sz="2000" spc="-5" dirty="0">
                <a:latin typeface="Arial"/>
                <a:cs typeface="Arial"/>
              </a:rPr>
              <a:t>is </a:t>
            </a:r>
            <a:r>
              <a:rPr sz="2000" dirty="0">
                <a:latin typeface="Arial"/>
                <a:cs typeface="Arial"/>
              </a:rPr>
              <a:t>length of </a:t>
            </a:r>
            <a:r>
              <a:rPr sz="2000" dirty="0">
                <a:solidFill>
                  <a:srgbClr val="FF0000"/>
                </a:solidFill>
                <a:latin typeface="Arial"/>
                <a:cs typeface="Arial"/>
              </a:rPr>
              <a:t>this</a:t>
            </a:r>
            <a:r>
              <a:rPr sz="2000" spc="-155" dirty="0">
                <a:solidFill>
                  <a:srgbClr val="FF0000"/>
                </a:solidFill>
                <a:latin typeface="Arial"/>
                <a:cs typeface="Arial"/>
              </a:rPr>
              <a:t> </a:t>
            </a:r>
            <a:r>
              <a:rPr sz="2000" dirty="0">
                <a:latin typeface="Arial"/>
                <a:cs typeface="Arial"/>
              </a:rPr>
              <a:t>String]</a:t>
            </a:r>
            <a:endParaRPr sz="2000">
              <a:latin typeface="Arial"/>
              <a:cs typeface="Arial"/>
            </a:endParaRPr>
          </a:p>
          <a:p>
            <a:pPr marL="355600" marR="6350" indent="-342900" algn="just">
              <a:lnSpc>
                <a:spcPct val="100000"/>
              </a:lnSpc>
              <a:spcBef>
                <a:spcPts val="480"/>
              </a:spcBef>
              <a:buClr>
                <a:srgbClr val="0F1141"/>
              </a:buClr>
              <a:buChar char="•"/>
              <a:tabLst>
                <a:tab pos="355600" algn="l"/>
              </a:tabLst>
            </a:pPr>
            <a:r>
              <a:rPr sz="2000" dirty="0">
                <a:solidFill>
                  <a:srgbClr val="FF0000"/>
                </a:solidFill>
                <a:latin typeface="Arial"/>
                <a:cs typeface="Arial"/>
              </a:rPr>
              <a:t>String </a:t>
            </a:r>
            <a:r>
              <a:rPr sz="2000" spc="-5" dirty="0">
                <a:solidFill>
                  <a:srgbClr val="FF0000"/>
                </a:solidFill>
                <a:latin typeface="Arial"/>
                <a:cs typeface="Arial"/>
              </a:rPr>
              <a:t>substring(int startIndex, </a:t>
            </a:r>
            <a:r>
              <a:rPr sz="2000" dirty="0">
                <a:solidFill>
                  <a:srgbClr val="FF0000"/>
                </a:solidFill>
                <a:latin typeface="Arial"/>
                <a:cs typeface="Arial"/>
              </a:rPr>
              <a:t>int </a:t>
            </a:r>
            <a:r>
              <a:rPr sz="2000" spc="-5" dirty="0">
                <a:solidFill>
                  <a:srgbClr val="FF0000"/>
                </a:solidFill>
                <a:latin typeface="Arial"/>
                <a:cs typeface="Arial"/>
              </a:rPr>
              <a:t>endIndex) </a:t>
            </a:r>
            <a:r>
              <a:rPr sz="2000" dirty="0">
                <a:solidFill>
                  <a:srgbClr val="FF0000"/>
                </a:solidFill>
                <a:latin typeface="Wingdings"/>
                <a:cs typeface="Wingdings"/>
              </a:rPr>
              <a:t></a:t>
            </a:r>
            <a:r>
              <a:rPr sz="2000" dirty="0">
                <a:solidFill>
                  <a:srgbClr val="FF0000"/>
                </a:solidFill>
                <a:latin typeface="Times New Roman"/>
                <a:cs typeface="Times New Roman"/>
              </a:rPr>
              <a:t> </a:t>
            </a:r>
            <a:r>
              <a:rPr sz="2000" spc="-5" dirty="0">
                <a:latin typeface="Arial"/>
                <a:cs typeface="Arial"/>
              </a:rPr>
              <a:t>Returns </a:t>
            </a:r>
            <a:r>
              <a:rPr sz="2000" dirty="0">
                <a:latin typeface="Arial"/>
                <a:cs typeface="Arial"/>
              </a:rPr>
              <a:t>a substring  starting </a:t>
            </a:r>
            <a:r>
              <a:rPr sz="2000" spc="-5" dirty="0">
                <a:latin typeface="Arial"/>
                <a:cs typeface="Arial"/>
              </a:rPr>
              <a:t>from </a:t>
            </a:r>
            <a:r>
              <a:rPr sz="2000" spc="-5" dirty="0">
                <a:solidFill>
                  <a:srgbClr val="FF0000"/>
                </a:solidFill>
                <a:latin typeface="Arial"/>
                <a:cs typeface="Arial"/>
              </a:rPr>
              <a:t>stratIndex </a:t>
            </a:r>
            <a:r>
              <a:rPr sz="2000" dirty="0">
                <a:latin typeface="Arial"/>
                <a:cs typeface="Arial"/>
              </a:rPr>
              <a:t>(inclusive) </a:t>
            </a:r>
            <a:r>
              <a:rPr sz="2000" spc="-5" dirty="0">
                <a:latin typeface="Arial"/>
                <a:cs typeface="Arial"/>
              </a:rPr>
              <a:t>to </a:t>
            </a:r>
            <a:r>
              <a:rPr sz="2000" dirty="0">
                <a:latin typeface="Arial"/>
                <a:cs typeface="Arial"/>
              </a:rPr>
              <a:t>the </a:t>
            </a:r>
            <a:r>
              <a:rPr sz="2000" spc="-5" dirty="0">
                <a:solidFill>
                  <a:srgbClr val="FF0000"/>
                </a:solidFill>
                <a:latin typeface="Arial"/>
                <a:cs typeface="Arial"/>
              </a:rPr>
              <a:t>endIndex </a:t>
            </a:r>
            <a:r>
              <a:rPr sz="2000" dirty="0">
                <a:latin typeface="Arial"/>
                <a:cs typeface="Arial"/>
              </a:rPr>
              <a:t>(exclusive) of </a:t>
            </a:r>
            <a:r>
              <a:rPr sz="2000" spc="-10" dirty="0">
                <a:solidFill>
                  <a:srgbClr val="FF0000"/>
                </a:solidFill>
                <a:latin typeface="Arial"/>
                <a:cs typeface="Arial"/>
              </a:rPr>
              <a:t>this </a:t>
            </a:r>
            <a:r>
              <a:rPr sz="2000" spc="-10" dirty="0">
                <a:latin typeface="Arial"/>
                <a:cs typeface="Arial"/>
              </a:rPr>
              <a:t> </a:t>
            </a:r>
            <a:r>
              <a:rPr sz="2000" dirty="0">
                <a:latin typeface="Arial"/>
                <a:cs typeface="Arial"/>
              </a:rPr>
              <a:t>string. </a:t>
            </a:r>
            <a:r>
              <a:rPr sz="2000" spc="-5" dirty="0">
                <a:latin typeface="Arial"/>
                <a:cs typeface="Arial"/>
              </a:rPr>
              <a:t>Returned substring </a:t>
            </a:r>
            <a:r>
              <a:rPr sz="2000" dirty="0">
                <a:latin typeface="Arial"/>
                <a:cs typeface="Arial"/>
              </a:rPr>
              <a:t>will have </a:t>
            </a:r>
            <a:r>
              <a:rPr sz="2000" spc="-5" dirty="0">
                <a:latin typeface="Arial"/>
                <a:cs typeface="Arial"/>
              </a:rPr>
              <a:t>characters </a:t>
            </a:r>
            <a:r>
              <a:rPr sz="2000" dirty="0">
                <a:latin typeface="Arial"/>
                <a:cs typeface="Arial"/>
              </a:rPr>
              <a:t>from </a:t>
            </a:r>
            <a:r>
              <a:rPr sz="2000" spc="-5" dirty="0">
                <a:solidFill>
                  <a:srgbClr val="FF0000"/>
                </a:solidFill>
                <a:latin typeface="Arial"/>
                <a:cs typeface="Arial"/>
              </a:rPr>
              <a:t>startIndex </a:t>
            </a:r>
            <a:r>
              <a:rPr sz="2000" spc="-10" dirty="0">
                <a:latin typeface="Arial"/>
                <a:cs typeface="Arial"/>
              </a:rPr>
              <a:t>to </a:t>
            </a:r>
            <a:r>
              <a:rPr sz="2000" spc="-10" dirty="0">
                <a:solidFill>
                  <a:srgbClr val="FF0000"/>
                </a:solidFill>
                <a:latin typeface="Arial"/>
                <a:cs typeface="Arial"/>
              </a:rPr>
              <a:t> </a:t>
            </a:r>
            <a:r>
              <a:rPr sz="2000" spc="-5" dirty="0">
                <a:solidFill>
                  <a:srgbClr val="FF0000"/>
                </a:solidFill>
                <a:latin typeface="Arial"/>
                <a:cs typeface="Arial"/>
              </a:rPr>
              <a:t>endIndex-1 </a:t>
            </a:r>
            <a:r>
              <a:rPr sz="2000" spc="-5" dirty="0">
                <a:latin typeface="Arial"/>
                <a:cs typeface="Arial"/>
              </a:rPr>
              <a:t>[Note: </a:t>
            </a:r>
            <a:r>
              <a:rPr sz="2000" spc="-5" dirty="0">
                <a:solidFill>
                  <a:srgbClr val="FF0000"/>
                </a:solidFill>
                <a:latin typeface="Arial"/>
                <a:cs typeface="Arial"/>
              </a:rPr>
              <a:t>0&lt;=startIndex,endIndex&lt;=L</a:t>
            </a:r>
            <a:r>
              <a:rPr sz="2000" spc="-5" dirty="0">
                <a:latin typeface="Arial"/>
                <a:cs typeface="Arial"/>
              </a:rPr>
              <a:t>, where </a:t>
            </a:r>
            <a:r>
              <a:rPr sz="2000" dirty="0">
                <a:solidFill>
                  <a:srgbClr val="FF0000"/>
                </a:solidFill>
                <a:latin typeface="Arial"/>
                <a:cs typeface="Arial"/>
              </a:rPr>
              <a:t>L </a:t>
            </a:r>
            <a:r>
              <a:rPr sz="2000" spc="-5" dirty="0">
                <a:latin typeface="Arial"/>
                <a:cs typeface="Arial"/>
              </a:rPr>
              <a:t>is length </a:t>
            </a:r>
            <a:r>
              <a:rPr sz="2000" dirty="0">
                <a:latin typeface="Arial"/>
                <a:cs typeface="Arial"/>
              </a:rPr>
              <a:t>of </a:t>
            </a:r>
            <a:r>
              <a:rPr sz="2000" spc="-5" dirty="0">
                <a:solidFill>
                  <a:srgbClr val="FF0000"/>
                </a:solidFill>
                <a:latin typeface="Arial"/>
                <a:cs typeface="Arial"/>
              </a:rPr>
              <a:t>this </a:t>
            </a:r>
            <a:r>
              <a:rPr sz="2000" spc="-5" dirty="0">
                <a:latin typeface="Arial"/>
                <a:cs typeface="Arial"/>
              </a:rPr>
              <a:t> </a:t>
            </a:r>
            <a:r>
              <a:rPr sz="2000" dirty="0">
                <a:latin typeface="Arial"/>
                <a:cs typeface="Arial"/>
              </a:rPr>
              <a:t>String and </a:t>
            </a:r>
            <a:r>
              <a:rPr sz="2000" dirty="0">
                <a:solidFill>
                  <a:srgbClr val="FF0000"/>
                </a:solidFill>
                <a:latin typeface="Arial"/>
                <a:cs typeface="Arial"/>
              </a:rPr>
              <a:t>startIndex &lt;=</a:t>
            </a:r>
            <a:r>
              <a:rPr sz="2000" spc="-95" dirty="0">
                <a:solidFill>
                  <a:srgbClr val="FF0000"/>
                </a:solidFill>
                <a:latin typeface="Arial"/>
                <a:cs typeface="Arial"/>
              </a:rPr>
              <a:t> </a:t>
            </a:r>
            <a:r>
              <a:rPr sz="2000" dirty="0">
                <a:solidFill>
                  <a:srgbClr val="FF0000"/>
                </a:solidFill>
                <a:latin typeface="Arial"/>
                <a:cs typeface="Arial"/>
              </a:rPr>
              <a:t>endIndex</a:t>
            </a:r>
            <a:r>
              <a:rPr sz="2000" dirty="0">
                <a:latin typeface="Arial"/>
                <a:cs typeface="Arial"/>
              </a:rPr>
              <a:t>]</a:t>
            </a:r>
            <a:endParaRPr sz="2000">
              <a:latin typeface="Arial"/>
              <a:cs typeface="Arial"/>
            </a:endParaRPr>
          </a:p>
          <a:p>
            <a:pPr marL="756285" lvl="1" indent="-287020" algn="just">
              <a:lnSpc>
                <a:spcPct val="100000"/>
              </a:lnSpc>
              <a:spcBef>
                <a:spcPts val="484"/>
              </a:spcBef>
              <a:buFont typeface="Wingdings"/>
              <a:buChar char=""/>
              <a:tabLst>
                <a:tab pos="756920" algn="l"/>
              </a:tabLst>
            </a:pPr>
            <a:r>
              <a:rPr sz="2000" spc="-5" dirty="0">
                <a:latin typeface="Arial"/>
                <a:cs typeface="Arial"/>
              </a:rPr>
              <a:t>If</a:t>
            </a:r>
            <a:r>
              <a:rPr sz="2000" spc="160" dirty="0">
                <a:latin typeface="Arial"/>
                <a:cs typeface="Arial"/>
              </a:rPr>
              <a:t> </a:t>
            </a:r>
            <a:r>
              <a:rPr sz="2000" spc="-5" dirty="0">
                <a:latin typeface="Arial"/>
                <a:cs typeface="Arial"/>
              </a:rPr>
              <a:t>values</a:t>
            </a:r>
            <a:r>
              <a:rPr sz="2000" spc="170" dirty="0">
                <a:latin typeface="Arial"/>
                <a:cs typeface="Arial"/>
              </a:rPr>
              <a:t> </a:t>
            </a:r>
            <a:r>
              <a:rPr sz="2000" spc="-5" dirty="0">
                <a:latin typeface="Arial"/>
                <a:cs typeface="Arial"/>
              </a:rPr>
              <a:t>of</a:t>
            </a:r>
            <a:r>
              <a:rPr sz="2000" spc="150" dirty="0">
                <a:latin typeface="Arial"/>
                <a:cs typeface="Arial"/>
              </a:rPr>
              <a:t> </a:t>
            </a:r>
            <a:r>
              <a:rPr sz="2000" spc="-5" dirty="0">
                <a:solidFill>
                  <a:srgbClr val="FF0000"/>
                </a:solidFill>
                <a:latin typeface="Arial"/>
                <a:cs typeface="Arial"/>
              </a:rPr>
              <a:t>startIndex</a:t>
            </a:r>
            <a:r>
              <a:rPr sz="2000" spc="150" dirty="0">
                <a:solidFill>
                  <a:srgbClr val="FF0000"/>
                </a:solidFill>
                <a:latin typeface="Arial"/>
                <a:cs typeface="Arial"/>
              </a:rPr>
              <a:t> </a:t>
            </a:r>
            <a:r>
              <a:rPr sz="2000" dirty="0">
                <a:solidFill>
                  <a:srgbClr val="FF0000"/>
                </a:solidFill>
                <a:latin typeface="Arial"/>
                <a:cs typeface="Arial"/>
              </a:rPr>
              <a:t>and</a:t>
            </a:r>
            <a:r>
              <a:rPr sz="2000" spc="145" dirty="0">
                <a:solidFill>
                  <a:srgbClr val="FF0000"/>
                </a:solidFill>
                <a:latin typeface="Arial"/>
                <a:cs typeface="Arial"/>
              </a:rPr>
              <a:t> </a:t>
            </a:r>
            <a:r>
              <a:rPr sz="2000" dirty="0">
                <a:solidFill>
                  <a:srgbClr val="FF0000"/>
                </a:solidFill>
                <a:latin typeface="Arial"/>
                <a:cs typeface="Arial"/>
              </a:rPr>
              <a:t>endIndex</a:t>
            </a:r>
            <a:r>
              <a:rPr sz="2000" spc="165" dirty="0">
                <a:solidFill>
                  <a:srgbClr val="FF0000"/>
                </a:solidFill>
                <a:latin typeface="Arial"/>
                <a:cs typeface="Arial"/>
              </a:rPr>
              <a:t> </a:t>
            </a:r>
            <a:r>
              <a:rPr sz="2000" spc="-10" dirty="0">
                <a:solidFill>
                  <a:srgbClr val="FF0000"/>
                </a:solidFill>
                <a:latin typeface="Arial"/>
                <a:cs typeface="Arial"/>
              </a:rPr>
              <a:t>are</a:t>
            </a:r>
            <a:r>
              <a:rPr sz="2000" spc="155" dirty="0">
                <a:solidFill>
                  <a:srgbClr val="FF0000"/>
                </a:solidFill>
                <a:latin typeface="Arial"/>
                <a:cs typeface="Arial"/>
              </a:rPr>
              <a:t> </a:t>
            </a:r>
            <a:r>
              <a:rPr sz="2000" dirty="0">
                <a:solidFill>
                  <a:srgbClr val="FF0000"/>
                </a:solidFill>
                <a:latin typeface="Arial"/>
                <a:cs typeface="Arial"/>
              </a:rPr>
              <a:t>equal,</a:t>
            </a:r>
            <a:r>
              <a:rPr sz="2000" spc="160" dirty="0">
                <a:solidFill>
                  <a:srgbClr val="FF0000"/>
                </a:solidFill>
                <a:latin typeface="Arial"/>
                <a:cs typeface="Arial"/>
              </a:rPr>
              <a:t> </a:t>
            </a:r>
            <a:r>
              <a:rPr sz="2000" spc="-5" dirty="0">
                <a:latin typeface="Arial"/>
                <a:cs typeface="Arial"/>
              </a:rPr>
              <a:t>then</a:t>
            </a:r>
            <a:r>
              <a:rPr sz="2000" spc="155" dirty="0">
                <a:latin typeface="Arial"/>
                <a:cs typeface="Arial"/>
              </a:rPr>
              <a:t> </a:t>
            </a:r>
            <a:r>
              <a:rPr sz="2000" dirty="0">
                <a:latin typeface="Arial"/>
                <a:cs typeface="Arial"/>
              </a:rPr>
              <a:t>no</a:t>
            </a:r>
            <a:r>
              <a:rPr sz="2000" spc="155" dirty="0">
                <a:latin typeface="Arial"/>
                <a:cs typeface="Arial"/>
              </a:rPr>
              <a:t> </a:t>
            </a:r>
            <a:r>
              <a:rPr sz="2000" spc="-5" dirty="0">
                <a:latin typeface="Arial"/>
                <a:cs typeface="Arial"/>
              </a:rPr>
              <a:t>character</a:t>
            </a:r>
            <a:r>
              <a:rPr sz="2000" spc="150" dirty="0">
                <a:latin typeface="Arial"/>
                <a:cs typeface="Arial"/>
              </a:rPr>
              <a:t> </a:t>
            </a:r>
            <a:r>
              <a:rPr sz="2000" dirty="0">
                <a:latin typeface="Arial"/>
                <a:cs typeface="Arial"/>
              </a:rPr>
              <a:t>will</a:t>
            </a:r>
            <a:endParaRPr sz="2000">
              <a:latin typeface="Arial"/>
              <a:cs typeface="Arial"/>
            </a:endParaRPr>
          </a:p>
          <a:p>
            <a:pPr marL="756285" algn="just">
              <a:lnSpc>
                <a:spcPct val="100000"/>
              </a:lnSpc>
            </a:pPr>
            <a:r>
              <a:rPr sz="2000" dirty="0">
                <a:latin typeface="Arial"/>
                <a:cs typeface="Arial"/>
              </a:rPr>
              <a:t>be</a:t>
            </a:r>
            <a:r>
              <a:rPr sz="2000" spc="-20" dirty="0">
                <a:latin typeface="Arial"/>
                <a:cs typeface="Arial"/>
              </a:rPr>
              <a:t> </a:t>
            </a:r>
            <a:r>
              <a:rPr sz="2000" dirty="0">
                <a:latin typeface="Arial"/>
                <a:cs typeface="Arial"/>
              </a:rPr>
              <a:t>extracted</a:t>
            </a:r>
            <a:endParaRPr sz="2000">
              <a:latin typeface="Arial"/>
              <a:cs typeface="Arial"/>
            </a:endParaRPr>
          </a:p>
          <a:p>
            <a:pPr marL="756285" marR="5715" lvl="1" indent="-287020" algn="just">
              <a:lnSpc>
                <a:spcPct val="100000"/>
              </a:lnSpc>
              <a:spcBef>
                <a:spcPts val="480"/>
              </a:spcBef>
              <a:buFont typeface="Wingdings"/>
              <a:buChar char=""/>
              <a:tabLst>
                <a:tab pos="756920" algn="l"/>
              </a:tabLst>
            </a:pPr>
            <a:r>
              <a:rPr sz="2000" spc="-5" dirty="0">
                <a:latin typeface="Arial"/>
                <a:cs typeface="Arial"/>
              </a:rPr>
              <a:t>If </a:t>
            </a:r>
            <a:r>
              <a:rPr sz="2000" dirty="0">
                <a:latin typeface="Arial"/>
                <a:cs typeface="Arial"/>
              </a:rPr>
              <a:t>value of </a:t>
            </a:r>
            <a:r>
              <a:rPr sz="2000" spc="-5" dirty="0">
                <a:solidFill>
                  <a:srgbClr val="FF0000"/>
                </a:solidFill>
                <a:latin typeface="Arial"/>
                <a:cs typeface="Arial"/>
              </a:rPr>
              <a:t>startIndex </a:t>
            </a:r>
            <a:r>
              <a:rPr sz="2000" dirty="0">
                <a:solidFill>
                  <a:srgbClr val="FF0000"/>
                </a:solidFill>
                <a:latin typeface="Arial"/>
                <a:cs typeface="Arial"/>
              </a:rPr>
              <a:t>&lt; endIndex OR </a:t>
            </a:r>
            <a:r>
              <a:rPr sz="2000" spc="-5" dirty="0">
                <a:solidFill>
                  <a:srgbClr val="FF0000"/>
                </a:solidFill>
                <a:latin typeface="Arial"/>
                <a:cs typeface="Arial"/>
              </a:rPr>
              <a:t>startIndex, </a:t>
            </a:r>
            <a:r>
              <a:rPr sz="2000" dirty="0">
                <a:solidFill>
                  <a:srgbClr val="FF0000"/>
                </a:solidFill>
                <a:latin typeface="Arial"/>
                <a:cs typeface="Arial"/>
              </a:rPr>
              <a:t>endIndex &gt; L </a:t>
            </a:r>
            <a:r>
              <a:rPr sz="2000" spc="-5" dirty="0">
                <a:solidFill>
                  <a:srgbClr val="FF0000"/>
                </a:solidFill>
                <a:latin typeface="Arial"/>
                <a:cs typeface="Arial"/>
              </a:rPr>
              <a:t>o, </a:t>
            </a:r>
            <a:r>
              <a:rPr sz="2000" spc="-10" dirty="0">
                <a:latin typeface="Arial"/>
                <a:cs typeface="Arial"/>
              </a:rPr>
              <a:t>then </a:t>
            </a:r>
            <a:r>
              <a:rPr sz="2000" spc="-10" dirty="0">
                <a:solidFill>
                  <a:srgbClr val="FF0000"/>
                </a:solidFill>
                <a:latin typeface="Arial"/>
                <a:cs typeface="Arial"/>
              </a:rPr>
              <a:t> </a:t>
            </a:r>
            <a:r>
              <a:rPr sz="2000" dirty="0">
                <a:solidFill>
                  <a:srgbClr val="FF0000"/>
                </a:solidFill>
                <a:latin typeface="Arial"/>
                <a:cs typeface="Arial"/>
              </a:rPr>
              <a:t>StringIndexOutOfBoundsException </a:t>
            </a:r>
            <a:r>
              <a:rPr sz="2000" dirty="0">
                <a:latin typeface="Arial"/>
                <a:cs typeface="Arial"/>
              </a:rPr>
              <a:t>will be</a:t>
            </a:r>
            <a:r>
              <a:rPr sz="2000" spc="-40" dirty="0">
                <a:latin typeface="Arial"/>
                <a:cs typeface="Arial"/>
              </a:rPr>
              <a:t> </a:t>
            </a:r>
            <a:r>
              <a:rPr sz="2000" dirty="0">
                <a:latin typeface="Arial"/>
                <a:cs typeface="Arial"/>
              </a:rPr>
              <a:t>thrown</a:t>
            </a:r>
            <a:endParaRPr sz="2000">
              <a:latin typeface="Arial"/>
              <a:cs typeface="Arial"/>
            </a:endParaRPr>
          </a:p>
        </p:txBody>
      </p:sp>
      <p:sp>
        <p:nvSpPr>
          <p:cNvPr id="3" name="object 3"/>
          <p:cNvSpPr txBox="1">
            <a:spLocks noGrp="1"/>
          </p:cNvSpPr>
          <p:nvPr>
            <p:ph type="title"/>
          </p:nvPr>
        </p:nvSpPr>
        <p:spPr>
          <a:xfrm>
            <a:off x="383540" y="379221"/>
            <a:ext cx="6101715" cy="574040"/>
          </a:xfrm>
          <a:prstGeom prst="rect">
            <a:avLst/>
          </a:prstGeom>
        </p:spPr>
        <p:txBody>
          <a:bodyPr vert="horz" wrap="square" lIns="0" tIns="12700" rIns="0" bIns="0" rtlCol="0">
            <a:spAutoFit/>
          </a:bodyPr>
          <a:lstStyle/>
          <a:p>
            <a:pPr marL="12700">
              <a:lnSpc>
                <a:spcPct val="100000"/>
              </a:lnSpc>
              <a:spcBef>
                <a:spcPts val="100"/>
              </a:spcBef>
            </a:pPr>
            <a:r>
              <a:rPr sz="3600" i="0" spc="-145" dirty="0">
                <a:solidFill>
                  <a:srgbClr val="000000"/>
                </a:solidFill>
                <a:latin typeface="Arial"/>
                <a:cs typeface="Arial"/>
              </a:rPr>
              <a:t>Modifying </a:t>
            </a:r>
            <a:r>
              <a:rPr sz="3600" i="0" spc="-140" dirty="0">
                <a:solidFill>
                  <a:srgbClr val="000000"/>
                </a:solidFill>
                <a:latin typeface="Arial"/>
                <a:cs typeface="Arial"/>
              </a:rPr>
              <a:t>Strings </a:t>
            </a:r>
            <a:r>
              <a:rPr sz="3600" i="0" dirty="0">
                <a:solidFill>
                  <a:srgbClr val="000000"/>
                </a:solidFill>
                <a:latin typeface="Arial"/>
                <a:cs typeface="Arial"/>
              </a:rPr>
              <a:t>:</a:t>
            </a:r>
            <a:r>
              <a:rPr sz="3600" i="0" spc="-530" dirty="0">
                <a:solidFill>
                  <a:srgbClr val="000000"/>
                </a:solidFill>
                <a:latin typeface="Arial"/>
                <a:cs typeface="Arial"/>
              </a:rPr>
              <a:t> </a:t>
            </a:r>
            <a:r>
              <a:rPr sz="3600" i="0" spc="-145" dirty="0">
                <a:solidFill>
                  <a:srgbClr val="000000"/>
                </a:solidFill>
                <a:latin typeface="Arial"/>
                <a:cs typeface="Arial"/>
              </a:rPr>
              <a:t>substring()</a:t>
            </a:r>
            <a:endParaRPr sz="3600" dirty="0">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0621"/>
            <a:ext cx="6101715" cy="1031240"/>
          </a:xfrm>
          <a:prstGeom prst="rect">
            <a:avLst/>
          </a:prstGeom>
        </p:spPr>
        <p:txBody>
          <a:bodyPr vert="horz" wrap="square" lIns="0" tIns="104139" rIns="0" bIns="0" rtlCol="0">
            <a:spAutoFit/>
          </a:bodyPr>
          <a:lstStyle/>
          <a:p>
            <a:pPr marL="12700" marR="5080">
              <a:lnSpc>
                <a:spcPts val="3600"/>
              </a:lnSpc>
              <a:spcBef>
                <a:spcPts val="819"/>
              </a:spcBef>
            </a:pPr>
            <a:r>
              <a:rPr sz="3600" i="0" spc="-145" dirty="0">
                <a:solidFill>
                  <a:srgbClr val="000000"/>
                </a:solidFill>
                <a:latin typeface="Arial"/>
                <a:cs typeface="Arial"/>
              </a:rPr>
              <a:t>Modifying </a:t>
            </a:r>
            <a:r>
              <a:rPr sz="3600" i="0" spc="-140" dirty="0">
                <a:solidFill>
                  <a:srgbClr val="000000"/>
                </a:solidFill>
                <a:latin typeface="Arial"/>
                <a:cs typeface="Arial"/>
              </a:rPr>
              <a:t>Strings </a:t>
            </a:r>
            <a:r>
              <a:rPr sz="3600" i="0" dirty="0">
                <a:solidFill>
                  <a:srgbClr val="000000"/>
                </a:solidFill>
                <a:latin typeface="Arial"/>
                <a:cs typeface="Arial"/>
              </a:rPr>
              <a:t>:</a:t>
            </a:r>
            <a:r>
              <a:rPr sz="3600" i="0" spc="-535" dirty="0">
                <a:solidFill>
                  <a:srgbClr val="000000"/>
                </a:solidFill>
                <a:latin typeface="Arial"/>
                <a:cs typeface="Arial"/>
              </a:rPr>
              <a:t> </a:t>
            </a:r>
            <a:r>
              <a:rPr sz="3600" i="0" spc="-145" dirty="0">
                <a:solidFill>
                  <a:srgbClr val="000000"/>
                </a:solidFill>
                <a:latin typeface="Arial"/>
                <a:cs typeface="Arial"/>
              </a:rPr>
              <a:t>substring()  </a:t>
            </a:r>
            <a:r>
              <a:rPr sz="3600" i="0" spc="-140" dirty="0">
                <a:solidFill>
                  <a:srgbClr val="000000"/>
                </a:solidFill>
                <a:latin typeface="Arial"/>
                <a:cs typeface="Arial"/>
              </a:rPr>
              <a:t>Example</a:t>
            </a:r>
            <a:endParaRPr sz="3600">
              <a:latin typeface="Arial"/>
              <a:cs typeface="Arial"/>
            </a:endParaRPr>
          </a:p>
        </p:txBody>
      </p:sp>
      <p:sp>
        <p:nvSpPr>
          <p:cNvPr id="3" name="object 3"/>
          <p:cNvSpPr txBox="1"/>
          <p:nvPr/>
        </p:nvSpPr>
        <p:spPr>
          <a:xfrm>
            <a:off x="383540" y="1676146"/>
            <a:ext cx="5872480" cy="848360"/>
          </a:xfrm>
          <a:prstGeom prst="rect">
            <a:avLst/>
          </a:prstGeom>
        </p:spPr>
        <p:txBody>
          <a:bodyPr vert="horz" wrap="square" lIns="0" tIns="12700" rIns="0" bIns="0" rtlCol="0">
            <a:spAutoFit/>
          </a:bodyPr>
          <a:lstStyle/>
          <a:p>
            <a:pPr marL="12700">
              <a:lnSpc>
                <a:spcPct val="100000"/>
              </a:lnSpc>
              <a:spcBef>
                <a:spcPts val="100"/>
              </a:spcBef>
              <a:tabLst>
                <a:tab pos="927100" algn="l"/>
                <a:tab pos="1841500" algn="l"/>
                <a:tab pos="2755900" algn="l"/>
              </a:tabLst>
            </a:pPr>
            <a:r>
              <a:rPr sz="1800" b="1" dirty="0">
                <a:solidFill>
                  <a:srgbClr val="FF0000"/>
                </a:solidFill>
                <a:latin typeface="Calibri"/>
                <a:cs typeface="Calibri"/>
              </a:rPr>
              <a:t>String	s	=	</a:t>
            </a:r>
            <a:r>
              <a:rPr sz="1800" b="1" spc="-5" dirty="0">
                <a:solidFill>
                  <a:srgbClr val="FF0000"/>
                </a:solidFill>
                <a:latin typeface="Calibri"/>
                <a:cs typeface="Calibri"/>
              </a:rPr>
              <a:t>"Now </a:t>
            </a:r>
            <a:r>
              <a:rPr sz="1800" b="1" dirty="0">
                <a:solidFill>
                  <a:srgbClr val="FF0000"/>
                </a:solidFill>
                <a:latin typeface="Calibri"/>
                <a:cs typeface="Calibri"/>
              </a:rPr>
              <a:t>is the </a:t>
            </a:r>
            <a:r>
              <a:rPr sz="1800" b="1" spc="-5" dirty="0">
                <a:solidFill>
                  <a:srgbClr val="FF0000"/>
                </a:solidFill>
                <a:latin typeface="Calibri"/>
                <a:cs typeface="Calibri"/>
              </a:rPr>
              <a:t>Time </a:t>
            </a:r>
            <a:r>
              <a:rPr sz="1800" b="1" spc="-10" dirty="0">
                <a:solidFill>
                  <a:srgbClr val="FF0000"/>
                </a:solidFill>
                <a:latin typeface="Calibri"/>
                <a:cs typeface="Calibri"/>
              </a:rPr>
              <a:t>For </a:t>
            </a:r>
            <a:r>
              <a:rPr sz="1800" b="1" dirty="0">
                <a:solidFill>
                  <a:srgbClr val="FF0000"/>
                </a:solidFill>
                <a:latin typeface="Calibri"/>
                <a:cs typeface="Calibri"/>
              </a:rPr>
              <a:t>All</a:t>
            </a:r>
            <a:r>
              <a:rPr sz="1800" b="1" spc="-85" dirty="0">
                <a:solidFill>
                  <a:srgbClr val="FF0000"/>
                </a:solidFill>
                <a:latin typeface="Calibri"/>
                <a:cs typeface="Calibri"/>
              </a:rPr>
              <a:t> </a:t>
            </a:r>
            <a:r>
              <a:rPr sz="1800" b="1" spc="-5" dirty="0">
                <a:solidFill>
                  <a:srgbClr val="FF0000"/>
                </a:solidFill>
                <a:latin typeface="Calibri"/>
                <a:cs typeface="Calibri"/>
              </a:rPr>
              <a:t>Indian";</a:t>
            </a:r>
            <a:endParaRPr sz="1800">
              <a:latin typeface="Calibri"/>
              <a:cs typeface="Calibri"/>
            </a:endParaRPr>
          </a:p>
          <a:p>
            <a:pPr>
              <a:lnSpc>
                <a:spcPct val="100000"/>
              </a:lnSpc>
              <a:spcBef>
                <a:spcPts val="20"/>
              </a:spcBef>
            </a:pPr>
            <a:endParaRPr sz="1750">
              <a:latin typeface="Calibri"/>
              <a:cs typeface="Calibri"/>
            </a:endParaRPr>
          </a:p>
          <a:p>
            <a:pPr marL="12700">
              <a:lnSpc>
                <a:spcPct val="100000"/>
              </a:lnSpc>
            </a:pPr>
            <a:r>
              <a:rPr sz="1800" b="1" spc="-10" dirty="0">
                <a:solidFill>
                  <a:srgbClr val="FF0000"/>
                </a:solidFill>
                <a:latin typeface="Calibri"/>
                <a:cs typeface="Calibri"/>
              </a:rPr>
              <a:t>System.out.println(s.length());</a:t>
            </a:r>
            <a:endParaRPr sz="1800">
              <a:latin typeface="Calibri"/>
              <a:cs typeface="Calibri"/>
            </a:endParaRPr>
          </a:p>
        </p:txBody>
      </p:sp>
      <p:sp>
        <p:nvSpPr>
          <p:cNvPr id="4" name="object 4"/>
          <p:cNvSpPr txBox="1"/>
          <p:nvPr/>
        </p:nvSpPr>
        <p:spPr>
          <a:xfrm>
            <a:off x="383540" y="2773121"/>
            <a:ext cx="3677285" cy="300355"/>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System.out.println(s.substring(30,30));</a:t>
            </a:r>
            <a:endParaRPr sz="1800">
              <a:latin typeface="Calibri"/>
              <a:cs typeface="Calibri"/>
            </a:endParaRPr>
          </a:p>
        </p:txBody>
      </p:sp>
      <p:sp>
        <p:nvSpPr>
          <p:cNvPr id="5" name="object 5"/>
          <p:cNvSpPr txBox="1"/>
          <p:nvPr/>
        </p:nvSpPr>
        <p:spPr>
          <a:xfrm>
            <a:off x="383540" y="3322446"/>
            <a:ext cx="367728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System.out.println(s.substring(20,20));</a:t>
            </a:r>
            <a:endParaRPr sz="1800">
              <a:latin typeface="Calibri"/>
              <a:cs typeface="Calibri"/>
            </a:endParaRPr>
          </a:p>
        </p:txBody>
      </p:sp>
      <p:sp>
        <p:nvSpPr>
          <p:cNvPr id="6" name="object 6"/>
          <p:cNvSpPr txBox="1"/>
          <p:nvPr/>
        </p:nvSpPr>
        <p:spPr>
          <a:xfrm>
            <a:off x="383540" y="3871086"/>
            <a:ext cx="344551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System.out.println(s.substring(0,2));</a:t>
            </a:r>
            <a:endParaRPr sz="1800">
              <a:latin typeface="Calibri"/>
              <a:cs typeface="Calibri"/>
            </a:endParaRPr>
          </a:p>
        </p:txBody>
      </p:sp>
      <p:sp>
        <p:nvSpPr>
          <p:cNvPr id="7" name="object 7"/>
          <p:cNvSpPr txBox="1"/>
          <p:nvPr/>
        </p:nvSpPr>
        <p:spPr>
          <a:xfrm>
            <a:off x="383540" y="4419980"/>
            <a:ext cx="338582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System.out.println(s.substring(11));</a:t>
            </a:r>
            <a:endParaRPr sz="1800">
              <a:latin typeface="Calibri"/>
              <a:cs typeface="Calibri"/>
            </a:endParaRPr>
          </a:p>
        </p:txBody>
      </p:sp>
      <p:grpSp>
        <p:nvGrpSpPr>
          <p:cNvPr id="8" name="object 8"/>
          <p:cNvGrpSpPr/>
          <p:nvPr/>
        </p:nvGrpSpPr>
        <p:grpSpPr>
          <a:xfrm>
            <a:off x="4421123" y="2264664"/>
            <a:ext cx="3045460" cy="314325"/>
            <a:chOff x="4421123" y="2264664"/>
            <a:chExt cx="3045460" cy="314325"/>
          </a:xfrm>
        </p:grpSpPr>
        <p:sp>
          <p:nvSpPr>
            <p:cNvPr id="9" name="object 9"/>
            <p:cNvSpPr/>
            <p:nvPr/>
          </p:nvSpPr>
          <p:spPr>
            <a:xfrm>
              <a:off x="4434077" y="2277618"/>
              <a:ext cx="3019425" cy="288290"/>
            </a:xfrm>
            <a:custGeom>
              <a:avLst/>
              <a:gdLst/>
              <a:ahLst/>
              <a:cxnLst/>
              <a:rect l="l" t="t" r="r" b="b"/>
              <a:pathLst>
                <a:path w="3019425" h="288289">
                  <a:moveTo>
                    <a:pt x="2875026" y="0"/>
                  </a:moveTo>
                  <a:lnTo>
                    <a:pt x="2875026" y="72009"/>
                  </a:lnTo>
                  <a:lnTo>
                    <a:pt x="0" y="72009"/>
                  </a:lnTo>
                  <a:lnTo>
                    <a:pt x="0" y="216027"/>
                  </a:lnTo>
                  <a:lnTo>
                    <a:pt x="2875026" y="216027"/>
                  </a:lnTo>
                  <a:lnTo>
                    <a:pt x="2875026" y="288036"/>
                  </a:lnTo>
                  <a:lnTo>
                    <a:pt x="3019044" y="144018"/>
                  </a:lnTo>
                  <a:lnTo>
                    <a:pt x="2875026" y="0"/>
                  </a:lnTo>
                  <a:close/>
                </a:path>
              </a:pathLst>
            </a:custGeom>
            <a:solidFill>
              <a:srgbClr val="4F81BC"/>
            </a:solidFill>
          </p:spPr>
          <p:txBody>
            <a:bodyPr wrap="square" lIns="0" tIns="0" rIns="0" bIns="0" rtlCol="0"/>
            <a:lstStyle/>
            <a:p>
              <a:endParaRPr/>
            </a:p>
          </p:txBody>
        </p:sp>
        <p:sp>
          <p:nvSpPr>
            <p:cNvPr id="10" name="object 10"/>
            <p:cNvSpPr/>
            <p:nvPr/>
          </p:nvSpPr>
          <p:spPr>
            <a:xfrm>
              <a:off x="4434077" y="2277618"/>
              <a:ext cx="3019425" cy="288290"/>
            </a:xfrm>
            <a:custGeom>
              <a:avLst/>
              <a:gdLst/>
              <a:ahLst/>
              <a:cxnLst/>
              <a:rect l="l" t="t" r="r" b="b"/>
              <a:pathLst>
                <a:path w="3019425" h="288289">
                  <a:moveTo>
                    <a:pt x="0" y="72009"/>
                  </a:moveTo>
                  <a:lnTo>
                    <a:pt x="2875026" y="72009"/>
                  </a:lnTo>
                  <a:lnTo>
                    <a:pt x="2875026" y="0"/>
                  </a:lnTo>
                  <a:lnTo>
                    <a:pt x="3019044" y="144018"/>
                  </a:lnTo>
                  <a:lnTo>
                    <a:pt x="2875026" y="288036"/>
                  </a:lnTo>
                  <a:lnTo>
                    <a:pt x="2875026" y="216027"/>
                  </a:lnTo>
                  <a:lnTo>
                    <a:pt x="0" y="216027"/>
                  </a:lnTo>
                  <a:lnTo>
                    <a:pt x="0" y="72009"/>
                  </a:lnTo>
                  <a:close/>
                </a:path>
              </a:pathLst>
            </a:custGeom>
            <a:ln w="25907">
              <a:solidFill>
                <a:srgbClr val="385D89"/>
              </a:solidFill>
            </a:ln>
          </p:spPr>
          <p:txBody>
            <a:bodyPr wrap="square" lIns="0" tIns="0" rIns="0" bIns="0" rtlCol="0"/>
            <a:lstStyle/>
            <a:p>
              <a:endParaRPr/>
            </a:p>
          </p:txBody>
        </p:sp>
      </p:grpSp>
      <p:sp>
        <p:nvSpPr>
          <p:cNvPr id="11" name="object 11"/>
          <p:cNvSpPr txBox="1"/>
          <p:nvPr/>
        </p:nvSpPr>
        <p:spPr>
          <a:xfrm>
            <a:off x="7592948" y="2185121"/>
            <a:ext cx="1425575" cy="1302385"/>
          </a:xfrm>
          <a:prstGeom prst="rect">
            <a:avLst/>
          </a:prstGeom>
        </p:spPr>
        <p:txBody>
          <a:bodyPr vert="horz" wrap="square" lIns="0" tIns="65405" rIns="0" bIns="0" rtlCol="0">
            <a:spAutoFit/>
          </a:bodyPr>
          <a:lstStyle/>
          <a:p>
            <a:pPr marL="95885">
              <a:lnSpc>
                <a:spcPct val="100000"/>
              </a:lnSpc>
              <a:spcBef>
                <a:spcPts val="515"/>
              </a:spcBef>
            </a:pPr>
            <a:r>
              <a:rPr sz="1800" b="1" spc="-5" dirty="0">
                <a:solidFill>
                  <a:srgbClr val="FF0000"/>
                </a:solidFill>
                <a:latin typeface="Calibri"/>
                <a:cs typeface="Calibri"/>
              </a:rPr>
              <a:t>30</a:t>
            </a:r>
            <a:endParaRPr sz="1800">
              <a:latin typeface="Calibri"/>
              <a:cs typeface="Calibri"/>
            </a:endParaRPr>
          </a:p>
          <a:p>
            <a:pPr marL="12700" marR="5080">
              <a:lnSpc>
                <a:spcPct val="100000"/>
              </a:lnSpc>
              <a:spcBef>
                <a:spcPts val="365"/>
              </a:spcBef>
              <a:tabLst>
                <a:tab pos="1202690" algn="l"/>
              </a:tabLst>
            </a:pPr>
            <a:r>
              <a:rPr sz="1600" b="1" spc="-10" dirty="0">
                <a:solidFill>
                  <a:srgbClr val="FF0000"/>
                </a:solidFill>
                <a:latin typeface="Calibri"/>
                <a:cs typeface="Calibri"/>
              </a:rPr>
              <a:t>&lt;&lt;No </a:t>
            </a:r>
            <a:r>
              <a:rPr sz="1600" b="1" spc="-15" dirty="0">
                <a:solidFill>
                  <a:srgbClr val="FF0000"/>
                </a:solidFill>
                <a:latin typeface="Calibri"/>
                <a:cs typeface="Calibri"/>
              </a:rPr>
              <a:t>Character  </a:t>
            </a:r>
            <a:r>
              <a:rPr sz="1600" b="1" spc="-5" dirty="0">
                <a:solidFill>
                  <a:srgbClr val="FF0000"/>
                </a:solidFill>
                <a:latin typeface="Calibri"/>
                <a:cs typeface="Calibri"/>
              </a:rPr>
              <a:t>W</a:t>
            </a:r>
            <a:r>
              <a:rPr sz="1600" b="1" spc="-15" dirty="0">
                <a:solidFill>
                  <a:srgbClr val="FF0000"/>
                </a:solidFill>
                <a:latin typeface="Calibri"/>
                <a:cs typeface="Calibri"/>
              </a:rPr>
              <a:t>i</a:t>
            </a:r>
            <a:r>
              <a:rPr sz="1600" b="1" spc="-5" dirty="0">
                <a:solidFill>
                  <a:srgbClr val="FF0000"/>
                </a:solidFill>
                <a:latin typeface="Calibri"/>
                <a:cs typeface="Calibri"/>
              </a:rPr>
              <a:t>ll</a:t>
            </a:r>
            <a:r>
              <a:rPr sz="1600" b="1" dirty="0">
                <a:solidFill>
                  <a:srgbClr val="FF0000"/>
                </a:solidFill>
                <a:latin typeface="Calibri"/>
                <a:cs typeface="Calibri"/>
              </a:rPr>
              <a:t>	</a:t>
            </a:r>
            <a:r>
              <a:rPr sz="1600" b="1" spc="-10" dirty="0">
                <a:solidFill>
                  <a:srgbClr val="FF0000"/>
                </a:solidFill>
                <a:latin typeface="Calibri"/>
                <a:cs typeface="Calibri"/>
              </a:rPr>
              <a:t>be</a:t>
            </a:r>
            <a:endParaRPr sz="1600">
              <a:latin typeface="Calibri"/>
              <a:cs typeface="Calibri"/>
            </a:endParaRPr>
          </a:p>
          <a:p>
            <a:pPr marL="12700">
              <a:lnSpc>
                <a:spcPts val="1635"/>
              </a:lnSpc>
            </a:pPr>
            <a:r>
              <a:rPr sz="1600" b="1" spc="-15" dirty="0">
                <a:solidFill>
                  <a:srgbClr val="FF0000"/>
                </a:solidFill>
                <a:latin typeface="Calibri"/>
                <a:cs typeface="Calibri"/>
              </a:rPr>
              <a:t>extracted</a:t>
            </a:r>
            <a:endParaRPr sz="1600">
              <a:latin typeface="Calibri"/>
              <a:cs typeface="Calibri"/>
            </a:endParaRPr>
          </a:p>
          <a:p>
            <a:pPr marL="12700">
              <a:lnSpc>
                <a:spcPts val="1635"/>
              </a:lnSpc>
            </a:pPr>
            <a:r>
              <a:rPr sz="1600" b="1" spc="-10" dirty="0">
                <a:solidFill>
                  <a:srgbClr val="FF0000"/>
                </a:solidFill>
                <a:latin typeface="Calibri"/>
                <a:cs typeface="Calibri"/>
              </a:rPr>
              <a:t>&lt;&lt;No</a:t>
            </a:r>
            <a:r>
              <a:rPr sz="1600" b="1" spc="5" dirty="0">
                <a:solidFill>
                  <a:srgbClr val="FF0000"/>
                </a:solidFill>
                <a:latin typeface="Calibri"/>
                <a:cs typeface="Calibri"/>
              </a:rPr>
              <a:t> </a:t>
            </a:r>
            <a:r>
              <a:rPr sz="1600" b="1" spc="-15" dirty="0">
                <a:solidFill>
                  <a:srgbClr val="FF0000"/>
                </a:solidFill>
                <a:latin typeface="Calibri"/>
                <a:cs typeface="Calibri"/>
              </a:rPr>
              <a:t>Character</a:t>
            </a:r>
            <a:endParaRPr sz="1600">
              <a:latin typeface="Calibri"/>
              <a:cs typeface="Calibri"/>
            </a:endParaRPr>
          </a:p>
        </p:txBody>
      </p:sp>
      <p:grpSp>
        <p:nvGrpSpPr>
          <p:cNvPr id="12" name="object 12"/>
          <p:cNvGrpSpPr/>
          <p:nvPr/>
        </p:nvGrpSpPr>
        <p:grpSpPr>
          <a:xfrm>
            <a:off x="4421123" y="2795016"/>
            <a:ext cx="3045460" cy="314325"/>
            <a:chOff x="4421123" y="2795016"/>
            <a:chExt cx="3045460" cy="314325"/>
          </a:xfrm>
        </p:grpSpPr>
        <p:sp>
          <p:nvSpPr>
            <p:cNvPr id="13" name="object 13"/>
            <p:cNvSpPr/>
            <p:nvPr/>
          </p:nvSpPr>
          <p:spPr>
            <a:xfrm>
              <a:off x="4434077" y="2807970"/>
              <a:ext cx="3019425" cy="288290"/>
            </a:xfrm>
            <a:custGeom>
              <a:avLst/>
              <a:gdLst/>
              <a:ahLst/>
              <a:cxnLst/>
              <a:rect l="l" t="t" r="r" b="b"/>
              <a:pathLst>
                <a:path w="3019425" h="288289">
                  <a:moveTo>
                    <a:pt x="2875026" y="0"/>
                  </a:moveTo>
                  <a:lnTo>
                    <a:pt x="2875026" y="72008"/>
                  </a:lnTo>
                  <a:lnTo>
                    <a:pt x="0" y="72008"/>
                  </a:lnTo>
                  <a:lnTo>
                    <a:pt x="0" y="216026"/>
                  </a:lnTo>
                  <a:lnTo>
                    <a:pt x="2875026" y="216026"/>
                  </a:lnTo>
                  <a:lnTo>
                    <a:pt x="2875026" y="288035"/>
                  </a:lnTo>
                  <a:lnTo>
                    <a:pt x="3019044" y="144017"/>
                  </a:lnTo>
                  <a:lnTo>
                    <a:pt x="2875026" y="0"/>
                  </a:lnTo>
                  <a:close/>
                </a:path>
              </a:pathLst>
            </a:custGeom>
            <a:solidFill>
              <a:srgbClr val="4F81BC"/>
            </a:solidFill>
          </p:spPr>
          <p:txBody>
            <a:bodyPr wrap="square" lIns="0" tIns="0" rIns="0" bIns="0" rtlCol="0"/>
            <a:lstStyle/>
            <a:p>
              <a:endParaRPr/>
            </a:p>
          </p:txBody>
        </p:sp>
        <p:sp>
          <p:nvSpPr>
            <p:cNvPr id="14" name="object 14"/>
            <p:cNvSpPr/>
            <p:nvPr/>
          </p:nvSpPr>
          <p:spPr>
            <a:xfrm>
              <a:off x="4434077" y="2807970"/>
              <a:ext cx="3019425" cy="288290"/>
            </a:xfrm>
            <a:custGeom>
              <a:avLst/>
              <a:gdLst/>
              <a:ahLst/>
              <a:cxnLst/>
              <a:rect l="l" t="t" r="r" b="b"/>
              <a:pathLst>
                <a:path w="3019425" h="288289">
                  <a:moveTo>
                    <a:pt x="0" y="72008"/>
                  </a:moveTo>
                  <a:lnTo>
                    <a:pt x="2875026" y="72008"/>
                  </a:lnTo>
                  <a:lnTo>
                    <a:pt x="2875026" y="0"/>
                  </a:lnTo>
                  <a:lnTo>
                    <a:pt x="3019044" y="144017"/>
                  </a:lnTo>
                  <a:lnTo>
                    <a:pt x="2875026" y="288035"/>
                  </a:lnTo>
                  <a:lnTo>
                    <a:pt x="2875026" y="216026"/>
                  </a:lnTo>
                  <a:lnTo>
                    <a:pt x="0" y="216026"/>
                  </a:lnTo>
                  <a:lnTo>
                    <a:pt x="0" y="72008"/>
                  </a:lnTo>
                  <a:close/>
                </a:path>
              </a:pathLst>
            </a:custGeom>
            <a:ln w="25908">
              <a:solidFill>
                <a:srgbClr val="385D89"/>
              </a:solidFill>
            </a:ln>
          </p:spPr>
          <p:txBody>
            <a:bodyPr wrap="square" lIns="0" tIns="0" rIns="0" bIns="0" rtlCol="0"/>
            <a:lstStyle/>
            <a:p>
              <a:endParaRPr/>
            </a:p>
          </p:txBody>
        </p:sp>
      </p:grpSp>
      <p:grpSp>
        <p:nvGrpSpPr>
          <p:cNvPr id="15" name="object 15"/>
          <p:cNvGrpSpPr/>
          <p:nvPr/>
        </p:nvGrpSpPr>
        <p:grpSpPr>
          <a:xfrm>
            <a:off x="4421123" y="3454908"/>
            <a:ext cx="3045460" cy="314325"/>
            <a:chOff x="4421123" y="3454908"/>
            <a:chExt cx="3045460" cy="314325"/>
          </a:xfrm>
        </p:grpSpPr>
        <p:sp>
          <p:nvSpPr>
            <p:cNvPr id="16" name="object 16"/>
            <p:cNvSpPr/>
            <p:nvPr/>
          </p:nvSpPr>
          <p:spPr>
            <a:xfrm>
              <a:off x="4434077" y="3467862"/>
              <a:ext cx="3019425" cy="288290"/>
            </a:xfrm>
            <a:custGeom>
              <a:avLst/>
              <a:gdLst/>
              <a:ahLst/>
              <a:cxnLst/>
              <a:rect l="l" t="t" r="r" b="b"/>
              <a:pathLst>
                <a:path w="3019425" h="288289">
                  <a:moveTo>
                    <a:pt x="2875026" y="0"/>
                  </a:moveTo>
                  <a:lnTo>
                    <a:pt x="2875026" y="72009"/>
                  </a:lnTo>
                  <a:lnTo>
                    <a:pt x="0" y="72009"/>
                  </a:lnTo>
                  <a:lnTo>
                    <a:pt x="0" y="216026"/>
                  </a:lnTo>
                  <a:lnTo>
                    <a:pt x="2875026" y="216026"/>
                  </a:lnTo>
                  <a:lnTo>
                    <a:pt x="2875026" y="288036"/>
                  </a:lnTo>
                  <a:lnTo>
                    <a:pt x="3019044" y="144018"/>
                  </a:lnTo>
                  <a:lnTo>
                    <a:pt x="2875026" y="0"/>
                  </a:lnTo>
                  <a:close/>
                </a:path>
              </a:pathLst>
            </a:custGeom>
            <a:solidFill>
              <a:srgbClr val="4F81BC"/>
            </a:solidFill>
          </p:spPr>
          <p:txBody>
            <a:bodyPr wrap="square" lIns="0" tIns="0" rIns="0" bIns="0" rtlCol="0"/>
            <a:lstStyle/>
            <a:p>
              <a:endParaRPr/>
            </a:p>
          </p:txBody>
        </p:sp>
        <p:sp>
          <p:nvSpPr>
            <p:cNvPr id="17" name="object 17"/>
            <p:cNvSpPr/>
            <p:nvPr/>
          </p:nvSpPr>
          <p:spPr>
            <a:xfrm>
              <a:off x="4434077" y="3467862"/>
              <a:ext cx="3019425" cy="288290"/>
            </a:xfrm>
            <a:custGeom>
              <a:avLst/>
              <a:gdLst/>
              <a:ahLst/>
              <a:cxnLst/>
              <a:rect l="l" t="t" r="r" b="b"/>
              <a:pathLst>
                <a:path w="3019425" h="288289">
                  <a:moveTo>
                    <a:pt x="0" y="72009"/>
                  </a:moveTo>
                  <a:lnTo>
                    <a:pt x="2875026" y="72009"/>
                  </a:lnTo>
                  <a:lnTo>
                    <a:pt x="2875026" y="0"/>
                  </a:lnTo>
                  <a:lnTo>
                    <a:pt x="3019044" y="144018"/>
                  </a:lnTo>
                  <a:lnTo>
                    <a:pt x="2875026" y="288036"/>
                  </a:lnTo>
                  <a:lnTo>
                    <a:pt x="2875026" y="216026"/>
                  </a:lnTo>
                  <a:lnTo>
                    <a:pt x="0" y="216026"/>
                  </a:lnTo>
                  <a:lnTo>
                    <a:pt x="0" y="72009"/>
                  </a:lnTo>
                  <a:close/>
                </a:path>
              </a:pathLst>
            </a:custGeom>
            <a:ln w="25907">
              <a:solidFill>
                <a:srgbClr val="385D89"/>
              </a:solidFill>
            </a:ln>
          </p:spPr>
          <p:txBody>
            <a:bodyPr wrap="square" lIns="0" tIns="0" rIns="0" bIns="0" rtlCol="0"/>
            <a:lstStyle/>
            <a:p>
              <a:endParaRPr/>
            </a:p>
          </p:txBody>
        </p:sp>
      </p:grpSp>
      <p:sp>
        <p:nvSpPr>
          <p:cNvPr id="18" name="object 18"/>
          <p:cNvSpPr txBox="1"/>
          <p:nvPr/>
        </p:nvSpPr>
        <p:spPr>
          <a:xfrm>
            <a:off x="8783193" y="3461969"/>
            <a:ext cx="235585" cy="269240"/>
          </a:xfrm>
          <a:prstGeom prst="rect">
            <a:avLst/>
          </a:prstGeom>
        </p:spPr>
        <p:txBody>
          <a:bodyPr vert="horz" wrap="square" lIns="0" tIns="12065" rIns="0" bIns="0" rtlCol="0">
            <a:spAutoFit/>
          </a:bodyPr>
          <a:lstStyle/>
          <a:p>
            <a:pPr marL="12700">
              <a:lnSpc>
                <a:spcPct val="100000"/>
              </a:lnSpc>
              <a:spcBef>
                <a:spcPts val="95"/>
              </a:spcBef>
            </a:pPr>
            <a:r>
              <a:rPr sz="1600" b="1" spc="-15" dirty="0">
                <a:solidFill>
                  <a:srgbClr val="FF0000"/>
                </a:solidFill>
                <a:latin typeface="Calibri"/>
                <a:cs typeface="Calibri"/>
              </a:rPr>
              <a:t>be</a:t>
            </a:r>
            <a:endParaRPr sz="1600">
              <a:latin typeface="Calibri"/>
              <a:cs typeface="Calibri"/>
            </a:endParaRPr>
          </a:p>
        </p:txBody>
      </p:sp>
      <p:sp>
        <p:nvSpPr>
          <p:cNvPr id="19" name="object 19"/>
          <p:cNvSpPr txBox="1"/>
          <p:nvPr/>
        </p:nvSpPr>
        <p:spPr>
          <a:xfrm>
            <a:off x="7592948" y="3461969"/>
            <a:ext cx="818515" cy="855344"/>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0000"/>
                </a:solidFill>
                <a:latin typeface="Calibri"/>
                <a:cs typeface="Calibri"/>
              </a:rPr>
              <a:t>Will</a:t>
            </a:r>
            <a:endParaRPr sz="1600">
              <a:latin typeface="Calibri"/>
              <a:cs typeface="Calibri"/>
            </a:endParaRPr>
          </a:p>
          <a:p>
            <a:pPr marL="12700">
              <a:lnSpc>
                <a:spcPct val="100000"/>
              </a:lnSpc>
              <a:spcBef>
                <a:spcPts val="5"/>
              </a:spcBef>
            </a:pPr>
            <a:r>
              <a:rPr sz="1600" b="1" spc="-30" dirty="0">
                <a:solidFill>
                  <a:srgbClr val="FF0000"/>
                </a:solidFill>
                <a:latin typeface="Calibri"/>
                <a:cs typeface="Calibri"/>
              </a:rPr>
              <a:t>e</a:t>
            </a:r>
            <a:r>
              <a:rPr sz="1600" b="1" spc="-10" dirty="0">
                <a:solidFill>
                  <a:srgbClr val="FF0000"/>
                </a:solidFill>
                <a:latin typeface="Calibri"/>
                <a:cs typeface="Calibri"/>
              </a:rPr>
              <a:t>xt</a:t>
            </a:r>
            <a:r>
              <a:rPr sz="1600" b="1" spc="-50" dirty="0">
                <a:solidFill>
                  <a:srgbClr val="FF0000"/>
                </a:solidFill>
                <a:latin typeface="Calibri"/>
                <a:cs typeface="Calibri"/>
              </a:rPr>
              <a:t>r</a:t>
            </a:r>
            <a:r>
              <a:rPr sz="1600" b="1" spc="-5" dirty="0">
                <a:solidFill>
                  <a:srgbClr val="FF0000"/>
                </a:solidFill>
                <a:latin typeface="Calibri"/>
                <a:cs typeface="Calibri"/>
              </a:rPr>
              <a:t>a</a:t>
            </a:r>
            <a:r>
              <a:rPr sz="1600" b="1" dirty="0">
                <a:solidFill>
                  <a:srgbClr val="FF0000"/>
                </a:solidFill>
                <a:latin typeface="Calibri"/>
                <a:cs typeface="Calibri"/>
              </a:rPr>
              <a:t>c</a:t>
            </a:r>
            <a:r>
              <a:rPr sz="1600" b="1" spc="-30" dirty="0">
                <a:solidFill>
                  <a:srgbClr val="FF0000"/>
                </a:solidFill>
                <a:latin typeface="Calibri"/>
                <a:cs typeface="Calibri"/>
              </a:rPr>
              <a:t>t</a:t>
            </a:r>
            <a:r>
              <a:rPr sz="1600" b="1" spc="-10" dirty="0">
                <a:solidFill>
                  <a:srgbClr val="FF0000"/>
                </a:solidFill>
                <a:latin typeface="Calibri"/>
                <a:cs typeface="Calibri"/>
              </a:rPr>
              <a:t>ed</a:t>
            </a:r>
            <a:endParaRPr sz="1600">
              <a:latin typeface="Calibri"/>
              <a:cs typeface="Calibri"/>
            </a:endParaRPr>
          </a:p>
          <a:p>
            <a:pPr marL="12700">
              <a:lnSpc>
                <a:spcPct val="100000"/>
              </a:lnSpc>
              <a:spcBef>
                <a:spcPts val="775"/>
              </a:spcBef>
            </a:pPr>
            <a:r>
              <a:rPr sz="1600" b="1" spc="-5" dirty="0">
                <a:solidFill>
                  <a:srgbClr val="FF0000"/>
                </a:solidFill>
                <a:latin typeface="Calibri"/>
                <a:cs typeface="Calibri"/>
              </a:rPr>
              <a:t>No</a:t>
            </a:r>
            <a:endParaRPr sz="1600">
              <a:latin typeface="Calibri"/>
              <a:cs typeface="Calibri"/>
            </a:endParaRPr>
          </a:p>
        </p:txBody>
      </p:sp>
      <p:grpSp>
        <p:nvGrpSpPr>
          <p:cNvPr id="20" name="object 20"/>
          <p:cNvGrpSpPr/>
          <p:nvPr/>
        </p:nvGrpSpPr>
        <p:grpSpPr>
          <a:xfrm>
            <a:off x="4421123" y="4017264"/>
            <a:ext cx="3045460" cy="314325"/>
            <a:chOff x="4421123" y="4017264"/>
            <a:chExt cx="3045460" cy="314325"/>
          </a:xfrm>
        </p:grpSpPr>
        <p:sp>
          <p:nvSpPr>
            <p:cNvPr id="21" name="object 21"/>
            <p:cNvSpPr/>
            <p:nvPr/>
          </p:nvSpPr>
          <p:spPr>
            <a:xfrm>
              <a:off x="4434077" y="4030218"/>
              <a:ext cx="3019425" cy="288290"/>
            </a:xfrm>
            <a:custGeom>
              <a:avLst/>
              <a:gdLst/>
              <a:ahLst/>
              <a:cxnLst/>
              <a:rect l="l" t="t" r="r" b="b"/>
              <a:pathLst>
                <a:path w="3019425" h="288289">
                  <a:moveTo>
                    <a:pt x="2875026" y="0"/>
                  </a:moveTo>
                  <a:lnTo>
                    <a:pt x="2875026" y="72008"/>
                  </a:lnTo>
                  <a:lnTo>
                    <a:pt x="0" y="72008"/>
                  </a:lnTo>
                  <a:lnTo>
                    <a:pt x="0" y="216026"/>
                  </a:lnTo>
                  <a:lnTo>
                    <a:pt x="2875026" y="216026"/>
                  </a:lnTo>
                  <a:lnTo>
                    <a:pt x="2875026" y="288035"/>
                  </a:lnTo>
                  <a:lnTo>
                    <a:pt x="3019044" y="144017"/>
                  </a:lnTo>
                  <a:lnTo>
                    <a:pt x="2875026" y="0"/>
                  </a:lnTo>
                  <a:close/>
                </a:path>
              </a:pathLst>
            </a:custGeom>
            <a:solidFill>
              <a:srgbClr val="4F81BC"/>
            </a:solidFill>
          </p:spPr>
          <p:txBody>
            <a:bodyPr wrap="square" lIns="0" tIns="0" rIns="0" bIns="0" rtlCol="0"/>
            <a:lstStyle/>
            <a:p>
              <a:endParaRPr/>
            </a:p>
          </p:txBody>
        </p:sp>
        <p:sp>
          <p:nvSpPr>
            <p:cNvPr id="22" name="object 22"/>
            <p:cNvSpPr/>
            <p:nvPr/>
          </p:nvSpPr>
          <p:spPr>
            <a:xfrm>
              <a:off x="4434077" y="4030218"/>
              <a:ext cx="3019425" cy="288290"/>
            </a:xfrm>
            <a:custGeom>
              <a:avLst/>
              <a:gdLst/>
              <a:ahLst/>
              <a:cxnLst/>
              <a:rect l="l" t="t" r="r" b="b"/>
              <a:pathLst>
                <a:path w="3019425" h="288289">
                  <a:moveTo>
                    <a:pt x="0" y="72008"/>
                  </a:moveTo>
                  <a:lnTo>
                    <a:pt x="2875026" y="72008"/>
                  </a:lnTo>
                  <a:lnTo>
                    <a:pt x="2875026" y="0"/>
                  </a:lnTo>
                  <a:lnTo>
                    <a:pt x="3019044" y="144017"/>
                  </a:lnTo>
                  <a:lnTo>
                    <a:pt x="2875026" y="288035"/>
                  </a:lnTo>
                  <a:lnTo>
                    <a:pt x="2875026" y="216026"/>
                  </a:lnTo>
                  <a:lnTo>
                    <a:pt x="0" y="216026"/>
                  </a:lnTo>
                  <a:lnTo>
                    <a:pt x="0" y="72008"/>
                  </a:lnTo>
                  <a:close/>
                </a:path>
              </a:pathLst>
            </a:custGeom>
            <a:ln w="25907">
              <a:solidFill>
                <a:srgbClr val="385D89"/>
              </a:solidFill>
            </a:ln>
          </p:spPr>
          <p:txBody>
            <a:bodyPr wrap="square" lIns="0" tIns="0" rIns="0" bIns="0" rtlCol="0"/>
            <a:lstStyle/>
            <a:p>
              <a:endParaRPr/>
            </a:p>
          </p:txBody>
        </p:sp>
      </p:grpSp>
      <p:grpSp>
        <p:nvGrpSpPr>
          <p:cNvPr id="23" name="object 23"/>
          <p:cNvGrpSpPr/>
          <p:nvPr/>
        </p:nvGrpSpPr>
        <p:grpSpPr>
          <a:xfrm>
            <a:off x="4421123" y="4474464"/>
            <a:ext cx="2397760" cy="314325"/>
            <a:chOff x="4421123" y="4474464"/>
            <a:chExt cx="2397760" cy="314325"/>
          </a:xfrm>
        </p:grpSpPr>
        <p:sp>
          <p:nvSpPr>
            <p:cNvPr id="24" name="object 24"/>
            <p:cNvSpPr/>
            <p:nvPr/>
          </p:nvSpPr>
          <p:spPr>
            <a:xfrm>
              <a:off x="4434077" y="4487418"/>
              <a:ext cx="2371725" cy="288290"/>
            </a:xfrm>
            <a:custGeom>
              <a:avLst/>
              <a:gdLst/>
              <a:ahLst/>
              <a:cxnLst/>
              <a:rect l="l" t="t" r="r" b="b"/>
              <a:pathLst>
                <a:path w="2371725" h="288289">
                  <a:moveTo>
                    <a:pt x="2227326" y="0"/>
                  </a:moveTo>
                  <a:lnTo>
                    <a:pt x="2227326" y="72008"/>
                  </a:lnTo>
                  <a:lnTo>
                    <a:pt x="0" y="72008"/>
                  </a:lnTo>
                  <a:lnTo>
                    <a:pt x="0" y="216026"/>
                  </a:lnTo>
                  <a:lnTo>
                    <a:pt x="2227326" y="216026"/>
                  </a:lnTo>
                  <a:lnTo>
                    <a:pt x="2227326" y="288035"/>
                  </a:lnTo>
                  <a:lnTo>
                    <a:pt x="2371344" y="144017"/>
                  </a:lnTo>
                  <a:lnTo>
                    <a:pt x="2227326" y="0"/>
                  </a:lnTo>
                  <a:close/>
                </a:path>
              </a:pathLst>
            </a:custGeom>
            <a:solidFill>
              <a:srgbClr val="4F81BC"/>
            </a:solidFill>
          </p:spPr>
          <p:txBody>
            <a:bodyPr wrap="square" lIns="0" tIns="0" rIns="0" bIns="0" rtlCol="0"/>
            <a:lstStyle/>
            <a:p>
              <a:endParaRPr/>
            </a:p>
          </p:txBody>
        </p:sp>
        <p:sp>
          <p:nvSpPr>
            <p:cNvPr id="25" name="object 25"/>
            <p:cNvSpPr/>
            <p:nvPr/>
          </p:nvSpPr>
          <p:spPr>
            <a:xfrm>
              <a:off x="4434077" y="4487418"/>
              <a:ext cx="2371725" cy="288290"/>
            </a:xfrm>
            <a:custGeom>
              <a:avLst/>
              <a:gdLst/>
              <a:ahLst/>
              <a:cxnLst/>
              <a:rect l="l" t="t" r="r" b="b"/>
              <a:pathLst>
                <a:path w="2371725" h="288289">
                  <a:moveTo>
                    <a:pt x="0" y="72008"/>
                  </a:moveTo>
                  <a:lnTo>
                    <a:pt x="2227326" y="72008"/>
                  </a:lnTo>
                  <a:lnTo>
                    <a:pt x="2227326" y="0"/>
                  </a:lnTo>
                  <a:lnTo>
                    <a:pt x="2371344" y="144017"/>
                  </a:lnTo>
                  <a:lnTo>
                    <a:pt x="2227326" y="288035"/>
                  </a:lnTo>
                  <a:lnTo>
                    <a:pt x="2227326" y="216026"/>
                  </a:lnTo>
                  <a:lnTo>
                    <a:pt x="0" y="216026"/>
                  </a:lnTo>
                  <a:lnTo>
                    <a:pt x="0" y="72008"/>
                  </a:lnTo>
                  <a:close/>
                </a:path>
              </a:pathLst>
            </a:custGeom>
            <a:ln w="25908">
              <a:solidFill>
                <a:srgbClr val="385D89"/>
              </a:solidFill>
            </a:ln>
          </p:spPr>
          <p:txBody>
            <a:bodyPr wrap="square" lIns="0" tIns="0" rIns="0" bIns="0" rtlCol="0"/>
            <a:lstStyle/>
            <a:p>
              <a:endParaRPr/>
            </a:p>
          </p:txBody>
        </p:sp>
      </p:grpSp>
      <p:sp>
        <p:nvSpPr>
          <p:cNvPr id="26" name="object 26"/>
          <p:cNvSpPr txBox="1"/>
          <p:nvPr/>
        </p:nvSpPr>
        <p:spPr>
          <a:xfrm>
            <a:off x="6874509" y="4446778"/>
            <a:ext cx="180530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Calibri"/>
                <a:cs typeface="Calibri"/>
              </a:rPr>
              <a:t>Time </a:t>
            </a:r>
            <a:r>
              <a:rPr sz="1800" b="1" spc="-10" dirty="0">
                <a:solidFill>
                  <a:srgbClr val="FF0000"/>
                </a:solidFill>
                <a:latin typeface="Calibri"/>
                <a:cs typeface="Calibri"/>
              </a:rPr>
              <a:t>For </a:t>
            </a:r>
            <a:r>
              <a:rPr sz="1800" b="1" dirty="0">
                <a:solidFill>
                  <a:srgbClr val="FF0000"/>
                </a:solidFill>
                <a:latin typeface="Calibri"/>
                <a:cs typeface="Calibri"/>
              </a:rPr>
              <a:t>All</a:t>
            </a:r>
            <a:r>
              <a:rPr sz="1800" b="1" spc="-95" dirty="0">
                <a:solidFill>
                  <a:srgbClr val="FF0000"/>
                </a:solidFill>
                <a:latin typeface="Calibri"/>
                <a:cs typeface="Calibri"/>
              </a:rPr>
              <a:t> </a:t>
            </a:r>
            <a:r>
              <a:rPr sz="1800" b="1" dirty="0">
                <a:solidFill>
                  <a:srgbClr val="FF0000"/>
                </a:solidFill>
                <a:latin typeface="Calibri"/>
                <a:cs typeface="Calibri"/>
              </a:rPr>
              <a:t>Indian</a:t>
            </a:r>
            <a:endParaRPr sz="18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9250"/>
            <a:ext cx="8434070" cy="941069"/>
          </a:xfrm>
          <a:prstGeom prst="rect">
            <a:avLst/>
          </a:prstGeom>
        </p:spPr>
        <p:txBody>
          <a:bodyPr vert="horz" wrap="square" lIns="0" tIns="13335" rIns="0" bIns="0" rtlCol="0">
            <a:spAutoFit/>
          </a:bodyPr>
          <a:lstStyle/>
          <a:p>
            <a:pPr marL="355600" marR="5080" indent="-342900" algn="just">
              <a:lnSpc>
                <a:spcPct val="100000"/>
              </a:lnSpc>
              <a:spcBef>
                <a:spcPts val="105"/>
              </a:spcBef>
              <a:buClr>
                <a:srgbClr val="0F1141"/>
              </a:buClr>
              <a:buChar char="•"/>
              <a:tabLst>
                <a:tab pos="355600" algn="l"/>
              </a:tabLst>
            </a:pPr>
            <a:r>
              <a:rPr sz="2000" dirty="0">
                <a:solidFill>
                  <a:srgbClr val="FF0000"/>
                </a:solidFill>
                <a:latin typeface="Arial"/>
                <a:cs typeface="Arial"/>
              </a:rPr>
              <a:t>String </a:t>
            </a:r>
            <a:r>
              <a:rPr sz="2000" spc="-5" dirty="0">
                <a:solidFill>
                  <a:srgbClr val="FF0000"/>
                </a:solidFill>
                <a:latin typeface="Arial"/>
                <a:cs typeface="Arial"/>
              </a:rPr>
              <a:t>replace(char </a:t>
            </a:r>
            <a:r>
              <a:rPr sz="2000" dirty="0">
                <a:solidFill>
                  <a:srgbClr val="FF0000"/>
                </a:solidFill>
                <a:latin typeface="Arial"/>
                <a:cs typeface="Arial"/>
              </a:rPr>
              <a:t>original, char replacement) </a:t>
            </a:r>
            <a:r>
              <a:rPr sz="2000" spc="5" dirty="0">
                <a:solidFill>
                  <a:srgbClr val="FF0000"/>
                </a:solidFill>
                <a:latin typeface="Wingdings"/>
                <a:cs typeface="Wingdings"/>
              </a:rPr>
              <a:t></a:t>
            </a:r>
            <a:r>
              <a:rPr sz="2000" spc="5" dirty="0">
                <a:solidFill>
                  <a:srgbClr val="FF0000"/>
                </a:solidFill>
                <a:latin typeface="Times New Roman"/>
                <a:cs typeface="Times New Roman"/>
              </a:rPr>
              <a:t> </a:t>
            </a:r>
            <a:r>
              <a:rPr sz="2000" dirty="0">
                <a:latin typeface="Arial"/>
                <a:cs typeface="Arial"/>
              </a:rPr>
              <a:t>Replaces all  </a:t>
            </a:r>
            <a:r>
              <a:rPr sz="2000" spc="-5" dirty="0">
                <a:latin typeface="Arial"/>
                <a:cs typeface="Arial"/>
              </a:rPr>
              <a:t>occurrences </a:t>
            </a:r>
            <a:r>
              <a:rPr sz="2000" dirty="0">
                <a:latin typeface="Arial"/>
                <a:cs typeface="Arial"/>
              </a:rPr>
              <a:t>of a </a:t>
            </a:r>
            <a:r>
              <a:rPr sz="2000" spc="-5" dirty="0">
                <a:latin typeface="Arial"/>
                <a:cs typeface="Arial"/>
              </a:rPr>
              <a:t>character </a:t>
            </a:r>
            <a:r>
              <a:rPr sz="2000" dirty="0">
                <a:solidFill>
                  <a:srgbClr val="FF0000"/>
                </a:solidFill>
                <a:latin typeface="Arial"/>
                <a:cs typeface="Arial"/>
              </a:rPr>
              <a:t>original </a:t>
            </a:r>
            <a:r>
              <a:rPr sz="2000" spc="-5" dirty="0">
                <a:latin typeface="Arial"/>
                <a:cs typeface="Arial"/>
              </a:rPr>
              <a:t>in </a:t>
            </a:r>
            <a:r>
              <a:rPr sz="2000" dirty="0">
                <a:solidFill>
                  <a:srgbClr val="FF0000"/>
                </a:solidFill>
                <a:latin typeface="Arial"/>
                <a:cs typeface="Arial"/>
              </a:rPr>
              <a:t>this </a:t>
            </a:r>
            <a:r>
              <a:rPr sz="2000" dirty="0">
                <a:latin typeface="Arial"/>
                <a:cs typeface="Arial"/>
              </a:rPr>
              <a:t>String with a </a:t>
            </a:r>
            <a:r>
              <a:rPr sz="2000" spc="-5" dirty="0">
                <a:latin typeface="Arial"/>
                <a:cs typeface="Arial"/>
              </a:rPr>
              <a:t>character </a:t>
            </a:r>
            <a:r>
              <a:rPr sz="2000" spc="-5" dirty="0">
                <a:solidFill>
                  <a:srgbClr val="FF0000"/>
                </a:solidFill>
                <a:latin typeface="Arial"/>
                <a:cs typeface="Arial"/>
              </a:rPr>
              <a:t> </a:t>
            </a:r>
            <a:r>
              <a:rPr sz="2000" dirty="0">
                <a:solidFill>
                  <a:srgbClr val="FF0000"/>
                </a:solidFill>
                <a:latin typeface="Arial"/>
                <a:cs typeface="Arial"/>
              </a:rPr>
              <a:t>replacement </a:t>
            </a:r>
            <a:r>
              <a:rPr sz="2000" dirty="0">
                <a:latin typeface="Arial"/>
                <a:cs typeface="Arial"/>
              </a:rPr>
              <a:t>and returns the modified</a:t>
            </a:r>
            <a:r>
              <a:rPr sz="2000" spc="-140" dirty="0">
                <a:latin typeface="Arial"/>
                <a:cs typeface="Arial"/>
              </a:rPr>
              <a:t> </a:t>
            </a:r>
            <a:r>
              <a:rPr sz="2000" dirty="0">
                <a:latin typeface="Arial"/>
                <a:cs typeface="Arial"/>
              </a:rPr>
              <a:t>String</a:t>
            </a:r>
            <a:endParaRPr sz="2000">
              <a:latin typeface="Arial"/>
              <a:cs typeface="Arial"/>
            </a:endParaRPr>
          </a:p>
        </p:txBody>
      </p:sp>
      <p:sp>
        <p:nvSpPr>
          <p:cNvPr id="3" name="object 3"/>
          <p:cNvSpPr txBox="1"/>
          <p:nvPr/>
        </p:nvSpPr>
        <p:spPr>
          <a:xfrm>
            <a:off x="383540" y="2495169"/>
            <a:ext cx="3745229" cy="941069"/>
          </a:xfrm>
          <a:prstGeom prst="rect">
            <a:avLst/>
          </a:prstGeom>
        </p:spPr>
        <p:txBody>
          <a:bodyPr vert="horz" wrap="square" lIns="0" tIns="13335" rIns="0" bIns="0" rtlCol="0">
            <a:spAutoFit/>
          </a:bodyPr>
          <a:lstStyle/>
          <a:p>
            <a:pPr marL="355600" indent="-342900">
              <a:lnSpc>
                <a:spcPct val="100000"/>
              </a:lnSpc>
              <a:spcBef>
                <a:spcPts val="105"/>
              </a:spcBef>
              <a:buClr>
                <a:srgbClr val="0F1141"/>
              </a:buClr>
              <a:buChar char="•"/>
              <a:tabLst>
                <a:tab pos="354965" algn="l"/>
                <a:tab pos="355600" algn="l"/>
                <a:tab pos="2847340" algn="l"/>
              </a:tabLst>
            </a:pPr>
            <a:r>
              <a:rPr sz="2000" dirty="0">
                <a:latin typeface="Arial"/>
                <a:cs typeface="Arial"/>
              </a:rPr>
              <a:t>Example	:</a:t>
            </a:r>
            <a:endParaRPr sz="2000">
              <a:latin typeface="Arial"/>
              <a:cs typeface="Arial"/>
            </a:endParaRPr>
          </a:p>
          <a:p>
            <a:pPr marL="355600">
              <a:lnSpc>
                <a:spcPct val="100000"/>
              </a:lnSpc>
            </a:pPr>
            <a:r>
              <a:rPr sz="2000" spc="-5" dirty="0">
                <a:latin typeface="Arial"/>
                <a:cs typeface="Arial"/>
              </a:rPr>
              <a:t>Programming".replace('m','x'))</a:t>
            </a:r>
            <a:endParaRPr sz="2000">
              <a:latin typeface="Arial"/>
              <a:cs typeface="Arial"/>
            </a:endParaRPr>
          </a:p>
          <a:p>
            <a:pPr marL="355600">
              <a:lnSpc>
                <a:spcPct val="100000"/>
              </a:lnSpc>
            </a:pPr>
            <a:r>
              <a:rPr sz="2000" dirty="0">
                <a:latin typeface="Arial"/>
                <a:cs typeface="Arial"/>
              </a:rPr>
              <a:t>Prograxxing” as</a:t>
            </a:r>
            <a:r>
              <a:rPr sz="2000" spc="-45" dirty="0">
                <a:latin typeface="Arial"/>
                <a:cs typeface="Arial"/>
              </a:rPr>
              <a:t> </a:t>
            </a:r>
            <a:r>
              <a:rPr sz="2000" dirty="0">
                <a:latin typeface="Arial"/>
                <a:cs typeface="Arial"/>
              </a:rPr>
              <a:t>output</a:t>
            </a:r>
            <a:endParaRPr sz="2000">
              <a:latin typeface="Arial"/>
              <a:cs typeface="Arial"/>
            </a:endParaRPr>
          </a:p>
        </p:txBody>
      </p:sp>
      <p:sp>
        <p:nvSpPr>
          <p:cNvPr id="4" name="object 4"/>
          <p:cNvSpPr txBox="1"/>
          <p:nvPr/>
        </p:nvSpPr>
        <p:spPr>
          <a:xfrm>
            <a:off x="4512690" y="2495169"/>
            <a:ext cx="4302760" cy="636270"/>
          </a:xfrm>
          <a:prstGeom prst="rect">
            <a:avLst/>
          </a:prstGeom>
        </p:spPr>
        <p:txBody>
          <a:bodyPr vert="horz" wrap="square" lIns="0" tIns="13335" rIns="0" bIns="0" rtlCol="0">
            <a:spAutoFit/>
          </a:bodyPr>
          <a:lstStyle/>
          <a:p>
            <a:pPr marR="5080" algn="r">
              <a:lnSpc>
                <a:spcPct val="100000"/>
              </a:lnSpc>
              <a:spcBef>
                <a:spcPts val="105"/>
              </a:spcBef>
            </a:pPr>
            <a:r>
              <a:rPr sz="2000" spc="-5" dirty="0">
                <a:latin typeface="Arial"/>
                <a:cs typeface="Arial"/>
              </a:rPr>
              <a:t>System.out.println("Object-Oriented</a:t>
            </a:r>
            <a:endParaRPr sz="2000">
              <a:latin typeface="Arial"/>
              <a:cs typeface="Arial"/>
            </a:endParaRPr>
          </a:p>
          <a:p>
            <a:pPr marR="5080" algn="r">
              <a:lnSpc>
                <a:spcPct val="100000"/>
              </a:lnSpc>
              <a:tabLst>
                <a:tab pos="763270" algn="l"/>
                <a:tab pos="1795145" algn="l"/>
                <a:tab pos="2402205" algn="l"/>
              </a:tabLst>
            </a:pPr>
            <a:r>
              <a:rPr sz="2000" dirty="0">
                <a:latin typeface="Arial"/>
                <a:cs typeface="Arial"/>
              </a:rPr>
              <a:t>will	r</a:t>
            </a:r>
            <a:r>
              <a:rPr sz="2000" spc="-10" dirty="0">
                <a:latin typeface="Arial"/>
                <a:cs typeface="Arial"/>
              </a:rPr>
              <a:t>e</a:t>
            </a:r>
            <a:r>
              <a:rPr sz="2000" dirty="0">
                <a:latin typeface="Arial"/>
                <a:cs typeface="Arial"/>
              </a:rPr>
              <a:t>sult	</a:t>
            </a:r>
            <a:r>
              <a:rPr sz="2000" spc="-5" dirty="0">
                <a:latin typeface="Arial"/>
                <a:cs typeface="Arial"/>
              </a:rPr>
              <a:t>i</a:t>
            </a:r>
            <a:r>
              <a:rPr sz="2000" dirty="0">
                <a:latin typeface="Arial"/>
                <a:cs typeface="Arial"/>
              </a:rPr>
              <a:t>n	</a:t>
            </a:r>
            <a:r>
              <a:rPr sz="2000" spc="-10" dirty="0">
                <a:latin typeface="Arial"/>
                <a:cs typeface="Arial"/>
              </a:rPr>
              <a:t>“</a:t>
            </a:r>
            <a:r>
              <a:rPr sz="2000" dirty="0">
                <a:latin typeface="Arial"/>
                <a:cs typeface="Arial"/>
              </a:rPr>
              <a:t>Obj</a:t>
            </a:r>
            <a:r>
              <a:rPr sz="2000" spc="-15" dirty="0">
                <a:latin typeface="Arial"/>
                <a:cs typeface="Arial"/>
              </a:rPr>
              <a:t>e</a:t>
            </a:r>
            <a:r>
              <a:rPr sz="2000" dirty="0">
                <a:latin typeface="Arial"/>
                <a:cs typeface="Arial"/>
              </a:rPr>
              <a:t>c</a:t>
            </a:r>
            <a:r>
              <a:rPr sz="2000" spc="-15" dirty="0">
                <a:latin typeface="Arial"/>
                <a:cs typeface="Arial"/>
              </a:rPr>
              <a:t>t</a:t>
            </a:r>
            <a:r>
              <a:rPr sz="2000" spc="-10" dirty="0">
                <a:latin typeface="Arial"/>
                <a:cs typeface="Arial"/>
              </a:rPr>
              <a:t>-O</a:t>
            </a:r>
            <a:r>
              <a:rPr sz="2000" dirty="0">
                <a:latin typeface="Arial"/>
                <a:cs typeface="Arial"/>
              </a:rPr>
              <a:t>rient</a:t>
            </a:r>
            <a:r>
              <a:rPr sz="2000" spc="-15" dirty="0">
                <a:latin typeface="Arial"/>
                <a:cs typeface="Arial"/>
              </a:rPr>
              <a:t>e</a:t>
            </a:r>
            <a:r>
              <a:rPr sz="2000" dirty="0">
                <a:latin typeface="Arial"/>
                <a:cs typeface="Arial"/>
              </a:rPr>
              <a:t>d</a:t>
            </a:r>
            <a:endParaRPr sz="2000">
              <a:latin typeface="Arial"/>
              <a:cs typeface="Arial"/>
            </a:endParaRPr>
          </a:p>
        </p:txBody>
      </p:sp>
      <p:sp>
        <p:nvSpPr>
          <p:cNvPr id="5" name="object 5"/>
          <p:cNvSpPr txBox="1"/>
          <p:nvPr/>
        </p:nvSpPr>
        <p:spPr>
          <a:xfrm>
            <a:off x="383540" y="3470909"/>
            <a:ext cx="8431530" cy="1002030"/>
          </a:xfrm>
          <a:prstGeom prst="rect">
            <a:avLst/>
          </a:prstGeom>
        </p:spPr>
        <p:txBody>
          <a:bodyPr vert="horz" wrap="square" lIns="0" tIns="13335" rIns="0" bIns="0" rtlCol="0">
            <a:spAutoFit/>
          </a:bodyPr>
          <a:lstStyle/>
          <a:p>
            <a:pPr marL="355600" marR="5080" indent="-342900">
              <a:lnSpc>
                <a:spcPct val="100000"/>
              </a:lnSpc>
              <a:spcBef>
                <a:spcPts val="105"/>
              </a:spcBef>
              <a:buClr>
                <a:srgbClr val="0F1141"/>
              </a:buClr>
              <a:buChar char="•"/>
              <a:tabLst>
                <a:tab pos="354965" algn="l"/>
                <a:tab pos="355600" algn="l"/>
              </a:tabLst>
            </a:pPr>
            <a:r>
              <a:rPr sz="2000" dirty="0">
                <a:solidFill>
                  <a:srgbClr val="FF0000"/>
                </a:solidFill>
                <a:latin typeface="Arial"/>
                <a:cs typeface="Arial"/>
              </a:rPr>
              <a:t>String </a:t>
            </a:r>
            <a:r>
              <a:rPr sz="2000" spc="-10" dirty="0">
                <a:solidFill>
                  <a:srgbClr val="FF0000"/>
                </a:solidFill>
                <a:latin typeface="Arial"/>
                <a:cs typeface="Arial"/>
              </a:rPr>
              <a:t>trim() </a:t>
            </a:r>
            <a:r>
              <a:rPr sz="2000" dirty="0">
                <a:solidFill>
                  <a:srgbClr val="FF0000"/>
                </a:solidFill>
                <a:latin typeface="Wingdings"/>
                <a:cs typeface="Wingdings"/>
              </a:rPr>
              <a:t></a:t>
            </a:r>
            <a:r>
              <a:rPr sz="2000" dirty="0">
                <a:solidFill>
                  <a:srgbClr val="FF0000"/>
                </a:solidFill>
                <a:latin typeface="Times New Roman"/>
                <a:cs typeface="Times New Roman"/>
              </a:rPr>
              <a:t> </a:t>
            </a:r>
            <a:r>
              <a:rPr sz="2000" spc="-5" dirty="0">
                <a:latin typeface="Arial"/>
                <a:cs typeface="Arial"/>
              </a:rPr>
              <a:t>Removes the </a:t>
            </a:r>
            <a:r>
              <a:rPr sz="2000" dirty="0">
                <a:latin typeface="Arial"/>
                <a:cs typeface="Arial"/>
              </a:rPr>
              <a:t>leading </a:t>
            </a:r>
            <a:r>
              <a:rPr sz="2000" spc="-10" dirty="0">
                <a:latin typeface="Arial"/>
                <a:cs typeface="Arial"/>
              </a:rPr>
              <a:t>and </a:t>
            </a:r>
            <a:r>
              <a:rPr sz="2000" spc="-5" dirty="0">
                <a:latin typeface="Arial"/>
                <a:cs typeface="Arial"/>
              </a:rPr>
              <a:t>trailing white spaces from the  </a:t>
            </a:r>
            <a:r>
              <a:rPr sz="2000" dirty="0">
                <a:latin typeface="Arial"/>
                <a:cs typeface="Arial"/>
              </a:rPr>
              <a:t>invoking string and returns the modified</a:t>
            </a:r>
            <a:r>
              <a:rPr sz="2000" spc="-125" dirty="0">
                <a:latin typeface="Arial"/>
                <a:cs typeface="Arial"/>
              </a:rPr>
              <a:t> </a:t>
            </a:r>
            <a:r>
              <a:rPr sz="2000" dirty="0">
                <a:latin typeface="Arial"/>
                <a:cs typeface="Arial"/>
              </a:rPr>
              <a:t>String</a:t>
            </a:r>
            <a:endParaRPr sz="2000">
              <a:latin typeface="Arial"/>
              <a:cs typeface="Arial"/>
            </a:endParaRPr>
          </a:p>
          <a:p>
            <a:pPr marL="355600" indent="-342900">
              <a:lnSpc>
                <a:spcPct val="100000"/>
              </a:lnSpc>
              <a:spcBef>
                <a:spcPts val="480"/>
              </a:spcBef>
              <a:buClr>
                <a:srgbClr val="0F1141"/>
              </a:buClr>
              <a:buChar char="•"/>
              <a:tabLst>
                <a:tab pos="354965" algn="l"/>
                <a:tab pos="355600" algn="l"/>
              </a:tabLst>
            </a:pPr>
            <a:r>
              <a:rPr sz="2000" dirty="0">
                <a:latin typeface="Arial"/>
                <a:cs typeface="Arial"/>
              </a:rPr>
              <a:t>Example</a:t>
            </a:r>
            <a:endParaRPr sz="2000">
              <a:latin typeface="Arial"/>
              <a:cs typeface="Arial"/>
            </a:endParaRPr>
          </a:p>
        </p:txBody>
      </p:sp>
      <p:sp>
        <p:nvSpPr>
          <p:cNvPr id="6" name="object 6"/>
          <p:cNvSpPr txBox="1"/>
          <p:nvPr/>
        </p:nvSpPr>
        <p:spPr>
          <a:xfrm>
            <a:off x="726440" y="4497730"/>
            <a:ext cx="5544185" cy="927735"/>
          </a:xfrm>
          <a:prstGeom prst="rect">
            <a:avLst/>
          </a:prstGeom>
        </p:spPr>
        <p:txBody>
          <a:bodyPr vert="horz" wrap="square" lIns="0" tIns="18415" rIns="0" bIns="0" rtlCol="0">
            <a:spAutoFit/>
          </a:bodyPr>
          <a:lstStyle/>
          <a:p>
            <a:pPr marL="12700" marR="5080" indent="5715">
              <a:lnSpc>
                <a:spcPct val="122500"/>
              </a:lnSpc>
              <a:spcBef>
                <a:spcPts val="145"/>
              </a:spcBef>
            </a:pPr>
            <a:r>
              <a:rPr sz="1600" b="1" spc="-5" dirty="0">
                <a:solidFill>
                  <a:srgbClr val="FF0000"/>
                </a:solidFill>
                <a:latin typeface="Arial"/>
                <a:cs typeface="Arial"/>
              </a:rPr>
              <a:t>System.out.println(" My Name is </a:t>
            </a:r>
            <a:r>
              <a:rPr sz="1600" b="1" spc="-15" dirty="0">
                <a:solidFill>
                  <a:srgbClr val="FF0000"/>
                </a:solidFill>
                <a:latin typeface="Arial"/>
                <a:cs typeface="Arial"/>
              </a:rPr>
              <a:t>David </a:t>
            </a:r>
            <a:r>
              <a:rPr sz="1600" b="1" spc="-5" dirty="0">
                <a:solidFill>
                  <a:srgbClr val="FF0000"/>
                </a:solidFill>
                <a:latin typeface="Arial"/>
                <a:cs typeface="Arial"/>
              </a:rPr>
              <a:t>".length());  System.out.println(" My Name is </a:t>
            </a:r>
            <a:r>
              <a:rPr sz="1600" b="1" spc="-15" dirty="0">
                <a:solidFill>
                  <a:srgbClr val="FF0000"/>
                </a:solidFill>
                <a:latin typeface="Arial"/>
                <a:cs typeface="Arial"/>
              </a:rPr>
              <a:t>David </a:t>
            </a:r>
            <a:r>
              <a:rPr sz="1600" b="1" spc="-5" dirty="0">
                <a:solidFill>
                  <a:srgbClr val="FF0000"/>
                </a:solidFill>
                <a:latin typeface="Arial"/>
                <a:cs typeface="Arial"/>
              </a:rPr>
              <a:t>".trim());  System.out.println(" My Name is </a:t>
            </a:r>
            <a:r>
              <a:rPr sz="1600" b="1" spc="-15" dirty="0">
                <a:solidFill>
                  <a:srgbClr val="FF0000"/>
                </a:solidFill>
                <a:latin typeface="Arial"/>
                <a:cs typeface="Arial"/>
              </a:rPr>
              <a:t>David</a:t>
            </a:r>
            <a:r>
              <a:rPr sz="1600" b="1" spc="240" dirty="0">
                <a:solidFill>
                  <a:srgbClr val="FF0000"/>
                </a:solidFill>
                <a:latin typeface="Arial"/>
                <a:cs typeface="Arial"/>
              </a:rPr>
              <a:t> </a:t>
            </a:r>
            <a:r>
              <a:rPr sz="1600" b="1" spc="-5" dirty="0">
                <a:solidFill>
                  <a:srgbClr val="FF0000"/>
                </a:solidFill>
                <a:latin typeface="Arial"/>
                <a:cs typeface="Arial"/>
              </a:rPr>
              <a:t>".trim().length());</a:t>
            </a:r>
            <a:endParaRPr sz="1600">
              <a:latin typeface="Arial"/>
              <a:cs typeface="Arial"/>
            </a:endParaRPr>
          </a:p>
        </p:txBody>
      </p:sp>
      <p:sp>
        <p:nvSpPr>
          <p:cNvPr id="7" name="object 7"/>
          <p:cNvSpPr txBox="1">
            <a:spLocks noGrp="1"/>
          </p:cNvSpPr>
          <p:nvPr>
            <p:ph type="title"/>
          </p:nvPr>
        </p:nvSpPr>
        <p:spPr>
          <a:xfrm>
            <a:off x="383540" y="379221"/>
            <a:ext cx="6148705" cy="574040"/>
          </a:xfrm>
          <a:prstGeom prst="rect">
            <a:avLst/>
          </a:prstGeom>
        </p:spPr>
        <p:txBody>
          <a:bodyPr vert="horz" wrap="square" lIns="0" tIns="12700" rIns="0" bIns="0" rtlCol="0">
            <a:spAutoFit/>
          </a:bodyPr>
          <a:lstStyle/>
          <a:p>
            <a:pPr marL="12700">
              <a:lnSpc>
                <a:spcPct val="100000"/>
              </a:lnSpc>
              <a:spcBef>
                <a:spcPts val="100"/>
              </a:spcBef>
            </a:pPr>
            <a:r>
              <a:rPr sz="3600" i="0" spc="-145" dirty="0">
                <a:solidFill>
                  <a:srgbClr val="000000"/>
                </a:solidFill>
                <a:latin typeface="Arial"/>
                <a:cs typeface="Arial"/>
              </a:rPr>
              <a:t>Replacing Characters </a:t>
            </a:r>
            <a:r>
              <a:rPr sz="3600" i="0" spc="-85" dirty="0">
                <a:solidFill>
                  <a:srgbClr val="000000"/>
                </a:solidFill>
                <a:latin typeface="Arial"/>
                <a:cs typeface="Arial"/>
              </a:rPr>
              <a:t>in</a:t>
            </a:r>
            <a:r>
              <a:rPr sz="3600" i="0" spc="-530" dirty="0">
                <a:solidFill>
                  <a:srgbClr val="000000"/>
                </a:solidFill>
                <a:latin typeface="Arial"/>
                <a:cs typeface="Arial"/>
              </a:rPr>
              <a:t> </a:t>
            </a:r>
            <a:r>
              <a:rPr sz="3600" i="0" spc="-135" dirty="0">
                <a:solidFill>
                  <a:srgbClr val="000000"/>
                </a:solidFill>
                <a:latin typeface="Arial"/>
                <a:cs typeface="Arial"/>
              </a:rPr>
              <a:t>String</a:t>
            </a:r>
            <a:endParaRPr sz="3600">
              <a:latin typeface="Arial"/>
              <a:cs typeface="Arial"/>
            </a:endParaRPr>
          </a:p>
        </p:txBody>
      </p:sp>
      <p:grpSp>
        <p:nvGrpSpPr>
          <p:cNvPr id="8" name="object 8"/>
          <p:cNvGrpSpPr/>
          <p:nvPr/>
        </p:nvGrpSpPr>
        <p:grpSpPr>
          <a:xfrm>
            <a:off x="5783579" y="4640579"/>
            <a:ext cx="1004569" cy="170815"/>
            <a:chOff x="5783579" y="4640579"/>
            <a:chExt cx="1004569" cy="170815"/>
          </a:xfrm>
        </p:grpSpPr>
        <p:sp>
          <p:nvSpPr>
            <p:cNvPr id="9" name="object 9"/>
            <p:cNvSpPr/>
            <p:nvPr/>
          </p:nvSpPr>
          <p:spPr>
            <a:xfrm>
              <a:off x="5796533" y="4653533"/>
              <a:ext cx="978535" cy="144780"/>
            </a:xfrm>
            <a:custGeom>
              <a:avLst/>
              <a:gdLst/>
              <a:ahLst/>
              <a:cxnLst/>
              <a:rect l="l" t="t" r="r" b="b"/>
              <a:pathLst>
                <a:path w="978534" h="144779">
                  <a:moveTo>
                    <a:pt x="906017" y="0"/>
                  </a:moveTo>
                  <a:lnTo>
                    <a:pt x="906017" y="36195"/>
                  </a:lnTo>
                  <a:lnTo>
                    <a:pt x="0" y="36195"/>
                  </a:lnTo>
                  <a:lnTo>
                    <a:pt x="0" y="108585"/>
                  </a:lnTo>
                  <a:lnTo>
                    <a:pt x="906017" y="108585"/>
                  </a:lnTo>
                  <a:lnTo>
                    <a:pt x="906017" y="144780"/>
                  </a:lnTo>
                  <a:lnTo>
                    <a:pt x="978408" y="72390"/>
                  </a:lnTo>
                  <a:lnTo>
                    <a:pt x="906017" y="0"/>
                  </a:lnTo>
                  <a:close/>
                </a:path>
              </a:pathLst>
            </a:custGeom>
            <a:solidFill>
              <a:srgbClr val="4F81BC"/>
            </a:solidFill>
          </p:spPr>
          <p:txBody>
            <a:bodyPr wrap="square" lIns="0" tIns="0" rIns="0" bIns="0" rtlCol="0"/>
            <a:lstStyle/>
            <a:p>
              <a:endParaRPr/>
            </a:p>
          </p:txBody>
        </p:sp>
        <p:sp>
          <p:nvSpPr>
            <p:cNvPr id="10" name="object 10"/>
            <p:cNvSpPr/>
            <p:nvPr/>
          </p:nvSpPr>
          <p:spPr>
            <a:xfrm>
              <a:off x="5796533" y="4653533"/>
              <a:ext cx="978535" cy="144780"/>
            </a:xfrm>
            <a:custGeom>
              <a:avLst/>
              <a:gdLst/>
              <a:ahLst/>
              <a:cxnLst/>
              <a:rect l="l" t="t" r="r" b="b"/>
              <a:pathLst>
                <a:path w="978534" h="144779">
                  <a:moveTo>
                    <a:pt x="0" y="36195"/>
                  </a:moveTo>
                  <a:lnTo>
                    <a:pt x="906017" y="36195"/>
                  </a:lnTo>
                  <a:lnTo>
                    <a:pt x="906017" y="0"/>
                  </a:lnTo>
                  <a:lnTo>
                    <a:pt x="978408" y="72390"/>
                  </a:lnTo>
                  <a:lnTo>
                    <a:pt x="906017" y="144780"/>
                  </a:lnTo>
                  <a:lnTo>
                    <a:pt x="906017" y="108585"/>
                  </a:lnTo>
                  <a:lnTo>
                    <a:pt x="0" y="108585"/>
                  </a:lnTo>
                  <a:lnTo>
                    <a:pt x="0" y="36195"/>
                  </a:lnTo>
                  <a:close/>
                </a:path>
              </a:pathLst>
            </a:custGeom>
            <a:ln w="25908">
              <a:solidFill>
                <a:srgbClr val="385D89"/>
              </a:solidFill>
            </a:ln>
          </p:spPr>
          <p:txBody>
            <a:bodyPr wrap="square" lIns="0" tIns="0" rIns="0" bIns="0" rtlCol="0"/>
            <a:lstStyle/>
            <a:p>
              <a:endParaRPr/>
            </a:p>
          </p:txBody>
        </p:sp>
      </p:grpSp>
      <p:grpSp>
        <p:nvGrpSpPr>
          <p:cNvPr id="11" name="object 11"/>
          <p:cNvGrpSpPr/>
          <p:nvPr/>
        </p:nvGrpSpPr>
        <p:grpSpPr>
          <a:xfrm>
            <a:off x="5783579" y="4949952"/>
            <a:ext cx="1004569" cy="169545"/>
            <a:chOff x="5783579" y="4949952"/>
            <a:chExt cx="1004569" cy="169545"/>
          </a:xfrm>
        </p:grpSpPr>
        <p:sp>
          <p:nvSpPr>
            <p:cNvPr id="12" name="object 12"/>
            <p:cNvSpPr/>
            <p:nvPr/>
          </p:nvSpPr>
          <p:spPr>
            <a:xfrm>
              <a:off x="5796533" y="4962906"/>
              <a:ext cx="978535" cy="143510"/>
            </a:xfrm>
            <a:custGeom>
              <a:avLst/>
              <a:gdLst/>
              <a:ahLst/>
              <a:cxnLst/>
              <a:rect l="l" t="t" r="r" b="b"/>
              <a:pathLst>
                <a:path w="978534" h="143510">
                  <a:moveTo>
                    <a:pt x="906780" y="0"/>
                  </a:moveTo>
                  <a:lnTo>
                    <a:pt x="906780" y="35814"/>
                  </a:lnTo>
                  <a:lnTo>
                    <a:pt x="0" y="35814"/>
                  </a:lnTo>
                  <a:lnTo>
                    <a:pt x="0" y="107442"/>
                  </a:lnTo>
                  <a:lnTo>
                    <a:pt x="906780" y="107442"/>
                  </a:lnTo>
                  <a:lnTo>
                    <a:pt x="906780" y="143256"/>
                  </a:lnTo>
                  <a:lnTo>
                    <a:pt x="978408" y="71628"/>
                  </a:lnTo>
                  <a:lnTo>
                    <a:pt x="906780" y="0"/>
                  </a:lnTo>
                  <a:close/>
                </a:path>
              </a:pathLst>
            </a:custGeom>
            <a:solidFill>
              <a:srgbClr val="4F81BC"/>
            </a:solidFill>
          </p:spPr>
          <p:txBody>
            <a:bodyPr wrap="square" lIns="0" tIns="0" rIns="0" bIns="0" rtlCol="0"/>
            <a:lstStyle/>
            <a:p>
              <a:endParaRPr/>
            </a:p>
          </p:txBody>
        </p:sp>
        <p:sp>
          <p:nvSpPr>
            <p:cNvPr id="13" name="object 13"/>
            <p:cNvSpPr/>
            <p:nvPr/>
          </p:nvSpPr>
          <p:spPr>
            <a:xfrm>
              <a:off x="5796533" y="4962906"/>
              <a:ext cx="978535" cy="143510"/>
            </a:xfrm>
            <a:custGeom>
              <a:avLst/>
              <a:gdLst/>
              <a:ahLst/>
              <a:cxnLst/>
              <a:rect l="l" t="t" r="r" b="b"/>
              <a:pathLst>
                <a:path w="978534" h="143510">
                  <a:moveTo>
                    <a:pt x="0" y="35814"/>
                  </a:moveTo>
                  <a:lnTo>
                    <a:pt x="906780" y="35814"/>
                  </a:lnTo>
                  <a:lnTo>
                    <a:pt x="906780" y="0"/>
                  </a:lnTo>
                  <a:lnTo>
                    <a:pt x="978408" y="71628"/>
                  </a:lnTo>
                  <a:lnTo>
                    <a:pt x="906780" y="143256"/>
                  </a:lnTo>
                  <a:lnTo>
                    <a:pt x="906780" y="107442"/>
                  </a:lnTo>
                  <a:lnTo>
                    <a:pt x="0" y="107442"/>
                  </a:lnTo>
                  <a:lnTo>
                    <a:pt x="0" y="35814"/>
                  </a:lnTo>
                  <a:close/>
                </a:path>
              </a:pathLst>
            </a:custGeom>
            <a:ln w="25908">
              <a:solidFill>
                <a:srgbClr val="385D89"/>
              </a:solidFill>
            </a:ln>
          </p:spPr>
          <p:txBody>
            <a:bodyPr wrap="square" lIns="0" tIns="0" rIns="0" bIns="0" rtlCol="0"/>
            <a:lstStyle/>
            <a:p>
              <a:endParaRPr/>
            </a:p>
          </p:txBody>
        </p:sp>
      </p:grpSp>
      <p:grpSp>
        <p:nvGrpSpPr>
          <p:cNvPr id="14" name="object 14"/>
          <p:cNvGrpSpPr/>
          <p:nvPr/>
        </p:nvGrpSpPr>
        <p:grpSpPr>
          <a:xfrm>
            <a:off x="6307835" y="5244084"/>
            <a:ext cx="1004569" cy="169545"/>
            <a:chOff x="6307835" y="5244084"/>
            <a:chExt cx="1004569" cy="169545"/>
          </a:xfrm>
        </p:grpSpPr>
        <p:sp>
          <p:nvSpPr>
            <p:cNvPr id="15" name="object 15"/>
            <p:cNvSpPr/>
            <p:nvPr/>
          </p:nvSpPr>
          <p:spPr>
            <a:xfrm>
              <a:off x="6320789" y="5257038"/>
              <a:ext cx="978535" cy="143510"/>
            </a:xfrm>
            <a:custGeom>
              <a:avLst/>
              <a:gdLst/>
              <a:ahLst/>
              <a:cxnLst/>
              <a:rect l="l" t="t" r="r" b="b"/>
              <a:pathLst>
                <a:path w="978534" h="143510">
                  <a:moveTo>
                    <a:pt x="906780" y="0"/>
                  </a:moveTo>
                  <a:lnTo>
                    <a:pt x="906780" y="35814"/>
                  </a:lnTo>
                  <a:lnTo>
                    <a:pt x="0" y="35814"/>
                  </a:lnTo>
                  <a:lnTo>
                    <a:pt x="0" y="107442"/>
                  </a:lnTo>
                  <a:lnTo>
                    <a:pt x="906780" y="107442"/>
                  </a:lnTo>
                  <a:lnTo>
                    <a:pt x="906780" y="143256"/>
                  </a:lnTo>
                  <a:lnTo>
                    <a:pt x="978408" y="71628"/>
                  </a:lnTo>
                  <a:lnTo>
                    <a:pt x="906780" y="0"/>
                  </a:lnTo>
                  <a:close/>
                </a:path>
              </a:pathLst>
            </a:custGeom>
            <a:solidFill>
              <a:srgbClr val="4F81BC"/>
            </a:solidFill>
          </p:spPr>
          <p:txBody>
            <a:bodyPr wrap="square" lIns="0" tIns="0" rIns="0" bIns="0" rtlCol="0"/>
            <a:lstStyle/>
            <a:p>
              <a:endParaRPr/>
            </a:p>
          </p:txBody>
        </p:sp>
        <p:sp>
          <p:nvSpPr>
            <p:cNvPr id="16" name="object 16"/>
            <p:cNvSpPr/>
            <p:nvPr/>
          </p:nvSpPr>
          <p:spPr>
            <a:xfrm>
              <a:off x="6320789" y="5257038"/>
              <a:ext cx="978535" cy="143510"/>
            </a:xfrm>
            <a:custGeom>
              <a:avLst/>
              <a:gdLst/>
              <a:ahLst/>
              <a:cxnLst/>
              <a:rect l="l" t="t" r="r" b="b"/>
              <a:pathLst>
                <a:path w="978534" h="143510">
                  <a:moveTo>
                    <a:pt x="0" y="35814"/>
                  </a:moveTo>
                  <a:lnTo>
                    <a:pt x="906780" y="35814"/>
                  </a:lnTo>
                  <a:lnTo>
                    <a:pt x="906780" y="0"/>
                  </a:lnTo>
                  <a:lnTo>
                    <a:pt x="978408" y="71628"/>
                  </a:lnTo>
                  <a:lnTo>
                    <a:pt x="906780" y="143256"/>
                  </a:lnTo>
                  <a:lnTo>
                    <a:pt x="906780" y="107442"/>
                  </a:lnTo>
                  <a:lnTo>
                    <a:pt x="0" y="107442"/>
                  </a:lnTo>
                  <a:lnTo>
                    <a:pt x="0" y="35814"/>
                  </a:lnTo>
                  <a:close/>
                </a:path>
              </a:pathLst>
            </a:custGeom>
            <a:ln w="25908">
              <a:solidFill>
                <a:srgbClr val="385D89"/>
              </a:solidFill>
            </a:ln>
          </p:spPr>
          <p:txBody>
            <a:bodyPr wrap="square" lIns="0" tIns="0" rIns="0" bIns="0" rtlCol="0"/>
            <a:lstStyle/>
            <a:p>
              <a:endParaRPr/>
            </a:p>
          </p:txBody>
        </p:sp>
      </p:grpSp>
      <p:sp>
        <p:nvSpPr>
          <p:cNvPr id="17" name="object 17"/>
          <p:cNvSpPr txBox="1"/>
          <p:nvPr/>
        </p:nvSpPr>
        <p:spPr>
          <a:xfrm>
            <a:off x="7028180" y="4559300"/>
            <a:ext cx="1741805" cy="902969"/>
          </a:xfrm>
          <a:prstGeom prst="rect">
            <a:avLst/>
          </a:prstGeom>
        </p:spPr>
        <p:txBody>
          <a:bodyPr vert="horz" wrap="square" lIns="0" tIns="12700" rIns="0" bIns="0" rtlCol="0">
            <a:spAutoFit/>
          </a:bodyPr>
          <a:lstStyle/>
          <a:p>
            <a:pPr marL="12700">
              <a:lnSpc>
                <a:spcPts val="2090"/>
              </a:lnSpc>
              <a:spcBef>
                <a:spcPts val="100"/>
              </a:spcBef>
            </a:pPr>
            <a:r>
              <a:rPr sz="1800" b="1" spc="-5" dirty="0">
                <a:solidFill>
                  <a:srgbClr val="FF0000"/>
                </a:solidFill>
                <a:latin typeface="Calibri"/>
                <a:cs typeface="Calibri"/>
              </a:rPr>
              <a:t>20</a:t>
            </a:r>
            <a:endParaRPr sz="1800">
              <a:latin typeface="Calibri"/>
              <a:cs typeface="Calibri"/>
            </a:endParaRPr>
          </a:p>
          <a:p>
            <a:pPr marL="12700">
              <a:lnSpc>
                <a:spcPts val="2090"/>
              </a:lnSpc>
            </a:pPr>
            <a:r>
              <a:rPr sz="1800" b="1" spc="-5" dirty="0">
                <a:solidFill>
                  <a:srgbClr val="FF0000"/>
                </a:solidFill>
                <a:latin typeface="Calibri"/>
                <a:cs typeface="Calibri"/>
              </a:rPr>
              <a:t>My </a:t>
            </a:r>
            <a:r>
              <a:rPr sz="1800" b="1" dirty="0">
                <a:solidFill>
                  <a:srgbClr val="FF0000"/>
                </a:solidFill>
                <a:latin typeface="Calibri"/>
                <a:cs typeface="Calibri"/>
              </a:rPr>
              <a:t>Name is</a:t>
            </a:r>
            <a:r>
              <a:rPr sz="1800" b="1" spc="-85" dirty="0">
                <a:solidFill>
                  <a:srgbClr val="FF0000"/>
                </a:solidFill>
                <a:latin typeface="Calibri"/>
                <a:cs typeface="Calibri"/>
              </a:rPr>
              <a:t> </a:t>
            </a:r>
            <a:r>
              <a:rPr sz="1800" b="1" spc="-10" dirty="0">
                <a:solidFill>
                  <a:srgbClr val="FF0000"/>
                </a:solidFill>
                <a:latin typeface="Calibri"/>
                <a:cs typeface="Calibri"/>
              </a:rPr>
              <a:t>David</a:t>
            </a:r>
            <a:endParaRPr sz="1800">
              <a:latin typeface="Calibri"/>
              <a:cs typeface="Calibri"/>
            </a:endParaRPr>
          </a:p>
          <a:p>
            <a:pPr marL="327025">
              <a:lnSpc>
                <a:spcPct val="100000"/>
              </a:lnSpc>
              <a:spcBef>
                <a:spcPts val="565"/>
              </a:spcBef>
            </a:pPr>
            <a:r>
              <a:rPr sz="1800" b="1" spc="-5" dirty="0">
                <a:solidFill>
                  <a:srgbClr val="FF0000"/>
                </a:solidFill>
                <a:latin typeface="Calibri"/>
                <a:cs typeface="Calibri"/>
              </a:rPr>
              <a:t>16</a:t>
            </a:r>
            <a:endParaRPr sz="18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7726"/>
            <a:ext cx="8463915" cy="3905250"/>
          </a:xfrm>
          <a:prstGeom prst="rect">
            <a:avLst/>
          </a:prstGeom>
        </p:spPr>
        <p:txBody>
          <a:bodyPr vert="horz" wrap="square" lIns="0" tIns="12700" rIns="0" bIns="0" rtlCol="0">
            <a:spAutoFit/>
          </a:bodyPr>
          <a:lstStyle/>
          <a:p>
            <a:pPr marL="355600" indent="-342900" algn="just">
              <a:lnSpc>
                <a:spcPct val="100000"/>
              </a:lnSpc>
              <a:spcBef>
                <a:spcPts val="100"/>
              </a:spcBef>
              <a:buClr>
                <a:srgbClr val="0F1141"/>
              </a:buClr>
              <a:buChar char="•"/>
              <a:tabLst>
                <a:tab pos="355600" algn="l"/>
              </a:tabLst>
            </a:pPr>
            <a:r>
              <a:rPr sz="2400" spc="-5" dirty="0">
                <a:solidFill>
                  <a:srgbClr val="FF0000"/>
                </a:solidFill>
                <a:latin typeface="Arial"/>
                <a:cs typeface="Arial"/>
              </a:rPr>
              <a:t>String toUpperCase() </a:t>
            </a:r>
            <a:r>
              <a:rPr sz="2400" dirty="0">
                <a:solidFill>
                  <a:srgbClr val="FF0000"/>
                </a:solidFill>
                <a:latin typeface="Wingdings"/>
                <a:cs typeface="Wingdings"/>
              </a:rPr>
              <a:t></a:t>
            </a:r>
            <a:r>
              <a:rPr sz="2400" dirty="0">
                <a:solidFill>
                  <a:srgbClr val="FF0000"/>
                </a:solidFill>
                <a:latin typeface="Times New Roman"/>
                <a:cs typeface="Times New Roman"/>
              </a:rPr>
              <a:t> </a:t>
            </a:r>
            <a:r>
              <a:rPr sz="2400" spc="-5" dirty="0">
                <a:latin typeface="Arial"/>
                <a:cs typeface="Arial"/>
              </a:rPr>
              <a:t>Changes each character of</a:t>
            </a:r>
            <a:r>
              <a:rPr sz="2400" spc="165" dirty="0">
                <a:latin typeface="Arial"/>
                <a:cs typeface="Arial"/>
              </a:rPr>
              <a:t> </a:t>
            </a:r>
            <a:r>
              <a:rPr sz="2400" dirty="0">
                <a:latin typeface="Arial"/>
                <a:cs typeface="Arial"/>
              </a:rPr>
              <a:t>the</a:t>
            </a:r>
            <a:endParaRPr sz="2400">
              <a:latin typeface="Arial"/>
              <a:cs typeface="Arial"/>
            </a:endParaRPr>
          </a:p>
          <a:p>
            <a:pPr marL="355600" algn="just">
              <a:lnSpc>
                <a:spcPct val="100000"/>
              </a:lnSpc>
              <a:spcBef>
                <a:spcPts val="15"/>
              </a:spcBef>
            </a:pPr>
            <a:r>
              <a:rPr sz="2400" spc="-5" dirty="0">
                <a:latin typeface="Arial"/>
                <a:cs typeface="Arial"/>
              </a:rPr>
              <a:t>invoking string </a:t>
            </a:r>
            <a:r>
              <a:rPr sz="2400" dirty="0">
                <a:latin typeface="Arial"/>
                <a:cs typeface="Arial"/>
              </a:rPr>
              <a:t>to </a:t>
            </a:r>
            <a:r>
              <a:rPr sz="2400" spc="-5" dirty="0">
                <a:latin typeface="Arial"/>
                <a:cs typeface="Arial"/>
              </a:rPr>
              <a:t>upper case and </a:t>
            </a:r>
            <a:r>
              <a:rPr sz="2400" dirty="0">
                <a:latin typeface="Arial"/>
                <a:cs typeface="Arial"/>
              </a:rPr>
              <a:t>returns the </a:t>
            </a:r>
            <a:r>
              <a:rPr sz="2400" spc="-5" dirty="0">
                <a:latin typeface="Arial"/>
                <a:cs typeface="Arial"/>
              </a:rPr>
              <a:t>modified</a:t>
            </a:r>
            <a:r>
              <a:rPr sz="2400" spc="110" dirty="0">
                <a:latin typeface="Arial"/>
                <a:cs typeface="Arial"/>
              </a:rPr>
              <a:t> </a:t>
            </a:r>
            <a:r>
              <a:rPr sz="2400" spc="-5" dirty="0">
                <a:latin typeface="Arial"/>
                <a:cs typeface="Arial"/>
              </a:rPr>
              <a:t>string</a:t>
            </a:r>
            <a:endParaRPr sz="2400">
              <a:latin typeface="Arial"/>
              <a:cs typeface="Arial"/>
            </a:endParaRPr>
          </a:p>
          <a:p>
            <a:pPr marL="355600" marR="63500" indent="-342900" algn="just">
              <a:lnSpc>
                <a:spcPct val="100400"/>
              </a:lnSpc>
              <a:spcBef>
                <a:spcPts val="550"/>
              </a:spcBef>
              <a:buClr>
                <a:srgbClr val="0F1141"/>
              </a:buClr>
              <a:buChar char="•"/>
              <a:tabLst>
                <a:tab pos="355600" algn="l"/>
              </a:tabLst>
            </a:pPr>
            <a:r>
              <a:rPr sz="2400" spc="-5" dirty="0">
                <a:solidFill>
                  <a:srgbClr val="FF0000"/>
                </a:solidFill>
                <a:latin typeface="Arial"/>
                <a:cs typeface="Arial"/>
              </a:rPr>
              <a:t>String toLowerCase() </a:t>
            </a:r>
            <a:r>
              <a:rPr sz="2400" dirty="0">
                <a:solidFill>
                  <a:srgbClr val="FF0000"/>
                </a:solidFill>
                <a:latin typeface="Wingdings"/>
                <a:cs typeface="Wingdings"/>
              </a:rPr>
              <a:t></a:t>
            </a:r>
            <a:r>
              <a:rPr sz="2400" dirty="0">
                <a:solidFill>
                  <a:srgbClr val="FF0000"/>
                </a:solidFill>
                <a:latin typeface="Times New Roman"/>
                <a:cs typeface="Times New Roman"/>
              </a:rPr>
              <a:t> </a:t>
            </a:r>
            <a:r>
              <a:rPr sz="2400" spc="-5" dirty="0">
                <a:latin typeface="Arial"/>
                <a:cs typeface="Arial"/>
              </a:rPr>
              <a:t>Changes each character </a:t>
            </a:r>
            <a:r>
              <a:rPr sz="2400" dirty="0">
                <a:latin typeface="Arial"/>
                <a:cs typeface="Arial"/>
              </a:rPr>
              <a:t>of the  </a:t>
            </a:r>
            <a:r>
              <a:rPr sz="2400" spc="-5" dirty="0">
                <a:latin typeface="Arial"/>
                <a:cs typeface="Arial"/>
              </a:rPr>
              <a:t>invoking </a:t>
            </a:r>
            <a:r>
              <a:rPr sz="2400" dirty="0">
                <a:latin typeface="Arial"/>
                <a:cs typeface="Arial"/>
              </a:rPr>
              <a:t>string to </a:t>
            </a:r>
            <a:r>
              <a:rPr sz="2400" spc="-5" dirty="0">
                <a:latin typeface="Arial"/>
                <a:cs typeface="Arial"/>
              </a:rPr>
              <a:t>lower </a:t>
            </a:r>
            <a:r>
              <a:rPr sz="2400" dirty="0">
                <a:latin typeface="Arial"/>
                <a:cs typeface="Arial"/>
              </a:rPr>
              <a:t>case and returns the </a:t>
            </a:r>
            <a:r>
              <a:rPr sz="2400" spc="-5" dirty="0">
                <a:latin typeface="Arial"/>
                <a:cs typeface="Arial"/>
              </a:rPr>
              <a:t>modified</a:t>
            </a:r>
            <a:r>
              <a:rPr sz="2400" spc="40" dirty="0">
                <a:latin typeface="Arial"/>
                <a:cs typeface="Arial"/>
              </a:rPr>
              <a:t> </a:t>
            </a:r>
            <a:r>
              <a:rPr sz="2400" dirty="0">
                <a:latin typeface="Arial"/>
                <a:cs typeface="Arial"/>
              </a:rPr>
              <a:t>string</a:t>
            </a:r>
            <a:endParaRPr sz="2400">
              <a:latin typeface="Arial"/>
              <a:cs typeface="Arial"/>
            </a:endParaRPr>
          </a:p>
          <a:p>
            <a:pPr marL="355600" marR="5080" indent="-342900" algn="just">
              <a:lnSpc>
                <a:spcPct val="100000"/>
              </a:lnSpc>
              <a:spcBef>
                <a:spcPts val="580"/>
              </a:spcBef>
              <a:buClr>
                <a:srgbClr val="0F1141"/>
              </a:buClr>
              <a:buChar char="•"/>
              <a:tabLst>
                <a:tab pos="355600" algn="l"/>
              </a:tabLst>
            </a:pPr>
            <a:r>
              <a:rPr sz="2400" dirty="0">
                <a:latin typeface="Arial"/>
                <a:cs typeface="Arial"/>
              </a:rPr>
              <a:t>For </a:t>
            </a:r>
            <a:r>
              <a:rPr sz="2400" spc="-5" dirty="0">
                <a:latin typeface="Arial"/>
                <a:cs typeface="Arial"/>
              </a:rPr>
              <a:t>Example, </a:t>
            </a:r>
            <a:r>
              <a:rPr sz="2400" dirty="0">
                <a:latin typeface="Arial"/>
                <a:cs typeface="Arial"/>
              </a:rPr>
              <a:t>the statement </a:t>
            </a:r>
            <a:r>
              <a:rPr sz="2400" spc="-5" dirty="0">
                <a:solidFill>
                  <a:srgbClr val="FF0000"/>
                </a:solidFill>
                <a:latin typeface="Arial"/>
                <a:cs typeface="Arial"/>
              </a:rPr>
              <a:t>System.out.println("My Name is  David".toUpperCase()); </a:t>
            </a:r>
            <a:r>
              <a:rPr sz="2400" spc="-5" dirty="0">
                <a:latin typeface="Arial"/>
                <a:cs typeface="Arial"/>
              </a:rPr>
              <a:t>displays </a:t>
            </a:r>
            <a:r>
              <a:rPr sz="2400" dirty="0">
                <a:solidFill>
                  <a:srgbClr val="FF0000"/>
                </a:solidFill>
                <a:latin typeface="Arial"/>
                <a:cs typeface="Arial"/>
              </a:rPr>
              <a:t>“MY </a:t>
            </a:r>
            <a:r>
              <a:rPr sz="2400" spc="-5" dirty="0">
                <a:solidFill>
                  <a:srgbClr val="FF0000"/>
                </a:solidFill>
                <a:latin typeface="Arial"/>
                <a:cs typeface="Arial"/>
              </a:rPr>
              <a:t>NAME </a:t>
            </a:r>
            <a:r>
              <a:rPr sz="2400" dirty="0">
                <a:solidFill>
                  <a:srgbClr val="FF0000"/>
                </a:solidFill>
                <a:latin typeface="Arial"/>
                <a:cs typeface="Arial"/>
              </a:rPr>
              <a:t>IS </a:t>
            </a:r>
            <a:r>
              <a:rPr sz="2400" spc="-35" dirty="0">
                <a:solidFill>
                  <a:srgbClr val="FF0000"/>
                </a:solidFill>
                <a:latin typeface="Arial"/>
                <a:cs typeface="Arial"/>
              </a:rPr>
              <a:t>DAVID” </a:t>
            </a:r>
            <a:r>
              <a:rPr sz="2400" spc="-5" dirty="0">
                <a:latin typeface="Arial"/>
                <a:cs typeface="Arial"/>
              </a:rPr>
              <a:t>over  console</a:t>
            </a:r>
            <a:endParaRPr sz="2400">
              <a:latin typeface="Arial"/>
              <a:cs typeface="Arial"/>
            </a:endParaRPr>
          </a:p>
          <a:p>
            <a:pPr marL="355600" marR="13970" indent="-342900">
              <a:lnSpc>
                <a:spcPct val="100000"/>
              </a:lnSpc>
              <a:spcBef>
                <a:spcPts val="580"/>
              </a:spcBef>
              <a:buClr>
                <a:srgbClr val="0F1141"/>
              </a:buClr>
              <a:buChar char="•"/>
              <a:tabLst>
                <a:tab pos="354965" algn="l"/>
                <a:tab pos="355600" algn="l"/>
              </a:tabLst>
            </a:pPr>
            <a:r>
              <a:rPr sz="2400" dirty="0">
                <a:latin typeface="Arial"/>
                <a:cs typeface="Arial"/>
              </a:rPr>
              <a:t>For </a:t>
            </a:r>
            <a:r>
              <a:rPr sz="2400" spc="-5" dirty="0">
                <a:latin typeface="Arial"/>
                <a:cs typeface="Arial"/>
              </a:rPr>
              <a:t>Example, </a:t>
            </a:r>
            <a:r>
              <a:rPr sz="2400" dirty="0">
                <a:latin typeface="Arial"/>
                <a:cs typeface="Arial"/>
              </a:rPr>
              <a:t>the </a:t>
            </a:r>
            <a:r>
              <a:rPr sz="2400" spc="-5" dirty="0">
                <a:latin typeface="Arial"/>
                <a:cs typeface="Arial"/>
              </a:rPr>
              <a:t>statement </a:t>
            </a:r>
            <a:r>
              <a:rPr sz="2400" spc="-5" dirty="0">
                <a:solidFill>
                  <a:srgbClr val="FF0000"/>
                </a:solidFill>
                <a:latin typeface="Arial"/>
                <a:cs typeface="Arial"/>
              </a:rPr>
              <a:t>System.out.println("My Name is  David".toLowerCase()); </a:t>
            </a:r>
            <a:r>
              <a:rPr sz="2400" spc="-5" dirty="0">
                <a:latin typeface="Arial"/>
                <a:cs typeface="Arial"/>
              </a:rPr>
              <a:t>displays </a:t>
            </a:r>
            <a:r>
              <a:rPr sz="2400" dirty="0">
                <a:solidFill>
                  <a:srgbClr val="FF0000"/>
                </a:solidFill>
                <a:latin typeface="Arial"/>
                <a:cs typeface="Arial"/>
              </a:rPr>
              <a:t>“my </a:t>
            </a:r>
            <a:r>
              <a:rPr sz="2400" spc="-5" dirty="0">
                <a:solidFill>
                  <a:srgbClr val="FF0000"/>
                </a:solidFill>
                <a:latin typeface="Arial"/>
                <a:cs typeface="Arial"/>
              </a:rPr>
              <a:t>name is david” </a:t>
            </a:r>
            <a:r>
              <a:rPr sz="2400" spc="-5" dirty="0">
                <a:latin typeface="Arial"/>
                <a:cs typeface="Arial"/>
              </a:rPr>
              <a:t>over  console</a:t>
            </a:r>
            <a:endParaRPr sz="2400">
              <a:latin typeface="Arial"/>
              <a:cs typeface="Arial"/>
            </a:endParaRPr>
          </a:p>
        </p:txBody>
      </p:sp>
      <p:sp>
        <p:nvSpPr>
          <p:cNvPr id="3" name="object 3"/>
          <p:cNvSpPr txBox="1">
            <a:spLocks noGrp="1"/>
          </p:cNvSpPr>
          <p:nvPr>
            <p:ph type="title"/>
          </p:nvPr>
        </p:nvSpPr>
        <p:spPr>
          <a:xfrm>
            <a:off x="383540" y="150621"/>
            <a:ext cx="4361180" cy="1031240"/>
          </a:xfrm>
          <a:prstGeom prst="rect">
            <a:avLst/>
          </a:prstGeom>
        </p:spPr>
        <p:txBody>
          <a:bodyPr vert="horz" wrap="square" lIns="0" tIns="104139" rIns="0" bIns="0" rtlCol="0">
            <a:spAutoFit/>
          </a:bodyPr>
          <a:lstStyle/>
          <a:p>
            <a:pPr marL="12700" marR="5080">
              <a:lnSpc>
                <a:spcPts val="3600"/>
              </a:lnSpc>
              <a:spcBef>
                <a:spcPts val="819"/>
              </a:spcBef>
            </a:pPr>
            <a:r>
              <a:rPr sz="3600" i="0" spc="-140" dirty="0">
                <a:solidFill>
                  <a:srgbClr val="000000"/>
                </a:solidFill>
                <a:latin typeface="Arial"/>
                <a:cs typeface="Arial"/>
              </a:rPr>
              <a:t>Changing </a:t>
            </a:r>
            <a:r>
              <a:rPr sz="3600" i="0" spc="-105" dirty="0">
                <a:solidFill>
                  <a:srgbClr val="000000"/>
                </a:solidFill>
                <a:latin typeface="Arial"/>
                <a:cs typeface="Arial"/>
              </a:rPr>
              <a:t>the </a:t>
            </a:r>
            <a:r>
              <a:rPr sz="3600" i="0" spc="-120" dirty="0">
                <a:solidFill>
                  <a:srgbClr val="000000"/>
                </a:solidFill>
                <a:latin typeface="Arial"/>
                <a:cs typeface="Arial"/>
              </a:rPr>
              <a:t>Case</a:t>
            </a:r>
            <a:r>
              <a:rPr sz="3600" i="0" spc="-675" dirty="0">
                <a:solidFill>
                  <a:srgbClr val="000000"/>
                </a:solidFill>
                <a:latin typeface="Arial"/>
                <a:cs typeface="Arial"/>
              </a:rPr>
              <a:t> </a:t>
            </a:r>
            <a:r>
              <a:rPr sz="3600" i="0" spc="-80" dirty="0">
                <a:solidFill>
                  <a:srgbClr val="000000"/>
                </a:solidFill>
                <a:latin typeface="Arial"/>
                <a:cs typeface="Arial"/>
              </a:rPr>
              <a:t>of  </a:t>
            </a:r>
            <a:r>
              <a:rPr sz="3600" i="0" spc="-145" dirty="0">
                <a:solidFill>
                  <a:srgbClr val="000000"/>
                </a:solidFill>
                <a:latin typeface="Arial"/>
                <a:cs typeface="Arial"/>
              </a:rPr>
              <a:t>Characters</a:t>
            </a:r>
            <a:endParaRPr sz="360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Content Placeholder 2">
            <a:extLst>
              <a:ext uri="{FF2B5EF4-FFF2-40B4-BE49-F238E27FC236}">
                <a16:creationId xmlns:a16="http://schemas.microsoft.com/office/drawing/2014/main" id="{A3C597FE-F0F8-4FF7-9C93-7BD0E8CA060C}"/>
              </a:ext>
            </a:extLst>
          </p:cNvPr>
          <p:cNvSpPr>
            <a:spLocks noGrp="1"/>
          </p:cNvSpPr>
          <p:nvPr>
            <p:ph idx="1"/>
          </p:nvPr>
        </p:nvSpPr>
        <p:spPr>
          <a:xfrm>
            <a:off x="1371600" y="1885951"/>
            <a:ext cx="6172200" cy="3875485"/>
          </a:xfrm>
        </p:spPr>
        <p:txBody>
          <a:bodyPr/>
          <a:lstStyle/>
          <a:p>
            <a:pPr fontAlgn="base" latinLnBrk="1">
              <a:spcAft>
                <a:spcPct val="0"/>
              </a:spcAft>
              <a:defRPr/>
            </a:pPr>
            <a:r>
              <a:rPr lang="en-IN" altLang="en-US" sz="1650" dirty="0">
                <a:latin typeface="Rockwell" panose="02060603020205020403" pitchFamily="18" charset="0"/>
              </a:rPr>
              <a:t>2. Using the new Keyword</a:t>
            </a:r>
          </a:p>
          <a:p>
            <a:pPr fontAlgn="base" latinLnBrk="1">
              <a:spcAft>
                <a:spcPct val="0"/>
              </a:spcAft>
              <a:defRPr/>
            </a:pPr>
            <a:r>
              <a:rPr lang="en-IN" altLang="en-US" sz="1650" dirty="0">
                <a:latin typeface="Rockwell" panose="02060603020205020403" pitchFamily="18" charset="0"/>
              </a:rPr>
              <a:t>We can create a String object like any other object as</a:t>
            </a:r>
          </a:p>
          <a:p>
            <a:pPr fontAlgn="base" latinLnBrk="1">
              <a:spcAft>
                <a:spcPct val="0"/>
              </a:spcAft>
              <a:defRPr/>
            </a:pPr>
            <a:r>
              <a:rPr lang="en-IN" altLang="en-US" sz="1650" dirty="0">
                <a:latin typeface="Rockwell" panose="02060603020205020403" pitchFamily="18" charset="0"/>
              </a:rPr>
              <a:t>	String S = new String(“Welcome”);</a:t>
            </a:r>
          </a:p>
          <a:p>
            <a:pPr>
              <a:spcAft>
                <a:spcPts val="900"/>
              </a:spcAft>
              <a:defRPr/>
            </a:pPr>
            <a:r>
              <a:rPr lang="en-IN" sz="1650" b="1" u="sng" dirty="0">
                <a:latin typeface="Rockwell" panose="02060603020205020403" pitchFamily="18" charset="0"/>
                <a:ea typeface="Times New Roman" panose="02020603050405020304" pitchFamily="18" charset="0"/>
              </a:rPr>
              <a:t>Java String Methods</a:t>
            </a:r>
          </a:p>
          <a:p>
            <a:pPr>
              <a:defRPr/>
            </a:pPr>
            <a:r>
              <a:rPr lang="en-IN" sz="1650" dirty="0">
                <a:latin typeface="Rockwell" panose="02060603020205020403" pitchFamily="18" charset="0"/>
                <a:ea typeface="Calibri" panose="020F0502020204030204" pitchFamily="34" charset="0"/>
              </a:rPr>
              <a:t>Here are the list of the methods available in the Java String</a:t>
            </a:r>
          </a:p>
          <a:p>
            <a:pPr>
              <a:defRPr/>
            </a:pPr>
            <a:r>
              <a:rPr lang="en-IN" sz="1650" dirty="0">
                <a:latin typeface="Rockwell" panose="02060603020205020403" pitchFamily="18" charset="0"/>
                <a:ea typeface="Calibri" panose="020F0502020204030204" pitchFamily="34" charset="0"/>
              </a:rPr>
              <a:t> class.</a:t>
            </a:r>
            <a:r>
              <a:rPr lang="en-IN" sz="1650" u="sng" dirty="0">
                <a:latin typeface="Rockwell" panose="02060603020205020403" pitchFamily="18" charset="0"/>
                <a:ea typeface="Calibri" panose="020F0502020204030204" pitchFamily="34" charset="0"/>
              </a:rPr>
              <a:t> </a:t>
            </a:r>
          </a:p>
          <a:p>
            <a:pPr marL="342900" indent="-342900">
              <a:buFont typeface="Arial" pitchFamily="34" charset="0"/>
              <a:buAutoNum type="arabicPeriod"/>
              <a:defRPr/>
            </a:pPr>
            <a:r>
              <a:rPr lang="en-IN" sz="1650" b="1" u="sng" dirty="0">
                <a:latin typeface="Rockwell" panose="02060603020205020403" pitchFamily="18" charset="0"/>
                <a:ea typeface="Calibri" panose="020F0502020204030204" pitchFamily="34" charset="0"/>
                <a:cs typeface="Times New Roman" panose="02020603050405020304" pitchFamily="18" charset="0"/>
                <a:hlinkClick r:id="rId3" tooltip="CharAt"/>
              </a:rPr>
              <a:t>char </a:t>
            </a:r>
            <a:r>
              <a:rPr lang="en-IN" sz="1650" b="1" u="sng" dirty="0" err="1">
                <a:latin typeface="Rockwell" panose="02060603020205020403" pitchFamily="18" charset="0"/>
                <a:ea typeface="Calibri" panose="020F0502020204030204" pitchFamily="34" charset="0"/>
                <a:cs typeface="Times New Roman" panose="02020603050405020304" pitchFamily="18" charset="0"/>
                <a:hlinkClick r:id="rId3" tooltip="CharAt"/>
              </a:rPr>
              <a:t>charAt</a:t>
            </a:r>
            <a:r>
              <a:rPr lang="en-IN" sz="1650" b="1" u="sng" dirty="0">
                <a:latin typeface="Rockwell" panose="02060603020205020403" pitchFamily="18" charset="0"/>
                <a:ea typeface="Calibri" panose="020F0502020204030204" pitchFamily="34" charset="0"/>
                <a:cs typeface="Times New Roman" panose="02020603050405020304" pitchFamily="18" charset="0"/>
                <a:hlinkClick r:id="rId3" tooltip="CharAt"/>
              </a:rPr>
              <a:t>(int index)</a:t>
            </a:r>
            <a:r>
              <a:rPr lang="en-IN" sz="1650" b="1" dirty="0">
                <a:latin typeface="Rockwell" panose="02060603020205020403" pitchFamily="18" charset="0"/>
                <a:ea typeface="Calibri" panose="020F0502020204030204" pitchFamily="34" charset="0"/>
                <a:cs typeface="Times New Roman" panose="02020603050405020304" pitchFamily="18" charset="0"/>
              </a:rPr>
              <a:t>: </a:t>
            </a:r>
            <a:r>
              <a:rPr lang="en-IN" sz="1650" dirty="0">
                <a:latin typeface="Rockwell" panose="02060603020205020403" pitchFamily="18" charset="0"/>
                <a:ea typeface="Calibri" panose="020F0502020204030204" pitchFamily="34" charset="0"/>
                <a:cs typeface="Times New Roman" panose="02020603050405020304" pitchFamily="18" charset="0"/>
              </a:rPr>
              <a:t>It returns the character at the specified index. </a:t>
            </a:r>
          </a:p>
          <a:p>
            <a:pPr marL="0" indent="0">
              <a:defRPr/>
            </a:pPr>
            <a:r>
              <a:rPr lang="en-IN" sz="1650" dirty="0">
                <a:latin typeface="Rockwell" panose="02060603020205020403" pitchFamily="18" charset="0"/>
                <a:ea typeface="Calibri" panose="020F0502020204030204" pitchFamily="34" charset="0"/>
                <a:cs typeface="Times New Roman" panose="02020603050405020304" pitchFamily="18" charset="0"/>
              </a:rPr>
              <a:t>Specified index value should be between 0 to length() -1 both inclusive. </a:t>
            </a:r>
          </a:p>
          <a:p>
            <a:pPr marL="0" indent="0">
              <a:defRPr/>
            </a:pPr>
            <a:r>
              <a:rPr lang="en-IN" sz="1650" dirty="0">
                <a:latin typeface="Rockwell" panose="02060603020205020403" pitchFamily="18" charset="0"/>
                <a:ea typeface="Calibri" panose="020F0502020204030204" pitchFamily="34" charset="0"/>
                <a:cs typeface="Times New Roman" panose="02020603050405020304" pitchFamily="18" charset="0"/>
              </a:rPr>
              <a:t>It throws </a:t>
            </a:r>
            <a:r>
              <a:rPr lang="en-IN" sz="1650" dirty="0" err="1">
                <a:latin typeface="Rockwell" panose="02060603020205020403" pitchFamily="18" charset="0"/>
                <a:ea typeface="Calibri" panose="020F0502020204030204" pitchFamily="34" charset="0"/>
                <a:cs typeface="Times New Roman" panose="02020603050405020304" pitchFamily="18" charset="0"/>
              </a:rPr>
              <a:t>IndexOutOfBoundsException</a:t>
            </a:r>
            <a:r>
              <a:rPr lang="en-IN" sz="1650" dirty="0">
                <a:latin typeface="Rockwell" panose="02060603020205020403" pitchFamily="18" charset="0"/>
                <a:ea typeface="Calibri" panose="020F0502020204030204" pitchFamily="34" charset="0"/>
                <a:cs typeface="Times New Roman" panose="02020603050405020304" pitchFamily="18" charset="0"/>
              </a:rPr>
              <a:t> if index&lt;0||&gt;= length of String.</a:t>
            </a:r>
          </a:p>
        </p:txBody>
      </p:sp>
      <p:sp>
        <p:nvSpPr>
          <p:cNvPr id="4" name="Content Placeholder 3">
            <a:extLst>
              <a:ext uri="{FF2B5EF4-FFF2-40B4-BE49-F238E27FC236}">
                <a16:creationId xmlns:a16="http://schemas.microsoft.com/office/drawing/2014/main" id="{0BE5C6CD-AD34-4452-80A1-4CF0CF7B5E3F}"/>
              </a:ext>
            </a:extLst>
          </p:cNvPr>
          <p:cNvSpPr>
            <a:spLocks noGrp="1"/>
          </p:cNvSpPr>
          <p:nvPr>
            <p:ph sz="quarter" idx="10"/>
          </p:nvPr>
        </p:nvSpPr>
        <p:spPr/>
        <p:txBody>
          <a:bodyPr rtlCol="0"/>
          <a:lstStyle/>
          <a:p>
            <a:pPr fontAlgn="auto">
              <a:spcAft>
                <a:spcPts val="0"/>
              </a:spcAft>
              <a:defRPr/>
            </a:pPr>
            <a:r>
              <a:rPr lang="en-US" dirty="0"/>
              <a:t>STRING CLASS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Content Placeholder 2">
            <a:extLst>
              <a:ext uri="{FF2B5EF4-FFF2-40B4-BE49-F238E27FC236}">
                <a16:creationId xmlns:a16="http://schemas.microsoft.com/office/drawing/2014/main" id="{30476283-E068-4692-A3B8-F8092E595D1B}"/>
              </a:ext>
            </a:extLst>
          </p:cNvPr>
          <p:cNvSpPr>
            <a:spLocks noGrp="1"/>
          </p:cNvSpPr>
          <p:nvPr>
            <p:ph idx="1"/>
          </p:nvPr>
        </p:nvSpPr>
        <p:spPr>
          <a:xfrm>
            <a:off x="1371600" y="1828801"/>
            <a:ext cx="6400800" cy="3932635"/>
          </a:xfrm>
        </p:spPr>
        <p:txBody>
          <a:bodyPr/>
          <a:lstStyle/>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3"/>
              </a:rPr>
              <a:t>2. boolean equals(Object obj)</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Compares the string with the specified string and returns true if both matches else false.</a:t>
            </a:r>
          </a:p>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3"/>
              </a:rPr>
              <a:t>3. boolean equalsIgnoreCase(String string)</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It works same as equals method but it doesn’t consider the case while comparing strings. It does a case insensitive comparison.</a:t>
            </a:r>
          </a:p>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4" tooltip="CompareTo"/>
              </a:rPr>
              <a:t>4. int compareTo(String string)</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This method compares the two strings based on the Unicode value of each character in the strings.</a:t>
            </a:r>
          </a:p>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5"/>
              </a:rPr>
              <a:t>5. int compareToIgnoreCase(String string)</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Same as CompareTo method however it ignores the case during comparison.</a:t>
            </a:r>
          </a:p>
          <a:p>
            <a:pPr fontAlgn="base" latinLnBrk="1">
              <a:spcAft>
                <a:spcPct val="0"/>
              </a:spcAft>
              <a:tabLst>
                <a:tab pos="342900" algn="l"/>
              </a:tabLst>
            </a:pPr>
            <a:endParaRPr lang="en-IN" altLang="en-US" sz="1650">
              <a:latin typeface="Rockwell" panose="02060603020205020403" pitchFamily="18" charset="0"/>
              <a:ea typeface="Calibri" panose="020F050202020403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B1B724E-8FEC-4554-BAC9-8D65B35B0B98}"/>
              </a:ext>
            </a:extLst>
          </p:cNvPr>
          <p:cNvSpPr>
            <a:spLocks noGrp="1"/>
          </p:cNvSpPr>
          <p:nvPr>
            <p:ph sz="quarter" idx="10"/>
          </p:nvPr>
        </p:nvSpPr>
        <p:spPr/>
        <p:txBody>
          <a:bodyPr rtlCol="0"/>
          <a:lstStyle/>
          <a:p>
            <a:pPr fontAlgn="auto">
              <a:spcAft>
                <a:spcPts val="0"/>
              </a:spcAft>
              <a:defRPr/>
            </a:pPr>
            <a:r>
              <a:rPr lang="en-US" dirty="0"/>
              <a:t>STRING CLASS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Content Placeholder 2">
            <a:extLst>
              <a:ext uri="{FF2B5EF4-FFF2-40B4-BE49-F238E27FC236}">
                <a16:creationId xmlns:a16="http://schemas.microsoft.com/office/drawing/2014/main" id="{ADF5E38A-34E8-453D-9F57-0FD6E571183E}"/>
              </a:ext>
            </a:extLst>
          </p:cNvPr>
          <p:cNvSpPr>
            <a:spLocks noGrp="1"/>
          </p:cNvSpPr>
          <p:nvPr>
            <p:ph idx="1"/>
          </p:nvPr>
        </p:nvSpPr>
        <p:spPr>
          <a:xfrm>
            <a:off x="1371600" y="1828801"/>
            <a:ext cx="6400800" cy="3932635"/>
          </a:xfrm>
        </p:spPr>
        <p:txBody>
          <a:bodyPr/>
          <a:lstStyle/>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3"/>
              </a:rPr>
              <a:t>6. boolean startsWith(String prefix, int offset)</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It checks whether the substring (starting from the specified offset index) is having the specified prefix or not.</a:t>
            </a:r>
          </a:p>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3"/>
              </a:rPr>
              <a:t>7. boolean startsWith(String prefix)</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It tests whether the string  is having specified prefix, if yes then it returns true else false.</a:t>
            </a:r>
          </a:p>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4" tooltip="endsWith"/>
              </a:rPr>
              <a:t>8. boolean endsWith(String suffix)</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Checks whether the string ends with the specified suffix.</a:t>
            </a:r>
          </a:p>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5"/>
              </a:rPr>
              <a:t>9. int indexOf(int ch)</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Returns the index of first occurrence of the specified character ch in the string.</a:t>
            </a:r>
          </a:p>
          <a:p>
            <a:pPr fontAlgn="base">
              <a:lnSpc>
                <a:spcPct val="107000"/>
              </a:lnSpc>
              <a:spcAft>
                <a:spcPts val="600"/>
              </a:spcAft>
              <a:tabLst>
                <a:tab pos="342900" algn="l"/>
              </a:tabLst>
            </a:pPr>
            <a:r>
              <a:rPr lang="en-IN" altLang="en-US" sz="1650" b="1" u="sng">
                <a:latin typeface="Rockwell" panose="02060603020205020403" pitchFamily="18" charset="0"/>
                <a:ea typeface="Calibri" panose="020F0502020204030204" pitchFamily="34" charset="0"/>
                <a:cs typeface="Times New Roman" panose="02020603050405020304" pitchFamily="18" charset="0"/>
                <a:hlinkClick r:id="rId5"/>
              </a:rPr>
              <a:t>10. int indexOf(int ch, int fromIndex)</a:t>
            </a:r>
            <a:r>
              <a:rPr lang="en-IN" altLang="en-US" sz="1650" b="1">
                <a:latin typeface="Rockwell" panose="02060603020205020403" pitchFamily="18" charset="0"/>
                <a:ea typeface="Calibri" panose="020F0502020204030204" pitchFamily="34" charset="0"/>
                <a:cs typeface="Times New Roman" panose="02020603050405020304" pitchFamily="18" charset="0"/>
              </a:rPr>
              <a:t>: </a:t>
            </a:r>
            <a:r>
              <a:rPr lang="en-IN" altLang="en-US" sz="1650">
                <a:latin typeface="Rockwell" panose="02060603020205020403" pitchFamily="18" charset="0"/>
                <a:ea typeface="Calibri" panose="020F0502020204030204" pitchFamily="34" charset="0"/>
                <a:cs typeface="Times New Roman" panose="02020603050405020304" pitchFamily="18" charset="0"/>
              </a:rPr>
              <a:t>Same as indexOf method however it starts searching in the string from the specified fromIndex.</a:t>
            </a:r>
          </a:p>
          <a:p>
            <a:pPr fontAlgn="base">
              <a:lnSpc>
                <a:spcPct val="107000"/>
              </a:lnSpc>
              <a:spcAft>
                <a:spcPts val="600"/>
              </a:spcAft>
              <a:tabLst>
                <a:tab pos="342900" algn="l"/>
              </a:tabLst>
            </a:pPr>
            <a:endParaRPr lang="en-IN" altLang="en-US" sz="1650">
              <a:latin typeface="Rockwell" panose="02060603020205020403" pitchFamily="18" charset="0"/>
              <a:ea typeface="Calibri" panose="020F0502020204030204" pitchFamily="34" charset="0"/>
              <a:cs typeface="Times New Roman" panose="02020603050405020304" pitchFamily="18" charset="0"/>
            </a:endParaRPr>
          </a:p>
          <a:p>
            <a:pPr fontAlgn="base">
              <a:spcAft>
                <a:spcPct val="0"/>
              </a:spcAft>
              <a:tabLst>
                <a:tab pos="342900" algn="l"/>
              </a:tabLst>
            </a:pPr>
            <a:endParaRPr lang="en-IN" altLang="en-US" sz="1650">
              <a:latin typeface="Rockwell" panose="02060603020205020403" pitchFamily="18" charset="0"/>
              <a:ea typeface="Calibri" panose="020F0502020204030204" pitchFamily="34" charset="0"/>
              <a:cs typeface="Times New Roman" panose="02020603050405020304" pitchFamily="18" charset="0"/>
            </a:endParaRPr>
          </a:p>
          <a:p>
            <a:pPr fontAlgn="base" latinLnBrk="1">
              <a:spcAft>
                <a:spcPct val="0"/>
              </a:spcAft>
              <a:tabLst>
                <a:tab pos="342900" algn="l"/>
              </a:tabLst>
            </a:pPr>
            <a:endParaRPr lang="en-IN" altLang="en-US" sz="1650">
              <a:latin typeface="Rockwell" panose="02060603020205020403" pitchFamily="18" charset="0"/>
              <a:ea typeface="Calibri" panose="020F050202020403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B8BE4EC-6AA5-4663-B381-ABFADBF9FAAD}"/>
              </a:ext>
            </a:extLst>
          </p:cNvPr>
          <p:cNvSpPr>
            <a:spLocks noGrp="1"/>
          </p:cNvSpPr>
          <p:nvPr>
            <p:ph sz="quarter" idx="10"/>
          </p:nvPr>
        </p:nvSpPr>
        <p:spPr/>
        <p:txBody>
          <a:bodyPr rtlCol="0"/>
          <a:lstStyle/>
          <a:p>
            <a:pPr fontAlgn="auto">
              <a:spcAft>
                <a:spcPts val="0"/>
              </a:spcAft>
              <a:defRPr/>
            </a:pPr>
            <a:r>
              <a:rPr lang="en-US" dirty="0"/>
              <a:t>STRING CLASS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Content Placeholder 2">
            <a:extLst>
              <a:ext uri="{FF2B5EF4-FFF2-40B4-BE49-F238E27FC236}">
                <a16:creationId xmlns:a16="http://schemas.microsoft.com/office/drawing/2014/main" id="{BD3868B2-1A72-4618-B31E-41A9CD78F3AF}"/>
              </a:ext>
            </a:extLst>
          </p:cNvPr>
          <p:cNvSpPr>
            <a:spLocks noGrp="1"/>
          </p:cNvSpPr>
          <p:nvPr>
            <p:ph idx="1"/>
          </p:nvPr>
        </p:nvSpPr>
        <p:spPr>
          <a:xfrm>
            <a:off x="1371600" y="1885951"/>
            <a:ext cx="6443330" cy="3875485"/>
          </a:xfrm>
        </p:spPr>
        <p:txBody>
          <a:bodyPr/>
          <a:lstStyle/>
          <a:p>
            <a:pPr fontAlgn="base" latinLnBrk="1">
              <a:spcAft>
                <a:spcPct val="0"/>
              </a:spcAft>
              <a:defRPr/>
            </a:pPr>
            <a:r>
              <a:rPr lang="en-IN" altLang="en-US" sz="1650" b="1" dirty="0">
                <a:latin typeface="Rockwell" panose="02060603020205020403" pitchFamily="18" charset="0"/>
              </a:rPr>
              <a:t>11. </a:t>
            </a:r>
            <a:r>
              <a:rPr lang="en-IN" sz="1650" b="1" u="sng" dirty="0">
                <a:latin typeface="Rockwell" panose="02060603020205020403" pitchFamily="18" charset="0"/>
                <a:ea typeface="Calibri" panose="020F0502020204030204" pitchFamily="34" charset="0"/>
                <a:cs typeface="Times New Roman" panose="02020603050405020304" pitchFamily="18" charset="0"/>
                <a:hlinkClick r:id="rId3"/>
              </a:rPr>
              <a:t>int </a:t>
            </a:r>
            <a:r>
              <a:rPr lang="en-IN" sz="1650" b="1" u="sng" dirty="0" err="1">
                <a:latin typeface="Rockwell" panose="02060603020205020403" pitchFamily="18" charset="0"/>
                <a:ea typeface="Calibri" panose="020F0502020204030204" pitchFamily="34" charset="0"/>
                <a:cs typeface="Times New Roman" panose="02020603050405020304" pitchFamily="18" charset="0"/>
                <a:hlinkClick r:id="rId3"/>
              </a:rPr>
              <a:t>lastIndexOf</a:t>
            </a:r>
            <a:r>
              <a:rPr lang="en-IN" sz="1650" b="1" u="sng" dirty="0">
                <a:latin typeface="Rockwell" panose="02060603020205020403" pitchFamily="18" charset="0"/>
                <a:ea typeface="Calibri" panose="020F0502020204030204" pitchFamily="34" charset="0"/>
                <a:cs typeface="Times New Roman" panose="02020603050405020304" pitchFamily="18" charset="0"/>
                <a:hlinkClick r:id="rId3"/>
              </a:rPr>
              <a:t>(int </a:t>
            </a:r>
            <a:r>
              <a:rPr lang="en-IN" sz="1650" b="1" u="sng" dirty="0" err="1">
                <a:latin typeface="Rockwell" panose="02060603020205020403" pitchFamily="18" charset="0"/>
                <a:ea typeface="Calibri" panose="020F0502020204030204" pitchFamily="34" charset="0"/>
                <a:cs typeface="Times New Roman" panose="02020603050405020304" pitchFamily="18" charset="0"/>
                <a:hlinkClick r:id="rId3"/>
              </a:rPr>
              <a:t>ch</a:t>
            </a:r>
            <a:r>
              <a:rPr lang="en-IN" sz="1650" b="1" u="sng" dirty="0">
                <a:latin typeface="Rockwell" panose="02060603020205020403" pitchFamily="18" charset="0"/>
                <a:ea typeface="Calibri" panose="020F0502020204030204" pitchFamily="34" charset="0"/>
                <a:cs typeface="Times New Roman" panose="02020603050405020304" pitchFamily="18" charset="0"/>
                <a:hlinkClick r:id="rId3"/>
              </a:rPr>
              <a:t>)</a:t>
            </a:r>
            <a:r>
              <a:rPr lang="en-IN" sz="1650" b="1" dirty="0">
                <a:latin typeface="Rockwell" panose="02060603020205020403" pitchFamily="18" charset="0"/>
                <a:ea typeface="Calibri" panose="020F0502020204030204" pitchFamily="34" charset="0"/>
                <a:cs typeface="Times New Roman" panose="02020603050405020304" pitchFamily="18" charset="0"/>
              </a:rPr>
              <a:t>: </a:t>
            </a:r>
            <a:r>
              <a:rPr lang="en-IN" sz="1650" dirty="0">
                <a:latin typeface="Rockwell" panose="02060603020205020403" pitchFamily="18" charset="0"/>
                <a:ea typeface="Calibri" panose="020F0502020204030204" pitchFamily="34" charset="0"/>
                <a:cs typeface="Times New Roman" panose="02020603050405020304" pitchFamily="18" charset="0"/>
              </a:rPr>
              <a:t>It returns the last occurrence of the character </a:t>
            </a:r>
            <a:r>
              <a:rPr lang="en-IN" sz="1650" dirty="0" err="1">
                <a:latin typeface="Rockwell" panose="02060603020205020403" pitchFamily="18" charset="0"/>
                <a:ea typeface="Calibri" panose="020F0502020204030204" pitchFamily="34" charset="0"/>
                <a:cs typeface="Times New Roman" panose="02020603050405020304" pitchFamily="18" charset="0"/>
              </a:rPr>
              <a:t>ch</a:t>
            </a:r>
            <a:r>
              <a:rPr lang="en-IN" sz="1650" dirty="0">
                <a:latin typeface="Rockwell" panose="02060603020205020403" pitchFamily="18" charset="0"/>
                <a:ea typeface="Calibri" panose="020F0502020204030204" pitchFamily="34" charset="0"/>
                <a:cs typeface="Times New Roman" panose="02020603050405020304" pitchFamily="18" charset="0"/>
              </a:rPr>
              <a:t> in the string.</a:t>
            </a:r>
          </a:p>
          <a:p>
            <a:pPr marL="342900" indent="-342900" fontAlgn="base" latinLnBrk="1">
              <a:spcAft>
                <a:spcPct val="0"/>
              </a:spcAft>
              <a:buAutoNum type="arabicPeriod" startAt="12"/>
              <a:defRPr/>
            </a:pPr>
            <a:r>
              <a:rPr lang="en-US" sz="1650" b="1" dirty="0">
                <a:latin typeface="Rockwell" panose="02060603020205020403" pitchFamily="18" charset="0"/>
                <a:hlinkClick r:id="rId4"/>
              </a:rPr>
              <a:t>String substring(int </a:t>
            </a:r>
            <a:r>
              <a:rPr lang="en-US" sz="1650" b="1" dirty="0" err="1">
                <a:latin typeface="Rockwell" panose="02060603020205020403" pitchFamily="18" charset="0"/>
                <a:hlinkClick r:id="rId4"/>
              </a:rPr>
              <a:t>beginIndex</a:t>
            </a:r>
            <a:r>
              <a:rPr lang="en-US" sz="1650" b="1" dirty="0">
                <a:latin typeface="Rockwell" panose="02060603020205020403" pitchFamily="18" charset="0"/>
                <a:hlinkClick r:id="rId4"/>
              </a:rPr>
              <a:t>)</a:t>
            </a:r>
            <a:r>
              <a:rPr lang="en-US" sz="1650" b="1" dirty="0">
                <a:latin typeface="Rockwell" panose="02060603020205020403" pitchFamily="18" charset="0"/>
              </a:rPr>
              <a:t>: </a:t>
            </a:r>
            <a:r>
              <a:rPr lang="en-US" sz="1650" dirty="0">
                <a:latin typeface="Rockwell" panose="02060603020205020403" pitchFamily="18" charset="0"/>
              </a:rPr>
              <a:t>It returns the substring of </a:t>
            </a:r>
          </a:p>
          <a:p>
            <a:pPr marL="0" indent="271463" fontAlgn="base" latinLnBrk="1">
              <a:spcAft>
                <a:spcPct val="0"/>
              </a:spcAft>
              <a:defRPr/>
            </a:pPr>
            <a:r>
              <a:rPr lang="en-US" sz="1650" dirty="0">
                <a:latin typeface="Rockwell" panose="02060603020205020403" pitchFamily="18" charset="0"/>
              </a:rPr>
              <a:t>the string. The substring starts with the character at the </a:t>
            </a:r>
          </a:p>
          <a:p>
            <a:pPr marL="0" indent="271463" fontAlgn="base" latinLnBrk="1">
              <a:spcAft>
                <a:spcPct val="0"/>
              </a:spcAft>
              <a:defRPr/>
            </a:pPr>
            <a:r>
              <a:rPr lang="en-US" sz="1650" dirty="0">
                <a:latin typeface="Rockwell" panose="02060603020205020403" pitchFamily="18" charset="0"/>
              </a:rPr>
              <a:t>specified index.</a:t>
            </a:r>
          </a:p>
          <a:p>
            <a:pPr marL="271463" indent="-271463">
              <a:defRPr/>
            </a:pPr>
            <a:r>
              <a:rPr lang="en-US" sz="1650" b="1" u="sng" dirty="0">
                <a:latin typeface="Rockwell" panose="02060603020205020403" pitchFamily="18" charset="0"/>
                <a:hlinkClick r:id="rId4"/>
              </a:rPr>
              <a:t>13.</a:t>
            </a:r>
            <a:r>
              <a:rPr lang="en-US" sz="1650" b="1" dirty="0">
                <a:latin typeface="Rockwell" panose="02060603020205020403" pitchFamily="18" charset="0"/>
                <a:hlinkClick r:id="rId4"/>
              </a:rPr>
              <a:t>String substring(int </a:t>
            </a:r>
            <a:r>
              <a:rPr lang="en-US" sz="1650" b="1" dirty="0" err="1">
                <a:latin typeface="Rockwell" panose="02060603020205020403" pitchFamily="18" charset="0"/>
                <a:hlinkClick r:id="rId4"/>
              </a:rPr>
              <a:t>beginIndex</a:t>
            </a:r>
            <a:r>
              <a:rPr lang="en-US" sz="1650" b="1" dirty="0">
                <a:latin typeface="Rockwell" panose="02060603020205020403" pitchFamily="18" charset="0"/>
                <a:hlinkClick r:id="rId4"/>
              </a:rPr>
              <a:t>, int </a:t>
            </a:r>
            <a:r>
              <a:rPr lang="en-US" sz="1650" b="1" dirty="0" err="1">
                <a:latin typeface="Rockwell" panose="02060603020205020403" pitchFamily="18" charset="0"/>
                <a:hlinkClick r:id="rId4"/>
              </a:rPr>
              <a:t>endIndex</a:t>
            </a:r>
            <a:r>
              <a:rPr lang="en-US" sz="1650" b="1" dirty="0">
                <a:latin typeface="Rockwell" panose="02060603020205020403" pitchFamily="18" charset="0"/>
                <a:hlinkClick r:id="rId4"/>
              </a:rPr>
              <a:t>)</a:t>
            </a:r>
            <a:r>
              <a:rPr lang="en-US" sz="1650" b="1" dirty="0">
                <a:latin typeface="Rockwell" panose="02060603020205020403" pitchFamily="18" charset="0"/>
              </a:rPr>
              <a:t>: </a:t>
            </a:r>
            <a:r>
              <a:rPr lang="en-US" sz="1650" dirty="0">
                <a:latin typeface="Rockwell" panose="02060603020205020403" pitchFamily="18" charset="0"/>
              </a:rPr>
              <a:t>Returns the substring. </a:t>
            </a:r>
          </a:p>
          <a:p>
            <a:pPr marL="271463" indent="-271463">
              <a:defRPr/>
            </a:pPr>
            <a:r>
              <a:rPr lang="en-US" sz="1650" dirty="0">
                <a:latin typeface="Rockwell" panose="02060603020205020403" pitchFamily="18" charset="0"/>
              </a:rPr>
              <a:t>The substring starts with character at </a:t>
            </a:r>
            <a:r>
              <a:rPr lang="en-US" sz="1650" dirty="0" err="1">
                <a:latin typeface="Rockwell" panose="02060603020205020403" pitchFamily="18" charset="0"/>
              </a:rPr>
              <a:t>beginIndex</a:t>
            </a:r>
            <a:r>
              <a:rPr lang="en-US" sz="1650" dirty="0">
                <a:latin typeface="Rockwell" panose="02060603020205020403" pitchFamily="18" charset="0"/>
              </a:rPr>
              <a:t> and ends with the character at </a:t>
            </a:r>
            <a:r>
              <a:rPr lang="en-US" sz="1650" dirty="0" err="1">
                <a:latin typeface="Rockwell" panose="02060603020205020403" pitchFamily="18" charset="0"/>
              </a:rPr>
              <a:t>endIndex</a:t>
            </a:r>
            <a:r>
              <a:rPr lang="en-US" sz="1650" dirty="0">
                <a:latin typeface="Rockwell" panose="02060603020205020403" pitchFamily="18" charset="0"/>
              </a:rPr>
              <a:t>.</a:t>
            </a:r>
          </a:p>
          <a:p>
            <a:pPr marL="271463" indent="-271463">
              <a:defRPr/>
            </a:pPr>
            <a:r>
              <a:rPr lang="en-US" sz="1650" b="1" u="sng" dirty="0">
                <a:latin typeface="Rockwell" panose="02060603020205020403" pitchFamily="18" charset="0"/>
                <a:hlinkClick r:id="rId5" tooltip="concat"/>
              </a:rPr>
              <a:t>14. </a:t>
            </a:r>
            <a:r>
              <a:rPr lang="en-US" sz="1650" b="1" dirty="0">
                <a:latin typeface="Rockwell" panose="02060603020205020403" pitchFamily="18" charset="0"/>
                <a:hlinkClick r:id="rId5" tooltip="concat"/>
              </a:rPr>
              <a:t>String </a:t>
            </a:r>
            <a:r>
              <a:rPr lang="en-US" sz="1650" b="1" dirty="0" err="1">
                <a:latin typeface="Rockwell" panose="02060603020205020403" pitchFamily="18" charset="0"/>
                <a:hlinkClick r:id="rId5" tooltip="concat"/>
              </a:rPr>
              <a:t>concat</a:t>
            </a:r>
            <a:r>
              <a:rPr lang="en-US" sz="1650" b="1" dirty="0">
                <a:latin typeface="Rockwell" panose="02060603020205020403" pitchFamily="18" charset="0"/>
                <a:hlinkClick r:id="rId5" tooltip="concat"/>
              </a:rPr>
              <a:t>(String str)</a:t>
            </a:r>
            <a:r>
              <a:rPr lang="en-US" sz="1650" b="1" dirty="0">
                <a:latin typeface="Rockwell" panose="02060603020205020403" pitchFamily="18" charset="0"/>
              </a:rPr>
              <a:t>: </a:t>
            </a:r>
            <a:r>
              <a:rPr lang="en-US" sz="1650" dirty="0">
                <a:latin typeface="Rockwell" panose="02060603020205020403" pitchFamily="18" charset="0"/>
              </a:rPr>
              <a:t>Concatenates the specified string “str” at the end of the string.</a:t>
            </a:r>
          </a:p>
          <a:p>
            <a:pPr marL="271463" indent="-271463">
              <a:defRPr/>
            </a:pPr>
            <a:r>
              <a:rPr lang="en-US" sz="1650" b="1" dirty="0">
                <a:latin typeface="Rockwell" panose="02060603020205020403" pitchFamily="18" charset="0"/>
                <a:hlinkClick r:id="rId6"/>
              </a:rPr>
              <a:t>15.String replace(char </a:t>
            </a:r>
            <a:r>
              <a:rPr lang="en-US" sz="1650" b="1" dirty="0" err="1">
                <a:latin typeface="Rockwell" panose="02060603020205020403" pitchFamily="18" charset="0"/>
                <a:hlinkClick r:id="rId6"/>
              </a:rPr>
              <a:t>oldChar</a:t>
            </a:r>
            <a:r>
              <a:rPr lang="en-US" sz="1650" b="1" dirty="0">
                <a:latin typeface="Rockwell" panose="02060603020205020403" pitchFamily="18" charset="0"/>
                <a:hlinkClick r:id="rId6"/>
              </a:rPr>
              <a:t>, char </a:t>
            </a:r>
            <a:r>
              <a:rPr lang="en-US" sz="1650" b="1" dirty="0" err="1">
                <a:latin typeface="Rockwell" panose="02060603020205020403" pitchFamily="18" charset="0"/>
                <a:hlinkClick r:id="rId6"/>
              </a:rPr>
              <a:t>newChar</a:t>
            </a:r>
            <a:r>
              <a:rPr lang="en-US" sz="1650" b="1" dirty="0">
                <a:latin typeface="Rockwell" panose="02060603020205020403" pitchFamily="18" charset="0"/>
                <a:hlinkClick r:id="rId6"/>
              </a:rPr>
              <a:t>)</a:t>
            </a:r>
            <a:r>
              <a:rPr lang="en-US" sz="1650" b="1" dirty="0">
                <a:latin typeface="Rockwell" panose="02060603020205020403" pitchFamily="18" charset="0"/>
              </a:rPr>
              <a:t>: </a:t>
            </a:r>
            <a:r>
              <a:rPr lang="en-US" sz="1650" dirty="0">
                <a:latin typeface="Rockwell" panose="02060603020205020403" pitchFamily="18" charset="0"/>
              </a:rPr>
              <a:t>It returns the new updated string after changing all the occurrences of </a:t>
            </a:r>
            <a:r>
              <a:rPr lang="en-US" sz="1650" dirty="0" err="1">
                <a:latin typeface="Rockwell" panose="02060603020205020403" pitchFamily="18" charset="0"/>
              </a:rPr>
              <a:t>oldChar</a:t>
            </a:r>
            <a:r>
              <a:rPr lang="en-US" sz="1650" dirty="0">
                <a:latin typeface="Rockwell" panose="02060603020205020403" pitchFamily="18" charset="0"/>
              </a:rPr>
              <a:t> with the </a:t>
            </a:r>
            <a:r>
              <a:rPr lang="en-US" sz="1650" dirty="0" err="1">
                <a:latin typeface="Rockwell" panose="02060603020205020403" pitchFamily="18" charset="0"/>
              </a:rPr>
              <a:t>newChar</a:t>
            </a:r>
            <a:r>
              <a:rPr lang="en-US" sz="1650" dirty="0">
                <a:latin typeface="Rockwell" panose="02060603020205020403" pitchFamily="18" charset="0"/>
              </a:rPr>
              <a:t>.</a:t>
            </a:r>
          </a:p>
          <a:p>
            <a:pPr fontAlgn="base" latinLnBrk="1">
              <a:spcAft>
                <a:spcPct val="0"/>
              </a:spcAft>
              <a:defRPr/>
            </a:pPr>
            <a:endParaRPr lang="en-IN"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07E115B6-FC4A-4DA6-B33B-D5AC36FD0EE0}"/>
              </a:ext>
            </a:extLst>
          </p:cNvPr>
          <p:cNvSpPr>
            <a:spLocks noGrp="1"/>
          </p:cNvSpPr>
          <p:nvPr>
            <p:ph sz="quarter" idx="10"/>
          </p:nvPr>
        </p:nvSpPr>
        <p:spPr/>
        <p:txBody>
          <a:bodyPr rtlCol="0"/>
          <a:lstStyle/>
          <a:p>
            <a:pPr fontAlgn="auto">
              <a:spcAft>
                <a:spcPts val="0"/>
              </a:spcAft>
              <a:defRPr/>
            </a:pPr>
            <a:r>
              <a:rPr lang="en-US" dirty="0"/>
              <a:t>STRING CLASS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Content Placeholder 2">
            <a:extLst>
              <a:ext uri="{FF2B5EF4-FFF2-40B4-BE49-F238E27FC236}">
                <a16:creationId xmlns:a16="http://schemas.microsoft.com/office/drawing/2014/main" id="{CF54250A-647C-4B7C-BC0D-1012DAE56CB7}"/>
              </a:ext>
            </a:extLst>
          </p:cNvPr>
          <p:cNvSpPr>
            <a:spLocks noGrp="1"/>
          </p:cNvSpPr>
          <p:nvPr>
            <p:ph idx="1"/>
          </p:nvPr>
        </p:nvSpPr>
        <p:spPr>
          <a:xfrm>
            <a:off x="1371600" y="1885951"/>
            <a:ext cx="6172200" cy="3875485"/>
          </a:xfrm>
        </p:spPr>
        <p:txBody>
          <a:bodyPr/>
          <a:lstStyle/>
          <a:p>
            <a:pPr marL="271463" indent="-271463">
              <a:defRPr/>
            </a:pPr>
            <a:r>
              <a:rPr lang="en-US" sz="1650" b="1" dirty="0">
                <a:latin typeface="Rockwell" panose="02060603020205020403" pitchFamily="18" charset="0"/>
                <a:hlinkClick r:id="rId3"/>
              </a:rPr>
              <a:t>16. String </a:t>
            </a:r>
            <a:r>
              <a:rPr lang="en-US" sz="1650" b="1" dirty="0" err="1">
                <a:latin typeface="Rockwell" panose="02060603020205020403" pitchFamily="18" charset="0"/>
                <a:hlinkClick r:id="rId3"/>
              </a:rPr>
              <a:t>toLowerCase</a:t>
            </a:r>
            <a:r>
              <a:rPr lang="en-US" sz="1650" b="1" dirty="0">
                <a:latin typeface="Rockwell" panose="02060603020205020403" pitchFamily="18" charset="0"/>
                <a:hlinkClick r:id="rId3"/>
              </a:rPr>
              <a:t>()</a:t>
            </a:r>
            <a:r>
              <a:rPr lang="en-US" sz="1650" b="1" dirty="0">
                <a:latin typeface="Rockwell" panose="02060603020205020403" pitchFamily="18" charset="0"/>
              </a:rPr>
              <a:t>: </a:t>
            </a:r>
            <a:r>
              <a:rPr lang="en-US" sz="1650" dirty="0">
                <a:latin typeface="Rockwell" panose="02060603020205020403" pitchFamily="18" charset="0"/>
              </a:rPr>
              <a:t>Equivalent to </a:t>
            </a:r>
            <a:r>
              <a:rPr lang="en-US" sz="1650" dirty="0" err="1">
                <a:latin typeface="Rockwell" panose="02060603020205020403" pitchFamily="18" charset="0"/>
              </a:rPr>
              <a:t>toLowerCase</a:t>
            </a:r>
            <a:r>
              <a:rPr lang="en-US" sz="1650" dirty="0">
                <a:latin typeface="Rockwell" panose="02060603020205020403" pitchFamily="18" charset="0"/>
              </a:rPr>
              <a:t>(Locale. </a:t>
            </a:r>
            <a:r>
              <a:rPr lang="en-US" sz="1650" dirty="0" err="1">
                <a:latin typeface="Rockwell" panose="02060603020205020403" pitchFamily="18" charset="0"/>
              </a:rPr>
              <a:t>getDefault</a:t>
            </a:r>
            <a:r>
              <a:rPr lang="en-US" sz="1650" dirty="0">
                <a:latin typeface="Rockwell" panose="02060603020205020403" pitchFamily="18" charset="0"/>
              </a:rPr>
              <a:t>()).</a:t>
            </a:r>
          </a:p>
          <a:p>
            <a:pPr marL="271463" indent="-271463">
              <a:defRPr/>
            </a:pPr>
            <a:r>
              <a:rPr lang="en-US" sz="1650" b="1" dirty="0">
                <a:latin typeface="Rockwell" panose="02060603020205020403" pitchFamily="18" charset="0"/>
                <a:hlinkClick r:id="rId4"/>
              </a:rPr>
              <a:t>17. String trim()</a:t>
            </a:r>
            <a:r>
              <a:rPr lang="en-US" sz="1650" b="1" dirty="0">
                <a:latin typeface="Rockwell" panose="02060603020205020403" pitchFamily="18" charset="0"/>
              </a:rPr>
              <a:t>: </a:t>
            </a:r>
            <a:r>
              <a:rPr lang="en-US" sz="1650" dirty="0">
                <a:latin typeface="Rockwell" panose="02060603020205020403" pitchFamily="18" charset="0"/>
              </a:rPr>
              <a:t>Returns the substring after omitting leading and trailing white spaces from the original string.</a:t>
            </a:r>
          </a:p>
          <a:p>
            <a:pPr marL="271463" indent="-271463">
              <a:defRPr/>
            </a:pPr>
            <a:r>
              <a:rPr lang="en-US" sz="1650" b="1" dirty="0">
                <a:latin typeface="Rockwell" panose="02060603020205020403" pitchFamily="18" charset="0"/>
                <a:hlinkClick r:id="rId5"/>
              </a:rPr>
              <a:t>18. char[] </a:t>
            </a:r>
            <a:r>
              <a:rPr lang="en-US" sz="1650" b="1" dirty="0" err="1">
                <a:latin typeface="Rockwell" panose="02060603020205020403" pitchFamily="18" charset="0"/>
                <a:hlinkClick r:id="rId5"/>
              </a:rPr>
              <a:t>toCharArray</a:t>
            </a:r>
            <a:r>
              <a:rPr lang="en-US" sz="1650" b="1" dirty="0">
                <a:latin typeface="Rockwell" panose="02060603020205020403" pitchFamily="18" charset="0"/>
                <a:hlinkClick r:id="rId5"/>
              </a:rPr>
              <a:t>()</a:t>
            </a:r>
            <a:r>
              <a:rPr lang="en-US" sz="1650" b="1" dirty="0">
                <a:latin typeface="Rockwell" panose="02060603020205020403" pitchFamily="18" charset="0"/>
              </a:rPr>
              <a:t>: </a:t>
            </a:r>
            <a:r>
              <a:rPr lang="en-US" sz="1650" dirty="0">
                <a:latin typeface="Rockwell" panose="02060603020205020403" pitchFamily="18" charset="0"/>
              </a:rPr>
              <a:t>Converts the string to a character array.</a:t>
            </a:r>
          </a:p>
          <a:p>
            <a:pPr marL="271463" indent="-271463">
              <a:defRPr/>
            </a:pPr>
            <a:r>
              <a:rPr lang="en-US" sz="1650" b="1" dirty="0">
                <a:latin typeface="Rockwell" panose="02060603020205020403" pitchFamily="18" charset="0"/>
                <a:hlinkClick r:id="rId6"/>
              </a:rPr>
              <a:t>19. </a:t>
            </a:r>
            <a:r>
              <a:rPr lang="en-US" sz="1650" b="1" dirty="0">
                <a:latin typeface="Rockwell" panose="02060603020205020403" pitchFamily="18" charset="0"/>
                <a:hlinkClick r:id="rId7"/>
              </a:rPr>
              <a:t>void </a:t>
            </a:r>
            <a:r>
              <a:rPr lang="en-US" sz="1650" b="1" dirty="0" err="1">
                <a:latin typeface="Rockwell" panose="02060603020205020403" pitchFamily="18" charset="0"/>
                <a:hlinkClick r:id="rId7"/>
              </a:rPr>
              <a:t>getChars</a:t>
            </a:r>
            <a:r>
              <a:rPr lang="en-US" sz="1650" b="1" dirty="0">
                <a:latin typeface="Rockwell" panose="02060603020205020403" pitchFamily="18" charset="0"/>
                <a:hlinkClick r:id="rId7"/>
              </a:rPr>
              <a:t>(int </a:t>
            </a:r>
            <a:r>
              <a:rPr lang="en-US" sz="1650" b="1" dirty="0" err="1">
                <a:latin typeface="Rockwell" panose="02060603020205020403" pitchFamily="18" charset="0"/>
                <a:hlinkClick r:id="rId7"/>
              </a:rPr>
              <a:t>srcBegin</a:t>
            </a:r>
            <a:r>
              <a:rPr lang="en-US" sz="1650" b="1" dirty="0">
                <a:latin typeface="Rockwell" panose="02060603020205020403" pitchFamily="18" charset="0"/>
                <a:hlinkClick r:id="rId7"/>
              </a:rPr>
              <a:t>, int </a:t>
            </a:r>
            <a:r>
              <a:rPr lang="en-US" sz="1650" b="1" dirty="0" err="1">
                <a:latin typeface="Rockwell" panose="02060603020205020403" pitchFamily="18" charset="0"/>
                <a:hlinkClick r:id="rId7"/>
              </a:rPr>
              <a:t>srcEnd</a:t>
            </a:r>
            <a:r>
              <a:rPr lang="en-US" sz="1650" b="1" dirty="0">
                <a:latin typeface="Rockwell" panose="02060603020205020403" pitchFamily="18" charset="0"/>
                <a:hlinkClick r:id="rId7"/>
              </a:rPr>
              <a:t>, char[] </a:t>
            </a:r>
            <a:r>
              <a:rPr lang="en-US" sz="1650" b="1" dirty="0" err="1">
                <a:latin typeface="Rockwell" panose="02060603020205020403" pitchFamily="18" charset="0"/>
                <a:hlinkClick r:id="rId7"/>
              </a:rPr>
              <a:t>dest</a:t>
            </a:r>
            <a:r>
              <a:rPr lang="en-US" sz="1650" b="1" dirty="0">
                <a:latin typeface="Rockwell" panose="02060603020205020403" pitchFamily="18" charset="0"/>
                <a:hlinkClick r:id="rId7"/>
              </a:rPr>
              <a:t>, int </a:t>
            </a:r>
            <a:r>
              <a:rPr lang="en-US" sz="1650" b="1" dirty="0" err="1">
                <a:latin typeface="Rockwell" panose="02060603020205020403" pitchFamily="18" charset="0"/>
                <a:hlinkClick r:id="rId7"/>
              </a:rPr>
              <a:t>destBegin</a:t>
            </a:r>
            <a:r>
              <a:rPr lang="en-US" sz="1650" b="1" dirty="0">
                <a:latin typeface="Rockwell" panose="02060603020205020403" pitchFamily="18" charset="0"/>
                <a:hlinkClick r:id="rId7"/>
              </a:rPr>
              <a:t>)</a:t>
            </a:r>
            <a:r>
              <a:rPr lang="en-US" sz="1650" b="1" dirty="0">
                <a:latin typeface="Rockwell" panose="02060603020205020403" pitchFamily="18" charset="0"/>
              </a:rPr>
              <a:t>: </a:t>
            </a:r>
          </a:p>
          <a:p>
            <a:pPr marL="271463" indent="-271463">
              <a:defRPr/>
            </a:pPr>
            <a:r>
              <a:rPr lang="en-US" sz="1650" dirty="0">
                <a:latin typeface="Rockwell" panose="02060603020205020403" pitchFamily="18" charset="0"/>
              </a:rPr>
              <a:t>It copies the characters of </a:t>
            </a:r>
            <a:r>
              <a:rPr lang="en-US" sz="1650" b="1" dirty="0" err="1">
                <a:latin typeface="Rockwell" panose="02060603020205020403" pitchFamily="18" charset="0"/>
              </a:rPr>
              <a:t>src</a:t>
            </a:r>
            <a:r>
              <a:rPr lang="en-US" sz="1650" dirty="0">
                <a:latin typeface="Rockwell" panose="02060603020205020403" pitchFamily="18" charset="0"/>
              </a:rPr>
              <a:t> array to the </a:t>
            </a:r>
            <a:r>
              <a:rPr lang="en-US" sz="1650" b="1" dirty="0" err="1">
                <a:latin typeface="Rockwell" panose="02060603020205020403" pitchFamily="18" charset="0"/>
              </a:rPr>
              <a:t>dest</a:t>
            </a:r>
            <a:r>
              <a:rPr lang="en-US" sz="1650" dirty="0">
                <a:latin typeface="Rockwell" panose="02060603020205020403" pitchFamily="18" charset="0"/>
              </a:rPr>
              <a:t> array. </a:t>
            </a:r>
          </a:p>
          <a:p>
            <a:pPr marL="271463" indent="-271463">
              <a:defRPr/>
            </a:pPr>
            <a:r>
              <a:rPr lang="en-US" sz="1650" dirty="0">
                <a:latin typeface="Rockwell" panose="02060603020205020403" pitchFamily="18" charset="0"/>
              </a:rPr>
              <a:t>Only the specified range is being copied(</a:t>
            </a:r>
            <a:r>
              <a:rPr lang="en-US" sz="1650" dirty="0" err="1">
                <a:latin typeface="Rockwell" panose="02060603020205020403" pitchFamily="18" charset="0"/>
              </a:rPr>
              <a:t>srcBegin</a:t>
            </a:r>
            <a:r>
              <a:rPr lang="en-US" sz="1650" dirty="0">
                <a:latin typeface="Rockwell" panose="02060603020205020403" pitchFamily="18" charset="0"/>
              </a:rPr>
              <a:t> to </a:t>
            </a:r>
            <a:r>
              <a:rPr lang="en-US" sz="1650" dirty="0" err="1">
                <a:latin typeface="Rockwell" panose="02060603020205020403" pitchFamily="18" charset="0"/>
              </a:rPr>
              <a:t>srcEnd</a:t>
            </a:r>
            <a:r>
              <a:rPr lang="en-US" sz="1650" dirty="0">
                <a:latin typeface="Rockwell" panose="02060603020205020403" pitchFamily="18" charset="0"/>
              </a:rPr>
              <a:t>) to the </a:t>
            </a:r>
            <a:r>
              <a:rPr lang="en-US" sz="1650" dirty="0" err="1">
                <a:latin typeface="Rockwell" panose="02060603020205020403" pitchFamily="18" charset="0"/>
              </a:rPr>
              <a:t>dest</a:t>
            </a:r>
            <a:r>
              <a:rPr lang="en-US" sz="1650" dirty="0">
                <a:latin typeface="Rockwell" panose="02060603020205020403" pitchFamily="18" charset="0"/>
              </a:rPr>
              <a:t> subarray(starting </a:t>
            </a:r>
            <a:r>
              <a:rPr lang="en-US" sz="1650" dirty="0" err="1">
                <a:latin typeface="Rockwell" panose="02060603020205020403" pitchFamily="18" charset="0"/>
              </a:rPr>
              <a:t>fromdestBegin</a:t>
            </a:r>
            <a:r>
              <a:rPr lang="en-US" sz="1650" dirty="0">
                <a:latin typeface="Rockwell" panose="02060603020205020403" pitchFamily="18" charset="0"/>
              </a:rPr>
              <a:t>).</a:t>
            </a:r>
          </a:p>
          <a:p>
            <a:pPr fontAlgn="base" latinLnBrk="1">
              <a:spcAft>
                <a:spcPct val="0"/>
              </a:spcAft>
              <a:defRPr/>
            </a:pPr>
            <a:endParaRPr lang="en-IN"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E6E26837-BFD3-4224-A5B5-29BB11FF51EC}"/>
              </a:ext>
            </a:extLst>
          </p:cNvPr>
          <p:cNvSpPr>
            <a:spLocks noGrp="1"/>
          </p:cNvSpPr>
          <p:nvPr>
            <p:ph sz="quarter" idx="10"/>
          </p:nvPr>
        </p:nvSpPr>
        <p:spPr/>
        <p:txBody>
          <a:bodyPr rtlCol="0"/>
          <a:lstStyle/>
          <a:p>
            <a:pPr fontAlgn="auto">
              <a:spcAft>
                <a:spcPts val="0"/>
              </a:spcAft>
              <a:defRPr/>
            </a:pPr>
            <a:r>
              <a:rPr lang="en-US" dirty="0"/>
              <a:t>STRING CLASS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Content Placeholder 2">
            <a:extLst>
              <a:ext uri="{FF2B5EF4-FFF2-40B4-BE49-F238E27FC236}">
                <a16:creationId xmlns:a16="http://schemas.microsoft.com/office/drawing/2014/main" id="{AE50F528-B003-4363-89F9-90B2A5482B82}"/>
              </a:ext>
            </a:extLst>
          </p:cNvPr>
          <p:cNvSpPr>
            <a:spLocks noGrp="1"/>
          </p:cNvSpPr>
          <p:nvPr>
            <p:ph idx="1"/>
          </p:nvPr>
        </p:nvSpPr>
        <p:spPr>
          <a:xfrm>
            <a:off x="1371600" y="1885951"/>
            <a:ext cx="6172200" cy="3875485"/>
          </a:xfrm>
        </p:spPr>
        <p:txBody>
          <a:bodyPr/>
          <a:lstStyle/>
          <a:p>
            <a:pPr algn="just" fontAlgn="base">
              <a:spcAft>
                <a:spcPct val="0"/>
              </a:spcAft>
            </a:pPr>
            <a:r>
              <a:rPr lang="en-US" altLang="en-US" sz="1650" dirty="0">
                <a:solidFill>
                  <a:srgbClr val="4A4A4A"/>
                </a:solidFill>
                <a:latin typeface="Rockwell" panose="02060603020205020403" pitchFamily="18" charset="0"/>
              </a:rPr>
              <a:t>Strings in </a:t>
            </a:r>
            <a:r>
              <a:rPr lang="en-US" altLang="en-US" sz="1650" b="1" u="sng" dirty="0">
                <a:latin typeface="Rockwell" panose="02060603020205020403" pitchFamily="18" charset="0"/>
                <a:hlinkClick r:id="rId3"/>
              </a:rPr>
              <a:t>Java</a:t>
            </a:r>
            <a:r>
              <a:rPr lang="en-US" altLang="en-US" sz="1650" dirty="0">
                <a:solidFill>
                  <a:srgbClr val="4A4A4A"/>
                </a:solidFill>
                <a:latin typeface="Rockwell" panose="02060603020205020403" pitchFamily="18" charset="0"/>
              </a:rPr>
              <a:t> are a sequence of characters which is immutable.</a:t>
            </a:r>
          </a:p>
          <a:p>
            <a:pPr algn="just" fontAlgn="base">
              <a:spcAft>
                <a:spcPct val="0"/>
              </a:spcAft>
            </a:pPr>
            <a:r>
              <a:rPr lang="en-US" altLang="en-US" sz="1650" dirty="0">
                <a:solidFill>
                  <a:srgbClr val="4A4A4A"/>
                </a:solidFill>
                <a:latin typeface="Rockwell" panose="02060603020205020403" pitchFamily="18" charset="0"/>
              </a:rPr>
              <a:t>Java provides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class to create a mutable String.</a:t>
            </a:r>
          </a:p>
          <a:p>
            <a:pPr algn="just" fontAlgn="base">
              <a:spcAft>
                <a:spcPct val="0"/>
              </a:spcAft>
            </a:pPr>
            <a:r>
              <a:rPr lang="en-US" altLang="en-US" sz="1650" b="1" u="sng" dirty="0">
                <a:solidFill>
                  <a:srgbClr val="4A4A4A"/>
                </a:solidFill>
                <a:latin typeface="Rockwell" panose="02060603020205020403" pitchFamily="18" charset="0"/>
              </a:rPr>
              <a:t>Creating </a:t>
            </a:r>
            <a:r>
              <a:rPr lang="en-US" altLang="en-US" sz="1650" b="1" u="sng" dirty="0" err="1">
                <a:solidFill>
                  <a:srgbClr val="4A4A4A"/>
                </a:solidFill>
                <a:latin typeface="Rockwell" panose="02060603020205020403" pitchFamily="18" charset="0"/>
              </a:rPr>
              <a:t>StringBuffer</a:t>
            </a:r>
            <a:r>
              <a:rPr lang="en-US" altLang="en-US" sz="1650" b="1" u="sng" dirty="0">
                <a:solidFill>
                  <a:srgbClr val="4A4A4A"/>
                </a:solidFill>
                <a:latin typeface="Rockwell" panose="02060603020205020403" pitchFamily="18" charset="0"/>
              </a:rPr>
              <a:t> Using Constructors</a:t>
            </a:r>
            <a:endParaRPr lang="en-US" altLang="en-US" sz="1650" u="sng" dirty="0">
              <a:solidFill>
                <a:srgbClr val="4A4A4A"/>
              </a:solidFill>
              <a:latin typeface="Rockwell" panose="02060603020205020403" pitchFamily="18" charset="0"/>
            </a:endParaRPr>
          </a:p>
          <a:p>
            <a:pPr algn="just" fontAlgn="base">
              <a:spcAft>
                <a:spcPct val="0"/>
              </a:spcAft>
            </a:pPr>
            <a:r>
              <a:rPr lang="en-US" altLang="en-US" sz="1650" b="1" dirty="0">
                <a:solidFill>
                  <a:srgbClr val="4A4A4A"/>
                </a:solidFill>
                <a:latin typeface="Rockwell" panose="02060603020205020403" pitchFamily="18" charset="0"/>
              </a:rPr>
              <a:t>(a) Empty </a:t>
            </a:r>
            <a:r>
              <a:rPr lang="en-US" altLang="en-US" sz="1650" b="1" dirty="0" err="1">
                <a:solidFill>
                  <a:srgbClr val="4A4A4A"/>
                </a:solidFill>
                <a:latin typeface="Rockwell" panose="02060603020205020403" pitchFamily="18" charset="0"/>
              </a:rPr>
              <a:t>StringBuffer</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An empty string buffer with an initial capacity of 16 characters</a:t>
            </a:r>
          </a:p>
          <a:p>
            <a:pPr indent="14288" algn="just" fontAlgn="base">
              <a:spcAft>
                <a:spcPct val="0"/>
              </a:spcAft>
            </a:pPr>
            <a:r>
              <a:rPr lang="en-US" altLang="en-US" sz="1650" dirty="0">
                <a:solidFill>
                  <a:srgbClr val="4A4A4A"/>
                </a:solidFill>
                <a:latin typeface="Rockwell" panose="02060603020205020403" pitchFamily="18" charset="0"/>
              </a:rPr>
              <a:t> is created.</a:t>
            </a:r>
          </a:p>
          <a:p>
            <a:pPr indent="14288" algn="just" fontAlgn="base">
              <a:spcAft>
                <a:spcPct val="0"/>
              </a:spcAft>
            </a:pPr>
            <a:r>
              <a:rPr lang="en-US" altLang="en-US" sz="1650" b="1" dirty="0">
                <a:solidFill>
                  <a:srgbClr val="4A4A4A"/>
                </a:solidFill>
                <a:latin typeface="Rockwell" panose="02060603020205020403" pitchFamily="18" charset="0"/>
              </a:rPr>
              <a:t>Syntax:</a:t>
            </a:r>
          </a:p>
          <a:p>
            <a:pPr algn="just" fontAlgn="base">
              <a:spcAft>
                <a:spcPct val="0"/>
              </a:spcAft>
            </a:pPr>
            <a:r>
              <a:rPr lang="en-US" altLang="en-US" sz="1650" dirty="0">
                <a:solidFill>
                  <a:srgbClr val="4A4A4A"/>
                </a:solidFill>
                <a:latin typeface="Rockwell" panose="02060603020205020403" pitchFamily="18" charset="0"/>
              </a:rPr>
              <a:t>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S=new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a:t>
            </a:r>
          </a:p>
          <a:p>
            <a:pPr fontAlgn="base" latinLnBrk="1">
              <a:spcAft>
                <a:spcPct val="0"/>
              </a:spcAft>
            </a:pPr>
            <a:endParaRPr lang="en-IN"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30D37822-F211-442C-B471-9BA068C3F2A0}"/>
              </a:ext>
            </a:extLst>
          </p:cNvPr>
          <p:cNvSpPr>
            <a:spLocks noGrp="1"/>
          </p:cNvSpPr>
          <p:nvPr>
            <p:ph sz="quarter" idx="10"/>
          </p:nvPr>
        </p:nvSpPr>
        <p:spPr/>
        <p:txBody>
          <a:bodyPr rtlCol="0"/>
          <a:lstStyle/>
          <a:p>
            <a:pPr fontAlgn="auto">
              <a:spcAft>
                <a:spcPts val="0"/>
              </a:spcAft>
              <a:defRPr/>
            </a:pPr>
            <a:r>
              <a:rPr lang="en-US" dirty="0"/>
              <a:t>STRING BUFFER CLASS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Content Placeholder 2">
            <a:extLst>
              <a:ext uri="{FF2B5EF4-FFF2-40B4-BE49-F238E27FC236}">
                <a16:creationId xmlns:a16="http://schemas.microsoft.com/office/drawing/2014/main" id="{930C3126-B2DA-4A71-A254-BDBE1C5ED468}"/>
              </a:ext>
            </a:extLst>
          </p:cNvPr>
          <p:cNvSpPr>
            <a:spLocks noGrp="1"/>
          </p:cNvSpPr>
          <p:nvPr>
            <p:ph idx="1"/>
          </p:nvPr>
        </p:nvSpPr>
        <p:spPr>
          <a:xfrm>
            <a:off x="1371600" y="1885951"/>
            <a:ext cx="6172200" cy="3875485"/>
          </a:xfrm>
        </p:spPr>
        <p:txBody>
          <a:bodyPr/>
          <a:lstStyle/>
          <a:p>
            <a:pPr algn="just" fontAlgn="base">
              <a:spcAft>
                <a:spcPct val="0"/>
              </a:spcAft>
            </a:pPr>
            <a:r>
              <a:rPr lang="en-US" altLang="en-US" sz="1650" b="1" dirty="0">
                <a:solidFill>
                  <a:srgbClr val="4A4A4A"/>
                </a:solidFill>
                <a:latin typeface="Rockwell" panose="02060603020205020403" pitchFamily="18" charset="0"/>
              </a:rPr>
              <a:t>(b) </a:t>
            </a:r>
            <a:r>
              <a:rPr lang="en-US" altLang="en-US" sz="1650" b="1" dirty="0" err="1">
                <a:solidFill>
                  <a:srgbClr val="4A4A4A"/>
                </a:solidFill>
                <a:latin typeface="Rockwell" panose="02060603020205020403" pitchFamily="18" charset="0"/>
              </a:rPr>
              <a:t>StringBuffer</a:t>
            </a:r>
            <a:r>
              <a:rPr lang="en-US" altLang="en-US" sz="1650" b="1" dirty="0">
                <a:solidFill>
                  <a:srgbClr val="4A4A4A"/>
                </a:solidFill>
                <a:latin typeface="Rockwell" panose="02060603020205020403" pitchFamily="18" charset="0"/>
              </a:rPr>
              <a:t> with arguments</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string buffer created is of the size specified in the</a:t>
            </a:r>
          </a:p>
          <a:p>
            <a:pPr indent="14288" algn="just" fontAlgn="base">
              <a:spcAft>
                <a:spcPct val="0"/>
              </a:spcAft>
            </a:pPr>
            <a:r>
              <a:rPr lang="en-US" altLang="en-US" sz="1650" dirty="0">
                <a:solidFill>
                  <a:srgbClr val="4A4A4A"/>
                </a:solidFill>
                <a:latin typeface="Rockwell" panose="02060603020205020403" pitchFamily="18" charset="0"/>
              </a:rPr>
              <a:t> argument.</a:t>
            </a:r>
          </a:p>
          <a:p>
            <a:pPr algn="just" fontAlgn="base">
              <a:spcAft>
                <a:spcPct val="0"/>
              </a:spcAft>
            </a:pP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S=new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(20);// </a:t>
            </a:r>
            <a:r>
              <a:rPr lang="en-US" altLang="en-US" sz="1650" b="1" dirty="0">
                <a:solidFill>
                  <a:srgbClr val="4A4A4A"/>
                </a:solidFill>
                <a:latin typeface="Rockwell" panose="02060603020205020403" pitchFamily="18" charset="0"/>
              </a:rPr>
              <a:t>int argument</a:t>
            </a:r>
          </a:p>
          <a:p>
            <a:pPr algn="just" fontAlgn="base">
              <a:spcAft>
                <a:spcPct val="0"/>
              </a:spcAft>
            </a:pPr>
            <a:r>
              <a:rPr lang="en-US" altLang="en-US" sz="1650" b="1" dirty="0">
                <a:solidFill>
                  <a:srgbClr val="4A4A4A"/>
                </a:solidFill>
                <a:latin typeface="Rockwell" panose="02060603020205020403" pitchFamily="18" charset="0"/>
              </a:rPr>
              <a:t>(c) Str </a:t>
            </a:r>
            <a:r>
              <a:rPr lang="en-US" altLang="en-US" sz="1650" b="1" dirty="0" err="1">
                <a:solidFill>
                  <a:srgbClr val="4A4A4A"/>
                </a:solidFill>
                <a:latin typeface="Rockwell" panose="02060603020205020403" pitchFamily="18" charset="0"/>
              </a:rPr>
              <a:t>StringBuffer</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argument specified sets the initial contents of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object and reserves space for 16 more characters without reallocation.</a:t>
            </a:r>
          </a:p>
          <a:p>
            <a:pPr algn="just" fontAlgn="base">
              <a:spcAft>
                <a:spcPct val="0"/>
              </a:spcAft>
            </a:pPr>
            <a:r>
              <a:rPr lang="en-US" altLang="en-US" sz="1650" dirty="0">
                <a:solidFill>
                  <a:srgbClr val="4A4A4A"/>
                </a:solidFill>
                <a:latin typeface="Rockwell" panose="02060603020205020403" pitchFamily="18" charset="0"/>
              </a:rPr>
              <a:t>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S=new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(“Java”);//</a:t>
            </a:r>
            <a:r>
              <a:rPr lang="en-US" altLang="en-US" sz="1650" b="1" dirty="0">
                <a:solidFill>
                  <a:srgbClr val="4A4A4A"/>
                </a:solidFill>
                <a:latin typeface="Rockwell" panose="02060603020205020403" pitchFamily="18" charset="0"/>
              </a:rPr>
              <a:t>String argument</a:t>
            </a:r>
          </a:p>
          <a:p>
            <a:pPr algn="just" fontAlgn="base">
              <a:spcAft>
                <a:spcPct val="0"/>
              </a:spcAft>
            </a:pPr>
            <a:endParaRPr lang="en-US" altLang="en-US" sz="1650" dirty="0">
              <a:solidFill>
                <a:srgbClr val="4A4A4A"/>
              </a:solidFill>
              <a:latin typeface="Rockwell" panose="02060603020205020403" pitchFamily="18" charset="0"/>
            </a:endParaRPr>
          </a:p>
          <a:p>
            <a:pPr algn="just" fontAlgn="base">
              <a:spcAft>
                <a:spcPct val="0"/>
              </a:spcAft>
            </a:pPr>
            <a:endParaRPr lang="en-US" altLang="en-US" sz="1650" dirty="0">
              <a:solidFill>
                <a:srgbClr val="4A4A4A"/>
              </a:solidFill>
              <a:latin typeface="Rockwell" panose="02060603020205020403" pitchFamily="18" charset="0"/>
            </a:endParaRPr>
          </a:p>
          <a:p>
            <a:pPr fontAlgn="base" latinLnBrk="1">
              <a:spcAft>
                <a:spcPct val="0"/>
              </a:spcAft>
            </a:pPr>
            <a:endParaRPr lang="en-IN"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F5CBE423-B762-4924-932A-7AFB4C5BD7EA}"/>
              </a:ext>
            </a:extLst>
          </p:cNvPr>
          <p:cNvSpPr>
            <a:spLocks noGrp="1"/>
          </p:cNvSpPr>
          <p:nvPr>
            <p:ph sz="quarter" idx="10"/>
          </p:nvPr>
        </p:nvSpPr>
        <p:spPr/>
        <p:txBody>
          <a:bodyPr rtlCol="0"/>
          <a:lstStyle/>
          <a:p>
            <a:pPr fontAlgn="auto">
              <a:spcAft>
                <a:spcPts val="0"/>
              </a:spcAft>
              <a:defRPr/>
            </a:pPr>
            <a:r>
              <a:rPr lang="en-US" dirty="0"/>
              <a:t>STRING BUFFER CLASS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Content Placeholder 2">
            <a:extLst>
              <a:ext uri="{FF2B5EF4-FFF2-40B4-BE49-F238E27FC236}">
                <a16:creationId xmlns:a16="http://schemas.microsoft.com/office/drawing/2014/main" id="{D1E35871-20ED-418C-A6EE-5132F502CAA0}"/>
              </a:ext>
            </a:extLst>
          </p:cNvPr>
          <p:cNvSpPr>
            <a:spLocks noGrp="1"/>
          </p:cNvSpPr>
          <p:nvPr>
            <p:ph idx="1"/>
          </p:nvPr>
        </p:nvSpPr>
        <p:spPr>
          <a:xfrm>
            <a:off x="1371600" y="1885951"/>
            <a:ext cx="6172200" cy="3875485"/>
          </a:xfrm>
        </p:spPr>
        <p:txBody>
          <a:bodyPr/>
          <a:lstStyle/>
          <a:p>
            <a:pPr algn="just" fontAlgn="base">
              <a:spcAft>
                <a:spcPct val="0"/>
              </a:spcAft>
            </a:pPr>
            <a:r>
              <a:rPr lang="en-US" altLang="en-US" sz="1650" b="1" u="sng" dirty="0">
                <a:solidFill>
                  <a:srgbClr val="4A4A4A"/>
                </a:solidFill>
                <a:latin typeface="Rockwell" panose="02060603020205020403" pitchFamily="18" charset="0"/>
              </a:rPr>
              <a:t>Methods in </a:t>
            </a:r>
            <a:r>
              <a:rPr lang="en-US" altLang="en-US" sz="1650" b="1" u="sng" dirty="0" err="1">
                <a:solidFill>
                  <a:srgbClr val="4A4A4A"/>
                </a:solidFill>
                <a:latin typeface="Rockwell" panose="02060603020205020403" pitchFamily="18" charset="0"/>
              </a:rPr>
              <a:t>StringBuffer</a:t>
            </a:r>
            <a:endParaRPr lang="en-US" altLang="en-US" sz="1650" u="sng"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methods used in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are specified as follows:</a:t>
            </a:r>
          </a:p>
          <a:p>
            <a:pPr algn="just" fontAlgn="base">
              <a:spcAft>
                <a:spcPct val="0"/>
              </a:spcAft>
            </a:pPr>
            <a:r>
              <a:rPr lang="en-US" altLang="en-US" sz="1650" b="1" dirty="0">
                <a:solidFill>
                  <a:srgbClr val="4A4A4A"/>
                </a:solidFill>
                <a:latin typeface="Rockwell" panose="02060603020205020403" pitchFamily="18" charset="0"/>
              </a:rPr>
              <a:t>1. length()</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It specifies the number of elements present.</a:t>
            </a:r>
          </a:p>
          <a:p>
            <a:pPr algn="just" fontAlgn="base">
              <a:spcAft>
                <a:spcPct val="0"/>
              </a:spcAft>
            </a:pPr>
            <a:r>
              <a:rPr lang="en-US" altLang="en-US" sz="1650" dirty="0">
                <a:solidFill>
                  <a:srgbClr val="4A4A4A"/>
                </a:solidFill>
                <a:latin typeface="Rockwell" panose="02060603020205020403" pitchFamily="18" charset="0"/>
              </a:rPr>
              <a:t>2. </a:t>
            </a:r>
            <a:r>
              <a:rPr lang="en-US" altLang="en-US" sz="1650" b="1" dirty="0">
                <a:solidFill>
                  <a:srgbClr val="4A4A4A"/>
                </a:solidFill>
                <a:latin typeface="Rockwell" panose="02060603020205020403" pitchFamily="18" charset="0"/>
              </a:rPr>
              <a:t>capacity():</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capacity of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can be found using this method.</a:t>
            </a:r>
          </a:p>
          <a:p>
            <a:pPr algn="just" fontAlgn="base">
              <a:spcAft>
                <a:spcPct val="0"/>
              </a:spcAft>
            </a:pPr>
            <a:r>
              <a:rPr lang="en-US" altLang="en-US" sz="1650" dirty="0">
                <a:solidFill>
                  <a:srgbClr val="4A4A4A"/>
                </a:solidFill>
                <a:latin typeface="Rockwell" panose="02060603020205020403" pitchFamily="18" charset="0"/>
              </a:rPr>
              <a:t>3. </a:t>
            </a:r>
            <a:r>
              <a:rPr lang="en-US" altLang="en-US" sz="1650" b="1" dirty="0">
                <a:solidFill>
                  <a:srgbClr val="4A4A4A"/>
                </a:solidFill>
                <a:latin typeface="Rockwell" panose="02060603020205020403" pitchFamily="18" charset="0"/>
              </a:rPr>
              <a:t>append():</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method is used to add elements at the end of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a:t>
            </a:r>
          </a:p>
          <a:p>
            <a:pPr algn="just" fontAlgn="base">
              <a:spcAft>
                <a:spcPct val="0"/>
              </a:spcAft>
            </a:pPr>
            <a:r>
              <a:rPr lang="en-US" altLang="en-US" sz="1650" b="1" dirty="0">
                <a:solidFill>
                  <a:srgbClr val="4A4A4A"/>
                </a:solidFill>
                <a:latin typeface="Rockwell" panose="02060603020205020403" pitchFamily="18" charset="0"/>
              </a:rPr>
              <a:t>4. insert():</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method is used to insert an element at the specified index</a:t>
            </a:r>
          </a:p>
          <a:p>
            <a:pPr algn="just" fontAlgn="base">
              <a:spcAft>
                <a:spcPct val="0"/>
              </a:spcAft>
            </a:pPr>
            <a:r>
              <a:rPr lang="en-US" altLang="en-US" sz="1650" dirty="0">
                <a:solidFill>
                  <a:srgbClr val="4A4A4A"/>
                </a:solidFill>
                <a:latin typeface="Rockwell" panose="02060603020205020403" pitchFamily="18" charset="0"/>
              </a:rPr>
              <a:t> position.</a:t>
            </a:r>
          </a:p>
          <a:p>
            <a:pPr fontAlgn="base" latinLnBrk="1">
              <a:spcAft>
                <a:spcPct val="0"/>
              </a:spcAft>
            </a:pPr>
            <a:endParaRPr lang="en-IN"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A0C1B6AC-A880-4C9A-9C34-7572B16EB306}"/>
              </a:ext>
            </a:extLst>
          </p:cNvPr>
          <p:cNvSpPr>
            <a:spLocks noGrp="1"/>
          </p:cNvSpPr>
          <p:nvPr>
            <p:ph sz="quarter" idx="10"/>
          </p:nvPr>
        </p:nvSpPr>
        <p:spPr/>
        <p:txBody>
          <a:bodyPr rtlCol="0"/>
          <a:lstStyle/>
          <a:p>
            <a:pPr fontAlgn="auto">
              <a:spcAft>
                <a:spcPts val="0"/>
              </a:spcAft>
              <a:defRPr/>
            </a:pPr>
            <a:r>
              <a:rPr lang="en-US" dirty="0"/>
              <a:t>STRING BUFFER CLASS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2">
            <a:extLst>
              <a:ext uri="{FF2B5EF4-FFF2-40B4-BE49-F238E27FC236}">
                <a16:creationId xmlns:a16="http://schemas.microsoft.com/office/drawing/2014/main" id="{86166D5F-4CEC-4C4A-B965-29D19F6C709E}"/>
              </a:ext>
            </a:extLst>
          </p:cNvPr>
          <p:cNvSpPr>
            <a:spLocks noGrp="1"/>
          </p:cNvSpPr>
          <p:nvPr>
            <p:ph idx="1"/>
          </p:nvPr>
        </p:nvSpPr>
        <p:spPr>
          <a:xfrm>
            <a:off x="1060599" y="1885951"/>
            <a:ext cx="6597502" cy="3875485"/>
          </a:xfrm>
        </p:spPr>
        <p:txBody>
          <a:bodyPr/>
          <a:lstStyle/>
          <a:p>
            <a:pPr algn="just" fontAlgn="base">
              <a:spcAft>
                <a:spcPct val="0"/>
              </a:spcAft>
            </a:pPr>
            <a:r>
              <a:rPr lang="en-IN" altLang="en-US" sz="1650" dirty="0">
                <a:latin typeface="Rockwell" panose="02060603020205020403" pitchFamily="18" charset="0"/>
              </a:rPr>
              <a:t>5. </a:t>
            </a:r>
            <a:r>
              <a:rPr lang="en-US" altLang="en-US" sz="1650" b="1" dirty="0">
                <a:solidFill>
                  <a:srgbClr val="4A4A4A"/>
                </a:solidFill>
                <a:latin typeface="Rockwell" panose="02060603020205020403" pitchFamily="18" charset="0"/>
              </a:rPr>
              <a:t>delete(int </a:t>
            </a:r>
            <a:r>
              <a:rPr lang="en-US" altLang="en-US" sz="1650" b="1" dirty="0" err="1">
                <a:solidFill>
                  <a:srgbClr val="4A4A4A"/>
                </a:solidFill>
                <a:latin typeface="Rockwell" panose="02060603020205020403" pitchFamily="18" charset="0"/>
              </a:rPr>
              <a:t>startIndex</a:t>
            </a:r>
            <a:r>
              <a:rPr lang="en-US" altLang="en-US" sz="1650" b="1" dirty="0">
                <a:solidFill>
                  <a:srgbClr val="4A4A4A"/>
                </a:solidFill>
                <a:latin typeface="Rockwell" panose="02060603020205020403" pitchFamily="18" charset="0"/>
              </a:rPr>
              <a:t>, int </a:t>
            </a:r>
            <a:r>
              <a:rPr lang="en-US" altLang="en-US" sz="1650" b="1" dirty="0" err="1">
                <a:solidFill>
                  <a:srgbClr val="4A4A4A"/>
                </a:solidFill>
                <a:latin typeface="Rockwell" panose="02060603020205020403" pitchFamily="18" charset="0"/>
              </a:rPr>
              <a:t>endIndex</a:t>
            </a:r>
            <a:r>
              <a:rPr lang="en-US" altLang="en-US" sz="1650" b="1" dirty="0">
                <a:solidFill>
                  <a:srgbClr val="4A4A4A"/>
                </a:solidFill>
                <a:latin typeface="Rockwell" panose="02060603020205020403" pitchFamily="18" charset="0"/>
              </a:rPr>
              <a:t>)</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method is used to delete the elements present in the</a:t>
            </a:r>
          </a:p>
          <a:p>
            <a:pPr indent="14288" algn="just" fontAlgn="base">
              <a:spcAft>
                <a:spcPct val="0"/>
              </a:spcAft>
            </a:pPr>
            <a:r>
              <a:rPr lang="en-US" altLang="en-US" sz="1650" dirty="0">
                <a:solidFill>
                  <a:srgbClr val="4A4A4A"/>
                </a:solidFill>
                <a:latin typeface="Rockwell" panose="02060603020205020403" pitchFamily="18" charset="0"/>
              </a:rPr>
              <a:t>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a:t>
            </a:r>
          </a:p>
          <a:p>
            <a:pPr algn="just" fontAlgn="base">
              <a:spcAft>
                <a:spcPct val="0"/>
              </a:spcAft>
            </a:pPr>
            <a:r>
              <a:rPr lang="en-US" altLang="en-US" sz="1650" dirty="0">
                <a:solidFill>
                  <a:srgbClr val="4A4A4A"/>
                </a:solidFill>
                <a:latin typeface="Rockwell" panose="02060603020205020403" pitchFamily="18" charset="0"/>
              </a:rPr>
              <a:t>The first character to be removed is specified by </a:t>
            </a:r>
          </a:p>
          <a:p>
            <a:pPr indent="14288" algn="just" fontAlgn="base">
              <a:spcAft>
                <a:spcPct val="0"/>
              </a:spcAft>
            </a:pPr>
            <a:r>
              <a:rPr lang="en-US" altLang="en-US" sz="1650" dirty="0">
                <a:solidFill>
                  <a:srgbClr val="4A4A4A"/>
                </a:solidFill>
                <a:latin typeface="Rockwell" panose="02060603020205020403" pitchFamily="18" charset="0"/>
              </a:rPr>
              <a:t>the first index. </a:t>
            </a:r>
          </a:p>
          <a:p>
            <a:pPr marL="0" indent="14288" algn="just" fontAlgn="base">
              <a:spcAft>
                <a:spcPct val="0"/>
              </a:spcAft>
            </a:pPr>
            <a:r>
              <a:rPr lang="en-US" altLang="en-US" sz="1650" dirty="0">
                <a:solidFill>
                  <a:srgbClr val="4A4A4A"/>
                </a:solidFill>
                <a:latin typeface="Rockwell" panose="02060603020205020403" pitchFamily="18" charset="0"/>
              </a:rPr>
              <a:t>The elements between the </a:t>
            </a:r>
            <a:r>
              <a:rPr lang="en-US" altLang="en-US" sz="1650" dirty="0" err="1">
                <a:solidFill>
                  <a:srgbClr val="4A4A4A"/>
                </a:solidFill>
                <a:latin typeface="Rockwell" panose="02060603020205020403" pitchFamily="18" charset="0"/>
              </a:rPr>
              <a:t>startIndex</a:t>
            </a:r>
            <a:r>
              <a:rPr lang="en-US" altLang="en-US" sz="1650" dirty="0">
                <a:solidFill>
                  <a:srgbClr val="4A4A4A"/>
                </a:solidFill>
                <a:latin typeface="Rockwell" panose="02060603020205020403" pitchFamily="18" charset="0"/>
              </a:rPr>
              <a:t> and endIndex-1 are deleted.</a:t>
            </a:r>
          </a:p>
          <a:p>
            <a:pPr algn="just" fontAlgn="base">
              <a:spcAft>
                <a:spcPct val="0"/>
              </a:spcAft>
            </a:pPr>
            <a:r>
              <a:rPr lang="en-US" altLang="en-US" sz="1650" b="1" dirty="0">
                <a:solidFill>
                  <a:srgbClr val="4A4A4A"/>
                </a:solidFill>
                <a:latin typeface="Rockwell" panose="02060603020205020403" pitchFamily="18" charset="0"/>
              </a:rPr>
              <a:t>6. </a:t>
            </a:r>
            <a:r>
              <a:rPr lang="en-US" altLang="en-US" sz="1650" b="1" dirty="0" err="1">
                <a:solidFill>
                  <a:srgbClr val="4A4A4A"/>
                </a:solidFill>
                <a:latin typeface="Rockwell" panose="02060603020205020403" pitchFamily="18" charset="0"/>
              </a:rPr>
              <a:t>deleteCharAt</a:t>
            </a:r>
            <a:r>
              <a:rPr lang="en-US" altLang="en-US" sz="1650" b="1" dirty="0">
                <a:solidFill>
                  <a:srgbClr val="4A4A4A"/>
                </a:solidFill>
                <a:latin typeface="Rockwell" panose="02060603020205020403" pitchFamily="18" charset="0"/>
              </a:rPr>
              <a:t>(int index)</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method removes a single character within the string</a:t>
            </a:r>
          </a:p>
          <a:p>
            <a:pPr indent="14288" algn="just" fontAlgn="base">
              <a:spcAft>
                <a:spcPct val="0"/>
              </a:spcAft>
            </a:pPr>
            <a:r>
              <a:rPr lang="en-US" altLang="en-US" sz="1650" dirty="0">
                <a:solidFill>
                  <a:srgbClr val="4A4A4A"/>
                </a:solidFill>
                <a:latin typeface="Rockwell" panose="02060603020205020403" pitchFamily="18" charset="0"/>
              </a:rPr>
              <a:t>present in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a:t>
            </a:r>
          </a:p>
          <a:p>
            <a:pPr indent="14288" algn="just" fontAlgn="base">
              <a:spcAft>
                <a:spcPct val="0"/>
              </a:spcAft>
            </a:pPr>
            <a:r>
              <a:rPr lang="en-US" altLang="en-US" sz="1650" dirty="0">
                <a:solidFill>
                  <a:srgbClr val="4A4A4A"/>
                </a:solidFill>
                <a:latin typeface="Rockwell" panose="02060603020205020403" pitchFamily="18" charset="0"/>
              </a:rPr>
              <a:t>The int index specifies the location of the character.</a:t>
            </a:r>
          </a:p>
          <a:p>
            <a:pPr algn="just" fontAlgn="base">
              <a:spcAft>
                <a:spcPct val="0"/>
              </a:spcAft>
            </a:pPr>
            <a:endParaRPr lang="en-US" altLang="en-US" sz="1650" dirty="0">
              <a:solidFill>
                <a:srgbClr val="4A4A4A"/>
              </a:solidFill>
              <a:latin typeface="Rockwell" panose="02060603020205020403" pitchFamily="18" charset="0"/>
            </a:endParaRPr>
          </a:p>
          <a:p>
            <a:pPr algn="just" fontAlgn="base">
              <a:spcAft>
                <a:spcPct val="0"/>
              </a:spcAft>
            </a:pPr>
            <a:endParaRPr lang="en-US" altLang="en-US" sz="1650" dirty="0">
              <a:solidFill>
                <a:srgbClr val="4A4A4A"/>
              </a:solidFill>
              <a:latin typeface="Rockwell" panose="02060603020205020403" pitchFamily="18" charset="0"/>
            </a:endParaRPr>
          </a:p>
          <a:p>
            <a:pPr fontAlgn="base" latinLnBrk="1">
              <a:spcAft>
                <a:spcPct val="0"/>
              </a:spcAft>
            </a:pPr>
            <a:endParaRPr lang="en-IN"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5BF0073D-E32F-4D29-9E31-E1D9409CD139}"/>
              </a:ext>
            </a:extLst>
          </p:cNvPr>
          <p:cNvSpPr>
            <a:spLocks noGrp="1"/>
          </p:cNvSpPr>
          <p:nvPr>
            <p:ph sz="quarter" idx="10"/>
          </p:nvPr>
        </p:nvSpPr>
        <p:spPr/>
        <p:txBody>
          <a:bodyPr rtlCol="0"/>
          <a:lstStyle/>
          <a:p>
            <a:pPr fontAlgn="auto">
              <a:spcAft>
                <a:spcPts val="0"/>
              </a:spcAft>
              <a:defRPr/>
            </a:pPr>
            <a:r>
              <a:rPr lang="en-US" dirty="0"/>
              <a:t>STRING BUFFER CLASS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Content Placeholder 2">
            <a:extLst>
              <a:ext uri="{FF2B5EF4-FFF2-40B4-BE49-F238E27FC236}">
                <a16:creationId xmlns:a16="http://schemas.microsoft.com/office/drawing/2014/main" id="{468B043A-D4D6-4690-92E9-04306FF27320}"/>
              </a:ext>
            </a:extLst>
          </p:cNvPr>
          <p:cNvSpPr>
            <a:spLocks noGrp="1"/>
          </p:cNvSpPr>
          <p:nvPr>
            <p:ph idx="1"/>
          </p:nvPr>
        </p:nvSpPr>
        <p:spPr>
          <a:xfrm>
            <a:off x="1371600" y="1885951"/>
            <a:ext cx="6172200" cy="3875485"/>
          </a:xfrm>
        </p:spPr>
        <p:txBody>
          <a:bodyPr/>
          <a:lstStyle/>
          <a:p>
            <a:pPr algn="just" fontAlgn="base">
              <a:spcAft>
                <a:spcPct val="0"/>
              </a:spcAft>
            </a:pPr>
            <a:r>
              <a:rPr lang="en-US" altLang="en-US" sz="1650" b="1" dirty="0">
                <a:solidFill>
                  <a:srgbClr val="4A4A4A"/>
                </a:solidFill>
                <a:latin typeface="Rockwell" panose="02060603020205020403" pitchFamily="18" charset="0"/>
              </a:rPr>
              <a:t>7. replace()</a:t>
            </a:r>
            <a:endParaRPr lang="en-US" altLang="en-US" sz="1650" dirty="0">
              <a:solidFill>
                <a:srgbClr val="4A4A4A"/>
              </a:solidFill>
              <a:latin typeface="Rockwell" panose="02060603020205020403" pitchFamily="18" charset="0"/>
            </a:endParaRPr>
          </a:p>
          <a:p>
            <a:pPr algn="just" fontAlgn="base">
              <a:spcAft>
                <a:spcPct val="0"/>
              </a:spcAft>
            </a:pPr>
            <a:r>
              <a:rPr lang="en-US" altLang="en-US" sz="1650" dirty="0">
                <a:solidFill>
                  <a:srgbClr val="4A4A4A"/>
                </a:solidFill>
                <a:latin typeface="Rockwell" panose="02060603020205020403" pitchFamily="18" charset="0"/>
              </a:rPr>
              <a:t>The method is used to replace a set of elements or characters</a:t>
            </a:r>
          </a:p>
          <a:p>
            <a:pPr indent="14288" algn="just" fontAlgn="base">
              <a:spcAft>
                <a:spcPct val="0"/>
              </a:spcAft>
            </a:pPr>
            <a:r>
              <a:rPr lang="en-US" altLang="en-US" sz="1650" dirty="0">
                <a:solidFill>
                  <a:srgbClr val="4A4A4A"/>
                </a:solidFill>
                <a:latin typeface="Rockwell" panose="02060603020205020403" pitchFamily="18" charset="0"/>
              </a:rPr>
              <a:t>with another, inside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a:t>
            </a:r>
          </a:p>
          <a:p>
            <a:pPr algn="just" fontAlgn="base">
              <a:spcAft>
                <a:spcPct val="0"/>
              </a:spcAft>
            </a:pPr>
            <a:r>
              <a:rPr lang="en-US" altLang="en-US" sz="1650" dirty="0">
                <a:solidFill>
                  <a:srgbClr val="4A4A4A"/>
                </a:solidFill>
                <a:latin typeface="Rockwell" panose="02060603020205020403" pitchFamily="18" charset="0"/>
              </a:rPr>
              <a:t>The arguments </a:t>
            </a:r>
            <a:r>
              <a:rPr lang="en-US" altLang="en-US" sz="1650" dirty="0" err="1">
                <a:solidFill>
                  <a:srgbClr val="4A4A4A"/>
                </a:solidFill>
                <a:latin typeface="Rockwell" panose="02060603020205020403" pitchFamily="18" charset="0"/>
              </a:rPr>
              <a:t>startIndex</a:t>
            </a:r>
            <a:r>
              <a:rPr lang="en-US" altLang="en-US" sz="1650" dirty="0">
                <a:solidFill>
                  <a:srgbClr val="4A4A4A"/>
                </a:solidFill>
                <a:latin typeface="Rockwell" panose="02060603020205020403" pitchFamily="18" charset="0"/>
              </a:rPr>
              <a:t> and </a:t>
            </a:r>
            <a:r>
              <a:rPr lang="en-US" altLang="en-US" sz="1650" dirty="0" err="1">
                <a:solidFill>
                  <a:srgbClr val="4A4A4A"/>
                </a:solidFill>
                <a:latin typeface="Rockwell" panose="02060603020205020403" pitchFamily="18" charset="0"/>
              </a:rPr>
              <a:t>endIndex</a:t>
            </a:r>
            <a:r>
              <a:rPr lang="en-US" altLang="en-US" sz="1650" dirty="0">
                <a:solidFill>
                  <a:srgbClr val="4A4A4A"/>
                </a:solidFill>
                <a:latin typeface="Rockwell" panose="02060603020205020403" pitchFamily="18" charset="0"/>
              </a:rPr>
              <a:t> are present in this method. </a:t>
            </a:r>
          </a:p>
          <a:p>
            <a:pPr algn="just" fontAlgn="base">
              <a:spcAft>
                <a:spcPct val="0"/>
              </a:spcAft>
            </a:pPr>
            <a:r>
              <a:rPr lang="en-US" altLang="en-US" sz="1650" dirty="0">
                <a:solidFill>
                  <a:srgbClr val="4A4A4A"/>
                </a:solidFill>
                <a:latin typeface="Rockwell" panose="02060603020205020403" pitchFamily="18" charset="0"/>
              </a:rPr>
              <a:t>The substring from the </a:t>
            </a:r>
            <a:r>
              <a:rPr lang="en-US" altLang="en-US" sz="1650" dirty="0" err="1">
                <a:solidFill>
                  <a:srgbClr val="4A4A4A"/>
                </a:solidFill>
                <a:latin typeface="Rockwell" panose="02060603020205020403" pitchFamily="18" charset="0"/>
              </a:rPr>
              <a:t>startIndex</a:t>
            </a:r>
            <a:r>
              <a:rPr lang="en-US" altLang="en-US" sz="1650" dirty="0">
                <a:solidFill>
                  <a:srgbClr val="4A4A4A"/>
                </a:solidFill>
                <a:latin typeface="Rockwell" panose="02060603020205020403" pitchFamily="18" charset="0"/>
              </a:rPr>
              <a:t> till the </a:t>
            </a:r>
            <a:r>
              <a:rPr lang="en-US" altLang="en-US" sz="1650" dirty="0" err="1">
                <a:solidFill>
                  <a:srgbClr val="4A4A4A"/>
                </a:solidFill>
                <a:latin typeface="Rockwell" panose="02060603020205020403" pitchFamily="18" charset="0"/>
              </a:rPr>
              <a:t>endIndex</a:t>
            </a:r>
            <a:r>
              <a:rPr lang="en-US" altLang="en-US" sz="1650" dirty="0">
                <a:solidFill>
                  <a:srgbClr val="4A4A4A"/>
                </a:solidFill>
                <a:latin typeface="Rockwell" panose="02060603020205020403" pitchFamily="18" charset="0"/>
              </a:rPr>
              <a:t> -1 is replaced.</a:t>
            </a:r>
          </a:p>
          <a:p>
            <a:pPr algn="just" fontAlgn="base">
              <a:spcAft>
                <a:spcPct val="0"/>
              </a:spcAft>
            </a:pPr>
            <a:r>
              <a:rPr lang="en-US" altLang="en-US" sz="1650" b="1" dirty="0">
                <a:solidFill>
                  <a:srgbClr val="4A4A4A"/>
                </a:solidFill>
                <a:latin typeface="Rockwell" panose="02060603020205020403" pitchFamily="18" charset="0"/>
              </a:rPr>
              <a:t>8.String </a:t>
            </a:r>
            <a:r>
              <a:rPr lang="en-US" altLang="en-US" sz="1650" b="1" dirty="0" err="1">
                <a:solidFill>
                  <a:srgbClr val="4A4A4A"/>
                </a:solidFill>
                <a:latin typeface="Rockwell" panose="02060603020205020403" pitchFamily="18" charset="0"/>
              </a:rPr>
              <a:t>toString</a:t>
            </a:r>
            <a:r>
              <a:rPr lang="en-US" altLang="en-US" sz="1650" b="1" dirty="0">
                <a:solidFill>
                  <a:srgbClr val="4A4A4A"/>
                </a:solidFill>
                <a:latin typeface="Rockwell" panose="02060603020205020403" pitchFamily="18" charset="0"/>
              </a:rPr>
              <a:t>()</a:t>
            </a:r>
          </a:p>
          <a:p>
            <a:pPr algn="just" fontAlgn="base">
              <a:spcAft>
                <a:spcPct val="0"/>
              </a:spcAft>
            </a:pPr>
            <a:r>
              <a:rPr lang="en-US" altLang="en-US" sz="1650" dirty="0">
                <a:solidFill>
                  <a:srgbClr val="4A4A4A"/>
                </a:solidFill>
                <a:latin typeface="Rockwell" panose="02060603020205020403" pitchFamily="18" charset="0"/>
              </a:rPr>
              <a:t>This inbuilt method outputs a string representing the data </a:t>
            </a:r>
          </a:p>
          <a:p>
            <a:pPr indent="14288" algn="just" fontAlgn="base">
              <a:spcAft>
                <a:spcPct val="0"/>
              </a:spcAft>
            </a:pPr>
            <a:r>
              <a:rPr lang="en-US" altLang="en-US" sz="1650" dirty="0">
                <a:solidFill>
                  <a:srgbClr val="4A4A4A"/>
                </a:solidFill>
                <a:latin typeface="Rockwell" panose="02060603020205020403" pitchFamily="18" charset="0"/>
              </a:rPr>
              <a:t>present in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a:t>
            </a:r>
          </a:p>
          <a:p>
            <a:pPr algn="just" fontAlgn="base">
              <a:spcAft>
                <a:spcPct val="0"/>
              </a:spcAft>
            </a:pPr>
            <a:r>
              <a:rPr lang="en-US" altLang="en-US" sz="1650" dirty="0">
                <a:solidFill>
                  <a:srgbClr val="4A4A4A"/>
                </a:solidFill>
                <a:latin typeface="Rockwell" panose="02060603020205020403" pitchFamily="18" charset="0"/>
              </a:rPr>
              <a:t>A new String object is declared and initialized to get the character sequence from the </a:t>
            </a:r>
            <a:r>
              <a:rPr lang="en-US" altLang="en-US" sz="1650" dirty="0" err="1">
                <a:solidFill>
                  <a:srgbClr val="4A4A4A"/>
                </a:solidFill>
                <a:latin typeface="Rockwell" panose="02060603020205020403" pitchFamily="18" charset="0"/>
              </a:rPr>
              <a:t>StringBuffer</a:t>
            </a:r>
            <a:r>
              <a:rPr lang="en-US" altLang="en-US" sz="1650" dirty="0">
                <a:solidFill>
                  <a:srgbClr val="4A4A4A"/>
                </a:solidFill>
                <a:latin typeface="Rockwell" panose="02060603020205020403" pitchFamily="18" charset="0"/>
              </a:rPr>
              <a:t> object. </a:t>
            </a:r>
          </a:p>
          <a:p>
            <a:pPr algn="just" fontAlgn="base">
              <a:spcAft>
                <a:spcPct val="0"/>
              </a:spcAft>
            </a:pPr>
            <a:r>
              <a:rPr lang="en-US" altLang="en-US" sz="1650" dirty="0">
                <a:solidFill>
                  <a:srgbClr val="4A4A4A"/>
                </a:solidFill>
                <a:latin typeface="Rockwell" panose="02060603020205020403" pitchFamily="18" charset="0"/>
              </a:rPr>
              <a:t>The string is then returned by </a:t>
            </a:r>
            <a:r>
              <a:rPr lang="en-US" altLang="en-US" sz="1650" dirty="0" err="1">
                <a:solidFill>
                  <a:srgbClr val="4A4A4A"/>
                </a:solidFill>
                <a:latin typeface="Rockwell" panose="02060603020205020403" pitchFamily="18" charset="0"/>
              </a:rPr>
              <a:t>toString</a:t>
            </a:r>
            <a:r>
              <a:rPr lang="en-US" altLang="en-US" sz="1650" dirty="0">
                <a:solidFill>
                  <a:srgbClr val="4A4A4A"/>
                </a:solidFill>
                <a:latin typeface="Rockwell" panose="02060603020205020403" pitchFamily="18" charset="0"/>
              </a:rPr>
              <a:t>().</a:t>
            </a:r>
          </a:p>
          <a:p>
            <a:pPr algn="just" fontAlgn="base">
              <a:spcAft>
                <a:spcPct val="0"/>
              </a:spcAft>
            </a:pPr>
            <a:endParaRPr lang="en-US" altLang="en-US" sz="1650" dirty="0">
              <a:solidFill>
                <a:srgbClr val="4A4A4A"/>
              </a:solidFill>
              <a:latin typeface="Rockwell" panose="02060603020205020403" pitchFamily="18" charset="0"/>
            </a:endParaRPr>
          </a:p>
          <a:p>
            <a:pPr algn="just" fontAlgn="base">
              <a:spcAft>
                <a:spcPct val="0"/>
              </a:spcAft>
            </a:pPr>
            <a:endParaRPr lang="en-US" altLang="en-US" sz="1650" dirty="0">
              <a:solidFill>
                <a:srgbClr val="4A4A4A"/>
              </a:solidFill>
              <a:latin typeface="Rockwell" panose="02060603020205020403" pitchFamily="18" charset="0"/>
            </a:endParaRPr>
          </a:p>
        </p:txBody>
      </p:sp>
      <p:sp>
        <p:nvSpPr>
          <p:cNvPr id="4" name="Content Placeholder 3">
            <a:extLst>
              <a:ext uri="{FF2B5EF4-FFF2-40B4-BE49-F238E27FC236}">
                <a16:creationId xmlns:a16="http://schemas.microsoft.com/office/drawing/2014/main" id="{4AB0D187-D499-42AF-B416-FF05EBF024D0}"/>
              </a:ext>
            </a:extLst>
          </p:cNvPr>
          <p:cNvSpPr>
            <a:spLocks noGrp="1"/>
          </p:cNvSpPr>
          <p:nvPr>
            <p:ph sz="quarter" idx="10"/>
          </p:nvPr>
        </p:nvSpPr>
        <p:spPr/>
        <p:txBody>
          <a:bodyPr rtlCol="0"/>
          <a:lstStyle/>
          <a:p>
            <a:pPr fontAlgn="auto">
              <a:spcAft>
                <a:spcPts val="0"/>
              </a:spcAft>
              <a:defRPr/>
            </a:pPr>
            <a:r>
              <a:rPr lang="en-US" dirty="0"/>
              <a:t>STRING BUFFER CLASS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9B9D7C5-3E7B-422D-A258-6A49C6DEBE5B}"/>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12" name="Title 1">
            <a:extLst>
              <a:ext uri="{FF2B5EF4-FFF2-40B4-BE49-F238E27FC236}">
                <a16:creationId xmlns:a16="http://schemas.microsoft.com/office/drawing/2014/main" id="{62D1F538-D668-41EF-BC6A-6C4BD96E6715}"/>
              </a:ext>
            </a:extLst>
          </p:cNvPr>
          <p:cNvSpPr>
            <a:spLocks noGrp="1"/>
          </p:cNvSpPr>
          <p:nvPr>
            <p:ph type="title"/>
          </p:nvPr>
        </p:nvSpPr>
        <p:spPr>
          <a:xfrm>
            <a:off x="240358" y="367260"/>
            <a:ext cx="8229600" cy="1143000"/>
          </a:xfrm>
        </p:spPr>
        <p:txBody>
          <a:bodyPr>
            <a:normAutofit fontScale="90000"/>
          </a:bodyPr>
          <a:lstStyle/>
          <a:p>
            <a:pPr algn="ctr" rtl="0"/>
            <a:r>
              <a:rPr kumimoji="0" lang="en-IN" sz="4400" i="0" u="none" strike="noStrike" kern="0" cap="none" spc="0" normalizeH="0" baseline="0" noProof="0" dirty="0">
                <a:ln>
                  <a:noFill/>
                </a:ln>
                <a:solidFill>
                  <a:sysClr val="windowText" lastClr="000000"/>
                </a:solidFill>
                <a:effectLst/>
                <a:uLnTx/>
                <a:uFillTx/>
                <a:latin typeface="Times New Roman" pitchFamily="18" charset="0"/>
                <a:ea typeface="+mn-ea"/>
                <a:cs typeface="Times New Roman" pitchFamily="18" charset="0"/>
              </a:rPr>
              <a:t>Packages</a:t>
            </a:r>
            <a:br>
              <a:rPr kumimoji="0" lang="en-IN" sz="4400" i="0" u="none" strike="noStrike" kern="0" cap="none" spc="0" normalizeH="0" baseline="0" noProof="0" dirty="0">
                <a:ln>
                  <a:noFill/>
                </a:ln>
                <a:solidFill>
                  <a:sysClr val="windowText" lastClr="000000"/>
                </a:solidFill>
                <a:effectLst/>
                <a:uLnTx/>
                <a:uFillTx/>
                <a:latin typeface="Times New Roman" pitchFamily="18" charset="0"/>
                <a:ea typeface="+mn-ea"/>
                <a:cs typeface="Times New Roman" pitchFamily="18" charset="0"/>
              </a:rPr>
            </a:br>
            <a:endParaRPr lang="en-IN" sz="4400" dirty="0">
              <a:latin typeface="Times New Roman" pitchFamily="18" charset="0"/>
              <a:cs typeface="Times New Roman" pitchFamily="18" charset="0"/>
            </a:endParaRPr>
          </a:p>
        </p:txBody>
      </p:sp>
      <p:sp>
        <p:nvSpPr>
          <p:cNvPr id="13" name="Content Placeholder 2">
            <a:extLst>
              <a:ext uri="{FF2B5EF4-FFF2-40B4-BE49-F238E27FC236}">
                <a16:creationId xmlns:a16="http://schemas.microsoft.com/office/drawing/2014/main" id="{24655582-D02E-4B02-81A1-F676D0CE8D67}"/>
              </a:ext>
            </a:extLst>
          </p:cNvPr>
          <p:cNvSpPr txBox="1">
            <a:spLocks/>
          </p:cNvSpPr>
          <p:nvPr/>
        </p:nvSpPr>
        <p:spPr>
          <a:xfrm>
            <a:off x="457200" y="1510260"/>
            <a:ext cx="8229600" cy="4525963"/>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19138" marR="0" lvl="0" indent="-719138" algn="just"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alt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Java API packages </a:t>
            </a:r>
          </a:p>
          <a:p>
            <a:pPr marL="719138" marR="0" lvl="0" indent="-719138" algn="just"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IN" sz="3600" b="0" i="0" u="none" strike="noStrike" kern="0" cap="none" spc="0" normalizeH="0" baseline="0" noProof="0" dirty="0">
                <a:ln>
                  <a:noFill/>
                </a:ln>
                <a:solidFill>
                  <a:sysClr val="windowText" lastClr="000000"/>
                </a:solidFill>
                <a:effectLst/>
                <a:uLnTx/>
                <a:uFillTx/>
                <a:latin typeface="Times New Roman" pitchFamily="18" charset="0"/>
                <a:ea typeface="+mn-ea"/>
                <a:cs typeface="Times New Roman" pitchFamily="18" charset="0"/>
              </a:rPr>
              <a:t>User defined package</a:t>
            </a:r>
          </a:p>
          <a:p>
            <a:pPr marL="719138" marR="0" lvl="0" indent="-719138" algn="just"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IN" sz="3600" b="0" i="0" u="none" strike="noStrike" kern="0" cap="none" spc="0" normalizeH="0" baseline="0" noProof="0" dirty="0">
                <a:ln>
                  <a:noFill/>
                </a:ln>
                <a:solidFill>
                  <a:sysClr val="windowText" lastClr="000000"/>
                </a:solidFill>
                <a:effectLst/>
                <a:uLnTx/>
                <a:uFillTx/>
                <a:latin typeface="Times New Roman" pitchFamily="18" charset="0"/>
                <a:ea typeface="+mn-ea"/>
                <a:cs typeface="Times New Roman" pitchFamily="18" charset="0"/>
              </a:rPr>
              <a:t>Accessing classes in packages</a:t>
            </a:r>
          </a:p>
          <a:p>
            <a:pPr marL="719138" marR="0" lvl="0" indent="-719138" algn="just"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IN" sz="3600" b="0" i="0" u="none" strike="noStrike" kern="0" cap="none" spc="0" normalizeH="0" baseline="0" noProof="0" dirty="0">
                <a:ln>
                  <a:noFill/>
                </a:ln>
                <a:solidFill>
                  <a:sysClr val="windowText" lastClr="000000"/>
                </a:solidFill>
                <a:effectLst/>
                <a:uLnTx/>
                <a:uFillTx/>
                <a:latin typeface="Times New Roman" pitchFamily="18" charset="0"/>
                <a:ea typeface="+mn-ea"/>
                <a:cs typeface="Times New Roman" pitchFamily="18" charset="0"/>
              </a:rPr>
              <a:t>Example programs</a:t>
            </a:r>
          </a:p>
        </p:txBody>
      </p:sp>
    </p:spTree>
    <p:extLst>
      <p:ext uri="{BB962C8B-B14F-4D97-AF65-F5344CB8AC3E}">
        <p14:creationId xmlns:p14="http://schemas.microsoft.com/office/powerpoint/2010/main" val="604094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03CD7A01-A0A1-4F2D-B4F1-FC3210F11218}"/>
              </a:ext>
            </a:extLst>
          </p:cNvPr>
          <p:cNvSpPr>
            <a:spLocks noGrp="1"/>
          </p:cNvSpPr>
          <p:nvPr>
            <p:ph type="title"/>
          </p:nvPr>
        </p:nvSpPr>
        <p:spPr>
          <a:xfrm>
            <a:off x="154939" y="232409"/>
            <a:ext cx="8834120" cy="677108"/>
          </a:xfrm>
        </p:spPr>
        <p:txBody>
          <a:bodyPr/>
          <a:lstStyle/>
          <a:p>
            <a:pPr algn="ctr"/>
            <a:r>
              <a:rPr lang="en-US" altLang="en-US" sz="4400" dirty="0">
                <a:latin typeface="Times New Roman" panose="02020603050405020304" pitchFamily="18" charset="0"/>
                <a:cs typeface="Times New Roman" panose="02020603050405020304" pitchFamily="18" charset="0"/>
              </a:rPr>
              <a:t>Packages	</a:t>
            </a:r>
          </a:p>
        </p:txBody>
      </p:sp>
      <p:sp>
        <p:nvSpPr>
          <p:cNvPr id="14338" name="Content Placeholder 2">
            <a:extLst>
              <a:ext uri="{FF2B5EF4-FFF2-40B4-BE49-F238E27FC236}">
                <a16:creationId xmlns:a16="http://schemas.microsoft.com/office/drawing/2014/main" id="{2C6A6748-3820-406B-ACD9-7BB5836562E1}"/>
              </a:ext>
            </a:extLst>
          </p:cNvPr>
          <p:cNvSpPr>
            <a:spLocks noGrp="1"/>
          </p:cNvSpPr>
          <p:nvPr>
            <p:ph idx="1"/>
          </p:nvPr>
        </p:nvSpPr>
        <p:spPr>
          <a:xfrm>
            <a:off x="381000" y="1600200"/>
            <a:ext cx="7927975" cy="3724096"/>
          </a:xfrm>
        </p:spPr>
        <p:txBody>
          <a:bodyPr/>
          <a:lstStyle/>
          <a:p>
            <a:pPr marL="285750" indent="-28575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A java package is a group of similar types of classes, interfaces and sub-packages.</a:t>
            </a:r>
          </a:p>
          <a:p>
            <a:pPr marL="285750" indent="-28575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Think of it as a folder in a file directory. </a:t>
            </a:r>
          </a:p>
          <a:p>
            <a:pPr marL="285750" indent="-28575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Packages are used to avoid name conflicts, and to write a better maintainable code. </a:t>
            </a:r>
          </a:p>
          <a:p>
            <a:pPr marL="285750" indent="-285750" algn="just">
              <a:buFont typeface="Arial" panose="020B0604020202020204" pitchFamily="34" charset="0"/>
              <a:buChar char="•"/>
            </a:pPr>
            <a:endParaRPr lang="en-US" altLang="en-US" sz="2800" dirty="0">
              <a:latin typeface="Times New Roman" panose="02020603050405020304" pitchFamily="18" charset="0"/>
              <a:cs typeface="Times New Roman" panose="02020603050405020304" pitchFamily="18" charset="0"/>
            </a:endParaRPr>
          </a:p>
          <a:p>
            <a:pPr marL="457200" marR="0" lvl="0" indent="-457200" defTabSz="914400" eaLnBrk="1" fontAlgn="auto" latinLnBrk="0" hangingPunct="1">
              <a:lnSpc>
                <a:spcPct val="100000"/>
              </a:lnSpc>
              <a:spcBef>
                <a:spcPts val="0"/>
              </a:spcBef>
              <a:spcAft>
                <a:spcPts val="0"/>
              </a:spcAft>
              <a:buClrTx/>
              <a:buSzTx/>
              <a:buFont typeface="Arial" panose="020B0604020202020204" pitchFamily="34" charset="0"/>
              <a:buChar char="•"/>
              <a:tabLst>
                <a:tab pos="860425" algn="l"/>
                <a:tab pos="1143000" algn="l"/>
                <a:tab pos="1712913" algn="l"/>
              </a:tabLst>
              <a:defRPr/>
            </a:pPr>
            <a:r>
              <a:rPr lang="en-US" altLang="en-US" sz="2800" dirty="0">
                <a:latin typeface="Times New Roman" panose="02020603050405020304" pitchFamily="18" charset="0"/>
                <a:cs typeface="Times New Roman" panose="02020603050405020304" pitchFamily="18" charset="0"/>
              </a:rPr>
              <a:t>package	 </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directory (folder)</a:t>
            </a:r>
          </a:p>
          <a:p>
            <a:pPr marL="457200" marR="0" lvl="0" indent="-457200" defTabSz="914400" eaLnBrk="1" fontAlgn="auto" latinLnBrk="0" hangingPunct="1">
              <a:lnSpc>
                <a:spcPct val="100000"/>
              </a:lnSpc>
              <a:spcBef>
                <a:spcPts val="0"/>
              </a:spcBef>
              <a:spcAft>
                <a:spcPts val="0"/>
              </a:spcAft>
              <a:buClrTx/>
              <a:buSzTx/>
              <a:buFont typeface="Arial" panose="020B0604020202020204" pitchFamily="34" charset="0"/>
              <a:buChar char="•"/>
              <a:tabLst>
                <a:tab pos="860425" algn="l"/>
                <a:tab pos="1143000" algn="l"/>
                <a:tab pos="1712913" algn="l"/>
              </a:tabLst>
              <a:defRPr/>
            </a:pPr>
            <a:r>
              <a:rPr lang="en-US" altLang="en-US" sz="2800" dirty="0">
                <a:latin typeface="Times New Roman" panose="02020603050405020304" pitchFamily="18" charset="0"/>
                <a:cs typeface="Times New Roman" panose="02020603050405020304" pitchFamily="18" charset="0"/>
              </a:rPr>
              <a:t>class		</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file</a:t>
            </a:r>
          </a:p>
          <a:p>
            <a:pPr marL="285750" indent="-285750" algn="just">
              <a:buFont typeface="Arial" panose="020B0604020202020204" pitchFamily="34" charset="0"/>
              <a:buChar char="•"/>
            </a:pPr>
            <a:endParaRPr lang="en-US" altLang="en-US" dirty="0"/>
          </a:p>
        </p:txBody>
      </p:sp>
      <p:sp>
        <p:nvSpPr>
          <p:cNvPr id="2" name="Slide Number Placeholder 4">
            <a:extLst>
              <a:ext uri="{FF2B5EF4-FFF2-40B4-BE49-F238E27FC236}">
                <a16:creationId xmlns:a16="http://schemas.microsoft.com/office/drawing/2014/main" id="{51A80F91-4A16-4B5D-B7B1-D6005692E34A}"/>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a:extLst>
              <a:ext uri="{FF2B5EF4-FFF2-40B4-BE49-F238E27FC236}">
                <a16:creationId xmlns:a16="http://schemas.microsoft.com/office/drawing/2014/main" id="{42F5387A-46CB-C27E-AAEC-DA72BB3B35AA}"/>
              </a:ext>
            </a:extLst>
          </p:cNvPr>
          <p:cNvSpPr>
            <a:spLocks noGrp="1" noChangeArrowheads="1"/>
          </p:cNvSpPr>
          <p:nvPr>
            <p:ph type="title"/>
          </p:nvPr>
        </p:nvSpPr>
        <p:spPr>
          <a:xfrm>
            <a:off x="154939" y="232409"/>
            <a:ext cx="8834120" cy="553998"/>
          </a:xfrm>
        </p:spPr>
        <p:txBody>
          <a:bodyPr/>
          <a:lstStyle/>
          <a:p>
            <a:r>
              <a:rPr lang="en-US" altLang="en-US">
                <a:latin typeface="Times New Roman" panose="02020603050405020304" pitchFamily="18" charset="0"/>
                <a:cs typeface="Times New Roman" panose="02020603050405020304" pitchFamily="18" charset="0"/>
              </a:rPr>
              <a:t>Packages and directories</a:t>
            </a:r>
          </a:p>
        </p:txBody>
      </p:sp>
      <p:sp>
        <p:nvSpPr>
          <p:cNvPr id="533507" name="Rectangle 3">
            <a:extLst>
              <a:ext uri="{FF2B5EF4-FFF2-40B4-BE49-F238E27FC236}">
                <a16:creationId xmlns:a16="http://schemas.microsoft.com/office/drawing/2014/main" id="{6943EB7E-5985-69F7-A4B4-040EBE09109D}"/>
              </a:ext>
            </a:extLst>
          </p:cNvPr>
          <p:cNvSpPr>
            <a:spLocks noGrp="1" noChangeArrowheads="1"/>
          </p:cNvSpPr>
          <p:nvPr>
            <p:ph type="body" idx="1"/>
          </p:nvPr>
        </p:nvSpPr>
        <p:spPr>
          <a:xfrm>
            <a:off x="516194" y="1676400"/>
            <a:ext cx="8472865" cy="4431983"/>
          </a:xfrm>
        </p:spPr>
        <p:txBody>
          <a:bodyPr/>
          <a:lstStyle/>
          <a:p>
            <a:pPr>
              <a:tabLst>
                <a:tab pos="860425" algn="l"/>
                <a:tab pos="1143000" algn="l"/>
                <a:tab pos="1712913" algn="l"/>
              </a:tabLst>
            </a:pPr>
            <a:r>
              <a:rPr lang="en-US" altLang="en-US" sz="2400" b="1" dirty="0">
                <a:solidFill>
                  <a:srgbClr val="262626"/>
                </a:solidFill>
                <a:latin typeface="Times New Roman" panose="02020603050405020304" pitchFamily="18" charset="0"/>
                <a:cs typeface="Times New Roman" panose="02020603050405020304" pitchFamily="18" charset="0"/>
              </a:rPr>
              <a:t>A class named D in package </a:t>
            </a:r>
            <a:r>
              <a:rPr lang="en-US" altLang="en-US" sz="2400" b="1" dirty="0" err="1">
                <a:solidFill>
                  <a:srgbClr val="262626"/>
                </a:solidFill>
                <a:latin typeface="Times New Roman" panose="02020603050405020304" pitchFamily="18" charset="0"/>
                <a:cs typeface="Times New Roman" panose="02020603050405020304" pitchFamily="18" charset="0"/>
              </a:rPr>
              <a:t>a.b.c</a:t>
            </a:r>
            <a:r>
              <a:rPr lang="en-US" altLang="en-US" sz="2400" b="1" dirty="0">
                <a:solidFill>
                  <a:srgbClr val="262626"/>
                </a:solidFill>
                <a:latin typeface="Times New Roman" panose="02020603050405020304" pitchFamily="18" charset="0"/>
                <a:cs typeface="Times New Roman" panose="02020603050405020304" pitchFamily="18" charset="0"/>
              </a:rPr>
              <a:t> should reside in this file:</a:t>
            </a:r>
          </a:p>
          <a:p>
            <a:pPr>
              <a:buFontTx/>
              <a:buNone/>
              <a:tabLst>
                <a:tab pos="860425" algn="l"/>
                <a:tab pos="1143000" algn="l"/>
                <a:tab pos="1712913" algn="l"/>
              </a:tabLst>
            </a:pPr>
            <a:endParaRPr lang="en-US" altLang="en-US" sz="2400" b="1" dirty="0">
              <a:solidFill>
                <a:srgbClr val="262626"/>
              </a:solidFill>
              <a:latin typeface="Times New Roman" panose="02020603050405020304" pitchFamily="18" charset="0"/>
              <a:cs typeface="Times New Roman" panose="02020603050405020304" pitchFamily="18" charset="0"/>
            </a:endParaRPr>
          </a:p>
          <a:p>
            <a:pPr>
              <a:buFontTx/>
              <a:buNone/>
              <a:tabLst>
                <a:tab pos="860425" algn="l"/>
                <a:tab pos="1143000" algn="l"/>
                <a:tab pos="1712913" algn="l"/>
              </a:tabLst>
            </a:pPr>
            <a:r>
              <a:rPr lang="en-US" altLang="en-US" sz="2400" b="1" dirty="0">
                <a:solidFill>
                  <a:srgbClr val="262626"/>
                </a:solidFill>
                <a:latin typeface="Times New Roman" panose="02020603050405020304" pitchFamily="18" charset="0"/>
                <a:cs typeface="Times New Roman" panose="02020603050405020304" pitchFamily="18" charset="0"/>
              </a:rPr>
              <a:t>   a/b/c/</a:t>
            </a:r>
            <a:r>
              <a:rPr lang="en-US" altLang="en-US" sz="2400" b="1" dirty="0" err="1">
                <a:solidFill>
                  <a:srgbClr val="262626"/>
                </a:solidFill>
                <a:latin typeface="Times New Roman" panose="02020603050405020304" pitchFamily="18" charset="0"/>
                <a:cs typeface="Times New Roman" panose="02020603050405020304" pitchFamily="18" charset="0"/>
              </a:rPr>
              <a:t>D.class</a:t>
            </a:r>
            <a:endParaRPr lang="en-US" altLang="en-US" sz="2400" b="1" dirty="0">
              <a:solidFill>
                <a:srgbClr val="262626"/>
              </a:solidFill>
              <a:latin typeface="Times New Roman" panose="02020603050405020304" pitchFamily="18" charset="0"/>
              <a:cs typeface="Times New Roman" panose="02020603050405020304" pitchFamily="18" charset="0"/>
            </a:endParaRPr>
          </a:p>
          <a:p>
            <a:pPr>
              <a:buFontTx/>
              <a:buNone/>
              <a:tabLst>
                <a:tab pos="860425" algn="l"/>
                <a:tab pos="1143000" algn="l"/>
                <a:tab pos="1712913" algn="l"/>
              </a:tabLst>
            </a:pPr>
            <a:endParaRPr lang="en-US" altLang="en-US" sz="2400" b="1" dirty="0">
              <a:solidFill>
                <a:srgbClr val="262626"/>
              </a:solidFill>
              <a:latin typeface="Times New Roman" panose="02020603050405020304" pitchFamily="18" charset="0"/>
              <a:cs typeface="Times New Roman" panose="02020603050405020304" pitchFamily="18" charset="0"/>
            </a:endParaRPr>
          </a:p>
          <a:p>
            <a:pPr lvl="1">
              <a:tabLst>
                <a:tab pos="860425" algn="l"/>
                <a:tab pos="1143000" algn="l"/>
                <a:tab pos="1712913" algn="l"/>
              </a:tabLst>
            </a:pPr>
            <a:r>
              <a:rPr lang="en-US" altLang="en-US" sz="2400" b="1" dirty="0">
                <a:solidFill>
                  <a:srgbClr val="404040"/>
                </a:solidFill>
                <a:latin typeface="Times New Roman" panose="02020603050405020304" pitchFamily="18" charset="0"/>
                <a:cs typeface="Times New Roman" panose="02020603050405020304" pitchFamily="18" charset="0"/>
              </a:rPr>
              <a:t>(relative to the root of your project)</a:t>
            </a:r>
          </a:p>
          <a:p>
            <a:pPr>
              <a:buFontTx/>
              <a:buNone/>
              <a:tabLst>
                <a:tab pos="860425" algn="l"/>
                <a:tab pos="1143000" algn="l"/>
                <a:tab pos="1712913" algn="l"/>
              </a:tabLst>
            </a:pPr>
            <a:endParaRPr lang="en-US" altLang="en-US" sz="2400" b="1" dirty="0">
              <a:solidFill>
                <a:srgbClr val="262626"/>
              </a:solidFill>
              <a:latin typeface="Times New Roman" panose="02020603050405020304" pitchFamily="18" charset="0"/>
              <a:cs typeface="Times New Roman" panose="02020603050405020304" pitchFamily="18" charset="0"/>
            </a:endParaRPr>
          </a:p>
          <a:p>
            <a:pPr>
              <a:buFontTx/>
              <a:buNone/>
              <a:tabLst>
                <a:tab pos="860425" algn="l"/>
                <a:tab pos="1143000" algn="l"/>
                <a:tab pos="1712913" algn="l"/>
              </a:tabLst>
            </a:pPr>
            <a:endParaRPr lang="en-US" altLang="en-US" sz="2400" b="1" dirty="0">
              <a:solidFill>
                <a:srgbClr val="262626"/>
              </a:solidFill>
              <a:latin typeface="Times New Roman" panose="02020603050405020304" pitchFamily="18" charset="0"/>
              <a:cs typeface="Times New Roman" panose="02020603050405020304" pitchFamily="18" charset="0"/>
            </a:endParaRPr>
          </a:p>
          <a:p>
            <a:pPr>
              <a:buFontTx/>
              <a:buNone/>
              <a:tabLst>
                <a:tab pos="860425" algn="l"/>
                <a:tab pos="1143000" algn="l"/>
                <a:tab pos="1712913" algn="l"/>
              </a:tabLst>
            </a:pPr>
            <a:endParaRPr lang="en-US" altLang="en-US" sz="2400" b="1" dirty="0">
              <a:solidFill>
                <a:srgbClr val="262626"/>
              </a:solidFill>
              <a:latin typeface="Times New Roman" panose="02020603050405020304" pitchFamily="18" charset="0"/>
              <a:cs typeface="Times New Roman" panose="02020603050405020304" pitchFamily="18" charset="0"/>
            </a:endParaRPr>
          </a:p>
          <a:p>
            <a:pPr>
              <a:buFontTx/>
              <a:buNone/>
              <a:tabLst>
                <a:tab pos="860425" algn="l"/>
                <a:tab pos="1143000" algn="l"/>
                <a:tab pos="1712913" algn="l"/>
              </a:tabLst>
            </a:pPr>
            <a:endParaRPr lang="en-US" altLang="en-US" sz="2400" b="1" dirty="0">
              <a:solidFill>
                <a:srgbClr val="262626"/>
              </a:solidFill>
              <a:latin typeface="Times New Roman" panose="02020603050405020304" pitchFamily="18" charset="0"/>
              <a:cs typeface="Times New Roman" panose="02020603050405020304" pitchFamily="18" charset="0"/>
            </a:endParaRPr>
          </a:p>
          <a:p>
            <a:pPr>
              <a:tabLst>
                <a:tab pos="860425" algn="l"/>
                <a:tab pos="1143000" algn="l"/>
                <a:tab pos="1712913" algn="l"/>
              </a:tabLst>
            </a:pPr>
            <a:r>
              <a:rPr lang="en-US" altLang="en-US" sz="2400" b="1" dirty="0">
                <a:solidFill>
                  <a:srgbClr val="262626"/>
                </a:solidFill>
                <a:latin typeface="Times New Roman" panose="02020603050405020304" pitchFamily="18" charset="0"/>
                <a:cs typeface="Times New Roman" panose="02020603050405020304" pitchFamily="18" charset="0"/>
              </a:rPr>
              <a:t>The "root" directory of the package hierarchy is determined by your </a:t>
            </a:r>
            <a:r>
              <a:rPr lang="en-US" altLang="en-US" sz="2400" b="1" i="1" dirty="0">
                <a:solidFill>
                  <a:srgbClr val="262626"/>
                </a:solidFill>
                <a:latin typeface="Times New Roman" panose="02020603050405020304" pitchFamily="18" charset="0"/>
                <a:cs typeface="Times New Roman" panose="02020603050405020304" pitchFamily="18" charset="0"/>
              </a:rPr>
              <a:t>class path</a:t>
            </a:r>
            <a:r>
              <a:rPr lang="en-US" altLang="en-US" sz="2400" b="1" dirty="0">
                <a:solidFill>
                  <a:srgbClr val="262626"/>
                </a:solidFill>
                <a:latin typeface="Times New Roman" panose="02020603050405020304" pitchFamily="18" charset="0"/>
                <a:cs typeface="Times New Roman" panose="02020603050405020304" pitchFamily="18" charset="0"/>
              </a:rPr>
              <a:t> or the directory from which java was run.</a:t>
            </a:r>
          </a:p>
          <a:p>
            <a:pPr>
              <a:tabLst>
                <a:tab pos="860425" algn="l"/>
                <a:tab pos="1143000" algn="l"/>
                <a:tab pos="1712913" algn="l"/>
              </a:tabLst>
            </a:pPr>
            <a:endParaRPr lang="en-US" altLang="en-US" sz="2400" b="1" dirty="0">
              <a:solidFill>
                <a:srgbClr val="262626"/>
              </a:solidFill>
              <a:latin typeface="Times New Roman" panose="02020603050405020304" pitchFamily="18" charset="0"/>
              <a:cs typeface="Times New Roman" panose="02020603050405020304" pitchFamily="18" charset="0"/>
            </a:endParaRPr>
          </a:p>
        </p:txBody>
      </p:sp>
      <p:pic>
        <p:nvPicPr>
          <p:cNvPr id="533508" name="Picture 4">
            <a:extLst>
              <a:ext uri="{FF2B5EF4-FFF2-40B4-BE49-F238E27FC236}">
                <a16:creationId xmlns:a16="http://schemas.microsoft.com/office/drawing/2014/main" id="{D4F4AC09-3503-5E16-203B-48ECFD516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733800"/>
            <a:ext cx="4114800" cy="893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3">
            <a:extLst>
              <a:ext uri="{FF2B5EF4-FFF2-40B4-BE49-F238E27FC236}">
                <a16:creationId xmlns:a16="http://schemas.microsoft.com/office/drawing/2014/main" id="{C2075EB8-D0DA-49E3-AEB6-EB22F650E1F5}"/>
              </a:ext>
            </a:extLst>
          </p:cNvPr>
          <p:cNvSpPr>
            <a:spLocks noGrp="1" noChangeArrowheads="1"/>
          </p:cNvSpPr>
          <p:nvPr>
            <p:ph type="body" idx="1"/>
          </p:nvPr>
        </p:nvSpPr>
        <p:spPr>
          <a:xfrm>
            <a:off x="457200" y="1629529"/>
            <a:ext cx="8229600" cy="4124206"/>
          </a:xfrm>
        </p:spPr>
        <p:txBody>
          <a:bodyPr/>
          <a:lstStyle/>
          <a:p>
            <a:pPr marL="457200" indent="-457200" algn="just" eaLnBrk="1" hangingPunct="1">
              <a:buFont typeface="Wingdings" panose="05000000000000000000" pitchFamily="2" charset="2"/>
              <a:buChar char="Ø"/>
            </a:pPr>
            <a:r>
              <a:rPr lang="en-US" altLang="en-US" sz="2800" dirty="0">
                <a:latin typeface="Times New Roman" panose="02020603050405020304" pitchFamily="18" charset="0"/>
              </a:rPr>
              <a:t>Provides a mechanism for grouping a variety of classes and / or interfaces together.</a:t>
            </a:r>
          </a:p>
          <a:p>
            <a:pPr marL="457200" indent="-457200" algn="just" eaLnBrk="1" hangingPunct="1">
              <a:buFont typeface="Wingdings" panose="05000000000000000000" pitchFamily="2" charset="2"/>
              <a:buChar char="Ø"/>
            </a:pPr>
            <a:r>
              <a:rPr lang="en-US" altLang="en-US" sz="2800" dirty="0">
                <a:latin typeface="Times New Roman" panose="02020603050405020304" pitchFamily="18" charset="0"/>
              </a:rPr>
              <a:t>Grouping is based on functionality.</a:t>
            </a:r>
          </a:p>
          <a:p>
            <a:pPr algn="just" eaLnBrk="1" hangingPunct="1">
              <a:buFont typeface="Wingdings" panose="05000000000000000000" pitchFamily="2" charset="2"/>
              <a:buNone/>
            </a:pPr>
            <a:endParaRPr lang="en-US" altLang="en-US" sz="3600" b="1" u="sng" dirty="0">
              <a:latin typeface="Times New Roman" panose="02020603050405020304" pitchFamily="18" charset="0"/>
            </a:endParaRPr>
          </a:p>
          <a:p>
            <a:pPr algn="just" eaLnBrk="1" hangingPunct="1">
              <a:buFont typeface="Wingdings" panose="05000000000000000000" pitchFamily="2" charset="2"/>
              <a:buNone/>
            </a:pPr>
            <a:r>
              <a:rPr lang="en-US" altLang="en-US" sz="3600" b="1" u="sng" dirty="0">
                <a:latin typeface="Times New Roman" panose="02020603050405020304" pitchFamily="18" charset="0"/>
              </a:rPr>
              <a:t>Benefits:</a:t>
            </a:r>
          </a:p>
          <a:p>
            <a:pPr marL="457200" indent="-457200" algn="just" eaLnBrk="1" hangingPunct="1">
              <a:buFont typeface="Wingdings" panose="05000000000000000000" pitchFamily="2" charset="2"/>
              <a:buChar char="Ø"/>
            </a:pPr>
            <a:r>
              <a:rPr lang="en-US" altLang="en-US" sz="2800" dirty="0">
                <a:latin typeface="Times New Roman" panose="02020603050405020304" pitchFamily="18" charset="0"/>
              </a:rPr>
              <a:t>Java package is used to categorize the classes and interfaces so that they can be easily maintained.</a:t>
            </a:r>
          </a:p>
          <a:p>
            <a:pPr marL="457200" indent="-457200" algn="just" eaLnBrk="1" hangingPunct="1">
              <a:buFont typeface="Wingdings" panose="05000000000000000000" pitchFamily="2" charset="2"/>
              <a:buChar char="Ø"/>
            </a:pPr>
            <a:r>
              <a:rPr lang="en-US" altLang="en-US" sz="2800" dirty="0">
                <a:latin typeface="Times New Roman" panose="02020603050405020304" pitchFamily="18" charset="0"/>
              </a:rPr>
              <a:t>Java package provides access protection.</a:t>
            </a:r>
          </a:p>
          <a:p>
            <a:pPr marL="457200" indent="-457200" algn="just" eaLnBrk="1" hangingPunct="1">
              <a:buFont typeface="Wingdings" panose="05000000000000000000" pitchFamily="2" charset="2"/>
              <a:buChar char="Ø"/>
            </a:pPr>
            <a:r>
              <a:rPr lang="en-US" altLang="en-US" sz="2800" dirty="0">
                <a:latin typeface="Times New Roman" panose="02020603050405020304" pitchFamily="18" charset="0"/>
              </a:rPr>
              <a:t>Java package removes naming collision.</a:t>
            </a:r>
          </a:p>
        </p:txBody>
      </p:sp>
      <p:sp>
        <p:nvSpPr>
          <p:cNvPr id="2" name="Slide Number Placeholder 4">
            <a:extLst>
              <a:ext uri="{FF2B5EF4-FFF2-40B4-BE49-F238E27FC236}">
                <a16:creationId xmlns:a16="http://schemas.microsoft.com/office/drawing/2014/main" id="{5909791D-E596-4529-9D83-1CA3B5CEA222}"/>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15" name="Title 1">
            <a:extLst>
              <a:ext uri="{FF2B5EF4-FFF2-40B4-BE49-F238E27FC236}">
                <a16:creationId xmlns:a16="http://schemas.microsoft.com/office/drawing/2014/main" id="{A68D5470-6193-450E-A761-82B2B94E9BE5}"/>
              </a:ext>
            </a:extLst>
          </p:cNvPr>
          <p:cNvSpPr>
            <a:spLocks noGrp="1"/>
          </p:cNvSpPr>
          <p:nvPr>
            <p:ph type="title"/>
          </p:nvPr>
        </p:nvSpPr>
        <p:spPr>
          <a:xfrm>
            <a:off x="155575" y="231775"/>
            <a:ext cx="8832850" cy="1031875"/>
          </a:xfrm>
        </p:spPr>
        <p:txBody>
          <a:bodyPr/>
          <a:lstStyle/>
          <a:p>
            <a:pPr algn="ctr"/>
            <a:r>
              <a:rPr lang="en-US" altLang="en-US" sz="4400" dirty="0">
                <a:latin typeface="Times New Roman" panose="02020603050405020304" pitchFamily="18" charset="0"/>
                <a:cs typeface="Times New Roman" panose="02020603050405020304" pitchFamily="18" charset="0"/>
              </a:rPr>
              <a:t>Packages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a:extLst>
              <a:ext uri="{FF2B5EF4-FFF2-40B4-BE49-F238E27FC236}">
                <a16:creationId xmlns:a16="http://schemas.microsoft.com/office/drawing/2014/main" id="{811BB595-3C77-434A-9B28-DF1A25064D5A}"/>
              </a:ext>
            </a:extLst>
          </p:cNvPr>
          <p:cNvSpPr>
            <a:spLocks noGrp="1" noChangeArrowheads="1"/>
          </p:cNvSpPr>
          <p:nvPr>
            <p:ph type="title"/>
          </p:nvPr>
        </p:nvSpPr>
        <p:spPr>
          <a:xfrm>
            <a:off x="457200" y="274638"/>
            <a:ext cx="8229600" cy="677108"/>
          </a:xfrm>
        </p:spPr>
        <p:txBody>
          <a:bodyPr/>
          <a:lstStyle/>
          <a:p>
            <a:pPr algn="ctr" eaLnBrk="1" hangingPunct="1"/>
            <a:r>
              <a:rPr lang="en-US" altLang="en-US" sz="4400" dirty="0">
                <a:latin typeface="Times New Roman" panose="02020603050405020304" pitchFamily="18" charset="0"/>
                <a:cs typeface="Times New Roman" panose="02020603050405020304" pitchFamily="18" charset="0"/>
              </a:rPr>
              <a:t>Packages</a:t>
            </a:r>
            <a:r>
              <a:rPr lang="en-US" altLang="en-US" sz="4000" dirty="0">
                <a:latin typeface="Times New Roman" panose="02020603050405020304" pitchFamily="18" charset="0"/>
                <a:cs typeface="Times New Roman" panose="02020603050405020304" pitchFamily="18" charset="0"/>
              </a:rPr>
              <a:t>	</a:t>
            </a:r>
            <a:endParaRPr lang="en-US" altLang="en-US" sz="4000" dirty="0">
              <a:latin typeface="Times New Roman" panose="02020603050405020304" pitchFamily="18" charset="0"/>
            </a:endParaRPr>
          </a:p>
        </p:txBody>
      </p:sp>
      <p:sp>
        <p:nvSpPr>
          <p:cNvPr id="16389" name="Rectangle 3">
            <a:extLst>
              <a:ext uri="{FF2B5EF4-FFF2-40B4-BE49-F238E27FC236}">
                <a16:creationId xmlns:a16="http://schemas.microsoft.com/office/drawing/2014/main" id="{75156DCA-E679-4BC7-BABD-305E7349FC82}"/>
              </a:ext>
            </a:extLst>
          </p:cNvPr>
          <p:cNvSpPr>
            <a:spLocks noGrp="1" noChangeArrowheads="1"/>
          </p:cNvSpPr>
          <p:nvPr>
            <p:ph type="body" idx="1"/>
          </p:nvPr>
        </p:nvSpPr>
        <p:spPr>
          <a:xfrm>
            <a:off x="381000" y="1524000"/>
            <a:ext cx="8305800" cy="4985980"/>
          </a:xfrm>
        </p:spPr>
        <p:txBody>
          <a:bodyPr/>
          <a:lstStyle/>
          <a:p>
            <a:pPr marL="342900" indent="-342900" eaLnBrk="1" hangingPunct="1">
              <a:lnSpc>
                <a:spcPct val="90000"/>
              </a:lnSpc>
              <a:buFont typeface="Wingdings" panose="05000000000000000000" pitchFamily="2" charset="2"/>
              <a:buChar char="Ø"/>
            </a:pPr>
            <a:r>
              <a:rPr lang="en-US" altLang="en-US" sz="2400" dirty="0">
                <a:latin typeface="Times New Roman" panose="02020603050405020304" pitchFamily="18" charset="0"/>
              </a:rPr>
              <a:t>Package in java can be categorized in two form, built-in package and user-defined package.</a:t>
            </a:r>
          </a:p>
          <a:p>
            <a:pPr eaLnBrk="1" hangingPunct="1">
              <a:lnSpc>
                <a:spcPct val="90000"/>
              </a:lnSpc>
            </a:pPr>
            <a:r>
              <a:rPr lang="en-US" altLang="en-US" sz="2400" b="1" u="sng" dirty="0">
                <a:latin typeface="Times New Roman" panose="02020603050405020304" pitchFamily="18" charset="0"/>
              </a:rPr>
              <a:t>Two types of packages: </a:t>
            </a:r>
          </a:p>
          <a:p>
            <a:pPr marL="914400" lvl="1" indent="-457200">
              <a:lnSpc>
                <a:spcPct val="90000"/>
              </a:lnSpc>
              <a:buAutoNum type="arabicPeriod"/>
            </a:pPr>
            <a:r>
              <a:rPr lang="en-US" altLang="en-US" sz="2400" dirty="0">
                <a:latin typeface="Times New Roman" panose="02020603050405020304" pitchFamily="18" charset="0"/>
              </a:rPr>
              <a:t>Built-in packages </a:t>
            </a:r>
          </a:p>
          <a:p>
            <a:pPr marL="914400" lvl="1" indent="-457200">
              <a:lnSpc>
                <a:spcPct val="90000"/>
              </a:lnSpc>
              <a:buAutoNum type="arabicPeriod"/>
            </a:pPr>
            <a:r>
              <a:rPr lang="en-US" altLang="en-US" sz="2400" dirty="0">
                <a:latin typeface="Times New Roman" panose="02020603050405020304" pitchFamily="18" charset="0"/>
              </a:rPr>
              <a:t>User defined packages</a:t>
            </a:r>
          </a:p>
          <a:p>
            <a:pPr eaLnBrk="1" hangingPunct="1">
              <a:lnSpc>
                <a:spcPct val="90000"/>
              </a:lnSpc>
              <a:buFont typeface="Wingdings" panose="05000000000000000000" pitchFamily="2" charset="2"/>
              <a:buNone/>
            </a:pPr>
            <a:endParaRPr lang="en-US" altLang="en-US" sz="2400" b="1" u="sng" dirty="0">
              <a:latin typeface="Times New Roman" panose="02020603050405020304" pitchFamily="18" charset="0"/>
            </a:endParaRPr>
          </a:p>
          <a:p>
            <a:pPr eaLnBrk="1" hangingPunct="1">
              <a:lnSpc>
                <a:spcPct val="90000"/>
              </a:lnSpc>
              <a:buFont typeface="Wingdings" panose="05000000000000000000" pitchFamily="2" charset="2"/>
              <a:buNone/>
            </a:pPr>
            <a:r>
              <a:rPr lang="en-US" altLang="en-US" sz="2400" b="1" u="sng" dirty="0">
                <a:latin typeface="Times New Roman" panose="02020603050405020304" pitchFamily="18" charset="0"/>
              </a:rPr>
              <a:t>Java API Packages:</a:t>
            </a:r>
          </a:p>
          <a:p>
            <a:pPr eaLnBrk="1" hangingPunct="1">
              <a:lnSpc>
                <a:spcPct val="90000"/>
              </a:lnSpc>
            </a:pPr>
            <a:r>
              <a:rPr lang="en-US" altLang="en-US" sz="2400" dirty="0">
                <a:latin typeface="Times New Roman" panose="02020603050405020304" pitchFamily="18" charset="0"/>
              </a:rPr>
              <a:t>A large number of classes grouped into different packages based on functionality. Examples:</a:t>
            </a:r>
          </a:p>
          <a:p>
            <a:pPr eaLnBrk="1" hangingPunct="1">
              <a:lnSpc>
                <a:spcPct val="90000"/>
              </a:lnSpc>
              <a:buFont typeface="Wingdings" panose="05000000000000000000" pitchFamily="2" charset="2"/>
              <a:buNone/>
            </a:pPr>
            <a:r>
              <a:rPr lang="en-US" altLang="en-US" sz="2400" dirty="0">
                <a:latin typeface="Times New Roman" panose="02020603050405020304" pitchFamily="18" charset="0"/>
              </a:rPr>
              <a:t>	1. </a:t>
            </a:r>
            <a:r>
              <a:rPr lang="en-US" altLang="en-US" sz="2400" dirty="0" err="1">
                <a:latin typeface="Times New Roman" panose="02020603050405020304" pitchFamily="18" charset="0"/>
              </a:rPr>
              <a:t>java.lang</a:t>
            </a:r>
            <a:endParaRPr lang="en-US" altLang="en-US" sz="2400" dirty="0">
              <a:latin typeface="Times New Roman" panose="02020603050405020304" pitchFamily="18" charset="0"/>
            </a:endParaRPr>
          </a:p>
          <a:p>
            <a:pPr eaLnBrk="1" hangingPunct="1">
              <a:lnSpc>
                <a:spcPct val="90000"/>
              </a:lnSpc>
              <a:buFont typeface="Wingdings" panose="05000000000000000000" pitchFamily="2" charset="2"/>
              <a:buNone/>
            </a:pPr>
            <a:r>
              <a:rPr lang="en-US" altLang="en-US" sz="2400" dirty="0">
                <a:latin typeface="Times New Roman" panose="02020603050405020304" pitchFamily="18" charset="0"/>
              </a:rPr>
              <a:t>    	2. </a:t>
            </a:r>
            <a:r>
              <a:rPr lang="en-US" altLang="en-US" sz="2400" dirty="0" err="1">
                <a:latin typeface="Times New Roman" panose="02020603050405020304" pitchFamily="18" charset="0"/>
              </a:rPr>
              <a:t>java.util</a:t>
            </a:r>
            <a:endParaRPr lang="en-US" altLang="en-US" sz="2400" dirty="0">
              <a:latin typeface="Times New Roman" panose="02020603050405020304" pitchFamily="18" charset="0"/>
            </a:endParaRPr>
          </a:p>
          <a:p>
            <a:pPr eaLnBrk="1" hangingPunct="1">
              <a:lnSpc>
                <a:spcPct val="90000"/>
              </a:lnSpc>
              <a:buFont typeface="Wingdings" panose="05000000000000000000" pitchFamily="2" charset="2"/>
              <a:buNone/>
            </a:pPr>
            <a:r>
              <a:rPr lang="en-US" altLang="en-US" sz="2400" dirty="0">
                <a:latin typeface="Times New Roman" panose="02020603050405020304" pitchFamily="18" charset="0"/>
              </a:rPr>
              <a:t>	3. java.io</a:t>
            </a:r>
          </a:p>
          <a:p>
            <a:pPr eaLnBrk="1" hangingPunct="1">
              <a:lnSpc>
                <a:spcPct val="90000"/>
              </a:lnSpc>
              <a:buFont typeface="Wingdings" panose="05000000000000000000" pitchFamily="2" charset="2"/>
              <a:buNone/>
            </a:pPr>
            <a:r>
              <a:rPr lang="en-US" altLang="en-US" sz="2400" dirty="0">
                <a:latin typeface="Times New Roman" panose="02020603050405020304" pitchFamily="18" charset="0"/>
              </a:rPr>
              <a:t>	4. </a:t>
            </a:r>
            <a:r>
              <a:rPr lang="en-US" altLang="en-US" sz="2400" dirty="0" err="1">
                <a:latin typeface="Times New Roman" panose="02020603050405020304" pitchFamily="18" charset="0"/>
              </a:rPr>
              <a:t>java.awt</a:t>
            </a:r>
            <a:endParaRPr lang="en-US" altLang="en-US" sz="2400" dirty="0">
              <a:latin typeface="Times New Roman" panose="02020603050405020304" pitchFamily="18" charset="0"/>
            </a:endParaRPr>
          </a:p>
          <a:p>
            <a:pPr eaLnBrk="1" hangingPunct="1">
              <a:lnSpc>
                <a:spcPct val="90000"/>
              </a:lnSpc>
              <a:buFont typeface="Wingdings" panose="05000000000000000000" pitchFamily="2" charset="2"/>
              <a:buNone/>
            </a:pPr>
            <a:r>
              <a:rPr lang="en-US" altLang="en-US" sz="2400" dirty="0">
                <a:latin typeface="Times New Roman" panose="02020603050405020304" pitchFamily="18" charset="0"/>
              </a:rPr>
              <a:t>	5. java.net</a:t>
            </a:r>
          </a:p>
          <a:p>
            <a:pPr eaLnBrk="1" hangingPunct="1">
              <a:lnSpc>
                <a:spcPct val="90000"/>
              </a:lnSpc>
              <a:buFont typeface="Wingdings" panose="05000000000000000000" pitchFamily="2" charset="2"/>
              <a:buNone/>
            </a:pPr>
            <a:r>
              <a:rPr lang="en-US" altLang="en-US" sz="2400" dirty="0">
                <a:latin typeface="Times New Roman" panose="02020603050405020304" pitchFamily="18" charset="0"/>
              </a:rPr>
              <a:t>	6. java. applet etc.</a:t>
            </a:r>
          </a:p>
        </p:txBody>
      </p:sp>
      <p:sp>
        <p:nvSpPr>
          <p:cNvPr id="2" name="Slide Number Placeholder 4">
            <a:extLst>
              <a:ext uri="{FF2B5EF4-FFF2-40B4-BE49-F238E27FC236}">
                <a16:creationId xmlns:a16="http://schemas.microsoft.com/office/drawing/2014/main" id="{1C1B2712-7BCD-4E4C-9DB1-32C2357B463D}"/>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a:extLst>
              <a:ext uri="{FF2B5EF4-FFF2-40B4-BE49-F238E27FC236}">
                <a16:creationId xmlns:a16="http://schemas.microsoft.com/office/drawing/2014/main" id="{3F53F0CA-4153-4360-8E56-E368FCDCB205}"/>
              </a:ext>
            </a:extLst>
          </p:cNvPr>
          <p:cNvSpPr>
            <a:spLocks noGrp="1" noChangeArrowheads="1"/>
          </p:cNvSpPr>
          <p:nvPr>
            <p:ph type="title"/>
          </p:nvPr>
        </p:nvSpPr>
        <p:spPr>
          <a:xfrm>
            <a:off x="457200" y="274638"/>
            <a:ext cx="8229600" cy="677108"/>
          </a:xfrm>
        </p:spPr>
        <p:txBody>
          <a:bodyPr/>
          <a:lstStyle/>
          <a:p>
            <a:pPr algn="ctr" eaLnBrk="1" hangingPunct="1"/>
            <a:r>
              <a:rPr lang="en-US" altLang="en-US" sz="4400" b="1" dirty="0">
                <a:latin typeface="Times New Roman" panose="02020603050405020304" pitchFamily="18" charset="0"/>
              </a:rPr>
              <a:t>Package</a:t>
            </a:r>
          </a:p>
        </p:txBody>
      </p:sp>
      <p:sp>
        <p:nvSpPr>
          <p:cNvPr id="17413" name="Rectangle 3">
            <a:extLst>
              <a:ext uri="{FF2B5EF4-FFF2-40B4-BE49-F238E27FC236}">
                <a16:creationId xmlns:a16="http://schemas.microsoft.com/office/drawing/2014/main" id="{CC5B6CC3-C3C4-4A8A-BCF9-939D4E8F1629}"/>
              </a:ext>
            </a:extLst>
          </p:cNvPr>
          <p:cNvSpPr>
            <a:spLocks noChangeArrowheads="1"/>
          </p:cNvSpPr>
          <p:nvPr/>
        </p:nvSpPr>
        <p:spPr bwMode="auto">
          <a:xfrm>
            <a:off x="838200" y="1706618"/>
            <a:ext cx="3962400" cy="4465582"/>
          </a:xfrm>
          <a:prstGeom prst="rect">
            <a:avLst/>
          </a:prstGeom>
          <a:solidFill>
            <a:schemeClr val="bg1"/>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7414" name="Rectangle 4">
            <a:extLst>
              <a:ext uri="{FF2B5EF4-FFF2-40B4-BE49-F238E27FC236}">
                <a16:creationId xmlns:a16="http://schemas.microsoft.com/office/drawing/2014/main" id="{56F90010-9740-407A-BA09-ADFD0D2747EE}"/>
              </a:ext>
            </a:extLst>
          </p:cNvPr>
          <p:cNvSpPr>
            <a:spLocks noChangeArrowheads="1"/>
          </p:cNvSpPr>
          <p:nvPr/>
        </p:nvSpPr>
        <p:spPr bwMode="auto">
          <a:xfrm>
            <a:off x="1143000" y="2303408"/>
            <a:ext cx="3276600" cy="3563992"/>
          </a:xfrm>
          <a:prstGeom prst="rect">
            <a:avLst/>
          </a:prstGeom>
          <a:solidFill>
            <a:schemeClr val="bg1"/>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7415" name="Rectangle 5">
            <a:extLst>
              <a:ext uri="{FF2B5EF4-FFF2-40B4-BE49-F238E27FC236}">
                <a16:creationId xmlns:a16="http://schemas.microsoft.com/office/drawing/2014/main" id="{AEC86D5A-1146-4AD3-BCB4-5F5337F883E1}"/>
              </a:ext>
            </a:extLst>
          </p:cNvPr>
          <p:cNvSpPr>
            <a:spLocks noChangeArrowheads="1"/>
          </p:cNvSpPr>
          <p:nvPr/>
        </p:nvSpPr>
        <p:spPr bwMode="auto">
          <a:xfrm>
            <a:off x="1676400" y="2438400"/>
            <a:ext cx="1905000" cy="457200"/>
          </a:xfrm>
          <a:prstGeom prst="rect">
            <a:avLst/>
          </a:prstGeom>
          <a:solidFill>
            <a:schemeClr val="bg1"/>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rPr>
              <a:t>Color</a:t>
            </a:r>
          </a:p>
        </p:txBody>
      </p:sp>
      <p:sp>
        <p:nvSpPr>
          <p:cNvPr id="17416" name="Rectangle 6">
            <a:extLst>
              <a:ext uri="{FF2B5EF4-FFF2-40B4-BE49-F238E27FC236}">
                <a16:creationId xmlns:a16="http://schemas.microsoft.com/office/drawing/2014/main" id="{6EFE106E-6309-4C5C-AE28-106DB5608A1C}"/>
              </a:ext>
            </a:extLst>
          </p:cNvPr>
          <p:cNvSpPr>
            <a:spLocks noChangeArrowheads="1"/>
          </p:cNvSpPr>
          <p:nvPr/>
        </p:nvSpPr>
        <p:spPr bwMode="auto">
          <a:xfrm>
            <a:off x="1676400" y="3124200"/>
            <a:ext cx="1905000" cy="457200"/>
          </a:xfrm>
          <a:prstGeom prst="rect">
            <a:avLst/>
          </a:prstGeom>
          <a:solidFill>
            <a:schemeClr val="bg1"/>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rPr>
              <a:t>Graphics</a:t>
            </a:r>
          </a:p>
        </p:txBody>
      </p:sp>
      <p:sp>
        <p:nvSpPr>
          <p:cNvPr id="17417" name="Rectangle 7">
            <a:extLst>
              <a:ext uri="{FF2B5EF4-FFF2-40B4-BE49-F238E27FC236}">
                <a16:creationId xmlns:a16="http://schemas.microsoft.com/office/drawing/2014/main" id="{49365925-6412-467A-8E52-B62CE1500315}"/>
              </a:ext>
            </a:extLst>
          </p:cNvPr>
          <p:cNvSpPr>
            <a:spLocks noChangeArrowheads="1"/>
          </p:cNvSpPr>
          <p:nvPr/>
        </p:nvSpPr>
        <p:spPr bwMode="auto">
          <a:xfrm>
            <a:off x="1676400" y="4953000"/>
            <a:ext cx="1905000" cy="457200"/>
          </a:xfrm>
          <a:prstGeom prst="rect">
            <a:avLst/>
          </a:prstGeom>
          <a:solidFill>
            <a:schemeClr val="bg1"/>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rPr>
              <a:t>Image</a:t>
            </a:r>
          </a:p>
        </p:txBody>
      </p:sp>
      <p:sp>
        <p:nvSpPr>
          <p:cNvPr id="17418" name="Line 8">
            <a:extLst>
              <a:ext uri="{FF2B5EF4-FFF2-40B4-BE49-F238E27FC236}">
                <a16:creationId xmlns:a16="http://schemas.microsoft.com/office/drawing/2014/main" id="{04BCFDC6-0BE0-4596-A267-96D0FDC1B00C}"/>
              </a:ext>
            </a:extLst>
          </p:cNvPr>
          <p:cNvSpPr>
            <a:spLocks noChangeShapeType="1"/>
          </p:cNvSpPr>
          <p:nvPr/>
        </p:nvSpPr>
        <p:spPr bwMode="auto">
          <a:xfrm>
            <a:off x="2514600" y="3657600"/>
            <a:ext cx="0" cy="114300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419" name="Text Box 9">
            <a:extLst>
              <a:ext uri="{FF2B5EF4-FFF2-40B4-BE49-F238E27FC236}">
                <a16:creationId xmlns:a16="http://schemas.microsoft.com/office/drawing/2014/main" id="{D1528A20-5152-410A-B153-21357B8D1428}"/>
              </a:ext>
            </a:extLst>
          </p:cNvPr>
          <p:cNvSpPr txBox="1">
            <a:spLocks noChangeArrowheads="1"/>
          </p:cNvSpPr>
          <p:nvPr/>
        </p:nvSpPr>
        <p:spPr bwMode="auto">
          <a:xfrm>
            <a:off x="854177" y="1365179"/>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Java</a:t>
            </a:r>
          </a:p>
        </p:txBody>
      </p:sp>
      <p:sp>
        <p:nvSpPr>
          <p:cNvPr id="17420" name="Text Box 10">
            <a:extLst>
              <a:ext uri="{FF2B5EF4-FFF2-40B4-BE49-F238E27FC236}">
                <a16:creationId xmlns:a16="http://schemas.microsoft.com/office/drawing/2014/main" id="{9FB968C9-293B-480C-AFF5-E19FD92EA142}"/>
              </a:ext>
            </a:extLst>
          </p:cNvPr>
          <p:cNvSpPr txBox="1">
            <a:spLocks noChangeArrowheads="1"/>
          </p:cNvSpPr>
          <p:nvPr/>
        </p:nvSpPr>
        <p:spPr bwMode="auto">
          <a:xfrm>
            <a:off x="1292942" y="1923955"/>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awt</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7421" name="Text Box 11">
            <a:extLst>
              <a:ext uri="{FF2B5EF4-FFF2-40B4-BE49-F238E27FC236}">
                <a16:creationId xmlns:a16="http://schemas.microsoft.com/office/drawing/2014/main" id="{5AE32F9C-8E14-4ED0-BF72-6EA883980E2B}"/>
              </a:ext>
            </a:extLst>
          </p:cNvPr>
          <p:cNvSpPr txBox="1">
            <a:spLocks noChangeArrowheads="1"/>
          </p:cNvSpPr>
          <p:nvPr/>
        </p:nvSpPr>
        <p:spPr bwMode="auto">
          <a:xfrm>
            <a:off x="5474110" y="1523261"/>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Package containing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awt</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package</a:t>
            </a:r>
          </a:p>
        </p:txBody>
      </p:sp>
      <p:sp>
        <p:nvSpPr>
          <p:cNvPr id="17422" name="Text Box 12">
            <a:extLst>
              <a:ext uri="{FF2B5EF4-FFF2-40B4-BE49-F238E27FC236}">
                <a16:creationId xmlns:a16="http://schemas.microsoft.com/office/drawing/2014/main" id="{5AF5E86B-1FF0-44B7-8EB9-6B986817D0CE}"/>
              </a:ext>
            </a:extLst>
          </p:cNvPr>
          <p:cNvSpPr txBox="1">
            <a:spLocks noChangeArrowheads="1"/>
          </p:cNvSpPr>
          <p:nvPr/>
        </p:nvSpPr>
        <p:spPr bwMode="auto">
          <a:xfrm>
            <a:off x="5486400" y="2528888"/>
            <a:ext cx="320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rPr>
              <a:t>Package containing classes</a:t>
            </a:r>
          </a:p>
        </p:txBody>
      </p:sp>
      <p:sp>
        <p:nvSpPr>
          <p:cNvPr id="17423" name="Line 13">
            <a:extLst>
              <a:ext uri="{FF2B5EF4-FFF2-40B4-BE49-F238E27FC236}">
                <a16:creationId xmlns:a16="http://schemas.microsoft.com/office/drawing/2014/main" id="{05A49192-FCC9-4AD5-AE1A-CC320D18AEC3}"/>
              </a:ext>
            </a:extLst>
          </p:cNvPr>
          <p:cNvSpPr>
            <a:spLocks noChangeShapeType="1"/>
          </p:cNvSpPr>
          <p:nvPr/>
        </p:nvSpPr>
        <p:spPr bwMode="auto">
          <a:xfrm flipH="1">
            <a:off x="4800600" y="1718648"/>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424" name="Line 14">
            <a:extLst>
              <a:ext uri="{FF2B5EF4-FFF2-40B4-BE49-F238E27FC236}">
                <a16:creationId xmlns:a16="http://schemas.microsoft.com/office/drawing/2014/main" id="{917DAB1C-CD4A-4FFC-8418-47D12CD076B3}"/>
              </a:ext>
            </a:extLst>
          </p:cNvPr>
          <p:cNvSpPr>
            <a:spLocks noChangeShapeType="1"/>
          </p:cNvSpPr>
          <p:nvPr/>
        </p:nvSpPr>
        <p:spPr bwMode="auto">
          <a:xfrm flipH="1">
            <a:off x="4267200" y="27432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Slide Number Placeholder 4">
            <a:extLst>
              <a:ext uri="{FF2B5EF4-FFF2-40B4-BE49-F238E27FC236}">
                <a16:creationId xmlns:a16="http://schemas.microsoft.com/office/drawing/2014/main" id="{DF9039F3-2645-40DF-95F5-B4E54B40F09E}"/>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a:extLst>
              <a:ext uri="{FF2B5EF4-FFF2-40B4-BE49-F238E27FC236}">
                <a16:creationId xmlns:a16="http://schemas.microsoft.com/office/drawing/2014/main" id="{811BB595-3C77-434A-9B28-DF1A25064D5A}"/>
              </a:ext>
            </a:extLst>
          </p:cNvPr>
          <p:cNvSpPr>
            <a:spLocks noGrp="1" noChangeArrowheads="1"/>
          </p:cNvSpPr>
          <p:nvPr>
            <p:ph type="title"/>
          </p:nvPr>
        </p:nvSpPr>
        <p:spPr>
          <a:xfrm>
            <a:off x="457200" y="274638"/>
            <a:ext cx="8229600" cy="677108"/>
          </a:xfrm>
        </p:spPr>
        <p:txBody>
          <a:bodyPr/>
          <a:lstStyle/>
          <a:p>
            <a:pPr algn="ctr" eaLnBrk="1" hangingPunct="1"/>
            <a:r>
              <a:rPr lang="en-US" altLang="en-US" sz="4400" dirty="0">
                <a:latin typeface="Times New Roman" panose="02020603050405020304" pitchFamily="18" charset="0"/>
                <a:cs typeface="Times New Roman" panose="02020603050405020304" pitchFamily="18" charset="0"/>
              </a:rPr>
              <a:t>Packages</a:t>
            </a:r>
            <a:r>
              <a:rPr lang="en-US" altLang="en-US" sz="4000" dirty="0">
                <a:latin typeface="Times New Roman" panose="02020603050405020304" pitchFamily="18" charset="0"/>
                <a:cs typeface="Times New Roman" panose="02020603050405020304" pitchFamily="18" charset="0"/>
              </a:rPr>
              <a:t>	</a:t>
            </a:r>
            <a:endParaRPr lang="en-US" altLang="en-US" sz="4000" dirty="0">
              <a:latin typeface="Times New Roman" panose="02020603050405020304" pitchFamily="18" charset="0"/>
            </a:endParaRPr>
          </a:p>
        </p:txBody>
      </p:sp>
      <p:sp>
        <p:nvSpPr>
          <p:cNvPr id="2" name="Slide Number Placeholder 4">
            <a:extLst>
              <a:ext uri="{FF2B5EF4-FFF2-40B4-BE49-F238E27FC236}">
                <a16:creationId xmlns:a16="http://schemas.microsoft.com/office/drawing/2014/main" id="{1C1B2712-7BCD-4E4C-9DB1-32C2357B463D}"/>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10" name="Picture 9">
            <a:extLst>
              <a:ext uri="{FF2B5EF4-FFF2-40B4-BE49-F238E27FC236}">
                <a16:creationId xmlns:a16="http://schemas.microsoft.com/office/drawing/2014/main" id="{4FF8A36C-F659-4DC3-981B-81C7FB7A0F2E}"/>
              </a:ext>
            </a:extLst>
          </p:cNvPr>
          <p:cNvPicPr>
            <a:picLocks noChangeAspect="1"/>
          </p:cNvPicPr>
          <p:nvPr/>
        </p:nvPicPr>
        <p:blipFill>
          <a:blip r:embed="rId2"/>
          <a:stretch>
            <a:fillRect/>
          </a:stretch>
        </p:blipFill>
        <p:spPr>
          <a:xfrm>
            <a:off x="144249" y="1524000"/>
            <a:ext cx="8820150" cy="4829175"/>
          </a:xfrm>
          <a:prstGeom prst="rect">
            <a:avLst/>
          </a:prstGeom>
        </p:spPr>
      </p:pic>
    </p:spTree>
    <p:extLst>
      <p:ext uri="{BB962C8B-B14F-4D97-AF65-F5344CB8AC3E}">
        <p14:creationId xmlns:p14="http://schemas.microsoft.com/office/powerpoint/2010/main" val="16898537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EAE68F34-A886-4860-88F2-27D8D8315FB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F1040"/>
              </a:solidFill>
              <a:effectLst/>
              <a:uLnTx/>
              <a:uFillTx/>
              <a:latin typeface="Arial" panose="020B0604020202020204"/>
              <a:ea typeface="+mn-ea"/>
              <a:cs typeface="Arial" panose="020B0604020202020204"/>
            </a:endParaRPr>
          </a:p>
        </p:txBody>
      </p:sp>
      <p:sp>
        <p:nvSpPr>
          <p:cNvPr id="19460" name="Rectangle 2">
            <a:extLst>
              <a:ext uri="{FF2B5EF4-FFF2-40B4-BE49-F238E27FC236}">
                <a16:creationId xmlns:a16="http://schemas.microsoft.com/office/drawing/2014/main" id="{39FBCFF2-00F5-445C-B50C-97BC97767E54}"/>
              </a:ext>
            </a:extLst>
          </p:cNvPr>
          <p:cNvSpPr>
            <a:spLocks noGrp="1" noChangeArrowheads="1"/>
          </p:cNvSpPr>
          <p:nvPr>
            <p:ph type="title"/>
          </p:nvPr>
        </p:nvSpPr>
        <p:spPr>
          <a:xfrm>
            <a:off x="0" y="523179"/>
            <a:ext cx="9066530" cy="615553"/>
          </a:xfrm>
        </p:spPr>
        <p:txBody>
          <a:bodyPr/>
          <a:lstStyle/>
          <a:p>
            <a:pPr algn="ctr" eaLnBrk="1" hangingPunct="1"/>
            <a:r>
              <a:rPr lang="en-US" altLang="en-US" sz="4000" b="1" dirty="0">
                <a:latin typeface="Times New Roman" panose="02020603050405020304" pitchFamily="18" charset="0"/>
              </a:rPr>
              <a:t>Creating Your Own Package</a:t>
            </a:r>
          </a:p>
        </p:txBody>
      </p:sp>
      <p:sp>
        <p:nvSpPr>
          <p:cNvPr id="9219" name="Rectangle 3">
            <a:extLst>
              <a:ext uri="{FF2B5EF4-FFF2-40B4-BE49-F238E27FC236}">
                <a16:creationId xmlns:a16="http://schemas.microsoft.com/office/drawing/2014/main" id="{5B38D933-1768-4875-A04A-33CCA75C59EB}"/>
              </a:ext>
            </a:extLst>
          </p:cNvPr>
          <p:cNvSpPr>
            <a:spLocks noGrp="1" noChangeArrowheads="1"/>
          </p:cNvSpPr>
          <p:nvPr>
            <p:ph type="body" sz="half" idx="1"/>
          </p:nvPr>
        </p:nvSpPr>
        <p:spPr>
          <a:xfrm>
            <a:off x="218235" y="1462378"/>
            <a:ext cx="4033838" cy="4616648"/>
          </a:xfrm>
        </p:spPr>
        <p:txBody>
          <a:bodyPr/>
          <a:lstStyle/>
          <a:p>
            <a:pPr marL="457200" indent="-457200" algn="just" eaLnBrk="1" hangingPunct="1">
              <a:buFont typeface="Wingdings" panose="05000000000000000000" pitchFamily="2" charset="2"/>
              <a:buAutoNum type="arabicPeriod"/>
            </a:pPr>
            <a:r>
              <a:rPr lang="en-US" altLang="en-US" sz="2000" dirty="0">
                <a:latin typeface="Times New Roman" panose="02020603050405020304" pitchFamily="18" charset="0"/>
              </a:rPr>
              <a:t>Declare the package at the beginning of a file using the form</a:t>
            </a:r>
          </a:p>
          <a:p>
            <a:pPr marL="457200" indent="-457200" algn="just" eaLnBrk="1" hangingPunct="1">
              <a:buFont typeface="Wingdings" panose="05000000000000000000" pitchFamily="2" charset="2"/>
              <a:buNone/>
            </a:pPr>
            <a:r>
              <a:rPr lang="en-US" altLang="en-US" sz="2000" dirty="0">
                <a:latin typeface="Times New Roman" panose="02020603050405020304" pitchFamily="18" charset="0"/>
              </a:rPr>
              <a:t>		</a:t>
            </a:r>
            <a:r>
              <a:rPr lang="en-US" altLang="en-US" sz="2000" b="1" dirty="0">
                <a:latin typeface="Times New Roman" panose="02020603050405020304" pitchFamily="18" charset="0"/>
              </a:rPr>
              <a:t>package</a:t>
            </a:r>
            <a:r>
              <a:rPr lang="en-US" altLang="en-US" sz="2000" dirty="0">
                <a:latin typeface="Times New Roman" panose="02020603050405020304" pitchFamily="18" charset="0"/>
              </a:rPr>
              <a:t> </a:t>
            </a:r>
            <a:r>
              <a:rPr lang="en-US" altLang="en-US" sz="2000" i="1" dirty="0" err="1">
                <a:latin typeface="Times New Roman" panose="02020603050405020304" pitchFamily="18" charset="0"/>
              </a:rPr>
              <a:t>packagename</a:t>
            </a:r>
            <a:r>
              <a:rPr lang="en-US" altLang="en-US" sz="2000" i="1" dirty="0">
                <a:latin typeface="Times New Roman" panose="02020603050405020304" pitchFamily="18" charset="0"/>
              </a:rPr>
              <a:t>;</a:t>
            </a:r>
          </a:p>
          <a:p>
            <a:pPr marL="457200" indent="-457200" algn="just" eaLnBrk="1" hangingPunct="1">
              <a:buFont typeface="Wingdings" panose="05000000000000000000" pitchFamily="2" charset="2"/>
              <a:buNone/>
            </a:pPr>
            <a:r>
              <a:rPr lang="en-US" altLang="en-US" sz="2000" dirty="0">
                <a:latin typeface="Times New Roman" panose="02020603050405020304" pitchFamily="18" charset="0"/>
              </a:rPr>
              <a:t>2.    Define the class that is to be put in the package and declare it </a:t>
            </a:r>
            <a:r>
              <a:rPr lang="en-US" altLang="en-US" sz="2000" b="1" dirty="0">
                <a:latin typeface="Times New Roman" panose="02020603050405020304" pitchFamily="18" charset="0"/>
              </a:rPr>
              <a:t>public</a:t>
            </a:r>
            <a:r>
              <a:rPr lang="en-US" altLang="en-US" sz="2000" dirty="0">
                <a:latin typeface="Times New Roman" panose="02020603050405020304" pitchFamily="18" charset="0"/>
              </a:rPr>
              <a:t>(optional)</a:t>
            </a:r>
          </a:p>
          <a:p>
            <a:pPr marL="457200" indent="-457200" algn="just" eaLnBrk="1" hangingPunct="1">
              <a:buFont typeface="Wingdings" panose="05000000000000000000" pitchFamily="2" charset="2"/>
              <a:buAutoNum type="arabicPeriod" startAt="3"/>
            </a:pPr>
            <a:r>
              <a:rPr lang="en-US" altLang="en-US" sz="2000" dirty="0">
                <a:latin typeface="Times New Roman" panose="02020603050405020304" pitchFamily="18" charset="0"/>
              </a:rPr>
              <a:t>Create a subdirectory under the directory where the main source files are stored</a:t>
            </a:r>
          </a:p>
          <a:p>
            <a:pPr marL="457200" indent="-457200" algn="just" eaLnBrk="1" hangingPunct="1">
              <a:buFontTx/>
              <a:buNone/>
            </a:pPr>
            <a:r>
              <a:rPr lang="en-US" altLang="en-US" sz="2000" dirty="0">
                <a:latin typeface="Times New Roman" panose="02020603050405020304" pitchFamily="18" charset="0"/>
              </a:rPr>
              <a:t>      </a:t>
            </a:r>
            <a:r>
              <a:rPr lang="en-US" altLang="en-US" sz="2000" dirty="0">
                <a:solidFill>
                  <a:srgbClr val="FF0000"/>
                </a:solidFill>
                <a:latin typeface="Times New Roman" panose="02020603050405020304" pitchFamily="18" charset="0"/>
              </a:rPr>
              <a:t>  (or </a:t>
            </a:r>
            <a:r>
              <a:rPr lang="en-US" altLang="en-US" sz="2000" dirty="0" err="1">
                <a:solidFill>
                  <a:srgbClr val="FF0000"/>
                </a:solidFill>
                <a:latin typeface="Times New Roman" panose="02020603050405020304" pitchFamily="18" charset="0"/>
              </a:rPr>
              <a:t>javac</a:t>
            </a:r>
            <a:r>
              <a:rPr lang="en-US" altLang="en-US" sz="2000" dirty="0">
                <a:solidFill>
                  <a:srgbClr val="FF0000"/>
                </a:solidFill>
                <a:latin typeface="Times New Roman" panose="02020603050405020304" pitchFamily="18" charset="0"/>
              </a:rPr>
              <a:t> – d  .  File.java)</a:t>
            </a:r>
          </a:p>
          <a:p>
            <a:pPr marL="457200" indent="-457200" algn="just" eaLnBrk="1" hangingPunct="1">
              <a:buFont typeface="Wingdings" panose="05000000000000000000" pitchFamily="2" charset="2"/>
              <a:buAutoNum type="arabicPeriod" startAt="3"/>
            </a:pPr>
            <a:r>
              <a:rPr lang="en-US" altLang="en-US" sz="2000" dirty="0">
                <a:latin typeface="Times New Roman" panose="02020603050405020304" pitchFamily="18" charset="0"/>
              </a:rPr>
              <a:t>Store the listing as classname.java in the subdirectory created.</a:t>
            </a:r>
          </a:p>
          <a:p>
            <a:pPr marL="457200" indent="-457200" algn="just" eaLnBrk="1" hangingPunct="1">
              <a:buFont typeface="Wingdings" panose="05000000000000000000" pitchFamily="2" charset="2"/>
              <a:buAutoNum type="arabicPeriod" startAt="3"/>
            </a:pPr>
            <a:r>
              <a:rPr lang="en-US" altLang="en-US" sz="2000" dirty="0">
                <a:latin typeface="Times New Roman" panose="02020603050405020304" pitchFamily="18" charset="0"/>
              </a:rPr>
              <a:t>Compile the file. From subdirectory.</a:t>
            </a:r>
          </a:p>
          <a:p>
            <a:pPr marL="457200" indent="-457200" algn="just" eaLnBrk="1" hangingPunct="1">
              <a:buFont typeface="Wingdings" panose="05000000000000000000" pitchFamily="2" charset="2"/>
              <a:buAutoNum type="arabicPeriod" startAt="3"/>
            </a:pPr>
            <a:endParaRPr lang="en-US" altLang="en-US" sz="2000" dirty="0">
              <a:latin typeface="Times New Roman" panose="02020603050405020304" pitchFamily="18" charset="0"/>
            </a:endParaRPr>
          </a:p>
        </p:txBody>
      </p:sp>
      <p:sp>
        <p:nvSpPr>
          <p:cNvPr id="9220" name="Rectangle 4">
            <a:extLst>
              <a:ext uri="{FF2B5EF4-FFF2-40B4-BE49-F238E27FC236}">
                <a16:creationId xmlns:a16="http://schemas.microsoft.com/office/drawing/2014/main" id="{DDE2E05B-FED1-4A98-963F-0EBDBB4B9DCB}"/>
              </a:ext>
            </a:extLst>
          </p:cNvPr>
          <p:cNvSpPr>
            <a:spLocks noGrp="1" noChangeArrowheads="1"/>
          </p:cNvSpPr>
          <p:nvPr>
            <p:ph type="body" sz="half" idx="2"/>
          </p:nvPr>
        </p:nvSpPr>
        <p:spPr>
          <a:xfrm>
            <a:off x="5144576" y="1998692"/>
            <a:ext cx="4033837" cy="3016210"/>
          </a:xfrm>
        </p:spPr>
        <p:txBody>
          <a:bodyPr/>
          <a:lstStyle/>
          <a:p>
            <a:pPr eaLnBrk="1" hangingPunct="1">
              <a:buFontTx/>
              <a:buNone/>
            </a:pPr>
            <a:r>
              <a:rPr lang="en-US" altLang="en-US" b="1" dirty="0">
                <a:latin typeface="Times New Roman" panose="02020603050405020304" pitchFamily="18" charset="0"/>
              </a:rPr>
              <a:t>Example:</a:t>
            </a:r>
          </a:p>
          <a:p>
            <a:pPr eaLnBrk="1" hangingPunct="1">
              <a:buFontTx/>
              <a:buNone/>
            </a:pPr>
            <a:r>
              <a:rPr lang="en-US" altLang="en-US" b="1" dirty="0">
                <a:latin typeface="Times New Roman" panose="02020603050405020304" pitchFamily="18" charset="0"/>
              </a:rPr>
              <a:t>package </a:t>
            </a:r>
            <a:r>
              <a:rPr lang="en-US" altLang="en-US" b="1" dirty="0" err="1">
                <a:latin typeface="Times New Roman" panose="02020603050405020304" pitchFamily="18" charset="0"/>
              </a:rPr>
              <a:t>mypack</a:t>
            </a:r>
            <a:r>
              <a:rPr lang="en-US" altLang="en-US" b="1" dirty="0">
                <a:latin typeface="Times New Roman" panose="02020603050405020304" pitchFamily="18" charset="0"/>
              </a:rPr>
              <a:t>; </a:t>
            </a:r>
          </a:p>
          <a:p>
            <a:pPr eaLnBrk="1" hangingPunct="1">
              <a:buFontTx/>
              <a:buNone/>
            </a:pPr>
            <a:endParaRPr lang="en-US" altLang="en-US" b="1" dirty="0">
              <a:latin typeface="Times New Roman" panose="02020603050405020304" pitchFamily="18" charset="0"/>
            </a:endParaRPr>
          </a:p>
          <a:p>
            <a:pPr eaLnBrk="1" hangingPunct="1">
              <a:buFontTx/>
              <a:buNone/>
            </a:pPr>
            <a:r>
              <a:rPr lang="en-US" altLang="en-US" b="1" dirty="0">
                <a:latin typeface="Times New Roman" panose="02020603050405020304" pitchFamily="18" charset="0"/>
              </a:rPr>
              <a:t>public class Simple</a:t>
            </a:r>
          </a:p>
          <a:p>
            <a:pPr eaLnBrk="1" hangingPunct="1">
              <a:buFontTx/>
              <a:buNone/>
            </a:pPr>
            <a:r>
              <a:rPr lang="en-US" altLang="en-US" b="1" dirty="0">
                <a:latin typeface="Times New Roman" panose="02020603050405020304" pitchFamily="18" charset="0"/>
              </a:rPr>
              <a:t>{</a:t>
            </a:r>
          </a:p>
          <a:p>
            <a:pPr eaLnBrk="1" hangingPunct="1">
              <a:buFontTx/>
              <a:buNone/>
            </a:pPr>
            <a:r>
              <a:rPr lang="en-US" altLang="en-US" b="1" dirty="0">
                <a:latin typeface="Times New Roman" panose="02020603050405020304" pitchFamily="18" charset="0"/>
              </a:rPr>
              <a:t>	//Body of the class</a:t>
            </a:r>
          </a:p>
          <a:p>
            <a:pPr eaLnBrk="1" hangingPunct="1">
              <a:buFontTx/>
              <a:buNone/>
            </a:pPr>
            <a:r>
              <a:rPr lang="en-US" altLang="en-US" b="1" dirty="0">
                <a:latin typeface="Times New Roman" panose="02020603050405020304" pitchFamily="18" charset="0"/>
              </a:rPr>
              <a:t>}</a:t>
            </a:r>
          </a:p>
        </p:txBody>
      </p:sp>
      <p:sp>
        <p:nvSpPr>
          <p:cNvPr id="2" name="Slide Number Placeholder 4">
            <a:extLst>
              <a:ext uri="{FF2B5EF4-FFF2-40B4-BE49-F238E27FC236}">
                <a16:creationId xmlns:a16="http://schemas.microsoft.com/office/drawing/2014/main" id="{79294214-0050-45EC-A613-A893C670E319}"/>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graphicFrame>
        <p:nvGraphicFramePr>
          <p:cNvPr id="5" name="Table 4">
            <a:extLst>
              <a:ext uri="{FF2B5EF4-FFF2-40B4-BE49-F238E27FC236}">
                <a16:creationId xmlns:a16="http://schemas.microsoft.com/office/drawing/2014/main" id="{66AE1A94-80CF-499A-BE75-D4B6B0FAB53E}"/>
              </a:ext>
            </a:extLst>
          </p:cNvPr>
          <p:cNvGraphicFramePr>
            <a:graphicFrameLocks noGrp="1"/>
          </p:cNvGraphicFramePr>
          <p:nvPr/>
        </p:nvGraphicFramePr>
        <p:xfrm>
          <a:off x="2266716" y="5745221"/>
          <a:ext cx="6799814" cy="731520"/>
        </p:xfrm>
        <a:graphic>
          <a:graphicData uri="http://schemas.openxmlformats.org/drawingml/2006/table">
            <a:tbl>
              <a:tblPr/>
              <a:tblGrid>
                <a:gridCol w="6799814">
                  <a:extLst>
                    <a:ext uri="{9D8B030D-6E8A-4147-A177-3AD203B41FA5}">
                      <a16:colId xmlns:a16="http://schemas.microsoft.com/office/drawing/2014/main" val="3295501225"/>
                    </a:ext>
                  </a:extLst>
                </a:gridCol>
              </a:tblGrid>
              <a:tr h="0">
                <a:tc>
                  <a:txBody>
                    <a:bodyPr/>
                    <a:lstStyle/>
                    <a:p>
                      <a:r>
                        <a:rPr lang="en-IN" b="1" dirty="0">
                          <a:solidFill>
                            <a:srgbClr val="000000"/>
                          </a:solidFill>
                          <a:effectLst/>
                          <a:latin typeface="verdana" panose="020B0604030504040204" pitchFamily="34" charset="0"/>
                        </a:rPr>
                        <a:t>To Compile:</a:t>
                      </a:r>
                      <a:r>
                        <a:rPr lang="en-IN" dirty="0">
                          <a:solidFill>
                            <a:srgbClr val="000000"/>
                          </a:solidFill>
                          <a:effectLst/>
                          <a:latin typeface="verdana" panose="020B0604030504040204" pitchFamily="34" charset="0"/>
                        </a:rPr>
                        <a:t> </a:t>
                      </a:r>
                      <a:r>
                        <a:rPr lang="en-IN" dirty="0" err="1">
                          <a:solidFill>
                            <a:srgbClr val="000000"/>
                          </a:solidFill>
                          <a:effectLst/>
                          <a:latin typeface="verdana" panose="020B0604030504040204" pitchFamily="34" charset="0"/>
                        </a:rPr>
                        <a:t>javac</a:t>
                      </a:r>
                      <a:r>
                        <a:rPr lang="en-IN" dirty="0">
                          <a:solidFill>
                            <a:srgbClr val="000000"/>
                          </a:solidFill>
                          <a:effectLst/>
                          <a:latin typeface="verdana" panose="020B0604030504040204" pitchFamily="34" charset="0"/>
                        </a:rPr>
                        <a:t> -d . Simple.java</a:t>
                      </a:r>
                    </a:p>
                  </a:txBody>
                  <a:tcPr anchor="ctr">
                    <a:lnL>
                      <a:noFill/>
                    </a:lnL>
                    <a:lnR>
                      <a:noFill/>
                    </a:lnR>
                    <a:lnT>
                      <a:noFill/>
                    </a:lnT>
                    <a:lnB>
                      <a:noFill/>
                    </a:lnB>
                    <a:solidFill>
                      <a:srgbClr val="FFFFFF"/>
                    </a:solidFill>
                  </a:tcPr>
                </a:tc>
                <a:extLst>
                  <a:ext uri="{0D108BD9-81ED-4DB2-BD59-A6C34878D82A}">
                    <a16:rowId xmlns:a16="http://schemas.microsoft.com/office/drawing/2014/main" val="1091636260"/>
                  </a:ext>
                </a:extLst>
              </a:tr>
              <a:tr h="0">
                <a:tc>
                  <a:txBody>
                    <a:bodyPr/>
                    <a:lstStyle/>
                    <a:p>
                      <a:r>
                        <a:rPr lang="en-US" b="1" dirty="0">
                          <a:solidFill>
                            <a:srgbClr val="000000"/>
                          </a:solidFill>
                          <a:effectLst/>
                          <a:latin typeface="verdana" panose="020B0604030504040204" pitchFamily="34" charset="0"/>
                        </a:rPr>
                        <a:t>To Run:</a:t>
                      </a:r>
                      <a:r>
                        <a:rPr lang="en-US" dirty="0">
                          <a:solidFill>
                            <a:srgbClr val="000000"/>
                          </a:solidFill>
                          <a:effectLst/>
                          <a:latin typeface="verdana" panose="020B0604030504040204" pitchFamily="34" charset="0"/>
                        </a:rPr>
                        <a:t> java </a:t>
                      </a:r>
                      <a:r>
                        <a:rPr lang="en-US" dirty="0" err="1">
                          <a:solidFill>
                            <a:srgbClr val="000000"/>
                          </a:solidFill>
                          <a:effectLst/>
                          <a:latin typeface="verdana" panose="020B0604030504040204" pitchFamily="34" charset="0"/>
                        </a:rPr>
                        <a:t>mypack.Simple</a:t>
                      </a:r>
                      <a:endParaRPr lang="en-US" dirty="0">
                        <a:solidFill>
                          <a:srgbClr val="000000"/>
                        </a:solidFill>
                        <a:effectLst/>
                        <a:latin typeface="verdana" panose="020B0604030504040204" pitchFamily="34" charset="0"/>
                      </a:endParaRPr>
                    </a:p>
                  </a:txBody>
                  <a:tcPr anchor="ctr">
                    <a:lnL>
                      <a:noFill/>
                    </a:lnL>
                    <a:lnR>
                      <a:noFill/>
                    </a:lnR>
                    <a:lnT>
                      <a:noFill/>
                    </a:lnT>
                    <a:lnB>
                      <a:noFill/>
                    </a:lnB>
                    <a:solidFill>
                      <a:srgbClr val="FFFFFF"/>
                    </a:solidFill>
                  </a:tcPr>
                </a:tc>
                <a:extLst>
                  <a:ext uri="{0D108BD9-81ED-4DB2-BD59-A6C34878D82A}">
                    <a16:rowId xmlns:a16="http://schemas.microsoft.com/office/drawing/2014/main" val="2522004125"/>
                  </a:ext>
                </a:extLst>
              </a:tr>
            </a:tbl>
          </a:graphicData>
        </a:graphic>
      </p:graphicFrame>
    </p:spTree>
    <p:extLst>
      <p:ext uri="{BB962C8B-B14F-4D97-AF65-F5344CB8AC3E}">
        <p14:creationId xmlns:p14="http://schemas.microsoft.com/office/powerpoint/2010/main" val="206800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blinds(horizontal)">
                                      <p:cBhvr>
                                        <p:cTn id="7" dur="500"/>
                                        <p:tgtEl>
                                          <p:spTgt spid="92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0"/>
                                        </p:tgtEl>
                                        <p:attrNameLst>
                                          <p:attrName>style.visibility</p:attrName>
                                        </p:attrNameLst>
                                      </p:cBhvr>
                                      <p:to>
                                        <p:strVal val="visible"/>
                                      </p:to>
                                    </p:set>
                                    <p:animEffect transition="in" filter="blinds(horizontal)">
                                      <p:cBhvr>
                                        <p:cTn id="12"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p:bldP spid="9220"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CC8A87D5-3FAD-4C33-9006-211EC0D28DF8}"/>
              </a:ext>
            </a:extLst>
          </p:cNvPr>
          <p:cNvSpPr>
            <a:spLocks noGrp="1" noChangeArrowheads="1"/>
          </p:cNvSpPr>
          <p:nvPr>
            <p:ph type="title"/>
          </p:nvPr>
        </p:nvSpPr>
        <p:spPr>
          <a:xfrm>
            <a:off x="186280" y="625504"/>
            <a:ext cx="8834120" cy="553998"/>
          </a:xfrm>
        </p:spPr>
        <p:txBody>
          <a:bodyPr/>
          <a:lstStyle/>
          <a:p>
            <a:pPr algn="ctr" eaLnBrk="1" hangingPunct="1"/>
            <a:r>
              <a:rPr lang="en-US" altLang="en-US" b="1" dirty="0">
                <a:latin typeface="Times New Roman" panose="02020603050405020304" pitchFamily="18" charset="0"/>
              </a:rPr>
              <a:t>Accessing Classes in a Package</a:t>
            </a:r>
          </a:p>
        </p:txBody>
      </p:sp>
      <p:sp>
        <p:nvSpPr>
          <p:cNvPr id="18436" name="Rectangle 3">
            <a:extLst>
              <a:ext uri="{FF2B5EF4-FFF2-40B4-BE49-F238E27FC236}">
                <a16:creationId xmlns:a16="http://schemas.microsoft.com/office/drawing/2014/main" id="{39C2AF2B-1CF3-4D3F-914E-11F0965C829F}"/>
              </a:ext>
            </a:extLst>
          </p:cNvPr>
          <p:cNvSpPr>
            <a:spLocks noGrp="1" noChangeArrowheads="1"/>
          </p:cNvSpPr>
          <p:nvPr>
            <p:ph type="body" idx="1"/>
          </p:nvPr>
        </p:nvSpPr>
        <p:spPr>
          <a:xfrm>
            <a:off x="457200" y="1661295"/>
            <a:ext cx="7927975" cy="2585323"/>
          </a:xfrm>
        </p:spPr>
        <p:txBody>
          <a:bodyPr/>
          <a:lstStyle/>
          <a:p>
            <a:pPr algn="just" eaLnBrk="1" hangingPunct="1"/>
            <a:r>
              <a:rPr lang="en-US" altLang="en-US" sz="2800" dirty="0">
                <a:latin typeface="Times New Roman" panose="02020603050405020304" pitchFamily="18" charset="0"/>
              </a:rPr>
              <a:t>There are three ways to access the package from outside the package.</a:t>
            </a:r>
          </a:p>
          <a:p>
            <a:pPr marL="514350" indent="-514350" eaLnBrk="1" hangingPunct="1">
              <a:buFont typeface="+mj-lt"/>
              <a:buAutoNum type="arabicPeriod"/>
            </a:pPr>
            <a:endParaRPr lang="en-US" altLang="en-US" sz="2800" dirty="0">
              <a:latin typeface="Times New Roman" panose="02020603050405020304" pitchFamily="18" charset="0"/>
            </a:endParaRPr>
          </a:p>
          <a:p>
            <a:pPr marL="514350" indent="-514350" eaLnBrk="1" hangingPunct="1">
              <a:buFont typeface="+mj-lt"/>
              <a:buAutoNum type="arabicPeriod"/>
            </a:pPr>
            <a:r>
              <a:rPr lang="en-US" altLang="en-US" sz="2800" dirty="0">
                <a:latin typeface="Times New Roman" panose="02020603050405020304" pitchFamily="18" charset="0"/>
              </a:rPr>
              <a:t>import package.*;</a:t>
            </a:r>
          </a:p>
          <a:p>
            <a:pPr marL="514350" indent="-514350" eaLnBrk="1" hangingPunct="1">
              <a:buFont typeface="+mj-lt"/>
              <a:buAutoNum type="arabicPeriod"/>
            </a:pPr>
            <a:r>
              <a:rPr lang="en-US" altLang="en-US" sz="2800" dirty="0">
                <a:latin typeface="Times New Roman" panose="02020603050405020304" pitchFamily="18" charset="0"/>
              </a:rPr>
              <a:t>import </a:t>
            </a:r>
            <a:r>
              <a:rPr lang="en-US" altLang="en-US" sz="2800" dirty="0" err="1">
                <a:latin typeface="Times New Roman" panose="02020603050405020304" pitchFamily="18" charset="0"/>
              </a:rPr>
              <a:t>package.classname</a:t>
            </a:r>
            <a:r>
              <a:rPr lang="en-US" altLang="en-US" sz="2800" dirty="0">
                <a:latin typeface="Times New Roman" panose="02020603050405020304" pitchFamily="18" charset="0"/>
              </a:rPr>
              <a:t>;</a:t>
            </a:r>
          </a:p>
          <a:p>
            <a:pPr marL="514350" indent="-514350" eaLnBrk="1" hangingPunct="1">
              <a:buFont typeface="+mj-lt"/>
              <a:buAutoNum type="arabicPeriod"/>
            </a:pPr>
            <a:r>
              <a:rPr lang="en-US" altLang="en-US" sz="2800" dirty="0">
                <a:latin typeface="Times New Roman" panose="02020603050405020304" pitchFamily="18" charset="0"/>
              </a:rPr>
              <a:t>fully qualified name</a:t>
            </a:r>
          </a:p>
        </p:txBody>
      </p:sp>
      <p:sp>
        <p:nvSpPr>
          <p:cNvPr id="2" name="Slide Number Placeholder 4">
            <a:extLst>
              <a:ext uri="{FF2B5EF4-FFF2-40B4-BE49-F238E27FC236}">
                <a16:creationId xmlns:a16="http://schemas.microsoft.com/office/drawing/2014/main" id="{7A838441-3BAB-4ADA-AFE0-376AB298B53F}"/>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13626417-291C-4BFD-96A1-EDF2E66FB35E}"/>
              </a:ext>
            </a:extLst>
          </p:cNvPr>
          <p:cNvSpPr>
            <a:spLocks noGrp="1" noChangeArrowheads="1"/>
          </p:cNvSpPr>
          <p:nvPr>
            <p:ph type="title"/>
          </p:nvPr>
        </p:nvSpPr>
        <p:spPr>
          <a:xfrm>
            <a:off x="0" y="605977"/>
            <a:ext cx="9144000" cy="639762"/>
          </a:xfrm>
        </p:spPr>
        <p:txBody>
          <a:bodyPr/>
          <a:lstStyle/>
          <a:p>
            <a:pPr algn="ctr" eaLnBrk="1" hangingPunct="1"/>
            <a:r>
              <a:rPr lang="en-US" altLang="en-US" sz="4000" b="1" dirty="0">
                <a:latin typeface="Times New Roman" panose="02020603050405020304" pitchFamily="18" charset="0"/>
              </a:rPr>
              <a:t>Adding a Class to a Package</a:t>
            </a:r>
          </a:p>
        </p:txBody>
      </p:sp>
      <p:sp>
        <p:nvSpPr>
          <p:cNvPr id="23557" name="Rectangle 3">
            <a:extLst>
              <a:ext uri="{FF2B5EF4-FFF2-40B4-BE49-F238E27FC236}">
                <a16:creationId xmlns:a16="http://schemas.microsoft.com/office/drawing/2014/main" id="{3BB64B6F-781C-43B4-AC1B-67B34D3DAC43}"/>
              </a:ext>
            </a:extLst>
          </p:cNvPr>
          <p:cNvSpPr>
            <a:spLocks noGrp="1" noChangeArrowheads="1"/>
          </p:cNvSpPr>
          <p:nvPr>
            <p:ph type="body" idx="1"/>
          </p:nvPr>
        </p:nvSpPr>
        <p:spPr>
          <a:xfrm>
            <a:off x="457200" y="1600200"/>
            <a:ext cx="8148638" cy="1723549"/>
          </a:xfrm>
        </p:spPr>
        <p:txBody>
          <a:bodyPr/>
          <a:lstStyle/>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Every java source file can contain only class declared as </a:t>
            </a:r>
            <a:r>
              <a:rPr lang="en-US" altLang="en-US" sz="2800" b="1" dirty="0">
                <a:latin typeface="Times New Roman" panose="02020603050405020304" pitchFamily="18" charset="0"/>
              </a:rPr>
              <a:t>public.</a:t>
            </a:r>
          </a:p>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The name of the source file should be same as the name of the public class with </a:t>
            </a:r>
            <a:r>
              <a:rPr lang="en-US" altLang="en-US" sz="2800" b="1" dirty="0">
                <a:latin typeface="Times New Roman" panose="02020603050405020304" pitchFamily="18" charset="0"/>
              </a:rPr>
              <a:t>.java</a:t>
            </a:r>
            <a:r>
              <a:rPr lang="en-US" altLang="en-US" sz="2800" dirty="0">
                <a:latin typeface="Times New Roman" panose="02020603050405020304" pitchFamily="18" charset="0"/>
              </a:rPr>
              <a:t> extension.</a:t>
            </a:r>
          </a:p>
        </p:txBody>
      </p:sp>
      <p:sp>
        <p:nvSpPr>
          <p:cNvPr id="23558" name="Text Box 4">
            <a:extLst>
              <a:ext uri="{FF2B5EF4-FFF2-40B4-BE49-F238E27FC236}">
                <a16:creationId xmlns:a16="http://schemas.microsoft.com/office/drawing/2014/main" id="{FD9DA1F4-3448-4487-8674-D3220688DFCD}"/>
              </a:ext>
            </a:extLst>
          </p:cNvPr>
          <p:cNvSpPr txBox="1">
            <a:spLocks noChangeArrowheads="1"/>
          </p:cNvSpPr>
          <p:nvPr/>
        </p:nvSpPr>
        <p:spPr bwMode="auto">
          <a:xfrm>
            <a:off x="838200" y="3385655"/>
            <a:ext cx="29718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package p1;</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public </a:t>
            </a:r>
            <a:r>
              <a:rPr kumimoji="0" lang="en-US" altLang="en-US" sz="2400" b="1"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ClassA</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 ClassA.java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Subdirectory: p1</a:t>
            </a:r>
          </a:p>
        </p:txBody>
      </p:sp>
      <p:sp>
        <p:nvSpPr>
          <p:cNvPr id="23559" name="Text Box 5">
            <a:extLst>
              <a:ext uri="{FF2B5EF4-FFF2-40B4-BE49-F238E27FC236}">
                <a16:creationId xmlns:a16="http://schemas.microsoft.com/office/drawing/2014/main" id="{30C25DE9-913B-4408-A35E-654B675D0BF7}"/>
              </a:ext>
            </a:extLst>
          </p:cNvPr>
          <p:cNvSpPr txBox="1">
            <a:spLocks noChangeArrowheads="1"/>
          </p:cNvSpPr>
          <p:nvPr/>
        </p:nvSpPr>
        <p:spPr bwMode="auto">
          <a:xfrm>
            <a:off x="4648200" y="3391088"/>
            <a:ext cx="34290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package p1;</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public </a:t>
            </a:r>
            <a:r>
              <a:rPr kumimoji="0" lang="en-US" altLang="en-US" sz="2400" b="1"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ClassB</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ClassB.java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Subdirectory:p1</a:t>
            </a:r>
          </a:p>
        </p:txBody>
      </p:sp>
      <p:sp>
        <p:nvSpPr>
          <p:cNvPr id="2" name="Slide Number Placeholder 4">
            <a:extLst>
              <a:ext uri="{FF2B5EF4-FFF2-40B4-BE49-F238E27FC236}">
                <a16:creationId xmlns:a16="http://schemas.microsoft.com/office/drawing/2014/main" id="{2B5D2A36-0591-44FA-8C60-2FC235401729}"/>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5">
            <a:extLst>
              <a:ext uri="{FF2B5EF4-FFF2-40B4-BE49-F238E27FC236}">
                <a16:creationId xmlns:a16="http://schemas.microsoft.com/office/drawing/2014/main" id="{BA51824A-4CB6-459E-A305-0BA14A66258F}"/>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F1040"/>
              </a:solidFill>
              <a:effectLst/>
              <a:uLnTx/>
              <a:uFillTx/>
              <a:latin typeface="Arial" panose="020B0604020202020204"/>
              <a:ea typeface="+mn-ea"/>
              <a:cs typeface="Arial" panose="020B0604020202020204"/>
            </a:endParaRPr>
          </a:p>
        </p:txBody>
      </p:sp>
      <p:sp>
        <p:nvSpPr>
          <p:cNvPr id="24580" name="Rectangle 2">
            <a:extLst>
              <a:ext uri="{FF2B5EF4-FFF2-40B4-BE49-F238E27FC236}">
                <a16:creationId xmlns:a16="http://schemas.microsoft.com/office/drawing/2014/main" id="{FD52BA12-8876-42B2-872F-E36FC274EB03}"/>
              </a:ext>
            </a:extLst>
          </p:cNvPr>
          <p:cNvSpPr>
            <a:spLocks noGrp="1" noChangeArrowheads="1"/>
          </p:cNvSpPr>
          <p:nvPr>
            <p:ph type="title"/>
          </p:nvPr>
        </p:nvSpPr>
        <p:spPr>
          <a:xfrm>
            <a:off x="457200" y="274638"/>
            <a:ext cx="8229600" cy="563562"/>
          </a:xfrm>
        </p:spPr>
        <p:txBody>
          <a:bodyPr/>
          <a:lstStyle/>
          <a:p>
            <a:pPr eaLnBrk="1" hangingPunct="1"/>
            <a:r>
              <a:rPr lang="en-US" altLang="en-US" sz="3600" b="1">
                <a:latin typeface="Times New Roman" panose="02020603050405020304" pitchFamily="18" charset="0"/>
              </a:rPr>
              <a:t>Example1-Package</a:t>
            </a:r>
          </a:p>
        </p:txBody>
      </p:sp>
      <p:sp>
        <p:nvSpPr>
          <p:cNvPr id="24581" name="Rectangle 3">
            <a:extLst>
              <a:ext uri="{FF2B5EF4-FFF2-40B4-BE49-F238E27FC236}">
                <a16:creationId xmlns:a16="http://schemas.microsoft.com/office/drawing/2014/main" id="{5F3272FB-C1F4-4288-8944-8AFC03495D50}"/>
              </a:ext>
            </a:extLst>
          </p:cNvPr>
          <p:cNvSpPr>
            <a:spLocks noGrp="1" noChangeArrowheads="1"/>
          </p:cNvSpPr>
          <p:nvPr>
            <p:ph type="body" sz="half" idx="1"/>
          </p:nvPr>
        </p:nvSpPr>
        <p:spPr>
          <a:xfrm>
            <a:off x="76199" y="1639111"/>
            <a:ext cx="4195917" cy="2769989"/>
          </a:xfrm>
        </p:spPr>
        <p:txBody>
          <a:bodyPr/>
          <a:lstStyle/>
          <a:p>
            <a:pPr eaLnBrk="1" hangingPunct="1">
              <a:buFontTx/>
              <a:buNone/>
            </a:pPr>
            <a:r>
              <a:rPr lang="en-US" altLang="en-US" sz="2000" b="1" dirty="0">
                <a:latin typeface="Times New Roman" panose="02020603050405020304" pitchFamily="18" charset="0"/>
              </a:rPr>
              <a:t>package p1;</a:t>
            </a:r>
          </a:p>
          <a:p>
            <a:pPr eaLnBrk="1" hangingPunct="1">
              <a:buFontTx/>
              <a:buNone/>
            </a:pPr>
            <a:r>
              <a:rPr lang="en-US" altLang="en-US" sz="2000" b="1" dirty="0">
                <a:latin typeface="Times New Roman" panose="02020603050405020304" pitchFamily="18" charset="0"/>
              </a:rPr>
              <a:t>public class </a:t>
            </a:r>
            <a:r>
              <a:rPr lang="en-US" altLang="en-US" sz="2000" b="1" dirty="0" err="1">
                <a:latin typeface="Times New Roman" panose="02020603050405020304" pitchFamily="18" charset="0"/>
              </a:rPr>
              <a:t>ClassA</a:t>
            </a:r>
            <a:endParaRPr lang="en-US" altLang="en-US" sz="2000" b="1" dirty="0">
              <a:latin typeface="Times New Roman" panose="02020603050405020304" pitchFamily="18" charset="0"/>
            </a:endParaRPr>
          </a:p>
          <a:p>
            <a:pPr eaLnBrk="1" hangingPunct="1">
              <a:buFontTx/>
              <a:buNone/>
            </a:pPr>
            <a:r>
              <a:rPr lang="en-US" altLang="en-US" sz="2000" b="1" dirty="0">
                <a:latin typeface="Times New Roman" panose="02020603050405020304" pitchFamily="18" charset="0"/>
              </a:rPr>
              <a:t>{</a:t>
            </a:r>
          </a:p>
          <a:p>
            <a:pPr eaLnBrk="1" hangingPunct="1">
              <a:buFontTx/>
              <a:buNone/>
            </a:pPr>
            <a:r>
              <a:rPr lang="en-US" altLang="en-US" sz="2000" b="1" dirty="0">
                <a:latin typeface="Times New Roman" panose="02020603050405020304" pitchFamily="18" charset="0"/>
              </a:rPr>
              <a:t>   public void </a:t>
            </a:r>
            <a:r>
              <a:rPr lang="en-US" altLang="en-US" sz="2000" b="1" dirty="0" err="1">
                <a:latin typeface="Times New Roman" panose="02020603050405020304" pitchFamily="18" charset="0"/>
              </a:rPr>
              <a:t>displayA</a:t>
            </a:r>
            <a:r>
              <a:rPr lang="en-US" altLang="en-US" sz="2000" b="1" dirty="0">
                <a:latin typeface="Times New Roman" panose="02020603050405020304" pitchFamily="18" charset="0"/>
              </a:rPr>
              <a:t>( )</a:t>
            </a:r>
          </a:p>
          <a:p>
            <a:pPr eaLnBrk="1" hangingPunct="1">
              <a:buFontTx/>
              <a:buNone/>
            </a:pPr>
            <a:r>
              <a:rPr lang="en-US" altLang="en-US" sz="2000" b="1" dirty="0">
                <a:latin typeface="Times New Roman" panose="02020603050405020304" pitchFamily="18" charset="0"/>
              </a:rPr>
              <a:t>  {</a:t>
            </a:r>
          </a:p>
          <a:p>
            <a:pPr eaLnBrk="1" hangingPunct="1">
              <a:buFontTx/>
              <a:buNone/>
            </a:pPr>
            <a:r>
              <a:rPr lang="en-US" altLang="en-US" sz="2000" b="1" dirty="0">
                <a:latin typeface="Times New Roman" panose="02020603050405020304" pitchFamily="18" charset="0"/>
              </a:rPr>
              <a:t>    </a:t>
            </a:r>
            <a:r>
              <a:rPr lang="en-US" altLang="en-US" sz="2000" b="1" dirty="0" err="1">
                <a:latin typeface="Times New Roman" panose="02020603050405020304" pitchFamily="18" charset="0"/>
              </a:rPr>
              <a:t>System.out.println</a:t>
            </a:r>
            <a:r>
              <a:rPr lang="en-US" altLang="en-US" sz="2000" b="1" dirty="0">
                <a:latin typeface="Times New Roman" panose="02020603050405020304" pitchFamily="18" charset="0"/>
              </a:rPr>
              <a:t>(</a:t>
            </a:r>
            <a:r>
              <a:rPr lang="ja-JP" altLang="en-US" sz="2000" b="1" dirty="0">
                <a:latin typeface="Times New Roman" panose="02020603050405020304" pitchFamily="18" charset="0"/>
              </a:rPr>
              <a:t>“</a:t>
            </a:r>
            <a:r>
              <a:rPr lang="en-US" altLang="ja-JP" sz="2000" b="1" dirty="0">
                <a:latin typeface="Times New Roman" panose="02020603050405020304" pitchFamily="18" charset="0"/>
              </a:rPr>
              <a:t>Class A</a:t>
            </a:r>
            <a:r>
              <a:rPr lang="ja-JP" altLang="en-US" sz="2000" b="1" dirty="0">
                <a:latin typeface="Times New Roman" panose="02020603050405020304" pitchFamily="18" charset="0"/>
              </a:rPr>
              <a:t>”</a:t>
            </a:r>
            <a:r>
              <a:rPr lang="en-US" altLang="ja-JP" sz="2000" b="1" dirty="0">
                <a:latin typeface="Times New Roman" panose="02020603050405020304" pitchFamily="18" charset="0"/>
              </a:rPr>
              <a:t>);</a:t>
            </a:r>
          </a:p>
          <a:p>
            <a:pPr eaLnBrk="1" hangingPunct="1">
              <a:buFontTx/>
              <a:buNone/>
            </a:pPr>
            <a:r>
              <a:rPr lang="en-US" altLang="en-US" sz="2000" b="1" dirty="0">
                <a:latin typeface="Times New Roman" panose="02020603050405020304" pitchFamily="18" charset="0"/>
              </a:rPr>
              <a:t>   }</a:t>
            </a:r>
          </a:p>
          <a:p>
            <a:pPr eaLnBrk="1" hangingPunct="1">
              <a:buFontTx/>
              <a:buNone/>
            </a:pPr>
            <a:r>
              <a:rPr lang="en-US" altLang="en-US" sz="2000" b="1" dirty="0">
                <a:latin typeface="Times New Roman" panose="02020603050405020304" pitchFamily="18" charset="0"/>
              </a:rPr>
              <a:t>}</a:t>
            </a:r>
          </a:p>
          <a:p>
            <a:pPr eaLnBrk="1" hangingPunct="1">
              <a:buFontTx/>
              <a:buNone/>
            </a:pPr>
            <a:endParaRPr lang="en-US" altLang="en-US" sz="2000" b="1" dirty="0">
              <a:latin typeface="Times New Roman" panose="02020603050405020304" pitchFamily="18" charset="0"/>
            </a:endParaRPr>
          </a:p>
        </p:txBody>
      </p:sp>
      <p:sp>
        <p:nvSpPr>
          <p:cNvPr id="24582" name="Rectangle 4">
            <a:extLst>
              <a:ext uri="{FF2B5EF4-FFF2-40B4-BE49-F238E27FC236}">
                <a16:creationId xmlns:a16="http://schemas.microsoft.com/office/drawing/2014/main" id="{938B3960-DBBE-4AF2-A32F-8A6759B9F6E5}"/>
              </a:ext>
            </a:extLst>
          </p:cNvPr>
          <p:cNvSpPr>
            <a:spLocks noGrp="1" noChangeArrowheads="1"/>
          </p:cNvSpPr>
          <p:nvPr>
            <p:ph type="body" sz="half" idx="2"/>
          </p:nvPr>
        </p:nvSpPr>
        <p:spPr>
          <a:xfrm>
            <a:off x="4333936" y="1374781"/>
            <a:ext cx="4732594" cy="3139321"/>
          </a:xfrm>
        </p:spPr>
        <p:txBody>
          <a:bodyPr/>
          <a:lstStyle/>
          <a:p>
            <a:pPr eaLnBrk="1" hangingPunct="1">
              <a:buFontTx/>
              <a:buNone/>
            </a:pPr>
            <a:r>
              <a:rPr lang="en-US" altLang="en-US" sz="2000" b="1" dirty="0">
                <a:latin typeface="Times New Roman" panose="02020603050405020304" pitchFamily="18" charset="0"/>
              </a:rPr>
              <a:t>import p1.ClassA;</a:t>
            </a:r>
          </a:p>
          <a:p>
            <a:pPr eaLnBrk="1" hangingPunct="1">
              <a:buFontTx/>
              <a:buNone/>
            </a:pPr>
            <a:endParaRPr lang="en-US" altLang="en-US" sz="2000" b="1" dirty="0">
              <a:latin typeface="Times New Roman" panose="02020603050405020304" pitchFamily="18" charset="0"/>
            </a:endParaRPr>
          </a:p>
          <a:p>
            <a:pPr eaLnBrk="1" hangingPunct="1">
              <a:buFontTx/>
              <a:buNone/>
            </a:pPr>
            <a:r>
              <a:rPr lang="en-US" altLang="en-US" sz="2000" b="1" dirty="0">
                <a:latin typeface="Times New Roman" panose="02020603050405020304" pitchFamily="18" charset="0"/>
              </a:rPr>
              <a:t>class </a:t>
            </a:r>
            <a:r>
              <a:rPr lang="en-US" altLang="en-US" sz="2000" b="1" dirty="0" err="1">
                <a:latin typeface="Times New Roman" panose="02020603050405020304" pitchFamily="18" charset="0"/>
              </a:rPr>
              <a:t>testclass</a:t>
            </a:r>
            <a:endParaRPr lang="en-US" altLang="en-US" sz="2000" b="1" dirty="0">
              <a:latin typeface="Times New Roman" panose="02020603050405020304" pitchFamily="18" charset="0"/>
            </a:endParaRPr>
          </a:p>
          <a:p>
            <a:pPr eaLnBrk="1" hangingPunct="1">
              <a:buFontTx/>
              <a:buNone/>
            </a:pPr>
            <a:r>
              <a:rPr lang="en-US" altLang="en-US" sz="2000" b="1" dirty="0">
                <a:latin typeface="Times New Roman" panose="02020603050405020304" pitchFamily="18" charset="0"/>
              </a:rPr>
              <a:t>{</a:t>
            </a:r>
          </a:p>
          <a:p>
            <a:pPr eaLnBrk="1" hangingPunct="1">
              <a:buFontTx/>
              <a:buNone/>
            </a:pPr>
            <a:r>
              <a:rPr lang="en-US" altLang="en-US" sz="2000" b="1" dirty="0">
                <a:latin typeface="Times New Roman" panose="02020603050405020304" pitchFamily="18" charset="0"/>
              </a:rPr>
              <a:t>	public static void main(String s[])</a:t>
            </a:r>
          </a:p>
          <a:p>
            <a:pPr eaLnBrk="1" hangingPunct="1">
              <a:buFontTx/>
              <a:buNone/>
            </a:pPr>
            <a:r>
              <a:rPr lang="en-US" altLang="en-US" sz="2000" b="1" dirty="0">
                <a:latin typeface="Times New Roman" panose="02020603050405020304" pitchFamily="18" charset="0"/>
              </a:rPr>
              <a:t>	{</a:t>
            </a:r>
          </a:p>
          <a:p>
            <a:pPr eaLnBrk="1" hangingPunct="1">
              <a:buFontTx/>
              <a:buNone/>
            </a:pPr>
            <a:r>
              <a:rPr lang="en-US" altLang="en-US" sz="2000" b="1" dirty="0">
                <a:latin typeface="Times New Roman" panose="02020603050405020304" pitchFamily="18" charset="0"/>
              </a:rPr>
              <a:t>	  </a:t>
            </a:r>
            <a:r>
              <a:rPr lang="en-US" altLang="en-US" sz="2000" b="1" dirty="0" err="1">
                <a:latin typeface="Times New Roman" panose="02020603050405020304" pitchFamily="18" charset="0"/>
              </a:rPr>
              <a:t>ClassA</a:t>
            </a:r>
            <a:r>
              <a:rPr lang="en-US" altLang="en-US" sz="2000" b="1" dirty="0">
                <a:latin typeface="Times New Roman" panose="02020603050405020304" pitchFamily="18" charset="0"/>
              </a:rPr>
              <a:t> </a:t>
            </a:r>
            <a:r>
              <a:rPr lang="en-US" altLang="en-US" sz="2000" b="1" dirty="0" err="1">
                <a:latin typeface="Times New Roman" panose="02020603050405020304" pitchFamily="18" charset="0"/>
              </a:rPr>
              <a:t>obA</a:t>
            </a:r>
            <a:r>
              <a:rPr lang="en-US" altLang="en-US" sz="2000" b="1" dirty="0">
                <a:latin typeface="Times New Roman" panose="02020603050405020304" pitchFamily="18" charset="0"/>
              </a:rPr>
              <a:t>=new </a:t>
            </a:r>
            <a:r>
              <a:rPr lang="en-US" altLang="en-US" sz="2000" b="1" dirty="0" err="1">
                <a:latin typeface="Times New Roman" panose="02020603050405020304" pitchFamily="18" charset="0"/>
              </a:rPr>
              <a:t>ClassA</a:t>
            </a:r>
            <a:r>
              <a:rPr lang="en-US" altLang="en-US" sz="2000" b="1" dirty="0">
                <a:latin typeface="Times New Roman" panose="02020603050405020304" pitchFamily="18" charset="0"/>
              </a:rPr>
              <a:t>();</a:t>
            </a:r>
          </a:p>
          <a:p>
            <a:pPr eaLnBrk="1" hangingPunct="1">
              <a:buFontTx/>
              <a:buNone/>
            </a:pPr>
            <a:r>
              <a:rPr lang="en-US" altLang="en-US" sz="2000" b="1" dirty="0">
                <a:latin typeface="Times New Roman" panose="02020603050405020304" pitchFamily="18" charset="0"/>
              </a:rPr>
              <a:t>	  </a:t>
            </a:r>
            <a:r>
              <a:rPr lang="en-US" altLang="en-US" sz="2000" b="1" dirty="0" err="1">
                <a:latin typeface="Times New Roman" panose="02020603050405020304" pitchFamily="18" charset="0"/>
              </a:rPr>
              <a:t>obA.displayA</a:t>
            </a:r>
            <a:r>
              <a:rPr lang="en-US" altLang="en-US" sz="2000" b="1" dirty="0">
                <a:latin typeface="Times New Roman" panose="02020603050405020304" pitchFamily="18" charset="0"/>
              </a:rPr>
              <a:t>();</a:t>
            </a:r>
          </a:p>
          <a:p>
            <a:pPr eaLnBrk="1" hangingPunct="1">
              <a:buFontTx/>
              <a:buNone/>
            </a:pPr>
            <a:r>
              <a:rPr lang="en-US" altLang="en-US" sz="2000" b="1" dirty="0">
                <a:latin typeface="Times New Roman" panose="02020603050405020304" pitchFamily="18" charset="0"/>
              </a:rPr>
              <a:t>	}</a:t>
            </a:r>
          </a:p>
          <a:p>
            <a:pPr eaLnBrk="1" hangingPunct="1">
              <a:buFontTx/>
              <a:buNone/>
            </a:pPr>
            <a:r>
              <a:rPr lang="en-US" altLang="en-US" sz="2400" b="1" dirty="0">
                <a:latin typeface="Times New Roman" panose="02020603050405020304" pitchFamily="18" charset="0"/>
              </a:rPr>
              <a:t>} </a:t>
            </a:r>
          </a:p>
        </p:txBody>
      </p:sp>
      <p:sp>
        <p:nvSpPr>
          <p:cNvPr id="24583" name="Text Box 5">
            <a:extLst>
              <a:ext uri="{FF2B5EF4-FFF2-40B4-BE49-F238E27FC236}">
                <a16:creationId xmlns:a16="http://schemas.microsoft.com/office/drawing/2014/main" id="{BB5FEB6F-FD78-4C6C-861D-AB45DE18477B}"/>
              </a:ext>
            </a:extLst>
          </p:cNvPr>
          <p:cNvSpPr txBox="1">
            <a:spLocks noChangeArrowheads="1"/>
          </p:cNvSpPr>
          <p:nvPr/>
        </p:nvSpPr>
        <p:spPr bwMode="auto">
          <a:xfrm>
            <a:off x="233517" y="4861295"/>
            <a:ext cx="40386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 ClassA.java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Subdirectory-p1</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ClassA.Java</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and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ClassA.class</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-&gt;p1</a:t>
            </a:r>
          </a:p>
        </p:txBody>
      </p:sp>
      <p:sp>
        <p:nvSpPr>
          <p:cNvPr id="24584" name="Text Box 6">
            <a:extLst>
              <a:ext uri="{FF2B5EF4-FFF2-40B4-BE49-F238E27FC236}">
                <a16:creationId xmlns:a16="http://schemas.microsoft.com/office/drawing/2014/main" id="{0A301A92-F698-40DF-9553-3F39846E79ED}"/>
              </a:ext>
            </a:extLst>
          </p:cNvPr>
          <p:cNvSpPr txBox="1">
            <a:spLocks noChangeArrowheads="1"/>
          </p:cNvSpPr>
          <p:nvPr/>
        </p:nvSpPr>
        <p:spPr bwMode="auto">
          <a:xfrm>
            <a:off x="5231130" y="4793032"/>
            <a:ext cx="3581400"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file-testclass.java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testclass.java and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testclass.class</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-&gt;in a directory of which </a:t>
            </a:r>
            <a:r>
              <a:rPr kumimoji="0" lang="en-US" altLang="en-US" sz="1800" b="0" i="1"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p1</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is subdirectory.</a:t>
            </a:r>
          </a:p>
        </p:txBody>
      </p:sp>
      <p:sp>
        <p:nvSpPr>
          <p:cNvPr id="2" name="Slide Number Placeholder 4">
            <a:extLst>
              <a:ext uri="{FF2B5EF4-FFF2-40B4-BE49-F238E27FC236}">
                <a16:creationId xmlns:a16="http://schemas.microsoft.com/office/drawing/2014/main" id="{B4BE583F-35CF-437A-A248-EEB8BB74D56D}"/>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1B4DE779-A42F-400E-B800-4A57252F8253}"/>
              </a:ext>
            </a:extLst>
          </p:cNvPr>
          <p:cNvSpPr>
            <a:spLocks noGrp="1" noChangeArrowheads="1"/>
          </p:cNvSpPr>
          <p:nvPr>
            <p:ph type="title"/>
          </p:nvPr>
        </p:nvSpPr>
        <p:spPr>
          <a:xfrm>
            <a:off x="457200" y="274638"/>
            <a:ext cx="8153400" cy="715962"/>
          </a:xfrm>
        </p:spPr>
        <p:txBody>
          <a:bodyPr/>
          <a:lstStyle/>
          <a:p>
            <a:pPr eaLnBrk="1" hangingPunct="1"/>
            <a:r>
              <a:rPr lang="en-US" altLang="en-US" sz="4000" b="1">
                <a:latin typeface="Times New Roman" panose="02020603050405020304" pitchFamily="18" charset="0"/>
              </a:rPr>
              <a:t>Creating Packages</a:t>
            </a:r>
          </a:p>
        </p:txBody>
      </p:sp>
      <p:sp>
        <p:nvSpPr>
          <p:cNvPr id="25605" name="Rectangle 3">
            <a:extLst>
              <a:ext uri="{FF2B5EF4-FFF2-40B4-BE49-F238E27FC236}">
                <a16:creationId xmlns:a16="http://schemas.microsoft.com/office/drawing/2014/main" id="{D556222A-3A24-4C5E-8860-F90B3C754C24}"/>
              </a:ext>
            </a:extLst>
          </p:cNvPr>
          <p:cNvSpPr>
            <a:spLocks noGrp="1" noChangeArrowheads="1"/>
          </p:cNvSpPr>
          <p:nvPr>
            <p:ph type="body" idx="1"/>
          </p:nvPr>
        </p:nvSpPr>
        <p:spPr>
          <a:xfrm>
            <a:off x="457200" y="1524000"/>
            <a:ext cx="8229600" cy="3877985"/>
          </a:xfrm>
        </p:spPr>
        <p:txBody>
          <a:bodyPr/>
          <a:lstStyle/>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Consider the following declaration:</a:t>
            </a:r>
          </a:p>
          <a:p>
            <a:pPr eaLnBrk="1" hangingPunct="1">
              <a:buFont typeface="Wingdings" panose="05000000000000000000" pitchFamily="2" charset="2"/>
              <a:buNone/>
            </a:pPr>
            <a:r>
              <a:rPr lang="en-US" altLang="en-US" sz="2800" dirty="0">
                <a:latin typeface="Times New Roman" panose="02020603050405020304" pitchFamily="18" charset="0"/>
              </a:rPr>
              <a:t>	package </a:t>
            </a:r>
            <a:r>
              <a:rPr lang="en-US" altLang="en-US" sz="2800" dirty="0" err="1">
                <a:latin typeface="Times New Roman" panose="02020603050405020304" pitchFamily="18" charset="0"/>
              </a:rPr>
              <a:t>firstPackage.secondPackage</a:t>
            </a:r>
            <a:r>
              <a:rPr lang="en-US" altLang="en-US" sz="2800" dirty="0">
                <a:latin typeface="Times New Roman" panose="02020603050405020304" pitchFamily="18" charset="0"/>
              </a:rPr>
              <a:t>;</a:t>
            </a:r>
          </a:p>
          <a:p>
            <a:pPr eaLnBrk="1" hangingPunct="1">
              <a:buFont typeface="Wingdings" panose="05000000000000000000" pitchFamily="2" charset="2"/>
              <a:buNone/>
            </a:pPr>
            <a:r>
              <a:rPr lang="en-US" altLang="en-US" sz="2800" dirty="0">
                <a:latin typeface="Times New Roman" panose="02020603050405020304" pitchFamily="18" charset="0"/>
              </a:rPr>
              <a:t>	This package is stored in subdirectory named </a:t>
            </a:r>
            <a:r>
              <a:rPr lang="en-US" altLang="en-US" sz="2800" b="1" dirty="0" err="1">
                <a:latin typeface="Times New Roman" panose="02020603050405020304" pitchFamily="18" charset="0"/>
              </a:rPr>
              <a:t>firstPackage.secondPackage</a:t>
            </a:r>
            <a:r>
              <a:rPr lang="en-US" altLang="en-US" sz="2800" dirty="0">
                <a:latin typeface="Times New Roman" panose="02020603050405020304" pitchFamily="18" charset="0"/>
              </a:rPr>
              <a:t>.</a:t>
            </a:r>
          </a:p>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A java package can’t contain more than one class definitions that can be declared as public.</a:t>
            </a:r>
          </a:p>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Only one of the classes which is declared </a:t>
            </a:r>
            <a:r>
              <a:rPr lang="en-US" altLang="en-US" sz="2800" b="1" dirty="0">
                <a:latin typeface="Times New Roman" panose="02020603050405020304" pitchFamily="18" charset="0"/>
              </a:rPr>
              <a:t>public </a:t>
            </a:r>
            <a:r>
              <a:rPr lang="en-US" altLang="en-US" sz="2800" dirty="0">
                <a:latin typeface="Times New Roman" panose="02020603050405020304" pitchFamily="18" charset="0"/>
              </a:rPr>
              <a:t>and that class name with </a:t>
            </a:r>
            <a:r>
              <a:rPr lang="en-US" altLang="en-US" sz="2800" b="1" dirty="0">
                <a:latin typeface="Times New Roman" panose="02020603050405020304" pitchFamily="18" charset="0"/>
              </a:rPr>
              <a:t>.java</a:t>
            </a:r>
            <a:r>
              <a:rPr lang="en-US" altLang="en-US" sz="2800" dirty="0">
                <a:latin typeface="Times New Roman" panose="02020603050405020304" pitchFamily="18" charset="0"/>
              </a:rPr>
              <a:t> extension is the source file name.</a:t>
            </a:r>
            <a:endParaRPr lang="en-US" altLang="en-US" sz="2800" b="1" dirty="0">
              <a:latin typeface="Times New Roman" panose="02020603050405020304" pitchFamily="18" charset="0"/>
            </a:endParaRPr>
          </a:p>
        </p:txBody>
      </p:sp>
      <p:sp>
        <p:nvSpPr>
          <p:cNvPr id="2" name="Slide Number Placeholder 4">
            <a:extLst>
              <a:ext uri="{FF2B5EF4-FFF2-40B4-BE49-F238E27FC236}">
                <a16:creationId xmlns:a16="http://schemas.microsoft.com/office/drawing/2014/main" id="{F17EF50C-6809-4DE2-992E-6A3631587DFB}"/>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3DCCDEA-54E1-4B8C-BDF1-343FB6D2EFD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F1040"/>
              </a:solidFill>
              <a:effectLst/>
              <a:uLnTx/>
              <a:uFillTx/>
              <a:latin typeface="Arial" panose="020B0604020202020204"/>
              <a:ea typeface="+mn-ea"/>
              <a:cs typeface="Arial" panose="020B0604020202020204"/>
            </a:endParaRPr>
          </a:p>
        </p:txBody>
      </p:sp>
      <p:sp>
        <p:nvSpPr>
          <p:cNvPr id="26628" name="Rectangle 2">
            <a:extLst>
              <a:ext uri="{FF2B5EF4-FFF2-40B4-BE49-F238E27FC236}">
                <a16:creationId xmlns:a16="http://schemas.microsoft.com/office/drawing/2014/main" id="{4A52615D-6100-4E5F-ACD7-A2A0599FCDC2}"/>
              </a:ext>
            </a:extLst>
          </p:cNvPr>
          <p:cNvSpPr>
            <a:spLocks noGrp="1" noChangeArrowheads="1"/>
          </p:cNvSpPr>
          <p:nvPr>
            <p:ph type="title"/>
          </p:nvPr>
        </p:nvSpPr>
        <p:spPr>
          <a:xfrm>
            <a:off x="381000" y="585044"/>
            <a:ext cx="8229600" cy="563562"/>
          </a:xfrm>
        </p:spPr>
        <p:txBody>
          <a:bodyPr/>
          <a:lstStyle/>
          <a:p>
            <a:pPr eaLnBrk="1" hangingPunct="1"/>
            <a:r>
              <a:rPr lang="en-US" altLang="en-US" sz="4000" b="1" dirty="0">
                <a:latin typeface="Times New Roman" panose="02020603050405020304" pitchFamily="18" charset="0"/>
              </a:rPr>
              <a:t>Example2-Package</a:t>
            </a:r>
          </a:p>
        </p:txBody>
      </p:sp>
      <p:sp>
        <p:nvSpPr>
          <p:cNvPr id="26629" name="Rectangle 3">
            <a:extLst>
              <a:ext uri="{FF2B5EF4-FFF2-40B4-BE49-F238E27FC236}">
                <a16:creationId xmlns:a16="http://schemas.microsoft.com/office/drawing/2014/main" id="{267C43C7-4BE4-473D-A7A3-131369689E7C}"/>
              </a:ext>
            </a:extLst>
          </p:cNvPr>
          <p:cNvSpPr>
            <a:spLocks noGrp="1" noChangeArrowheads="1"/>
          </p:cNvSpPr>
          <p:nvPr>
            <p:ph type="body" sz="half" idx="1"/>
          </p:nvPr>
        </p:nvSpPr>
        <p:spPr>
          <a:xfrm>
            <a:off x="267776" y="1530439"/>
            <a:ext cx="4532824" cy="4525963"/>
          </a:xfrm>
        </p:spPr>
        <p:txBody>
          <a:bodyPr/>
          <a:lstStyle/>
          <a:p>
            <a:pPr eaLnBrk="1" hangingPunct="1">
              <a:lnSpc>
                <a:spcPct val="90000"/>
              </a:lnSpc>
              <a:buFontTx/>
              <a:buNone/>
            </a:pPr>
            <a:r>
              <a:rPr lang="en-US" altLang="en-US" sz="2000" dirty="0">
                <a:latin typeface="Times New Roman" panose="02020603050405020304" pitchFamily="18" charset="0"/>
              </a:rPr>
              <a:t>package p2;</a:t>
            </a:r>
          </a:p>
          <a:p>
            <a:pPr eaLnBrk="1" hangingPunct="1">
              <a:lnSpc>
                <a:spcPct val="90000"/>
              </a:lnSpc>
              <a:buFontTx/>
              <a:buNone/>
            </a:pPr>
            <a:r>
              <a:rPr lang="en-US" altLang="en-US" sz="2000" dirty="0">
                <a:latin typeface="Times New Roman" panose="02020603050405020304" pitchFamily="18" charset="0"/>
              </a:rPr>
              <a:t>public class </a:t>
            </a:r>
            <a:r>
              <a:rPr lang="en-US" altLang="en-US" sz="2000" dirty="0" err="1">
                <a:latin typeface="Times New Roman" panose="02020603050405020304" pitchFamily="18" charset="0"/>
              </a:rPr>
              <a:t>ClassB</a:t>
            </a:r>
            <a:endParaRPr lang="en-US" altLang="en-US" sz="2000" dirty="0">
              <a:latin typeface="Times New Roman" panose="02020603050405020304" pitchFamily="18" charset="0"/>
            </a:endParaRPr>
          </a:p>
          <a:p>
            <a:pPr eaLnBrk="1" hangingPunct="1">
              <a:lnSpc>
                <a:spcPct val="90000"/>
              </a:lnSpc>
              <a:buFontTx/>
              <a:buNone/>
            </a:pPr>
            <a:r>
              <a:rPr lang="en-US" altLang="en-US"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	protected int m =10;</a:t>
            </a:r>
          </a:p>
          <a:p>
            <a:pPr eaLnBrk="1" hangingPunct="1">
              <a:lnSpc>
                <a:spcPct val="90000"/>
              </a:lnSpc>
              <a:buFontTx/>
              <a:buNone/>
            </a:pPr>
            <a:r>
              <a:rPr lang="en-US" altLang="en-US" sz="2000" dirty="0">
                <a:latin typeface="Times New Roman" panose="02020603050405020304" pitchFamily="18" charset="0"/>
              </a:rPr>
              <a:t>	public void </a:t>
            </a:r>
            <a:r>
              <a:rPr lang="en-US" altLang="en-US" sz="2000" dirty="0" err="1">
                <a:latin typeface="Times New Roman" panose="02020603050405020304" pitchFamily="18" charset="0"/>
              </a:rPr>
              <a:t>displayB</a:t>
            </a:r>
            <a:r>
              <a:rPr lang="en-US" altLang="en-US"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	{</a:t>
            </a:r>
          </a:p>
          <a:p>
            <a:pPr eaLnBrk="1" hangingPunct="1">
              <a:lnSpc>
                <a:spcPct val="90000"/>
              </a:lnSpc>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Class B</a:t>
            </a:r>
            <a:r>
              <a:rPr lang="ja-JP" altLang="en-US" sz="2000" dirty="0">
                <a:latin typeface="Times New Roman" panose="02020603050405020304" pitchFamily="18" charset="0"/>
              </a:rPr>
              <a:t>”</a:t>
            </a:r>
            <a:r>
              <a:rPr lang="en-US" altLang="ja-JP"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m= </a:t>
            </a:r>
            <a:r>
              <a:rPr lang="ja-JP" altLang="en-US" sz="2000" dirty="0">
                <a:latin typeface="Times New Roman" panose="02020603050405020304" pitchFamily="18" charset="0"/>
              </a:rPr>
              <a:t>“</a:t>
            </a:r>
            <a:r>
              <a:rPr lang="en-US" altLang="ja-JP" sz="2000" dirty="0">
                <a:latin typeface="Times New Roman" panose="02020603050405020304" pitchFamily="18" charset="0"/>
              </a:rPr>
              <a:t>+m);</a:t>
            </a:r>
          </a:p>
          <a:p>
            <a:pPr eaLnBrk="1" hangingPunct="1">
              <a:lnSpc>
                <a:spcPct val="90000"/>
              </a:lnSpc>
              <a:buFontTx/>
              <a:buNone/>
            </a:pPr>
            <a:r>
              <a:rPr lang="en-US" altLang="en-US" sz="2000" dirty="0">
                <a:latin typeface="Times New Roman" panose="02020603050405020304" pitchFamily="18" charset="0"/>
              </a:rPr>
              <a:t>	}</a:t>
            </a:r>
          </a:p>
          <a:p>
            <a:pPr eaLnBrk="1" hangingPunct="1">
              <a:lnSpc>
                <a:spcPct val="90000"/>
              </a:lnSpc>
              <a:buFontTx/>
              <a:buNone/>
            </a:pPr>
            <a:r>
              <a:rPr lang="en-US" altLang="en-US" sz="2000" dirty="0">
                <a:latin typeface="Times New Roman" panose="02020603050405020304" pitchFamily="18" charset="0"/>
              </a:rPr>
              <a:t>}</a:t>
            </a:r>
          </a:p>
        </p:txBody>
      </p:sp>
      <p:sp>
        <p:nvSpPr>
          <p:cNvPr id="26630" name="Rectangle 4">
            <a:extLst>
              <a:ext uri="{FF2B5EF4-FFF2-40B4-BE49-F238E27FC236}">
                <a16:creationId xmlns:a16="http://schemas.microsoft.com/office/drawing/2014/main" id="{2C185405-E989-4672-BD80-95BA7B8A21A4}"/>
              </a:ext>
            </a:extLst>
          </p:cNvPr>
          <p:cNvSpPr>
            <a:spLocks noGrp="1" noChangeArrowheads="1"/>
          </p:cNvSpPr>
          <p:nvPr>
            <p:ph type="body" sz="half" idx="2"/>
          </p:nvPr>
        </p:nvSpPr>
        <p:spPr>
          <a:xfrm>
            <a:off x="4572000" y="1511685"/>
            <a:ext cx="4591665" cy="3600986"/>
          </a:xfrm>
        </p:spPr>
        <p:txBody>
          <a:bodyPr/>
          <a:lstStyle/>
          <a:p>
            <a:pPr eaLnBrk="1" hangingPunct="1">
              <a:lnSpc>
                <a:spcPct val="90000"/>
              </a:lnSpc>
              <a:buFontTx/>
              <a:buNone/>
            </a:pPr>
            <a:r>
              <a:rPr lang="en-US" altLang="en-US" sz="2000" dirty="0">
                <a:latin typeface="Times New Roman" panose="02020603050405020304" pitchFamily="18" charset="0"/>
              </a:rPr>
              <a:t>import p1.ClassA;</a:t>
            </a:r>
          </a:p>
          <a:p>
            <a:pPr eaLnBrk="1" hangingPunct="1">
              <a:lnSpc>
                <a:spcPct val="90000"/>
              </a:lnSpc>
              <a:buFontTx/>
              <a:buNone/>
            </a:pPr>
            <a:r>
              <a:rPr lang="en-US" altLang="en-US" sz="2000" dirty="0">
                <a:latin typeface="Times New Roman" panose="02020603050405020304" pitchFamily="18" charset="0"/>
              </a:rPr>
              <a:t>import p2.ClassB;</a:t>
            </a:r>
          </a:p>
          <a:p>
            <a:pPr eaLnBrk="1" hangingPunct="1">
              <a:lnSpc>
                <a:spcPct val="90000"/>
              </a:lnSpc>
              <a:buFontTx/>
              <a:buNone/>
            </a:pPr>
            <a:endParaRPr lang="en-US" altLang="en-US" sz="2000" dirty="0">
              <a:latin typeface="Times New Roman" panose="02020603050405020304" pitchFamily="18" charset="0"/>
            </a:endParaRPr>
          </a:p>
          <a:p>
            <a:pPr eaLnBrk="1" hangingPunct="1">
              <a:lnSpc>
                <a:spcPct val="90000"/>
              </a:lnSpc>
              <a:buFontTx/>
              <a:buNone/>
            </a:pPr>
            <a:r>
              <a:rPr lang="en-US" altLang="en-US" sz="2000" dirty="0">
                <a:latin typeface="Times New Roman" panose="02020603050405020304" pitchFamily="18" charset="0"/>
              </a:rPr>
              <a:t>class PackageTest2</a:t>
            </a:r>
          </a:p>
          <a:p>
            <a:pPr eaLnBrk="1" hangingPunct="1">
              <a:lnSpc>
                <a:spcPct val="90000"/>
              </a:lnSpc>
              <a:buFontTx/>
              <a:buNone/>
            </a:pPr>
            <a:r>
              <a:rPr lang="en-US" altLang="en-US"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public static void main(String str[])</a:t>
            </a:r>
          </a:p>
          <a:p>
            <a:pPr eaLnBrk="1" hangingPunct="1">
              <a:lnSpc>
                <a:spcPct val="90000"/>
              </a:lnSpc>
              <a:buFontTx/>
              <a:buNone/>
            </a:pPr>
            <a:r>
              <a:rPr lang="en-US" altLang="en-US" sz="2000" dirty="0">
                <a:latin typeface="Times New Roman" panose="02020603050405020304" pitchFamily="18" charset="0"/>
              </a:rPr>
              <a:t>	{</a:t>
            </a:r>
          </a:p>
          <a:p>
            <a:pPr eaLnBrk="1" hangingPunct="1">
              <a:lnSpc>
                <a:spcPct val="90000"/>
              </a:lnSpc>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ClassA</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obA</a:t>
            </a:r>
            <a:r>
              <a:rPr lang="en-US" altLang="en-US" sz="2000" dirty="0">
                <a:latin typeface="Times New Roman" panose="02020603050405020304" pitchFamily="18" charset="0"/>
              </a:rPr>
              <a:t>=new </a:t>
            </a:r>
            <a:r>
              <a:rPr lang="en-US" altLang="en-US" sz="2000" dirty="0" err="1">
                <a:latin typeface="Times New Roman" panose="02020603050405020304" pitchFamily="18" charset="0"/>
              </a:rPr>
              <a:t>ClassA</a:t>
            </a:r>
            <a:r>
              <a:rPr lang="en-US" altLang="en-US"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Classb</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obB</a:t>
            </a:r>
            <a:r>
              <a:rPr lang="en-US" altLang="en-US" sz="2000" dirty="0">
                <a:latin typeface="Times New Roman" panose="02020603050405020304" pitchFamily="18" charset="0"/>
              </a:rPr>
              <a:t>=new </a:t>
            </a:r>
            <a:r>
              <a:rPr lang="en-US" altLang="en-US" sz="2000" dirty="0" err="1">
                <a:latin typeface="Times New Roman" panose="02020603050405020304" pitchFamily="18" charset="0"/>
              </a:rPr>
              <a:t>ClassB</a:t>
            </a:r>
            <a:r>
              <a:rPr lang="en-US" altLang="en-US"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obA.displayA</a:t>
            </a:r>
            <a:r>
              <a:rPr lang="en-US" altLang="en-US"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obB.displayB</a:t>
            </a:r>
            <a:r>
              <a:rPr lang="en-US" altLang="en-US" sz="2000" dirty="0">
                <a:latin typeface="Times New Roman" panose="02020603050405020304" pitchFamily="18" charset="0"/>
              </a:rPr>
              <a:t>();</a:t>
            </a:r>
          </a:p>
          <a:p>
            <a:pPr eaLnBrk="1" hangingPunct="1">
              <a:lnSpc>
                <a:spcPct val="90000"/>
              </a:lnSpc>
              <a:buFontTx/>
              <a:buNone/>
            </a:pPr>
            <a:r>
              <a:rPr lang="en-US" altLang="en-US" sz="2000" dirty="0">
                <a:latin typeface="Times New Roman" panose="02020603050405020304" pitchFamily="18" charset="0"/>
              </a:rPr>
              <a:t>	}</a:t>
            </a:r>
          </a:p>
          <a:p>
            <a:pPr eaLnBrk="1" hangingPunct="1">
              <a:lnSpc>
                <a:spcPct val="90000"/>
              </a:lnSpc>
              <a:buFontTx/>
              <a:buNone/>
            </a:pPr>
            <a:r>
              <a:rPr lang="en-US" altLang="en-US" sz="2000" dirty="0">
                <a:latin typeface="Times New Roman" panose="02020603050405020304" pitchFamily="18" charset="0"/>
              </a:rPr>
              <a:t>}</a:t>
            </a:r>
          </a:p>
        </p:txBody>
      </p:sp>
      <p:sp>
        <p:nvSpPr>
          <p:cNvPr id="2" name="Slide Number Placeholder 4">
            <a:extLst>
              <a:ext uri="{FF2B5EF4-FFF2-40B4-BE49-F238E27FC236}">
                <a16:creationId xmlns:a16="http://schemas.microsoft.com/office/drawing/2014/main" id="{AA29C272-C3F6-4433-B8E1-45596535C0A9}"/>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F2EF3F1-1A1E-CFED-5842-CF5CED863719}"/>
                  </a:ext>
                </a:extLst>
              </p14:cNvPr>
              <p14:cNvContentPartPr/>
              <p14:nvPr/>
            </p14:nvContentPartPr>
            <p14:xfrm>
              <a:off x="1198080" y="2543760"/>
              <a:ext cx="869400" cy="350640"/>
            </p14:xfrm>
          </p:contentPart>
        </mc:Choice>
        <mc:Fallback xmlns="">
          <p:pic>
            <p:nvPicPr>
              <p:cNvPr id="4" name="Ink 3">
                <a:extLst>
                  <a:ext uri="{FF2B5EF4-FFF2-40B4-BE49-F238E27FC236}">
                    <a16:creationId xmlns:a16="http://schemas.microsoft.com/office/drawing/2014/main" id="{2F2EF3F1-1A1E-CFED-5842-CF5CED863719}"/>
                  </a:ext>
                </a:extLst>
              </p:cNvPr>
              <p:cNvPicPr/>
              <p:nvPr/>
            </p:nvPicPr>
            <p:blipFill>
              <a:blip r:embed="rId5"/>
              <a:stretch>
                <a:fillRect/>
              </a:stretch>
            </p:blipFill>
            <p:spPr>
              <a:xfrm>
                <a:off x="1188720" y="2534400"/>
                <a:ext cx="888120" cy="369360"/>
              </a:xfrm>
              <a:prstGeom prst="rect">
                <a:avLst/>
              </a:prstGeom>
            </p:spPr>
          </p:pic>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5269ECF4-A6E4-4838-BF20-5673F7DB362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F1040"/>
              </a:solidFill>
              <a:effectLst/>
              <a:uLnTx/>
              <a:uFillTx/>
              <a:latin typeface="Arial" panose="020B0604020202020204"/>
              <a:ea typeface="+mn-ea"/>
              <a:cs typeface="Arial" panose="020B0604020202020204"/>
            </a:endParaRPr>
          </a:p>
        </p:txBody>
      </p:sp>
      <p:sp>
        <p:nvSpPr>
          <p:cNvPr id="27652" name="Rectangle 2">
            <a:extLst>
              <a:ext uri="{FF2B5EF4-FFF2-40B4-BE49-F238E27FC236}">
                <a16:creationId xmlns:a16="http://schemas.microsoft.com/office/drawing/2014/main" id="{4A1613B8-2813-414C-A906-871E9D713A4C}"/>
              </a:ext>
            </a:extLst>
          </p:cNvPr>
          <p:cNvSpPr>
            <a:spLocks noGrp="1" noChangeArrowheads="1"/>
          </p:cNvSpPr>
          <p:nvPr>
            <p:ph type="title"/>
          </p:nvPr>
        </p:nvSpPr>
        <p:spPr>
          <a:xfrm>
            <a:off x="228600" y="527081"/>
            <a:ext cx="8077200" cy="762000"/>
          </a:xfrm>
        </p:spPr>
        <p:txBody>
          <a:bodyPr/>
          <a:lstStyle/>
          <a:p>
            <a:pPr eaLnBrk="1" hangingPunct="1"/>
            <a:r>
              <a:rPr lang="en-US" altLang="en-US" b="1" dirty="0">
                <a:latin typeface="Times New Roman" panose="02020603050405020304" pitchFamily="18" charset="0"/>
              </a:rPr>
              <a:t>Example 3- Package</a:t>
            </a:r>
          </a:p>
        </p:txBody>
      </p:sp>
      <p:sp>
        <p:nvSpPr>
          <p:cNvPr id="27653" name="Rectangle 3">
            <a:extLst>
              <a:ext uri="{FF2B5EF4-FFF2-40B4-BE49-F238E27FC236}">
                <a16:creationId xmlns:a16="http://schemas.microsoft.com/office/drawing/2014/main" id="{19500521-CC45-4A95-B174-17786E4010E0}"/>
              </a:ext>
            </a:extLst>
          </p:cNvPr>
          <p:cNvSpPr>
            <a:spLocks noGrp="1" noChangeArrowheads="1"/>
          </p:cNvSpPr>
          <p:nvPr>
            <p:ph type="body" sz="half" idx="1"/>
          </p:nvPr>
        </p:nvSpPr>
        <p:spPr>
          <a:xfrm>
            <a:off x="385762" y="1679122"/>
            <a:ext cx="4033838" cy="3385542"/>
          </a:xfrm>
        </p:spPr>
        <p:txBody>
          <a:bodyPr/>
          <a:lstStyle/>
          <a:p>
            <a:pPr eaLnBrk="1" hangingPunct="1">
              <a:buFontTx/>
              <a:buNone/>
            </a:pPr>
            <a:r>
              <a:rPr lang="en-US" altLang="en-US" sz="2000" dirty="0">
                <a:latin typeface="Times New Roman" panose="02020603050405020304" pitchFamily="18" charset="0"/>
              </a:rPr>
              <a:t>import p2.ClassB;</a:t>
            </a:r>
          </a:p>
          <a:p>
            <a:pPr eaLnBrk="1" hangingPunct="1">
              <a:buFontTx/>
              <a:buNone/>
            </a:pPr>
            <a:r>
              <a:rPr lang="en-US" altLang="en-US" sz="2000" dirty="0">
                <a:latin typeface="Times New Roman" panose="02020603050405020304" pitchFamily="18" charset="0"/>
              </a:rPr>
              <a:t>class </a:t>
            </a:r>
            <a:r>
              <a:rPr lang="en-US" altLang="en-US" sz="2000" dirty="0" err="1">
                <a:latin typeface="Times New Roman" panose="02020603050405020304" pitchFamily="18" charset="0"/>
              </a:rPr>
              <a:t>ClassC</a:t>
            </a:r>
            <a:r>
              <a:rPr lang="en-US" altLang="en-US" sz="2000" dirty="0">
                <a:latin typeface="Times New Roman" panose="02020603050405020304" pitchFamily="18" charset="0"/>
              </a:rPr>
              <a:t> extends </a:t>
            </a:r>
            <a:r>
              <a:rPr lang="en-US" altLang="en-US" sz="2000" dirty="0" err="1">
                <a:latin typeface="Times New Roman" panose="02020603050405020304" pitchFamily="18" charset="0"/>
              </a:rPr>
              <a:t>ClassB</a:t>
            </a:r>
            <a:endParaRPr lang="en-US" altLang="en-US" sz="2000" dirty="0">
              <a:latin typeface="Times New Roman" panose="02020603050405020304" pitchFamily="18" charset="0"/>
            </a:endParaRP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int n=20;</a:t>
            </a:r>
          </a:p>
          <a:p>
            <a:pPr eaLnBrk="1" hangingPunct="1">
              <a:buFontTx/>
              <a:buNone/>
            </a:pPr>
            <a:r>
              <a:rPr lang="en-US" altLang="en-US" sz="2000" dirty="0">
                <a:latin typeface="Times New Roman" panose="02020603050405020304" pitchFamily="18" charset="0"/>
              </a:rPr>
              <a:t>  void </a:t>
            </a:r>
            <a:r>
              <a:rPr lang="en-US" altLang="en-US" sz="2000" dirty="0" err="1">
                <a:latin typeface="Times New Roman" panose="02020603050405020304" pitchFamily="18" charset="0"/>
              </a:rPr>
              <a:t>displayC</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Class C</a:t>
            </a:r>
            <a:r>
              <a:rPr lang="ja-JP" altLang="en-US" sz="2000" dirty="0">
                <a:latin typeface="Times New Roman" panose="02020603050405020304" pitchFamily="18" charset="0"/>
              </a:rPr>
              <a:t>”</a:t>
            </a:r>
            <a:r>
              <a:rPr lang="en-US" altLang="ja-JP"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m= </a:t>
            </a:r>
            <a:r>
              <a:rPr lang="ja-JP" altLang="en-US" sz="2000" dirty="0">
                <a:latin typeface="Times New Roman" panose="02020603050405020304" pitchFamily="18" charset="0"/>
              </a:rPr>
              <a:t>“</a:t>
            </a:r>
            <a:r>
              <a:rPr lang="en-US" altLang="ja-JP" sz="2000" dirty="0">
                <a:latin typeface="Times New Roman" panose="02020603050405020304" pitchFamily="18" charset="0"/>
              </a:rPr>
              <a:t>+m);</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n= </a:t>
            </a:r>
            <a:r>
              <a:rPr lang="ja-JP" altLang="en-US" sz="2000" dirty="0">
                <a:latin typeface="Times New Roman" panose="02020603050405020304" pitchFamily="18" charset="0"/>
              </a:rPr>
              <a:t>“</a:t>
            </a:r>
            <a:r>
              <a:rPr lang="en-US" altLang="ja-JP" sz="2000" dirty="0">
                <a:latin typeface="Times New Roman" panose="02020603050405020304" pitchFamily="18" charset="0"/>
              </a:rPr>
              <a:t>+n);</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a:t>
            </a:r>
          </a:p>
        </p:txBody>
      </p:sp>
      <p:sp>
        <p:nvSpPr>
          <p:cNvPr id="27654" name="Rectangle 4">
            <a:extLst>
              <a:ext uri="{FF2B5EF4-FFF2-40B4-BE49-F238E27FC236}">
                <a16:creationId xmlns:a16="http://schemas.microsoft.com/office/drawing/2014/main" id="{0120F6DA-7045-4C3F-BE22-390DA92A2178}"/>
              </a:ext>
            </a:extLst>
          </p:cNvPr>
          <p:cNvSpPr>
            <a:spLocks noGrp="1" noChangeArrowheads="1"/>
          </p:cNvSpPr>
          <p:nvPr>
            <p:ph type="body" sz="half" idx="2"/>
          </p:nvPr>
        </p:nvSpPr>
        <p:spPr>
          <a:xfrm>
            <a:off x="4473677" y="1626338"/>
            <a:ext cx="4724400" cy="2769989"/>
          </a:xfrm>
        </p:spPr>
        <p:txBody>
          <a:bodyPr/>
          <a:lstStyle/>
          <a:p>
            <a:pPr eaLnBrk="1" hangingPunct="1">
              <a:buFontTx/>
              <a:buNone/>
            </a:pPr>
            <a:r>
              <a:rPr lang="en-US" altLang="en-US" sz="2000" dirty="0">
                <a:latin typeface="Times New Roman" panose="02020603050405020304" pitchFamily="18" charset="0"/>
              </a:rPr>
              <a:t>class PackageTest3</a:t>
            </a: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public static void main(String </a:t>
            </a:r>
            <a:r>
              <a:rPr lang="en-US" altLang="en-US" sz="2000" dirty="0" err="1">
                <a:latin typeface="Times New Roman" panose="02020603050405020304" pitchFamily="18" charset="0"/>
              </a:rPr>
              <a:t>args</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ClassC</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obC</a:t>
            </a:r>
            <a:r>
              <a:rPr lang="en-US" altLang="en-US" sz="2000" dirty="0">
                <a:latin typeface="Times New Roman" panose="02020603050405020304" pitchFamily="18" charset="0"/>
              </a:rPr>
              <a:t> = new </a:t>
            </a:r>
            <a:r>
              <a:rPr lang="en-US" altLang="en-US" sz="2000" dirty="0" err="1">
                <a:latin typeface="Times New Roman" panose="02020603050405020304" pitchFamily="18" charset="0"/>
              </a:rPr>
              <a:t>ClassC</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obC.displayB</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obC.displayC</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a:t>
            </a:r>
          </a:p>
        </p:txBody>
      </p:sp>
      <p:sp>
        <p:nvSpPr>
          <p:cNvPr id="2" name="Slide Number Placeholder 4">
            <a:extLst>
              <a:ext uri="{FF2B5EF4-FFF2-40B4-BE49-F238E27FC236}">
                <a16:creationId xmlns:a16="http://schemas.microsoft.com/office/drawing/2014/main" id="{6525A403-0887-486C-AA7D-125233F394BF}"/>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420628E-FF77-4541-B070-E22F97FB770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F1040"/>
              </a:solidFill>
              <a:effectLst/>
              <a:uLnTx/>
              <a:uFillTx/>
              <a:latin typeface="Arial" panose="020B0604020202020204"/>
              <a:ea typeface="+mn-ea"/>
              <a:cs typeface="Arial" panose="020B0604020202020204"/>
            </a:endParaRPr>
          </a:p>
        </p:txBody>
      </p:sp>
      <p:sp>
        <p:nvSpPr>
          <p:cNvPr id="28676" name="Rectangle 2">
            <a:extLst>
              <a:ext uri="{FF2B5EF4-FFF2-40B4-BE49-F238E27FC236}">
                <a16:creationId xmlns:a16="http://schemas.microsoft.com/office/drawing/2014/main" id="{0B1EF66D-3599-443B-B4D4-47843722E1BF}"/>
              </a:ext>
            </a:extLst>
          </p:cNvPr>
          <p:cNvSpPr>
            <a:spLocks noGrp="1" noChangeArrowheads="1"/>
          </p:cNvSpPr>
          <p:nvPr>
            <p:ph type="title"/>
          </p:nvPr>
        </p:nvSpPr>
        <p:spPr>
          <a:xfrm>
            <a:off x="457200" y="274638"/>
            <a:ext cx="8153400" cy="639762"/>
          </a:xfrm>
        </p:spPr>
        <p:txBody>
          <a:bodyPr/>
          <a:lstStyle/>
          <a:p>
            <a:pPr eaLnBrk="1" hangingPunct="1"/>
            <a:r>
              <a:rPr lang="en-US" altLang="en-US" sz="4000" b="1" dirty="0">
                <a:latin typeface="Times New Roman" panose="02020603050405020304" pitchFamily="18" charset="0"/>
              </a:rPr>
              <a:t>Package</a:t>
            </a:r>
          </a:p>
        </p:txBody>
      </p:sp>
      <p:sp>
        <p:nvSpPr>
          <p:cNvPr id="28677" name="Rectangle 3">
            <a:extLst>
              <a:ext uri="{FF2B5EF4-FFF2-40B4-BE49-F238E27FC236}">
                <a16:creationId xmlns:a16="http://schemas.microsoft.com/office/drawing/2014/main" id="{F76D56BB-76C4-4ED6-8E80-AC0522DA77FB}"/>
              </a:ext>
            </a:extLst>
          </p:cNvPr>
          <p:cNvSpPr>
            <a:spLocks noGrp="1" noChangeArrowheads="1"/>
          </p:cNvSpPr>
          <p:nvPr>
            <p:ph type="body" sz="half" idx="1"/>
          </p:nvPr>
        </p:nvSpPr>
        <p:spPr>
          <a:xfrm>
            <a:off x="449826" y="1563984"/>
            <a:ext cx="3886200" cy="5257800"/>
          </a:xfrm>
        </p:spPr>
        <p:txBody>
          <a:bodyPr/>
          <a:lstStyle/>
          <a:p>
            <a:pPr eaLnBrk="1" hangingPunct="1">
              <a:buFontTx/>
              <a:buNone/>
            </a:pPr>
            <a:r>
              <a:rPr lang="en-US" altLang="en-US" sz="2000" dirty="0">
                <a:latin typeface="Times New Roman" panose="02020603050405020304" pitchFamily="18" charset="0"/>
              </a:rPr>
              <a:t>package p1;</a:t>
            </a:r>
          </a:p>
          <a:p>
            <a:pPr eaLnBrk="1" hangingPunct="1">
              <a:buFontTx/>
              <a:buNone/>
            </a:pPr>
            <a:r>
              <a:rPr lang="en-US" altLang="en-US" sz="2000" dirty="0">
                <a:latin typeface="Times New Roman" panose="02020603050405020304" pitchFamily="18" charset="0"/>
              </a:rPr>
              <a:t>public class Teacher</a:t>
            </a: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public class Student</a:t>
            </a: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In Different files</a:t>
            </a:r>
          </a:p>
          <a:p>
            <a:pPr eaLnBrk="1" hangingPunct="1">
              <a:buFontTx/>
              <a:buNone/>
            </a:pPr>
            <a:r>
              <a:rPr lang="en-US" altLang="en-US" sz="2000" dirty="0">
                <a:latin typeface="Times New Roman" panose="02020603050405020304" pitchFamily="18" charset="0"/>
              </a:rPr>
              <a:t>package p2; </a:t>
            </a:r>
          </a:p>
          <a:p>
            <a:pPr eaLnBrk="1" hangingPunct="1">
              <a:buFontTx/>
              <a:buNone/>
            </a:pPr>
            <a:r>
              <a:rPr lang="en-US" altLang="en-US" sz="2000" dirty="0">
                <a:latin typeface="Times New Roman" panose="02020603050405020304" pitchFamily="18" charset="0"/>
              </a:rPr>
              <a:t>public class Courses</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public class Student</a:t>
            </a:r>
          </a:p>
          <a:p>
            <a:pPr eaLnBrk="1" hangingPunct="1">
              <a:buFontTx/>
              <a:buNone/>
            </a:pPr>
            <a:r>
              <a:rPr lang="en-US" altLang="en-US" sz="2000" dirty="0">
                <a:latin typeface="Times New Roman" panose="02020603050405020304" pitchFamily="18" charset="0"/>
              </a:rPr>
              <a:t>{………………..}..Different files</a:t>
            </a:r>
          </a:p>
          <a:p>
            <a:pPr eaLnBrk="1" hangingPunct="1">
              <a:buFontTx/>
              <a:buNone/>
            </a:pPr>
            <a:r>
              <a:rPr lang="en-US" altLang="en-US" sz="2000" dirty="0">
                <a:latin typeface="Times New Roman" panose="02020603050405020304" pitchFamily="18" charset="0"/>
              </a:rPr>
              <a:t>import p1.*;</a:t>
            </a:r>
          </a:p>
          <a:p>
            <a:pPr eaLnBrk="1" hangingPunct="1">
              <a:buFontTx/>
              <a:buNone/>
            </a:pPr>
            <a:r>
              <a:rPr lang="en-US" altLang="en-US" sz="2000" dirty="0">
                <a:latin typeface="Times New Roman" panose="02020603050405020304" pitchFamily="18" charset="0"/>
              </a:rPr>
              <a:t>import p2.*;</a:t>
            </a:r>
          </a:p>
          <a:p>
            <a:pPr eaLnBrk="1" hangingPunct="1">
              <a:buFontTx/>
              <a:buNone/>
            </a:pPr>
            <a:r>
              <a:rPr lang="en-US" altLang="en-US" sz="2000" dirty="0">
                <a:latin typeface="Times New Roman" panose="02020603050405020304" pitchFamily="18" charset="0"/>
              </a:rPr>
              <a:t>Student student1; //Error</a:t>
            </a:r>
          </a:p>
        </p:txBody>
      </p:sp>
      <p:sp>
        <p:nvSpPr>
          <p:cNvPr id="28678" name="Rectangle 4">
            <a:extLst>
              <a:ext uri="{FF2B5EF4-FFF2-40B4-BE49-F238E27FC236}">
                <a16:creationId xmlns:a16="http://schemas.microsoft.com/office/drawing/2014/main" id="{94F78039-72FB-44B0-B4C6-1441D5423FCC}"/>
              </a:ext>
            </a:extLst>
          </p:cNvPr>
          <p:cNvSpPr>
            <a:spLocks noGrp="1" noChangeArrowheads="1"/>
          </p:cNvSpPr>
          <p:nvPr>
            <p:ph type="body" sz="half" idx="2"/>
          </p:nvPr>
        </p:nvSpPr>
        <p:spPr>
          <a:xfrm>
            <a:off x="4768645" y="1563984"/>
            <a:ext cx="4033837" cy="4525963"/>
          </a:xfrm>
        </p:spPr>
        <p:txBody>
          <a:bodyPr/>
          <a:lstStyle/>
          <a:p>
            <a:pPr eaLnBrk="1" hangingPunct="1">
              <a:buFontTx/>
              <a:buNone/>
            </a:pPr>
            <a:r>
              <a:rPr lang="en-US" altLang="en-US" b="1" u="sng" dirty="0">
                <a:latin typeface="Times New Roman" panose="02020603050405020304" pitchFamily="18" charset="0"/>
              </a:rPr>
              <a:t>Correct Code:</a:t>
            </a:r>
          </a:p>
          <a:p>
            <a:pPr eaLnBrk="1" hangingPunct="1">
              <a:buFontTx/>
              <a:buNone/>
            </a:pPr>
            <a:r>
              <a:rPr lang="en-US" altLang="en-US" dirty="0">
                <a:latin typeface="Times New Roman" panose="02020603050405020304" pitchFamily="18" charset="0"/>
              </a:rPr>
              <a:t>import p1.*;</a:t>
            </a:r>
          </a:p>
          <a:p>
            <a:pPr eaLnBrk="1" hangingPunct="1">
              <a:buFontTx/>
              <a:buNone/>
            </a:pPr>
            <a:r>
              <a:rPr lang="en-US" altLang="en-US" dirty="0">
                <a:latin typeface="Times New Roman" panose="02020603050405020304" pitchFamily="18" charset="0"/>
              </a:rPr>
              <a:t>import p2.*;</a:t>
            </a:r>
          </a:p>
          <a:p>
            <a:pPr eaLnBrk="1" hangingPunct="1">
              <a:buFontTx/>
              <a:buNone/>
            </a:pPr>
            <a:endParaRPr lang="en-US" altLang="en-US" dirty="0">
              <a:latin typeface="Times New Roman" panose="02020603050405020304" pitchFamily="18" charset="0"/>
            </a:endParaRPr>
          </a:p>
          <a:p>
            <a:pPr eaLnBrk="1" hangingPunct="1">
              <a:buFontTx/>
              <a:buNone/>
            </a:pPr>
            <a:r>
              <a:rPr lang="en-US" altLang="en-US" dirty="0">
                <a:latin typeface="Times New Roman" panose="02020603050405020304" pitchFamily="18" charset="0"/>
              </a:rPr>
              <a:t>p1.Student student1;</a:t>
            </a:r>
          </a:p>
          <a:p>
            <a:pPr eaLnBrk="1" hangingPunct="1">
              <a:buFontTx/>
              <a:buNone/>
            </a:pPr>
            <a:r>
              <a:rPr lang="en-US" altLang="en-US" dirty="0">
                <a:latin typeface="Times New Roman" panose="02020603050405020304" pitchFamily="18" charset="0"/>
              </a:rPr>
              <a:t>p2.Student student2;</a:t>
            </a:r>
          </a:p>
          <a:p>
            <a:pPr eaLnBrk="1" hangingPunct="1">
              <a:buFontTx/>
              <a:buNone/>
            </a:pPr>
            <a:endParaRPr lang="en-US" altLang="en-US" dirty="0">
              <a:latin typeface="Times New Roman" panose="02020603050405020304" pitchFamily="18" charset="0"/>
            </a:endParaRPr>
          </a:p>
          <a:p>
            <a:pPr eaLnBrk="1" hangingPunct="1">
              <a:buFontTx/>
              <a:buNone/>
            </a:pPr>
            <a:endParaRPr lang="en-US" altLang="en-US" dirty="0">
              <a:latin typeface="Times New Roman" panose="02020603050405020304" pitchFamily="18" charset="0"/>
            </a:endParaRPr>
          </a:p>
        </p:txBody>
      </p:sp>
      <p:sp>
        <p:nvSpPr>
          <p:cNvPr id="2" name="Slide Number Placeholder 4">
            <a:extLst>
              <a:ext uri="{FF2B5EF4-FFF2-40B4-BE49-F238E27FC236}">
                <a16:creationId xmlns:a16="http://schemas.microsoft.com/office/drawing/2014/main" id="{8340BD4F-FF4A-4ED3-9FE4-F81B2FCC69B2}"/>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a:extLst>
              <a:ext uri="{FF2B5EF4-FFF2-40B4-BE49-F238E27FC236}">
                <a16:creationId xmlns:a16="http://schemas.microsoft.com/office/drawing/2014/main" id="{EC8B9E92-0E24-4D0B-BD3B-8FC717F7D155}"/>
              </a:ext>
            </a:extLst>
          </p:cNvPr>
          <p:cNvSpPr>
            <a:spLocks noGrp="1" noChangeArrowheads="1"/>
          </p:cNvSpPr>
          <p:nvPr>
            <p:ph type="title"/>
          </p:nvPr>
        </p:nvSpPr>
        <p:spPr/>
        <p:txBody>
          <a:bodyPr/>
          <a:lstStyle/>
          <a:p>
            <a:pPr eaLnBrk="1" hangingPunct="1"/>
            <a:r>
              <a:rPr lang="en-US" altLang="en-US" b="1">
                <a:latin typeface="Times New Roman" panose="02020603050405020304" pitchFamily="18" charset="0"/>
              </a:rPr>
              <a:t>Default Package</a:t>
            </a:r>
          </a:p>
        </p:txBody>
      </p:sp>
      <p:sp>
        <p:nvSpPr>
          <p:cNvPr id="29701" name="Rectangle 3">
            <a:extLst>
              <a:ext uri="{FF2B5EF4-FFF2-40B4-BE49-F238E27FC236}">
                <a16:creationId xmlns:a16="http://schemas.microsoft.com/office/drawing/2014/main" id="{24262EA0-0219-4BC9-A381-BAE57EF38D40}"/>
              </a:ext>
            </a:extLst>
          </p:cNvPr>
          <p:cNvSpPr>
            <a:spLocks noGrp="1" noChangeArrowheads="1"/>
          </p:cNvSpPr>
          <p:nvPr>
            <p:ph type="body" idx="1"/>
          </p:nvPr>
        </p:nvSpPr>
        <p:spPr>
          <a:xfrm>
            <a:off x="98402" y="1710719"/>
            <a:ext cx="8957025" cy="2283702"/>
          </a:xfrm>
        </p:spPr>
        <p:txBody>
          <a:bodyPr/>
          <a:lstStyle/>
          <a:p>
            <a:pPr marL="285750" indent="-285750" eaLnBrk="1" hangingPunct="1">
              <a:spcAft>
                <a:spcPct val="30000"/>
              </a:spcAft>
              <a:buFont typeface="Wingdings" panose="05000000000000000000" pitchFamily="2" charset="2"/>
              <a:buChar char="Ø"/>
            </a:pPr>
            <a:r>
              <a:rPr lang="en-GB" altLang="en-US" sz="2800" dirty="0">
                <a:latin typeface="Times New Roman" panose="02020603050405020304" pitchFamily="18" charset="0"/>
              </a:rPr>
              <a:t>If a source file does not begin with the </a:t>
            </a:r>
            <a:r>
              <a:rPr lang="en-GB" altLang="en-US" sz="2800" i="1" dirty="0">
                <a:latin typeface="Times New Roman" panose="02020603050405020304" pitchFamily="18" charset="0"/>
              </a:rPr>
              <a:t>package</a:t>
            </a:r>
            <a:r>
              <a:rPr lang="en-GB" altLang="en-US" sz="2800" dirty="0">
                <a:latin typeface="Times New Roman" panose="02020603050405020304" pitchFamily="18" charset="0"/>
              </a:rPr>
              <a:t> statement, the classes contained in the source file reside in the </a:t>
            </a:r>
            <a:r>
              <a:rPr lang="en-GB" altLang="en-US" sz="2800" i="1" dirty="0">
                <a:latin typeface="Times New Roman" panose="02020603050405020304" pitchFamily="18" charset="0"/>
              </a:rPr>
              <a:t>default package</a:t>
            </a:r>
          </a:p>
          <a:p>
            <a:pPr marL="285750" indent="-285750" eaLnBrk="1" hangingPunct="1">
              <a:spcAft>
                <a:spcPct val="30000"/>
              </a:spcAft>
              <a:buFont typeface="Wingdings" panose="05000000000000000000" pitchFamily="2" charset="2"/>
              <a:buChar char="Ø"/>
            </a:pPr>
            <a:r>
              <a:rPr lang="en-GB" altLang="en-US" sz="2800" dirty="0">
                <a:latin typeface="Times New Roman" panose="02020603050405020304" pitchFamily="18" charset="0"/>
              </a:rPr>
              <a:t>The java compiler automatically looks in the default package to find classes.</a:t>
            </a:r>
            <a:endParaRPr lang="en-US" altLang="en-US" sz="2800" dirty="0">
              <a:latin typeface="Times New Roman" panose="02020603050405020304" pitchFamily="18" charset="0"/>
            </a:endParaRPr>
          </a:p>
        </p:txBody>
      </p:sp>
      <p:sp>
        <p:nvSpPr>
          <p:cNvPr id="2" name="Slide Number Placeholder 4">
            <a:extLst>
              <a:ext uri="{FF2B5EF4-FFF2-40B4-BE49-F238E27FC236}">
                <a16:creationId xmlns:a16="http://schemas.microsoft.com/office/drawing/2014/main" id="{3D94444D-6A14-4CAB-91E4-DA2F156FB487}"/>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391FF03E-E07A-41F4-90FD-459E0264CA19}"/>
              </a:ext>
            </a:extLst>
          </p:cNvPr>
          <p:cNvSpPr>
            <a:spLocks noGrp="1" noChangeArrowheads="1"/>
          </p:cNvSpPr>
          <p:nvPr>
            <p:ph type="title"/>
          </p:nvPr>
        </p:nvSpPr>
        <p:spPr/>
        <p:txBody>
          <a:bodyPr/>
          <a:lstStyle/>
          <a:p>
            <a:pPr eaLnBrk="1" hangingPunct="1"/>
            <a:r>
              <a:rPr lang="en-US" altLang="en-US">
                <a:latin typeface="Times New Roman" panose="02020603050405020304" pitchFamily="18" charset="0"/>
              </a:rPr>
              <a:t>Finding Packages</a:t>
            </a:r>
          </a:p>
        </p:txBody>
      </p:sp>
      <p:sp>
        <p:nvSpPr>
          <p:cNvPr id="30725" name="Rectangle 3">
            <a:extLst>
              <a:ext uri="{FF2B5EF4-FFF2-40B4-BE49-F238E27FC236}">
                <a16:creationId xmlns:a16="http://schemas.microsoft.com/office/drawing/2014/main" id="{6F76BCDC-0970-4518-95C1-C10E7462A98D}"/>
              </a:ext>
            </a:extLst>
          </p:cNvPr>
          <p:cNvSpPr>
            <a:spLocks noGrp="1" noChangeArrowheads="1"/>
          </p:cNvSpPr>
          <p:nvPr>
            <p:ph type="body" idx="1"/>
          </p:nvPr>
        </p:nvSpPr>
        <p:spPr>
          <a:xfrm>
            <a:off x="247732" y="1981200"/>
            <a:ext cx="8591468" cy="2215991"/>
          </a:xfrm>
        </p:spPr>
        <p:txBody>
          <a:bodyPr/>
          <a:lstStyle/>
          <a:p>
            <a:pPr algn="just" eaLnBrk="1" hangingPunct="1"/>
            <a:r>
              <a:rPr lang="en-US" altLang="en-US" sz="2400" b="1" dirty="0">
                <a:latin typeface="Times New Roman" panose="02020603050405020304" pitchFamily="18" charset="0"/>
              </a:rPr>
              <a:t>Two ways:</a:t>
            </a:r>
          </a:p>
          <a:p>
            <a:pPr marL="457200" indent="-457200" algn="just" eaLnBrk="1" hangingPunct="1">
              <a:buFont typeface="+mj-lt"/>
              <a:buAutoNum type="arabicPeriod"/>
            </a:pPr>
            <a:r>
              <a:rPr lang="en-US" altLang="en-US" sz="2400" dirty="0">
                <a:latin typeface="Times New Roman" panose="02020603050405020304" pitchFamily="18" charset="0"/>
              </a:rPr>
              <a:t>By default, java runtime system uses current directory as starting point and search all the subdirectories for the package.</a:t>
            </a:r>
          </a:p>
          <a:p>
            <a:pPr marL="457200" indent="-457200" algn="just" eaLnBrk="1" hangingPunct="1">
              <a:buFont typeface="+mj-lt"/>
              <a:buAutoNum type="arabicPeriod"/>
            </a:pPr>
            <a:r>
              <a:rPr lang="en-US" altLang="en-US" sz="2400" dirty="0">
                <a:latin typeface="Times New Roman" panose="02020603050405020304" pitchFamily="18" charset="0"/>
              </a:rPr>
              <a:t>Specify a directory path using CLASSPATH environmental variable.</a:t>
            </a:r>
          </a:p>
          <a:p>
            <a:pPr algn="just" eaLnBrk="1" hangingPunct="1">
              <a:buFont typeface="Wingdings" panose="05000000000000000000" pitchFamily="2" charset="2"/>
              <a:buNone/>
            </a:pPr>
            <a:endParaRPr lang="en-US" altLang="en-US" sz="2400" dirty="0">
              <a:latin typeface="Times New Roman" panose="02020603050405020304" pitchFamily="18" charset="0"/>
            </a:endParaRPr>
          </a:p>
        </p:txBody>
      </p:sp>
      <p:sp>
        <p:nvSpPr>
          <p:cNvPr id="2" name="Slide Number Placeholder 4">
            <a:extLst>
              <a:ext uri="{FF2B5EF4-FFF2-40B4-BE49-F238E27FC236}">
                <a16:creationId xmlns:a16="http://schemas.microsoft.com/office/drawing/2014/main" id="{094E81EF-BC8F-47F0-9FC6-FD3A245F65B8}"/>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D61DE97-2543-4C2E-B323-72379281EBCC}"/>
              </a:ext>
            </a:extLst>
          </p:cNvPr>
          <p:cNvSpPr>
            <a:spLocks noGrp="1"/>
          </p:cNvSpPr>
          <p:nvPr>
            <p:ph type="ftr" sz="quarter" idx="11"/>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1" fontAlgn="base" hangingPunct="1">
              <a:spcBef>
                <a:spcPct val="0"/>
              </a:spcBef>
              <a:spcAft>
                <a:spcPct val="0"/>
              </a:spcAft>
              <a:defRPr sz="1400" b="0" kern="1200">
                <a:solidFill>
                  <a:schemeClr val="tx1"/>
                </a:solidFill>
                <a:latin typeface="+mn-lt"/>
                <a:ea typeface="+mn-ea"/>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SOBUZ</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1748" name="Rectangle 2">
            <a:extLst>
              <a:ext uri="{FF2B5EF4-FFF2-40B4-BE49-F238E27FC236}">
                <a16:creationId xmlns:a16="http://schemas.microsoft.com/office/drawing/2014/main" id="{FE22E7D0-268C-4224-AF20-E736A43900EF}"/>
              </a:ext>
            </a:extLst>
          </p:cNvPr>
          <p:cNvSpPr>
            <a:spLocks noGrp="1" noChangeArrowheads="1"/>
          </p:cNvSpPr>
          <p:nvPr>
            <p:ph type="title"/>
          </p:nvPr>
        </p:nvSpPr>
        <p:spPr>
          <a:xfrm>
            <a:off x="22123" y="625504"/>
            <a:ext cx="8834120" cy="1031240"/>
          </a:xfrm>
        </p:spPr>
        <p:txBody>
          <a:bodyPr/>
          <a:lstStyle/>
          <a:p>
            <a:pPr eaLnBrk="1" hangingPunct="1"/>
            <a:r>
              <a:rPr lang="en-US" altLang="en-US" sz="4000" b="1" dirty="0">
                <a:latin typeface="Times New Roman" panose="02020603050405020304" pitchFamily="18" charset="0"/>
              </a:rPr>
              <a:t>CLASSPATH Environment Variable</a:t>
            </a:r>
          </a:p>
        </p:txBody>
      </p:sp>
      <p:sp>
        <p:nvSpPr>
          <p:cNvPr id="31749" name="Rectangle 3">
            <a:extLst>
              <a:ext uri="{FF2B5EF4-FFF2-40B4-BE49-F238E27FC236}">
                <a16:creationId xmlns:a16="http://schemas.microsoft.com/office/drawing/2014/main" id="{52B3F0E6-1F9D-4798-96A1-769994866FFE}"/>
              </a:ext>
            </a:extLst>
          </p:cNvPr>
          <p:cNvSpPr>
            <a:spLocks noGrp="1" noChangeArrowheads="1"/>
          </p:cNvSpPr>
          <p:nvPr>
            <p:ph type="body" idx="1"/>
          </p:nvPr>
        </p:nvSpPr>
        <p:spPr>
          <a:xfrm>
            <a:off x="457200" y="1954953"/>
            <a:ext cx="7927975" cy="4141047"/>
          </a:xfrm>
        </p:spPr>
        <p:txBody>
          <a:bodyPr/>
          <a:lstStyle/>
          <a:p>
            <a:pPr marL="457200" indent="-457200" algn="just" eaLnBrk="1" hangingPunct="1">
              <a:spcAft>
                <a:spcPct val="30000"/>
              </a:spcAft>
              <a:buFont typeface="Wingdings" panose="05000000000000000000" pitchFamily="2" charset="2"/>
              <a:buChar char="Ø"/>
            </a:pPr>
            <a:r>
              <a:rPr lang="en-GB" altLang="en-US" sz="2800" dirty="0">
                <a:latin typeface="Times New Roman" panose="02020603050405020304" pitchFamily="18" charset="0"/>
              </a:rPr>
              <a:t>The compiler and runtime interpreter know how to find standard packages such as </a:t>
            </a:r>
            <a:r>
              <a:rPr lang="en-GB" altLang="en-US" sz="2800" i="1" dirty="0" err="1">
                <a:latin typeface="Times New Roman" panose="02020603050405020304" pitchFamily="18" charset="0"/>
              </a:rPr>
              <a:t>java.lang</a:t>
            </a:r>
            <a:r>
              <a:rPr lang="en-GB" altLang="en-US" sz="2800" dirty="0">
                <a:latin typeface="Times New Roman" panose="02020603050405020304" pitchFamily="18" charset="0"/>
              </a:rPr>
              <a:t> and </a:t>
            </a:r>
            <a:r>
              <a:rPr lang="en-GB" altLang="en-US" sz="2800" i="1" dirty="0" err="1">
                <a:latin typeface="Times New Roman" panose="02020603050405020304" pitchFamily="18" charset="0"/>
              </a:rPr>
              <a:t>java.util</a:t>
            </a:r>
            <a:endParaRPr lang="en-GB" altLang="en-US" sz="2800" i="1" dirty="0">
              <a:latin typeface="Times New Roman" panose="02020603050405020304" pitchFamily="18" charset="0"/>
            </a:endParaRPr>
          </a:p>
          <a:p>
            <a:pPr marL="457200" indent="-457200" algn="just" eaLnBrk="1" hangingPunct="1">
              <a:spcAft>
                <a:spcPct val="30000"/>
              </a:spcAft>
              <a:buFont typeface="Wingdings" panose="05000000000000000000" pitchFamily="2" charset="2"/>
              <a:buChar char="Ø"/>
            </a:pPr>
            <a:r>
              <a:rPr lang="en-GB" altLang="en-US" sz="2800" dirty="0">
                <a:latin typeface="Times New Roman" panose="02020603050405020304" pitchFamily="18" charset="0"/>
              </a:rPr>
              <a:t>The CLASSPATH environment variable is used to direct the compiler and interpreter to where programmer defined imported packages can be found</a:t>
            </a:r>
          </a:p>
          <a:p>
            <a:pPr marL="457200" indent="-457200" algn="just" eaLnBrk="1" hangingPunct="1">
              <a:spcAft>
                <a:spcPct val="30000"/>
              </a:spcAft>
              <a:buFont typeface="Wingdings" panose="05000000000000000000" pitchFamily="2" charset="2"/>
              <a:buChar char="Ø"/>
            </a:pPr>
            <a:r>
              <a:rPr lang="en-GB" altLang="en-US" sz="2800" dirty="0">
                <a:latin typeface="Times New Roman" panose="02020603050405020304" pitchFamily="18" charset="0"/>
              </a:rPr>
              <a:t>The CLASSPATH environment variable is an ordered list of directories and files</a:t>
            </a:r>
            <a:endParaRPr lang="en-US" altLang="en-US" sz="2800" dirty="0">
              <a:latin typeface="Times New Roman" panose="02020603050405020304" pitchFamily="18" charset="0"/>
            </a:endParaRPr>
          </a:p>
          <a:p>
            <a:pPr eaLnBrk="1" hangingPunct="1">
              <a:buFontTx/>
              <a:buNone/>
            </a:pPr>
            <a:endParaRPr lang="en-US" altLang="en-US" sz="2800" dirty="0">
              <a:latin typeface="Times New Roman" panose="02020603050405020304" pitchFamily="18" charset="0"/>
            </a:endParaRPr>
          </a:p>
        </p:txBody>
      </p:sp>
      <p:sp>
        <p:nvSpPr>
          <p:cNvPr id="2" name="Slide Number Placeholder 4">
            <a:extLst>
              <a:ext uri="{FF2B5EF4-FFF2-40B4-BE49-F238E27FC236}">
                <a16:creationId xmlns:a16="http://schemas.microsoft.com/office/drawing/2014/main" id="{970CC5EC-9971-4A5E-B344-4E0E515A39C4}"/>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6" name="Rectangle 5">
            <a:extLst>
              <a:ext uri="{FF2B5EF4-FFF2-40B4-BE49-F238E27FC236}">
                <a16:creationId xmlns:a16="http://schemas.microsoft.com/office/drawing/2014/main" id="{9ACE2129-A537-4C2B-A6E5-B867FE782841}"/>
              </a:ext>
            </a:extLst>
          </p:cNvPr>
          <p:cNvSpPr/>
          <p:nvPr/>
        </p:nvSpPr>
        <p:spPr>
          <a:xfrm>
            <a:off x="4038600" y="6172200"/>
            <a:ext cx="1066800" cy="3217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BC389A6-F089-4617-9B44-939032606DD6}"/>
              </a:ext>
            </a:extLst>
          </p:cNvPr>
          <p:cNvSpPr>
            <a:spLocks noGrp="1"/>
          </p:cNvSpPr>
          <p:nvPr>
            <p:ph type="ftr" sz="quarter" idx="11"/>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1" fontAlgn="base" hangingPunct="1">
              <a:spcBef>
                <a:spcPct val="0"/>
              </a:spcBef>
              <a:spcAft>
                <a:spcPct val="0"/>
              </a:spcAft>
              <a:defRPr sz="1400" b="0" kern="1200">
                <a:solidFill>
                  <a:schemeClr val="tx1"/>
                </a:solidFill>
                <a:latin typeface="+mn-lt"/>
                <a:ea typeface="+mn-ea"/>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b="1" kern="1200">
                <a:solidFill>
                  <a:schemeClr val="tx1"/>
                </a:solidFill>
                <a:latin typeface="Times New Roman" panose="02020603050405020304" pitchFamily="18" charset="0"/>
                <a:ea typeface="MS PGothic" panose="020B0600070205080204" pitchFamily="34"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SOBUZ</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772" name="Rectangle 2">
            <a:extLst>
              <a:ext uri="{FF2B5EF4-FFF2-40B4-BE49-F238E27FC236}">
                <a16:creationId xmlns:a16="http://schemas.microsoft.com/office/drawing/2014/main" id="{C55F93AA-18DB-4182-8FC9-3EABEB559D93}"/>
              </a:ext>
            </a:extLst>
          </p:cNvPr>
          <p:cNvSpPr>
            <a:spLocks noGrp="1" noChangeArrowheads="1"/>
          </p:cNvSpPr>
          <p:nvPr>
            <p:ph type="title"/>
          </p:nvPr>
        </p:nvSpPr>
        <p:spPr>
          <a:xfrm>
            <a:off x="269854" y="685800"/>
            <a:ext cx="8686800" cy="1173163"/>
          </a:xfrm>
        </p:spPr>
        <p:txBody>
          <a:bodyPr/>
          <a:lstStyle/>
          <a:p>
            <a:pPr eaLnBrk="1" hangingPunct="1"/>
            <a:r>
              <a:rPr lang="en-US" altLang="en-US" sz="4000" b="1" dirty="0">
                <a:latin typeface="Times New Roman" panose="02020603050405020304" pitchFamily="18" charset="0"/>
              </a:rPr>
              <a:t>CLASSPATH Environment Variable</a:t>
            </a:r>
          </a:p>
        </p:txBody>
      </p:sp>
      <p:sp>
        <p:nvSpPr>
          <p:cNvPr id="32773" name="Rectangle 3">
            <a:extLst>
              <a:ext uri="{FF2B5EF4-FFF2-40B4-BE49-F238E27FC236}">
                <a16:creationId xmlns:a16="http://schemas.microsoft.com/office/drawing/2014/main" id="{36D4DA88-2E5D-4C09-BA3D-CD04F545F52F}"/>
              </a:ext>
            </a:extLst>
          </p:cNvPr>
          <p:cNvSpPr>
            <a:spLocks noGrp="1" noChangeArrowheads="1"/>
          </p:cNvSpPr>
          <p:nvPr>
            <p:ph type="body" idx="1"/>
          </p:nvPr>
        </p:nvSpPr>
        <p:spPr>
          <a:xfrm>
            <a:off x="228600" y="1752600"/>
            <a:ext cx="8686800" cy="2954655"/>
          </a:xfrm>
        </p:spPr>
        <p:txBody>
          <a:bodyPr/>
          <a:lstStyle/>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To set the CLASSPATH variable we use the following command:</a:t>
            </a:r>
          </a:p>
          <a:p>
            <a:pPr eaLnBrk="1" hangingPunct="1">
              <a:buFont typeface="Wingdings" panose="05000000000000000000" pitchFamily="2" charset="2"/>
              <a:buNone/>
            </a:pPr>
            <a:r>
              <a:rPr lang="en-US" altLang="en-US" sz="2800" dirty="0">
                <a:latin typeface="Times New Roman" panose="02020603050405020304" pitchFamily="18" charset="0"/>
              </a:rPr>
              <a:t>	set CLASSPATH=c:\</a:t>
            </a:r>
          </a:p>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Java compiler and interpreter searches the user defined packages from the above directory.</a:t>
            </a:r>
          </a:p>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To clear the previous setting we use:</a:t>
            </a:r>
          </a:p>
          <a:p>
            <a:pPr lvl="1" eaLnBrk="1" hangingPunct="1">
              <a:buFont typeface="Wingdings" panose="05000000000000000000" pitchFamily="2" charset="2"/>
              <a:buNone/>
            </a:pPr>
            <a:r>
              <a:rPr lang="en-US" altLang="en-US" sz="2400" dirty="0">
                <a:latin typeface="Times New Roman" panose="02020603050405020304" pitchFamily="18" charset="0"/>
              </a:rPr>
              <a:t>set CLASSPATH= </a:t>
            </a:r>
          </a:p>
        </p:txBody>
      </p:sp>
      <p:sp>
        <p:nvSpPr>
          <p:cNvPr id="2" name="Slide Number Placeholder 4">
            <a:extLst>
              <a:ext uri="{FF2B5EF4-FFF2-40B4-BE49-F238E27FC236}">
                <a16:creationId xmlns:a16="http://schemas.microsoft.com/office/drawing/2014/main" id="{0C99346A-AFD7-4BE9-AFFD-52FDB5F34349}"/>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6" name="Rectangle 5">
            <a:extLst>
              <a:ext uri="{FF2B5EF4-FFF2-40B4-BE49-F238E27FC236}">
                <a16:creationId xmlns:a16="http://schemas.microsoft.com/office/drawing/2014/main" id="{9288A310-F0A3-40C9-BEA5-7AE223A2309D}"/>
              </a:ext>
            </a:extLst>
          </p:cNvPr>
          <p:cNvSpPr/>
          <p:nvPr/>
        </p:nvSpPr>
        <p:spPr>
          <a:xfrm>
            <a:off x="4038600" y="6172200"/>
            <a:ext cx="1066800" cy="3217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a:extLst>
              <a:ext uri="{FF2B5EF4-FFF2-40B4-BE49-F238E27FC236}">
                <a16:creationId xmlns:a16="http://schemas.microsoft.com/office/drawing/2014/main" id="{B2C11B46-C2B9-4B2C-A28F-F50D2AE1DCDF}"/>
              </a:ext>
            </a:extLst>
          </p:cNvPr>
          <p:cNvSpPr>
            <a:spLocks noGrp="1" noChangeArrowheads="1"/>
          </p:cNvSpPr>
          <p:nvPr>
            <p:ph type="title"/>
          </p:nvPr>
        </p:nvSpPr>
        <p:spPr>
          <a:xfrm>
            <a:off x="113030" y="668736"/>
            <a:ext cx="8763000" cy="1169988"/>
          </a:xfrm>
        </p:spPr>
        <p:txBody>
          <a:bodyPr/>
          <a:lstStyle/>
          <a:p>
            <a:pPr eaLnBrk="1" hangingPunct="1"/>
            <a:r>
              <a:rPr lang="en-US" altLang="en-US" sz="3600" b="1" dirty="0">
                <a:latin typeface="Times New Roman" panose="02020603050405020304" pitchFamily="18" charset="0"/>
              </a:rPr>
              <a:t>Example1-Package[Using CLASSPATH]</a:t>
            </a:r>
          </a:p>
        </p:txBody>
      </p:sp>
      <p:sp>
        <p:nvSpPr>
          <p:cNvPr id="33797" name="Rectangle 3">
            <a:extLst>
              <a:ext uri="{FF2B5EF4-FFF2-40B4-BE49-F238E27FC236}">
                <a16:creationId xmlns:a16="http://schemas.microsoft.com/office/drawing/2014/main" id="{A406B6EA-98F3-4435-8C86-173656E8E1DE}"/>
              </a:ext>
            </a:extLst>
          </p:cNvPr>
          <p:cNvSpPr>
            <a:spLocks noGrp="1" noChangeArrowheads="1"/>
          </p:cNvSpPr>
          <p:nvPr>
            <p:ph type="body" sz="half" idx="1"/>
          </p:nvPr>
        </p:nvSpPr>
        <p:spPr>
          <a:xfrm>
            <a:off x="0" y="1410286"/>
            <a:ext cx="4229950" cy="2769989"/>
          </a:xfrm>
        </p:spPr>
        <p:txBody>
          <a:bodyPr/>
          <a:lstStyle/>
          <a:p>
            <a:pPr eaLnBrk="1" hangingPunct="1">
              <a:buFontTx/>
              <a:buNone/>
            </a:pPr>
            <a:r>
              <a:rPr lang="en-US" altLang="en-US" sz="2000" dirty="0">
                <a:latin typeface="Times New Roman" panose="02020603050405020304" pitchFamily="18" charset="0"/>
              </a:rPr>
              <a:t>package p1;</a:t>
            </a:r>
          </a:p>
          <a:p>
            <a:pPr eaLnBrk="1" hangingPunct="1">
              <a:buFontTx/>
              <a:buNone/>
            </a:pPr>
            <a:r>
              <a:rPr lang="en-US" altLang="en-US" sz="2000" dirty="0">
                <a:latin typeface="Times New Roman" panose="02020603050405020304" pitchFamily="18" charset="0"/>
              </a:rPr>
              <a:t>public class </a:t>
            </a:r>
            <a:r>
              <a:rPr lang="en-US" altLang="en-US" sz="2000" dirty="0" err="1">
                <a:latin typeface="Times New Roman" panose="02020603050405020304" pitchFamily="18" charset="0"/>
              </a:rPr>
              <a:t>ClassA</a:t>
            </a:r>
            <a:endParaRPr lang="en-US" altLang="en-US" sz="2000" dirty="0">
              <a:latin typeface="Times New Roman" panose="02020603050405020304" pitchFamily="18" charset="0"/>
            </a:endParaRP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public void </a:t>
            </a:r>
            <a:r>
              <a:rPr lang="en-US" altLang="en-US" sz="2000" dirty="0" err="1">
                <a:latin typeface="Times New Roman" panose="02020603050405020304" pitchFamily="18" charset="0"/>
              </a:rPr>
              <a:t>displayA</a:t>
            </a: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Class A</a:t>
            </a:r>
            <a:r>
              <a:rPr lang="ja-JP" altLang="en-US" sz="2000" dirty="0">
                <a:latin typeface="Times New Roman" panose="02020603050405020304" pitchFamily="18" charset="0"/>
              </a:rPr>
              <a:t>”</a:t>
            </a:r>
            <a:r>
              <a:rPr lang="en-US" altLang="ja-JP"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a:t>
            </a:r>
          </a:p>
          <a:p>
            <a:pPr eaLnBrk="1" hangingPunct="1">
              <a:buFontTx/>
              <a:buNone/>
            </a:pPr>
            <a:endParaRPr lang="en-US" altLang="en-US" sz="2000" dirty="0">
              <a:latin typeface="Times New Roman" panose="02020603050405020304" pitchFamily="18" charset="0"/>
            </a:endParaRPr>
          </a:p>
        </p:txBody>
      </p:sp>
      <p:sp>
        <p:nvSpPr>
          <p:cNvPr id="33798" name="Rectangle 4">
            <a:extLst>
              <a:ext uri="{FF2B5EF4-FFF2-40B4-BE49-F238E27FC236}">
                <a16:creationId xmlns:a16="http://schemas.microsoft.com/office/drawing/2014/main" id="{D6148E25-3602-4482-814A-6D8AD536029F}"/>
              </a:ext>
            </a:extLst>
          </p:cNvPr>
          <p:cNvSpPr>
            <a:spLocks noGrp="1" noChangeArrowheads="1"/>
          </p:cNvSpPr>
          <p:nvPr>
            <p:ph type="body" sz="half" idx="2"/>
          </p:nvPr>
        </p:nvSpPr>
        <p:spPr>
          <a:xfrm>
            <a:off x="4494530" y="1525587"/>
            <a:ext cx="4572000" cy="2462213"/>
          </a:xfrm>
        </p:spPr>
        <p:txBody>
          <a:bodyPr/>
          <a:lstStyle/>
          <a:p>
            <a:pPr eaLnBrk="1" hangingPunct="1">
              <a:buFontTx/>
              <a:buNone/>
            </a:pPr>
            <a:r>
              <a:rPr lang="en-US" altLang="en-US" sz="2000" dirty="0">
                <a:latin typeface="Times New Roman" panose="02020603050405020304" pitchFamily="18" charset="0"/>
              </a:rPr>
              <a:t>import p1.ClassA;</a:t>
            </a:r>
          </a:p>
          <a:p>
            <a:pPr eaLnBrk="1" hangingPunct="1">
              <a:buFontTx/>
              <a:buNone/>
            </a:pPr>
            <a:r>
              <a:rPr lang="en-US" altLang="en-US" sz="2000" dirty="0">
                <a:latin typeface="Times New Roman" panose="02020603050405020304" pitchFamily="18" charset="0"/>
              </a:rPr>
              <a:t>Class PackageTest1</a:t>
            </a: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public static void main(String str[])</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ClassA</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obA</a:t>
            </a:r>
            <a:r>
              <a:rPr lang="en-US" altLang="en-US" sz="2000" dirty="0">
                <a:latin typeface="Times New Roman" panose="02020603050405020304" pitchFamily="18" charset="0"/>
              </a:rPr>
              <a:t>=new </a:t>
            </a:r>
            <a:r>
              <a:rPr lang="en-US" altLang="en-US" sz="2000" dirty="0" err="1">
                <a:latin typeface="Times New Roman" panose="02020603050405020304" pitchFamily="18" charset="0"/>
              </a:rPr>
              <a:t>ClassA</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obA.displayA</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a:t>
            </a:r>
          </a:p>
        </p:txBody>
      </p:sp>
      <p:sp>
        <p:nvSpPr>
          <p:cNvPr id="33799" name="Text Box 5">
            <a:extLst>
              <a:ext uri="{FF2B5EF4-FFF2-40B4-BE49-F238E27FC236}">
                <a16:creationId xmlns:a16="http://schemas.microsoft.com/office/drawing/2014/main" id="{84E95CFA-65D3-424A-BE78-FE40630B1904}"/>
              </a:ext>
            </a:extLst>
          </p:cNvPr>
          <p:cNvSpPr txBox="1">
            <a:spLocks noChangeArrowheads="1"/>
          </p:cNvSpPr>
          <p:nvPr/>
        </p:nvSpPr>
        <p:spPr bwMode="auto">
          <a:xfrm>
            <a:off x="0" y="4438769"/>
            <a:ext cx="4038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 c:\p1\ClassA.java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Compile-</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javac</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c:\p1\ClassA.java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Class file in –c:\p1\ClassA.class</a:t>
            </a:r>
          </a:p>
        </p:txBody>
      </p:sp>
      <p:sp>
        <p:nvSpPr>
          <p:cNvPr id="33800" name="Text Box 6">
            <a:extLst>
              <a:ext uri="{FF2B5EF4-FFF2-40B4-BE49-F238E27FC236}">
                <a16:creationId xmlns:a16="http://schemas.microsoft.com/office/drawing/2014/main" id="{87A80C25-4C86-4D19-9111-FF924BE39753}"/>
              </a:ext>
            </a:extLst>
          </p:cNvPr>
          <p:cNvSpPr txBox="1">
            <a:spLocks noChangeArrowheads="1"/>
          </p:cNvSpPr>
          <p:nvPr/>
        </p:nvSpPr>
        <p:spPr bwMode="auto">
          <a:xfrm>
            <a:off x="4343400" y="4438769"/>
            <a:ext cx="5105400"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file-c:\java\jdk1.6.0_06\bin\PackageTest1.java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Compile-</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javac</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PackageTest1.java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Copy –PackageTest1.class -&gt; c:\</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Execute-java PackageTest1</a:t>
            </a:r>
          </a:p>
        </p:txBody>
      </p:sp>
      <p:sp>
        <p:nvSpPr>
          <p:cNvPr id="2" name="Slide Number Placeholder 4">
            <a:extLst>
              <a:ext uri="{FF2B5EF4-FFF2-40B4-BE49-F238E27FC236}">
                <a16:creationId xmlns:a16="http://schemas.microsoft.com/office/drawing/2014/main" id="{FD21AE61-B76E-4F6C-818B-98FE7CA23410}"/>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Slide Number Placeholder 6">
            <a:extLst>
              <a:ext uri="{FF2B5EF4-FFF2-40B4-BE49-F238E27FC236}">
                <a16:creationId xmlns:a16="http://schemas.microsoft.com/office/drawing/2014/main" id="{A5379773-071C-42B0-B08B-351F7F8F96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DCDDD4B-F0AE-44F8-8590-30160F5284E6}" type="slidenum">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4820" name="Rectangle 2">
            <a:extLst>
              <a:ext uri="{FF2B5EF4-FFF2-40B4-BE49-F238E27FC236}">
                <a16:creationId xmlns:a16="http://schemas.microsoft.com/office/drawing/2014/main" id="{A041EA84-1162-4B91-A3C4-DCA7C5B63A9A}"/>
              </a:ext>
            </a:extLst>
          </p:cNvPr>
          <p:cNvSpPr>
            <a:spLocks noGrp="1" noChangeArrowheads="1"/>
          </p:cNvSpPr>
          <p:nvPr>
            <p:ph type="title"/>
          </p:nvPr>
        </p:nvSpPr>
        <p:spPr>
          <a:xfrm>
            <a:off x="288782" y="645202"/>
            <a:ext cx="8763000" cy="609600"/>
          </a:xfrm>
        </p:spPr>
        <p:txBody>
          <a:bodyPr/>
          <a:lstStyle/>
          <a:p>
            <a:pPr eaLnBrk="1" hangingPunct="1"/>
            <a:r>
              <a:rPr lang="en-US" altLang="en-US" sz="3600" b="1">
                <a:latin typeface="Times New Roman" panose="02020603050405020304" pitchFamily="18" charset="0"/>
              </a:rPr>
              <a:t>Example2-Package[Using CLASSPATH]</a:t>
            </a:r>
          </a:p>
        </p:txBody>
      </p:sp>
      <p:sp>
        <p:nvSpPr>
          <p:cNvPr id="34821" name="Rectangle 3">
            <a:extLst>
              <a:ext uri="{FF2B5EF4-FFF2-40B4-BE49-F238E27FC236}">
                <a16:creationId xmlns:a16="http://schemas.microsoft.com/office/drawing/2014/main" id="{8FA34D03-F3F4-49BC-98B5-605039928521}"/>
              </a:ext>
            </a:extLst>
          </p:cNvPr>
          <p:cNvSpPr>
            <a:spLocks noGrp="1" noChangeArrowheads="1"/>
          </p:cNvSpPr>
          <p:nvPr>
            <p:ph type="body" sz="half" idx="1"/>
          </p:nvPr>
        </p:nvSpPr>
        <p:spPr>
          <a:xfrm>
            <a:off x="213319" y="1363915"/>
            <a:ext cx="4033838" cy="3077766"/>
          </a:xfrm>
        </p:spPr>
        <p:txBody>
          <a:bodyPr/>
          <a:lstStyle/>
          <a:p>
            <a:pPr eaLnBrk="1" hangingPunct="1">
              <a:buFontTx/>
              <a:buNone/>
            </a:pPr>
            <a:r>
              <a:rPr lang="en-US" altLang="en-US" sz="2000" dirty="0">
                <a:latin typeface="Times New Roman" panose="02020603050405020304" pitchFamily="18" charset="0"/>
              </a:rPr>
              <a:t>package p2;</a:t>
            </a:r>
          </a:p>
          <a:p>
            <a:pPr eaLnBrk="1" hangingPunct="1">
              <a:buFontTx/>
              <a:buNone/>
            </a:pPr>
            <a:r>
              <a:rPr lang="en-US" altLang="en-US" sz="2000" dirty="0">
                <a:latin typeface="Times New Roman" panose="02020603050405020304" pitchFamily="18" charset="0"/>
              </a:rPr>
              <a:t>public class </a:t>
            </a:r>
            <a:r>
              <a:rPr lang="en-US" altLang="en-US" sz="2000" dirty="0" err="1">
                <a:latin typeface="Times New Roman" panose="02020603050405020304" pitchFamily="18" charset="0"/>
              </a:rPr>
              <a:t>ClassB</a:t>
            </a:r>
            <a:endParaRPr lang="en-US" altLang="en-US" sz="2000" dirty="0">
              <a:latin typeface="Times New Roman" panose="02020603050405020304" pitchFamily="18" charset="0"/>
            </a:endParaRP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protected int m =10;</a:t>
            </a:r>
          </a:p>
          <a:p>
            <a:pPr eaLnBrk="1" hangingPunct="1">
              <a:buFontTx/>
              <a:buNone/>
            </a:pPr>
            <a:r>
              <a:rPr lang="en-US" altLang="en-US" sz="2000" dirty="0">
                <a:latin typeface="Times New Roman" panose="02020603050405020304" pitchFamily="18" charset="0"/>
              </a:rPr>
              <a:t>  public void </a:t>
            </a:r>
            <a:r>
              <a:rPr lang="en-US" altLang="en-US" sz="2000" dirty="0" err="1">
                <a:latin typeface="Times New Roman" panose="02020603050405020304" pitchFamily="18" charset="0"/>
              </a:rPr>
              <a:t>displayB</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Class B</a:t>
            </a:r>
            <a:r>
              <a:rPr lang="ja-JP" altLang="en-US" sz="2000" dirty="0">
                <a:latin typeface="Times New Roman" panose="02020603050405020304" pitchFamily="18" charset="0"/>
              </a:rPr>
              <a:t>”</a:t>
            </a:r>
            <a:r>
              <a:rPr lang="en-US" altLang="ja-JP"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m= </a:t>
            </a:r>
            <a:r>
              <a:rPr lang="ja-JP" altLang="en-US" sz="2000" dirty="0">
                <a:latin typeface="Times New Roman" panose="02020603050405020304" pitchFamily="18" charset="0"/>
              </a:rPr>
              <a:t>“</a:t>
            </a:r>
            <a:r>
              <a:rPr lang="en-US" altLang="ja-JP" sz="2000" dirty="0">
                <a:latin typeface="Times New Roman" panose="02020603050405020304" pitchFamily="18" charset="0"/>
              </a:rPr>
              <a:t>+m);</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a:t>
            </a:r>
          </a:p>
        </p:txBody>
      </p:sp>
      <p:sp>
        <p:nvSpPr>
          <p:cNvPr id="34822" name="Rectangle 4">
            <a:extLst>
              <a:ext uri="{FF2B5EF4-FFF2-40B4-BE49-F238E27FC236}">
                <a16:creationId xmlns:a16="http://schemas.microsoft.com/office/drawing/2014/main" id="{A721DB84-BBB9-4A28-AB3E-887F9029E6BE}"/>
              </a:ext>
            </a:extLst>
          </p:cNvPr>
          <p:cNvSpPr>
            <a:spLocks noGrp="1" noChangeArrowheads="1"/>
          </p:cNvSpPr>
          <p:nvPr>
            <p:ph type="body" sz="half" idx="2"/>
          </p:nvPr>
        </p:nvSpPr>
        <p:spPr>
          <a:xfrm>
            <a:off x="4537209" y="1293461"/>
            <a:ext cx="4267200" cy="3385542"/>
          </a:xfrm>
        </p:spPr>
        <p:txBody>
          <a:bodyPr/>
          <a:lstStyle/>
          <a:p>
            <a:pPr eaLnBrk="1" hangingPunct="1">
              <a:buFontTx/>
              <a:buNone/>
            </a:pPr>
            <a:r>
              <a:rPr lang="en-US" altLang="en-US" sz="2000" dirty="0">
                <a:latin typeface="Times New Roman" panose="02020603050405020304" pitchFamily="18" charset="0"/>
              </a:rPr>
              <a:t>import p1.*;</a:t>
            </a:r>
          </a:p>
          <a:p>
            <a:pPr eaLnBrk="1" hangingPunct="1">
              <a:buFontTx/>
              <a:buNone/>
            </a:pPr>
            <a:r>
              <a:rPr lang="en-US" altLang="en-US" sz="2000" dirty="0">
                <a:latin typeface="Times New Roman" panose="02020603050405020304" pitchFamily="18" charset="0"/>
              </a:rPr>
              <a:t>import p2.*;</a:t>
            </a:r>
          </a:p>
          <a:p>
            <a:pPr eaLnBrk="1" hangingPunct="1">
              <a:buFontTx/>
              <a:buNone/>
            </a:pPr>
            <a:r>
              <a:rPr lang="en-US" altLang="en-US" sz="2000" dirty="0">
                <a:latin typeface="Times New Roman" panose="02020603050405020304" pitchFamily="18" charset="0"/>
              </a:rPr>
              <a:t>class PackageTest2</a:t>
            </a: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public static void main(String str[])</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ClassA</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obA</a:t>
            </a:r>
            <a:r>
              <a:rPr lang="en-US" altLang="en-US" sz="2000" dirty="0">
                <a:latin typeface="Times New Roman" panose="02020603050405020304" pitchFamily="18" charset="0"/>
              </a:rPr>
              <a:t>=new </a:t>
            </a:r>
            <a:r>
              <a:rPr lang="en-US" altLang="en-US" sz="2000" dirty="0" err="1">
                <a:latin typeface="Times New Roman" panose="02020603050405020304" pitchFamily="18" charset="0"/>
              </a:rPr>
              <a:t>ClassA</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Classb</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obB</a:t>
            </a:r>
            <a:r>
              <a:rPr lang="en-US" altLang="en-US" sz="2000" dirty="0">
                <a:latin typeface="Times New Roman" panose="02020603050405020304" pitchFamily="18" charset="0"/>
              </a:rPr>
              <a:t>=new </a:t>
            </a:r>
            <a:r>
              <a:rPr lang="en-US" altLang="en-US" sz="2000" dirty="0" err="1">
                <a:latin typeface="Times New Roman" panose="02020603050405020304" pitchFamily="18" charset="0"/>
              </a:rPr>
              <a:t>ClassB</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obA.displayA</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obB.displayB</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p:txBody>
      </p:sp>
      <p:sp>
        <p:nvSpPr>
          <p:cNvPr id="34823" name="Text Box 5">
            <a:extLst>
              <a:ext uri="{FF2B5EF4-FFF2-40B4-BE49-F238E27FC236}">
                <a16:creationId xmlns:a16="http://schemas.microsoft.com/office/drawing/2014/main" id="{3D805950-1712-4424-B38C-7C6D9D8E1962}"/>
              </a:ext>
            </a:extLst>
          </p:cNvPr>
          <p:cNvSpPr txBox="1">
            <a:spLocks noChangeArrowheads="1"/>
          </p:cNvSpPr>
          <p:nvPr/>
        </p:nvSpPr>
        <p:spPr bwMode="auto">
          <a:xfrm>
            <a:off x="125361" y="4577915"/>
            <a:ext cx="4038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 c:\p2\ClassB.java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Compile-c:\p2\ClassB.java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Class file in –c:\p2\ClassB.class</a:t>
            </a:r>
          </a:p>
        </p:txBody>
      </p:sp>
      <p:sp>
        <p:nvSpPr>
          <p:cNvPr id="34824" name="Text Box 6">
            <a:extLst>
              <a:ext uri="{FF2B5EF4-FFF2-40B4-BE49-F238E27FC236}">
                <a16:creationId xmlns:a16="http://schemas.microsoft.com/office/drawing/2014/main" id="{3A0F83B1-3304-4183-9BA8-FC68C2CC56D6}"/>
              </a:ext>
            </a:extLst>
          </p:cNvPr>
          <p:cNvSpPr txBox="1">
            <a:spLocks noChangeArrowheads="1"/>
          </p:cNvSpPr>
          <p:nvPr/>
        </p:nvSpPr>
        <p:spPr bwMode="auto">
          <a:xfrm>
            <a:off x="4419600" y="4683457"/>
            <a:ext cx="45720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file-c:\java\jdk1.6.0_06\bin\PackageTest2.java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Compile-</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javac</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PackageTest2.java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Copy –PackageTest2.class -&gt; c:\</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Execute-java PackageTest2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a:extLst>
              <a:ext uri="{FF2B5EF4-FFF2-40B4-BE49-F238E27FC236}">
                <a16:creationId xmlns:a16="http://schemas.microsoft.com/office/drawing/2014/main" id="{8FA20987-B79A-4C29-9A8C-C310F46A4BEF}"/>
              </a:ext>
            </a:extLst>
          </p:cNvPr>
          <p:cNvSpPr>
            <a:spLocks noGrp="1" noChangeArrowheads="1"/>
          </p:cNvSpPr>
          <p:nvPr>
            <p:ph type="title"/>
          </p:nvPr>
        </p:nvSpPr>
        <p:spPr>
          <a:xfrm>
            <a:off x="131661" y="701682"/>
            <a:ext cx="8458200" cy="1143000"/>
          </a:xfrm>
        </p:spPr>
        <p:txBody>
          <a:bodyPr/>
          <a:lstStyle/>
          <a:p>
            <a:pPr eaLnBrk="1" hangingPunct="1"/>
            <a:r>
              <a:rPr lang="en-US" altLang="en-US" sz="3600" b="1" dirty="0">
                <a:latin typeface="Times New Roman" panose="02020603050405020304" pitchFamily="18" charset="0"/>
              </a:rPr>
              <a:t>Example 3- Package[Using CLASSPATH]</a:t>
            </a:r>
          </a:p>
        </p:txBody>
      </p:sp>
      <p:sp>
        <p:nvSpPr>
          <p:cNvPr id="35845" name="Rectangle 3">
            <a:extLst>
              <a:ext uri="{FF2B5EF4-FFF2-40B4-BE49-F238E27FC236}">
                <a16:creationId xmlns:a16="http://schemas.microsoft.com/office/drawing/2014/main" id="{A788B66F-0325-416B-AB25-5E07B581E923}"/>
              </a:ext>
            </a:extLst>
          </p:cNvPr>
          <p:cNvSpPr>
            <a:spLocks noGrp="1" noChangeArrowheads="1"/>
          </p:cNvSpPr>
          <p:nvPr>
            <p:ph type="body" sz="half" idx="1"/>
          </p:nvPr>
        </p:nvSpPr>
        <p:spPr>
          <a:xfrm>
            <a:off x="218235" y="1403092"/>
            <a:ext cx="4033838" cy="3508653"/>
          </a:xfrm>
        </p:spPr>
        <p:txBody>
          <a:bodyPr/>
          <a:lstStyle/>
          <a:p>
            <a:pPr eaLnBrk="1" hangingPunct="1">
              <a:buFontTx/>
              <a:buNone/>
            </a:pPr>
            <a:r>
              <a:rPr lang="en-US" altLang="en-US" sz="2000" dirty="0">
                <a:latin typeface="Times New Roman" panose="02020603050405020304" pitchFamily="18" charset="0"/>
              </a:rPr>
              <a:t>import p2.ClassB;</a:t>
            </a:r>
          </a:p>
          <a:p>
            <a:pPr eaLnBrk="1" hangingPunct="1">
              <a:buFontTx/>
              <a:buNone/>
            </a:pPr>
            <a:r>
              <a:rPr lang="en-US" altLang="en-US" sz="2000" dirty="0">
                <a:latin typeface="Times New Roman" panose="02020603050405020304" pitchFamily="18" charset="0"/>
              </a:rPr>
              <a:t>class </a:t>
            </a:r>
            <a:r>
              <a:rPr lang="en-US" altLang="en-US" sz="2000" dirty="0" err="1">
                <a:latin typeface="Times New Roman" panose="02020603050405020304" pitchFamily="18" charset="0"/>
              </a:rPr>
              <a:t>ClassC</a:t>
            </a:r>
            <a:r>
              <a:rPr lang="en-US" altLang="en-US" sz="2000" dirty="0">
                <a:latin typeface="Times New Roman" panose="02020603050405020304" pitchFamily="18" charset="0"/>
              </a:rPr>
              <a:t> extends </a:t>
            </a:r>
            <a:r>
              <a:rPr lang="en-US" altLang="en-US" sz="2000" dirty="0" err="1">
                <a:latin typeface="Times New Roman" panose="02020603050405020304" pitchFamily="18" charset="0"/>
              </a:rPr>
              <a:t>ClassB</a:t>
            </a:r>
            <a:endParaRPr lang="en-US" altLang="en-US" sz="2000" dirty="0">
              <a:latin typeface="Times New Roman" panose="02020603050405020304" pitchFamily="18" charset="0"/>
            </a:endParaRP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int n=20;</a:t>
            </a:r>
          </a:p>
          <a:p>
            <a:pPr eaLnBrk="1" hangingPunct="1">
              <a:buFontTx/>
              <a:buNone/>
            </a:pPr>
            <a:r>
              <a:rPr lang="en-US" altLang="en-US" sz="2000" dirty="0">
                <a:latin typeface="Times New Roman" panose="02020603050405020304" pitchFamily="18" charset="0"/>
              </a:rPr>
              <a:t>  void </a:t>
            </a:r>
            <a:r>
              <a:rPr lang="en-US" altLang="en-US" sz="2000" dirty="0" err="1">
                <a:latin typeface="Times New Roman" panose="02020603050405020304" pitchFamily="18" charset="0"/>
              </a:rPr>
              <a:t>displayC</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Class C</a:t>
            </a:r>
            <a:r>
              <a:rPr lang="ja-JP" altLang="en-US" sz="2000" dirty="0">
                <a:latin typeface="Times New Roman" panose="02020603050405020304" pitchFamily="18" charset="0"/>
              </a:rPr>
              <a:t>”</a:t>
            </a:r>
            <a:r>
              <a:rPr lang="en-US" altLang="ja-JP"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m= </a:t>
            </a:r>
            <a:r>
              <a:rPr lang="ja-JP" altLang="en-US" sz="2000" dirty="0">
                <a:latin typeface="Times New Roman" panose="02020603050405020304" pitchFamily="18" charset="0"/>
              </a:rPr>
              <a:t>“</a:t>
            </a:r>
            <a:r>
              <a:rPr lang="en-US" altLang="ja-JP" sz="2000" dirty="0">
                <a:latin typeface="Times New Roman" panose="02020603050405020304" pitchFamily="18" charset="0"/>
              </a:rPr>
              <a:t>+m);</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ja-JP" altLang="en-US" sz="2000" dirty="0">
                <a:latin typeface="Times New Roman" panose="02020603050405020304" pitchFamily="18" charset="0"/>
              </a:rPr>
              <a:t>“</a:t>
            </a:r>
            <a:r>
              <a:rPr lang="en-US" altLang="ja-JP" sz="2000" dirty="0">
                <a:latin typeface="Times New Roman" panose="02020603050405020304" pitchFamily="18" charset="0"/>
              </a:rPr>
              <a:t>n= </a:t>
            </a:r>
            <a:r>
              <a:rPr lang="ja-JP" altLang="en-US" sz="2000" dirty="0">
                <a:latin typeface="Times New Roman" panose="02020603050405020304" pitchFamily="18" charset="0"/>
              </a:rPr>
              <a:t>“</a:t>
            </a:r>
            <a:r>
              <a:rPr lang="en-US" altLang="ja-JP" sz="2000" dirty="0">
                <a:latin typeface="Times New Roman" panose="02020603050405020304" pitchFamily="18" charset="0"/>
              </a:rPr>
              <a:t>+n);</a:t>
            </a:r>
          </a:p>
          <a:p>
            <a:pPr eaLnBrk="1" hangingPunct="1">
              <a:buFontTx/>
              <a:buNone/>
            </a:pPr>
            <a:r>
              <a:rPr lang="en-US" altLang="en-US" sz="2400" dirty="0">
                <a:latin typeface="Times New Roman" panose="02020603050405020304" pitchFamily="18" charset="0"/>
              </a:rPr>
              <a:t>	}</a:t>
            </a:r>
          </a:p>
          <a:p>
            <a:pPr eaLnBrk="1" hangingPunct="1">
              <a:buFontTx/>
              <a:buNone/>
            </a:pPr>
            <a:r>
              <a:rPr lang="en-US" altLang="en-US" sz="2400" dirty="0">
                <a:latin typeface="Times New Roman" panose="02020603050405020304" pitchFamily="18" charset="0"/>
              </a:rPr>
              <a:t>}</a:t>
            </a:r>
          </a:p>
        </p:txBody>
      </p:sp>
      <p:sp>
        <p:nvSpPr>
          <p:cNvPr id="35846" name="Rectangle 4">
            <a:extLst>
              <a:ext uri="{FF2B5EF4-FFF2-40B4-BE49-F238E27FC236}">
                <a16:creationId xmlns:a16="http://schemas.microsoft.com/office/drawing/2014/main" id="{D2D4B311-9A97-4DEA-868B-4B54DB28ED77}"/>
              </a:ext>
            </a:extLst>
          </p:cNvPr>
          <p:cNvSpPr>
            <a:spLocks noGrp="1" noChangeArrowheads="1"/>
          </p:cNvSpPr>
          <p:nvPr>
            <p:ph type="body" sz="half" idx="2"/>
          </p:nvPr>
        </p:nvSpPr>
        <p:spPr>
          <a:xfrm>
            <a:off x="4360761" y="1415382"/>
            <a:ext cx="4724400" cy="2769989"/>
          </a:xfrm>
        </p:spPr>
        <p:txBody>
          <a:bodyPr/>
          <a:lstStyle/>
          <a:p>
            <a:pPr eaLnBrk="1" hangingPunct="1">
              <a:buFontTx/>
              <a:buNone/>
            </a:pPr>
            <a:r>
              <a:rPr lang="en-US" altLang="en-US" sz="2000" dirty="0">
                <a:latin typeface="Times New Roman" panose="02020603050405020304" pitchFamily="18" charset="0"/>
              </a:rPr>
              <a:t>class PackageTest3</a:t>
            </a:r>
          </a:p>
          <a:p>
            <a:pPr eaLnBrk="1" hangingPunct="1">
              <a:buFontTx/>
              <a:buNone/>
            </a:pP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public static void main(String </a:t>
            </a:r>
            <a:r>
              <a:rPr lang="en-US" altLang="en-US" sz="2000" dirty="0" err="1">
                <a:latin typeface="Times New Roman" panose="02020603050405020304" pitchFamily="18" charset="0"/>
              </a:rPr>
              <a:t>args</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ClassC</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obC</a:t>
            </a:r>
            <a:r>
              <a:rPr lang="en-US" altLang="en-US" sz="2000" dirty="0">
                <a:latin typeface="Times New Roman" panose="02020603050405020304" pitchFamily="18" charset="0"/>
              </a:rPr>
              <a:t> = new </a:t>
            </a:r>
            <a:r>
              <a:rPr lang="en-US" altLang="en-US" sz="2000" dirty="0" err="1">
                <a:latin typeface="Times New Roman" panose="02020603050405020304" pitchFamily="18" charset="0"/>
              </a:rPr>
              <a:t>ClassC</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obC.displayB</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obC.displayC</a:t>
            </a:r>
            <a:r>
              <a:rPr lang="en-US" altLang="en-US" sz="2000" dirty="0">
                <a:latin typeface="Times New Roman" panose="02020603050405020304" pitchFamily="18" charset="0"/>
              </a:rPr>
              <a:t>();</a:t>
            </a:r>
          </a:p>
          <a:p>
            <a:pPr eaLnBrk="1" hangingPunct="1">
              <a:buFontTx/>
              <a:buNone/>
            </a:pPr>
            <a:r>
              <a:rPr lang="en-US" altLang="en-US" sz="2000" dirty="0">
                <a:latin typeface="Times New Roman" panose="02020603050405020304" pitchFamily="18" charset="0"/>
              </a:rPr>
              <a:t>	}</a:t>
            </a:r>
          </a:p>
          <a:p>
            <a:pPr eaLnBrk="1" hangingPunct="1">
              <a:buFontTx/>
              <a:buNone/>
            </a:pPr>
            <a:r>
              <a:rPr lang="en-US" altLang="en-US" sz="2000" dirty="0">
                <a:latin typeface="Times New Roman" panose="02020603050405020304" pitchFamily="18" charset="0"/>
              </a:rPr>
              <a:t>}</a:t>
            </a:r>
          </a:p>
        </p:txBody>
      </p:sp>
      <p:sp>
        <p:nvSpPr>
          <p:cNvPr id="35847" name="Text Box 5">
            <a:extLst>
              <a:ext uri="{FF2B5EF4-FFF2-40B4-BE49-F238E27FC236}">
                <a16:creationId xmlns:a16="http://schemas.microsoft.com/office/drawing/2014/main" id="{DCE0CD42-CA75-4200-AF90-B6ADB209A2B2}"/>
              </a:ext>
            </a:extLst>
          </p:cNvPr>
          <p:cNvSpPr txBox="1">
            <a:spLocks noChangeArrowheads="1"/>
          </p:cNvSpPr>
          <p:nvPr/>
        </p:nvSpPr>
        <p:spPr bwMode="auto">
          <a:xfrm>
            <a:off x="198725" y="5196146"/>
            <a:ext cx="4038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 c:\ClassC.java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Compile-c:\ClassC.java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Class file in –c:\ClassC.class</a:t>
            </a:r>
          </a:p>
        </p:txBody>
      </p:sp>
      <p:sp>
        <p:nvSpPr>
          <p:cNvPr id="35848" name="Text Box 6">
            <a:extLst>
              <a:ext uri="{FF2B5EF4-FFF2-40B4-BE49-F238E27FC236}">
                <a16:creationId xmlns:a16="http://schemas.microsoft.com/office/drawing/2014/main" id="{3A7FCF34-087B-4A1C-96C9-434D9BC836AE}"/>
              </a:ext>
            </a:extLst>
          </p:cNvPr>
          <p:cNvSpPr txBox="1">
            <a:spLocks noChangeArrowheads="1"/>
          </p:cNvSpPr>
          <p:nvPr/>
        </p:nvSpPr>
        <p:spPr bwMode="auto">
          <a:xfrm>
            <a:off x="4491038" y="4502320"/>
            <a:ext cx="4572000"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file-c:\java\jdk1.6.0_06\bin\PackageTest3.java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Compile-</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javac</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PackageTest3.java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Copy –PackageTest3.class -&gt; c:\</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Execute-java PackageTest3</a:t>
            </a:r>
          </a:p>
        </p:txBody>
      </p:sp>
      <p:sp>
        <p:nvSpPr>
          <p:cNvPr id="2" name="Slide Number Placeholder 4">
            <a:extLst>
              <a:ext uri="{FF2B5EF4-FFF2-40B4-BE49-F238E27FC236}">
                <a16:creationId xmlns:a16="http://schemas.microsoft.com/office/drawing/2014/main" id="{906EFA51-7193-4DAA-92BB-4D3E61CDEA5C}"/>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581DDF6F-367D-473C-9BF2-DDA8FBB21F1E}"/>
              </a:ext>
            </a:extLst>
          </p:cNvPr>
          <p:cNvSpPr>
            <a:spLocks noGrp="1" noChangeArrowheads="1"/>
          </p:cNvSpPr>
          <p:nvPr>
            <p:ph type="title"/>
          </p:nvPr>
        </p:nvSpPr>
        <p:spPr>
          <a:xfrm>
            <a:off x="457200" y="274638"/>
            <a:ext cx="8382000" cy="639762"/>
          </a:xfrm>
        </p:spPr>
        <p:txBody>
          <a:bodyPr/>
          <a:lstStyle/>
          <a:p>
            <a:pPr eaLnBrk="1" hangingPunct="1"/>
            <a:r>
              <a:rPr lang="en-US" altLang="en-US" sz="4000" b="1">
                <a:latin typeface="Times New Roman" panose="02020603050405020304" pitchFamily="18" charset="0"/>
              </a:rPr>
              <a:t>Adding a Class to a Package</a:t>
            </a:r>
          </a:p>
        </p:txBody>
      </p:sp>
      <p:sp>
        <p:nvSpPr>
          <p:cNvPr id="36869" name="Rectangle 3">
            <a:extLst>
              <a:ext uri="{FF2B5EF4-FFF2-40B4-BE49-F238E27FC236}">
                <a16:creationId xmlns:a16="http://schemas.microsoft.com/office/drawing/2014/main" id="{780C1C91-8A46-4929-A97C-54752427B6BD}"/>
              </a:ext>
            </a:extLst>
          </p:cNvPr>
          <p:cNvSpPr>
            <a:spLocks noGrp="1" noChangeArrowheads="1"/>
          </p:cNvSpPr>
          <p:nvPr>
            <p:ph type="body" idx="1"/>
          </p:nvPr>
        </p:nvSpPr>
        <p:spPr>
          <a:xfrm>
            <a:off x="457200" y="1600200"/>
            <a:ext cx="8148638" cy="1723549"/>
          </a:xfrm>
        </p:spPr>
        <p:txBody>
          <a:bodyPr/>
          <a:lstStyle/>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Every java source file can contain only class declared as </a:t>
            </a:r>
            <a:r>
              <a:rPr lang="en-US" altLang="en-US" sz="2800" b="1" dirty="0">
                <a:latin typeface="Times New Roman" panose="02020603050405020304" pitchFamily="18" charset="0"/>
              </a:rPr>
              <a:t>public.</a:t>
            </a:r>
          </a:p>
          <a:p>
            <a:pPr marL="457200" indent="-457200" eaLnBrk="1" hangingPunct="1">
              <a:buFont typeface="Wingdings" panose="05000000000000000000" pitchFamily="2" charset="2"/>
              <a:buChar char="Ø"/>
            </a:pPr>
            <a:r>
              <a:rPr lang="en-US" altLang="en-US" sz="2800" dirty="0">
                <a:latin typeface="Times New Roman" panose="02020603050405020304" pitchFamily="18" charset="0"/>
              </a:rPr>
              <a:t>The name of the source file should be same as the name of the public class with </a:t>
            </a:r>
            <a:r>
              <a:rPr lang="en-US" altLang="en-US" sz="2800" b="1" dirty="0">
                <a:latin typeface="Times New Roman" panose="02020603050405020304" pitchFamily="18" charset="0"/>
              </a:rPr>
              <a:t>.java</a:t>
            </a:r>
            <a:r>
              <a:rPr lang="en-US" altLang="en-US" sz="2800" dirty="0">
                <a:latin typeface="Times New Roman" panose="02020603050405020304" pitchFamily="18" charset="0"/>
              </a:rPr>
              <a:t> extension.</a:t>
            </a:r>
          </a:p>
        </p:txBody>
      </p:sp>
      <p:sp>
        <p:nvSpPr>
          <p:cNvPr id="36870" name="Text Box 4">
            <a:extLst>
              <a:ext uri="{FF2B5EF4-FFF2-40B4-BE49-F238E27FC236}">
                <a16:creationId xmlns:a16="http://schemas.microsoft.com/office/drawing/2014/main" id="{459CB711-EF72-413F-9658-130D0DA5F292}"/>
              </a:ext>
            </a:extLst>
          </p:cNvPr>
          <p:cNvSpPr txBox="1">
            <a:spLocks noChangeArrowheads="1"/>
          </p:cNvSpPr>
          <p:nvPr/>
        </p:nvSpPr>
        <p:spPr bwMode="auto">
          <a:xfrm>
            <a:off x="685800" y="3341065"/>
            <a:ext cx="29718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package p1;</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public </a:t>
            </a:r>
            <a:r>
              <a:rPr kumimoji="0" lang="en-US" altLang="en-US" sz="2400" b="1"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ClassA</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 ……………}</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 ClassA.java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Subdirectory: p1</a:t>
            </a:r>
          </a:p>
        </p:txBody>
      </p:sp>
      <p:sp>
        <p:nvSpPr>
          <p:cNvPr id="36871" name="Text Box 5">
            <a:extLst>
              <a:ext uri="{FF2B5EF4-FFF2-40B4-BE49-F238E27FC236}">
                <a16:creationId xmlns:a16="http://schemas.microsoft.com/office/drawing/2014/main" id="{C7EDF1C0-2947-48BC-BB4D-640D636FA23A}"/>
              </a:ext>
            </a:extLst>
          </p:cNvPr>
          <p:cNvSpPr txBox="1">
            <a:spLocks noChangeArrowheads="1"/>
          </p:cNvSpPr>
          <p:nvPr/>
        </p:nvSpPr>
        <p:spPr bwMode="auto">
          <a:xfrm>
            <a:off x="4648200" y="3323749"/>
            <a:ext cx="34290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package p1;</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public </a:t>
            </a:r>
            <a:r>
              <a:rPr kumimoji="0" lang="en-US" altLang="en-US" sz="2400" b="1" i="0" u="none" strike="noStrike" kern="1200" cap="none" spc="0" normalizeH="0" baseline="0" noProof="0" dirty="0" err="1">
                <a:ln>
                  <a:noFill/>
                </a:ln>
                <a:solidFill>
                  <a:prstClr val="black"/>
                </a:solidFill>
                <a:effectLst/>
                <a:uLnTx/>
                <a:uFillTx/>
                <a:latin typeface="Times New Roman" panose="02020603050405020304" pitchFamily="18" charset="0"/>
                <a:ea typeface="MS PGothic" panose="020B0600070205080204" pitchFamily="34" charset="-128"/>
                <a:cs typeface="+mn-cs"/>
              </a:rPr>
              <a:t>ClassB</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Source file: ClassB.java</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rPr>
              <a:t>Subdirectory:p1</a:t>
            </a:r>
          </a:p>
        </p:txBody>
      </p:sp>
      <p:sp>
        <p:nvSpPr>
          <p:cNvPr id="2" name="Slide Number Placeholder 4">
            <a:extLst>
              <a:ext uri="{FF2B5EF4-FFF2-40B4-BE49-F238E27FC236}">
                <a16:creationId xmlns:a16="http://schemas.microsoft.com/office/drawing/2014/main" id="{FCCB67CE-B3AC-4027-8856-2705741F00A3}"/>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66D703B1-CEB5-48BC-8C77-BD4966F5D4A2}"/>
              </a:ext>
            </a:extLst>
          </p:cNvPr>
          <p:cNvSpPr>
            <a:spLocks noGrp="1" noChangeArrowheads="1"/>
          </p:cNvSpPr>
          <p:nvPr>
            <p:ph type="title"/>
          </p:nvPr>
        </p:nvSpPr>
        <p:spPr>
          <a:xfrm>
            <a:off x="381000" y="457200"/>
            <a:ext cx="8229600" cy="1143000"/>
          </a:xfrm>
        </p:spPr>
        <p:txBody>
          <a:bodyPr/>
          <a:lstStyle/>
          <a:p>
            <a:pPr eaLnBrk="1" hangingPunct="1"/>
            <a:r>
              <a:rPr lang="en-US" altLang="en-US" b="1">
                <a:latin typeface="Times New Roman" panose="02020603050405020304" pitchFamily="18" charset="0"/>
              </a:rPr>
              <a:t>Adding a Class to a Package</a:t>
            </a:r>
          </a:p>
        </p:txBody>
      </p:sp>
      <p:sp>
        <p:nvSpPr>
          <p:cNvPr id="37893" name="Rectangle 3">
            <a:extLst>
              <a:ext uri="{FF2B5EF4-FFF2-40B4-BE49-F238E27FC236}">
                <a16:creationId xmlns:a16="http://schemas.microsoft.com/office/drawing/2014/main" id="{6D0BD88F-53D2-424C-8DD7-B37F3C900962}"/>
              </a:ext>
            </a:extLst>
          </p:cNvPr>
          <p:cNvSpPr>
            <a:spLocks noGrp="1" noChangeArrowheads="1"/>
          </p:cNvSpPr>
          <p:nvPr>
            <p:ph type="body" idx="1"/>
          </p:nvPr>
        </p:nvSpPr>
        <p:spPr>
          <a:xfrm>
            <a:off x="457200" y="1789488"/>
            <a:ext cx="8229600" cy="2437590"/>
          </a:xfrm>
        </p:spPr>
        <p:txBody>
          <a:bodyPr/>
          <a:lstStyle/>
          <a:p>
            <a:pPr marL="342900" indent="-342900" eaLnBrk="1" hangingPunct="1">
              <a:lnSpc>
                <a:spcPct val="90000"/>
              </a:lnSpc>
              <a:buFont typeface="+mj-lt"/>
              <a:buAutoNum type="arabicPeriod"/>
            </a:pPr>
            <a:r>
              <a:rPr lang="en-US" altLang="en-US" sz="2200" dirty="0">
                <a:latin typeface="Times New Roman" panose="02020603050405020304" pitchFamily="18" charset="0"/>
              </a:rPr>
              <a:t>Decide the name of the package.</a:t>
            </a:r>
          </a:p>
          <a:p>
            <a:pPr marL="342900" indent="-342900" eaLnBrk="1" hangingPunct="1">
              <a:lnSpc>
                <a:spcPct val="90000"/>
              </a:lnSpc>
              <a:buFont typeface="+mj-lt"/>
              <a:buAutoNum type="arabicPeriod"/>
            </a:pPr>
            <a:r>
              <a:rPr lang="en-US" altLang="en-US" sz="2200" dirty="0">
                <a:latin typeface="Times New Roman" panose="02020603050405020304" pitchFamily="18" charset="0"/>
              </a:rPr>
              <a:t>Create the subdirectory with this name under the directory where the main source file is located.</a:t>
            </a:r>
          </a:p>
          <a:p>
            <a:pPr marL="342900" indent="-342900" eaLnBrk="1" hangingPunct="1">
              <a:lnSpc>
                <a:spcPct val="90000"/>
              </a:lnSpc>
              <a:buFont typeface="+mj-lt"/>
              <a:buAutoNum type="arabicPeriod"/>
            </a:pPr>
            <a:r>
              <a:rPr lang="en-US" altLang="en-US" sz="2200" dirty="0">
                <a:latin typeface="Times New Roman" panose="02020603050405020304" pitchFamily="18" charset="0"/>
              </a:rPr>
              <a:t>Create classes to be placed in the package in separate source files and declare the package statement</a:t>
            </a:r>
          </a:p>
          <a:p>
            <a:pPr marL="114300" lvl="1" indent="0" eaLnBrk="1" hangingPunct="1">
              <a:lnSpc>
                <a:spcPct val="90000"/>
              </a:lnSpc>
              <a:buFontTx/>
              <a:buNone/>
            </a:pPr>
            <a:r>
              <a:rPr lang="en-US" altLang="en-US" sz="2200" i="1" dirty="0">
                <a:latin typeface="Times New Roman" panose="02020603050405020304" pitchFamily="18" charset="0"/>
              </a:rPr>
              <a:t>		package </a:t>
            </a:r>
            <a:r>
              <a:rPr lang="en-US" altLang="en-US" sz="2200" i="1" dirty="0" err="1">
                <a:latin typeface="Times New Roman" panose="02020603050405020304" pitchFamily="18" charset="0"/>
              </a:rPr>
              <a:t>packagename</a:t>
            </a:r>
            <a:r>
              <a:rPr lang="en-US" altLang="en-US" sz="2200" i="1" dirty="0">
                <a:latin typeface="Times New Roman" panose="02020603050405020304" pitchFamily="18" charset="0"/>
              </a:rPr>
              <a:t>;</a:t>
            </a:r>
          </a:p>
          <a:p>
            <a:pPr marL="114300" lvl="1" indent="0" eaLnBrk="1" hangingPunct="1">
              <a:lnSpc>
                <a:spcPct val="90000"/>
              </a:lnSpc>
              <a:buFontTx/>
              <a:buNone/>
            </a:pPr>
            <a:r>
              <a:rPr lang="en-US" altLang="en-US" sz="2200" dirty="0">
                <a:latin typeface="Times New Roman" panose="02020603050405020304" pitchFamily="18" charset="0"/>
              </a:rPr>
              <a:t>4. Compile each source file. When completed the package will contain .class files of the source files.</a:t>
            </a:r>
          </a:p>
        </p:txBody>
      </p:sp>
      <p:sp>
        <p:nvSpPr>
          <p:cNvPr id="2" name="Slide Number Placeholder 4">
            <a:extLst>
              <a:ext uri="{FF2B5EF4-FFF2-40B4-BE49-F238E27FC236}">
                <a16:creationId xmlns:a16="http://schemas.microsoft.com/office/drawing/2014/main" id="{162E6E58-2269-4095-8F9B-48A2796DF202}"/>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66D703B1-CEB5-48BC-8C77-BD4966F5D4A2}"/>
              </a:ext>
            </a:extLst>
          </p:cNvPr>
          <p:cNvSpPr>
            <a:spLocks noGrp="1" noChangeArrowheads="1"/>
          </p:cNvSpPr>
          <p:nvPr>
            <p:ph type="title"/>
          </p:nvPr>
        </p:nvSpPr>
        <p:spPr>
          <a:xfrm>
            <a:off x="235441" y="609600"/>
            <a:ext cx="8229600" cy="553998"/>
          </a:xfrm>
        </p:spPr>
        <p:txBody>
          <a:bodyPr/>
          <a:lstStyle/>
          <a:p>
            <a:pPr eaLnBrk="1" hangingPunct="1"/>
            <a:r>
              <a:rPr lang="en-GB" altLang="en-US" b="1" dirty="0">
                <a:latin typeface="Times New Roman" panose="02020603050405020304" pitchFamily="18" charset="0"/>
              </a:rPr>
              <a:t>public/package/private scope</a:t>
            </a:r>
            <a:endParaRPr lang="en-US" altLang="en-US" b="1" dirty="0">
              <a:latin typeface="Times New Roman" panose="02020603050405020304" pitchFamily="18" charset="0"/>
            </a:endParaRPr>
          </a:p>
        </p:txBody>
      </p:sp>
      <p:sp>
        <p:nvSpPr>
          <p:cNvPr id="37893" name="Rectangle 3">
            <a:extLst>
              <a:ext uri="{FF2B5EF4-FFF2-40B4-BE49-F238E27FC236}">
                <a16:creationId xmlns:a16="http://schemas.microsoft.com/office/drawing/2014/main" id="{6D0BD88F-53D2-424C-8DD7-B37F3C900962}"/>
              </a:ext>
            </a:extLst>
          </p:cNvPr>
          <p:cNvSpPr>
            <a:spLocks noGrp="1" noChangeArrowheads="1"/>
          </p:cNvSpPr>
          <p:nvPr>
            <p:ph type="body" idx="1"/>
          </p:nvPr>
        </p:nvSpPr>
        <p:spPr>
          <a:xfrm>
            <a:off x="457200" y="1789488"/>
            <a:ext cx="8229600" cy="3434786"/>
          </a:xfrm>
        </p:spPr>
        <p:txBody>
          <a:bodyPr/>
          <a:lstStyle/>
          <a:p>
            <a:pPr marL="342900" indent="-342900" eaLnBrk="1" hangingPunct="1">
              <a:lnSpc>
                <a:spcPct val="90000"/>
              </a:lnSpc>
              <a:spcAft>
                <a:spcPct val="30000"/>
              </a:spcAft>
              <a:buFont typeface="Wingdings" panose="05000000000000000000" pitchFamily="2" charset="2"/>
              <a:buChar char="Ø"/>
            </a:pPr>
            <a:r>
              <a:rPr lang="en-GB" altLang="en-US" sz="2400" dirty="0">
                <a:latin typeface="Times New Roman" panose="02020603050405020304" pitchFamily="18" charset="0"/>
              </a:rPr>
              <a:t>Scope</a:t>
            </a:r>
            <a:r>
              <a:rPr lang="en-GB" altLang="en-US" sz="2400" i="1" dirty="0">
                <a:latin typeface="Times New Roman" panose="02020603050405020304" pitchFamily="18" charset="0"/>
              </a:rPr>
              <a:t> </a:t>
            </a:r>
            <a:r>
              <a:rPr lang="en-GB" altLang="en-US" sz="2400" dirty="0">
                <a:latin typeface="Times New Roman" panose="02020603050405020304" pitchFamily="18" charset="0"/>
              </a:rPr>
              <a:t> is concerned with the visibility of program elements such as classes and members</a:t>
            </a:r>
          </a:p>
          <a:p>
            <a:pPr marL="342900" indent="-342900" eaLnBrk="1" hangingPunct="1">
              <a:lnSpc>
                <a:spcPct val="90000"/>
              </a:lnSpc>
              <a:spcAft>
                <a:spcPct val="30000"/>
              </a:spcAft>
              <a:buFont typeface="Wingdings" panose="05000000000000000000" pitchFamily="2" charset="2"/>
              <a:buChar char="Ø"/>
            </a:pPr>
            <a:r>
              <a:rPr lang="en-GB" altLang="en-US" sz="2400" dirty="0">
                <a:latin typeface="Times New Roman" panose="02020603050405020304" pitchFamily="18" charset="0"/>
              </a:rPr>
              <a:t>Class members (methods or instance fields) can be defined with public, package (default), private or protected scope </a:t>
            </a:r>
          </a:p>
          <a:p>
            <a:pPr marL="342900" indent="-342900" eaLnBrk="1" hangingPunct="1">
              <a:lnSpc>
                <a:spcPct val="90000"/>
              </a:lnSpc>
              <a:spcAft>
                <a:spcPct val="30000"/>
              </a:spcAft>
              <a:buFont typeface="Wingdings" panose="05000000000000000000" pitchFamily="2" charset="2"/>
              <a:buChar char="Ø"/>
            </a:pPr>
            <a:r>
              <a:rPr lang="en-GB" altLang="en-US" sz="2400" dirty="0">
                <a:latin typeface="Times New Roman" panose="02020603050405020304" pitchFamily="18" charset="0"/>
              </a:rPr>
              <a:t>A class has two levels of visibility:</a:t>
            </a:r>
          </a:p>
          <a:p>
            <a:pPr eaLnBrk="1" hangingPunct="1">
              <a:lnSpc>
                <a:spcPct val="90000"/>
              </a:lnSpc>
              <a:spcAft>
                <a:spcPct val="30000"/>
              </a:spcAft>
              <a:buFont typeface="Wingdings" panose="05000000000000000000" pitchFamily="2" charset="2"/>
              <a:buNone/>
            </a:pPr>
            <a:r>
              <a:rPr lang="en-GB" altLang="en-US" sz="2400" dirty="0">
                <a:latin typeface="Times New Roman" panose="02020603050405020304" pitchFamily="18" charset="0"/>
              </a:rPr>
              <a:t>	-</a:t>
            </a:r>
            <a:r>
              <a:rPr lang="en-GB" altLang="en-US" sz="2400" b="1" dirty="0">
                <a:latin typeface="Times New Roman" panose="02020603050405020304" pitchFamily="18" charset="0"/>
              </a:rPr>
              <a:t>public</a:t>
            </a:r>
            <a:r>
              <a:rPr lang="en-GB" altLang="en-US" sz="2400" dirty="0">
                <a:latin typeface="Times New Roman" panose="02020603050405020304" pitchFamily="18" charset="0"/>
              </a:rPr>
              <a:t> scope means it is visible outside its containing package</a:t>
            </a:r>
          </a:p>
          <a:p>
            <a:pPr eaLnBrk="1" hangingPunct="1">
              <a:lnSpc>
                <a:spcPct val="90000"/>
              </a:lnSpc>
              <a:spcAft>
                <a:spcPct val="30000"/>
              </a:spcAft>
              <a:buFont typeface="Wingdings" panose="05000000000000000000" pitchFamily="2" charset="2"/>
              <a:buNone/>
            </a:pPr>
            <a:r>
              <a:rPr lang="en-GB" altLang="en-US" sz="2400" dirty="0">
                <a:latin typeface="Times New Roman" panose="02020603050405020304" pitchFamily="18" charset="0"/>
              </a:rPr>
              <a:t>	- default scope means it is visible only inside the package. (package scope/ friendly scope)</a:t>
            </a:r>
          </a:p>
        </p:txBody>
      </p:sp>
      <p:sp>
        <p:nvSpPr>
          <p:cNvPr id="2" name="Slide Number Placeholder 4">
            <a:extLst>
              <a:ext uri="{FF2B5EF4-FFF2-40B4-BE49-F238E27FC236}">
                <a16:creationId xmlns:a16="http://schemas.microsoft.com/office/drawing/2014/main" id="{162E6E58-2269-4095-8F9B-48A2796DF202}"/>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6156530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A6FBEDE-89EC-4B80-A70E-1EF69C26248A}"/>
              </a:ext>
            </a:extLst>
          </p:cNvPr>
          <p:cNvSpPr>
            <a:spLocks noGrp="1" noChangeArrowheads="1"/>
          </p:cNvSpPr>
          <p:nvPr>
            <p:ph type="body" idx="1"/>
          </p:nvPr>
        </p:nvSpPr>
        <p:spPr>
          <a:xfrm>
            <a:off x="609600" y="1631796"/>
            <a:ext cx="7696200" cy="3841052"/>
          </a:xfrm>
        </p:spPr>
        <p:txBody>
          <a:bodyPr/>
          <a:lstStyle/>
          <a:p>
            <a:pPr marL="342900" indent="-342900" eaLnBrk="1" hangingPunct="1">
              <a:spcBef>
                <a:spcPct val="50000"/>
              </a:spcBef>
              <a:spcAft>
                <a:spcPct val="30000"/>
              </a:spcAft>
              <a:buFont typeface="Wingdings" panose="05000000000000000000" pitchFamily="2" charset="2"/>
              <a:buChar char="Ø"/>
            </a:pPr>
            <a:r>
              <a:rPr lang="en-GB" altLang="en-US" sz="2400" dirty="0">
                <a:latin typeface="Times New Roman" panose="02020603050405020304" pitchFamily="18" charset="0"/>
              </a:rPr>
              <a:t>A class member with </a:t>
            </a:r>
            <a:r>
              <a:rPr lang="en-GB" altLang="en-US" sz="2400" b="1" dirty="0">
                <a:latin typeface="Times New Roman" panose="02020603050405020304" pitchFamily="18" charset="0"/>
              </a:rPr>
              <a:t>public</a:t>
            </a:r>
            <a:r>
              <a:rPr lang="en-GB" altLang="en-US" sz="2400" dirty="0">
                <a:latin typeface="Times New Roman" panose="02020603050405020304" pitchFamily="18" charset="0"/>
              </a:rPr>
              <a:t> scope</a:t>
            </a:r>
            <a:r>
              <a:rPr lang="en-GB" altLang="en-US" sz="2400" i="1" dirty="0">
                <a:latin typeface="Times New Roman" panose="02020603050405020304" pitchFamily="18" charset="0"/>
              </a:rPr>
              <a:t> </a:t>
            </a:r>
            <a:r>
              <a:rPr lang="en-GB" altLang="en-US" sz="2400" dirty="0">
                <a:latin typeface="Times New Roman" panose="02020603050405020304" pitchFamily="18" charset="0"/>
              </a:rPr>
              <a:t>means it is visible anywhere its class is visible</a:t>
            </a:r>
          </a:p>
          <a:p>
            <a:pPr marL="342900" indent="-342900" eaLnBrk="1" hangingPunct="1">
              <a:spcBef>
                <a:spcPct val="50000"/>
              </a:spcBef>
              <a:spcAft>
                <a:spcPct val="30000"/>
              </a:spcAft>
              <a:buFont typeface="Wingdings" panose="05000000000000000000" pitchFamily="2" charset="2"/>
              <a:buChar char="Ø"/>
            </a:pPr>
            <a:r>
              <a:rPr lang="en-GB" altLang="en-US" sz="2400" dirty="0">
                <a:latin typeface="Times New Roman" panose="02020603050405020304" pitchFamily="18" charset="0"/>
              </a:rPr>
              <a:t>A class member with </a:t>
            </a:r>
            <a:r>
              <a:rPr lang="en-GB" altLang="en-US" sz="2400" b="1" dirty="0">
                <a:latin typeface="Times New Roman" panose="02020603050405020304" pitchFamily="18" charset="0"/>
              </a:rPr>
              <a:t>private</a:t>
            </a:r>
            <a:r>
              <a:rPr lang="en-GB" altLang="en-US" sz="2400" dirty="0">
                <a:latin typeface="Times New Roman" panose="02020603050405020304" pitchFamily="18" charset="0"/>
              </a:rPr>
              <a:t> scope</a:t>
            </a:r>
            <a:r>
              <a:rPr lang="en-GB" altLang="en-US" sz="2400" i="1" dirty="0">
                <a:latin typeface="Times New Roman" panose="02020603050405020304" pitchFamily="18" charset="0"/>
              </a:rPr>
              <a:t> </a:t>
            </a:r>
            <a:r>
              <a:rPr lang="en-GB" altLang="en-US" sz="2400" dirty="0">
                <a:latin typeface="Times New Roman" panose="02020603050405020304" pitchFamily="18" charset="0"/>
              </a:rPr>
              <a:t>means it is visible only within its encapsulating class</a:t>
            </a:r>
          </a:p>
          <a:p>
            <a:pPr marL="342900" indent="-342900" eaLnBrk="1" hangingPunct="1">
              <a:spcBef>
                <a:spcPct val="50000"/>
              </a:spcBef>
              <a:spcAft>
                <a:spcPct val="30000"/>
              </a:spcAft>
              <a:buFont typeface="Wingdings" panose="05000000000000000000" pitchFamily="2" charset="2"/>
              <a:buChar char="Ø"/>
            </a:pPr>
            <a:r>
              <a:rPr lang="en-GB" altLang="en-US" sz="2400" dirty="0">
                <a:latin typeface="Times New Roman" panose="02020603050405020304" pitchFamily="18" charset="0"/>
              </a:rPr>
              <a:t>A class/class member with </a:t>
            </a:r>
            <a:r>
              <a:rPr lang="en-GB" altLang="en-US" sz="2400" b="1" dirty="0">
                <a:latin typeface="Times New Roman" panose="02020603050405020304" pitchFamily="18" charset="0"/>
              </a:rPr>
              <a:t>package</a:t>
            </a:r>
            <a:r>
              <a:rPr lang="en-GB" altLang="en-US" sz="2400" dirty="0">
                <a:latin typeface="Times New Roman" panose="02020603050405020304" pitchFamily="18" charset="0"/>
              </a:rPr>
              <a:t> scope means it is visible only inside its containing package</a:t>
            </a:r>
          </a:p>
          <a:p>
            <a:pPr marL="342900" indent="-342900" eaLnBrk="1" hangingPunct="1">
              <a:spcBef>
                <a:spcPct val="50000"/>
              </a:spcBef>
              <a:spcAft>
                <a:spcPct val="30000"/>
              </a:spcAft>
              <a:buFont typeface="Wingdings" panose="05000000000000000000" pitchFamily="2" charset="2"/>
              <a:buChar char="Ø"/>
            </a:pPr>
            <a:r>
              <a:rPr lang="en-GB" altLang="en-US" sz="2400" dirty="0">
                <a:latin typeface="Times New Roman" panose="02020603050405020304" pitchFamily="18" charset="0"/>
              </a:rPr>
              <a:t>A class member with </a:t>
            </a:r>
            <a:r>
              <a:rPr lang="en-GB" altLang="en-US" sz="2400" b="1" dirty="0">
                <a:latin typeface="Times New Roman" panose="02020603050405020304" pitchFamily="18" charset="0"/>
              </a:rPr>
              <a:t>protected </a:t>
            </a:r>
            <a:r>
              <a:rPr lang="en-GB" altLang="en-US" sz="2400" dirty="0">
                <a:latin typeface="Times New Roman" panose="02020603050405020304" pitchFamily="18" charset="0"/>
              </a:rPr>
              <a:t>scope means it is visible every where except the non-subclasses in other package.</a:t>
            </a:r>
            <a:endParaRPr lang="en-US" altLang="en-US" sz="2400" b="1" dirty="0">
              <a:latin typeface="Times New Roman" panose="02020603050405020304" pitchFamily="18" charset="0"/>
            </a:endParaRPr>
          </a:p>
        </p:txBody>
      </p:sp>
      <p:sp>
        <p:nvSpPr>
          <p:cNvPr id="40965" name="Rectangle 3">
            <a:extLst>
              <a:ext uri="{FF2B5EF4-FFF2-40B4-BE49-F238E27FC236}">
                <a16:creationId xmlns:a16="http://schemas.microsoft.com/office/drawing/2014/main" id="{77308BA2-3E20-4629-A6F7-ED7EEBC0C418}"/>
              </a:ext>
            </a:extLst>
          </p:cNvPr>
          <p:cNvSpPr>
            <a:spLocks noGrp="1" noChangeArrowheads="1"/>
          </p:cNvSpPr>
          <p:nvPr>
            <p:ph type="title"/>
          </p:nvPr>
        </p:nvSpPr>
        <p:spPr>
          <a:xfrm>
            <a:off x="304800" y="488796"/>
            <a:ext cx="8229600" cy="1143000"/>
          </a:xfrm>
        </p:spPr>
        <p:txBody>
          <a:bodyPr/>
          <a:lstStyle/>
          <a:p>
            <a:pPr eaLnBrk="1" hangingPunct="1"/>
            <a:r>
              <a:rPr lang="en-GB" altLang="en-US" b="1" dirty="0">
                <a:latin typeface="Times New Roman" panose="02020603050405020304" pitchFamily="18" charset="0"/>
              </a:rPr>
              <a:t>public/package/private scope</a:t>
            </a:r>
            <a:endParaRPr lang="en-US" altLang="en-US" b="1" dirty="0">
              <a:latin typeface="Times New Roman" panose="02020603050405020304" pitchFamily="18" charset="0"/>
            </a:endParaRPr>
          </a:p>
        </p:txBody>
      </p:sp>
      <p:sp>
        <p:nvSpPr>
          <p:cNvPr id="2" name="Slide Number Placeholder 4">
            <a:extLst>
              <a:ext uri="{FF2B5EF4-FFF2-40B4-BE49-F238E27FC236}">
                <a16:creationId xmlns:a16="http://schemas.microsoft.com/office/drawing/2014/main" id="{BD120B8C-805E-42F6-9D29-2675B7142C0B}"/>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55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5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a:extLst>
              <a:ext uri="{FF2B5EF4-FFF2-40B4-BE49-F238E27FC236}">
                <a16:creationId xmlns:a16="http://schemas.microsoft.com/office/drawing/2014/main" id="{82F0B08E-02E2-42C9-8F31-324030BF22B9}"/>
              </a:ext>
            </a:extLst>
          </p:cNvPr>
          <p:cNvSpPr>
            <a:spLocks noGrp="1" noChangeArrowheads="1"/>
          </p:cNvSpPr>
          <p:nvPr>
            <p:ph type="title"/>
          </p:nvPr>
        </p:nvSpPr>
        <p:spPr>
          <a:xfrm>
            <a:off x="609600" y="108155"/>
            <a:ext cx="8229600" cy="563563"/>
          </a:xfrm>
        </p:spPr>
        <p:txBody>
          <a:bodyPr/>
          <a:lstStyle/>
          <a:p>
            <a:pPr eaLnBrk="1" hangingPunct="1"/>
            <a:r>
              <a:rPr lang="en-US" altLang="en-US" sz="4000" b="1">
                <a:latin typeface="Times New Roman" panose="02020603050405020304" pitchFamily="18" charset="0"/>
              </a:rPr>
              <a:t>Levels of Access Control</a:t>
            </a:r>
          </a:p>
        </p:txBody>
      </p:sp>
      <p:graphicFrame>
        <p:nvGraphicFramePr>
          <p:cNvPr id="33842" name="Group 50">
            <a:extLst>
              <a:ext uri="{FF2B5EF4-FFF2-40B4-BE49-F238E27FC236}">
                <a16:creationId xmlns:a16="http://schemas.microsoft.com/office/drawing/2014/main" id="{DE41CC11-A49E-414F-B76F-72304EC49147}"/>
              </a:ext>
            </a:extLst>
          </p:cNvPr>
          <p:cNvGraphicFramePr>
            <a:graphicFrameLocks noGrp="1"/>
          </p:cNvGraphicFramePr>
          <p:nvPr>
            <p:ph idx="1"/>
          </p:nvPr>
        </p:nvGraphicFramePr>
        <p:xfrm>
          <a:off x="609600" y="935122"/>
          <a:ext cx="8077200" cy="5376862"/>
        </p:xfrm>
        <a:graphic>
          <a:graphicData uri="http://schemas.openxmlformats.org/drawingml/2006/table">
            <a:tbl>
              <a:tblPr/>
              <a:tblGrid>
                <a:gridCol w="1363663">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gridCol w="1847850">
                  <a:extLst>
                    <a:ext uri="{9D8B030D-6E8A-4147-A177-3AD203B41FA5}">
                      <a16:colId xmlns:a16="http://schemas.microsoft.com/office/drawing/2014/main" val="20003"/>
                    </a:ext>
                  </a:extLst>
                </a:gridCol>
                <a:gridCol w="1655762">
                  <a:extLst>
                    <a:ext uri="{9D8B030D-6E8A-4147-A177-3AD203B41FA5}">
                      <a16:colId xmlns:a16="http://schemas.microsoft.com/office/drawing/2014/main" val="20004"/>
                    </a:ext>
                  </a:extLst>
                </a:gridCol>
              </a:tblGrid>
              <a:tr h="6949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Times New Roman" pitchFamily="18"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public</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protected</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friendly</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(default)</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private</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49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same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class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44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Subclass in the same package</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No</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144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Other class in the same package</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No</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4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Subclass in other packages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No</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No</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2436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Non-subclass in other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package</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Yes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No</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No</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No</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Slide Number Placeholder 4">
            <a:extLst>
              <a:ext uri="{FF2B5EF4-FFF2-40B4-BE49-F238E27FC236}">
                <a16:creationId xmlns:a16="http://schemas.microsoft.com/office/drawing/2014/main" id="{BB28093F-CE49-4101-89D6-5DB90437D97A}"/>
              </a:ext>
            </a:extLst>
          </p:cNvPr>
          <p:cNvSpPr txBox="1">
            <a:spLocks/>
          </p:cNvSpPr>
          <p:nvPr/>
        </p:nvSpPr>
        <p:spPr>
          <a:xfrm>
            <a:off x="6823425" y="6575389"/>
            <a:ext cx="2133600" cy="282611"/>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B518BB3-09F1-4C74-8868-52D5913F1FF3}" type="slidenum">
              <a:rPr kumimoji="0" lang="en-IN" sz="1200" b="0" i="0" u="none" strike="noStrike" kern="1200" cap="none" spc="0" normalizeH="0" baseline="0" noProof="0" smtClean="0">
                <a:ln>
                  <a:noFill/>
                </a:ln>
                <a:solidFill>
                  <a:prstClr val="black"/>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IN"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F8371A-66C6-C3C7-E297-6DA7675929EE}"/>
              </a:ext>
            </a:extLst>
          </p:cNvPr>
          <p:cNvSpPr>
            <a:spLocks noGrp="1"/>
          </p:cNvSpPr>
          <p:nvPr>
            <p:ph type="body" idx="1"/>
          </p:nvPr>
        </p:nvSpPr>
        <p:spPr>
          <a:xfrm>
            <a:off x="0" y="3276600"/>
            <a:ext cx="9144000" cy="1107996"/>
          </a:xfrm>
        </p:spPr>
        <p:txBody>
          <a:bodyPr/>
          <a:lstStyle/>
          <a:p>
            <a:pPr algn="ctr"/>
            <a:r>
              <a:rPr lang="en-US" sz="7200" b="1" dirty="0"/>
              <a:t>Method Overriding</a:t>
            </a:r>
            <a:endParaRPr lang="en-IN" sz="7200" b="1" dirty="0"/>
          </a:p>
        </p:txBody>
      </p:sp>
    </p:spTree>
    <p:extLst>
      <p:ext uri="{BB962C8B-B14F-4D97-AF65-F5344CB8AC3E}">
        <p14:creationId xmlns:p14="http://schemas.microsoft.com/office/powerpoint/2010/main" val="24768878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014C3-7A9C-477E-5832-8A40A245250E}"/>
              </a:ext>
            </a:extLst>
          </p:cNvPr>
          <p:cNvSpPr>
            <a:spLocks noGrp="1"/>
          </p:cNvSpPr>
          <p:nvPr>
            <p:ph type="title"/>
          </p:nvPr>
        </p:nvSpPr>
        <p:spPr>
          <a:xfrm>
            <a:off x="154939" y="232409"/>
            <a:ext cx="8834120" cy="553998"/>
          </a:xfrm>
        </p:spPr>
        <p:txBody>
          <a:bodyPr/>
          <a:lstStyle/>
          <a:p>
            <a:r>
              <a:rPr lang="en-IN" dirty="0"/>
              <a:t>Overriding method</a:t>
            </a:r>
          </a:p>
        </p:txBody>
      </p:sp>
      <p:sp>
        <p:nvSpPr>
          <p:cNvPr id="3" name="Text Placeholder 2">
            <a:extLst>
              <a:ext uri="{FF2B5EF4-FFF2-40B4-BE49-F238E27FC236}">
                <a16:creationId xmlns:a16="http://schemas.microsoft.com/office/drawing/2014/main" id="{1952B500-E567-D7F2-00C6-ACE1A571C9A3}"/>
              </a:ext>
            </a:extLst>
          </p:cNvPr>
          <p:cNvSpPr>
            <a:spLocks noGrp="1"/>
          </p:cNvSpPr>
          <p:nvPr>
            <p:ph type="body" idx="1"/>
          </p:nvPr>
        </p:nvSpPr>
        <p:spPr>
          <a:xfrm>
            <a:off x="-29497" y="1752600"/>
            <a:ext cx="8686800" cy="2585323"/>
          </a:xfrm>
        </p:spPr>
        <p:txBody>
          <a:bodyPr/>
          <a:lstStyle/>
          <a:p>
            <a:pPr marL="717550" indent="-363538"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The benefit of overriding is ability to define a behavior that's specific to the subclass type, which means a subclass can implement a parent class method based on its requirement.</a:t>
            </a:r>
          </a:p>
          <a:p>
            <a:pPr marL="717550" indent="-363538" algn="just">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marL="717550" indent="-363538"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In object-oriented terms, overriding means to override the functionality of an existing method.</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68547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8383-D174-11F8-9B40-826575615EE8}"/>
              </a:ext>
            </a:extLst>
          </p:cNvPr>
          <p:cNvSpPr>
            <a:spLocks noGrp="1"/>
          </p:cNvSpPr>
          <p:nvPr>
            <p:ph type="title"/>
          </p:nvPr>
        </p:nvSpPr>
        <p:spPr>
          <a:xfrm>
            <a:off x="154939" y="232409"/>
            <a:ext cx="8834120" cy="553998"/>
          </a:xfrm>
        </p:spPr>
        <p:txBody>
          <a:bodyPr/>
          <a:lstStyle/>
          <a:p>
            <a:r>
              <a:rPr lang="en-US" dirty="0"/>
              <a:t>Rules for Method Overriding</a:t>
            </a:r>
            <a:endParaRPr lang="en-IN" dirty="0"/>
          </a:p>
        </p:txBody>
      </p:sp>
      <p:sp>
        <p:nvSpPr>
          <p:cNvPr id="3" name="Text Placeholder 2">
            <a:extLst>
              <a:ext uri="{FF2B5EF4-FFF2-40B4-BE49-F238E27FC236}">
                <a16:creationId xmlns:a16="http://schemas.microsoft.com/office/drawing/2014/main" id="{64A6D754-5933-F907-C70C-E846F06FB9CB}"/>
              </a:ext>
            </a:extLst>
          </p:cNvPr>
          <p:cNvSpPr>
            <a:spLocks noGrp="1"/>
          </p:cNvSpPr>
          <p:nvPr>
            <p:ph type="body" idx="1"/>
          </p:nvPr>
        </p:nvSpPr>
        <p:spPr>
          <a:xfrm>
            <a:off x="304800" y="1318260"/>
            <a:ext cx="8305800" cy="4739759"/>
          </a:xfrm>
        </p:spPr>
        <p:txBody>
          <a:bodyPr/>
          <a:lstStyle/>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The argument list should be exactly the same as that of the overridden method.</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The return type should be the same or a subtype of the return type declared in the original overridden method in the superclass.</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The access level cannot be more restrictive than the overridden method's access level. For example: If the superclass method is declared public then the </a:t>
            </a:r>
            <a:r>
              <a:rPr lang="en-US" sz="2200" b="0" i="0" dirty="0" err="1">
                <a:solidFill>
                  <a:srgbClr val="000000"/>
                </a:solidFill>
                <a:effectLst/>
                <a:latin typeface="Times New Roman" panose="02020603050405020304" pitchFamily="18" charset="0"/>
                <a:cs typeface="Times New Roman" panose="02020603050405020304" pitchFamily="18" charset="0"/>
              </a:rPr>
              <a:t>overridding</a:t>
            </a:r>
            <a:r>
              <a:rPr lang="en-US" sz="2200" b="0" i="0" dirty="0">
                <a:solidFill>
                  <a:srgbClr val="000000"/>
                </a:solidFill>
                <a:effectLst/>
                <a:latin typeface="Times New Roman" panose="02020603050405020304" pitchFamily="18" charset="0"/>
                <a:cs typeface="Times New Roman" panose="02020603050405020304" pitchFamily="18" charset="0"/>
              </a:rPr>
              <a:t> method in the sub class cannot be either private or protected.</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Instance methods can be overridden only if they are inherited by the subclass.</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A method declared final cannot be overridden.</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A method declared static cannot be overridden but can be re-declared.</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3079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8383-D174-11F8-9B40-826575615EE8}"/>
              </a:ext>
            </a:extLst>
          </p:cNvPr>
          <p:cNvSpPr>
            <a:spLocks noGrp="1"/>
          </p:cNvSpPr>
          <p:nvPr>
            <p:ph type="title"/>
          </p:nvPr>
        </p:nvSpPr>
        <p:spPr>
          <a:xfrm>
            <a:off x="154939" y="232409"/>
            <a:ext cx="8834120" cy="553998"/>
          </a:xfrm>
        </p:spPr>
        <p:txBody>
          <a:bodyPr/>
          <a:lstStyle/>
          <a:p>
            <a:r>
              <a:rPr lang="en-US" dirty="0"/>
              <a:t>Rules for Method Overriding</a:t>
            </a:r>
            <a:endParaRPr lang="en-IN" dirty="0"/>
          </a:p>
        </p:txBody>
      </p:sp>
      <p:sp>
        <p:nvSpPr>
          <p:cNvPr id="3" name="Text Placeholder 2">
            <a:extLst>
              <a:ext uri="{FF2B5EF4-FFF2-40B4-BE49-F238E27FC236}">
                <a16:creationId xmlns:a16="http://schemas.microsoft.com/office/drawing/2014/main" id="{64A6D754-5933-F907-C70C-E846F06FB9CB}"/>
              </a:ext>
            </a:extLst>
          </p:cNvPr>
          <p:cNvSpPr>
            <a:spLocks noGrp="1"/>
          </p:cNvSpPr>
          <p:nvPr>
            <p:ph type="body" idx="1"/>
          </p:nvPr>
        </p:nvSpPr>
        <p:spPr>
          <a:xfrm>
            <a:off x="304800" y="1318260"/>
            <a:ext cx="8305800" cy="4401205"/>
          </a:xfrm>
        </p:spPr>
        <p:txBody>
          <a:bodyPr/>
          <a:lstStyle/>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If a method cannot be inherited, then it cannot be overridden.</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A subclass within the same package as the instance's superclass can override any superclass method that is not declared private or final.</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A subclass in a different package can only override the non-final methods declared public or protected.</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An overriding method can throw any uncheck exceptions, regardless of whether the overridden method throws exceptions or not. However, the overriding method should not throw checked exceptions that are new or broader than the ones declared by the overridden method. The overriding method can throw narrower or fewer exceptions than the overridden method.</a:t>
            </a:r>
          </a:p>
          <a:p>
            <a:pPr marL="717550" indent="-363538" algn="just">
              <a:buFont typeface="Wingdings" panose="05000000000000000000" pitchFamily="2" charset="2"/>
              <a:buChar char="Ø"/>
            </a:pPr>
            <a:r>
              <a:rPr lang="en-US" sz="2200" b="0" i="0" dirty="0">
                <a:solidFill>
                  <a:srgbClr val="000000"/>
                </a:solidFill>
                <a:effectLst/>
                <a:latin typeface="Times New Roman" panose="02020603050405020304" pitchFamily="18" charset="0"/>
                <a:cs typeface="Times New Roman" panose="02020603050405020304" pitchFamily="18" charset="0"/>
              </a:rPr>
              <a:t>Constructors cannot be overridden.</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87745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6788" y="3027882"/>
            <a:ext cx="5118100" cy="1311910"/>
          </a:xfrm>
          <a:prstGeom prst="rect">
            <a:avLst/>
          </a:prstGeom>
        </p:spPr>
        <p:txBody>
          <a:bodyPr vert="horz" wrap="square" lIns="0" tIns="17780" rIns="0" bIns="0" rtlCol="0">
            <a:spAutoFit/>
          </a:bodyPr>
          <a:lstStyle/>
          <a:p>
            <a:pPr marL="12700">
              <a:lnSpc>
                <a:spcPct val="100000"/>
              </a:lnSpc>
              <a:spcBef>
                <a:spcPts val="140"/>
              </a:spcBef>
            </a:pPr>
            <a:r>
              <a:rPr spc="-260" dirty="0"/>
              <a:t>Thank</a:t>
            </a:r>
            <a:r>
              <a:rPr spc="-220" dirty="0"/>
              <a:t> </a:t>
            </a:r>
            <a:r>
              <a:rPr spc="-409"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Pilani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ilaniTemplate" id="{8F0D2DFD-EC7F-4D0A-98D1-F33F22B163D3}" vid="{99A2A52D-FDB1-488E-9133-A1A0B416DB4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650</TotalTime>
  <Words>7672</Words>
  <Application>Microsoft Office PowerPoint</Application>
  <PresentationFormat>On-screen Show (4:3)</PresentationFormat>
  <Paragraphs>1099</Paragraphs>
  <Slides>85</Slides>
  <Notes>12</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85</vt:i4>
      </vt:variant>
    </vt:vector>
  </HeadingPairs>
  <TitlesOfParts>
    <vt:vector size="97" baseType="lpstr">
      <vt:lpstr>Arial</vt:lpstr>
      <vt:lpstr>Arial Rounded MT Bold</vt:lpstr>
      <vt:lpstr>Calibri</vt:lpstr>
      <vt:lpstr>Carlito</vt:lpstr>
      <vt:lpstr>Rockwell</vt:lpstr>
      <vt:lpstr>Times New Roman</vt:lpstr>
      <vt:lpstr>verdana</vt:lpstr>
      <vt:lpstr>Wingdings</vt:lpstr>
      <vt:lpstr>Office Theme</vt:lpstr>
      <vt:lpstr>1_Office Theme</vt:lpstr>
      <vt:lpstr>2_Office Theme</vt:lpstr>
      <vt:lpstr>PilaniTemplate</vt:lpstr>
      <vt:lpstr>Object Oriented Programming  and Design</vt:lpstr>
      <vt:lpstr>  IMP Note to Self</vt:lpstr>
      <vt:lpstr>String Introduction</vt:lpstr>
      <vt:lpstr>Important String Constructors</vt:lpstr>
      <vt:lpstr>String Constructors: Example</vt:lpstr>
      <vt:lpstr>Comparing Strings : equals()  Method</vt:lpstr>
      <vt:lpstr>Comparing Strings : equals()  Method vs ==</vt:lpstr>
      <vt:lpstr>Comparing Strings : equals()  Method vs == ….</vt:lpstr>
      <vt:lpstr>Predict the Output</vt:lpstr>
      <vt:lpstr>Predict the Output</vt:lpstr>
      <vt:lpstr>Predict the Output</vt:lpstr>
      <vt:lpstr>Predict the Output</vt:lpstr>
      <vt:lpstr>Predict the Output</vt:lpstr>
      <vt:lpstr>How Many String Objects are  Created?</vt:lpstr>
      <vt:lpstr>How Many String Objects are  Created?</vt:lpstr>
      <vt:lpstr>How Many String Objects are  Created?</vt:lpstr>
      <vt:lpstr>How Many String Objects are  Created?</vt:lpstr>
      <vt:lpstr>How Many String Objects are  Created?</vt:lpstr>
      <vt:lpstr>Predict The Output?</vt:lpstr>
      <vt:lpstr>PowerPoint Presentation</vt:lpstr>
      <vt:lpstr>Getting length of Strings</vt:lpstr>
      <vt:lpstr>String Concatenation Using ‘+’  operator</vt:lpstr>
      <vt:lpstr>String Concatenation Using  ‘concat()’ Method</vt:lpstr>
      <vt:lpstr>Character Extraction :  chartAt()</vt:lpstr>
      <vt:lpstr>Character Extraction :  getChars()</vt:lpstr>
      <vt:lpstr>Character Extraction :  getChars() : Example 1</vt:lpstr>
      <vt:lpstr>Character Extraction :  getChars() : Example 2</vt:lpstr>
      <vt:lpstr>Character Extraction :  getChars() : Example 3</vt:lpstr>
      <vt:lpstr>Character Extraction :  getChars() : Example 4</vt:lpstr>
      <vt:lpstr>byte[] getBytes() : Method</vt:lpstr>
      <vt:lpstr>char[ ] toCharArray()</vt:lpstr>
      <vt:lpstr>String Comparisons: equals()  and equalsIgnoreCase()</vt:lpstr>
      <vt:lpstr>String Comparisons:  regionMatches()</vt:lpstr>
      <vt:lpstr>String Comparisons:  regionMatches() : Example</vt:lpstr>
      <vt:lpstr>String Comparisons:  startsWith() and endsWith()</vt:lpstr>
      <vt:lpstr>String Comparisons:  compareTo()</vt:lpstr>
      <vt:lpstr>PowerPoint Presentation</vt:lpstr>
      <vt:lpstr>Searching Strings : indexOf()  and lastIndexOf()</vt:lpstr>
      <vt:lpstr>Searching Strings : indexOf()  and lastIndexOf() : Example</vt:lpstr>
      <vt:lpstr>Modifying Strings : substring()</vt:lpstr>
      <vt:lpstr>Modifying Strings : substring()  Example</vt:lpstr>
      <vt:lpstr>Replacing Characters in String</vt:lpstr>
      <vt:lpstr>Changing the Case of  Characters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Packages </vt:lpstr>
      <vt:lpstr>Packages </vt:lpstr>
      <vt:lpstr>Packages and directories</vt:lpstr>
      <vt:lpstr>Packages </vt:lpstr>
      <vt:lpstr>Packages </vt:lpstr>
      <vt:lpstr>Package</vt:lpstr>
      <vt:lpstr>Packages </vt:lpstr>
      <vt:lpstr>Creating Your Own Package</vt:lpstr>
      <vt:lpstr>Accessing Classes in a Package</vt:lpstr>
      <vt:lpstr>Adding a Class to a Package</vt:lpstr>
      <vt:lpstr>Example1-Package</vt:lpstr>
      <vt:lpstr>Creating Packages</vt:lpstr>
      <vt:lpstr>Example2-Package</vt:lpstr>
      <vt:lpstr>Example 3- Package</vt:lpstr>
      <vt:lpstr>Package</vt:lpstr>
      <vt:lpstr>Default Package</vt:lpstr>
      <vt:lpstr>Finding Packages</vt:lpstr>
      <vt:lpstr>CLASSPATH Environment Variable</vt:lpstr>
      <vt:lpstr>CLASSPATH Environment Variable</vt:lpstr>
      <vt:lpstr>Example1-Package[Using CLASSPATH]</vt:lpstr>
      <vt:lpstr>Example2-Package[Using CLASSPATH]</vt:lpstr>
      <vt:lpstr>Example 3- Package[Using CLASSPATH]</vt:lpstr>
      <vt:lpstr>Adding a Class to a Package</vt:lpstr>
      <vt:lpstr>Adding a Class to a Package</vt:lpstr>
      <vt:lpstr>public/package/private scope</vt:lpstr>
      <vt:lpstr>public/package/private scope</vt:lpstr>
      <vt:lpstr>Levels of Access Control</vt:lpstr>
      <vt:lpstr>PowerPoint Presentation</vt:lpstr>
      <vt:lpstr>Overriding method</vt:lpstr>
      <vt:lpstr>Rules for Method Overriding</vt:lpstr>
      <vt:lpstr>Rules for Method Overriding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 ZG 552 Software Testing Methodologies</dc:title>
  <dc:creator>Prashant Joshi</dc:creator>
  <cp:lastModifiedBy>Ramya M</cp:lastModifiedBy>
  <cp:revision>22</cp:revision>
  <dcterms:created xsi:type="dcterms:W3CDTF">2020-11-07T14:14:38Z</dcterms:created>
  <dcterms:modified xsi:type="dcterms:W3CDTF">2025-11-28T09:56:05Z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2017-11-27T00:00:00Z</vt:filetime>
  </property>
  <property fmtid="{D5CDD505-2E9C-101B-9397-08002B2CF9AE}" pid="3" name="Creator">
    <vt:lpwstr>Microsoft® PowerPoint® 2013</vt:lpwstr>
  </property>
  <property fmtid="{D5CDD505-2E9C-101B-9397-08002B2CF9AE}" pid="4" name="LastSaved">
    <vt:filetime>2020-11-07T00:00:00Z</vt:filetime>
  </property>
</Properties>
</file>