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slides/slide21.xml" ContentType="application/vnd.openxmlformats-officedocument.presentationml.slide+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ags/tag2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5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15.xml" ContentType="application/vnd.openxmlformats-officedocument.presentationml.tags+xml"/>
  <Override PartName="/ppt/tags/tag14.xml" ContentType="application/vnd.openxmlformats-officedocument.presentationml.tags+xml"/>
  <Override PartName="/ppt/tags/tag29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18.xml" ContentType="application/vnd.openxmlformats-officedocument.presentationml.tags+xml"/>
  <Override PartName="/ppt/tags/tag17.xml" ContentType="application/vnd.openxmlformats-officedocument.presentationml.tags+xml"/>
  <Override PartName="/ppt/tags/tag1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13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app.xml" ContentType="application/vnd.openxmlformats-officedocument.extended-properties+xml"/>
  <Override PartName="/ppt/tags/tag12.xml" ContentType="application/vnd.openxmlformats-officedocument.presentationml.tag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ppt/tags/tag47.xml" ContentType="application/vnd.openxmlformats-officedocument.presentationml.tags+xml"/>
  <Override PartName="/ppt/tags/tag42.xml" ContentType="application/vnd.openxmlformats-officedocument.presentationml.tags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8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1" r:id="rId3"/>
    <p:sldMasterId id="2147483713" r:id="rId4"/>
    <p:sldMasterId id="2147483729" r:id="rId5"/>
  </p:sldMasterIdLst>
  <p:notesMasterIdLst>
    <p:notesMasterId r:id="rId27"/>
  </p:notesMasterIdLst>
  <p:sldIdLst>
    <p:sldId id="524" r:id="rId6"/>
    <p:sldId id="661" r:id="rId7"/>
    <p:sldId id="662" r:id="rId8"/>
    <p:sldId id="673" r:id="rId9"/>
    <p:sldId id="675" r:id="rId10"/>
    <p:sldId id="663" r:id="rId11"/>
    <p:sldId id="664" r:id="rId12"/>
    <p:sldId id="665" r:id="rId13"/>
    <p:sldId id="666" r:id="rId14"/>
    <p:sldId id="668" r:id="rId15"/>
    <p:sldId id="667" r:id="rId16"/>
    <p:sldId id="649" r:id="rId17"/>
    <p:sldId id="652" r:id="rId18"/>
    <p:sldId id="670" r:id="rId19"/>
    <p:sldId id="676" r:id="rId20"/>
    <p:sldId id="677" r:id="rId21"/>
    <p:sldId id="678" r:id="rId22"/>
    <p:sldId id="679" r:id="rId23"/>
    <p:sldId id="671" r:id="rId24"/>
    <p:sldId id="672" r:id="rId25"/>
    <p:sldId id="669" r:id="rId26"/>
  </p:sldIdLst>
  <p:sldSz cx="9144000" cy="6858000" type="screen4x3"/>
  <p:notesSz cx="7053263" cy="9309100"/>
  <p:defaultTextStyle>
    <a:defPPr>
      <a:defRPr lang="en-US"/>
    </a:defPPr>
    <a:lvl1pPr marL="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08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12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2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25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32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037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044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050" algn="l" defTabSz="91401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900"/>
    <a:srgbClr val="FF8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Objects="1">
      <p:cViewPr varScale="1">
        <p:scale>
          <a:sx n="74" d="100"/>
          <a:sy n="74" d="100"/>
        </p:scale>
        <p:origin x="1290" y="72"/>
      </p:cViewPr>
      <p:guideLst>
        <p:guide orient="horz" pos="2160"/>
        <p:guide pos="2881"/>
      </p:guideLst>
    </p:cSldViewPr>
  </p:slideViewPr>
  <p:outlineViewPr>
    <p:cViewPr>
      <p:scale>
        <a:sx n="33" d="100"/>
        <a:sy n="33" d="100"/>
      </p:scale>
      <p:origin x="0" y="-121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E4D2D20F-53A5-490A-837A-4430713C8CF5}" type="datetimeFigureOut">
              <a:rPr lang="en-US" smtClean="0"/>
              <a:pPr/>
              <a:t>1/28/2021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E2663B-E387-443C-B665-17502BB33C5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25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08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12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2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25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32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037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044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050" algn="l" defTabSz="91401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10.xml"/><Relationship Id="rId7" Type="http://schemas.openxmlformats.org/officeDocument/2006/relationships/oleObject" Target="../embeddings/oleObject2.bin"/><Relationship Id="rId2" Type="http://schemas.openxmlformats.org/officeDocument/2006/relationships/tags" Target="../tags/tag9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image" Target="../media/image10.emf"/><Relationship Id="rId4" Type="http://schemas.openxmlformats.org/officeDocument/2006/relationships/tags" Target="../tags/tag11.xml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2.xml"/><Relationship Id="rId7" Type="http://schemas.openxmlformats.org/officeDocument/2006/relationships/oleObject" Target="../embeddings/oleObject4.bin"/><Relationship Id="rId2" Type="http://schemas.openxmlformats.org/officeDocument/2006/relationships/tags" Target="../tags/tag21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3.xml"/><Relationship Id="rId11" Type="http://schemas.openxmlformats.org/officeDocument/2006/relationships/image" Target="../media/image2.png"/><Relationship Id="rId5" Type="http://schemas.openxmlformats.org/officeDocument/2006/relationships/tags" Target="../tags/tag24.xml"/><Relationship Id="rId10" Type="http://schemas.openxmlformats.org/officeDocument/2006/relationships/image" Target="../media/image10.emf"/><Relationship Id="rId4" Type="http://schemas.openxmlformats.org/officeDocument/2006/relationships/tags" Target="../tags/tag23.xml"/><Relationship Id="rId9" Type="http://schemas.openxmlformats.org/officeDocument/2006/relationships/image" Target="../media/image9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34.xml"/><Relationship Id="rId7" Type="http://schemas.openxmlformats.org/officeDocument/2006/relationships/oleObject" Target="../embeddings/oleObject6.bin"/><Relationship Id="rId2" Type="http://schemas.openxmlformats.org/officeDocument/2006/relationships/tags" Target="../tags/tag33.xml"/><Relationship Id="rId1" Type="http://schemas.openxmlformats.org/officeDocument/2006/relationships/vmlDrawing" Target="../drawings/vmlDrawing6.vml"/><Relationship Id="rId6" Type="http://schemas.openxmlformats.org/officeDocument/2006/relationships/slideMaster" Target="../slideMasters/slideMaster4.xml"/><Relationship Id="rId11" Type="http://schemas.openxmlformats.org/officeDocument/2006/relationships/image" Target="../media/image2.png"/><Relationship Id="rId5" Type="http://schemas.openxmlformats.org/officeDocument/2006/relationships/tags" Target="../tags/tag36.xml"/><Relationship Id="rId10" Type="http://schemas.openxmlformats.org/officeDocument/2006/relationships/image" Target="../media/image10.emf"/><Relationship Id="rId4" Type="http://schemas.openxmlformats.org/officeDocument/2006/relationships/tags" Target="../tags/tag35.xml"/><Relationship Id="rId9" Type="http://schemas.openxmlformats.org/officeDocument/2006/relationships/image" Target="../media/image9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46.xml"/><Relationship Id="rId7" Type="http://schemas.openxmlformats.org/officeDocument/2006/relationships/oleObject" Target="../embeddings/oleObject8.bin"/><Relationship Id="rId2" Type="http://schemas.openxmlformats.org/officeDocument/2006/relationships/tags" Target="../tags/tag45.xml"/><Relationship Id="rId1" Type="http://schemas.openxmlformats.org/officeDocument/2006/relationships/vmlDrawing" Target="../drawings/vmlDrawing8.vml"/><Relationship Id="rId6" Type="http://schemas.openxmlformats.org/officeDocument/2006/relationships/slideMaster" Target="../slideMasters/slideMaster5.xml"/><Relationship Id="rId11" Type="http://schemas.openxmlformats.org/officeDocument/2006/relationships/image" Target="../media/image2.png"/><Relationship Id="rId5" Type="http://schemas.openxmlformats.org/officeDocument/2006/relationships/tags" Target="../tags/tag48.xml"/><Relationship Id="rId10" Type="http://schemas.openxmlformats.org/officeDocument/2006/relationships/image" Target="../media/image10.emf"/><Relationship Id="rId4" Type="http://schemas.openxmlformats.org/officeDocument/2006/relationships/tags" Target="../tags/tag47.xml"/><Relationship Id="rId9" Type="http://schemas.openxmlformats.org/officeDocument/2006/relationships/image" Target="../media/image9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3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4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4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4" y="3810004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3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4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4" y="3810004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4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5"/>
            <a:ext cx="1905000" cy="280742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4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2" tIns="45701" rIns="91402" bIns="45701"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3"/>
            <a:ext cx="2209800" cy="547657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3, UGC Act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92" y="6550675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381000" y="6492875"/>
            <a:ext cx="2133600" cy="365125"/>
          </a:xfrm>
        </p:spPr>
        <p:txBody>
          <a:bodyPr/>
          <a:lstStyle>
            <a:lvl1pPr>
              <a:defRPr sz="1600"/>
            </a:lvl1pPr>
          </a:lstStyle>
          <a:p>
            <a:fld id="{BD0827E9-CFC9-46E1-A7D1-8887B5DA61F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5C652-FC7F-4E15-B2B8-09AF2DB910E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02" tIns="45701" rIns="91402" bIns="4570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1" y="6356350"/>
            <a:ext cx="2895600" cy="365125"/>
          </a:xfrm>
          <a:prstGeom prst="rect">
            <a:avLst/>
          </a:prstGeom>
        </p:spPr>
        <p:txBody>
          <a:bodyPr lIns="91402" tIns="45701" rIns="91402" bIns="4570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5"/>
            <a:ext cx="4038600" cy="4525963"/>
          </a:xfrm>
        </p:spPr>
        <p:txBody>
          <a:bodyPr/>
          <a:lstStyle>
            <a:lvl1pPr marL="342754" marR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636" marR="0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636" marR="0" lvl="1" indent="-285630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754" marR="0" lvl="0" indent="-342754" algn="l" defTabSz="91401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4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08" indent="0">
              <a:buNone/>
              <a:defRPr sz="2000" b="1"/>
            </a:lvl2pPr>
            <a:lvl3pPr marL="914012" indent="0">
              <a:buNone/>
              <a:defRPr sz="1800" b="1"/>
            </a:lvl3pPr>
            <a:lvl4pPr marL="1371020" indent="0">
              <a:buNone/>
              <a:defRPr sz="1600" b="1"/>
            </a:lvl4pPr>
            <a:lvl5pPr marL="1828025" indent="0">
              <a:buNone/>
              <a:defRPr sz="1600" b="1"/>
            </a:lvl5pPr>
            <a:lvl6pPr marL="2285032" indent="0">
              <a:buNone/>
              <a:defRPr sz="1600" b="1"/>
            </a:lvl6pPr>
            <a:lvl7pPr marL="2742037" indent="0">
              <a:buNone/>
              <a:defRPr sz="1600" b="1"/>
            </a:lvl7pPr>
            <a:lvl8pPr marL="3199044" indent="0">
              <a:buNone/>
              <a:defRPr sz="1600" b="1"/>
            </a:lvl8pPr>
            <a:lvl9pPr marL="365605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4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08" indent="0">
              <a:buNone/>
              <a:defRPr sz="2000" b="1"/>
            </a:lvl2pPr>
            <a:lvl3pPr marL="914012" indent="0">
              <a:buNone/>
              <a:defRPr sz="1800" b="1"/>
            </a:lvl3pPr>
            <a:lvl4pPr marL="1371020" indent="0">
              <a:buNone/>
              <a:defRPr sz="1600" b="1"/>
            </a:lvl4pPr>
            <a:lvl5pPr marL="1828025" indent="0">
              <a:buNone/>
              <a:defRPr sz="1600" b="1"/>
            </a:lvl5pPr>
            <a:lvl6pPr marL="2285032" indent="0">
              <a:buNone/>
              <a:defRPr sz="1600" b="1"/>
            </a:lvl6pPr>
            <a:lvl7pPr marL="2742037" indent="0">
              <a:buNone/>
              <a:defRPr sz="1600" b="1"/>
            </a:lvl7pPr>
            <a:lvl8pPr marL="3199044" indent="0">
              <a:buNone/>
              <a:defRPr sz="1600" b="1"/>
            </a:lvl8pPr>
            <a:lvl9pPr marL="365605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5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600205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008" indent="0">
              <a:buNone/>
              <a:defRPr sz="1200"/>
            </a:lvl2pPr>
            <a:lvl3pPr marL="914012" indent="0">
              <a:buNone/>
              <a:defRPr sz="1000"/>
            </a:lvl3pPr>
            <a:lvl4pPr marL="1371020" indent="0">
              <a:buNone/>
              <a:defRPr sz="900"/>
            </a:lvl4pPr>
            <a:lvl5pPr marL="1828025" indent="0">
              <a:buNone/>
              <a:defRPr sz="900"/>
            </a:lvl5pPr>
            <a:lvl6pPr marL="2285032" indent="0">
              <a:buNone/>
              <a:defRPr sz="900"/>
            </a:lvl6pPr>
            <a:lvl7pPr marL="2742037" indent="0">
              <a:buNone/>
              <a:defRPr sz="900"/>
            </a:lvl7pPr>
            <a:lvl8pPr marL="3199044" indent="0">
              <a:buNone/>
              <a:defRPr sz="900"/>
            </a:lvl8pPr>
            <a:lvl9pPr marL="365605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799"/>
            <a:ext cx="5486400" cy="3429001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008" indent="0">
              <a:buNone/>
              <a:defRPr sz="2800"/>
            </a:lvl2pPr>
            <a:lvl3pPr marL="914012" indent="0">
              <a:buNone/>
              <a:defRPr sz="2400"/>
            </a:lvl3pPr>
            <a:lvl4pPr marL="1371020" indent="0">
              <a:buNone/>
              <a:defRPr sz="2000"/>
            </a:lvl4pPr>
            <a:lvl5pPr marL="1828025" indent="0">
              <a:buNone/>
              <a:defRPr sz="2000"/>
            </a:lvl5pPr>
            <a:lvl6pPr marL="2285032" indent="0">
              <a:buNone/>
              <a:defRPr sz="2000"/>
            </a:lvl6pPr>
            <a:lvl7pPr marL="2742037" indent="0">
              <a:buNone/>
              <a:defRPr sz="2000"/>
            </a:lvl7pPr>
            <a:lvl8pPr marL="3199044" indent="0">
              <a:buNone/>
              <a:defRPr sz="2000"/>
            </a:lvl8pPr>
            <a:lvl9pPr marL="365605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08" indent="0">
              <a:buNone/>
              <a:defRPr sz="1200"/>
            </a:lvl2pPr>
            <a:lvl3pPr marL="914012" indent="0">
              <a:buNone/>
              <a:defRPr sz="1000"/>
            </a:lvl3pPr>
            <a:lvl4pPr marL="1371020" indent="0">
              <a:buNone/>
              <a:defRPr sz="900"/>
            </a:lvl4pPr>
            <a:lvl5pPr marL="1828025" indent="0">
              <a:buNone/>
              <a:defRPr sz="900"/>
            </a:lvl5pPr>
            <a:lvl6pPr marL="2285032" indent="0">
              <a:buNone/>
              <a:defRPr sz="900"/>
            </a:lvl6pPr>
            <a:lvl7pPr marL="2742037" indent="0">
              <a:buNone/>
              <a:defRPr sz="900"/>
            </a:lvl7pPr>
            <a:lvl8pPr marL="3199044" indent="0">
              <a:buNone/>
              <a:defRPr sz="900"/>
            </a:lvl8pPr>
            <a:lvl9pPr marL="365605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4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4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4" y="3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5040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4" y="381004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4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4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52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4" y="3807478"/>
            <a:ext cx="5867400" cy="233652"/>
          </a:xfrm>
          <a:prstGeom prst="rect">
            <a:avLst/>
          </a:prstGeom>
          <a:noFill/>
        </p:spPr>
        <p:txBody>
          <a:bodyPr wrap="square" lIns="91402" tIns="45701" rIns="91402" bIns="45701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srgbClr val="FFFFFF"/>
                </a:solidFill>
                <a:latin typeface="+mn-lt"/>
                <a:cs typeface="Arial"/>
              </a:rPr>
              <a:t>BITS</a:t>
            </a:r>
            <a:r>
              <a:rPr lang="en-US" sz="2900" spc="-150" dirty="0">
                <a:solidFill>
                  <a:srgbClr val="FFFFFF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 smtClean="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6C658E-76A0-49DC-842D-6BAA93253E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8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B08C3BD-7C5D-4FDC-B1A6-06A69244E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0521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F007E-9FA6-4B7E-A5CD-8A22DEFAC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7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C9E3B4-6F32-4F8A-BEC1-34217B1F27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536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0427507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9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 smtClean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 smtClean="0">
                  <a:solidFill>
                    <a:srgbClr val="FFFFFF"/>
                  </a:solidFill>
                  <a:cs typeface="Arial"/>
                </a:rPr>
                <a:t> Pilani</a:t>
              </a:r>
              <a:endParaRPr lang="en-US" sz="3000" spc="-153" dirty="0">
                <a:solidFill>
                  <a:srgbClr val="FFFFFF"/>
                </a:solidFill>
                <a:cs typeface="Arial"/>
              </a:endParaRP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 smtClean="0">
                  <a:solidFill>
                    <a:srgbClr val="FFFFFF"/>
                  </a:solidFill>
                  <a:cs typeface="Arial"/>
                </a:rPr>
                <a:t>Pilani | Dubai | Goa | Hyderabad</a:t>
              </a:r>
              <a:endParaRPr lang="en-US" sz="900" spc="-153" dirty="0">
                <a:solidFill>
                  <a:srgbClr val="FFFFFF"/>
                </a:solidFill>
                <a:cs typeface="Arial"/>
              </a:endParaRP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80319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 smtClean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 smtClean="0">
                  <a:solidFill>
                    <a:srgbClr val="FFFFFF"/>
                  </a:solidFill>
                  <a:cs typeface="Arial"/>
                </a:rPr>
                <a:t> Pilani</a:t>
              </a:r>
              <a:endParaRPr lang="en-US" sz="3000" spc="-153" dirty="0">
                <a:solidFill>
                  <a:srgbClr val="FFFFFF"/>
                </a:solidFill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 smtClean="0">
                  <a:solidFill>
                    <a:srgbClr val="FFFFFF"/>
                  </a:solidFill>
                  <a:cs typeface="Arial"/>
                </a:rPr>
                <a:t>Pilani | Dubai | Goa | Hyderabad</a:t>
              </a:r>
              <a:endParaRPr lang="en-US" sz="900" dirty="0">
                <a:solidFill>
                  <a:srgbClr val="FFFFFF"/>
                </a:solidFill>
                <a:cs typeface="Arial"/>
              </a:endParaRP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2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50427507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67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80319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22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30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51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5" y="5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64" y="6574550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623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" y="5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387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3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3758595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23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 rotWithShape="1">
          <a:blip r:embed="rId9" cstate="print"/>
          <a:srcRect r="5665" b="5637"/>
          <a:stretch/>
        </p:blipFill>
        <p:spPr bwMode="auto">
          <a:xfrm>
            <a:off x="-1" y="0"/>
            <a:ext cx="9144001" cy="6859621"/>
          </a:xfrm>
          <a:prstGeom prst="rect">
            <a:avLst/>
          </a:prstGeom>
          <a:noFill/>
        </p:spPr>
      </p:pic>
      <p:grpSp>
        <p:nvGrpSpPr>
          <p:cNvPr id="3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7" y="17"/>
            <a:ext cx="9140760" cy="6859620"/>
            <a:chOff x="0" y="0"/>
            <a:chExt cx="5643" cy="4235"/>
          </a:xfrm>
        </p:grpSpPr>
        <p:sp>
          <p:nvSpPr>
            <p:cNvPr id="12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3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14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18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076" y="6574562"/>
            <a:ext cx="1670055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 userDrawn="1"/>
        </p:nvSpPr>
        <p:spPr>
          <a:xfrm>
            <a:off x="0" y="3440338"/>
            <a:ext cx="8863767" cy="2798919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2954589" y="6239257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3" name="Rectangle 32"/>
          <p:cNvSpPr/>
          <p:nvPr userDrawn="1"/>
        </p:nvSpPr>
        <p:spPr>
          <a:xfrm>
            <a:off x="0" y="6239257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909178" y="6239257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35" name="Picture 34" descr="BITS_university_logo_whitevert.png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7752" y="3440338"/>
            <a:ext cx="2099313" cy="2020217"/>
          </a:xfrm>
          <a:prstGeom prst="rect">
            <a:avLst/>
          </a:prstGeom>
        </p:spPr>
      </p:pic>
      <p:grpSp>
        <p:nvGrpSpPr>
          <p:cNvPr id="4" name="Group 35"/>
          <p:cNvGrpSpPr/>
          <p:nvPr userDrawn="1"/>
        </p:nvGrpSpPr>
        <p:grpSpPr>
          <a:xfrm>
            <a:off x="-77752" y="5384032"/>
            <a:ext cx="2254818" cy="699730"/>
            <a:chOff x="76200" y="2209800"/>
            <a:chExt cx="2209800" cy="685800"/>
          </a:xfrm>
        </p:grpSpPr>
        <p:sp>
          <p:nvSpPr>
            <p:cNvPr id="37" name="TextBox 36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38" name="TextBox 37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52"/>
            <a:ext cx="6199129" cy="282625"/>
          </a:xfrm>
        </p:spPr>
        <p:txBody>
          <a:bodyPr>
            <a:spAutoFit/>
          </a:bodyPr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70825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" y="17"/>
            <a:ext cx="9142381" cy="6882118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 userDrawn="1"/>
        </p:nvSpPr>
        <p:spPr>
          <a:xfrm>
            <a:off x="0" y="4253985"/>
            <a:ext cx="9144000" cy="2628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pic>
        <p:nvPicPr>
          <p:cNvPr id="5" name="Picture 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764470" y="16"/>
            <a:ext cx="2237873" cy="70676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41630" y="6806168"/>
            <a:ext cx="2954589" cy="777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-12959" y="6806168"/>
            <a:ext cx="2954589" cy="777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5896219" y="6806168"/>
            <a:ext cx="2954589" cy="777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grpSp>
        <p:nvGrpSpPr>
          <p:cNvPr id="2" name="Group 9"/>
          <p:cNvGrpSpPr/>
          <p:nvPr userDrawn="1"/>
        </p:nvGrpSpPr>
        <p:grpSpPr>
          <a:xfrm>
            <a:off x="6997711" y="777477"/>
            <a:ext cx="2254818" cy="69973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 dirty="0">
                  <a:solidFill>
                    <a:srgbClr val="FFFFFF"/>
                  </a:solidFill>
                  <a:latin typeface="Arial"/>
                  <a:ea typeface="ＭＳ Ｐゴシック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575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4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21.xml"/><Relationship Id="rId7" Type="http://schemas.openxmlformats.org/officeDocument/2006/relationships/tags" Target="../tags/tag2.xml"/><Relationship Id="rId12" Type="http://schemas.openxmlformats.org/officeDocument/2006/relationships/tags" Target="../tags/tag7.xml"/><Relationship Id="rId2" Type="http://schemas.openxmlformats.org/officeDocument/2006/relationships/slideLayout" Target="../slideLayouts/slideLayout20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1.xml"/><Relationship Id="rId11" Type="http://schemas.openxmlformats.org/officeDocument/2006/relationships/tags" Target="../tags/tag6.xml"/><Relationship Id="rId5" Type="http://schemas.openxmlformats.org/officeDocument/2006/relationships/vmlDrawing" Target="../drawings/vmlDrawing1.vml"/><Relationship Id="rId15" Type="http://schemas.openxmlformats.org/officeDocument/2006/relationships/image" Target="../media/image7.emf"/><Relationship Id="rId10" Type="http://schemas.openxmlformats.org/officeDocument/2006/relationships/tags" Target="../tags/tag5.xml"/><Relationship Id="rId4" Type="http://schemas.openxmlformats.org/officeDocument/2006/relationships/theme" Target="../theme/theme2.xml"/><Relationship Id="rId9" Type="http://schemas.openxmlformats.org/officeDocument/2006/relationships/tags" Target="../tags/tag4.xml"/><Relationship Id="rId1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slideLayout" Target="../slideLayouts/slideLayout24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2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vmlDrawing" Target="../drawings/vmlDrawing3.vml"/><Relationship Id="rId15" Type="http://schemas.openxmlformats.org/officeDocument/2006/relationships/image" Target="../media/image7.emf"/><Relationship Id="rId10" Type="http://schemas.openxmlformats.org/officeDocument/2006/relationships/tags" Target="../tags/tag17.xml"/><Relationship Id="rId4" Type="http://schemas.openxmlformats.org/officeDocument/2006/relationships/theme" Target="../theme/theme3.xml"/><Relationship Id="rId9" Type="http://schemas.openxmlformats.org/officeDocument/2006/relationships/tags" Target="../tags/tag16.xml"/><Relationship Id="rId1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slideLayout" Target="../slideLayouts/slideLayout27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vmlDrawing" Target="../drawings/vmlDrawing5.vml"/><Relationship Id="rId15" Type="http://schemas.openxmlformats.org/officeDocument/2006/relationships/image" Target="../media/image7.emf"/><Relationship Id="rId10" Type="http://schemas.openxmlformats.org/officeDocument/2006/relationships/tags" Target="../tags/tag29.xml"/><Relationship Id="rId4" Type="http://schemas.openxmlformats.org/officeDocument/2006/relationships/theme" Target="../theme/theme4.xml"/><Relationship Id="rId9" Type="http://schemas.openxmlformats.org/officeDocument/2006/relationships/tags" Target="../tags/tag28.xml"/><Relationship Id="rId14" Type="http://schemas.openxmlformats.org/officeDocument/2006/relationships/oleObject" Target="../embeddings/oleObject5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vmlDrawing" Target="../drawings/vmlDrawing7.vml"/><Relationship Id="rId15" Type="http://schemas.openxmlformats.org/officeDocument/2006/relationships/image" Target="../media/image7.emf"/><Relationship Id="rId10" Type="http://schemas.openxmlformats.org/officeDocument/2006/relationships/tags" Target="../tags/tag41.xml"/><Relationship Id="rId4" Type="http://schemas.openxmlformats.org/officeDocument/2006/relationships/theme" Target="../theme/theme5.xml"/><Relationship Id="rId9" Type="http://schemas.openxmlformats.org/officeDocument/2006/relationships/tags" Target="../tags/tag40.xml"/><Relationship Id="rId14" Type="http://schemas.openxmlformats.org/officeDocument/2006/relationships/oleObject" Target="../embeddings/oleObject7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02" tIns="45701" rIns="91402" bIns="45701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5"/>
            <a:ext cx="8229600" cy="4525963"/>
          </a:xfrm>
          <a:prstGeom prst="rect">
            <a:avLst/>
          </a:prstGeom>
        </p:spPr>
        <p:txBody>
          <a:bodyPr vert="horz" lIns="91402" tIns="45701" rIns="91402" bIns="45701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" y="6324600"/>
            <a:ext cx="2133600" cy="365125"/>
          </a:xfrm>
          <a:prstGeom prst="rect">
            <a:avLst/>
          </a:prstGeom>
        </p:spPr>
        <p:txBody>
          <a:bodyPr vert="horz" lIns="91402" tIns="45701" rIns="91402" bIns="45701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C55C652-FC7F-4E15-B2B8-09AF2DB910E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733" r:id="rId14"/>
    <p:sldLayoutId id="2147483737" r:id="rId15"/>
    <p:sldLayoutId id="2147483738" r:id="rId16"/>
    <p:sldLayoutId id="2147483739" r:id="rId17"/>
    <p:sldLayoutId id="2147483740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012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754" indent="-342754" algn="l" defTabSz="91401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36" indent="-285630" algn="l" defTabSz="91401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15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521" indent="-228502" algn="l" defTabSz="91401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528" indent="-228502" algn="l" defTabSz="91401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534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40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547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552" indent="-228502" algn="l" defTabSz="91401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08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12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2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25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32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37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44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050" algn="l" defTabSz="9140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5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 smtClean="0">
                <a:solidFill>
                  <a:srgbClr val="101141"/>
                </a:solidFill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cs typeface="Arial"/>
              </a:rPr>
              <a:t>Pilani, Deemed to be University under Section 3 of UGC Act, 1956</a:t>
            </a:r>
            <a:endParaRPr lang="en-US" sz="1100" dirty="0">
              <a:solidFill>
                <a:srgbClr val="101141"/>
              </a:solidFill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43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3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/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27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3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13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59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493" y="260785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  <a:latin typeface="Arial"/>
                <a:ea typeface="ＭＳ Ｐゴシック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492" y="542620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20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1712" indent="-621712" defTabSz="913138" fontAlgn="base">
                <a:spcBef>
                  <a:spcPct val="0"/>
                </a:spcBef>
                <a:spcAft>
                  <a:spcPct val="0"/>
                </a:spcAft>
                <a:tabLst>
                  <a:tab pos="624949" algn="l"/>
                </a:tabLst>
              </a:pPr>
              <a:r>
                <a:rPr lang="en-US" sz="1000" dirty="0">
                  <a:solidFill>
                    <a:srgbClr val="000000"/>
                  </a:solidFill>
                  <a:latin typeface="Arial"/>
                  <a:ea typeface="ＭＳ Ｐゴシック"/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59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Arial"/>
                  <a:ea typeface="ＭＳ Ｐゴシック"/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  <a:latin typeface="Arial"/>
                  <a:ea typeface="ＭＳ Ｐゴシック"/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58" y="4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256" tIns="46628" rIns="93256" bIns="46628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39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16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03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46912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3138" rtl="0" eaLnBrk="1" fontAlgn="base" hangingPunct="1">
        <a:spcBef>
          <a:spcPct val="0"/>
        </a:spcBef>
        <a:spcAft>
          <a:spcPct val="0"/>
        </a:spcAft>
        <a:tabLst>
          <a:tab pos="27523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23" indent="-195905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281" indent="-267142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569" indent="-158666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589449439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9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6616" y="37255"/>
            <a:ext cx="670614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1978" fontAlgn="base">
              <a:spcBef>
                <a:spcPct val="0"/>
              </a:spcBef>
              <a:spcAft>
                <a:spcPct val="0"/>
              </a:spcAft>
            </a:pPr>
            <a:endParaRPr lang="en-US" sz="800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6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160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1505" y="260797"/>
            <a:ext cx="6526337" cy="596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 dirty="0" smtClean="0"/>
              <a:t>Click to edit Master title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1488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defTabSz="913238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808080"/>
                </a:solidFill>
                <a:latin typeface="Arial"/>
                <a:ea typeface="ＭＳ Ｐゴシック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1505" y="542632"/>
            <a:ext cx="8794113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 smtClean="0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3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3833" y="6292816"/>
            <a:ext cx="4072089" cy="518318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 dirty="0" smtClean="0">
                  <a:solidFill>
                    <a:srgbClr val="000000"/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620921" indent="-620921" defTabSz="911978" fontAlgn="base">
                <a:spcBef>
                  <a:spcPct val="0"/>
                </a:spcBef>
                <a:spcAft>
                  <a:spcPct val="0"/>
                </a:spcAft>
                <a:tabLst>
                  <a:tab pos="624154" algn="l"/>
                </a:tabLst>
              </a:pPr>
              <a:r>
                <a:rPr lang="en-US" sz="1000" dirty="0">
                  <a:solidFill>
                    <a:srgbClr val="000000"/>
                  </a:solidFill>
                  <a:latin typeface="Arial"/>
                  <a:ea typeface="ＭＳ Ｐゴシック"/>
                </a:rPr>
                <a:t>SOURCE: Source</a:t>
              </a:r>
            </a:p>
          </p:txBody>
        </p:sp>
      </p:grpSp>
      <p:grpSp>
        <p:nvGrpSpPr>
          <p:cNvPr id="4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165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solidFill>
                    <a:srgbClr val="000000"/>
                  </a:solidFill>
                  <a:latin typeface="Arial"/>
                  <a:ea typeface="ＭＳ Ｐゴシック"/>
                </a:rPr>
                <a:t>Title</a:t>
              </a:r>
            </a:p>
            <a:p>
              <a:pPr defTabSz="9132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dirty="0">
                  <a:solidFill>
                    <a:srgbClr val="808080"/>
                  </a:solidFill>
                  <a:latin typeface="Arial"/>
                  <a:ea typeface="ＭＳ Ｐゴシック"/>
                </a:rPr>
                <a:t>Unit of measure</a:t>
              </a: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0" y="889827"/>
            <a:ext cx="7153216" cy="46648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238" fontAlgn="base">
                <a:spcBef>
                  <a:spcPct val="0"/>
                </a:spcBef>
                <a:spcAft>
                  <a:spcPct val="0"/>
                </a:spcAft>
              </a:pPr>
              <a:endParaRPr lang="en-US" sz="1600" dirty="0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</p:grpSp>
      <p:pic>
        <p:nvPicPr>
          <p:cNvPr id="26" name="Picture 25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>
          <a:xfrm>
            <a:off x="6764470" y="16"/>
            <a:ext cx="2237873" cy="7067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64497" y="6583938"/>
            <a:ext cx="5986930" cy="266924"/>
          </a:xfrm>
          <a:prstGeom prst="rect">
            <a:avLst/>
          </a:prstGeom>
          <a:noFill/>
        </p:spPr>
        <p:txBody>
          <a:bodyPr wrap="square" lIns="93136" tIns="46570" rIns="93136" bIns="46570" rtlCol="0">
            <a:spAutoFit/>
          </a:bodyPr>
          <a:lstStyle/>
          <a:p>
            <a:pPr algn="r" defTabSz="913238" fontAlgn="base"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ea typeface="ＭＳ Ｐゴシック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551" y="6500997"/>
            <a:ext cx="2376029" cy="4664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228" y="6500997"/>
            <a:ext cx="2410323" cy="4664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15" y="6500997"/>
            <a:ext cx="2376029" cy="4664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136" tIns="46570" rIns="93136" bIns="46570" rtlCol="0" anchor="ctr"/>
          <a:lstStyle/>
          <a:p>
            <a:pPr algn="ctr" defTabSz="913238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FFFFFF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9170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1978" rtl="0" eaLnBrk="1" fontAlgn="base" hangingPunct="1">
        <a:spcBef>
          <a:spcPct val="0"/>
        </a:spcBef>
        <a:spcAft>
          <a:spcPct val="0"/>
        </a:spcAft>
        <a:tabLst>
          <a:tab pos="274887" algn="l"/>
        </a:tabLst>
        <a:defRPr sz="1900" b="1" baseline="0">
          <a:solidFill>
            <a:schemeClr val="tx1"/>
          </a:solidFill>
          <a:latin typeface="+mj-lt"/>
          <a:ea typeface="+mj-ea"/>
          <a:cs typeface="+mj-cs"/>
        </a:defRPr>
      </a:lvl1pPr>
      <a:lvl2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5681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1383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7075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2761" algn="l" defTabSz="91197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272" indent="-195656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5681" indent="-26680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5773" indent="-158466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3733" indent="-132592" algn="l" defTabSz="91197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5681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1383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7075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2761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8453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4142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59834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25525" algn="l" defTabSz="9313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                           </a:t>
            </a:r>
            <a:r>
              <a:rPr lang="en-US" dirty="0" err="1" smtClean="0"/>
              <a:t>RKTiwary</a:t>
            </a:r>
            <a:endParaRPr lang="en-US" dirty="0" smtClean="0"/>
          </a:p>
          <a:p>
            <a:r>
              <a:rPr lang="en-US" dirty="0" smtClean="0"/>
              <a:t>                       COA -</a:t>
            </a:r>
            <a:r>
              <a:rPr lang="en-US" dirty="0"/>
              <a:t>IS ZC353</a:t>
            </a:r>
          </a:p>
        </p:txBody>
      </p:sp>
    </p:spTree>
    <p:extLst>
      <p:ext uri="{BB962C8B-B14F-4D97-AF65-F5344CB8AC3E}">
        <p14:creationId xmlns:p14="http://schemas.microsoft.com/office/powerpoint/2010/main" val="208713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17901"/>
            <a:ext cx="7086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FranklinGothic-Heavy"/>
              </a:rPr>
              <a:t>Reducing Cache Misses by More Flexible </a:t>
            </a:r>
            <a:r>
              <a:rPr lang="en-US" sz="2400" dirty="0" smtClean="0">
                <a:latin typeface="FranklinGothic-Heavy"/>
              </a:rPr>
              <a:t>Placement of </a:t>
            </a:r>
            <a:r>
              <a:rPr lang="en-US" sz="2400" dirty="0">
                <a:latin typeface="FranklinGothic-Heavy"/>
              </a:rPr>
              <a:t>Blocks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76200" y="1447800"/>
            <a:ext cx="861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Fully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associative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en-US" sz="2400" dirty="0" smtClean="0">
                <a:solidFill>
                  <a:srgbClr val="00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2400" dirty="0" smtClean="0">
                <a:solidFill>
                  <a:srgbClr val="00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 structure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which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block can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placed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any location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et-associative cache: 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cache that has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fixed number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locations (at least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two) where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block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placed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set-associative cache with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locations for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block 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called an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-way set-associative cache</a:t>
            </a:r>
          </a:p>
        </p:txBody>
      </p:sp>
    </p:spTree>
    <p:extLst>
      <p:ext uri="{BB962C8B-B14F-4D97-AF65-F5344CB8AC3E}">
        <p14:creationId xmlns:p14="http://schemas.microsoft.com/office/powerpoint/2010/main" val="101132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4" y="678168"/>
            <a:ext cx="2942823" cy="36545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30" y="152400"/>
            <a:ext cx="6031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ranklinGothic-Heavy"/>
              </a:rPr>
              <a:t>The location of a memory block whose address is 12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00400" y="3219271"/>
            <a:ext cx="5486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In direct-mapped placement, there is only one cache block where</a:t>
            </a:r>
          </a:p>
          <a:p>
            <a:r>
              <a:rPr lang="en-US" dirty="0">
                <a:latin typeface="Minion-Regular"/>
              </a:rPr>
              <a:t>memory block 12 can be found, and that block is given by (12 modulo 8) </a:t>
            </a:r>
            <a:r>
              <a:rPr lang="en-US" dirty="0">
                <a:latin typeface="Symbol" panose="05050102010706020507" pitchFamily="18" charset="2"/>
              </a:rPr>
              <a:t>= </a:t>
            </a:r>
            <a:r>
              <a:rPr lang="en-US" dirty="0">
                <a:latin typeface="Minion-Regular"/>
              </a:rPr>
              <a:t>4.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71800" y="1503908"/>
            <a:ext cx="601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Direct-mapped cache</a:t>
            </a:r>
          </a:p>
          <a:p>
            <a:r>
              <a:rPr lang="en-US" dirty="0">
                <a:latin typeface="Minion-Regular"/>
              </a:rPr>
              <a:t> (Block number) modulo (Number of </a:t>
            </a:r>
            <a:r>
              <a:rPr lang="en-US" i="1" dirty="0">
                <a:latin typeface="Minion-Italic"/>
              </a:rPr>
              <a:t>blocks </a:t>
            </a:r>
            <a:r>
              <a:rPr lang="en-US" dirty="0">
                <a:latin typeface="Minion-Regular"/>
              </a:rPr>
              <a:t>in the cache)</a:t>
            </a:r>
          </a:p>
        </p:txBody>
      </p:sp>
    </p:spTree>
    <p:extLst>
      <p:ext uri="{BB962C8B-B14F-4D97-AF65-F5344CB8AC3E}">
        <p14:creationId xmlns:p14="http://schemas.microsoft.com/office/powerpoint/2010/main" val="30216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930" y="152400"/>
            <a:ext cx="6031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ranklinGothic-Heavy"/>
              </a:rPr>
              <a:t>The location of a memory block whose address is 12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0"/>
            <a:ext cx="2743200" cy="35195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8000" y="1503908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Set-associative cache,  set number</a:t>
            </a:r>
          </a:p>
          <a:p>
            <a:r>
              <a:rPr lang="en-US" dirty="0">
                <a:latin typeface="Minion-Regular"/>
              </a:rPr>
              <a:t>(Block number) modulo (Number of </a:t>
            </a:r>
            <a:r>
              <a:rPr lang="en-US" i="1" dirty="0">
                <a:latin typeface="Minion-Italic"/>
              </a:rPr>
              <a:t>sets </a:t>
            </a:r>
            <a:r>
              <a:rPr lang="en-US" dirty="0">
                <a:latin typeface="Minion-Regular"/>
              </a:rPr>
              <a:t>in the cache)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2506667"/>
            <a:ext cx="601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In a two-way set-associative cache, there would be four sets</a:t>
            </a:r>
            <a:r>
              <a:rPr lang="en-US" dirty="0" smtClean="0">
                <a:latin typeface="Minion-Regular"/>
              </a:rPr>
              <a:t>, and </a:t>
            </a:r>
            <a:r>
              <a:rPr lang="en-US" dirty="0">
                <a:latin typeface="Minion-Regular"/>
              </a:rPr>
              <a:t>memory block 12 must be in set (12 mod 4) </a:t>
            </a:r>
            <a:r>
              <a:rPr lang="en-US" dirty="0">
                <a:latin typeface="Symbol" panose="05050102010706020507" pitchFamily="18" charset="2"/>
              </a:rPr>
              <a:t>= </a:t>
            </a:r>
            <a:r>
              <a:rPr lang="en-US" dirty="0">
                <a:latin typeface="Minion-Regular"/>
              </a:rPr>
              <a:t>0</a:t>
            </a:r>
            <a:r>
              <a:rPr lang="en-US" dirty="0" smtClean="0">
                <a:latin typeface="Minion-Regular"/>
              </a:rPr>
              <a:t>;</a:t>
            </a:r>
          </a:p>
          <a:p>
            <a:endParaRPr lang="en-US" dirty="0" smtClean="0">
              <a:latin typeface="Minion-Regular"/>
            </a:endParaRPr>
          </a:p>
          <a:p>
            <a:r>
              <a:rPr lang="en-US" dirty="0"/>
              <a:t>the memory block could be in either element of the set</a:t>
            </a:r>
          </a:p>
        </p:txBody>
      </p:sp>
    </p:spTree>
    <p:extLst>
      <p:ext uri="{BB962C8B-B14F-4D97-AF65-F5344CB8AC3E}">
        <p14:creationId xmlns:p14="http://schemas.microsoft.com/office/powerpoint/2010/main" val="240519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930" y="152400"/>
            <a:ext cx="6031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ranklinGothic-Heavy"/>
              </a:rPr>
              <a:t>The location of a memory block whose address is 12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4306669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Set-associative cache,  set number</a:t>
            </a:r>
          </a:p>
          <a:p>
            <a:r>
              <a:rPr lang="en-US" dirty="0">
                <a:latin typeface="Minion-Regular"/>
              </a:rPr>
              <a:t>(Block number) modulo (Number of </a:t>
            </a:r>
            <a:r>
              <a:rPr lang="en-US" i="1" dirty="0">
                <a:latin typeface="Minion-Italic"/>
              </a:rPr>
              <a:t>sets </a:t>
            </a:r>
            <a:r>
              <a:rPr lang="en-US" dirty="0">
                <a:latin typeface="Minion-Regular"/>
              </a:rPr>
              <a:t>in the cache)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5149"/>
            <a:ext cx="3100521" cy="35396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517267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Minion-Regular"/>
              </a:rPr>
              <a:t>In a fully associative placement,</a:t>
            </a:r>
          </a:p>
          <a:p>
            <a:r>
              <a:rPr lang="en-US" dirty="0">
                <a:latin typeface="Minion-Regular"/>
              </a:rPr>
              <a:t>the memory block for block address 12 can appear in any of the eight cache blocks.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3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0"/>
            <a:ext cx="6629399" cy="52686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" y="5408474"/>
            <a:ext cx="876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A direct-mapped cache </a:t>
            </a:r>
            <a:r>
              <a:rPr lang="en-US" dirty="0" smtClean="0">
                <a:latin typeface="Minion-Regular"/>
              </a:rPr>
              <a:t>:a </a:t>
            </a:r>
            <a:r>
              <a:rPr lang="en-US" dirty="0">
                <a:latin typeface="Minion-Regular"/>
              </a:rPr>
              <a:t>one-way set-associative cache:</a:t>
            </a:r>
          </a:p>
          <a:p>
            <a:r>
              <a:rPr lang="en-US" dirty="0" smtClean="0">
                <a:latin typeface="Minion-Regular"/>
              </a:rPr>
              <a:t> </a:t>
            </a:r>
            <a:r>
              <a:rPr lang="en-US" dirty="0">
                <a:latin typeface="Minion-Regular"/>
              </a:rPr>
              <a:t>A fully </a:t>
            </a:r>
            <a:r>
              <a:rPr lang="en-US" dirty="0" smtClean="0">
                <a:latin typeface="Minion-Regular"/>
              </a:rPr>
              <a:t>associative: cache </a:t>
            </a:r>
            <a:r>
              <a:rPr lang="en-US" dirty="0">
                <a:latin typeface="Minion-Regular"/>
              </a:rPr>
              <a:t>with </a:t>
            </a:r>
            <a:r>
              <a:rPr lang="en-US" i="1" dirty="0">
                <a:latin typeface="Minion-Italic"/>
              </a:rPr>
              <a:t>m </a:t>
            </a:r>
            <a:r>
              <a:rPr lang="en-US" dirty="0">
                <a:latin typeface="Minion-Regular"/>
              </a:rPr>
              <a:t>entries is simply an </a:t>
            </a:r>
            <a:r>
              <a:rPr lang="en-US" i="1" dirty="0">
                <a:latin typeface="Minion-Italic"/>
              </a:rPr>
              <a:t>m</a:t>
            </a:r>
            <a:r>
              <a:rPr lang="en-US" dirty="0">
                <a:latin typeface="Minion-Regular"/>
              </a:rPr>
              <a:t>-way set-associative cache; it has one set </a:t>
            </a:r>
            <a:r>
              <a:rPr lang="en-US" dirty="0" smtClean="0">
                <a:latin typeface="Minion-Regular"/>
              </a:rPr>
              <a:t>with </a:t>
            </a:r>
            <a:r>
              <a:rPr lang="en-US" i="1" dirty="0" smtClean="0">
                <a:latin typeface="Minion-Italic"/>
              </a:rPr>
              <a:t>m </a:t>
            </a:r>
            <a:r>
              <a:rPr lang="en-US" dirty="0">
                <a:latin typeface="Minion-Regular"/>
              </a:rPr>
              <a:t>blocks, and an entry can reside in any block within that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0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80408"/>
            <a:ext cx="8991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 there are three small caches, each consisting of four one-word blocks</a:t>
            </a:r>
            <a:r>
              <a:rPr lang="en-US" sz="2400" dirty="0" smtClean="0"/>
              <a:t>. One </a:t>
            </a:r>
            <a:r>
              <a:rPr lang="en-US" sz="2400" dirty="0"/>
              <a:t>cache is fully associative, a second is two-way set-associative, and the </a:t>
            </a:r>
            <a:r>
              <a:rPr lang="en-US" sz="2400" dirty="0" smtClean="0"/>
              <a:t>third is </a:t>
            </a:r>
            <a:r>
              <a:rPr lang="en-US" sz="2400" dirty="0"/>
              <a:t>direct-mapped. Find the number of misses for each cache </a:t>
            </a:r>
            <a:r>
              <a:rPr lang="en-US" sz="2400" dirty="0" smtClean="0"/>
              <a:t>organization given the </a:t>
            </a:r>
            <a:r>
              <a:rPr lang="en-US" sz="2400" dirty="0"/>
              <a:t>following sequence of block addresses: 0, 8, 0, 6, and 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240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Example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336843"/>
              </p:ext>
            </p:extLst>
          </p:nvPr>
        </p:nvGraphicFramePr>
        <p:xfrm>
          <a:off x="152400" y="2895600"/>
          <a:ext cx="2743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1752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Block </a:t>
                      </a:r>
                      <a:r>
                        <a:rPr lang="en-US" dirty="0" err="1" smtClean="0"/>
                        <a:t>Adrs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Cache block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(0 modulo 4)=0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(6 modulo 4)=2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 modulo 4)=0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061228"/>
              </p:ext>
            </p:extLst>
          </p:nvPr>
        </p:nvGraphicFramePr>
        <p:xfrm>
          <a:off x="2971800" y="281432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Memory </a:t>
                      </a:r>
                      <a:r>
                        <a:rPr lang="en-US" dirty="0" err="1" smtClean="0"/>
                        <a:t>Adr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Hit/Miss</a:t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 smtClean="0"/>
                        <a:t>Content of the cache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8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12003"/>
            <a:ext cx="701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Set Associative</a:t>
            </a:r>
          </a:p>
          <a:p>
            <a:r>
              <a:rPr lang="en-US" sz="2400" dirty="0" smtClean="0"/>
              <a:t>Two way means there are two sets with indices 0 and 1</a:t>
            </a:r>
            <a:endParaRPr lang="en-US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31407"/>
              </p:ext>
            </p:extLst>
          </p:nvPr>
        </p:nvGraphicFramePr>
        <p:xfrm>
          <a:off x="152400" y="1371600"/>
          <a:ext cx="2743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/>
                <a:gridCol w="1752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Block </a:t>
                      </a:r>
                      <a:r>
                        <a:rPr lang="en-US" dirty="0" err="1" smtClean="0"/>
                        <a:t>Adrs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Cache Set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(0 modulo 2)=0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(6 modulo 2)=0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 modulo 2)=0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124200" y="1905000"/>
            <a:ext cx="5791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Minion-Regular"/>
              </a:rPr>
              <a:t>Set-associative caches usually replace the least </a:t>
            </a:r>
            <a:r>
              <a:rPr lang="en-US" sz="2400" dirty="0" smtClean="0">
                <a:latin typeface="Minion-Regular"/>
              </a:rPr>
              <a:t>recently used </a:t>
            </a:r>
            <a:r>
              <a:rPr lang="en-US" sz="2400" dirty="0">
                <a:latin typeface="Minion-Regular"/>
              </a:rPr>
              <a:t>block within a set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09529"/>
              </p:ext>
            </p:extLst>
          </p:nvPr>
        </p:nvGraphicFramePr>
        <p:xfrm>
          <a:off x="1600200" y="335280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Memory </a:t>
                      </a:r>
                      <a:r>
                        <a:rPr lang="en-US" dirty="0" err="1" smtClean="0"/>
                        <a:t>Adr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Hit/Miss</a:t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 smtClean="0"/>
                        <a:t>Content of the cache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27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944016"/>
              </p:ext>
            </p:extLst>
          </p:nvPr>
        </p:nvGraphicFramePr>
        <p:xfrm>
          <a:off x="1143000" y="1600199"/>
          <a:ext cx="6553200" cy="3276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/>
                <a:gridCol w="1092200"/>
                <a:gridCol w="1092200"/>
                <a:gridCol w="1092200"/>
                <a:gridCol w="1092200"/>
                <a:gridCol w="1092200"/>
              </a:tblGrid>
              <a:tr h="468086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Memory </a:t>
                      </a:r>
                      <a:r>
                        <a:rPr lang="en-US" dirty="0" err="1" smtClean="0"/>
                        <a:t>Adr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Hit/Miss</a:t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 smtClean="0"/>
                        <a:t>Content of the cache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6808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Block3</a:t>
                      </a:r>
                      <a:endParaRPr lang="en-US" dirty="0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0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0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2400" y="228600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Fully Associative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442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30480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What is when the block size is 8</a:t>
            </a:r>
          </a:p>
          <a:p>
            <a:r>
              <a:rPr lang="en-US" sz="2400" dirty="0" smtClean="0"/>
              <a:t>For two way set Associative we have 2 Sets  (0,1)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346855"/>
              </p:ext>
            </p:extLst>
          </p:nvPr>
        </p:nvGraphicFramePr>
        <p:xfrm>
          <a:off x="533397" y="2204720"/>
          <a:ext cx="77724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3"/>
                <a:gridCol w="685800"/>
                <a:gridCol w="685800"/>
                <a:gridCol w="609600"/>
                <a:gridCol w="685800"/>
                <a:gridCol w="685800"/>
                <a:gridCol w="685800"/>
                <a:gridCol w="685800"/>
                <a:gridCol w="762000"/>
                <a:gridCol w="596757"/>
                <a:gridCol w="698643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Memory </a:t>
                      </a:r>
                      <a:r>
                        <a:rPr lang="en-US" sz="1800" b="0" i="0" u="none" strike="noStrike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Adr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Hit/Miss</a:t>
                      </a:r>
                      <a:endParaRPr lang="en-US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Contents of cache blocks after reference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Set1</a:t>
                      </a:r>
                      <a:endParaRPr lang="en-US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266163" y="4953000"/>
            <a:ext cx="8534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there would be no replacements in the two-way </a:t>
            </a:r>
            <a:r>
              <a:rPr lang="en-US" dirty="0" smtClean="0">
                <a:latin typeface="Minion-Regular"/>
              </a:rPr>
              <a:t>set-associative  cache;</a:t>
            </a:r>
          </a:p>
          <a:p>
            <a:endParaRPr lang="en-US" dirty="0" smtClean="0">
              <a:latin typeface="Minion-Regular"/>
            </a:endParaRPr>
          </a:p>
          <a:p>
            <a:r>
              <a:rPr lang="en-US" sz="2000" dirty="0"/>
              <a:t>and it would have the same number of </a:t>
            </a:r>
            <a:r>
              <a:rPr lang="en-US" sz="2000" dirty="0" smtClean="0"/>
              <a:t>misses as </a:t>
            </a:r>
            <a:r>
              <a:rPr lang="en-US" sz="2000" dirty="0"/>
              <a:t>the fully associative cache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Check for yourself.: if </a:t>
            </a:r>
            <a:r>
              <a:rPr lang="en-US" sz="2000" dirty="0"/>
              <a:t>we had 16 blocks, all 3 caches </a:t>
            </a:r>
            <a:r>
              <a:rPr lang="en-US" sz="2000" dirty="0" smtClean="0"/>
              <a:t>would have the same number of misses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184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much of a reduction in the miss rate is achieved by </a:t>
            </a:r>
            <a:r>
              <a:rPr lang="en-US" sz="2400" dirty="0" smtClean="0"/>
              <a:t>associativity?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7725579" cy="14525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1600" y="1535668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for a 64 KB data cache with a 16-word block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3953470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Minion-Regular"/>
              </a:rPr>
              <a:t>Going from </a:t>
            </a:r>
            <a:r>
              <a:rPr lang="en-US" dirty="0" smtClean="0">
                <a:latin typeface="Minion-Regular"/>
              </a:rPr>
              <a:t>one-way(direct) </a:t>
            </a:r>
            <a:r>
              <a:rPr lang="en-US" dirty="0">
                <a:latin typeface="Minion-Regular"/>
              </a:rPr>
              <a:t>to </a:t>
            </a:r>
            <a:r>
              <a:rPr lang="en-US" dirty="0" smtClean="0">
                <a:latin typeface="Minion-Regular"/>
              </a:rPr>
              <a:t>two-way associativity </a:t>
            </a:r>
            <a:r>
              <a:rPr lang="en-US" dirty="0">
                <a:latin typeface="Minion-Regular"/>
              </a:rPr>
              <a:t>decreases the miss rate by about 15%, but there is little </a:t>
            </a:r>
            <a:r>
              <a:rPr lang="en-US" dirty="0" smtClean="0">
                <a:latin typeface="Minion-Regular"/>
              </a:rPr>
              <a:t>further improvement </a:t>
            </a:r>
            <a:r>
              <a:rPr lang="en-US" dirty="0">
                <a:latin typeface="Minion-Regular"/>
              </a:rPr>
              <a:t>in going to higher associativity.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0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4953000" cy="609600"/>
          </a:xfrm>
        </p:spPr>
        <p:txBody>
          <a:bodyPr>
            <a:normAutofit/>
          </a:bodyPr>
          <a:lstStyle/>
          <a:p>
            <a:r>
              <a:rPr lang="en-US" sz="2400" b="0" dirty="0" smtClean="0"/>
              <a:t>To explore</a:t>
            </a:r>
            <a:endParaRPr lang="en-US" sz="2400" b="0" dirty="0"/>
          </a:p>
        </p:txBody>
      </p:sp>
      <p:pic>
        <p:nvPicPr>
          <p:cNvPr id="3" name="Picture 2" descr="Click to collaps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792" y="685800"/>
            <a:ext cx="8077200" cy="553402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572000" y="1143000"/>
            <a:ext cx="426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To what cache set in Figure  does the word at address 0x00000014 map? Name another address that maps to the same set.</a:t>
            </a:r>
          </a:p>
        </p:txBody>
      </p:sp>
    </p:spTree>
    <p:extLst>
      <p:ext uri="{BB962C8B-B14F-4D97-AF65-F5344CB8AC3E}">
        <p14:creationId xmlns:p14="http://schemas.microsoft.com/office/powerpoint/2010/main" val="229982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3696831"/>
            <a:ext cx="800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The other address are 0001 0100 to xxx1 0100</a:t>
            </a:r>
          </a:p>
          <a:p>
            <a:r>
              <a:rPr lang="en-US" sz="2800" dirty="0" smtClean="0"/>
              <a:t>Or for that matter in Hex  xxxxxx14 and in increment of 20H</a:t>
            </a:r>
          </a:p>
          <a:p>
            <a:r>
              <a:rPr lang="en-US" sz="2800" dirty="0" smtClean="0"/>
              <a:t>Words at addresses 0x34, 0x54, 0x74, …, 0xFFFFFFF4 all map to this same set.</a:t>
            </a:r>
          </a:p>
          <a:p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503348" y="1143000"/>
            <a:ext cx="84882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0x00000014 H</a:t>
            </a:r>
          </a:p>
          <a:p>
            <a:r>
              <a:rPr lang="en-US" sz="2400" dirty="0" smtClean="0"/>
              <a:t> Representing only lower byte : 0001 0100</a:t>
            </a:r>
          </a:p>
          <a:p>
            <a:r>
              <a:rPr lang="en-US" sz="2400" dirty="0"/>
              <a:t>The two least significant bits of the address are 00, because the address is word </a:t>
            </a:r>
            <a:r>
              <a:rPr lang="en-US" sz="2400" dirty="0" smtClean="0"/>
              <a:t>aligned.</a:t>
            </a:r>
          </a:p>
          <a:p>
            <a:r>
              <a:rPr lang="en-US" sz="2400" dirty="0" smtClean="0"/>
              <a:t>So the alignment is 101 00</a:t>
            </a:r>
          </a:p>
          <a:p>
            <a:r>
              <a:rPr lang="en-US" sz="2400" dirty="0"/>
              <a:t>The next three bits are 101, so the word maps to set 5.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503349" y="275987"/>
            <a:ext cx="1412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Solution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33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Locating a Block in the Cache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2" y="1066800"/>
            <a:ext cx="6408360" cy="5191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8400" y="1777782"/>
            <a:ext cx="7786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Minion-Regular"/>
              </a:rPr>
              <a:t>Index </a:t>
            </a:r>
            <a:r>
              <a:rPr lang="en-US" sz="2400" dirty="0">
                <a:latin typeface="Minion-Regular"/>
              </a:rPr>
              <a:t>value is used to select the </a:t>
            </a:r>
            <a:r>
              <a:rPr lang="en-US" sz="2400" dirty="0" smtClean="0">
                <a:latin typeface="Minion-Regular"/>
              </a:rPr>
              <a:t>set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Minion-Regular"/>
              </a:rPr>
              <a:t> </a:t>
            </a:r>
            <a:r>
              <a:rPr lang="en-US" sz="2400" dirty="0"/>
              <a:t>tags of all the blocks in the set must </a:t>
            </a:r>
            <a:r>
              <a:rPr lang="en-US" sz="2400" dirty="0" smtClean="0"/>
              <a:t>be searched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 associativity </a:t>
            </a:r>
            <a:r>
              <a:rPr lang="en-US" sz="2400" dirty="0" smtClean="0"/>
              <a:t>increases</a:t>
            </a:r>
          </a:p>
          <a:p>
            <a:pPr marL="799908" lvl="1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Block per set increases</a:t>
            </a:r>
          </a:p>
          <a:p>
            <a:pPr marL="799908" lvl="1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Associativity increases by 2</a:t>
            </a:r>
          </a:p>
          <a:p>
            <a:pPr marL="1256912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 Number of blocks increase by 2</a:t>
            </a:r>
          </a:p>
          <a:p>
            <a:pPr marL="1256912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Index bit reduces by 1 bit</a:t>
            </a:r>
          </a:p>
          <a:p>
            <a:pPr marL="1256912" lvl="2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increases </a:t>
            </a:r>
            <a:r>
              <a:rPr lang="en-US" sz="2400" dirty="0"/>
              <a:t>the size of the tag by 1 bit</a:t>
            </a:r>
          </a:p>
        </p:txBody>
      </p:sp>
    </p:spTree>
    <p:extLst>
      <p:ext uri="{BB962C8B-B14F-4D97-AF65-F5344CB8AC3E}">
        <p14:creationId xmlns:p14="http://schemas.microsoft.com/office/powerpoint/2010/main" val="41887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990600"/>
            <a:ext cx="887010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Minion-Regular"/>
              </a:rPr>
              <a:t>Suppose we have a processor with a base CPI of 1.0, assuming all </a:t>
            </a:r>
            <a:r>
              <a:rPr lang="en-US" sz="2400" dirty="0" smtClean="0">
                <a:latin typeface="Minion-Regular"/>
              </a:rPr>
              <a:t>references hit </a:t>
            </a:r>
            <a:r>
              <a:rPr lang="en-US" sz="2400" dirty="0">
                <a:latin typeface="Minion-Regular"/>
              </a:rPr>
              <a:t>in the primary cache, and a clock rate of 4 GHz. </a:t>
            </a:r>
            <a:endParaRPr lang="en-US" sz="2400" dirty="0" smtClean="0">
              <a:latin typeface="Minion-Regular"/>
            </a:endParaRPr>
          </a:p>
          <a:p>
            <a:r>
              <a:rPr lang="en-US" sz="2400" dirty="0" smtClean="0">
                <a:latin typeface="Minion-Regular"/>
              </a:rPr>
              <a:t>Assume </a:t>
            </a:r>
            <a:r>
              <a:rPr lang="en-US" sz="2400" dirty="0">
                <a:latin typeface="Minion-Regular"/>
              </a:rPr>
              <a:t>a main </a:t>
            </a:r>
            <a:r>
              <a:rPr lang="en-US" sz="2400" dirty="0" smtClean="0">
                <a:latin typeface="Minion-Regular"/>
              </a:rPr>
              <a:t>memory access </a:t>
            </a:r>
            <a:r>
              <a:rPr lang="en-US" sz="2400" dirty="0">
                <a:latin typeface="Minion-Regular"/>
              </a:rPr>
              <a:t>time of 100 ns, including all the miss handling</a:t>
            </a:r>
            <a:r>
              <a:rPr lang="en-US" sz="2400" dirty="0" smtClean="0">
                <a:latin typeface="Minion-Regular"/>
              </a:rPr>
              <a:t>.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Suppose the miss </a:t>
            </a:r>
            <a:r>
              <a:rPr lang="en-US" sz="2400" dirty="0" smtClean="0">
                <a:latin typeface="Minion-Regular"/>
              </a:rPr>
              <a:t>rate per </a:t>
            </a:r>
            <a:r>
              <a:rPr lang="en-US" sz="2400" dirty="0">
                <a:latin typeface="Minion-Regular"/>
              </a:rPr>
              <a:t>instruction at the primary cache is 2</a:t>
            </a:r>
            <a:r>
              <a:rPr lang="en-US" sz="2400" dirty="0" smtClean="0">
                <a:latin typeface="Minion-Regular"/>
              </a:rPr>
              <a:t>%.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How much faster will the </a:t>
            </a:r>
            <a:r>
              <a:rPr lang="en-US" sz="2400" dirty="0" smtClean="0">
                <a:latin typeface="Minion-Regular"/>
              </a:rPr>
              <a:t>processor be </a:t>
            </a:r>
            <a:r>
              <a:rPr lang="en-US" sz="2400" dirty="0">
                <a:latin typeface="Minion-Regular"/>
              </a:rPr>
              <a:t>if we add a secondary cache that has a 5 ns access time for either a hit </a:t>
            </a:r>
            <a:r>
              <a:rPr lang="en-US" sz="2400" dirty="0" smtClean="0">
                <a:latin typeface="Minion-Regular"/>
              </a:rPr>
              <a:t>or a </a:t>
            </a:r>
            <a:r>
              <a:rPr lang="en-US" sz="2400" dirty="0">
                <a:latin typeface="Minion-Regular"/>
              </a:rPr>
              <a:t>miss and is large enough to reduce the miss rate to main memory to 0.5%?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30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 smtClean="0"/>
              <a:t>Solution</a:t>
            </a:r>
            <a:endParaRPr lang="en-US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1493" y="1219200"/>
                <a:ext cx="7943137" cy="6259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>
                    <a:latin typeface="+mj-lt"/>
                  </a:rPr>
                  <a:t>The miss penalty to main memory is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𝑛𝑠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=400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𝑐𝑦𝑐𝑙𝑒𝑠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93" y="1219200"/>
                <a:ext cx="7943137" cy="625941"/>
              </a:xfrm>
              <a:prstGeom prst="rect">
                <a:avLst/>
              </a:prstGeom>
              <a:blipFill rotWithShape="0">
                <a:blip r:embed="rId2"/>
                <a:stretch>
                  <a:fillRect l="-1228" b="-7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16030" y="1912203"/>
                <a:ext cx="8775570" cy="43102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+mj-lt"/>
                  </a:rPr>
                  <a:t>The effective CPI with one level of caching is given by</a:t>
                </a:r>
              </a:p>
              <a:p>
                <a:r>
                  <a:rPr lang="en-US" sz="2400" dirty="0">
                    <a:latin typeface="+mj-lt"/>
                  </a:rPr>
                  <a:t>Total CPI = Base CPI + Memory-stall cycles per </a:t>
                </a:r>
                <a:r>
                  <a:rPr lang="en-US" sz="2400" dirty="0" smtClean="0">
                    <a:latin typeface="+mj-lt"/>
                  </a:rPr>
                  <a:t>instruction</a:t>
                </a: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/>
                  <a:t>For the processor with one level of caching,</a:t>
                </a:r>
              </a:p>
              <a:p>
                <a:r>
                  <a:rPr lang="en-US" sz="2400" dirty="0"/>
                  <a:t>Total CPI = 1.0 + Memory-stall cycles per instruction </a:t>
                </a:r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      = </a:t>
                </a:r>
                <a:r>
                  <a:rPr lang="en-US" sz="2400" dirty="0"/>
                  <a:t>1.0 + 2% × 400 = </a:t>
                </a:r>
                <a:r>
                  <a:rPr lang="en-US" sz="2400" dirty="0" smtClean="0"/>
                  <a:t>9</a:t>
                </a:r>
              </a:p>
              <a:p>
                <a:endParaRPr lang="en-US" sz="2400" dirty="0" smtClean="0"/>
              </a:p>
              <a:p>
                <a:r>
                  <a:rPr lang="en-US" sz="2400" dirty="0"/>
                  <a:t>With two levels of caching, a miss in the primary (or first-level) cache can </a:t>
                </a:r>
                <a:r>
                  <a:rPr lang="en-US" sz="2400" dirty="0" smtClean="0"/>
                  <a:t>be satisfied either by </a:t>
                </a:r>
                <a:r>
                  <a:rPr lang="en-US" sz="2400" dirty="0"/>
                  <a:t>the secondary cache or by main memory. The miss </a:t>
                </a:r>
                <a:r>
                  <a:rPr lang="en-US" sz="2400" dirty="0" smtClean="0"/>
                  <a:t>penalty for </a:t>
                </a:r>
                <a:r>
                  <a:rPr lang="en-US" sz="2400" dirty="0"/>
                  <a:t>an access to the second-level cache </a:t>
                </a:r>
                <a:r>
                  <a:rPr lang="en-US" sz="2400" dirty="0" smtClean="0"/>
                  <a:t>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𝑛𝑠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𝑛𝑠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𝑐𝑦𝑐𝑙𝑒𝑠</m:t>
                    </m:r>
                  </m:oMath>
                </a14:m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30" y="1912203"/>
                <a:ext cx="8775570" cy="4310283"/>
              </a:xfrm>
              <a:prstGeom prst="rect">
                <a:avLst/>
              </a:prstGeom>
              <a:blipFill rotWithShape="0">
                <a:blip r:embed="rId3"/>
                <a:stretch>
                  <a:fillRect l="-1042" t="-990" b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85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8360" y="1143000"/>
            <a:ext cx="86932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Thus, for a two-level cache, total CPI is the sum of the stall cycles from </a:t>
            </a:r>
            <a:r>
              <a:rPr lang="en-US" sz="2400" dirty="0" smtClean="0"/>
              <a:t>both levels </a:t>
            </a:r>
            <a:r>
              <a:rPr lang="en-US" sz="2400" dirty="0"/>
              <a:t>of cache and the base CPI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sz="2400" dirty="0"/>
              <a:t>Total CPI = </a:t>
            </a:r>
            <a:r>
              <a:rPr lang="en-US" sz="2400" dirty="0" smtClean="0"/>
              <a:t>1 </a:t>
            </a:r>
            <a:r>
              <a:rPr lang="en-US" sz="2400" dirty="0"/>
              <a:t>+ Primary stalls per </a:t>
            </a:r>
            <a:r>
              <a:rPr lang="en-US" sz="2400" dirty="0" smtClean="0"/>
              <a:t>instruction + </a:t>
            </a:r>
            <a:r>
              <a:rPr lang="en-US" sz="2400" dirty="0"/>
              <a:t>Secondary </a:t>
            </a:r>
            <a:r>
              <a:rPr lang="en-US" sz="2400" dirty="0" smtClean="0"/>
              <a:t>      stalls per </a:t>
            </a:r>
            <a:r>
              <a:rPr lang="en-US" sz="2400" dirty="0"/>
              <a:t>instruction</a:t>
            </a:r>
          </a:p>
          <a:p>
            <a:r>
              <a:rPr lang="en-US" sz="2400" dirty="0" smtClean="0"/>
              <a:t>           = </a:t>
            </a:r>
            <a:r>
              <a:rPr lang="en-US" sz="2400" dirty="0"/>
              <a:t>1 + 2% × 20 + 0.5% × 400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= </a:t>
            </a:r>
            <a:r>
              <a:rPr lang="en-US" sz="2400" dirty="0"/>
              <a:t>1 + 0.4 + 2.0 = </a:t>
            </a:r>
            <a:r>
              <a:rPr lang="en-US" sz="2400" dirty="0" smtClean="0"/>
              <a:t>3.4</a:t>
            </a:r>
          </a:p>
          <a:p>
            <a:endParaRPr lang="en-US" sz="2400" dirty="0"/>
          </a:p>
          <a:p>
            <a:r>
              <a:rPr lang="en-US" sz="2400" dirty="0"/>
              <a:t>Thus, the </a:t>
            </a:r>
            <a:r>
              <a:rPr lang="en-US" sz="2400" dirty="0" smtClean="0"/>
              <a:t>processor with the secondary cache is faster by</a:t>
            </a:r>
          </a:p>
          <a:p>
            <a:r>
              <a:rPr lang="en-US" sz="2400" dirty="0" smtClean="0"/>
              <a:t>                        9.0/3.4= 2.6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263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different cache mapping, Directly Mapped cache, set associative and fully associative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600200"/>
            <a:ext cx="7467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First flush the contents of the cache by clicking on the FLUSH button. Then enter the following instructions after the last LDB instruction in the above program: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LDB 0, R00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LDB 4, R00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LDB 17, R00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LDB 20, R00 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768144" y="358140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Now select the option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Block Size = 4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Cache Type = Set Associative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Cache Size = 16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Set Blocks = 2-way </a:t>
            </a:r>
          </a:p>
          <a:p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Write Policy = Write-Back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015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000" b="0" dirty="0" smtClean="0"/>
              <a:t>Example</a:t>
            </a:r>
            <a:endParaRPr lang="en-US" sz="2000" b="0" dirty="0"/>
          </a:p>
        </p:txBody>
      </p:sp>
      <p:sp>
        <p:nvSpPr>
          <p:cNvPr id="3" name="Rectangle 2"/>
          <p:cNvSpPr/>
          <p:nvPr/>
        </p:nvSpPr>
        <p:spPr>
          <a:xfrm>
            <a:off x="304800" y="1524000"/>
            <a:ext cx="822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Minion-Regular"/>
              </a:rPr>
              <a:t>Increasing associativity requires more comparators and more tag bits </a:t>
            </a:r>
            <a:r>
              <a:rPr lang="en-US" sz="2400" dirty="0" smtClean="0">
                <a:latin typeface="Minion-Regular"/>
              </a:rPr>
              <a:t>per cache </a:t>
            </a:r>
            <a:r>
              <a:rPr lang="en-US" sz="2400" dirty="0">
                <a:latin typeface="Minion-Regular"/>
              </a:rPr>
              <a:t>block</a:t>
            </a:r>
            <a:r>
              <a:rPr lang="en-US" sz="2400" dirty="0" smtClean="0">
                <a:latin typeface="Minion-Regular"/>
              </a:rPr>
              <a:t>.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Assuming a cache of 4K blocks, a </a:t>
            </a:r>
            <a:r>
              <a:rPr lang="en-US" sz="2400" dirty="0" smtClean="0">
                <a:latin typeface="Minion-Regular"/>
              </a:rPr>
              <a:t>16-byte </a:t>
            </a:r>
            <a:r>
              <a:rPr lang="en-US" sz="2400" dirty="0">
                <a:latin typeface="Minion-Regular"/>
              </a:rPr>
              <a:t>block size, and a </a:t>
            </a:r>
            <a:r>
              <a:rPr lang="en-US" sz="2400" dirty="0" smtClean="0">
                <a:latin typeface="Minion-Regular"/>
              </a:rPr>
              <a:t>32‑bit address</a:t>
            </a:r>
            <a:r>
              <a:rPr lang="en-US" sz="2400" dirty="0">
                <a:latin typeface="Minion-Regular"/>
              </a:rPr>
              <a:t>, </a:t>
            </a:r>
            <a:r>
              <a:rPr lang="en-US" sz="2400" dirty="0" smtClean="0">
                <a:latin typeface="Minion-Regular"/>
              </a:rPr>
              <a:t>find </a:t>
            </a:r>
            <a:r>
              <a:rPr lang="en-US" sz="2400" dirty="0">
                <a:latin typeface="Minion-Regular"/>
              </a:rPr>
              <a:t>the total number of sets and the total number of tag bits </a:t>
            </a:r>
            <a:r>
              <a:rPr lang="en-US" sz="2400" dirty="0" smtClean="0">
                <a:latin typeface="Minion-Regular"/>
              </a:rPr>
              <a:t>for caches </a:t>
            </a:r>
            <a:r>
              <a:rPr lang="en-US" sz="2400" dirty="0">
                <a:latin typeface="Minion-Regular"/>
              </a:rPr>
              <a:t>that are </a:t>
            </a:r>
            <a:endParaRPr lang="en-US" sz="2400" dirty="0" smtClean="0">
              <a:latin typeface="Minion-Regular"/>
            </a:endParaRPr>
          </a:p>
          <a:p>
            <a:r>
              <a:rPr lang="en-US" sz="2400" dirty="0" smtClean="0">
                <a:latin typeface="Minion-Regular"/>
              </a:rPr>
              <a:t>	direct </a:t>
            </a:r>
            <a:r>
              <a:rPr lang="en-US" sz="2400" dirty="0">
                <a:latin typeface="Minion-Regular"/>
              </a:rPr>
              <a:t>mapped</a:t>
            </a:r>
            <a:r>
              <a:rPr lang="en-US" sz="2400" dirty="0" smtClean="0">
                <a:latin typeface="Minion-Regular"/>
              </a:rPr>
              <a:t>,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two-way and  </a:t>
            </a:r>
            <a:r>
              <a:rPr lang="en-US" sz="2400" dirty="0" smtClean="0">
                <a:latin typeface="Minion-Regular"/>
              </a:rPr>
              <a:t>four-way </a:t>
            </a:r>
            <a:r>
              <a:rPr lang="en-US" sz="2400" dirty="0">
                <a:latin typeface="Minion-Regular"/>
              </a:rPr>
              <a:t>set associative</a:t>
            </a:r>
            <a:r>
              <a:rPr lang="en-US" sz="2400" dirty="0" smtClean="0">
                <a:latin typeface="Minion-Regular"/>
              </a:rPr>
              <a:t>,</a:t>
            </a:r>
          </a:p>
          <a:p>
            <a:r>
              <a:rPr lang="en-US" sz="2400" dirty="0" smtClean="0">
                <a:latin typeface="Minion-Regular"/>
              </a:rPr>
              <a:t> </a:t>
            </a:r>
            <a:r>
              <a:rPr lang="en-US" sz="2400" dirty="0">
                <a:latin typeface="Minion-Regular"/>
              </a:rPr>
              <a:t>and </a:t>
            </a:r>
            <a:r>
              <a:rPr lang="en-US" sz="2400" dirty="0" smtClean="0">
                <a:latin typeface="Minion-Regular"/>
              </a:rPr>
              <a:t>fully associative</a:t>
            </a:r>
            <a:r>
              <a:rPr lang="en-US" sz="2400" dirty="0">
                <a:latin typeface="Minion-Regular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487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2400" b="0" dirty="0">
                <a:latin typeface="Minion-Regular"/>
              </a:rPr>
              <a:t>Assuming a cache of 4K blocks, a </a:t>
            </a:r>
            <a:r>
              <a:rPr lang="en-US" sz="2400" b="0" dirty="0" smtClean="0">
                <a:latin typeface="Minion-Regular"/>
              </a:rPr>
              <a:t>16-Byte </a:t>
            </a:r>
            <a:r>
              <a:rPr lang="en-US" sz="2400" b="0" dirty="0">
                <a:latin typeface="Minion-Regular"/>
              </a:rPr>
              <a:t>block size, and a 32‑bit address </a:t>
            </a:r>
            <a:endParaRPr lang="en-US" sz="2400" b="0" dirty="0" smtClean="0">
              <a:latin typeface="Minion-Regular"/>
            </a:endParaRPr>
          </a:p>
          <a:p>
            <a:r>
              <a:rPr lang="en-US" sz="2400" b="0" dirty="0" smtClean="0"/>
              <a:t>Sol:</a:t>
            </a:r>
            <a:endParaRPr lang="en-US" sz="24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371600"/>
            <a:ext cx="8001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For Direct</a:t>
            </a:r>
          </a:p>
          <a:p>
            <a:r>
              <a:rPr lang="sv-SE" sz="2400" dirty="0"/>
              <a:t>(28 - 12) × 4K = 16 × 4K = 64 K tag </a:t>
            </a:r>
            <a:r>
              <a:rPr lang="sv-SE" sz="2400" dirty="0" smtClean="0"/>
              <a:t>bits</a:t>
            </a:r>
          </a:p>
          <a:p>
            <a:r>
              <a:rPr lang="en-US" sz="2400" dirty="0"/>
              <a:t>for a two-way set-associative </a:t>
            </a:r>
            <a:r>
              <a:rPr lang="en-US" sz="2400" dirty="0" smtClean="0"/>
              <a:t>cache</a:t>
            </a:r>
          </a:p>
          <a:p>
            <a:r>
              <a:rPr lang="en-US" sz="2400" dirty="0"/>
              <a:t>2K </a:t>
            </a:r>
            <a:r>
              <a:rPr lang="en-US" sz="2400" dirty="0" smtClean="0"/>
              <a:t>sets 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total number of tag bits is (28 -11) × 2 × 2K = 34 × 2K = </a:t>
            </a:r>
            <a:r>
              <a:rPr lang="en-US" sz="2400" dirty="0" smtClean="0"/>
              <a:t>68 </a:t>
            </a:r>
            <a:r>
              <a:rPr lang="en-US" sz="2400" dirty="0" err="1" smtClean="0"/>
              <a:t>kBits</a:t>
            </a:r>
            <a:endParaRPr lang="en-US" sz="2400" dirty="0" smtClean="0"/>
          </a:p>
          <a:p>
            <a:r>
              <a:rPr lang="en-US" sz="2400" dirty="0"/>
              <a:t> four-way set-associative </a:t>
            </a:r>
            <a:r>
              <a:rPr lang="en-US" sz="2400" dirty="0" smtClean="0"/>
              <a:t>cache</a:t>
            </a:r>
          </a:p>
          <a:p>
            <a:r>
              <a:rPr lang="en-US" sz="2400" dirty="0"/>
              <a:t>total number is (28 - 10) × 4 × 1K = 72 × 1K = 72 K tag bits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fully associative cache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there is only one set with 4K blocks, and the tag</a:t>
            </a:r>
          </a:p>
          <a:p>
            <a:r>
              <a:rPr lang="en-US" sz="2400" dirty="0"/>
              <a:t>is 28 bits, leading to 28 × 4K × 1 = 112K tag bits</a:t>
            </a:r>
          </a:p>
        </p:txBody>
      </p:sp>
    </p:spTree>
    <p:extLst>
      <p:ext uri="{BB962C8B-B14F-4D97-AF65-F5344CB8AC3E}">
        <p14:creationId xmlns:p14="http://schemas.microsoft.com/office/powerpoint/2010/main" val="400182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8648"/>
            <a:ext cx="6553200" cy="52141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457200"/>
            <a:ext cx="4395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Minion-Regular"/>
              </a:rPr>
              <a:t>four-way set-associative cache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760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E6B35B-B831-4DD6-8F89-2F4526A14A17}"/>
</file>

<file path=customXml/itemProps2.xml><?xml version="1.0" encoding="utf-8"?>
<ds:datastoreItem xmlns:ds="http://schemas.openxmlformats.org/officeDocument/2006/customXml" ds:itemID="{5552BC98-9F71-4F33-8921-C36FED2E92AB}"/>
</file>

<file path=customXml/itemProps3.xml><?xml version="1.0" encoding="utf-8"?>
<ds:datastoreItem xmlns:ds="http://schemas.openxmlformats.org/officeDocument/2006/customXml" ds:itemID="{873E587F-00C8-4A18-B8D3-8CAFE150971F}"/>
</file>

<file path=docProps/app.xml><?xml version="1.0" encoding="utf-8"?>
<Properties xmlns="http://schemas.openxmlformats.org/officeDocument/2006/extended-properties" xmlns:vt="http://schemas.openxmlformats.org/officeDocument/2006/docPropsVTypes">
  <TotalTime>5075483</TotalTime>
  <Words>1400</Words>
  <Application>Microsoft Office PowerPoint</Application>
  <PresentationFormat>On-screen Show (4:3)</PresentationFormat>
  <Paragraphs>242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Arial Unicode MS</vt:lpstr>
      <vt:lpstr>ＭＳ Ｐゴシック</vt:lpstr>
      <vt:lpstr>Arial</vt:lpstr>
      <vt:lpstr>Calibri</vt:lpstr>
      <vt:lpstr>Cambria Math</vt:lpstr>
      <vt:lpstr>FranklinGothic-Heavy</vt:lpstr>
      <vt:lpstr>Minion-Italic</vt:lpstr>
      <vt:lpstr>Minion-Regular</vt:lpstr>
      <vt:lpstr>Symbol</vt:lpstr>
      <vt:lpstr>Wingdings</vt:lpstr>
      <vt:lpstr>1_Office Theme</vt:lpstr>
      <vt:lpstr>Blank</vt:lpstr>
      <vt:lpstr>1_Blank</vt:lpstr>
      <vt:lpstr>4_Blank</vt:lpstr>
      <vt:lpstr>2_Blank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</vt:lpstr>
      <vt:lpstr>Solution</vt:lpstr>
      <vt:lpstr>PowerPoint Presentation</vt:lpstr>
      <vt:lpstr>Comparison of different cache mapping, Directly Mapped cache, set associative and fully associative</vt:lpstr>
      <vt:lpstr>PowerPoint Presentation</vt:lpstr>
      <vt:lpstr>PowerPoint Presentation</vt:lpstr>
      <vt:lpstr>PowerPoint Presentation</vt:lpstr>
    </vt:vector>
  </TitlesOfParts>
  <Company>ABC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Workspace at BITS Pilani</dc:title>
  <dc:creator>lenovo</dc:creator>
  <cp:lastModifiedBy>RK Tiwary</cp:lastModifiedBy>
  <cp:revision>965</cp:revision>
  <dcterms:created xsi:type="dcterms:W3CDTF">2013-11-14T17:12:02Z</dcterms:created>
  <dcterms:modified xsi:type="dcterms:W3CDTF">2021-01-28T12:54:46Z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