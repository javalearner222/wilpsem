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4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79" r:id="rId3"/>
    <p:sldId id="280" r:id="rId4"/>
    <p:sldId id="590" r:id="rId5"/>
    <p:sldId id="561" r:id="rId6"/>
    <p:sldId id="563" r:id="rId7"/>
    <p:sldId id="565" r:id="rId8"/>
    <p:sldId id="567" r:id="rId9"/>
    <p:sldId id="568" r:id="rId10"/>
    <p:sldId id="588" r:id="rId11"/>
    <p:sldId id="569" r:id="rId12"/>
    <p:sldId id="570" r:id="rId13"/>
    <p:sldId id="571" r:id="rId14"/>
    <p:sldId id="572" r:id="rId15"/>
    <p:sldId id="574" r:id="rId16"/>
    <p:sldId id="586" r:id="rId17"/>
    <p:sldId id="575" r:id="rId18"/>
    <p:sldId id="576" r:id="rId19"/>
    <p:sldId id="578" r:id="rId20"/>
    <p:sldId id="579" r:id="rId21"/>
    <p:sldId id="580" r:id="rId22"/>
    <p:sldId id="587" r:id="rId23"/>
    <p:sldId id="581" r:id="rId24"/>
    <p:sldId id="589" r:id="rId25"/>
    <p:sldId id="446" r:id="rId26"/>
    <p:sldId id="32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B7A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customXml" Target="../customXml/item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35" Type="http://schemas.openxmlformats.org/officeDocument/2006/relationships/customXml" Target="../customXml/item3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82D831-27D1-4804-BBE6-E7E773617FD4}" type="datetimeFigureOut">
              <a:rPr lang="en-IN" smtClean="0"/>
              <a:pPr/>
              <a:t>02-07-2012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C9D2F-5FCE-4B4F-80E6-E39EED6BD8E1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7F3784-8671-4595-8D2F-5068764FB12F}" type="slidenum">
              <a:rPr lang="en-US"/>
              <a:pPr/>
              <a:t>4</a:t>
            </a:fld>
            <a:endParaRPr lang="en-US"/>
          </a:p>
        </p:txBody>
      </p:sp>
      <p:sp>
        <p:nvSpPr>
          <p:cNvPr id="98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3807BF-4D49-4662-8362-122F07D50492}" type="slidenum">
              <a:rPr lang="en-US"/>
              <a:pPr/>
              <a:t>5</a:t>
            </a:fld>
            <a:endParaRPr lang="en-US"/>
          </a:p>
        </p:txBody>
      </p:sp>
      <p:sp>
        <p:nvSpPr>
          <p:cNvPr id="985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5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D01CD1-43CC-49E8-90A3-9073BC826E16}" type="slidenum">
              <a:rPr lang="en-US"/>
              <a:pPr/>
              <a:t>6</a:t>
            </a:fld>
            <a:endParaRPr lang="en-US"/>
          </a:p>
        </p:txBody>
      </p:sp>
      <p:sp>
        <p:nvSpPr>
          <p:cNvPr id="989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9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D42B6C-7B09-4F57-9A55-FCEF95A44670}" type="slidenum">
              <a:rPr lang="en-US"/>
              <a:pPr/>
              <a:t>7</a:t>
            </a:fld>
            <a:endParaRPr lang="en-US"/>
          </a:p>
        </p:txBody>
      </p:sp>
      <p:sp>
        <p:nvSpPr>
          <p:cNvPr id="993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21308A-54F6-4769-9CF3-A993C64E26EB}" type="slidenum">
              <a:rPr lang="en-US"/>
              <a:pPr/>
              <a:t>8</a:t>
            </a:fld>
            <a:endParaRPr lang="en-US"/>
          </a:p>
        </p:txBody>
      </p:sp>
      <p:sp>
        <p:nvSpPr>
          <p:cNvPr id="995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5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360C72-2854-46B6-8C18-A03CB0947BDE}" type="slidenum">
              <a:rPr lang="en-US"/>
              <a:pPr/>
              <a:t>9</a:t>
            </a:fld>
            <a:endParaRPr lang="en-US"/>
          </a:p>
        </p:txBody>
      </p:sp>
      <p:sp>
        <p:nvSpPr>
          <p:cNvPr id="1004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4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90CAE0-05D5-4448-91FE-4941144D95AA}" type="slidenum">
              <a:rPr lang="en-US"/>
              <a:pPr/>
              <a:t>10</a:t>
            </a:fld>
            <a:endParaRPr lang="en-US"/>
          </a:p>
        </p:txBody>
      </p:sp>
      <p:sp>
        <p:nvSpPr>
          <p:cNvPr id="997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7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8AF8674-EF0B-4194-BBC9-579A0D0F7A88}" type="slidenum">
              <a:rPr lang="en-US"/>
              <a:pPr/>
              <a:t>11</a:t>
            </a:fld>
            <a:endParaRPr lang="en-US"/>
          </a:p>
        </p:txBody>
      </p:sp>
      <p:sp>
        <p:nvSpPr>
          <p:cNvPr id="99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9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A2D6BD-FE0F-4AC1-8FD3-38F023D968C1}" type="slidenum">
              <a:rPr lang="en-US"/>
              <a:pPr/>
              <a:t>12</a:t>
            </a:fld>
            <a:endParaRPr lang="en-US"/>
          </a:p>
        </p:txBody>
      </p:sp>
      <p:sp>
        <p:nvSpPr>
          <p:cNvPr id="100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C31FDB-66BE-4500-B219-E5304269D0CB}" type="slidenum">
              <a:rPr lang="en-US"/>
              <a:pPr/>
              <a:t>14</a:t>
            </a:fld>
            <a:endParaRPr lang="en-US"/>
          </a:p>
        </p:txBody>
      </p:sp>
      <p:sp>
        <p:nvSpPr>
          <p:cNvPr id="1006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6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1"/>
            <a:ext cx="5486400" cy="41148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B401B43-DE80-476A-8586-116248F24E36}" type="slidenum">
              <a:rPr lang="en-US"/>
              <a:pPr/>
              <a:t>16</a:t>
            </a:fld>
            <a:endParaRPr lang="en-US"/>
          </a:p>
        </p:txBody>
      </p:sp>
      <p:sp>
        <p:nvSpPr>
          <p:cNvPr id="1008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8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322D19-2BE2-47BA-91B0-5B15789EBDE1}" type="slidenum">
              <a:rPr lang="en-US"/>
              <a:pPr/>
              <a:t>17</a:t>
            </a:fld>
            <a:endParaRPr lang="en-US"/>
          </a:p>
        </p:txBody>
      </p:sp>
      <p:sp>
        <p:nvSpPr>
          <p:cNvPr id="1010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0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CE08FB-D4A6-4A84-8787-7C97D5114200}" type="slidenum">
              <a:rPr lang="en-US"/>
              <a:pPr/>
              <a:t>18</a:t>
            </a:fld>
            <a:endParaRPr lang="en-US"/>
          </a:p>
        </p:txBody>
      </p:sp>
      <p:sp>
        <p:nvSpPr>
          <p:cNvPr id="1012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2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CDC3F2-B511-449C-831E-0258EC9E9245}" type="slidenum">
              <a:rPr lang="en-US"/>
              <a:pPr/>
              <a:t>19</a:t>
            </a:fld>
            <a:endParaRPr lang="en-US"/>
          </a:p>
        </p:txBody>
      </p:sp>
      <p:sp>
        <p:nvSpPr>
          <p:cNvPr id="1014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4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66F9C1-C4E9-47EC-9513-2F56B79838E6}" type="slidenum">
              <a:rPr lang="en-US"/>
              <a:pPr/>
              <a:t>20</a:t>
            </a:fld>
            <a:endParaRPr lang="en-US"/>
          </a:p>
        </p:txBody>
      </p:sp>
      <p:sp>
        <p:nvSpPr>
          <p:cNvPr id="1016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6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C10622-544E-428E-85F2-0B3E9930DB26}" type="slidenum">
              <a:rPr lang="en-US"/>
              <a:pPr/>
              <a:t>21</a:t>
            </a:fld>
            <a:endParaRPr lang="en-US"/>
          </a:p>
        </p:txBody>
      </p:sp>
      <p:sp>
        <p:nvSpPr>
          <p:cNvPr id="987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7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7FA2BE-0852-4705-94FD-B6EA6205D1D4}" type="slidenum">
              <a:rPr lang="en-US"/>
              <a:pPr/>
              <a:t>22</a:t>
            </a:fld>
            <a:endParaRPr lang="en-US"/>
          </a:p>
        </p:txBody>
      </p:sp>
      <p:sp>
        <p:nvSpPr>
          <p:cNvPr id="1018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8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2440" y="6237312"/>
            <a:ext cx="611560" cy="29311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fld id="{67F776DB-C4B4-46F1-926D-41EFCFC3A86A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7F776DB-C4B4-46F1-926D-41EFCFC3A86A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6858000" y="7620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7086600" y="11708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endParaRPr lang="en-US" dirty="0" smtClean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27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 userDrawn="1"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endParaRPr lang="en-US" dirty="0" smtClean="0"/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 hasCustomPrompt="1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dirty="0" smtClean="0"/>
              <a:t>Second level</a:t>
            </a:r>
            <a:endParaRPr kumimoji="0" lang="en-GB" sz="2400" u="none" strike="noStrike" kern="1200" cap="none" spc="0" normalizeH="0" noProof="0" dirty="0" smtClean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GB" sz="2400" u="none" strike="noStrike" kern="1200" cap="none" spc="0" normalizeH="0" baseline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Lorem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sit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amet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dolor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lang="en-GB" sz="2400" u="none" strike="noStrike" kern="1200" cap="none" spc="0" normalizeH="0" noProof="0" dirty="0" err="1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ipsum</a:t>
            </a:r>
            <a:r>
              <a:rPr kumimoji="0" lang="en-GB" sz="2400" u="none" strike="noStrike" kern="1200" cap="none" spc="0" normalizeH="0" noProof="0" dirty="0" smtClean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9" name="Content Placeholder 18"/>
          <p:cNvSpPr>
            <a:spLocks noGrp="1"/>
          </p:cNvSpPr>
          <p:nvPr userDrawn="1"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2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4" name="TextBox 33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0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Group 15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1" name="TextBox 2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3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6" name="TextBox 1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8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5" name="Group 13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20" name="TextBox 19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>
            <a:normAutofit/>
          </a:bodyPr>
          <a:lstStyle>
            <a:lvl1pPr algn="l">
              <a:defRPr sz="1800" b="1" spc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 hasCustomPrompt="1"/>
          </p:nvPr>
        </p:nvSpPr>
        <p:spPr>
          <a:xfrm>
            <a:off x="304800" y="152400"/>
            <a:ext cx="63246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19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4" name="Group 24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31" name="TextBox 30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5410200" y="2743200"/>
            <a:ext cx="5867400" cy="1143000"/>
          </a:xfrm>
        </p:spPr>
        <p:txBody>
          <a:bodyPr anchor="ctr" anchorCtr="0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Slide heading here and it can run in two lines</a:t>
            </a:r>
          </a:p>
        </p:txBody>
      </p:sp>
      <p:grpSp>
        <p:nvGrpSpPr>
          <p:cNvPr id="2" name="Group 7"/>
          <p:cNvGrpSpPr/>
          <p:nvPr userDrawn="1"/>
        </p:nvGrpSpPr>
        <p:grpSpPr>
          <a:xfrm rot="5400000">
            <a:off x="5006340" y="2567940"/>
            <a:ext cx="51816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758715" y="1131248"/>
            <a:ext cx="2193193" cy="692697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 rot="5400000">
            <a:off x="-2794428" y="3808884"/>
            <a:ext cx="5867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TextBox 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1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" name="Group 1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BC8D7E44-7D4F-4942-A8C9-2DF6BF8399E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Computer Organization &amp; Architecture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dirty="0" err="1" smtClean="0"/>
              <a:t>Virendra</a:t>
            </a:r>
            <a:r>
              <a:rPr lang="en-US" dirty="0" smtClean="0"/>
              <a:t> Singh </a:t>
            </a:r>
            <a:r>
              <a:rPr lang="en-US" dirty="0" err="1" smtClean="0"/>
              <a:t>Shekhawat</a:t>
            </a:r>
            <a:endParaRPr lang="en-US" dirty="0" smtClean="0"/>
          </a:p>
          <a:p>
            <a:r>
              <a:rPr lang="en-US" dirty="0" smtClean="0"/>
              <a:t>Department of Computer Science and Information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04800" y="4365104"/>
            <a:ext cx="8659688" cy="2088232"/>
          </a:xfrm>
        </p:spPr>
        <p:txBody>
          <a:bodyPr/>
          <a:lstStyle/>
          <a:p>
            <a:r>
              <a:rPr lang="en-US" sz="2800" dirty="0" smtClean="0">
                <a:latin typeface="+mj-lt"/>
              </a:rPr>
              <a:t>Module-7 (Lecture-3) </a:t>
            </a:r>
          </a:p>
          <a:p>
            <a:r>
              <a:rPr lang="en-US" sz="2400" b="0" dirty="0" smtClean="0">
                <a:latin typeface="+mj-lt"/>
              </a:rPr>
              <a:t>[Ref. Computer Organization and Architecture , 8</a:t>
            </a:r>
            <a:r>
              <a:rPr lang="en-US" sz="2400" b="0" baseline="30000" dirty="0" smtClean="0">
                <a:latin typeface="+mj-lt"/>
              </a:rPr>
              <a:t>th</a:t>
            </a:r>
            <a:r>
              <a:rPr lang="en-US" sz="2400" b="0" dirty="0" smtClean="0">
                <a:latin typeface="+mj-lt"/>
              </a:rPr>
              <a:t> Ed. by  William Stallings]</a:t>
            </a:r>
          </a:p>
          <a:p>
            <a:r>
              <a:rPr lang="en-US" sz="2400" b="0" dirty="0" smtClean="0">
                <a:latin typeface="+mj-lt"/>
              </a:rPr>
              <a:t>Topics</a:t>
            </a:r>
            <a:r>
              <a:rPr lang="en-US" sz="2400" b="0" dirty="0" smtClean="0">
                <a:latin typeface="+mj-lt"/>
              </a:rPr>
              <a:t>: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</a:rPr>
              <a:t>Instruction Level and Machine Level </a:t>
            </a:r>
            <a:r>
              <a:rPr lang="en-US" sz="2400" b="0" dirty="0" smtClean="0">
                <a:solidFill>
                  <a:prstClr val="black"/>
                </a:solidFill>
                <a:latin typeface="Calibri"/>
              </a:rPr>
              <a:t>Parallelism, </a:t>
            </a:r>
            <a:r>
              <a:rPr lang="en-US" sz="2400" b="0" dirty="0" smtClean="0">
                <a:latin typeface="+mj-lt"/>
              </a:rPr>
              <a:t>Superscalar  Pipeline and Superscalar Processor Design Elements, Hazards and Solutions</a:t>
            </a:r>
            <a:endParaRPr lang="en-US" sz="2400" b="0" dirty="0" smtClean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712968" cy="4824536"/>
          </a:xfrm>
        </p:spPr>
        <p:txBody>
          <a:bodyPr/>
          <a:lstStyle/>
          <a:p>
            <a:r>
              <a:rPr lang="en-US" dirty="0" smtClean="0"/>
              <a:t>Scalar pipeline improves performance</a:t>
            </a:r>
          </a:p>
          <a:p>
            <a:pPr lvl="1"/>
            <a:r>
              <a:rPr lang="en-US" dirty="0" smtClean="0"/>
              <a:t>By overlapping various instruction stages</a:t>
            </a:r>
          </a:p>
          <a:p>
            <a:pPr lvl="1"/>
            <a:r>
              <a:rPr lang="en-US" dirty="0" smtClean="0"/>
              <a:t>Unable to exploit </a:t>
            </a:r>
            <a:r>
              <a:rPr lang="en-US" dirty="0" smtClean="0"/>
              <a:t>I</a:t>
            </a:r>
            <a:r>
              <a:rPr lang="en-US" dirty="0" smtClean="0"/>
              <a:t>nstruction </a:t>
            </a:r>
            <a:r>
              <a:rPr lang="en-US" dirty="0" smtClean="0"/>
              <a:t>L</a:t>
            </a:r>
            <a:r>
              <a:rPr lang="en-US" dirty="0" smtClean="0"/>
              <a:t>evel Parallelism (ILP) completely!</a:t>
            </a:r>
          </a:p>
          <a:p>
            <a:r>
              <a:rPr lang="en-US" dirty="0" smtClean="0"/>
              <a:t>A new term called </a:t>
            </a:r>
            <a:r>
              <a:rPr lang="en-US" dirty="0" smtClean="0">
                <a:solidFill>
                  <a:srgbClr val="8B3B7A"/>
                </a:solidFill>
              </a:rPr>
              <a:t>Superscalar </a:t>
            </a:r>
            <a:r>
              <a:rPr lang="en-US" dirty="0" smtClean="0"/>
              <a:t>is coined (1987) to exploit ILP of a program</a:t>
            </a:r>
          </a:p>
          <a:p>
            <a:r>
              <a:rPr lang="en-US" dirty="0" smtClean="0"/>
              <a:t> 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9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6059016" cy="685800"/>
          </a:xfrm>
        </p:spPr>
        <p:txBody>
          <a:bodyPr/>
          <a:lstStyle/>
          <a:p>
            <a:r>
              <a:rPr lang="en-GB" dirty="0" smtClean="0"/>
              <a:t>What is Superscalar?</a:t>
            </a:r>
            <a:endParaRPr lang="en-GB" dirty="0"/>
          </a:p>
        </p:txBody>
      </p:sp>
      <p:sp>
        <p:nvSpPr>
          <p:cNvPr id="979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68760"/>
            <a:ext cx="8587680" cy="5184576"/>
          </a:xfrm>
        </p:spPr>
        <p:txBody>
          <a:bodyPr>
            <a:noAutofit/>
          </a:bodyPr>
          <a:lstStyle/>
          <a:p>
            <a:r>
              <a:rPr lang="en-GB" dirty="0" smtClean="0"/>
              <a:t>Multiple independent instruction pipelines are </a:t>
            </a:r>
            <a:r>
              <a:rPr lang="en-GB" dirty="0" smtClean="0"/>
              <a:t>used to execute instructions independently and concurrently</a:t>
            </a:r>
            <a:endParaRPr lang="en-GB" sz="2800" dirty="0"/>
          </a:p>
          <a:p>
            <a:r>
              <a:rPr lang="en-GB" dirty="0"/>
              <a:t>Common instructions (arithmetic, load/store, conditional branch) </a:t>
            </a:r>
            <a:r>
              <a:rPr lang="en-GB" dirty="0" smtClean="0"/>
              <a:t>initiated </a:t>
            </a:r>
            <a:r>
              <a:rPr lang="en-GB" dirty="0"/>
              <a:t>simultaneously and executed independently</a:t>
            </a:r>
          </a:p>
          <a:p>
            <a:r>
              <a:rPr lang="en-GB" dirty="0" smtClean="0"/>
              <a:t>Improve </a:t>
            </a:r>
            <a:r>
              <a:rPr lang="en-GB" dirty="0"/>
              <a:t>the performance of the execution of </a:t>
            </a:r>
            <a:r>
              <a:rPr lang="en-GB" dirty="0" smtClean="0"/>
              <a:t>instructions operated on scalar quantities</a:t>
            </a:r>
            <a:endParaRPr lang="en-GB" dirty="0"/>
          </a:p>
          <a:p>
            <a:r>
              <a:rPr lang="en-GB" dirty="0" smtClean="0"/>
              <a:t>Equally </a:t>
            </a:r>
            <a:r>
              <a:rPr lang="en-GB" dirty="0"/>
              <a:t>applicable to RISC &amp; CISC but in practice usually RISC</a:t>
            </a:r>
          </a:p>
          <a:p>
            <a:endParaRPr lang="en-GB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79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79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79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799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5987008" cy="685800"/>
          </a:xfrm>
        </p:spPr>
        <p:txBody>
          <a:bodyPr/>
          <a:lstStyle/>
          <a:p>
            <a:r>
              <a:rPr lang="en-GB" dirty="0" smtClean="0"/>
              <a:t>Super Scalar vs. Super Pipeline</a:t>
            </a:r>
            <a:endParaRPr lang="en-GB" dirty="0"/>
          </a:p>
        </p:txBody>
      </p:sp>
      <p:sp>
        <p:nvSpPr>
          <p:cNvPr id="984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431" y="2472680"/>
            <a:ext cx="3957513" cy="2324472"/>
          </a:xfrm>
          <a:ln w="127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GB" sz="2400" dirty="0" smtClean="0"/>
              <a:t>Many </a:t>
            </a:r>
            <a:r>
              <a:rPr lang="en-GB" sz="2400" dirty="0"/>
              <a:t>pipeline stages need less than half a clock cycle</a:t>
            </a:r>
          </a:p>
          <a:p>
            <a:r>
              <a:rPr lang="en-GB" sz="2400" dirty="0"/>
              <a:t>Double internal clock speed gets two tasks per external clock </a:t>
            </a:r>
            <a:r>
              <a:rPr lang="en-GB" sz="2400" dirty="0" smtClean="0"/>
              <a:t>cycle</a:t>
            </a:r>
            <a:endParaRPr lang="en-GB" sz="2400" dirty="0"/>
          </a:p>
        </p:txBody>
      </p:sp>
      <p:pic>
        <p:nvPicPr>
          <p:cNvPr id="984068" name="Picture 4"/>
          <p:cNvPicPr>
            <a:picLocks noChangeAspect="1" noChangeArrowheads="1"/>
          </p:cNvPicPr>
          <p:nvPr/>
        </p:nvPicPr>
        <p:blipFill>
          <a:blip r:embed="rId3" cstate="print"/>
          <a:srcRect l="5107" t="1021" r="10544" b="5374"/>
          <a:stretch>
            <a:fillRect/>
          </a:stretch>
        </p:blipFill>
        <p:spPr bwMode="auto">
          <a:xfrm>
            <a:off x="4140200" y="1412776"/>
            <a:ext cx="4392240" cy="5000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79512" y="1916832"/>
            <a:ext cx="227818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>
                <a:solidFill>
                  <a:srgbClr val="8B3B7A"/>
                </a:solidFill>
              </a:rPr>
              <a:t>Super Pipeline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Limitations</a:t>
            </a:r>
          </a:p>
        </p:txBody>
      </p:sp>
      <p:sp>
        <p:nvSpPr>
          <p:cNvPr id="988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40904"/>
            <a:ext cx="8568952" cy="4940424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Superscalar approach depends on the ability to execute multiple instructions in parallel</a:t>
            </a:r>
          </a:p>
          <a:p>
            <a:r>
              <a:rPr lang="en-GB" dirty="0" smtClean="0"/>
              <a:t>How </a:t>
            </a:r>
            <a:r>
              <a:rPr lang="en-GB" dirty="0"/>
              <a:t>to maximize the </a:t>
            </a:r>
            <a:r>
              <a:rPr lang="en-GB" dirty="0" smtClean="0"/>
              <a:t>ILP</a:t>
            </a:r>
            <a:endParaRPr lang="en-GB" dirty="0"/>
          </a:p>
          <a:p>
            <a:pPr lvl="1"/>
            <a:r>
              <a:rPr lang="en-GB" dirty="0"/>
              <a:t>Compiler based </a:t>
            </a:r>
            <a:r>
              <a:rPr lang="en-GB" dirty="0" smtClean="0"/>
              <a:t>optimization</a:t>
            </a:r>
            <a:endParaRPr lang="en-GB" dirty="0"/>
          </a:p>
          <a:p>
            <a:pPr lvl="1"/>
            <a:r>
              <a:rPr lang="en-GB" dirty="0"/>
              <a:t>Hardware techniques</a:t>
            </a:r>
          </a:p>
          <a:p>
            <a:r>
              <a:rPr lang="en-GB" dirty="0" smtClean="0"/>
              <a:t>Limited </a:t>
            </a:r>
            <a:r>
              <a:rPr lang="en-GB" dirty="0" smtClean="0"/>
              <a:t>by following </a:t>
            </a:r>
            <a:r>
              <a:rPr lang="en-GB" dirty="0" smtClean="0">
                <a:solidFill>
                  <a:srgbClr val="8B3B7A"/>
                </a:solidFill>
              </a:rPr>
              <a:t>dependencies or hazards</a:t>
            </a:r>
            <a:endParaRPr lang="en-GB" dirty="0">
              <a:solidFill>
                <a:srgbClr val="8B3B7A"/>
              </a:solidFill>
            </a:endParaRPr>
          </a:p>
          <a:p>
            <a:pPr lvl="1"/>
            <a:r>
              <a:rPr lang="en-GB" sz="3000" dirty="0" smtClean="0"/>
              <a:t>Instruction / Procedural</a:t>
            </a:r>
          </a:p>
          <a:p>
            <a:pPr lvl="1"/>
            <a:r>
              <a:rPr lang="en-GB" sz="3000" dirty="0" smtClean="0"/>
              <a:t>Resource </a:t>
            </a:r>
          </a:p>
          <a:p>
            <a:pPr lvl="1"/>
            <a:r>
              <a:rPr lang="en-GB" sz="3000" dirty="0" smtClean="0"/>
              <a:t>Data Hazards</a:t>
            </a:r>
          </a:p>
          <a:p>
            <a:pPr lvl="2"/>
            <a:r>
              <a:rPr lang="en-GB" sz="2600" dirty="0" smtClean="0"/>
              <a:t>RAW, WAR, WAW</a:t>
            </a:r>
            <a:endParaRPr lang="en-GB" sz="2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Procedural/Instruction </a:t>
            </a:r>
            <a:r>
              <a:rPr lang="en-GB" dirty="0" smtClean="0"/>
              <a:t>Hazards</a:t>
            </a:r>
            <a:endParaRPr lang="en-GB" dirty="0"/>
          </a:p>
        </p:txBody>
      </p:sp>
      <p:sp>
        <p:nvSpPr>
          <p:cNvPr id="992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556793"/>
            <a:ext cx="8497192" cy="4666208"/>
          </a:xfrm>
        </p:spPr>
        <p:txBody>
          <a:bodyPr/>
          <a:lstStyle/>
          <a:p>
            <a:r>
              <a:rPr lang="en-GB" dirty="0"/>
              <a:t>Can not execute instructions after a branch in parallel with instructions before a branch</a:t>
            </a:r>
          </a:p>
          <a:p>
            <a:r>
              <a:rPr lang="en-GB" dirty="0"/>
              <a:t>Also, if instruction length is not fixed, instructions have to be decoded </a:t>
            </a:r>
            <a:r>
              <a:rPr lang="en-GB" dirty="0" smtClean="0"/>
              <a:t>(partially) to </a:t>
            </a:r>
            <a:r>
              <a:rPr lang="en-GB" dirty="0"/>
              <a:t>find out how many fetches are needed</a:t>
            </a:r>
          </a:p>
          <a:p>
            <a:pPr lvl="1"/>
            <a:r>
              <a:rPr lang="en-GB" dirty="0"/>
              <a:t>This prevents simultaneous fetches</a:t>
            </a:r>
          </a:p>
          <a:p>
            <a:r>
              <a:rPr lang="en-GB" dirty="0"/>
              <a:t>So superscalar techniques are applicable to a RISC or RISC like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92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92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992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92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Resource Conflict</a:t>
            </a:r>
          </a:p>
        </p:txBody>
      </p:sp>
      <p:sp>
        <p:nvSpPr>
          <p:cNvPr id="994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Two or more instructions requiring access to the same resource at the same time</a:t>
            </a:r>
          </a:p>
          <a:p>
            <a:pPr lvl="1"/>
            <a:r>
              <a:rPr lang="en-GB" dirty="0"/>
              <a:t>e.g. two arithmetic instructions</a:t>
            </a:r>
          </a:p>
          <a:p>
            <a:endParaRPr lang="en-GB" dirty="0" smtClean="0"/>
          </a:p>
          <a:p>
            <a:r>
              <a:rPr lang="en-GB" dirty="0" smtClean="0">
                <a:solidFill>
                  <a:srgbClr val="8B3B7A"/>
                </a:solidFill>
              </a:rPr>
              <a:t>Solution</a:t>
            </a:r>
            <a:endParaRPr lang="en-GB" dirty="0">
              <a:solidFill>
                <a:srgbClr val="8B3B7A"/>
              </a:solidFill>
            </a:endParaRPr>
          </a:p>
          <a:p>
            <a:pPr lvl="1"/>
            <a:r>
              <a:rPr lang="en-GB" dirty="0"/>
              <a:t>Can duplicate resources. e.g. have two arithmetic </a:t>
            </a:r>
            <a:r>
              <a:rPr lang="en-GB" dirty="0" smtClean="0"/>
              <a:t>units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Data </a:t>
            </a:r>
            <a:r>
              <a:rPr lang="en-GB" dirty="0" smtClean="0"/>
              <a:t>Hazards/Conflicts</a:t>
            </a:r>
            <a:endParaRPr lang="en-US" dirty="0"/>
          </a:p>
        </p:txBody>
      </p:sp>
      <p:sp>
        <p:nvSpPr>
          <p:cNvPr id="1003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484784"/>
            <a:ext cx="8591872" cy="4824536"/>
          </a:xfrm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folHlink"/>
                </a:solidFill>
              </a:rPr>
              <a:t>Example Program</a:t>
            </a:r>
          </a:p>
          <a:p>
            <a:pPr lvl="1"/>
            <a:r>
              <a:rPr lang="en-GB" dirty="0"/>
              <a:t>R3= R3 + R5; (I1)</a:t>
            </a:r>
          </a:p>
          <a:p>
            <a:pPr lvl="1"/>
            <a:r>
              <a:rPr lang="en-GB" dirty="0"/>
              <a:t>R4= R3 + 1;   (I2)</a:t>
            </a:r>
          </a:p>
          <a:p>
            <a:pPr lvl="1"/>
            <a:r>
              <a:rPr lang="en-GB" dirty="0"/>
              <a:t>R3= R5 + 1;   (I3)</a:t>
            </a:r>
          </a:p>
          <a:p>
            <a:pPr lvl="1"/>
            <a:r>
              <a:rPr lang="en-GB" dirty="0"/>
              <a:t>R7= R3 + R4  (I4)</a:t>
            </a:r>
          </a:p>
          <a:p>
            <a:r>
              <a:rPr lang="en-GB" dirty="0" smtClean="0">
                <a:solidFill>
                  <a:schemeClr val="folHlink"/>
                </a:solidFill>
              </a:rPr>
              <a:t>Identify </a:t>
            </a:r>
            <a:r>
              <a:rPr lang="en-GB" dirty="0">
                <a:solidFill>
                  <a:schemeClr val="folHlink"/>
                </a:solidFill>
              </a:rPr>
              <a:t>the </a:t>
            </a:r>
            <a:r>
              <a:rPr lang="en-GB" dirty="0" smtClean="0">
                <a:solidFill>
                  <a:schemeClr val="folHlink"/>
                </a:solidFill>
              </a:rPr>
              <a:t>hazards among above instructions</a:t>
            </a:r>
            <a:endParaRPr lang="en-GB" dirty="0">
              <a:solidFill>
                <a:schemeClr val="folHlink"/>
              </a:solidFill>
            </a:endParaRPr>
          </a:p>
          <a:p>
            <a:pPr lvl="1"/>
            <a:r>
              <a:rPr lang="en-GB" dirty="0"/>
              <a:t>I1 and I2 ?</a:t>
            </a:r>
          </a:p>
          <a:p>
            <a:pPr lvl="1"/>
            <a:r>
              <a:rPr lang="en-GB" dirty="0"/>
              <a:t>I3 and I4 ?</a:t>
            </a:r>
          </a:p>
          <a:p>
            <a:pPr lvl="1"/>
            <a:r>
              <a:rPr lang="en-GB" dirty="0"/>
              <a:t>I2 and I3 ?</a:t>
            </a:r>
          </a:p>
          <a:p>
            <a:pPr lvl="1"/>
            <a:r>
              <a:rPr lang="en-GB" dirty="0"/>
              <a:t>I1 and I3 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9</a:t>
            </a:fld>
            <a:endParaRPr lang="en-I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6192688" cy="503237"/>
          </a:xfrm>
        </p:spPr>
        <p:txBody>
          <a:bodyPr/>
          <a:lstStyle/>
          <a:p>
            <a:r>
              <a:rPr lang="en-GB" dirty="0">
                <a:latin typeface="+mn-lt"/>
              </a:rPr>
              <a:t>Effect of </a:t>
            </a:r>
            <a:r>
              <a:rPr lang="en-GB" dirty="0" smtClean="0">
                <a:latin typeface="+mn-lt"/>
              </a:rPr>
              <a:t>Hazards/ Dependencies</a:t>
            </a:r>
            <a:endParaRPr lang="en-GB" dirty="0">
              <a:latin typeface="+mn-lt"/>
            </a:endParaRPr>
          </a:p>
        </p:txBody>
      </p:sp>
      <p:pic>
        <p:nvPicPr>
          <p:cNvPr id="996355" name="Picture 3"/>
          <p:cNvPicPr>
            <a:picLocks noChangeAspect="1" noChangeArrowheads="1"/>
          </p:cNvPicPr>
          <p:nvPr/>
        </p:nvPicPr>
        <p:blipFill>
          <a:blip r:embed="rId3" cstate="print"/>
          <a:srcRect l="685" t="5109" r="7535" b="9712"/>
          <a:stretch>
            <a:fillRect/>
          </a:stretch>
        </p:blipFill>
        <p:spPr bwMode="auto">
          <a:xfrm>
            <a:off x="2362200" y="1484784"/>
            <a:ext cx="5162128" cy="497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6936"/>
            <a:ext cx="6059016" cy="685800"/>
          </a:xfrm>
        </p:spPr>
        <p:txBody>
          <a:bodyPr/>
          <a:lstStyle/>
          <a:p>
            <a:r>
              <a:rPr lang="en-GB" dirty="0" smtClean="0"/>
              <a:t>Superscalar Processor Design </a:t>
            </a:r>
            <a:r>
              <a:rPr lang="en-GB" dirty="0"/>
              <a:t>Issues</a:t>
            </a:r>
          </a:p>
        </p:txBody>
      </p:sp>
      <p:sp>
        <p:nvSpPr>
          <p:cNvPr id="998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84784"/>
            <a:ext cx="8363272" cy="4896544"/>
          </a:xfrm>
        </p:spPr>
        <p:txBody>
          <a:bodyPr>
            <a:normAutofit fontScale="92500" lnSpcReduction="20000"/>
          </a:bodyPr>
          <a:lstStyle/>
          <a:p>
            <a:r>
              <a:rPr lang="en-GB" dirty="0">
                <a:solidFill>
                  <a:schemeClr val="folHlink"/>
                </a:solidFill>
              </a:rPr>
              <a:t>Instruction level parallelism</a:t>
            </a:r>
          </a:p>
          <a:p>
            <a:pPr lvl="1"/>
            <a:r>
              <a:rPr lang="en-GB" dirty="0"/>
              <a:t>If instructions in a sequence are independent, execution can be overlapped</a:t>
            </a:r>
          </a:p>
          <a:p>
            <a:pPr lvl="1"/>
            <a:r>
              <a:rPr lang="en-GB" dirty="0"/>
              <a:t>Degree of instruction level parallelism is governed by data and procedural dependency</a:t>
            </a:r>
          </a:p>
          <a:p>
            <a:r>
              <a:rPr lang="en-GB" dirty="0">
                <a:solidFill>
                  <a:schemeClr val="folHlink"/>
                </a:solidFill>
              </a:rPr>
              <a:t>Machine Parallelism</a:t>
            </a:r>
          </a:p>
          <a:p>
            <a:pPr lvl="1"/>
            <a:r>
              <a:rPr lang="en-GB" dirty="0"/>
              <a:t>Ability to take advantage of instruction level parallelism</a:t>
            </a:r>
          </a:p>
          <a:p>
            <a:pPr lvl="1"/>
            <a:r>
              <a:rPr lang="en-GB" dirty="0"/>
              <a:t>Governed by number of parallel pipelines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rgbClr val="8B3B7A"/>
                </a:solidFill>
              </a:rPr>
              <a:t>N</a:t>
            </a:r>
            <a:r>
              <a:rPr lang="en-GB" dirty="0" smtClean="0">
                <a:solidFill>
                  <a:srgbClr val="8B3B7A"/>
                </a:solidFill>
              </a:rPr>
              <a:t>ote</a:t>
            </a:r>
            <a:endParaRPr lang="en-GB" dirty="0">
              <a:solidFill>
                <a:srgbClr val="8B3B7A"/>
              </a:solidFill>
            </a:endParaRPr>
          </a:p>
          <a:p>
            <a:pPr lvl="1"/>
            <a:r>
              <a:rPr lang="en-GB" i="1" dirty="0"/>
              <a:t>A program may not have enough instruction level parallelism to take full advantage of machine parallelism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998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98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98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998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998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9984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66936"/>
            <a:ext cx="5987008" cy="685800"/>
          </a:xfrm>
        </p:spPr>
        <p:txBody>
          <a:bodyPr/>
          <a:lstStyle/>
          <a:p>
            <a:r>
              <a:rPr lang="en-GB" dirty="0"/>
              <a:t>Instruction Issue Policy</a:t>
            </a:r>
          </a:p>
        </p:txBody>
      </p:sp>
      <p:sp>
        <p:nvSpPr>
          <p:cNvPr id="1000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1268760"/>
            <a:ext cx="8640960" cy="5184576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folHlink"/>
                </a:solidFill>
              </a:rPr>
              <a:t>Instruction Issue</a:t>
            </a:r>
          </a:p>
          <a:p>
            <a:pPr lvl="1"/>
            <a:r>
              <a:rPr lang="en-GB" sz="2400" dirty="0" smtClean="0"/>
              <a:t>Refer </a:t>
            </a:r>
            <a:r>
              <a:rPr lang="en-GB" sz="2400" dirty="0"/>
              <a:t>to the process of initiating instruction execution in the processor’s functional units</a:t>
            </a:r>
          </a:p>
          <a:p>
            <a:pPr lvl="1"/>
            <a:r>
              <a:rPr lang="en-GB" sz="2400" dirty="0"/>
              <a:t>Occurs when instruction moves from the </a:t>
            </a:r>
            <a:r>
              <a:rPr lang="en-GB" sz="2400" dirty="0">
                <a:solidFill>
                  <a:srgbClr val="8B3B7A"/>
                </a:solidFill>
              </a:rPr>
              <a:t>decode stage </a:t>
            </a:r>
            <a:r>
              <a:rPr lang="en-GB" sz="2400" dirty="0"/>
              <a:t>to the first </a:t>
            </a:r>
            <a:r>
              <a:rPr lang="en-GB" sz="2400" dirty="0">
                <a:solidFill>
                  <a:srgbClr val="8B3B7A"/>
                </a:solidFill>
              </a:rPr>
              <a:t>execute stage</a:t>
            </a:r>
          </a:p>
          <a:p>
            <a:r>
              <a:rPr lang="en-GB" sz="2800" dirty="0">
                <a:solidFill>
                  <a:schemeClr val="folHlink"/>
                </a:solidFill>
              </a:rPr>
              <a:t>Instruction Issue Policy</a:t>
            </a:r>
          </a:p>
          <a:p>
            <a:pPr lvl="1"/>
            <a:r>
              <a:rPr lang="en-GB" sz="2400" dirty="0" smtClean="0"/>
              <a:t>Refer </a:t>
            </a:r>
            <a:r>
              <a:rPr lang="en-GB" sz="2400" dirty="0"/>
              <a:t>to the protocol used to issue instructions </a:t>
            </a:r>
          </a:p>
          <a:p>
            <a:pPr lvl="1"/>
            <a:r>
              <a:rPr lang="en-GB" sz="2400" dirty="0"/>
              <a:t>Processor look ahead to locate instructions that can be brought into the pipeline and executed</a:t>
            </a:r>
          </a:p>
          <a:p>
            <a:r>
              <a:rPr lang="en-GB" sz="2800" dirty="0">
                <a:solidFill>
                  <a:schemeClr val="folHlink"/>
                </a:solidFill>
              </a:rPr>
              <a:t>Ordering issues</a:t>
            </a:r>
          </a:p>
          <a:p>
            <a:pPr lvl="1"/>
            <a:r>
              <a:rPr lang="en-GB" sz="2400" dirty="0"/>
              <a:t>Order in which instructions are </a:t>
            </a:r>
            <a:r>
              <a:rPr lang="en-GB" sz="2400" dirty="0">
                <a:solidFill>
                  <a:srgbClr val="990000"/>
                </a:solidFill>
              </a:rPr>
              <a:t>fetched, executed and change </a:t>
            </a:r>
            <a:r>
              <a:rPr lang="en-GB" sz="2400" dirty="0" smtClean="0">
                <a:solidFill>
                  <a:srgbClr val="990000"/>
                </a:solidFill>
              </a:rPr>
              <a:t>contents of registers </a:t>
            </a:r>
            <a:r>
              <a:rPr lang="en-GB" sz="2400" dirty="0">
                <a:solidFill>
                  <a:srgbClr val="990000"/>
                </a:solidFill>
              </a:rPr>
              <a:t>and memory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0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00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00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00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00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00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00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6131024" cy="685800"/>
          </a:xfrm>
        </p:spPr>
        <p:txBody>
          <a:bodyPr/>
          <a:lstStyle/>
          <a:p>
            <a:r>
              <a:rPr lang="en-US" dirty="0"/>
              <a:t>Issue Policies</a:t>
            </a:r>
          </a:p>
        </p:txBody>
      </p:sp>
      <p:sp>
        <p:nvSpPr>
          <p:cNvPr id="1002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772816"/>
            <a:ext cx="8640960" cy="4358109"/>
          </a:xfrm>
        </p:spPr>
        <p:txBody>
          <a:bodyPr>
            <a:normAutofit/>
          </a:bodyPr>
          <a:lstStyle/>
          <a:p>
            <a:r>
              <a:rPr lang="en-US" sz="3600" dirty="0"/>
              <a:t>In-order issue with in-order completion</a:t>
            </a:r>
          </a:p>
          <a:p>
            <a:endParaRPr lang="en-US" sz="3600" dirty="0" smtClean="0"/>
          </a:p>
          <a:p>
            <a:r>
              <a:rPr lang="en-US" sz="3600" dirty="0" smtClean="0"/>
              <a:t>In-order </a:t>
            </a:r>
            <a:r>
              <a:rPr lang="en-US" sz="3600" dirty="0"/>
              <a:t>issue with out-of-order completion</a:t>
            </a:r>
          </a:p>
          <a:p>
            <a:endParaRPr lang="en-US" sz="3600" dirty="0" smtClean="0"/>
          </a:p>
          <a:p>
            <a:r>
              <a:rPr lang="en-US" sz="3600" dirty="0" smtClean="0"/>
              <a:t>Out-of-order </a:t>
            </a:r>
            <a:r>
              <a:rPr lang="en-US" sz="3600" dirty="0"/>
              <a:t>issue with out-of-order completion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Issue </a:t>
            </a:r>
            <a:r>
              <a:rPr lang="en-US" dirty="0" smtClean="0"/>
              <a:t>Policies-1</a:t>
            </a:r>
            <a:endParaRPr lang="en-US" dirty="0"/>
          </a:p>
        </p:txBody>
      </p:sp>
      <p:sp>
        <p:nvSpPr>
          <p:cNvPr id="1005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393304"/>
            <a:ext cx="8587680" cy="491601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folHlink"/>
                </a:solidFill>
              </a:rPr>
              <a:t>Assumptions</a:t>
            </a:r>
          </a:p>
          <a:p>
            <a:pPr lvl="1"/>
            <a:r>
              <a:rPr lang="en-US" dirty="0"/>
              <a:t>A super Scalar Pipeline capable of fetching and decoding two instructions at a time</a:t>
            </a:r>
          </a:p>
          <a:p>
            <a:pPr lvl="1"/>
            <a:r>
              <a:rPr lang="en-US" dirty="0"/>
              <a:t>The next two instructions must wait until the pair of decode pipeline stages has cleared</a:t>
            </a:r>
          </a:p>
          <a:p>
            <a:pPr lvl="1"/>
            <a:r>
              <a:rPr lang="en-US" dirty="0"/>
              <a:t>Having three separate functional units (two integer arithmetic and one floating point arithmetic)</a:t>
            </a:r>
          </a:p>
          <a:p>
            <a:pPr lvl="1"/>
            <a:r>
              <a:rPr lang="en-US" dirty="0"/>
              <a:t>Two instances of the write back pipeline stage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5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05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005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05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Issue Policies-2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folHlink"/>
                </a:solidFill>
              </a:rPr>
              <a:t>Constraints</a:t>
            </a:r>
          </a:p>
          <a:p>
            <a:pPr lvl="1"/>
            <a:r>
              <a:rPr lang="en-US" dirty="0" smtClean="0"/>
              <a:t>I1 requires two cycles to execute</a:t>
            </a:r>
          </a:p>
          <a:p>
            <a:pPr lvl="1"/>
            <a:r>
              <a:rPr lang="en-US" dirty="0" smtClean="0"/>
              <a:t>I3 and I4 conflict for the same functional unit</a:t>
            </a:r>
          </a:p>
          <a:p>
            <a:pPr lvl="1"/>
            <a:r>
              <a:rPr lang="en-US" dirty="0" smtClean="0"/>
              <a:t>I5 depends on the value produced by I4</a:t>
            </a:r>
          </a:p>
          <a:p>
            <a:pPr lvl="1"/>
            <a:r>
              <a:rPr lang="en-US" dirty="0" smtClean="0"/>
              <a:t>I5 and I6 conflict for a functional unit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8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60648"/>
            <a:ext cx="6264696" cy="792088"/>
          </a:xfrm>
        </p:spPr>
        <p:txBody>
          <a:bodyPr/>
          <a:lstStyle/>
          <a:p>
            <a:r>
              <a:rPr lang="en-GB" dirty="0" smtClean="0"/>
              <a:t>In-Order Issue In-Order Completion</a:t>
            </a:r>
          </a:p>
        </p:txBody>
      </p:sp>
      <p:sp>
        <p:nvSpPr>
          <p:cNvPr id="100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12776"/>
            <a:ext cx="8458200" cy="4835624"/>
          </a:xfrm>
        </p:spPr>
        <p:txBody>
          <a:bodyPr/>
          <a:lstStyle/>
          <a:p>
            <a:pPr marL="457200" indent="-457200">
              <a:buFont typeface="Wingdings" pitchFamily="2" charset="2"/>
              <a:buNone/>
            </a:pPr>
            <a:endParaRPr lang="en-GB" dirty="0">
              <a:solidFill>
                <a:srgbClr val="FF0000"/>
              </a:solidFill>
            </a:endParaRPr>
          </a:p>
          <a:p>
            <a:pPr marL="457200" indent="-457200"/>
            <a:endParaRPr lang="en-GB" dirty="0"/>
          </a:p>
        </p:txBody>
      </p:sp>
      <p:pic>
        <p:nvPicPr>
          <p:cNvPr id="1007620" name="Picture 4"/>
          <p:cNvPicPr>
            <a:picLocks noChangeAspect="1" noChangeArrowheads="1"/>
          </p:cNvPicPr>
          <p:nvPr/>
        </p:nvPicPr>
        <p:blipFill>
          <a:blip r:embed="rId3" cstate="print"/>
          <a:srcRect r="23492" b="75000"/>
          <a:stretch>
            <a:fillRect/>
          </a:stretch>
        </p:blipFill>
        <p:spPr bwMode="auto">
          <a:xfrm>
            <a:off x="971600" y="3062312"/>
            <a:ext cx="7351712" cy="317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16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In-Order Issue Out-of-Order Completion</a:t>
            </a:r>
          </a:p>
        </p:txBody>
      </p:sp>
      <p:sp>
        <p:nvSpPr>
          <p:cNvPr id="10096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40768"/>
            <a:ext cx="8458200" cy="5112568"/>
          </a:xfrm>
        </p:spPr>
        <p:txBody>
          <a:bodyPr>
            <a:normAutofit/>
          </a:bodyPr>
          <a:lstStyle/>
          <a:p>
            <a:r>
              <a:rPr lang="en-GB" sz="2800" dirty="0" smtClean="0"/>
              <a:t>It </a:t>
            </a:r>
            <a:r>
              <a:rPr lang="en-GB" sz="2800" dirty="0"/>
              <a:t>improves the performance of instructions that requires multiple cycles</a:t>
            </a:r>
          </a:p>
          <a:p>
            <a:pPr lvl="1"/>
            <a:r>
              <a:rPr lang="en-GB" sz="2400" dirty="0"/>
              <a:t>E.g. I2 is allowed to run to completion prior to I1. Results I3 completed earlier i.e. saving one cycle (Better than previous)</a:t>
            </a:r>
          </a:p>
        </p:txBody>
      </p:sp>
      <p:pic>
        <p:nvPicPr>
          <p:cNvPr id="1009668" name="Picture 4"/>
          <p:cNvPicPr>
            <a:picLocks noChangeAspect="1" noChangeArrowheads="1"/>
          </p:cNvPicPr>
          <p:nvPr/>
        </p:nvPicPr>
        <p:blipFill>
          <a:blip r:embed="rId3" cstate="print"/>
          <a:srcRect t="29890" r="25052" b="43056"/>
          <a:stretch>
            <a:fillRect/>
          </a:stretch>
        </p:blipFill>
        <p:spPr bwMode="auto">
          <a:xfrm>
            <a:off x="1043608" y="3068960"/>
            <a:ext cx="6564312" cy="270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17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09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09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274638"/>
            <a:ext cx="6264696" cy="850106"/>
          </a:xfrm>
        </p:spPr>
        <p:txBody>
          <a:bodyPr/>
          <a:lstStyle/>
          <a:p>
            <a:r>
              <a:rPr lang="en-GB" dirty="0" smtClean="0"/>
              <a:t>Out-of-Order Issue Out-of-Order Completion</a:t>
            </a:r>
          </a:p>
        </p:txBody>
      </p:sp>
      <p:sp>
        <p:nvSpPr>
          <p:cNvPr id="1011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587680" cy="4896544"/>
          </a:xfrm>
        </p:spPr>
        <p:txBody>
          <a:bodyPr>
            <a:normAutofit/>
          </a:bodyPr>
          <a:lstStyle/>
          <a:p>
            <a:r>
              <a:rPr lang="en-GB" sz="2400" dirty="0" smtClean="0"/>
              <a:t>Decouple </a:t>
            </a:r>
            <a:r>
              <a:rPr lang="en-GB" sz="2400" dirty="0"/>
              <a:t>decode </a:t>
            </a:r>
            <a:r>
              <a:rPr lang="en-GB" sz="2400" dirty="0" smtClean="0"/>
              <a:t>stage </a:t>
            </a:r>
            <a:r>
              <a:rPr lang="en-GB" sz="2400" dirty="0"/>
              <a:t>from execution </a:t>
            </a:r>
            <a:r>
              <a:rPr lang="en-GB" sz="2400" dirty="0" smtClean="0"/>
              <a:t>stage </a:t>
            </a:r>
            <a:r>
              <a:rPr lang="en-GB" sz="2400" dirty="0"/>
              <a:t>by introducing a buffer called </a:t>
            </a:r>
            <a:r>
              <a:rPr lang="en-GB" sz="2400" i="1" dirty="0">
                <a:solidFill>
                  <a:srgbClr val="990000"/>
                </a:solidFill>
              </a:rPr>
              <a:t>instruction window</a:t>
            </a:r>
          </a:p>
          <a:p>
            <a:r>
              <a:rPr lang="en-GB" sz="2400" dirty="0" smtClean="0"/>
              <a:t>Since </a:t>
            </a:r>
            <a:r>
              <a:rPr lang="en-GB" sz="2400" dirty="0"/>
              <a:t>instructions have been decoded, processor can look ahead</a:t>
            </a:r>
          </a:p>
          <a:p>
            <a:endParaRPr lang="en-GB" sz="2800" dirty="0"/>
          </a:p>
        </p:txBody>
      </p:sp>
      <p:pic>
        <p:nvPicPr>
          <p:cNvPr id="1011716" name="Picture 4"/>
          <p:cNvPicPr>
            <a:picLocks noChangeAspect="1" noChangeArrowheads="1"/>
          </p:cNvPicPr>
          <p:nvPr/>
        </p:nvPicPr>
        <p:blipFill>
          <a:blip r:embed="rId3" cstate="print"/>
          <a:srcRect t="66667" r="6195" b="11111"/>
          <a:stretch>
            <a:fillRect/>
          </a:stretch>
        </p:blipFill>
        <p:spPr bwMode="auto">
          <a:xfrm>
            <a:off x="251520" y="3573016"/>
            <a:ext cx="8610600" cy="272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18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11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Register Renaming</a:t>
            </a:r>
          </a:p>
        </p:txBody>
      </p:sp>
      <p:sp>
        <p:nvSpPr>
          <p:cNvPr id="1013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12777"/>
            <a:ext cx="8610600" cy="5064224"/>
          </a:xfrm>
        </p:spPr>
        <p:txBody>
          <a:bodyPr>
            <a:normAutofit/>
          </a:bodyPr>
          <a:lstStyle/>
          <a:p>
            <a:r>
              <a:rPr lang="en-GB" dirty="0"/>
              <a:t>When out of order techniques are used</a:t>
            </a:r>
          </a:p>
          <a:p>
            <a:pPr lvl="1"/>
            <a:r>
              <a:rPr lang="en-GB" dirty="0" smtClean="0">
                <a:solidFill>
                  <a:schemeClr val="folHlink"/>
                </a:solidFill>
              </a:rPr>
              <a:t>WAW </a:t>
            </a:r>
            <a:r>
              <a:rPr lang="en-GB" dirty="0">
                <a:solidFill>
                  <a:schemeClr val="folHlink"/>
                </a:solidFill>
              </a:rPr>
              <a:t>and </a:t>
            </a:r>
            <a:r>
              <a:rPr lang="en-GB" dirty="0" smtClean="0">
                <a:solidFill>
                  <a:schemeClr val="folHlink"/>
                </a:solidFill>
              </a:rPr>
              <a:t>WAR hazards occur </a:t>
            </a:r>
            <a:r>
              <a:rPr lang="en-GB" dirty="0">
                <a:solidFill>
                  <a:schemeClr val="folHlink"/>
                </a:solidFill>
              </a:rPr>
              <a:t>because register contents may not reflect the correct ordering from the program</a:t>
            </a:r>
          </a:p>
          <a:p>
            <a:pPr lvl="1"/>
            <a:r>
              <a:rPr lang="en-GB" dirty="0" smtClean="0">
                <a:solidFill>
                  <a:schemeClr val="folHlink"/>
                </a:solidFill>
              </a:rPr>
              <a:t>WAW and WAR dependencies </a:t>
            </a:r>
            <a:r>
              <a:rPr lang="en-GB" dirty="0">
                <a:solidFill>
                  <a:schemeClr val="folHlink"/>
                </a:solidFill>
              </a:rPr>
              <a:t>are known as storage conflicts</a:t>
            </a:r>
          </a:p>
          <a:p>
            <a:r>
              <a:rPr lang="en-GB" dirty="0" smtClean="0"/>
              <a:t>Compilers use optimized registers allocation which leads to more storage conflicts </a:t>
            </a:r>
            <a:endParaRPr lang="en-GB" dirty="0"/>
          </a:p>
          <a:p>
            <a:r>
              <a:rPr lang="en-GB" dirty="0" smtClean="0"/>
              <a:t>Register </a:t>
            </a:r>
            <a:r>
              <a:rPr lang="en-GB" dirty="0"/>
              <a:t>Renaming is used to deal with this</a:t>
            </a:r>
          </a:p>
          <a:p>
            <a:pPr lvl="1"/>
            <a:r>
              <a:rPr lang="en-GB" dirty="0"/>
              <a:t>Similar to resource duplication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19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13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13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13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013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0137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Register </a:t>
            </a:r>
            <a:r>
              <a:rPr lang="en-GB" dirty="0" smtClean="0"/>
              <a:t>Renaming</a:t>
            </a:r>
            <a:endParaRPr lang="en-GB" dirty="0"/>
          </a:p>
        </p:txBody>
      </p:sp>
      <p:sp>
        <p:nvSpPr>
          <p:cNvPr id="1015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412776"/>
            <a:ext cx="8640960" cy="4896544"/>
          </a:xfrm>
        </p:spPr>
        <p:txBody>
          <a:bodyPr>
            <a:normAutofit/>
          </a:bodyPr>
          <a:lstStyle/>
          <a:p>
            <a:r>
              <a:rPr lang="en-GB" dirty="0"/>
              <a:t>R3b:=R3a + R5a   </a:t>
            </a:r>
            <a:r>
              <a:rPr lang="en-GB" dirty="0" smtClean="0"/>
              <a:t> (</a:t>
            </a:r>
            <a:r>
              <a:rPr lang="en-GB" dirty="0"/>
              <a:t>I1)</a:t>
            </a:r>
          </a:p>
          <a:p>
            <a:r>
              <a:rPr lang="en-GB" dirty="0"/>
              <a:t>R4b:=R3b + 1        </a:t>
            </a:r>
            <a:r>
              <a:rPr lang="en-GB" dirty="0" smtClean="0"/>
              <a:t>(</a:t>
            </a:r>
            <a:r>
              <a:rPr lang="en-GB" dirty="0"/>
              <a:t>I2)</a:t>
            </a:r>
          </a:p>
          <a:p>
            <a:r>
              <a:rPr lang="en-GB" dirty="0"/>
              <a:t>R3c:=R5a + 1         </a:t>
            </a:r>
            <a:r>
              <a:rPr lang="en-GB" dirty="0" smtClean="0"/>
              <a:t>(</a:t>
            </a:r>
            <a:r>
              <a:rPr lang="en-GB" dirty="0"/>
              <a:t>I3)</a:t>
            </a:r>
          </a:p>
          <a:p>
            <a:r>
              <a:rPr lang="en-GB" dirty="0"/>
              <a:t>R7a:=R3c + R4b    (I4)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rgbClr val="8B3B7A"/>
                </a:solidFill>
              </a:rPr>
              <a:t>Inference</a:t>
            </a:r>
            <a:endParaRPr lang="en-GB" dirty="0">
              <a:solidFill>
                <a:srgbClr val="8B3B7A"/>
              </a:solidFill>
            </a:endParaRPr>
          </a:p>
          <a:p>
            <a:pPr lvl="1"/>
            <a:r>
              <a:rPr lang="en-GB" dirty="0" smtClean="0"/>
              <a:t>The </a:t>
            </a:r>
            <a:r>
              <a:rPr lang="en-GB" dirty="0"/>
              <a:t>same original register reference in several different instructions may refer to different actual registers, if different values are needed</a:t>
            </a:r>
          </a:p>
        </p:txBody>
      </p:sp>
      <p:sp>
        <p:nvSpPr>
          <p:cNvPr id="1015812" name="Text Box 4"/>
          <p:cNvSpPr txBox="1">
            <a:spLocks noChangeArrowheads="1"/>
          </p:cNvSpPr>
          <p:nvPr/>
        </p:nvSpPr>
        <p:spPr bwMode="auto">
          <a:xfrm>
            <a:off x="4932363" y="1628800"/>
            <a:ext cx="3810000" cy="156966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lvl="1" eaLnBrk="1" hangingPunct="1"/>
            <a:r>
              <a:rPr lang="en-GB" sz="2400" dirty="0">
                <a:solidFill>
                  <a:srgbClr val="0033CC"/>
                </a:solidFill>
                <a:latin typeface="Verdana" pitchFamily="34" charset="0"/>
              </a:rPr>
              <a:t>R3:= R3 + R5; (I1)</a:t>
            </a:r>
          </a:p>
          <a:p>
            <a:pPr lvl="1" eaLnBrk="1" hangingPunct="1"/>
            <a:r>
              <a:rPr lang="en-GB" sz="2400" dirty="0">
                <a:solidFill>
                  <a:srgbClr val="0033CC"/>
                </a:solidFill>
                <a:latin typeface="Verdana" pitchFamily="34" charset="0"/>
              </a:rPr>
              <a:t>R4:= R3 + 1;   (I2)</a:t>
            </a:r>
          </a:p>
          <a:p>
            <a:pPr lvl="1" eaLnBrk="1" hangingPunct="1"/>
            <a:r>
              <a:rPr lang="en-GB" sz="2400" dirty="0">
                <a:solidFill>
                  <a:srgbClr val="0033CC"/>
                </a:solidFill>
                <a:latin typeface="Verdana" pitchFamily="34" charset="0"/>
              </a:rPr>
              <a:t>R3:= R5 + 1;   (I3)</a:t>
            </a:r>
          </a:p>
          <a:p>
            <a:pPr lvl="1" eaLnBrk="1" hangingPunct="1"/>
            <a:r>
              <a:rPr lang="en-GB" sz="2400" dirty="0">
                <a:solidFill>
                  <a:srgbClr val="0033CC"/>
                </a:solidFill>
                <a:latin typeface="Verdana" pitchFamily="34" charset="0"/>
              </a:rPr>
              <a:t>R7:= R3 + R4  </a:t>
            </a:r>
            <a:r>
              <a:rPr lang="en-GB" sz="2400" dirty="0" smtClean="0">
                <a:solidFill>
                  <a:srgbClr val="0033CC"/>
                </a:solidFill>
                <a:latin typeface="Verdana" pitchFamily="34" charset="0"/>
              </a:rPr>
              <a:t>(</a:t>
            </a:r>
            <a:r>
              <a:rPr lang="en-GB" sz="2400" dirty="0">
                <a:solidFill>
                  <a:srgbClr val="0033CC"/>
                </a:solidFill>
                <a:latin typeface="Verdana" pitchFamily="34" charset="0"/>
              </a:rPr>
              <a:t>I4)</a:t>
            </a:r>
            <a:endParaRPr lang="en-US" sz="2400" dirty="0">
              <a:solidFill>
                <a:srgbClr val="0033CC"/>
              </a:solidFill>
              <a:latin typeface="Verdana" pitchFamily="34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20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1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15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1015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015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15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15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015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8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Superscalar Execution</a:t>
            </a:r>
          </a:p>
        </p:txBody>
      </p:sp>
      <p:pic>
        <p:nvPicPr>
          <p:cNvPr id="986115" name="Picture 3"/>
          <p:cNvPicPr>
            <a:picLocks noChangeAspect="1" noChangeArrowheads="1"/>
          </p:cNvPicPr>
          <p:nvPr/>
        </p:nvPicPr>
        <p:blipFill>
          <a:blip r:embed="rId3" cstate="print"/>
          <a:srcRect b="23738"/>
          <a:stretch>
            <a:fillRect/>
          </a:stretch>
        </p:blipFill>
        <p:spPr bwMode="auto">
          <a:xfrm>
            <a:off x="457200" y="1771650"/>
            <a:ext cx="8077200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21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Machine Parallelism</a:t>
            </a:r>
          </a:p>
        </p:txBody>
      </p:sp>
      <p:sp>
        <p:nvSpPr>
          <p:cNvPr id="1017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8148" y="1270248"/>
            <a:ext cx="8496300" cy="5327104"/>
          </a:xfrm>
        </p:spPr>
        <p:txBody>
          <a:bodyPr>
            <a:normAutofit/>
          </a:bodyPr>
          <a:lstStyle/>
          <a:p>
            <a:r>
              <a:rPr lang="en-GB" sz="2800" dirty="0"/>
              <a:t>To enhance the performance of the Super Scalar Processors</a:t>
            </a:r>
          </a:p>
          <a:p>
            <a:pPr lvl="1"/>
            <a:r>
              <a:rPr lang="en-GB" sz="2400" dirty="0"/>
              <a:t>Duplication of </a:t>
            </a:r>
            <a:r>
              <a:rPr lang="en-GB" sz="2400" dirty="0" smtClean="0"/>
              <a:t>Resources, Out </a:t>
            </a:r>
            <a:r>
              <a:rPr lang="en-GB" sz="2400" dirty="0"/>
              <a:t>of order instruction issue</a:t>
            </a:r>
          </a:p>
          <a:p>
            <a:pPr lvl="1"/>
            <a:r>
              <a:rPr lang="en-GB" sz="2400" dirty="0" smtClean="0"/>
              <a:t>Register Renaming</a:t>
            </a:r>
            <a:endParaRPr lang="en-GB" sz="2400" dirty="0"/>
          </a:p>
          <a:p>
            <a:pPr>
              <a:buFont typeface="Wingdings" pitchFamily="2" charset="2"/>
              <a:buNone/>
            </a:pPr>
            <a:endParaRPr lang="en-GB" sz="2800" dirty="0"/>
          </a:p>
        </p:txBody>
      </p:sp>
      <p:pic>
        <p:nvPicPr>
          <p:cNvPr id="1017860" name="Picture 4"/>
          <p:cNvPicPr>
            <a:picLocks noChangeAspect="1" noChangeArrowheads="1"/>
          </p:cNvPicPr>
          <p:nvPr/>
        </p:nvPicPr>
        <p:blipFill>
          <a:blip r:embed="rId3" cstate="print"/>
          <a:srcRect b="13918"/>
          <a:stretch>
            <a:fillRect/>
          </a:stretch>
        </p:blipFill>
        <p:spPr bwMode="auto">
          <a:xfrm>
            <a:off x="2555776" y="3121496"/>
            <a:ext cx="6305649" cy="3403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17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Review Questions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968552"/>
          </a:xfrm>
        </p:spPr>
        <p:txBody>
          <a:bodyPr>
            <a:normAutofit/>
          </a:bodyPr>
          <a:lstStyle/>
          <a:p>
            <a:r>
              <a:rPr lang="en-US" dirty="0" smtClean="0"/>
              <a:t>How instruction level parallelism is different from machine parallelism?</a:t>
            </a:r>
          </a:p>
          <a:p>
            <a:r>
              <a:rPr lang="en-US" dirty="0" smtClean="0"/>
              <a:t>Identify the various data hazards among the following instructions?</a:t>
            </a:r>
          </a:p>
          <a:p>
            <a:pPr lvl="1"/>
            <a:r>
              <a:rPr lang="en-US" dirty="0" smtClean="0"/>
              <a:t>I1: R1=20</a:t>
            </a:r>
          </a:p>
          <a:p>
            <a:pPr lvl="1"/>
            <a:r>
              <a:rPr lang="en-US" dirty="0" smtClean="0"/>
              <a:t>I2: R1=R3+R4</a:t>
            </a:r>
          </a:p>
          <a:p>
            <a:pPr lvl="1"/>
            <a:r>
              <a:rPr lang="en-US" dirty="0" smtClean="0"/>
              <a:t>I3: R2=R4-10</a:t>
            </a:r>
          </a:p>
          <a:p>
            <a:pPr lvl="1"/>
            <a:r>
              <a:rPr lang="en-US" dirty="0" smtClean="0"/>
              <a:t>I4: R4=R1+R2</a:t>
            </a:r>
          </a:p>
          <a:p>
            <a:pPr lvl="1"/>
            <a:r>
              <a:rPr lang="en-US" dirty="0" smtClean="0"/>
              <a:t>I5: R2=R1+40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23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12776"/>
            <a:ext cx="8640960" cy="4853136"/>
          </a:xfrm>
        </p:spPr>
        <p:txBody>
          <a:bodyPr>
            <a:normAutofit/>
          </a:bodyPr>
          <a:lstStyle/>
          <a:p>
            <a:r>
              <a:rPr lang="en-US" dirty="0" smtClean="0"/>
              <a:t>Instruction level Parallelism vs. Machine level parallelism</a:t>
            </a:r>
          </a:p>
          <a:p>
            <a:r>
              <a:rPr lang="en-US" dirty="0" smtClean="0"/>
              <a:t>Superscalar Pipeline’s Performance Limitation Factors</a:t>
            </a:r>
          </a:p>
          <a:p>
            <a:r>
              <a:rPr lang="en-US" dirty="0" smtClean="0"/>
              <a:t>Superscalar Processor Design Issues</a:t>
            </a:r>
          </a:p>
          <a:p>
            <a:r>
              <a:rPr lang="en-US" dirty="0" smtClean="0"/>
              <a:t>Register Renaming  </a:t>
            </a:r>
          </a:p>
          <a:p>
            <a:pPr lvl="1"/>
            <a:r>
              <a:rPr lang="en-US" dirty="0" smtClean="0"/>
              <a:t>Eliminates WAR and WAW hazards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24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4400" dirty="0" smtClean="0"/>
              <a:t>Thank You!</a:t>
            </a:r>
            <a:endParaRPr lang="en-US" sz="4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F776DB-C4B4-46F1-926D-41EFCFC3A86A}" type="slidenum">
              <a:rPr lang="en-IN" smtClean="0"/>
              <a:pPr/>
              <a:t>25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994405D97371449A1F1274BEB9B26D" ma:contentTypeVersion="7" ma:contentTypeDescription="Create a new document." ma:contentTypeScope="" ma:versionID="4d714d6f4e02b8797c18bae80915866a">
  <xsd:schema xmlns:xsd="http://www.w3.org/2001/XMLSchema" xmlns:xs="http://www.w3.org/2001/XMLSchema" xmlns:p="http://schemas.microsoft.com/office/2006/metadata/properties" xmlns:ns2="682cbc32-fee7-4912-b25f-d1e036e61d30" targetNamespace="http://schemas.microsoft.com/office/2006/metadata/properties" ma:root="true" ma:fieldsID="89d7d93295ea2ddc158f52b603a4dbe0" ns2:_="">
    <xsd:import namespace="682cbc32-fee7-4912-b25f-d1e036e61d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2cbc32-fee7-4912-b25f-d1e036e61d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9C10DFC-818E-4B62-9FC6-36535F890A85}"/>
</file>

<file path=customXml/itemProps2.xml><?xml version="1.0" encoding="utf-8"?>
<ds:datastoreItem xmlns:ds="http://schemas.openxmlformats.org/officeDocument/2006/customXml" ds:itemID="{785DCBA8-AF29-47A4-883F-082B5C436CBE}"/>
</file>

<file path=customXml/itemProps3.xml><?xml version="1.0" encoding="utf-8"?>
<ds:datastoreItem xmlns:ds="http://schemas.openxmlformats.org/officeDocument/2006/customXml" ds:itemID="{41ED0770-B16E-4E61-AF5B-0AC663F77EC0}"/>
</file>

<file path=docProps/app.xml><?xml version="1.0" encoding="utf-8"?>
<Properties xmlns="http://schemas.openxmlformats.org/officeDocument/2006/extended-properties" xmlns:vt="http://schemas.openxmlformats.org/officeDocument/2006/docPropsVTypes">
  <TotalTime>2633</TotalTime>
  <Words>964</Words>
  <Application>Microsoft Office PowerPoint</Application>
  <PresentationFormat>On-screen Show (4:3)</PresentationFormat>
  <Paragraphs>179</Paragraphs>
  <Slides>25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7" baseType="lpstr">
      <vt:lpstr>Office Theme</vt:lpstr>
      <vt:lpstr>1_Office Theme</vt:lpstr>
      <vt:lpstr>Computer Organization &amp; Architecture</vt:lpstr>
      <vt:lpstr>Slide 2</vt:lpstr>
      <vt:lpstr>Introduction</vt:lpstr>
      <vt:lpstr>What is Superscalar?</vt:lpstr>
      <vt:lpstr>Super Scalar vs. Super Pipeline</vt:lpstr>
      <vt:lpstr>Limitations</vt:lpstr>
      <vt:lpstr>Procedural/Instruction Hazards</vt:lpstr>
      <vt:lpstr>Resource Conflict</vt:lpstr>
      <vt:lpstr>Data Hazards/Conflicts</vt:lpstr>
      <vt:lpstr>Effect of Hazards/ Dependencies</vt:lpstr>
      <vt:lpstr>Superscalar Processor Design Issues</vt:lpstr>
      <vt:lpstr>Instruction Issue Policy</vt:lpstr>
      <vt:lpstr>Issue Policies</vt:lpstr>
      <vt:lpstr>Example: Issue Policies-1</vt:lpstr>
      <vt:lpstr>Example: Issue Policies-2</vt:lpstr>
      <vt:lpstr>In-Order Issue In-Order Completion</vt:lpstr>
      <vt:lpstr>In-Order Issue Out-of-Order Completion</vt:lpstr>
      <vt:lpstr>Out-of-Order Issue Out-of-Order Completion</vt:lpstr>
      <vt:lpstr>Register Renaming</vt:lpstr>
      <vt:lpstr>Register Renaming</vt:lpstr>
      <vt:lpstr>Superscalar Execution</vt:lpstr>
      <vt:lpstr>Machine Parallelism</vt:lpstr>
      <vt:lpstr>Review Questions</vt:lpstr>
      <vt:lpstr>Summary</vt:lpstr>
      <vt:lpstr>Slide 25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lakshya</dc:creator>
  <cp:lastModifiedBy>Dell</cp:lastModifiedBy>
  <cp:revision>266</cp:revision>
  <dcterms:created xsi:type="dcterms:W3CDTF">2012-01-02T05:05:52Z</dcterms:created>
  <dcterms:modified xsi:type="dcterms:W3CDTF">2012-07-02T05:32:19Z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0x01010028994405D97371449A1F1274BEB9B26D</vt:lpwstr>
  </property>
</Properties>
</file>