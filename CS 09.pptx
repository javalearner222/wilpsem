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75" r:id="rId3"/>
    <p:sldMasterId id="2147483693" r:id="rId4"/>
  </p:sldMasterIdLst>
  <p:notesMasterIdLst>
    <p:notesMasterId r:id="rId69"/>
  </p:notesMasterIdLst>
  <p:sldIdLst>
    <p:sldId id="908" r:id="rId5"/>
    <p:sldId id="455" r:id="rId6"/>
    <p:sldId id="265" r:id="rId7"/>
    <p:sldId id="456" r:id="rId8"/>
    <p:sldId id="266" r:id="rId9"/>
    <p:sldId id="267" r:id="rId10"/>
    <p:sldId id="268" r:id="rId11"/>
    <p:sldId id="269" r:id="rId12"/>
    <p:sldId id="270" r:id="rId13"/>
    <p:sldId id="379" r:id="rId14"/>
    <p:sldId id="380" r:id="rId15"/>
    <p:sldId id="381" r:id="rId16"/>
    <p:sldId id="271" r:id="rId17"/>
    <p:sldId id="272" r:id="rId18"/>
    <p:sldId id="317" r:id="rId19"/>
    <p:sldId id="316" r:id="rId20"/>
    <p:sldId id="273" r:id="rId21"/>
    <p:sldId id="274" r:id="rId22"/>
    <p:sldId id="275" r:id="rId23"/>
    <p:sldId id="276" r:id="rId24"/>
    <p:sldId id="385" r:id="rId25"/>
    <p:sldId id="386" r:id="rId26"/>
    <p:sldId id="387" r:id="rId27"/>
    <p:sldId id="388" r:id="rId28"/>
    <p:sldId id="389" r:id="rId29"/>
    <p:sldId id="390" r:id="rId30"/>
    <p:sldId id="277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463" r:id="rId66"/>
    <p:sldId id="318" r:id="rId67"/>
    <p:sldId id="314" r:id="rId6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48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4-12-07T12:00:52.30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13916 16694 0,'25'0'63,"-1"0"-48,1 49 17,0-24-17,-25 25 17,25-50-17,99-323 48,74-123-32,-99 297 0,-74 124 63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A90880-5487-416B-96B6-5B547A4D6D00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27954-F1D1-4786-963F-463C6C996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173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844f2ff69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2" name="Google Shape;392;g1844f2ff69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6A82E060-65ED-4229-B81E-5563A7566A1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31D432E5-7363-40E6-9D92-39833C8436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50C3D220-35A3-4291-997D-3C6C1D27AF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4957D4D-8C2D-4693-9CA4-BD951F5A6E0A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F2241915-6782-4E4D-B33A-8AB3D97C35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6D3F5AD2-27C5-453F-A86D-2DE94F0030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6B8DDC54-EEF9-4151-96A6-5F62F443A0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F50C5D-36E7-4F7C-81C8-35FD5876F3C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FA0BC024-79BC-4041-9CF2-204C7B3A15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EF5E6AC6-BB7F-4332-AB12-8B30F7E11F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E9E903D3-5C4F-4EF9-9EB8-7740D9356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196E2C-DCBC-4554-B4A8-5841282DE2D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B316FD17-AFCA-41B8-85F0-0F3F76098D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F057BD74-31E0-43D6-87EE-7DA6E1FB42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E6251FD5-D2FB-4841-912D-0EF40CA0C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89D8C5-350B-4EB5-BC38-F2550307AE3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F2A092EE-B7E1-45BE-9592-81BFDE5D898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87D3C15D-D598-4EB9-8CEE-B98961F899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0FB2E8B0-7FB4-400B-9D91-02173C5D49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F00D36-3974-423D-8CF1-1051A49AA1FF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926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20D9BB35-C182-41C0-BDBD-F88BD14A21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016ECC25-5A3F-4905-811F-16A1912A4C4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A62BB0CC-1A32-4543-ABDE-CF509F22C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935013-A593-455A-B3A6-B6D13668F52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9423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DA6FC563-4F6F-49E8-BC9A-9B5D8E7BC7A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97E6C4D3-D0C6-4699-8397-51AE20CBBA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7899FF79-00AD-4E21-8B68-563CA94743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7C2127-63B5-420A-925C-8321D7ED392D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3228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550C96AF-BD32-424C-936A-65DB18E8D5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7D0090D1-A58E-40DD-9AB3-AC0CCAD1200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45682D26-4179-4AD1-AE12-AA199750D7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304A0C9-610B-42D0-8BCC-DA720FDDDE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2235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DA4C81AD-2687-4778-AE63-250322641DC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A2D52020-3AD2-43D7-A52F-E537D6D4C10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87256992-A285-45C0-BBC1-E87CF506B6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ECD235-1FBC-4868-B145-A5094A4387A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06046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9537FC20-A61D-4084-991D-1074EBD797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B2DEDE20-D692-423F-B73A-87928F06A9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6359C568-14FE-4477-A742-C0C7F517A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99EFAB-AAD1-4775-ACFE-52A9B00A1DD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9849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Object-Oriented Programming </a:t>
            </a:r>
            <a:r>
              <a:rPr dirty="0"/>
              <a:t>(CS</a:t>
            </a:r>
            <a:r>
              <a:rPr spc="-55" dirty="0"/>
              <a:t> </a:t>
            </a:r>
            <a:r>
              <a:rPr dirty="0"/>
              <a:t>F213)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00" b="1" i="1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Object-Oriented Programming </a:t>
            </a:r>
            <a:r>
              <a:rPr dirty="0"/>
              <a:t>(CS</a:t>
            </a:r>
            <a:r>
              <a:rPr spc="-55" dirty="0"/>
              <a:t> </a:t>
            </a:r>
            <a:r>
              <a:rPr dirty="0"/>
              <a:t>F213)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00" b="1" i="1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Object-Oriented Programming </a:t>
            </a:r>
            <a:r>
              <a:rPr dirty="0"/>
              <a:t>(CS</a:t>
            </a:r>
            <a:r>
              <a:rPr spc="-55" dirty="0"/>
              <a:t> </a:t>
            </a:r>
            <a:r>
              <a:rPr dirty="0"/>
              <a:t>F213)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00" b="1" i="1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Object-Oriented Programming </a:t>
            </a:r>
            <a:r>
              <a:rPr dirty="0"/>
              <a:t>(CS</a:t>
            </a:r>
            <a:r>
              <a:rPr spc="-55" dirty="0"/>
              <a:t> </a:t>
            </a:r>
            <a:r>
              <a:rPr dirty="0"/>
              <a:t>F213)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3352800"/>
            <a:ext cx="8686800" cy="2743200"/>
          </a:xfrm>
          <a:custGeom>
            <a:avLst/>
            <a:gdLst/>
            <a:ahLst/>
            <a:cxnLst/>
            <a:rect l="l" t="t" r="r" b="b"/>
            <a:pathLst>
              <a:path w="8686800" h="2743200">
                <a:moveTo>
                  <a:pt x="8686800" y="0"/>
                </a:moveTo>
                <a:lnTo>
                  <a:pt x="0" y="0"/>
                </a:lnTo>
                <a:lnTo>
                  <a:pt x="0" y="2743200"/>
                </a:lnTo>
                <a:lnTo>
                  <a:pt x="8686800" y="2743200"/>
                </a:lnTo>
                <a:lnTo>
                  <a:pt x="8686800" y="0"/>
                </a:lnTo>
                <a:close/>
              </a:path>
            </a:pathLst>
          </a:custGeom>
          <a:solidFill>
            <a:srgbClr val="0F11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895600" y="6096000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6096000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791200" y="6096000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6200" y="3352800"/>
            <a:ext cx="2057400" cy="19796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Object-Oriented Programming </a:t>
            </a:r>
            <a:r>
              <a:rPr dirty="0"/>
              <a:t>(CS</a:t>
            </a:r>
            <a:r>
              <a:rPr spc="-55" dirty="0"/>
              <a:t> </a:t>
            </a:r>
            <a:r>
              <a:rPr dirty="0"/>
              <a:t>F213)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 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844f2ff692_0_95"/>
          <p:cNvSpPr txBox="1">
            <a:spLocks noGrp="1"/>
          </p:cNvSpPr>
          <p:nvPr>
            <p:ph type="body" idx="1"/>
          </p:nvPr>
        </p:nvSpPr>
        <p:spPr>
          <a:xfrm>
            <a:off x="152401" y="1417319"/>
            <a:ext cx="8839200" cy="4907400"/>
          </a:xfrm>
          <a:prstGeom prst="rect">
            <a:avLst/>
          </a:prstGeom>
          <a:gradFill>
            <a:gsLst>
              <a:gs pos="0">
                <a:srgbClr val="F9F7FB">
                  <a:alpha val="34509"/>
                </a:srgbClr>
              </a:gs>
              <a:gs pos="35000">
                <a:srgbClr val="F5F8EF">
                  <a:alpha val="37647"/>
                </a:srgbClr>
              </a:gs>
              <a:gs pos="100000">
                <a:srgbClr val="FFFFFF">
                  <a:alpha val="52549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72000" tIns="36000" rIns="72000" bIns="36000" anchor="t" anchorCtr="0">
            <a:normAutofit/>
          </a:bodyPr>
          <a:lstStyle>
            <a:lvl1pPr marL="430790" marR="0" lvl="0" indent="-215395" algn="l">
              <a:lnSpc>
                <a:spcPct val="100000"/>
              </a:lnSpc>
              <a:spcBef>
                <a:spcPts val="452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262">
                <a:latin typeface="Arial"/>
                <a:ea typeface="Arial"/>
                <a:cs typeface="Arial"/>
                <a:sym typeface="Arial"/>
              </a:defRPr>
            </a:lvl1pPr>
            <a:lvl2pPr marL="861579" marR="0" lvl="1" indent="-358992" algn="l">
              <a:lnSpc>
                <a:spcPct val="100000"/>
              </a:lnSpc>
              <a:spcBef>
                <a:spcPts val="452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262">
                <a:latin typeface="Arial"/>
                <a:ea typeface="Arial"/>
                <a:cs typeface="Arial"/>
                <a:sym typeface="Arial"/>
              </a:defRPr>
            </a:lvl2pPr>
            <a:lvl3pPr marL="1292369" lvl="2" indent="-335059" algn="l">
              <a:lnSpc>
                <a:spcPct val="100000"/>
              </a:lnSpc>
              <a:spcBef>
                <a:spcPts val="37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885"/>
            </a:lvl3pPr>
            <a:lvl4pPr marL="1723159" lvl="3" indent="-335059" algn="l">
              <a:lnSpc>
                <a:spcPct val="100000"/>
              </a:lnSpc>
              <a:spcBef>
                <a:spcPts val="37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153948" lvl="4" indent="-335059" algn="l">
              <a:lnSpc>
                <a:spcPct val="100000"/>
              </a:lnSpc>
              <a:spcBef>
                <a:spcPts val="377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marL="2584738" lvl="5" indent="-323093" algn="l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15528" lvl="6" indent="-323093" algn="l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446317" lvl="7" indent="-323093" algn="l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877107" lvl="8" indent="-323093" algn="l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3" name="Google Shape;33;g1844f2ff692_0_95"/>
          <p:cNvGrpSpPr/>
          <p:nvPr/>
        </p:nvGrpSpPr>
        <p:grpSpPr>
          <a:xfrm>
            <a:off x="2083888" y="6550672"/>
            <a:ext cx="7060186" cy="48601"/>
            <a:chOff x="2083888" y="6550671"/>
            <a:chExt cx="7060186" cy="48601"/>
          </a:xfrm>
        </p:grpSpPr>
        <p:sp>
          <p:nvSpPr>
            <p:cNvPr id="34" name="Google Shape;34;g1844f2ff692_0_95"/>
            <p:cNvSpPr/>
            <p:nvPr/>
          </p:nvSpPr>
          <p:spPr>
            <a:xfrm>
              <a:off x="4630476" y="6550672"/>
              <a:ext cx="2328600" cy="48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96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g1844f2ff692_0_95"/>
            <p:cNvSpPr/>
            <p:nvPr/>
          </p:nvSpPr>
          <p:spPr>
            <a:xfrm>
              <a:off x="6907874" y="6550671"/>
              <a:ext cx="2236200" cy="45600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96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g1844f2ff692_0_95"/>
            <p:cNvSpPr/>
            <p:nvPr/>
          </p:nvSpPr>
          <p:spPr>
            <a:xfrm>
              <a:off x="2083888" y="6550672"/>
              <a:ext cx="2580600" cy="48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96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" name="Google Shape;37;g1844f2ff692_0_95" descr="Picture 7.png"/>
          <p:cNvPicPr preferRelativeResize="0"/>
          <p:nvPr/>
        </p:nvPicPr>
        <p:blipFill rotWithShape="1">
          <a:blip r:embed="rId2">
            <a:alphaModFix/>
          </a:blip>
          <a:srcRect l="1921" b="5338"/>
          <a:stretch/>
        </p:blipFill>
        <p:spPr>
          <a:xfrm>
            <a:off x="6950808" y="0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" name="Google Shape;38;g1844f2ff692_0_95"/>
          <p:cNvGrpSpPr/>
          <p:nvPr/>
        </p:nvGrpSpPr>
        <p:grpSpPr>
          <a:xfrm>
            <a:off x="2133600" y="6553200"/>
            <a:ext cx="7010409" cy="45600"/>
            <a:chOff x="1905000" y="6553200"/>
            <a:chExt cx="7010409" cy="45600"/>
          </a:xfrm>
        </p:grpSpPr>
        <p:sp>
          <p:nvSpPr>
            <p:cNvPr id="39" name="Google Shape;39;g1844f2ff692_0_95"/>
            <p:cNvSpPr/>
            <p:nvPr/>
          </p:nvSpPr>
          <p:spPr>
            <a:xfrm>
              <a:off x="4267200" y="6553200"/>
              <a:ext cx="2328600" cy="45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96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g1844f2ff692_0_95"/>
            <p:cNvSpPr/>
            <p:nvPr/>
          </p:nvSpPr>
          <p:spPr>
            <a:xfrm>
              <a:off x="1905000" y="6553200"/>
              <a:ext cx="2362200" cy="45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96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g1844f2ff692_0_95"/>
            <p:cNvSpPr/>
            <p:nvPr/>
          </p:nvSpPr>
          <p:spPr>
            <a:xfrm>
              <a:off x="6586809" y="6553200"/>
              <a:ext cx="2328600" cy="456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96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" name="Google Shape;42;g1844f2ff692_0_95"/>
          <p:cNvGrpSpPr/>
          <p:nvPr/>
        </p:nvGrpSpPr>
        <p:grpSpPr>
          <a:xfrm>
            <a:off x="1" y="1295400"/>
            <a:ext cx="7010409" cy="45600"/>
            <a:chOff x="1905000" y="6553200"/>
            <a:chExt cx="7010409" cy="45600"/>
          </a:xfrm>
        </p:grpSpPr>
        <p:sp>
          <p:nvSpPr>
            <p:cNvPr id="43" name="Google Shape;43;g1844f2ff692_0_95"/>
            <p:cNvSpPr/>
            <p:nvPr/>
          </p:nvSpPr>
          <p:spPr>
            <a:xfrm>
              <a:off x="4267200" y="6553200"/>
              <a:ext cx="2328600" cy="45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96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g1844f2ff692_0_95"/>
            <p:cNvSpPr/>
            <p:nvPr/>
          </p:nvSpPr>
          <p:spPr>
            <a:xfrm>
              <a:off x="1905000" y="6553200"/>
              <a:ext cx="2362200" cy="45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96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g1844f2ff692_0_95"/>
            <p:cNvSpPr/>
            <p:nvPr/>
          </p:nvSpPr>
          <p:spPr>
            <a:xfrm>
              <a:off x="6586809" y="6553200"/>
              <a:ext cx="2328600" cy="456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96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" name="Google Shape;46;g1844f2ff692_0_95" descr="Large confetti"/>
          <p:cNvSpPr txBox="1">
            <a:spLocks noGrp="1"/>
          </p:cNvSpPr>
          <p:nvPr>
            <p:ph type="title"/>
          </p:nvPr>
        </p:nvSpPr>
        <p:spPr>
          <a:xfrm>
            <a:off x="66239" y="26442"/>
            <a:ext cx="6791700" cy="11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392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1655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0B4C62-2842-4767-8CBD-0D849CD77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825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825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5" name="Group 11">
            <a:extLst>
              <a:ext uri="{FF2B5EF4-FFF2-40B4-BE49-F238E27FC236}">
                <a16:creationId xmlns:a16="http://schemas.microsoft.com/office/drawing/2014/main" id="{52A99861-16D0-4117-9257-3A3354D64B78}"/>
              </a:ext>
            </a:extLst>
          </p:cNvPr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CDE249F-6E84-46F9-92A6-F06877678CE3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8C6D309-47BA-4A3A-A0C0-69DC995500F8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0D3E15-F336-47A6-9B47-D298AD170823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</p:grpSp>
      <p:pic>
        <p:nvPicPr>
          <p:cNvPr id="9" name="Picture 11" descr="Picture 7.png">
            <a:extLst>
              <a:ext uri="{FF2B5EF4-FFF2-40B4-BE49-F238E27FC236}">
                <a16:creationId xmlns:a16="http://schemas.microsoft.com/office/drawing/2014/main" id="{2E0FB5CA-05FC-40A5-9DF6-0CF0AE7681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>
            <a:extLst>
              <a:ext uri="{FF2B5EF4-FFF2-40B4-BE49-F238E27FC236}">
                <a16:creationId xmlns:a16="http://schemas.microsoft.com/office/drawing/2014/main" id="{5153E015-5CAD-4344-B986-BED29E7C3D9C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8A5E40-5AE4-4BD2-B486-2D982604B2B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AB7398-FA24-41AC-A50F-9F8A090EB7A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44EE86-0273-4426-BF39-A0205C754FE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</p:grpSp>
      <p:grpSp>
        <p:nvGrpSpPr>
          <p:cNvPr id="14" name="Group 22">
            <a:extLst>
              <a:ext uri="{FF2B5EF4-FFF2-40B4-BE49-F238E27FC236}">
                <a16:creationId xmlns:a16="http://schemas.microsoft.com/office/drawing/2014/main" id="{E1AFD123-4D87-41B7-813A-2A5AE4FD2D4D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F13209B-54A9-4A47-B335-DA08FC15979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734A40-34FB-4F22-8B34-D06935B7487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2CC8620-4C65-44BE-9B9D-EB3949C54F0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2"/>
            <a:ext cx="8229600" cy="1329595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3728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0B4C62-2842-4767-8CBD-0D849CD77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825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825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5" name="Group 11">
            <a:extLst>
              <a:ext uri="{FF2B5EF4-FFF2-40B4-BE49-F238E27FC236}">
                <a16:creationId xmlns:a16="http://schemas.microsoft.com/office/drawing/2014/main" id="{52A99861-16D0-4117-9257-3A3354D64B78}"/>
              </a:ext>
            </a:extLst>
          </p:cNvPr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CDE249F-6E84-46F9-92A6-F06877678CE3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8C6D309-47BA-4A3A-A0C0-69DC995500F8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0D3E15-F336-47A6-9B47-D298AD170823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</p:grpSp>
      <p:pic>
        <p:nvPicPr>
          <p:cNvPr id="9" name="Picture 11" descr="Picture 7.png">
            <a:extLst>
              <a:ext uri="{FF2B5EF4-FFF2-40B4-BE49-F238E27FC236}">
                <a16:creationId xmlns:a16="http://schemas.microsoft.com/office/drawing/2014/main" id="{2E0FB5CA-05FC-40A5-9DF6-0CF0AE7681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>
            <a:extLst>
              <a:ext uri="{FF2B5EF4-FFF2-40B4-BE49-F238E27FC236}">
                <a16:creationId xmlns:a16="http://schemas.microsoft.com/office/drawing/2014/main" id="{5153E015-5CAD-4344-B986-BED29E7C3D9C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8A5E40-5AE4-4BD2-B486-2D982604B2B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AB7398-FA24-41AC-A50F-9F8A090EB7A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44EE86-0273-4426-BF39-A0205C754FE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</p:grpSp>
      <p:grpSp>
        <p:nvGrpSpPr>
          <p:cNvPr id="14" name="Group 22">
            <a:extLst>
              <a:ext uri="{FF2B5EF4-FFF2-40B4-BE49-F238E27FC236}">
                <a16:creationId xmlns:a16="http://schemas.microsoft.com/office/drawing/2014/main" id="{E1AFD123-4D87-41B7-813A-2A5AE4FD2D4D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F13209B-54A9-4A47-B335-DA08FC15979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734A40-34FB-4F22-8B34-D06935B7487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2CC8620-4C65-44BE-9B9D-EB3949C54F0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2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0358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Object-Oriented Programming </a:t>
            </a:r>
            <a:r>
              <a:rPr dirty="0"/>
              <a:t>(CS</a:t>
            </a:r>
            <a:r>
              <a:rPr spc="-55" dirty="0"/>
              <a:t> </a:t>
            </a:r>
            <a:r>
              <a:rPr dirty="0"/>
              <a:t>F213)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213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00" b="1" i="1">
                <a:solidFill>
                  <a:srgbClr val="FF0000"/>
                </a:solidFill>
                <a:latin typeface="Arial Rounded MT Bold"/>
                <a:cs typeface="Arial Rounded MT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Object-Oriented Programming </a:t>
            </a:r>
            <a:r>
              <a:rPr dirty="0"/>
              <a:t>(CS</a:t>
            </a:r>
            <a:r>
              <a:rPr spc="-55" dirty="0"/>
              <a:t> </a:t>
            </a:r>
            <a:r>
              <a:rPr dirty="0"/>
              <a:t>F213)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9613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00" b="1" i="1">
                <a:solidFill>
                  <a:srgbClr val="FF0000"/>
                </a:solidFill>
                <a:latin typeface="Arial Rounded MT Bold"/>
                <a:cs typeface="Arial Rounded MT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Object-Oriented Programming </a:t>
            </a:r>
            <a:r>
              <a:rPr dirty="0"/>
              <a:t>(CS</a:t>
            </a:r>
            <a:r>
              <a:rPr spc="-55" dirty="0"/>
              <a:t> </a:t>
            </a:r>
            <a:r>
              <a:rPr dirty="0"/>
              <a:t>F213)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076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400" b="1" i="1">
                <a:solidFill>
                  <a:srgbClr val="FF0000"/>
                </a:solidFill>
                <a:latin typeface="Arial Rounded MT Bold"/>
                <a:cs typeface="Arial Rounded MT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Object-Oriented Programming </a:t>
            </a:r>
            <a:r>
              <a:rPr dirty="0"/>
              <a:t>(CS</a:t>
            </a:r>
            <a:r>
              <a:rPr spc="-55" dirty="0"/>
              <a:t> </a:t>
            </a:r>
            <a:r>
              <a:rPr dirty="0"/>
              <a:t>F213)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4170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3352800"/>
            <a:ext cx="8686800" cy="2743200"/>
          </a:xfrm>
          <a:custGeom>
            <a:avLst/>
            <a:gdLst/>
            <a:ahLst/>
            <a:cxnLst/>
            <a:rect l="l" t="t" r="r" b="b"/>
            <a:pathLst>
              <a:path w="8686800" h="2743200">
                <a:moveTo>
                  <a:pt x="8686800" y="0"/>
                </a:moveTo>
                <a:lnTo>
                  <a:pt x="0" y="0"/>
                </a:lnTo>
                <a:lnTo>
                  <a:pt x="0" y="2743200"/>
                </a:lnTo>
                <a:lnTo>
                  <a:pt x="8686800" y="2743200"/>
                </a:lnTo>
                <a:lnTo>
                  <a:pt x="8686800" y="0"/>
                </a:lnTo>
                <a:close/>
              </a:path>
            </a:pathLst>
          </a:custGeom>
          <a:solidFill>
            <a:srgbClr val="0F11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895600" y="6096000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6096000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791200" y="6096000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6200" y="3352800"/>
            <a:ext cx="2057400" cy="19796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Object-Oriented Programming </a:t>
            </a:r>
            <a:r>
              <a:rPr dirty="0"/>
              <a:t>(CS</a:t>
            </a:r>
            <a:r>
              <a:rPr spc="-55" dirty="0"/>
              <a:t> </a:t>
            </a:r>
            <a:r>
              <a:rPr dirty="0"/>
              <a:t>F213)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540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E095A9-80B4-4FE7-9E61-C6EE1FF79106}"/>
              </a:ext>
            </a:extLst>
          </p:cNvPr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42F09A-29F4-4136-BA54-3F52094931FE}"/>
              </a:ext>
            </a:extLst>
          </p:cNvPr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3E645D-696E-4271-85DC-9B442C1119FC}"/>
              </a:ext>
            </a:extLst>
          </p:cNvPr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CB3FD6-873F-4A9C-B46C-7F1027DC3546}"/>
              </a:ext>
            </a:extLst>
          </p:cNvPr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7" name="Picture 10" descr="BITS_university_logo_whitevert.png">
            <a:extLst>
              <a:ext uri="{FF2B5EF4-FFF2-40B4-BE49-F238E27FC236}">
                <a16:creationId xmlns:a16="http://schemas.microsoft.com/office/drawing/2014/main" id="{2ACA944D-1DD9-4988-B63E-4A8183BC8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AC746F-2FB4-4259-9EE0-AC5F3D6540F9}"/>
              </a:ext>
            </a:extLst>
          </p:cNvPr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3DEAFC-3E12-4A36-80AD-C15D30572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667376"/>
            <a:ext cx="1905000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9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ctr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3361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9FA685-348D-49D7-9443-CF21857A163E}"/>
              </a:ext>
            </a:extLst>
          </p:cNvPr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18A412-4A29-45F6-AC3E-39A472DD9C28}"/>
              </a:ext>
            </a:extLst>
          </p:cNvPr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02A174-2EDA-4C68-828F-4DE9FEB92067}"/>
              </a:ext>
            </a:extLst>
          </p:cNvPr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09AC46-D467-4B34-BD6B-EC694E9C319D}"/>
              </a:ext>
            </a:extLst>
          </p:cNvPr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9" name="Picture 10" descr="BITS_university_logo_whitevert.png">
            <a:extLst>
              <a:ext uri="{FF2B5EF4-FFF2-40B4-BE49-F238E27FC236}">
                <a16:creationId xmlns:a16="http://schemas.microsoft.com/office/drawing/2014/main" id="{B0FE7FE6-E8D0-4E8A-AFFC-D0E7FCFCFF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D1DE81-2CFF-4CFE-BB52-74BAF09DB18A}"/>
              </a:ext>
            </a:extLst>
          </p:cNvPr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4A0771-4556-4F4D-98FE-48C5C2806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667376"/>
            <a:ext cx="1905000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9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947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B0AE1769-8368-43FD-A555-4ADA093A8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DF74E82-16ED-45F0-BF97-F624735DDFB4}"/>
              </a:ext>
            </a:extLst>
          </p:cNvPr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pic>
        <p:nvPicPr>
          <p:cNvPr id="5" name="Picture 8" descr="Picture 7.png">
            <a:extLst>
              <a:ext uri="{FF2B5EF4-FFF2-40B4-BE49-F238E27FC236}">
                <a16:creationId xmlns:a16="http://schemas.microsoft.com/office/drawing/2014/main" id="{46933116-D7C8-4F5B-824C-A50BAD6B7C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7E231C-4086-4B6B-A13C-949769C36041}"/>
              </a:ext>
            </a:extLst>
          </p:cNvPr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5F3444-DD01-4772-9256-E957950BF6F4}"/>
              </a:ext>
            </a:extLst>
          </p:cNvPr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80CFF7-C6AD-4D1F-B7E4-B7CBF02FB2AF}"/>
              </a:ext>
            </a:extLst>
          </p:cNvPr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A7872-2C8C-40AA-BF80-3505B36BC4A4}"/>
              </a:ext>
            </a:extLst>
          </p:cNvPr>
          <p:cNvSpPr txBox="1"/>
          <p:nvPr/>
        </p:nvSpPr>
        <p:spPr>
          <a:xfrm>
            <a:off x="6858000" y="7620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75" b="1" spc="-113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175" spc="-113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F02DE3-BEEE-4543-BA00-EFA78AA2E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171576"/>
            <a:ext cx="1905000" cy="2308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9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90535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0B4C62-2842-4767-8CBD-0D849CD77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825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825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5" name="Group 11">
            <a:extLst>
              <a:ext uri="{FF2B5EF4-FFF2-40B4-BE49-F238E27FC236}">
                <a16:creationId xmlns:a16="http://schemas.microsoft.com/office/drawing/2014/main" id="{52A99861-16D0-4117-9257-3A3354D64B78}"/>
              </a:ext>
            </a:extLst>
          </p:cNvPr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CDE249F-6E84-46F9-92A6-F06877678CE3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8C6D309-47BA-4A3A-A0C0-69DC995500F8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0D3E15-F336-47A6-9B47-D298AD170823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</p:grpSp>
      <p:pic>
        <p:nvPicPr>
          <p:cNvPr id="9" name="Picture 11" descr="Picture 7.png">
            <a:extLst>
              <a:ext uri="{FF2B5EF4-FFF2-40B4-BE49-F238E27FC236}">
                <a16:creationId xmlns:a16="http://schemas.microsoft.com/office/drawing/2014/main" id="{2E0FB5CA-05FC-40A5-9DF6-0CF0AE7681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>
            <a:extLst>
              <a:ext uri="{FF2B5EF4-FFF2-40B4-BE49-F238E27FC236}">
                <a16:creationId xmlns:a16="http://schemas.microsoft.com/office/drawing/2014/main" id="{5153E015-5CAD-4344-B986-BED29E7C3D9C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8A5E40-5AE4-4BD2-B486-2D982604B2B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AB7398-FA24-41AC-A50F-9F8A090EB7A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44EE86-0273-4426-BF39-A0205C754FE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</p:grpSp>
      <p:grpSp>
        <p:nvGrpSpPr>
          <p:cNvPr id="14" name="Group 22">
            <a:extLst>
              <a:ext uri="{FF2B5EF4-FFF2-40B4-BE49-F238E27FC236}">
                <a16:creationId xmlns:a16="http://schemas.microsoft.com/office/drawing/2014/main" id="{E1AFD123-4D87-41B7-813A-2A5AE4FD2D4D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F13209B-54A9-4A47-B335-DA08FC15979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734A40-34FB-4F22-8B34-D06935B7487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2CC8620-4C65-44BE-9B9D-EB3949C54F0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2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6158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>
            <a:extLst>
              <a:ext uri="{FF2B5EF4-FFF2-40B4-BE49-F238E27FC236}">
                <a16:creationId xmlns:a16="http://schemas.microsoft.com/office/drawing/2014/main" id="{2684CF1E-9052-4FF3-8F29-36C0008F6B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9">
            <a:extLst>
              <a:ext uri="{FF2B5EF4-FFF2-40B4-BE49-F238E27FC236}">
                <a16:creationId xmlns:a16="http://schemas.microsoft.com/office/drawing/2014/main" id="{88656BD9-E4E8-48A4-A2B6-D1968F980762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B3D130-314C-4CF0-A2D3-957B05470C7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B8A3A31-3102-41AF-B6CE-93BE8F39516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EB57AE4-C902-4A8B-9FAD-D9F85D1FA856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</p:grpSp>
      <p:grpSp>
        <p:nvGrpSpPr>
          <p:cNvPr id="10" name="Group 28">
            <a:extLst>
              <a:ext uri="{FF2B5EF4-FFF2-40B4-BE49-F238E27FC236}">
                <a16:creationId xmlns:a16="http://schemas.microsoft.com/office/drawing/2014/main" id="{6B0383E2-DD00-4D45-A35B-5761A3AEBD3E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AA32FE9-725D-4A85-9BC2-E2162C9EB7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0A97CF1-8E11-4DB0-B179-A3343C39B36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C0C765E-D274-42D5-AB01-541B18D8810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3052C1A-016F-449B-A856-228B84E1C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825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825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2"/>
            <a:ext cx="4038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12321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>
            <a:extLst>
              <a:ext uri="{FF2B5EF4-FFF2-40B4-BE49-F238E27FC236}">
                <a16:creationId xmlns:a16="http://schemas.microsoft.com/office/drawing/2014/main" id="{B7B9A9F0-ED90-4008-9A21-F6F712834E33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B82BED9-A771-4B71-BD41-E80DDDF4207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5980D4D-05F5-4C6C-B5C9-48647B534EE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84C7FCD-67BF-44ED-9D02-C100493977F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</p:grpSp>
      <p:grpSp>
        <p:nvGrpSpPr>
          <p:cNvPr id="12" name="Group 15">
            <a:extLst>
              <a:ext uri="{FF2B5EF4-FFF2-40B4-BE49-F238E27FC236}">
                <a16:creationId xmlns:a16="http://schemas.microsoft.com/office/drawing/2014/main" id="{7412E3EF-823F-4651-B453-AF3B5AA1459E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F1818FA-88A0-4053-AFA6-26D8F3B92C9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B0EA17-CA0B-4005-9EAF-60D4B8762B0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2A70B7F-831D-44A3-9394-2D9F1F143A1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</p:grpSp>
      <p:pic>
        <p:nvPicPr>
          <p:cNvPr id="16" name="Picture 14" descr="Picture 7.png">
            <a:extLst>
              <a:ext uri="{FF2B5EF4-FFF2-40B4-BE49-F238E27FC236}">
                <a16:creationId xmlns:a16="http://schemas.microsoft.com/office/drawing/2014/main" id="{996B9B91-0E43-4776-9A2C-B6AF4B8D4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6CA5596-B9ED-417B-B1E0-C32698F84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825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825">
                <a:solidFill>
                  <a:srgbClr val="101141"/>
                </a:solidFill>
                <a:cs typeface="Arial" charset="0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201"/>
            <a:ext cx="4040188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2"/>
            <a:ext cx="4041775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362201"/>
            <a:ext cx="4041775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2142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>
            <a:extLst>
              <a:ext uri="{FF2B5EF4-FFF2-40B4-BE49-F238E27FC236}">
                <a16:creationId xmlns:a16="http://schemas.microsoft.com/office/drawing/2014/main" id="{6921A934-B042-41FE-9C5F-9EAADCDF0CE9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38613DC-B6A0-4876-AF25-8D384186B8D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2F74794-EFF5-47BA-ABCE-FA873958EC6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C0877DF-3963-4497-8EC7-A3D8E24CB8C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FCE1F628-C90C-47D7-A501-8ED98CA575A9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C395C1F-6EA8-4AC8-A6A5-152F36554DC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7C73B0C-C074-4AE8-9861-A6623513B57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D9DABC8-C4D9-42D2-BBB2-20ABABBF19C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</p:grpSp>
      <p:pic>
        <p:nvPicPr>
          <p:cNvPr id="12" name="Picture 14" descr="Picture 7.png">
            <a:extLst>
              <a:ext uri="{FF2B5EF4-FFF2-40B4-BE49-F238E27FC236}">
                <a16:creationId xmlns:a16="http://schemas.microsoft.com/office/drawing/2014/main" id="{ED21E0F8-59AE-4098-9AEB-079CF742FC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039035E-6E9E-4180-B962-AB1777BB0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825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825">
                <a:solidFill>
                  <a:srgbClr val="101141"/>
                </a:solidFill>
                <a:cs typeface="Arial" charset="0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63003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>
            <a:extLst>
              <a:ext uri="{FF2B5EF4-FFF2-40B4-BE49-F238E27FC236}">
                <a16:creationId xmlns:a16="http://schemas.microsoft.com/office/drawing/2014/main" id="{37DF5DB4-2B25-47FB-BEEB-360E8B4AE98B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DCF59F4-EAA6-40F6-BFC4-D106BCA3C8CB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997095B-7B10-4C94-AF02-000B368B336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57C78FF-D919-4FFB-88F7-5BCD52945A0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</p:grpSp>
      <p:grpSp>
        <p:nvGrpSpPr>
          <p:cNvPr id="10" name="Group 13">
            <a:extLst>
              <a:ext uri="{FF2B5EF4-FFF2-40B4-BE49-F238E27FC236}">
                <a16:creationId xmlns:a16="http://schemas.microsoft.com/office/drawing/2014/main" id="{75DBD920-CCE8-4A77-96B7-A77992985E05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0A4134A-F307-4458-873B-0555D484311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D0B241-DA75-4DCD-A8E8-22243D42474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828F3B0-BBBB-4CE7-984A-3CCCA86BE8AD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</p:grpSp>
      <p:pic>
        <p:nvPicPr>
          <p:cNvPr id="14" name="Picture 14" descr="Picture 7.png">
            <a:extLst>
              <a:ext uri="{FF2B5EF4-FFF2-40B4-BE49-F238E27FC236}">
                <a16:creationId xmlns:a16="http://schemas.microsoft.com/office/drawing/2014/main" id="{F15ED457-BEB5-4588-A50E-29B76CD242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5D660D4-6A3D-4890-98F4-E79D29F6E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825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825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2"/>
            <a:ext cx="5111750" cy="452596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600202"/>
            <a:ext cx="3008313" cy="45259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43331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411B6259-1CB3-416E-AB8D-3A43D4D50D3B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9624D06-7EF0-4532-8F1E-FC0126D45C7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49E44EB-7F47-444F-815C-7D565BF5B12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B3B02F-3F98-4C3E-A2EC-86F4E431AB2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5031C8E8-9E3F-4891-8C47-11040A69CA30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BBEFEA3-24FC-4979-B444-659A975BFF8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790A994-8FA0-48B7-8F35-A27CFFD279E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3756B5-C44C-419F-B218-FA8CE3E8E7C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</p:grpSp>
      <p:pic>
        <p:nvPicPr>
          <p:cNvPr id="14" name="Picture 14" descr="Picture 7.png">
            <a:extLst>
              <a:ext uri="{FF2B5EF4-FFF2-40B4-BE49-F238E27FC236}">
                <a16:creationId xmlns:a16="http://schemas.microsoft.com/office/drawing/2014/main" id="{70D77250-19B7-4AFE-8ACD-F7D6D0CE5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930859A-AC15-41FF-BF51-4F6F8F49E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825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825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35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98097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>
            <a:extLst>
              <a:ext uri="{FF2B5EF4-FFF2-40B4-BE49-F238E27FC236}">
                <a16:creationId xmlns:a16="http://schemas.microsoft.com/office/drawing/2014/main" id="{1E671B92-54D2-46FD-8C28-BC38563DE2B6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6F21680-303D-4944-BE4A-F1B498DE674B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29E2841-229F-437C-8C87-147F7590C0B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A140775-8697-4E34-93D3-9F82479D013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</p:grpSp>
      <p:grpSp>
        <p:nvGrpSpPr>
          <p:cNvPr id="8" name="Group 24">
            <a:extLst>
              <a:ext uri="{FF2B5EF4-FFF2-40B4-BE49-F238E27FC236}">
                <a16:creationId xmlns:a16="http://schemas.microsoft.com/office/drawing/2014/main" id="{DC318521-F7A8-4895-B1EE-F36BBF47A1B7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E4EB7D-0007-4396-9CAD-2B9EDFDD36A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ADD2DC1-5CDD-460D-9711-01619A5FFBE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814364F-D668-4BCE-BB8E-E9AB73F66B2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</p:grpSp>
      <p:pic>
        <p:nvPicPr>
          <p:cNvPr id="12" name="Picture 14" descr="Picture 7.png">
            <a:extLst>
              <a:ext uri="{FF2B5EF4-FFF2-40B4-BE49-F238E27FC236}">
                <a16:creationId xmlns:a16="http://schemas.microsoft.com/office/drawing/2014/main" id="{F7424A7E-E8A9-4292-BEA0-07A0FC7A94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5C67708-1998-45A2-A5D4-40082D705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5"/>
            <a:ext cx="5867400" cy="21929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825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825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77502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2A3FA2FF-124E-418A-816A-22DCA04AD1B6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5006182" y="2567783"/>
            <a:ext cx="5181600" cy="46037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161177A-762B-4496-B8FD-263C476E2256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4D305FC-90DE-4ABC-BA7A-74C62CC15C95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676177-D11F-42A4-92BB-BA4E677A5309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/>
            </a:p>
          </p:txBody>
        </p:sp>
      </p:grpSp>
      <p:pic>
        <p:nvPicPr>
          <p:cNvPr id="9" name="Picture 10" descr="Picture 7.png">
            <a:extLst>
              <a:ext uri="{FF2B5EF4-FFF2-40B4-BE49-F238E27FC236}">
                <a16:creationId xmlns:a16="http://schemas.microsoft.com/office/drawing/2014/main" id="{AAEE1496-EC23-4E0A-A021-62833EBB77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7937" y="381002"/>
            <a:ext cx="692151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B98BE4-181B-4972-8322-5EA4ABED571C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2794793" y="3826196"/>
            <a:ext cx="5867400" cy="19620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675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675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05442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DDC02-302F-4822-8911-E7C234EE608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21FC-226A-494B-93D8-8D0C532867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1111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DDC02-302F-4822-8911-E7C234EE608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21FC-226A-494B-93D8-8D0C532867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0937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3D2F31-780F-3A93-06B8-81691B353FA3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57CB00-7FF9-018D-63BA-6CE43676366B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BF1C1-F1FB-495F-1048-F7510A605982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21EF4D-330A-BD41-2F92-F56FD1C471ED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10" descr="BITS_university_logo_whitevert.png">
            <a:extLst>
              <a:ext uri="{FF2B5EF4-FFF2-40B4-BE49-F238E27FC236}">
                <a16:creationId xmlns:a16="http://schemas.microsoft.com/office/drawing/2014/main" id="{95428B64-9414-24E0-E067-A150ECF38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793E7D-86AA-0696-CCC5-DBFD48D69F9A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3D1701-5331-1104-1924-B0AC3960320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ctr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9188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C89698F-2BE9-74C4-A2E8-CE611F808D01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7083BB-0576-B56A-821C-5FEC97FBBC17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A1780D-E7FC-95E5-FE39-A3283677569F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7E8558-DFE4-4633-F75E-7973D2DFB05D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290D22DD-2F4E-9DF2-C1FD-09BA0B74F1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2C0FF4-9075-0615-AA8D-B1196F49DA77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FF3C7B-7D78-2778-7694-EC45A2F7EB9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475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BCF791C7-726C-8E84-7872-FE8AA4CA73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EC83615-E269-8423-8AED-FA69FEB4E61E}"/>
              </a:ext>
            </a:extLst>
          </p:cNvPr>
          <p:cNvSpPr/>
          <p:nvPr userDrawn="1"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8" descr="Picture 7.png">
            <a:extLst>
              <a:ext uri="{FF2B5EF4-FFF2-40B4-BE49-F238E27FC236}">
                <a16:creationId xmlns:a16="http://schemas.microsoft.com/office/drawing/2014/main" id="{3A68D957-DEBF-B80F-BB4D-BA95EA6BE9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E290557-CDDE-5E5E-B3F1-8DDCEAB73E3B}"/>
              </a:ext>
            </a:extLst>
          </p:cNvPr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90930B-2914-848E-2956-D7E8E668B025}"/>
              </a:ext>
            </a:extLst>
          </p:cNvPr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FB1FAB-481A-6DC1-718D-D6CD52A0CE74}"/>
              </a:ext>
            </a:extLst>
          </p:cNvPr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4BB935-79E0-9C77-FC1A-E90584166384}"/>
              </a:ext>
            </a:extLst>
          </p:cNvPr>
          <p:cNvSpPr txBox="1"/>
          <p:nvPr userDrawn="1"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C9835B-E329-CF53-A671-86B6991C3A4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363342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9962B3-B0FA-7ACB-BADB-8C57F5828D3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5A3F60FF-DADB-3FEB-DE6F-68A49F44F89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9389637-2014-8CAB-512B-0402228D156A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9D2CC9D-345F-A820-148F-29D7E5066271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D358C06-5B3D-4FDB-A844-BA3824C76E6F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DAE63506-FE50-D6BE-6090-E475C08B00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7BA044BF-32D7-F6A5-B7BF-7EF7936F8AC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C9D937-1399-BF58-F9BD-3465295B0B7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6C6DEC7-0688-AEE3-A278-C1C64362AA6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8758B83-0390-FB5F-7200-67A2082245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4BA87D3C-A073-531F-A1C7-535ACADB7BE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E17A165-FD08-B408-49A1-0191125871E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A7B3042-44AF-3E9F-B665-08523455027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DF3BA92-E294-2A4F-E315-3BB25773AD2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31906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icture 7.png">
            <a:extLst>
              <a:ext uri="{FF2B5EF4-FFF2-40B4-BE49-F238E27FC236}">
                <a16:creationId xmlns:a16="http://schemas.microsoft.com/office/drawing/2014/main" id="{C768DD7B-FCF9-C3C3-F51E-F73F817B8C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9">
            <a:extLst>
              <a:ext uri="{FF2B5EF4-FFF2-40B4-BE49-F238E27FC236}">
                <a16:creationId xmlns:a16="http://schemas.microsoft.com/office/drawing/2014/main" id="{06EFEB7A-C6DC-C8F2-B099-A93E788E9C7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C135F59-CF4B-63CF-E4E6-E8D36EE483F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034883A-BAD3-2416-7778-C9EFC9666E2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E056742-0E35-6ED2-BA18-C5D4821E6EB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28">
            <a:extLst>
              <a:ext uri="{FF2B5EF4-FFF2-40B4-BE49-F238E27FC236}">
                <a16:creationId xmlns:a16="http://schemas.microsoft.com/office/drawing/2014/main" id="{C8706305-4A7B-9D21-D29B-48100022BD8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FDA4114-157C-BDA1-0A07-D6A79DD316A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BF9E64-F97A-4CB8-E325-8723FFFC33DF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05994CF-9984-7C66-E6FC-6BD42AA824E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0268226-22F3-DEA7-D141-02B3785E5A8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63774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9164FA94-BCAD-057A-427E-965529451B2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1E9B8F7-5671-7D86-C56F-0F2D0178B2D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E6CF87F-D6CC-87FB-A40F-2AA2D171BF3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06E1A3F-7A69-9FFC-7210-03B9CB6387B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1" name="Group 15">
            <a:extLst>
              <a:ext uri="{FF2B5EF4-FFF2-40B4-BE49-F238E27FC236}">
                <a16:creationId xmlns:a16="http://schemas.microsoft.com/office/drawing/2014/main" id="{602ED944-785E-2D42-438A-AC8FCB731B9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84269D8-F709-50C0-2B19-9F9B5A55064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5D7C33-AFB2-7DF2-0F04-6E9E67B6D80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1D8A46-8D93-FA10-043B-EE60B601F63B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5" name="Picture 13" descr="Picture 7.png">
            <a:extLst>
              <a:ext uri="{FF2B5EF4-FFF2-40B4-BE49-F238E27FC236}">
                <a16:creationId xmlns:a16="http://schemas.microsoft.com/office/drawing/2014/main" id="{6E005737-8205-E040-1BE4-7A9395D970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B5F34AA-3A58-E825-FDB3-AEFD14C5A80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01267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8A3D3F42-0D36-DFF9-0EB5-6371E8229B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90D3E31-89D1-2457-D73F-478FA2B5AEA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379A579-F031-6A8D-A252-B6A953B92F6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D4CC4CA-F073-0A30-74A2-B7A1C4288FD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8F84F4BF-B44D-2C28-F81F-5C53A65ED0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2125B84-B2B8-DD21-ADD2-3DCCE8DB4C9D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F814E11-055E-7DF7-0D85-39EB67962CA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F09244-8093-6D3E-00EC-AB9D6B40585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C9378DDA-09BD-66A0-DBF2-3A8AE287B8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D0CC58-7B2A-FA7C-9F38-0474081480E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26418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8765FB91-C32C-21B8-C8F8-F1C32ACEA29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5155572-0C9B-4A98-6C86-DD4696E81B1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65695AD-D8D1-44BA-7030-B5F4DA1787F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C50E30-90A8-67FF-40E0-C6B1A7D77DC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13">
            <a:extLst>
              <a:ext uri="{FF2B5EF4-FFF2-40B4-BE49-F238E27FC236}">
                <a16:creationId xmlns:a16="http://schemas.microsoft.com/office/drawing/2014/main" id="{563219FC-BF31-A7EF-590F-380743CC31C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E6CA1FF-3819-8BD1-163B-0E25900BF14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87F2347-EBA9-1866-58AC-4ECCC76275E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7F80CC5-4402-ACB1-4EDF-604C9EC5415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3" name="Picture 14" descr="Picture 7.png">
            <a:extLst>
              <a:ext uri="{FF2B5EF4-FFF2-40B4-BE49-F238E27FC236}">
                <a16:creationId xmlns:a16="http://schemas.microsoft.com/office/drawing/2014/main" id="{95DF0734-E45E-E908-0705-1006F06079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1FD027-02F2-F1B4-BD56-46D38483DEC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48855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092EEAC6-00EC-650D-4B04-55F7D9F2E2A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DCBADFB-A57D-5D14-D37E-1D3B79F3CDB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8B2E83-010B-8C67-EE90-2CB1E797C6E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3D18854-1B0D-6021-6365-20E94A1B4D1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9D01C2B-0153-0B55-CB8C-98F390AA923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0219917-48AD-E0B5-5F38-1E1723A22A7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8E1DE18-14E5-66E5-D9E4-FA526D24034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24B2F3-38D2-BABA-81F8-937A8837ABB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4" name="Picture 14" descr="Picture 7.png">
            <a:extLst>
              <a:ext uri="{FF2B5EF4-FFF2-40B4-BE49-F238E27FC236}">
                <a16:creationId xmlns:a16="http://schemas.microsoft.com/office/drawing/2014/main" id="{7ECBE88E-FC10-D75B-0B8A-8FC59D53C8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E4FA241-7380-5CE4-E223-22740E3FB8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05425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>
            <a:extLst>
              <a:ext uri="{FF2B5EF4-FFF2-40B4-BE49-F238E27FC236}">
                <a16:creationId xmlns:a16="http://schemas.microsoft.com/office/drawing/2014/main" id="{35E1E351-2F0E-8BA1-7E11-D2FD7AB0675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8C45386-1DAC-B685-49DA-FDDD80DB9EC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C36B6BA-C270-7D4B-759E-023E13139E7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FBF6EDC-084A-EBCE-4645-978681553CD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24">
            <a:extLst>
              <a:ext uri="{FF2B5EF4-FFF2-40B4-BE49-F238E27FC236}">
                <a16:creationId xmlns:a16="http://schemas.microsoft.com/office/drawing/2014/main" id="{DAC62562-50D7-C2BE-89B8-C0652435446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1881FB1-95E1-E85A-DBA3-329248E5591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1C33162-69E6-8E4F-BFC0-D582B513E4C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E717241-0DC5-5B2F-767D-1F59757C407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DAFFA84F-FA16-6763-4D10-D4B19DD3BB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1FAF1B-F753-BEFB-BD65-CEBEC925EB5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54330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EE48EF3E-DE87-0E87-971A-A50A357F9AEC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03734C1-F40F-B99A-E7D7-8175CEBB6B63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E900D06-AB1D-2DEE-7C87-7C0EB1A6902C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3D517F8-3D5A-5BD3-A731-7D3356A9B9D8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0" descr="Picture 7.png">
            <a:extLst>
              <a:ext uri="{FF2B5EF4-FFF2-40B4-BE49-F238E27FC236}">
                <a16:creationId xmlns:a16="http://schemas.microsoft.com/office/drawing/2014/main" id="{4B372EFE-F5E3-3B17-55DB-B550703E5D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9213C5-2D83-9E32-6A36-8B9D6D7032AA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9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9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2298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94E4E3-3BAF-6A6A-4FCD-A07199BDC5A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1E1E98AC-F8D3-F1C9-D1A2-B498A39C3DC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2F71EA6-E530-C4B1-3F8C-0596D144A649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9FBA980-A763-DF18-E68C-2423EF4A3FEF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804117-B3D0-C494-57B6-22F50CA9F6C5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ECFC12DC-C0A3-8076-285F-3B336499C6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5F0EC896-BE6B-ABE6-B155-F0DB12EC810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9FDEDFA-BBA1-7B1D-DE25-DCE801622B4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06043E-B4CA-4A24-A33B-626548D6B15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D3751B9-4180-9DA9-BC8E-9ADD437B6AF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460F296D-4DF1-0EDD-D9A5-C42BDEA82CB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6BE085E-8FA1-DF4F-B886-B6EA78983C6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ADAD0B0-1C80-C500-A21B-AB5214F8E32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9945315-FD6C-FEDA-3890-480BC3A5F9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Date Placeholder 17">
            <a:extLst>
              <a:ext uri="{FF2B5EF4-FFF2-40B4-BE49-F238E27FC236}">
                <a16:creationId xmlns:a16="http://schemas.microsoft.com/office/drawing/2014/main" id="{3EC6D0CC-3E5A-9F30-8239-7D3811F523D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8">
            <a:extLst>
              <a:ext uri="{FF2B5EF4-FFF2-40B4-BE49-F238E27FC236}">
                <a16:creationId xmlns:a16="http://schemas.microsoft.com/office/drawing/2014/main" id="{EBEFDC80-A374-65D6-3A66-367A46566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24DBDA-2CA4-4380-BED9-ACFB6FE982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9" name="Footer Placeholder 19">
            <a:extLst>
              <a:ext uri="{FF2B5EF4-FFF2-40B4-BE49-F238E27FC236}">
                <a16:creationId xmlns:a16="http://schemas.microsoft.com/office/drawing/2014/main" id="{758E596B-3958-CCF4-C4B4-BB66D11831D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0508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 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844f2ff692_0_95"/>
          <p:cNvSpPr txBox="1">
            <a:spLocks noGrp="1"/>
          </p:cNvSpPr>
          <p:nvPr>
            <p:ph type="body" idx="1"/>
          </p:nvPr>
        </p:nvSpPr>
        <p:spPr>
          <a:xfrm>
            <a:off x="152401" y="1417319"/>
            <a:ext cx="8839200" cy="4907400"/>
          </a:xfrm>
          <a:prstGeom prst="rect">
            <a:avLst/>
          </a:prstGeom>
          <a:gradFill>
            <a:gsLst>
              <a:gs pos="0">
                <a:srgbClr val="F9F7FB">
                  <a:alpha val="34509"/>
                </a:srgbClr>
              </a:gs>
              <a:gs pos="35000">
                <a:srgbClr val="F5F8EF">
                  <a:alpha val="37647"/>
                </a:srgbClr>
              </a:gs>
              <a:gs pos="100000">
                <a:srgbClr val="FFFFFF">
                  <a:alpha val="52549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72000" tIns="36000" rIns="72000" bIns="36000" anchor="t" anchorCtr="0">
            <a:normAutofit/>
          </a:bodyPr>
          <a:lstStyle>
            <a:lvl1pPr marL="430790" marR="0" lvl="0" indent="-215395" algn="l">
              <a:lnSpc>
                <a:spcPct val="100000"/>
              </a:lnSpc>
              <a:spcBef>
                <a:spcPts val="452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262">
                <a:latin typeface="Arial"/>
                <a:ea typeface="Arial"/>
                <a:cs typeface="Arial"/>
                <a:sym typeface="Arial"/>
              </a:defRPr>
            </a:lvl1pPr>
            <a:lvl2pPr marL="861579" marR="0" lvl="1" indent="-358992" algn="l">
              <a:lnSpc>
                <a:spcPct val="100000"/>
              </a:lnSpc>
              <a:spcBef>
                <a:spcPts val="452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262">
                <a:latin typeface="Arial"/>
                <a:ea typeface="Arial"/>
                <a:cs typeface="Arial"/>
                <a:sym typeface="Arial"/>
              </a:defRPr>
            </a:lvl2pPr>
            <a:lvl3pPr marL="1292369" lvl="2" indent="-335059" algn="l">
              <a:lnSpc>
                <a:spcPct val="100000"/>
              </a:lnSpc>
              <a:spcBef>
                <a:spcPts val="37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885"/>
            </a:lvl3pPr>
            <a:lvl4pPr marL="1723159" lvl="3" indent="-335059" algn="l">
              <a:lnSpc>
                <a:spcPct val="100000"/>
              </a:lnSpc>
              <a:spcBef>
                <a:spcPts val="37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marL="2153948" lvl="4" indent="-335059" algn="l">
              <a:lnSpc>
                <a:spcPct val="100000"/>
              </a:lnSpc>
              <a:spcBef>
                <a:spcPts val="377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marL="2584738" lvl="5" indent="-323093" algn="l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15528" lvl="6" indent="-323093" algn="l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446317" lvl="7" indent="-323093" algn="l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877107" lvl="8" indent="-323093" algn="l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3" name="Google Shape;33;g1844f2ff692_0_95"/>
          <p:cNvGrpSpPr/>
          <p:nvPr/>
        </p:nvGrpSpPr>
        <p:grpSpPr>
          <a:xfrm>
            <a:off x="2083888" y="6550672"/>
            <a:ext cx="7060186" cy="48601"/>
            <a:chOff x="2083888" y="6550671"/>
            <a:chExt cx="7060186" cy="48601"/>
          </a:xfrm>
        </p:grpSpPr>
        <p:sp>
          <p:nvSpPr>
            <p:cNvPr id="34" name="Google Shape;34;g1844f2ff692_0_95"/>
            <p:cNvSpPr/>
            <p:nvPr/>
          </p:nvSpPr>
          <p:spPr>
            <a:xfrm>
              <a:off x="4630476" y="6550672"/>
              <a:ext cx="2328600" cy="48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96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g1844f2ff692_0_95"/>
            <p:cNvSpPr/>
            <p:nvPr/>
          </p:nvSpPr>
          <p:spPr>
            <a:xfrm>
              <a:off x="6907874" y="6550671"/>
              <a:ext cx="2236200" cy="45600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96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g1844f2ff692_0_95"/>
            <p:cNvSpPr/>
            <p:nvPr/>
          </p:nvSpPr>
          <p:spPr>
            <a:xfrm>
              <a:off x="2083888" y="6550672"/>
              <a:ext cx="2580600" cy="48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96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" name="Google Shape;37;g1844f2ff692_0_95" descr="Picture 7.png"/>
          <p:cNvPicPr preferRelativeResize="0"/>
          <p:nvPr/>
        </p:nvPicPr>
        <p:blipFill rotWithShape="1">
          <a:blip r:embed="rId2">
            <a:alphaModFix/>
          </a:blip>
          <a:srcRect l="1921" b="5338"/>
          <a:stretch/>
        </p:blipFill>
        <p:spPr>
          <a:xfrm>
            <a:off x="6950808" y="0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" name="Google Shape;38;g1844f2ff692_0_95"/>
          <p:cNvGrpSpPr/>
          <p:nvPr/>
        </p:nvGrpSpPr>
        <p:grpSpPr>
          <a:xfrm>
            <a:off x="2133600" y="6553200"/>
            <a:ext cx="7010409" cy="45600"/>
            <a:chOff x="1905000" y="6553200"/>
            <a:chExt cx="7010409" cy="45600"/>
          </a:xfrm>
        </p:grpSpPr>
        <p:sp>
          <p:nvSpPr>
            <p:cNvPr id="39" name="Google Shape;39;g1844f2ff692_0_95"/>
            <p:cNvSpPr/>
            <p:nvPr/>
          </p:nvSpPr>
          <p:spPr>
            <a:xfrm>
              <a:off x="4267200" y="6553200"/>
              <a:ext cx="2328600" cy="45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96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g1844f2ff692_0_95"/>
            <p:cNvSpPr/>
            <p:nvPr/>
          </p:nvSpPr>
          <p:spPr>
            <a:xfrm>
              <a:off x="1905000" y="6553200"/>
              <a:ext cx="2362200" cy="45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96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g1844f2ff692_0_95"/>
            <p:cNvSpPr/>
            <p:nvPr/>
          </p:nvSpPr>
          <p:spPr>
            <a:xfrm>
              <a:off x="6586809" y="6553200"/>
              <a:ext cx="2328600" cy="456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96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" name="Google Shape;42;g1844f2ff692_0_95"/>
          <p:cNvGrpSpPr/>
          <p:nvPr/>
        </p:nvGrpSpPr>
        <p:grpSpPr>
          <a:xfrm>
            <a:off x="1" y="1295400"/>
            <a:ext cx="7010409" cy="45600"/>
            <a:chOff x="1905000" y="6553200"/>
            <a:chExt cx="7010409" cy="45600"/>
          </a:xfrm>
        </p:grpSpPr>
        <p:sp>
          <p:nvSpPr>
            <p:cNvPr id="43" name="Google Shape;43;g1844f2ff692_0_95"/>
            <p:cNvSpPr/>
            <p:nvPr/>
          </p:nvSpPr>
          <p:spPr>
            <a:xfrm>
              <a:off x="4267200" y="6553200"/>
              <a:ext cx="2328600" cy="45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96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g1844f2ff692_0_95"/>
            <p:cNvSpPr/>
            <p:nvPr/>
          </p:nvSpPr>
          <p:spPr>
            <a:xfrm>
              <a:off x="1905000" y="6553200"/>
              <a:ext cx="2362200" cy="45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96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g1844f2ff692_0_95"/>
            <p:cNvSpPr/>
            <p:nvPr/>
          </p:nvSpPr>
          <p:spPr>
            <a:xfrm>
              <a:off x="6586809" y="6553200"/>
              <a:ext cx="2328600" cy="456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96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" name="Google Shape;46;g1844f2ff692_0_95" descr="Large confetti"/>
          <p:cNvSpPr txBox="1">
            <a:spLocks noGrp="1"/>
          </p:cNvSpPr>
          <p:nvPr>
            <p:ph type="title"/>
          </p:nvPr>
        </p:nvSpPr>
        <p:spPr>
          <a:xfrm>
            <a:off x="66239" y="26442"/>
            <a:ext cx="6791700" cy="11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392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9964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629911" y="6550152"/>
            <a:ext cx="2329180" cy="48895"/>
          </a:xfrm>
          <a:custGeom>
            <a:avLst/>
            <a:gdLst/>
            <a:ahLst/>
            <a:cxnLst/>
            <a:rect l="l" t="t" r="r" b="b"/>
            <a:pathLst>
              <a:path w="2329179" h="48895">
                <a:moveTo>
                  <a:pt x="2328672" y="0"/>
                </a:moveTo>
                <a:lnTo>
                  <a:pt x="0" y="0"/>
                </a:lnTo>
                <a:lnTo>
                  <a:pt x="0" y="48768"/>
                </a:lnTo>
                <a:lnTo>
                  <a:pt x="2328672" y="48768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908292" y="6550152"/>
            <a:ext cx="2235835" cy="45720"/>
          </a:xfrm>
          <a:custGeom>
            <a:avLst/>
            <a:gdLst/>
            <a:ahLst/>
            <a:cxnLst/>
            <a:rect l="l" t="t" r="r" b="b"/>
            <a:pathLst>
              <a:path w="2235834" h="45720">
                <a:moveTo>
                  <a:pt x="2235707" y="0"/>
                </a:moveTo>
                <a:lnTo>
                  <a:pt x="0" y="0"/>
                </a:lnTo>
                <a:lnTo>
                  <a:pt x="0" y="45720"/>
                </a:lnTo>
                <a:lnTo>
                  <a:pt x="2235707" y="45720"/>
                </a:lnTo>
                <a:lnTo>
                  <a:pt x="2235707" y="0"/>
                </a:lnTo>
                <a:close/>
              </a:path>
            </a:pathLst>
          </a:custGeom>
          <a:solidFill>
            <a:srgbClr val="E2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083307" y="6550152"/>
            <a:ext cx="2581910" cy="48895"/>
          </a:xfrm>
          <a:custGeom>
            <a:avLst/>
            <a:gdLst/>
            <a:ahLst/>
            <a:cxnLst/>
            <a:rect l="l" t="t" r="r" b="b"/>
            <a:pathLst>
              <a:path w="2581910" h="48895">
                <a:moveTo>
                  <a:pt x="2581656" y="0"/>
                </a:moveTo>
                <a:lnTo>
                  <a:pt x="0" y="0"/>
                </a:lnTo>
                <a:lnTo>
                  <a:pt x="0" y="48768"/>
                </a:lnTo>
                <a:lnTo>
                  <a:pt x="2581656" y="48768"/>
                </a:lnTo>
                <a:lnTo>
                  <a:pt x="2581656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629400" y="0"/>
            <a:ext cx="2193036" cy="69342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95800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133600" y="65532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2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6815328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2362200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12954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19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681728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86788" y="3027882"/>
            <a:ext cx="5170423" cy="1311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400" b="1" i="1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0086" y="2762250"/>
            <a:ext cx="6643827" cy="2494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05459" y="6660895"/>
            <a:ext cx="256095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Object-Oriented Programming </a:t>
            </a:r>
            <a:r>
              <a:rPr dirty="0"/>
              <a:t>(CS</a:t>
            </a:r>
            <a:r>
              <a:rPr spc="-55" dirty="0"/>
              <a:t> </a:t>
            </a:r>
            <a:r>
              <a:rPr dirty="0"/>
              <a:t>F213)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339" y="6660895"/>
            <a:ext cx="1536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72" r:id="rId6"/>
    <p:sldLayoutId id="2147483673" r:id="rId7"/>
    <p:sldLayoutId id="2147483689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629911" y="6550152"/>
            <a:ext cx="2329180" cy="48895"/>
          </a:xfrm>
          <a:custGeom>
            <a:avLst/>
            <a:gdLst/>
            <a:ahLst/>
            <a:cxnLst/>
            <a:rect l="l" t="t" r="r" b="b"/>
            <a:pathLst>
              <a:path w="2329179" h="48895">
                <a:moveTo>
                  <a:pt x="2328672" y="0"/>
                </a:moveTo>
                <a:lnTo>
                  <a:pt x="0" y="0"/>
                </a:lnTo>
                <a:lnTo>
                  <a:pt x="0" y="48768"/>
                </a:lnTo>
                <a:lnTo>
                  <a:pt x="2328672" y="48768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908292" y="6550152"/>
            <a:ext cx="2235835" cy="45720"/>
          </a:xfrm>
          <a:custGeom>
            <a:avLst/>
            <a:gdLst/>
            <a:ahLst/>
            <a:cxnLst/>
            <a:rect l="l" t="t" r="r" b="b"/>
            <a:pathLst>
              <a:path w="2235834" h="45720">
                <a:moveTo>
                  <a:pt x="2235707" y="0"/>
                </a:moveTo>
                <a:lnTo>
                  <a:pt x="0" y="0"/>
                </a:lnTo>
                <a:lnTo>
                  <a:pt x="0" y="45720"/>
                </a:lnTo>
                <a:lnTo>
                  <a:pt x="2235707" y="45720"/>
                </a:lnTo>
                <a:lnTo>
                  <a:pt x="2235707" y="0"/>
                </a:lnTo>
                <a:close/>
              </a:path>
            </a:pathLst>
          </a:custGeom>
          <a:solidFill>
            <a:srgbClr val="E2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083307" y="6550152"/>
            <a:ext cx="2581910" cy="48895"/>
          </a:xfrm>
          <a:custGeom>
            <a:avLst/>
            <a:gdLst/>
            <a:ahLst/>
            <a:cxnLst/>
            <a:rect l="l" t="t" r="r" b="b"/>
            <a:pathLst>
              <a:path w="2581910" h="48895">
                <a:moveTo>
                  <a:pt x="2581656" y="0"/>
                </a:moveTo>
                <a:lnTo>
                  <a:pt x="0" y="0"/>
                </a:lnTo>
                <a:lnTo>
                  <a:pt x="0" y="48768"/>
                </a:lnTo>
                <a:lnTo>
                  <a:pt x="2581656" y="48768"/>
                </a:lnTo>
                <a:lnTo>
                  <a:pt x="2581656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629400" y="0"/>
            <a:ext cx="2193036" cy="6934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95800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133600" y="65532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2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6815328" y="65532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2362200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12954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19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681728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86788" y="3027882"/>
            <a:ext cx="5170423" cy="1311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400" b="1" i="1">
                <a:solidFill>
                  <a:srgbClr val="FF0000"/>
                </a:solidFill>
                <a:latin typeface="Arial Rounded MT Bold"/>
                <a:cs typeface="Arial Rounded MT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3540" y="1519250"/>
            <a:ext cx="8506460" cy="1394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3183" y="6660895"/>
            <a:ext cx="256095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Object-Oriented Programming </a:t>
            </a:r>
            <a:r>
              <a:rPr dirty="0"/>
              <a:t>(CS</a:t>
            </a:r>
            <a:r>
              <a:rPr spc="-55" dirty="0"/>
              <a:t> </a:t>
            </a:r>
            <a:r>
              <a:rPr dirty="0"/>
              <a:t>F213)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339" y="6660895"/>
            <a:ext cx="2317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7477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4D699C-CD20-4363-866C-D74A71DA2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F3C7842-B578-4803-BDD3-9758CCC4B6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608E5-2647-474F-BAE0-0699095C8F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3FDDC02-302F-4822-8911-E7C234EE608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AE654-750B-42A8-9CED-A23976FA2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D701-BCB7-45F1-970B-10CDD37F9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fld id="{288921FC-226A-494B-93D8-8D0C532867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026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 kern="1200" spc="-113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6B3F27-A009-3C37-F7B8-23962E435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A666154-CEF0-BC63-F349-5773762BD2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8770D-23B0-423B-1986-44F24B9613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DC0C5-8256-D32D-3793-F5C628C3D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31777-1B0D-AF52-6AA8-64314F36D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67F5692-F8CD-46C3-934B-C91DAD78F1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0232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4025F-6753-D67D-FBDE-CD4ADD291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40B722-3AB0-1C09-F248-7D21640EB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3429000"/>
            <a:ext cx="6732588" cy="1524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400" dirty="0"/>
              <a:t>Object Oriented Programming </a:t>
            </a:r>
            <a:br>
              <a:rPr lang="en-US" sz="3400" dirty="0"/>
            </a:br>
            <a:r>
              <a:rPr lang="en-US" sz="3400" dirty="0"/>
              <a:t>and Design</a:t>
            </a:r>
          </a:p>
        </p:txBody>
      </p:sp>
      <p:sp>
        <p:nvSpPr>
          <p:cNvPr id="2" name="Google Shape;339;p1">
            <a:extLst>
              <a:ext uri="{FF2B5EF4-FFF2-40B4-BE49-F238E27FC236}">
                <a16:creationId xmlns:a16="http://schemas.microsoft.com/office/drawing/2014/main" id="{3C7AB21A-C17E-BA66-4E8A-D69260256D23}"/>
              </a:ext>
            </a:extLst>
          </p:cNvPr>
          <p:cNvSpPr txBox="1">
            <a:spLocks/>
          </p:cNvSpPr>
          <p:nvPr/>
        </p:nvSpPr>
        <p:spPr bwMode="auto">
          <a:xfrm>
            <a:off x="4114800" y="5410200"/>
            <a:ext cx="4514850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b"/>
          <a:lstStyle>
            <a:lvl1pPr defTabSz="6858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342900" defTabSz="6858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342900" defTabSz="6858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828800" indent="-342900" defTabSz="6858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86000" indent="-342900" defTabSz="6858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43200" indent="-342900" defTabSz="685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00400" indent="-342900" defTabSz="685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657600" indent="-342900" defTabSz="685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114800" indent="-342900" defTabSz="685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Presented by </a:t>
            </a:r>
          </a:p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Dr Ramya Devi M</a:t>
            </a:r>
          </a:p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mramyadevi@wilp.bits-pilani.ac.in </a:t>
            </a:r>
          </a:p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CS - 0</a:t>
            </a:r>
            <a:r>
              <a:rPr lang="en-US" altLang="en-US" sz="1600" b="1" dirty="0">
                <a:solidFill>
                  <a:srgbClr val="FFFFFF"/>
                </a:solidFill>
              </a:rPr>
              <a:t>9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: 19</a:t>
            </a:r>
            <a:r>
              <a:rPr kumimoji="0" lang="en-US" alt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Sep 2025</a:t>
            </a:r>
          </a:p>
        </p:txBody>
      </p:sp>
    </p:spTree>
    <p:extLst>
      <p:ext uri="{BB962C8B-B14F-4D97-AF65-F5344CB8AC3E}">
        <p14:creationId xmlns:p14="http://schemas.microsoft.com/office/powerpoint/2010/main" val="1061424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844f2ff692_0_0"/>
          <p:cNvSpPr txBox="1">
            <a:spLocks noGrp="1"/>
          </p:cNvSpPr>
          <p:nvPr>
            <p:ph type="title" idx="4294967295"/>
          </p:nvPr>
        </p:nvSpPr>
        <p:spPr>
          <a:xfrm>
            <a:off x="0" y="228600"/>
            <a:ext cx="6794307" cy="107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141" tIns="43059" rIns="86141" bIns="43059" anchor="ctr" anchorCtr="0">
            <a:normAutofit/>
          </a:bodyPr>
          <a:lstStyle/>
          <a:p>
            <a:pPr algn="ctr" rtl="0">
              <a:buClr>
                <a:schemeClr val="dk1"/>
              </a:buClr>
              <a:buSzPts val="4400"/>
            </a:pPr>
            <a:r>
              <a:rPr lang="en-US" sz="6000" b="1" i="0" dirty="0"/>
              <a:t>  IMP Note to Self</a:t>
            </a:r>
            <a:endParaRPr sz="6000" b="1" i="0" dirty="0"/>
          </a:p>
        </p:txBody>
      </p:sp>
      <p:pic>
        <p:nvPicPr>
          <p:cNvPr id="395" name="Google Shape;395;g1844f2ff692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6776" y="2207772"/>
            <a:ext cx="6377525" cy="3120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9745" y="5281066"/>
            <a:ext cx="1676400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spc="-114" dirty="0">
                <a:solidFill>
                  <a:srgbClr val="FFFFFF"/>
                </a:solidFill>
                <a:latin typeface="Arial"/>
                <a:cs typeface="Arial"/>
              </a:rPr>
              <a:t>BITS</a:t>
            </a:r>
            <a:r>
              <a:rPr sz="2900" b="1" spc="-3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spc="-130" dirty="0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endParaRPr sz="2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6767" y="3630879"/>
            <a:ext cx="6666230" cy="1574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endParaRPr lang="en-US" sz="3000" b="1" spc="-150" dirty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000" b="1" spc="-150" dirty="0">
                <a:solidFill>
                  <a:srgbClr val="FFFFFF"/>
                </a:solidFill>
                <a:latin typeface="Arial"/>
                <a:cs typeface="Arial"/>
              </a:rPr>
              <a:t>Object-Oriented </a:t>
            </a:r>
            <a:r>
              <a:rPr sz="3000" b="1" spc="-145" dirty="0">
                <a:solidFill>
                  <a:srgbClr val="FFFFFF"/>
                </a:solidFill>
                <a:latin typeface="Arial"/>
                <a:cs typeface="Arial"/>
              </a:rPr>
              <a:t>Programming </a:t>
            </a:r>
            <a:endParaRPr lang="en-US" sz="3000" b="1" spc="-145" dirty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endParaRPr lang="en-IN" sz="1500" b="1" spc="-145" dirty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spc="-14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r>
              <a:rPr sz="2400" b="1" spc="-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1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400" b="1" spc="-3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45" dirty="0">
                <a:solidFill>
                  <a:srgbClr val="FFFFFF"/>
                </a:solidFill>
                <a:latin typeface="Arial"/>
                <a:cs typeface="Arial"/>
              </a:rPr>
              <a:t>Polymorphism</a:t>
            </a:r>
            <a:r>
              <a:rPr sz="2400" b="1" spc="-2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400" b="1" spc="-3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25" dirty="0">
                <a:solidFill>
                  <a:srgbClr val="FFFFFF"/>
                </a:solidFill>
                <a:latin typeface="Arial"/>
                <a:cs typeface="Arial"/>
              </a:rPr>
              <a:t>Java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E7D4A91B-6494-4781-9AAF-C7368EC70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85951"/>
            <a:ext cx="6172200" cy="3028521"/>
          </a:xfrm>
        </p:spPr>
        <p:txBody>
          <a:bodyPr/>
          <a:lstStyle/>
          <a:p>
            <a:pPr marL="342900" indent="-342900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Rockwell" panose="02060603020205020403" pitchFamily="18" charset="0"/>
              </a:rPr>
              <a:t>What is Inheritance?</a:t>
            </a:r>
          </a:p>
          <a:p>
            <a:pPr marL="342900" indent="-342900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Rockwell" panose="02060603020205020403" pitchFamily="18" charset="0"/>
              </a:rPr>
              <a:t>Various types of inheritance</a:t>
            </a:r>
          </a:p>
          <a:p>
            <a:pPr marL="342900" indent="-342900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Rockwell" panose="02060603020205020403" pitchFamily="18" charset="0"/>
              </a:rPr>
              <a:t>Super and Sub classes</a:t>
            </a:r>
          </a:p>
          <a:p>
            <a:pPr marL="342900" indent="-342900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Rockwell" panose="02060603020205020403" pitchFamily="18" charset="0"/>
              </a:rPr>
              <a:t>Super keyword</a:t>
            </a:r>
          </a:p>
          <a:p>
            <a:pPr marL="342900" indent="-342900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Rockwell" panose="02060603020205020403" pitchFamily="18" charset="0"/>
              </a:rPr>
              <a:t>Method overriding</a:t>
            </a:r>
          </a:p>
          <a:p>
            <a:pPr marL="342900" indent="-342900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Rockwell" panose="02060603020205020403" pitchFamily="18" charset="0"/>
              </a:rPr>
              <a:t>What is an Abstract class?</a:t>
            </a:r>
          </a:p>
          <a:p>
            <a:pPr marL="342900" indent="-342900"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Rockwell" panose="02060603020205020403" pitchFamily="18" charset="0"/>
              </a:rPr>
              <a:t>Abstraction with abstract class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3C8B99-6957-4AEC-8CAD-2B59311654B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>
              <a:defRPr/>
            </a:pPr>
            <a:r>
              <a:rPr lang="en-US" dirty="0"/>
              <a:t>Learning Objectives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515237"/>
            <a:ext cx="37763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0F1141"/>
              </a:buClr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Inheritance </a:t>
            </a:r>
            <a:r>
              <a:rPr sz="3200" dirty="0">
                <a:latin typeface="Arial"/>
                <a:cs typeface="Arial"/>
              </a:rPr>
              <a:t>in</a:t>
            </a:r>
            <a:r>
              <a:rPr sz="3200" spc="-7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Java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4739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80" dirty="0">
                <a:solidFill>
                  <a:srgbClr val="000000"/>
                </a:solidFill>
                <a:latin typeface="Arial"/>
                <a:cs typeface="Arial"/>
              </a:rPr>
              <a:t>Topics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03" y="379552"/>
            <a:ext cx="37376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45" dirty="0">
                <a:solidFill>
                  <a:srgbClr val="000000"/>
                </a:solidFill>
                <a:latin typeface="Arial"/>
                <a:cs typeface="Arial"/>
              </a:rPr>
              <a:t>Inheritance</a:t>
            </a:r>
            <a:r>
              <a:rPr sz="3600" i="0" spc="-3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Basics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8267" y="1219200"/>
            <a:ext cx="8630285" cy="5359801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Inheritance is the process by which one class acquires the properties(data members) and functionalities(methods) of another class. </a:t>
            </a:r>
          </a:p>
          <a:p>
            <a:pPr marL="355600" indent="-342900" algn="just">
              <a:lnSpc>
                <a:spcPct val="100000"/>
              </a:lnSpc>
              <a:spcBef>
                <a:spcPts val="15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Reusability is achieved by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Inheritance</a:t>
            </a:r>
            <a:endParaRPr sz="2400" dirty="0">
              <a:latin typeface="Times New Roman"/>
              <a:cs typeface="Times New Roman"/>
            </a:endParaRPr>
          </a:p>
          <a:p>
            <a:pPr marL="355600" marR="7620" indent="-342900" algn="just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Java classes can </a:t>
            </a:r>
            <a:r>
              <a:rPr sz="2400" spc="-5" dirty="0">
                <a:latin typeface="Times New Roman"/>
                <a:cs typeface="Times New Roman"/>
              </a:rPr>
              <a:t>be Reused by Extending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class. Extending </a:t>
            </a:r>
            <a:r>
              <a:rPr sz="2400" dirty="0">
                <a:latin typeface="Times New Roman"/>
                <a:cs typeface="Times New Roman"/>
              </a:rPr>
              <a:t>an  </a:t>
            </a:r>
            <a:r>
              <a:rPr sz="2400" spc="-5" dirty="0">
                <a:latin typeface="Times New Roman"/>
                <a:cs typeface="Times New Roman"/>
              </a:rPr>
              <a:t>existing class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" dirty="0">
                <a:latin typeface="Times New Roman"/>
                <a:cs typeface="Times New Roman"/>
              </a:rPr>
              <a:t>nothing </a:t>
            </a:r>
            <a:r>
              <a:rPr sz="2400" dirty="0">
                <a:latin typeface="Times New Roman"/>
                <a:cs typeface="Times New Roman"/>
              </a:rPr>
              <a:t>but </a:t>
            </a:r>
            <a:r>
              <a:rPr sz="2400" spc="-5" dirty="0">
                <a:latin typeface="Times New Roman"/>
                <a:cs typeface="Times New Roman"/>
              </a:rPr>
              <a:t>reusing properties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the existing  </a:t>
            </a:r>
            <a:r>
              <a:rPr sz="2400" dirty="0">
                <a:latin typeface="Times New Roman"/>
                <a:cs typeface="Times New Roman"/>
              </a:rPr>
              <a:t>classes.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class whose </a:t>
            </a:r>
            <a:r>
              <a:rPr sz="2400" spc="-5" dirty="0">
                <a:latin typeface="Times New Roman"/>
                <a:cs typeface="Times New Roman"/>
              </a:rPr>
              <a:t>properties </a:t>
            </a:r>
            <a:r>
              <a:rPr sz="2400" dirty="0">
                <a:latin typeface="Times New Roman"/>
                <a:cs typeface="Times New Roman"/>
              </a:rPr>
              <a:t>are </a:t>
            </a:r>
            <a:r>
              <a:rPr sz="2400" spc="-5" dirty="0">
                <a:latin typeface="Times New Roman"/>
                <a:cs typeface="Times New Roman"/>
              </a:rPr>
              <a:t>extended </a:t>
            </a:r>
            <a:r>
              <a:rPr sz="2400" dirty="0">
                <a:latin typeface="Times New Roman"/>
                <a:cs typeface="Times New Roman"/>
              </a:rPr>
              <a:t>is known as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super </a:t>
            </a:r>
            <a:r>
              <a:rPr sz="2400" i="1" spc="5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2400" i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base</a:t>
            </a:r>
            <a:r>
              <a:rPr lang="en-US"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or </a:t>
            </a:r>
            <a:r>
              <a:rPr sz="24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parent</a:t>
            </a:r>
            <a:r>
              <a:rPr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  <a:tab pos="355600" algn="l"/>
                <a:tab pos="254381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	</a:t>
            </a:r>
            <a:r>
              <a:rPr sz="2400" spc="-5" dirty="0">
                <a:latin typeface="Times New Roman"/>
                <a:cs typeface="Times New Roman"/>
              </a:rPr>
              <a:t>extends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properties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super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known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endParaRPr sz="2400" dirty="0">
              <a:latin typeface="Times New Roman"/>
              <a:cs typeface="Times New Roman"/>
            </a:endParaRPr>
          </a:p>
          <a:p>
            <a:pPr marL="355600" algn="just">
              <a:lnSpc>
                <a:spcPct val="100000"/>
              </a:lnSpc>
            </a:pP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sub </a:t>
            </a:r>
            <a:r>
              <a:rPr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or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derived </a:t>
            </a:r>
            <a:r>
              <a:rPr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or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child</a:t>
            </a:r>
            <a:r>
              <a:rPr sz="2400" i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endParaRPr sz="24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class can </a:t>
            </a:r>
            <a:r>
              <a:rPr sz="2400" spc="-5" dirty="0">
                <a:latin typeface="Times New Roman"/>
                <a:cs typeface="Times New Roman"/>
              </a:rPr>
              <a:t>either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extends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another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class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can implement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an  interface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458290"/>
            <a:ext cx="290258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5"/>
              </a:spcBef>
              <a:buClr>
                <a:srgbClr val="0F1141"/>
              </a:buClr>
              <a:buChar char="•"/>
              <a:tabLst>
                <a:tab pos="469265" algn="l"/>
                <a:tab pos="469900" algn="l"/>
              </a:tabLst>
            </a:pPr>
            <a:r>
              <a:rPr sz="2000" dirty="0">
                <a:latin typeface="Arial"/>
                <a:cs typeface="Arial"/>
              </a:rPr>
              <a:t>By Extending 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Class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buFont typeface="Wingdings"/>
              <a:buChar char=""/>
              <a:tabLst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Syntax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12594" y="2068449"/>
            <a:ext cx="13290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class-name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41775" y="2068449"/>
            <a:ext cx="91566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ex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ends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0828" y="2068449"/>
            <a:ext cx="20478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s</a:t>
            </a:r>
            <a:r>
              <a:rPr sz="2000" spc="5" dirty="0">
                <a:latin typeface="Arial"/>
                <a:cs typeface="Arial"/>
              </a:rPr>
              <a:t>u</a:t>
            </a:r>
            <a:r>
              <a:rPr sz="2000" dirty="0">
                <a:latin typeface="Arial"/>
                <a:cs typeface="Arial"/>
              </a:rPr>
              <a:t>pe</a:t>
            </a:r>
            <a:r>
              <a:rPr sz="2000" spc="10" dirty="0">
                <a:latin typeface="Arial"/>
                <a:cs typeface="Arial"/>
              </a:rPr>
              <a:t>r</a:t>
            </a:r>
            <a:r>
              <a:rPr sz="2000" dirty="0">
                <a:latin typeface="Arial"/>
                <a:cs typeface="Arial"/>
              </a:rPr>
              <a:t>-c</a:t>
            </a:r>
            <a:r>
              <a:rPr sz="2000" spc="-10" dirty="0">
                <a:latin typeface="Arial"/>
                <a:cs typeface="Arial"/>
              </a:rPr>
              <a:t>l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5" dirty="0">
                <a:latin typeface="Arial"/>
                <a:cs typeface="Arial"/>
              </a:rPr>
              <a:t>s</a:t>
            </a:r>
            <a:r>
              <a:rPr sz="2000" spc="-10" dirty="0">
                <a:latin typeface="Arial"/>
                <a:cs typeface="Arial"/>
              </a:rPr>
              <a:t>s-</a:t>
            </a:r>
            <a:r>
              <a:rPr sz="2000" dirty="0">
                <a:latin typeface="Arial"/>
                <a:cs typeface="Arial"/>
              </a:rPr>
              <a:t>na</a:t>
            </a:r>
            <a:r>
              <a:rPr sz="2000" spc="-10" dirty="0">
                <a:latin typeface="Arial"/>
                <a:cs typeface="Arial"/>
              </a:rPr>
              <a:t>m</a:t>
            </a:r>
            <a:r>
              <a:rPr sz="2000" dirty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1451" y="2068449"/>
            <a:ext cx="1757045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14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class</a:t>
            </a:r>
            <a:endParaRPr sz="2000">
              <a:latin typeface="Arial"/>
              <a:cs typeface="Arial"/>
            </a:endParaRPr>
          </a:p>
          <a:p>
            <a:pPr marL="41148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86931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……..</a:t>
            </a:r>
            <a:endParaRPr sz="2000">
              <a:latin typeface="Arial"/>
              <a:cs typeface="Arial"/>
            </a:endParaRPr>
          </a:p>
          <a:p>
            <a:pPr marL="41148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0F1141"/>
              </a:buClr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Example</a:t>
            </a:r>
            <a:endParaRPr sz="2000">
              <a:latin typeface="Arial"/>
              <a:cs typeface="Arial"/>
            </a:endParaRPr>
          </a:p>
          <a:p>
            <a:pPr marL="86931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class</a:t>
            </a:r>
            <a:r>
              <a:rPr sz="2000" spc="3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  <a:p>
            <a:pPr marL="86931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8194" y="4202684"/>
            <a:ext cx="192786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………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}// End of class</a:t>
            </a:r>
            <a:r>
              <a:rPr sz="2000" spc="-25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8194" y="4812284"/>
            <a:ext cx="243459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  <a:tab pos="1236345" algn="l"/>
              </a:tabLst>
            </a:pPr>
            <a:r>
              <a:rPr sz="2000" dirty="0">
                <a:latin typeface="Arial"/>
                <a:cs typeface="Arial"/>
              </a:rPr>
              <a:t>class	B	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extends</a:t>
            </a:r>
            <a:r>
              <a:rPr sz="2000" spc="3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8194" y="5421579"/>
            <a:ext cx="194119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……..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}// End of class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61556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60" dirty="0">
                <a:solidFill>
                  <a:srgbClr val="000000"/>
                </a:solidFill>
                <a:latin typeface="Arial"/>
                <a:cs typeface="Arial"/>
              </a:rPr>
              <a:t>Java’s </a:t>
            </a: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Support </a:t>
            </a:r>
            <a:r>
              <a:rPr sz="3600" i="0" spc="-110" dirty="0">
                <a:solidFill>
                  <a:srgbClr val="000000"/>
                </a:solidFill>
                <a:latin typeface="Arial"/>
                <a:cs typeface="Arial"/>
              </a:rPr>
              <a:t>For</a:t>
            </a:r>
            <a:r>
              <a:rPr sz="3600" i="0" spc="-5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45" dirty="0">
                <a:solidFill>
                  <a:srgbClr val="000000"/>
                </a:solidFill>
                <a:latin typeface="Arial"/>
                <a:cs typeface="Arial"/>
              </a:rPr>
              <a:t>Inheritance</a:t>
            </a:r>
            <a:endParaRPr sz="3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17385" y="4510278"/>
            <a:ext cx="914400" cy="502920"/>
          </a:xfrm>
          <a:prstGeom prst="rect">
            <a:avLst/>
          </a:prstGeom>
          <a:ln w="25907">
            <a:solidFill>
              <a:srgbClr val="385D89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2400" b="1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732269" y="5025390"/>
            <a:ext cx="485140" cy="978535"/>
          </a:xfrm>
          <a:custGeom>
            <a:avLst/>
            <a:gdLst/>
            <a:ahLst/>
            <a:cxnLst/>
            <a:rect l="l" t="t" r="r" b="b"/>
            <a:pathLst>
              <a:path w="485140" h="978535">
                <a:moveTo>
                  <a:pt x="363474" y="242316"/>
                </a:moveTo>
                <a:lnTo>
                  <a:pt x="121157" y="242316"/>
                </a:lnTo>
                <a:lnTo>
                  <a:pt x="121157" y="978408"/>
                </a:lnTo>
                <a:lnTo>
                  <a:pt x="363474" y="978408"/>
                </a:lnTo>
                <a:lnTo>
                  <a:pt x="363474" y="242316"/>
                </a:lnTo>
                <a:close/>
              </a:path>
              <a:path w="485140" h="978535">
                <a:moveTo>
                  <a:pt x="242315" y="0"/>
                </a:moveTo>
                <a:lnTo>
                  <a:pt x="0" y="242316"/>
                </a:lnTo>
                <a:lnTo>
                  <a:pt x="484631" y="242316"/>
                </a:lnTo>
                <a:lnTo>
                  <a:pt x="2423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732269" y="5025390"/>
            <a:ext cx="485140" cy="978535"/>
          </a:xfrm>
          <a:custGeom>
            <a:avLst/>
            <a:gdLst/>
            <a:ahLst/>
            <a:cxnLst/>
            <a:rect l="l" t="t" r="r" b="b"/>
            <a:pathLst>
              <a:path w="485140" h="978535">
                <a:moveTo>
                  <a:pt x="121157" y="978408"/>
                </a:moveTo>
                <a:lnTo>
                  <a:pt x="121157" y="242316"/>
                </a:lnTo>
                <a:lnTo>
                  <a:pt x="0" y="242316"/>
                </a:lnTo>
                <a:lnTo>
                  <a:pt x="242315" y="0"/>
                </a:lnTo>
                <a:lnTo>
                  <a:pt x="484631" y="242316"/>
                </a:lnTo>
                <a:lnTo>
                  <a:pt x="363474" y="242316"/>
                </a:lnTo>
                <a:lnTo>
                  <a:pt x="363474" y="978408"/>
                </a:lnTo>
                <a:lnTo>
                  <a:pt x="121157" y="978408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538721" y="5997702"/>
            <a:ext cx="914400" cy="504825"/>
          </a:xfrm>
          <a:prstGeom prst="rect">
            <a:avLst/>
          </a:prstGeom>
          <a:ln w="25907">
            <a:solidFill>
              <a:srgbClr val="385D89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90"/>
              </a:spcBef>
            </a:pPr>
            <a:r>
              <a:rPr sz="2400" b="1" spc="-5" dirty="0"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79538" y="4527626"/>
            <a:ext cx="15138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&lt;&lt;super-class&gt;&gt;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73771" y="6040628"/>
            <a:ext cx="1320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&lt;&lt;sub-class&gt;&gt;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458290"/>
            <a:ext cx="379095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5"/>
              </a:spcBef>
              <a:buClr>
                <a:srgbClr val="0F1141"/>
              </a:buClr>
              <a:buChar char="•"/>
              <a:tabLst>
                <a:tab pos="469265" algn="l"/>
                <a:tab pos="469900" algn="l"/>
              </a:tabLst>
            </a:pPr>
            <a:r>
              <a:rPr sz="2000" dirty="0">
                <a:latin typeface="Arial"/>
                <a:cs typeface="Arial"/>
              </a:rPr>
              <a:t>By Implementing an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Interface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buFont typeface="Wingdings"/>
              <a:buChar char=""/>
              <a:tabLst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Syntax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12594" y="2068449"/>
            <a:ext cx="31559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41500" algn="l"/>
              </a:tabLst>
            </a:pPr>
            <a:r>
              <a:rPr sz="2000" dirty="0">
                <a:latin typeface="Arial"/>
                <a:cs typeface="Arial"/>
              </a:rPr>
              <a:t>clas</a:t>
            </a:r>
            <a:r>
              <a:rPr sz="2000" spc="15" dirty="0">
                <a:latin typeface="Arial"/>
                <a:cs typeface="Arial"/>
              </a:rPr>
              <a:t>s</a:t>
            </a:r>
            <a:r>
              <a:rPr sz="2000" dirty="0">
                <a:latin typeface="Arial"/>
                <a:cs typeface="Arial"/>
              </a:rPr>
              <a:t>-na</a:t>
            </a:r>
            <a:r>
              <a:rPr sz="2000" spc="-10" dirty="0">
                <a:latin typeface="Arial"/>
                <a:cs typeface="Arial"/>
              </a:rPr>
              <a:t>m</a:t>
            </a:r>
            <a:r>
              <a:rPr sz="2000" dirty="0">
                <a:latin typeface="Arial"/>
                <a:cs typeface="Arial"/>
              </a:rPr>
              <a:t>e	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implements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0828" y="2068449"/>
            <a:ext cx="172338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interfac</a:t>
            </a:r>
            <a:r>
              <a:rPr sz="2000" spc="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10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ame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1451" y="2068449"/>
            <a:ext cx="1532255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14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class</a:t>
            </a:r>
            <a:endParaRPr sz="2000">
              <a:latin typeface="Arial"/>
              <a:cs typeface="Arial"/>
            </a:endParaRPr>
          </a:p>
          <a:p>
            <a:pPr marL="41148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869315">
              <a:lnSpc>
                <a:spcPct val="100000"/>
              </a:lnSpc>
            </a:pPr>
            <a:r>
              <a:rPr sz="2000" spc="5" dirty="0">
                <a:latin typeface="Arial"/>
                <a:cs typeface="Arial"/>
              </a:rPr>
              <a:t>……</a:t>
            </a:r>
            <a:r>
              <a:rPr sz="2000" spc="-10" dirty="0">
                <a:latin typeface="Arial"/>
                <a:cs typeface="Arial"/>
              </a:rPr>
              <a:t>.</a:t>
            </a:r>
            <a:r>
              <a:rPr sz="200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41148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0F1141"/>
              </a:buClr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Example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8194" y="3592829"/>
            <a:ext cx="232092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interface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………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}// End of interface</a:t>
            </a:r>
            <a:r>
              <a:rPr sz="2000" spc="-2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8194" y="4812284"/>
            <a:ext cx="28441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  <a:tab pos="1236980" algn="l"/>
              </a:tabLst>
            </a:pPr>
            <a:r>
              <a:rPr sz="2000" dirty="0">
                <a:latin typeface="Arial"/>
                <a:cs typeface="Arial"/>
              </a:rPr>
              <a:t>class	B	implements</a:t>
            </a:r>
            <a:r>
              <a:rPr sz="2000" spc="3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8194" y="5421579"/>
            <a:ext cx="194119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……..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}// End of class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61556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60" dirty="0">
                <a:solidFill>
                  <a:srgbClr val="000000"/>
                </a:solidFill>
                <a:latin typeface="Arial"/>
                <a:cs typeface="Arial"/>
              </a:rPr>
              <a:t>Java’s </a:t>
            </a: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Support </a:t>
            </a:r>
            <a:r>
              <a:rPr sz="3600" i="0" spc="-110" dirty="0">
                <a:solidFill>
                  <a:srgbClr val="000000"/>
                </a:solidFill>
                <a:latin typeface="Arial"/>
                <a:cs typeface="Arial"/>
              </a:rPr>
              <a:t>For</a:t>
            </a:r>
            <a:r>
              <a:rPr sz="3600" i="0" spc="-5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45" dirty="0">
                <a:solidFill>
                  <a:srgbClr val="000000"/>
                </a:solidFill>
                <a:latin typeface="Arial"/>
                <a:cs typeface="Arial"/>
              </a:rPr>
              <a:t>Inheritance</a:t>
            </a:r>
            <a:endParaRPr sz="3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17385" y="4510278"/>
            <a:ext cx="914400" cy="502920"/>
          </a:xfrm>
          <a:prstGeom prst="rect">
            <a:avLst/>
          </a:prstGeom>
          <a:ln w="25907">
            <a:solidFill>
              <a:srgbClr val="385D89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2400" b="1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32269" y="5025390"/>
            <a:ext cx="485140" cy="978535"/>
          </a:xfrm>
          <a:custGeom>
            <a:avLst/>
            <a:gdLst/>
            <a:ahLst/>
            <a:cxnLst/>
            <a:rect l="l" t="t" r="r" b="b"/>
            <a:pathLst>
              <a:path w="485140" h="978535">
                <a:moveTo>
                  <a:pt x="121157" y="978408"/>
                </a:moveTo>
                <a:lnTo>
                  <a:pt x="121157" y="242316"/>
                </a:lnTo>
                <a:lnTo>
                  <a:pt x="0" y="242316"/>
                </a:lnTo>
                <a:lnTo>
                  <a:pt x="242315" y="0"/>
                </a:lnTo>
                <a:lnTo>
                  <a:pt x="484631" y="242316"/>
                </a:lnTo>
                <a:lnTo>
                  <a:pt x="363474" y="242316"/>
                </a:lnTo>
                <a:lnTo>
                  <a:pt x="363474" y="978408"/>
                </a:lnTo>
                <a:lnTo>
                  <a:pt x="121157" y="978408"/>
                </a:lnTo>
              </a:path>
            </a:pathLst>
          </a:custGeom>
          <a:ln w="25908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38721" y="6022085"/>
            <a:ext cx="914400" cy="504825"/>
          </a:xfrm>
          <a:prstGeom prst="rect">
            <a:avLst/>
          </a:prstGeom>
          <a:ln w="25907">
            <a:solidFill>
              <a:srgbClr val="385D89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90"/>
              </a:spcBef>
            </a:pPr>
            <a:r>
              <a:rPr sz="2400" b="1" spc="-5" dirty="0"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79538" y="4527626"/>
            <a:ext cx="13055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&lt;&lt;interface&gt;&gt;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73771" y="6040628"/>
            <a:ext cx="1320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&lt;&lt;sub-class&gt;&gt;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4178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Forms </a:t>
            </a:r>
            <a:r>
              <a:rPr sz="3600" i="0" spc="-8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3600" i="0" spc="-5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45" dirty="0">
                <a:solidFill>
                  <a:srgbClr val="000000"/>
                </a:solidFill>
                <a:latin typeface="Arial"/>
                <a:cs typeface="Arial"/>
              </a:rPr>
              <a:t>Inheritance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04690" y="1444244"/>
            <a:ext cx="2423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Hierarchical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Inheritance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06240" y="1950720"/>
            <a:ext cx="1066800" cy="457200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670"/>
              </a:spcBef>
            </a:pPr>
            <a:r>
              <a:rPr sz="1800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86300" y="240792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44450" y="63500"/>
                </a:moveTo>
                <a:lnTo>
                  <a:pt x="31750" y="63500"/>
                </a:lnTo>
                <a:lnTo>
                  <a:pt x="31750" y="304800"/>
                </a:lnTo>
                <a:lnTo>
                  <a:pt x="44450" y="304800"/>
                </a:lnTo>
                <a:lnTo>
                  <a:pt x="44450" y="63500"/>
                </a:lnTo>
                <a:close/>
              </a:path>
              <a:path w="76200" h="3048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048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779520" y="2711195"/>
          <a:ext cx="1844672" cy="6065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0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 gridSpan="2"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</a:t>
                      </a: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</a:t>
                      </a: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</a:t>
                      </a: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213347" y="1950720"/>
            <a:ext cx="1066800" cy="457200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670"/>
              </a:spcBef>
            </a:pPr>
            <a:r>
              <a:rPr sz="1800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93407" y="240792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44450" y="254000"/>
                </a:moveTo>
                <a:lnTo>
                  <a:pt x="31750" y="254000"/>
                </a:lnTo>
                <a:lnTo>
                  <a:pt x="31750" y="304800"/>
                </a:lnTo>
                <a:lnTo>
                  <a:pt x="44450" y="304800"/>
                </a:lnTo>
                <a:lnTo>
                  <a:pt x="44450" y="254000"/>
                </a:lnTo>
                <a:close/>
              </a:path>
              <a:path w="76200" h="304800">
                <a:moveTo>
                  <a:pt x="44450" y="203200"/>
                </a:moveTo>
                <a:lnTo>
                  <a:pt x="31750" y="203200"/>
                </a:lnTo>
                <a:lnTo>
                  <a:pt x="31750" y="215900"/>
                </a:lnTo>
                <a:lnTo>
                  <a:pt x="44450" y="215900"/>
                </a:lnTo>
                <a:lnTo>
                  <a:pt x="44450" y="203200"/>
                </a:lnTo>
                <a:close/>
              </a:path>
              <a:path w="76200" h="304800">
                <a:moveTo>
                  <a:pt x="44450" y="114300"/>
                </a:moveTo>
                <a:lnTo>
                  <a:pt x="31750" y="114300"/>
                </a:lnTo>
                <a:lnTo>
                  <a:pt x="31750" y="165100"/>
                </a:lnTo>
                <a:lnTo>
                  <a:pt x="44450" y="165100"/>
                </a:lnTo>
                <a:lnTo>
                  <a:pt x="44450" y="114300"/>
                </a:lnTo>
                <a:close/>
              </a:path>
              <a:path w="76200" h="3048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04800">
                <a:moveTo>
                  <a:pt x="44450" y="63500"/>
                </a:moveTo>
                <a:lnTo>
                  <a:pt x="31750" y="63500"/>
                </a:lnTo>
                <a:lnTo>
                  <a:pt x="31750" y="76200"/>
                </a:lnTo>
                <a:lnTo>
                  <a:pt x="44450" y="76200"/>
                </a:lnTo>
                <a:lnTo>
                  <a:pt x="44450" y="63500"/>
                </a:lnTo>
                <a:close/>
              </a:path>
              <a:path w="76200" h="3048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786628" y="2711195"/>
          <a:ext cx="1833243" cy="6065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2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20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3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 gridSpan="2"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562355" y="4349496"/>
            <a:ext cx="1066800" cy="457200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sz="1800" dirty="0">
                <a:latin typeface="Arial"/>
                <a:cs typeface="Arial"/>
              </a:rPr>
              <a:t>A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45591" y="5129784"/>
            <a:ext cx="1066800" cy="457200"/>
          </a:xfrm>
          <a:prstGeom prst="rect">
            <a:avLst/>
          </a:prstGeom>
          <a:solidFill>
            <a:srgbClr val="4F81BC"/>
          </a:solidFill>
          <a:ln w="9143">
            <a:solidFill>
              <a:srgbClr val="00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R="29845" algn="ctr">
              <a:lnSpc>
                <a:spcPct val="100000"/>
              </a:lnSpc>
              <a:spcBef>
                <a:spcPts val="459"/>
              </a:spcBef>
            </a:pPr>
            <a:r>
              <a:rPr sz="1800" dirty="0">
                <a:latin typeface="Arial"/>
                <a:cs typeface="Arial"/>
              </a:rPr>
              <a:t>B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6448" y="5896355"/>
            <a:ext cx="1066800" cy="457200"/>
          </a:xfrm>
          <a:prstGeom prst="rect">
            <a:avLst/>
          </a:prstGeom>
          <a:solidFill>
            <a:srgbClr val="4F81BC"/>
          </a:solidFill>
          <a:ln w="9143">
            <a:solidFill>
              <a:srgbClr val="000000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sz="1800" spc="-5" dirty="0">
                <a:latin typeface="Arial"/>
                <a:cs typeface="Arial"/>
              </a:rPr>
              <a:t>C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28700" y="4824984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44450" y="63500"/>
                </a:moveTo>
                <a:lnTo>
                  <a:pt x="31750" y="63500"/>
                </a:lnTo>
                <a:lnTo>
                  <a:pt x="31750" y="304800"/>
                </a:lnTo>
                <a:lnTo>
                  <a:pt x="44450" y="304800"/>
                </a:lnTo>
                <a:lnTo>
                  <a:pt x="44450" y="63500"/>
                </a:lnTo>
                <a:close/>
              </a:path>
              <a:path w="76200" h="3048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048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16508" y="5586984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44450" y="63499"/>
                </a:moveTo>
                <a:lnTo>
                  <a:pt x="31750" y="63499"/>
                </a:lnTo>
                <a:lnTo>
                  <a:pt x="31750" y="304799"/>
                </a:lnTo>
                <a:lnTo>
                  <a:pt x="44450" y="304799"/>
                </a:lnTo>
                <a:lnTo>
                  <a:pt x="44450" y="63499"/>
                </a:lnTo>
                <a:close/>
              </a:path>
              <a:path w="76200" h="304800">
                <a:moveTo>
                  <a:pt x="38100" y="0"/>
                </a:moveTo>
                <a:lnTo>
                  <a:pt x="0" y="76199"/>
                </a:lnTo>
                <a:lnTo>
                  <a:pt x="31750" y="76199"/>
                </a:lnTo>
                <a:lnTo>
                  <a:pt x="31750" y="63499"/>
                </a:lnTo>
                <a:lnTo>
                  <a:pt x="69850" y="63499"/>
                </a:lnTo>
                <a:lnTo>
                  <a:pt x="38100" y="0"/>
                </a:lnTo>
                <a:close/>
              </a:path>
              <a:path w="76200" h="304800">
                <a:moveTo>
                  <a:pt x="69850" y="63499"/>
                </a:moveTo>
                <a:lnTo>
                  <a:pt x="44450" y="63499"/>
                </a:lnTo>
                <a:lnTo>
                  <a:pt x="44450" y="76199"/>
                </a:lnTo>
                <a:lnTo>
                  <a:pt x="76200" y="76199"/>
                </a:lnTo>
                <a:lnTo>
                  <a:pt x="69850" y="6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981200" y="4367784"/>
            <a:ext cx="1066800" cy="457200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sz="180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65960" y="5149596"/>
            <a:ext cx="1066800" cy="457200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R="31750" algn="ctr">
              <a:lnSpc>
                <a:spcPct val="100000"/>
              </a:lnSpc>
              <a:spcBef>
                <a:spcPts val="455"/>
              </a:spcBef>
            </a:pPr>
            <a:r>
              <a:rPr sz="1800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65960" y="5923788"/>
            <a:ext cx="1066800" cy="457200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sz="1800" spc="-5" dirty="0"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447544" y="4844796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44450" y="253999"/>
                </a:moveTo>
                <a:lnTo>
                  <a:pt x="31750" y="253999"/>
                </a:lnTo>
                <a:lnTo>
                  <a:pt x="31750" y="304799"/>
                </a:lnTo>
                <a:lnTo>
                  <a:pt x="44450" y="304799"/>
                </a:lnTo>
                <a:lnTo>
                  <a:pt x="44450" y="253999"/>
                </a:lnTo>
                <a:close/>
              </a:path>
              <a:path w="76200" h="304800">
                <a:moveTo>
                  <a:pt x="44450" y="165099"/>
                </a:moveTo>
                <a:lnTo>
                  <a:pt x="31750" y="165099"/>
                </a:lnTo>
                <a:lnTo>
                  <a:pt x="31750" y="215899"/>
                </a:lnTo>
                <a:lnTo>
                  <a:pt x="44450" y="215899"/>
                </a:lnTo>
                <a:lnTo>
                  <a:pt x="44450" y="165099"/>
                </a:lnTo>
                <a:close/>
              </a:path>
              <a:path w="76200" h="304800">
                <a:moveTo>
                  <a:pt x="44450" y="76199"/>
                </a:moveTo>
                <a:lnTo>
                  <a:pt x="31750" y="76199"/>
                </a:lnTo>
                <a:lnTo>
                  <a:pt x="31750" y="126999"/>
                </a:lnTo>
                <a:lnTo>
                  <a:pt x="44450" y="126999"/>
                </a:lnTo>
                <a:lnTo>
                  <a:pt x="44450" y="76199"/>
                </a:lnTo>
                <a:close/>
              </a:path>
              <a:path w="76200" h="304800">
                <a:moveTo>
                  <a:pt x="38100" y="0"/>
                </a:moveTo>
                <a:lnTo>
                  <a:pt x="0" y="76199"/>
                </a:lnTo>
                <a:lnTo>
                  <a:pt x="76200" y="76199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35351" y="5606796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44450" y="253999"/>
                </a:moveTo>
                <a:lnTo>
                  <a:pt x="31750" y="253999"/>
                </a:lnTo>
                <a:lnTo>
                  <a:pt x="31750" y="304799"/>
                </a:lnTo>
                <a:lnTo>
                  <a:pt x="44450" y="304799"/>
                </a:lnTo>
                <a:lnTo>
                  <a:pt x="44450" y="253999"/>
                </a:lnTo>
                <a:close/>
              </a:path>
              <a:path w="76200" h="304800">
                <a:moveTo>
                  <a:pt x="44450" y="165099"/>
                </a:moveTo>
                <a:lnTo>
                  <a:pt x="31750" y="165099"/>
                </a:lnTo>
                <a:lnTo>
                  <a:pt x="31750" y="215899"/>
                </a:lnTo>
                <a:lnTo>
                  <a:pt x="44450" y="215899"/>
                </a:lnTo>
                <a:lnTo>
                  <a:pt x="44450" y="165099"/>
                </a:lnTo>
                <a:close/>
              </a:path>
              <a:path w="76200" h="304800">
                <a:moveTo>
                  <a:pt x="44450" y="76199"/>
                </a:moveTo>
                <a:lnTo>
                  <a:pt x="31750" y="76199"/>
                </a:lnTo>
                <a:lnTo>
                  <a:pt x="31750" y="126999"/>
                </a:lnTo>
                <a:lnTo>
                  <a:pt x="44450" y="126999"/>
                </a:lnTo>
                <a:lnTo>
                  <a:pt x="44450" y="76199"/>
                </a:lnTo>
                <a:close/>
              </a:path>
              <a:path w="76200" h="304800">
                <a:moveTo>
                  <a:pt x="38100" y="0"/>
                </a:moveTo>
                <a:lnTo>
                  <a:pt x="0" y="76199"/>
                </a:lnTo>
                <a:lnTo>
                  <a:pt x="76200" y="76199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845945" y="3454095"/>
            <a:ext cx="2844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Multiple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Class</a:t>
            </a:r>
            <a:r>
              <a:rPr sz="18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Inheritance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45945" y="3728973"/>
            <a:ext cx="3005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NOT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SUPPORTED BY</a:t>
            </a:r>
            <a:r>
              <a:rPr sz="1800" b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80" dirty="0">
                <a:solidFill>
                  <a:srgbClr val="FF0000"/>
                </a:solidFill>
                <a:latin typeface="Arial"/>
                <a:cs typeface="Arial"/>
              </a:rPr>
              <a:t>JAVA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5800" y="1874520"/>
            <a:ext cx="1066800" cy="457200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180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62811" y="233172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44450" y="63500"/>
                </a:moveTo>
                <a:lnTo>
                  <a:pt x="31750" y="63500"/>
                </a:lnTo>
                <a:lnTo>
                  <a:pt x="31750" y="609600"/>
                </a:lnTo>
                <a:lnTo>
                  <a:pt x="44450" y="609600"/>
                </a:lnTo>
                <a:lnTo>
                  <a:pt x="44450" y="63500"/>
                </a:lnTo>
                <a:close/>
              </a:path>
              <a:path w="76200" h="6096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6096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65987" y="2941320"/>
            <a:ext cx="1066800" cy="457200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R="48895" algn="ctr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03503" y="1368044"/>
            <a:ext cx="1852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Single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Inheritance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33600" y="1874520"/>
            <a:ext cx="1066800" cy="457200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180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33600" y="2941320"/>
            <a:ext cx="1066800" cy="457200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1800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628900" y="233172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44450" y="558800"/>
                </a:moveTo>
                <a:lnTo>
                  <a:pt x="31750" y="558800"/>
                </a:lnTo>
                <a:lnTo>
                  <a:pt x="31750" y="609600"/>
                </a:lnTo>
                <a:lnTo>
                  <a:pt x="44450" y="609600"/>
                </a:lnTo>
                <a:lnTo>
                  <a:pt x="44450" y="558800"/>
                </a:lnTo>
                <a:close/>
              </a:path>
              <a:path w="76200" h="609600">
                <a:moveTo>
                  <a:pt x="44450" y="469900"/>
                </a:moveTo>
                <a:lnTo>
                  <a:pt x="31750" y="469900"/>
                </a:lnTo>
                <a:lnTo>
                  <a:pt x="31750" y="520700"/>
                </a:lnTo>
                <a:lnTo>
                  <a:pt x="44450" y="520700"/>
                </a:lnTo>
                <a:lnTo>
                  <a:pt x="44450" y="469900"/>
                </a:lnTo>
                <a:close/>
              </a:path>
              <a:path w="76200" h="609600">
                <a:moveTo>
                  <a:pt x="44450" y="381000"/>
                </a:moveTo>
                <a:lnTo>
                  <a:pt x="31750" y="381000"/>
                </a:lnTo>
                <a:lnTo>
                  <a:pt x="31750" y="431800"/>
                </a:lnTo>
                <a:lnTo>
                  <a:pt x="44450" y="431800"/>
                </a:lnTo>
                <a:lnTo>
                  <a:pt x="44450" y="381000"/>
                </a:lnTo>
                <a:close/>
              </a:path>
              <a:path w="76200" h="609600">
                <a:moveTo>
                  <a:pt x="44450" y="292100"/>
                </a:moveTo>
                <a:lnTo>
                  <a:pt x="31750" y="292100"/>
                </a:lnTo>
                <a:lnTo>
                  <a:pt x="31750" y="342900"/>
                </a:lnTo>
                <a:lnTo>
                  <a:pt x="44450" y="342900"/>
                </a:lnTo>
                <a:lnTo>
                  <a:pt x="44450" y="292100"/>
                </a:lnTo>
                <a:close/>
              </a:path>
              <a:path w="76200" h="609600">
                <a:moveTo>
                  <a:pt x="44450" y="203200"/>
                </a:moveTo>
                <a:lnTo>
                  <a:pt x="31750" y="203200"/>
                </a:lnTo>
                <a:lnTo>
                  <a:pt x="31750" y="254000"/>
                </a:lnTo>
                <a:lnTo>
                  <a:pt x="44450" y="254000"/>
                </a:lnTo>
                <a:lnTo>
                  <a:pt x="44450" y="203200"/>
                </a:lnTo>
                <a:close/>
              </a:path>
              <a:path w="76200" h="609600">
                <a:moveTo>
                  <a:pt x="44450" y="114300"/>
                </a:moveTo>
                <a:lnTo>
                  <a:pt x="31750" y="114300"/>
                </a:lnTo>
                <a:lnTo>
                  <a:pt x="31750" y="165100"/>
                </a:lnTo>
                <a:lnTo>
                  <a:pt x="44450" y="165100"/>
                </a:lnTo>
                <a:lnTo>
                  <a:pt x="44450" y="114300"/>
                </a:lnTo>
                <a:close/>
              </a:path>
              <a:path w="76200" h="60960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609600">
                <a:moveTo>
                  <a:pt x="44450" y="63500"/>
                </a:moveTo>
                <a:lnTo>
                  <a:pt x="31750" y="63500"/>
                </a:lnTo>
                <a:lnTo>
                  <a:pt x="31750" y="76200"/>
                </a:lnTo>
                <a:lnTo>
                  <a:pt x="44450" y="76200"/>
                </a:lnTo>
                <a:lnTo>
                  <a:pt x="44450" y="63500"/>
                </a:lnTo>
                <a:close/>
              </a:path>
              <a:path w="76200" h="60960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886200" y="4617720"/>
            <a:ext cx="609600" cy="457200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sz="1800" dirty="0">
                <a:latin typeface="Arial"/>
                <a:cs typeface="Arial"/>
              </a:rPr>
              <a:t>A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4674108" y="4617720"/>
            <a:ext cx="533400" cy="457200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sz="1800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152900" y="5074920"/>
            <a:ext cx="76200" cy="533400"/>
          </a:xfrm>
          <a:custGeom>
            <a:avLst/>
            <a:gdLst/>
            <a:ahLst/>
            <a:cxnLst/>
            <a:rect l="l" t="t" r="r" b="b"/>
            <a:pathLst>
              <a:path w="76200" h="533400">
                <a:moveTo>
                  <a:pt x="44450" y="63499"/>
                </a:moveTo>
                <a:lnTo>
                  <a:pt x="31750" y="63499"/>
                </a:lnTo>
                <a:lnTo>
                  <a:pt x="31750" y="533399"/>
                </a:lnTo>
                <a:lnTo>
                  <a:pt x="44450" y="533399"/>
                </a:lnTo>
                <a:lnTo>
                  <a:pt x="44450" y="63499"/>
                </a:lnTo>
                <a:close/>
              </a:path>
              <a:path w="76200" h="533400">
                <a:moveTo>
                  <a:pt x="38100" y="0"/>
                </a:moveTo>
                <a:lnTo>
                  <a:pt x="0" y="76199"/>
                </a:lnTo>
                <a:lnTo>
                  <a:pt x="31750" y="76199"/>
                </a:lnTo>
                <a:lnTo>
                  <a:pt x="31750" y="63499"/>
                </a:lnTo>
                <a:lnTo>
                  <a:pt x="69850" y="63499"/>
                </a:lnTo>
                <a:lnTo>
                  <a:pt x="38100" y="0"/>
                </a:lnTo>
                <a:close/>
              </a:path>
              <a:path w="76200" h="533400">
                <a:moveTo>
                  <a:pt x="69850" y="63499"/>
                </a:moveTo>
                <a:lnTo>
                  <a:pt x="44450" y="63499"/>
                </a:lnTo>
                <a:lnTo>
                  <a:pt x="44450" y="76199"/>
                </a:lnTo>
                <a:lnTo>
                  <a:pt x="76200" y="76199"/>
                </a:lnTo>
                <a:lnTo>
                  <a:pt x="69850" y="6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927091" y="5074920"/>
            <a:ext cx="76200" cy="533400"/>
          </a:xfrm>
          <a:custGeom>
            <a:avLst/>
            <a:gdLst/>
            <a:ahLst/>
            <a:cxnLst/>
            <a:rect l="l" t="t" r="r" b="b"/>
            <a:pathLst>
              <a:path w="76200" h="533400">
                <a:moveTo>
                  <a:pt x="44450" y="63499"/>
                </a:moveTo>
                <a:lnTo>
                  <a:pt x="31750" y="63499"/>
                </a:lnTo>
                <a:lnTo>
                  <a:pt x="31750" y="533399"/>
                </a:lnTo>
                <a:lnTo>
                  <a:pt x="44450" y="533399"/>
                </a:lnTo>
                <a:lnTo>
                  <a:pt x="44450" y="63499"/>
                </a:lnTo>
                <a:close/>
              </a:path>
              <a:path w="76200" h="533400">
                <a:moveTo>
                  <a:pt x="38100" y="0"/>
                </a:moveTo>
                <a:lnTo>
                  <a:pt x="0" y="76199"/>
                </a:lnTo>
                <a:lnTo>
                  <a:pt x="31750" y="76199"/>
                </a:lnTo>
                <a:lnTo>
                  <a:pt x="31750" y="63499"/>
                </a:lnTo>
                <a:lnTo>
                  <a:pt x="69850" y="63499"/>
                </a:lnTo>
                <a:lnTo>
                  <a:pt x="38100" y="0"/>
                </a:lnTo>
                <a:close/>
              </a:path>
              <a:path w="76200" h="533400">
                <a:moveTo>
                  <a:pt x="69850" y="63499"/>
                </a:moveTo>
                <a:lnTo>
                  <a:pt x="44450" y="63499"/>
                </a:lnTo>
                <a:lnTo>
                  <a:pt x="44450" y="76199"/>
                </a:lnTo>
                <a:lnTo>
                  <a:pt x="76200" y="76199"/>
                </a:lnTo>
                <a:lnTo>
                  <a:pt x="69850" y="6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191000" y="5608320"/>
            <a:ext cx="788035" cy="12700"/>
          </a:xfrm>
          <a:custGeom>
            <a:avLst/>
            <a:gdLst/>
            <a:ahLst/>
            <a:cxnLst/>
            <a:rect l="l" t="t" r="r" b="b"/>
            <a:pathLst>
              <a:path w="788035" h="12700">
                <a:moveTo>
                  <a:pt x="0" y="12191"/>
                </a:moveTo>
                <a:lnTo>
                  <a:pt x="787908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343400" y="5989320"/>
            <a:ext cx="533400" cy="457200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sz="1800" spc="-5" dirty="0"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597908" y="56083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099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21893" y="3959479"/>
            <a:ext cx="5755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60470" algn="l"/>
              </a:tabLst>
            </a:pPr>
            <a:r>
              <a:rPr sz="1800" spc="-5" dirty="0">
                <a:latin typeface="Arial"/>
                <a:cs typeface="Arial"/>
              </a:rPr>
              <a:t>Multi-Level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Inheritance	Multiple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Inheritance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536691" y="4617720"/>
            <a:ext cx="609600" cy="457200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675"/>
              </a:spcBef>
            </a:pPr>
            <a:r>
              <a:rPr sz="180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324600" y="4617720"/>
            <a:ext cx="533400" cy="457200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sz="1800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803391" y="5074920"/>
            <a:ext cx="76200" cy="533400"/>
          </a:xfrm>
          <a:custGeom>
            <a:avLst/>
            <a:gdLst/>
            <a:ahLst/>
            <a:cxnLst/>
            <a:rect l="l" t="t" r="r" b="b"/>
            <a:pathLst>
              <a:path w="76200" h="533400">
                <a:moveTo>
                  <a:pt x="44450" y="482599"/>
                </a:moveTo>
                <a:lnTo>
                  <a:pt x="31750" y="482599"/>
                </a:lnTo>
                <a:lnTo>
                  <a:pt x="31750" y="533399"/>
                </a:lnTo>
                <a:lnTo>
                  <a:pt x="44450" y="533399"/>
                </a:lnTo>
                <a:lnTo>
                  <a:pt x="44450" y="482599"/>
                </a:lnTo>
                <a:close/>
              </a:path>
              <a:path w="76200" h="533400">
                <a:moveTo>
                  <a:pt x="44450" y="431799"/>
                </a:moveTo>
                <a:lnTo>
                  <a:pt x="31750" y="431799"/>
                </a:lnTo>
                <a:lnTo>
                  <a:pt x="31750" y="444499"/>
                </a:lnTo>
                <a:lnTo>
                  <a:pt x="44450" y="444499"/>
                </a:lnTo>
                <a:lnTo>
                  <a:pt x="44450" y="431799"/>
                </a:lnTo>
                <a:close/>
              </a:path>
              <a:path w="76200" h="533400">
                <a:moveTo>
                  <a:pt x="44450" y="342899"/>
                </a:moveTo>
                <a:lnTo>
                  <a:pt x="31750" y="342899"/>
                </a:lnTo>
                <a:lnTo>
                  <a:pt x="31750" y="393699"/>
                </a:lnTo>
                <a:lnTo>
                  <a:pt x="44450" y="393699"/>
                </a:lnTo>
                <a:lnTo>
                  <a:pt x="44450" y="342899"/>
                </a:lnTo>
                <a:close/>
              </a:path>
              <a:path w="76200" h="533400">
                <a:moveTo>
                  <a:pt x="44450" y="292099"/>
                </a:moveTo>
                <a:lnTo>
                  <a:pt x="31750" y="292099"/>
                </a:lnTo>
                <a:lnTo>
                  <a:pt x="31750" y="304799"/>
                </a:lnTo>
                <a:lnTo>
                  <a:pt x="44450" y="304799"/>
                </a:lnTo>
                <a:lnTo>
                  <a:pt x="44450" y="292099"/>
                </a:lnTo>
                <a:close/>
              </a:path>
              <a:path w="76200" h="533400">
                <a:moveTo>
                  <a:pt x="44450" y="203199"/>
                </a:moveTo>
                <a:lnTo>
                  <a:pt x="31750" y="203199"/>
                </a:lnTo>
                <a:lnTo>
                  <a:pt x="31750" y="253999"/>
                </a:lnTo>
                <a:lnTo>
                  <a:pt x="44450" y="253999"/>
                </a:lnTo>
                <a:lnTo>
                  <a:pt x="44450" y="203199"/>
                </a:lnTo>
                <a:close/>
              </a:path>
              <a:path w="76200" h="533400">
                <a:moveTo>
                  <a:pt x="44450" y="152399"/>
                </a:moveTo>
                <a:lnTo>
                  <a:pt x="31750" y="152399"/>
                </a:lnTo>
                <a:lnTo>
                  <a:pt x="31750" y="165099"/>
                </a:lnTo>
                <a:lnTo>
                  <a:pt x="44450" y="165099"/>
                </a:lnTo>
                <a:lnTo>
                  <a:pt x="44450" y="152399"/>
                </a:lnTo>
                <a:close/>
              </a:path>
              <a:path w="76200" h="533400">
                <a:moveTo>
                  <a:pt x="44450" y="63499"/>
                </a:moveTo>
                <a:lnTo>
                  <a:pt x="31750" y="63499"/>
                </a:lnTo>
                <a:lnTo>
                  <a:pt x="31750" y="114299"/>
                </a:lnTo>
                <a:lnTo>
                  <a:pt x="44450" y="114299"/>
                </a:lnTo>
                <a:lnTo>
                  <a:pt x="44450" y="63499"/>
                </a:lnTo>
                <a:close/>
              </a:path>
              <a:path w="76200" h="533400">
                <a:moveTo>
                  <a:pt x="38100" y="0"/>
                </a:moveTo>
                <a:lnTo>
                  <a:pt x="0" y="76199"/>
                </a:lnTo>
                <a:lnTo>
                  <a:pt x="31750" y="76199"/>
                </a:lnTo>
                <a:lnTo>
                  <a:pt x="31750" y="63499"/>
                </a:lnTo>
                <a:lnTo>
                  <a:pt x="69850" y="63499"/>
                </a:lnTo>
                <a:lnTo>
                  <a:pt x="38100" y="0"/>
                </a:lnTo>
                <a:close/>
              </a:path>
              <a:path w="76200" h="533400">
                <a:moveTo>
                  <a:pt x="69850" y="63499"/>
                </a:moveTo>
                <a:lnTo>
                  <a:pt x="44450" y="63499"/>
                </a:lnTo>
                <a:lnTo>
                  <a:pt x="44450" y="76199"/>
                </a:lnTo>
                <a:lnTo>
                  <a:pt x="76200" y="76199"/>
                </a:lnTo>
                <a:lnTo>
                  <a:pt x="69850" y="6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579107" y="5074920"/>
            <a:ext cx="76200" cy="533400"/>
          </a:xfrm>
          <a:custGeom>
            <a:avLst/>
            <a:gdLst/>
            <a:ahLst/>
            <a:cxnLst/>
            <a:rect l="l" t="t" r="r" b="b"/>
            <a:pathLst>
              <a:path w="76200" h="533400">
                <a:moveTo>
                  <a:pt x="44450" y="482599"/>
                </a:moveTo>
                <a:lnTo>
                  <a:pt x="31750" y="482599"/>
                </a:lnTo>
                <a:lnTo>
                  <a:pt x="31750" y="533399"/>
                </a:lnTo>
                <a:lnTo>
                  <a:pt x="44450" y="533399"/>
                </a:lnTo>
                <a:lnTo>
                  <a:pt x="44450" y="482599"/>
                </a:lnTo>
                <a:close/>
              </a:path>
              <a:path w="76200" h="533400">
                <a:moveTo>
                  <a:pt x="44450" y="431799"/>
                </a:moveTo>
                <a:lnTo>
                  <a:pt x="31750" y="431799"/>
                </a:lnTo>
                <a:lnTo>
                  <a:pt x="31750" y="444499"/>
                </a:lnTo>
                <a:lnTo>
                  <a:pt x="44450" y="444499"/>
                </a:lnTo>
                <a:lnTo>
                  <a:pt x="44450" y="431799"/>
                </a:lnTo>
                <a:close/>
              </a:path>
              <a:path w="76200" h="533400">
                <a:moveTo>
                  <a:pt x="44450" y="342899"/>
                </a:moveTo>
                <a:lnTo>
                  <a:pt x="31750" y="342899"/>
                </a:lnTo>
                <a:lnTo>
                  <a:pt x="31750" y="393699"/>
                </a:lnTo>
                <a:lnTo>
                  <a:pt x="44450" y="393699"/>
                </a:lnTo>
                <a:lnTo>
                  <a:pt x="44450" y="342899"/>
                </a:lnTo>
                <a:close/>
              </a:path>
              <a:path w="76200" h="533400">
                <a:moveTo>
                  <a:pt x="44450" y="292099"/>
                </a:moveTo>
                <a:lnTo>
                  <a:pt x="31750" y="292099"/>
                </a:lnTo>
                <a:lnTo>
                  <a:pt x="31750" y="304799"/>
                </a:lnTo>
                <a:lnTo>
                  <a:pt x="44450" y="304799"/>
                </a:lnTo>
                <a:lnTo>
                  <a:pt x="44450" y="292099"/>
                </a:lnTo>
                <a:close/>
              </a:path>
              <a:path w="76200" h="533400">
                <a:moveTo>
                  <a:pt x="44450" y="203199"/>
                </a:moveTo>
                <a:lnTo>
                  <a:pt x="31750" y="203199"/>
                </a:lnTo>
                <a:lnTo>
                  <a:pt x="31750" y="253999"/>
                </a:lnTo>
                <a:lnTo>
                  <a:pt x="44450" y="253999"/>
                </a:lnTo>
                <a:lnTo>
                  <a:pt x="44450" y="203199"/>
                </a:lnTo>
                <a:close/>
              </a:path>
              <a:path w="76200" h="533400">
                <a:moveTo>
                  <a:pt x="44450" y="152399"/>
                </a:moveTo>
                <a:lnTo>
                  <a:pt x="31750" y="152399"/>
                </a:lnTo>
                <a:lnTo>
                  <a:pt x="31750" y="165099"/>
                </a:lnTo>
                <a:lnTo>
                  <a:pt x="44450" y="165099"/>
                </a:lnTo>
                <a:lnTo>
                  <a:pt x="44450" y="152399"/>
                </a:lnTo>
                <a:close/>
              </a:path>
              <a:path w="76200" h="533400">
                <a:moveTo>
                  <a:pt x="44450" y="63499"/>
                </a:moveTo>
                <a:lnTo>
                  <a:pt x="31750" y="63499"/>
                </a:lnTo>
                <a:lnTo>
                  <a:pt x="31750" y="114299"/>
                </a:lnTo>
                <a:lnTo>
                  <a:pt x="44450" y="114299"/>
                </a:lnTo>
                <a:lnTo>
                  <a:pt x="44450" y="63499"/>
                </a:lnTo>
                <a:close/>
              </a:path>
              <a:path w="76200" h="533400">
                <a:moveTo>
                  <a:pt x="38100" y="0"/>
                </a:moveTo>
                <a:lnTo>
                  <a:pt x="0" y="76199"/>
                </a:lnTo>
                <a:lnTo>
                  <a:pt x="31750" y="76199"/>
                </a:lnTo>
                <a:lnTo>
                  <a:pt x="31750" y="63499"/>
                </a:lnTo>
                <a:lnTo>
                  <a:pt x="69850" y="63499"/>
                </a:lnTo>
                <a:lnTo>
                  <a:pt x="38100" y="0"/>
                </a:lnTo>
                <a:close/>
              </a:path>
              <a:path w="76200" h="533400">
                <a:moveTo>
                  <a:pt x="69850" y="63499"/>
                </a:moveTo>
                <a:lnTo>
                  <a:pt x="44450" y="63499"/>
                </a:lnTo>
                <a:lnTo>
                  <a:pt x="44450" y="76199"/>
                </a:lnTo>
                <a:lnTo>
                  <a:pt x="76200" y="76199"/>
                </a:lnTo>
                <a:lnTo>
                  <a:pt x="69850" y="6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841491" y="5608320"/>
            <a:ext cx="788035" cy="12700"/>
          </a:xfrm>
          <a:custGeom>
            <a:avLst/>
            <a:gdLst/>
            <a:ahLst/>
            <a:cxnLst/>
            <a:rect l="l" t="t" r="r" b="b"/>
            <a:pathLst>
              <a:path w="788034" h="12700">
                <a:moveTo>
                  <a:pt x="0" y="12191"/>
                </a:moveTo>
                <a:lnTo>
                  <a:pt x="787908" y="0"/>
                </a:lnTo>
              </a:path>
            </a:pathLst>
          </a:custGeom>
          <a:ln w="9143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993891" y="5989320"/>
            <a:ext cx="533400" cy="457200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680"/>
              </a:spcBef>
            </a:pPr>
            <a:r>
              <a:rPr sz="1800" spc="-5" dirty="0"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248400" y="56083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0999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198748" y="4066032"/>
            <a:ext cx="970915" cy="287020"/>
          </a:xfrm>
          <a:custGeom>
            <a:avLst/>
            <a:gdLst/>
            <a:ahLst/>
            <a:cxnLst/>
            <a:rect l="l" t="t" r="r" b="b"/>
            <a:pathLst>
              <a:path w="970914" h="287020">
                <a:moveTo>
                  <a:pt x="3301" y="0"/>
                </a:moveTo>
                <a:lnTo>
                  <a:pt x="0" y="12192"/>
                </a:lnTo>
                <a:lnTo>
                  <a:pt x="36702" y="22225"/>
                </a:lnTo>
                <a:lnTo>
                  <a:pt x="40131" y="9906"/>
                </a:lnTo>
                <a:lnTo>
                  <a:pt x="3301" y="0"/>
                </a:lnTo>
                <a:close/>
              </a:path>
              <a:path w="970914" h="287020">
                <a:moveTo>
                  <a:pt x="52324" y="13335"/>
                </a:moveTo>
                <a:lnTo>
                  <a:pt x="49021" y="25527"/>
                </a:lnTo>
                <a:lnTo>
                  <a:pt x="85725" y="35560"/>
                </a:lnTo>
                <a:lnTo>
                  <a:pt x="89153" y="23241"/>
                </a:lnTo>
                <a:lnTo>
                  <a:pt x="52324" y="13335"/>
                </a:lnTo>
                <a:close/>
              </a:path>
              <a:path w="970914" h="287020">
                <a:moveTo>
                  <a:pt x="101346" y="26670"/>
                </a:moveTo>
                <a:lnTo>
                  <a:pt x="98043" y="38862"/>
                </a:lnTo>
                <a:lnTo>
                  <a:pt x="134747" y="48895"/>
                </a:lnTo>
                <a:lnTo>
                  <a:pt x="138175" y="36576"/>
                </a:lnTo>
                <a:lnTo>
                  <a:pt x="101346" y="26670"/>
                </a:lnTo>
                <a:close/>
              </a:path>
              <a:path w="970914" h="287020">
                <a:moveTo>
                  <a:pt x="150367" y="40005"/>
                </a:moveTo>
                <a:lnTo>
                  <a:pt x="147065" y="52197"/>
                </a:lnTo>
                <a:lnTo>
                  <a:pt x="183768" y="62230"/>
                </a:lnTo>
                <a:lnTo>
                  <a:pt x="187198" y="49911"/>
                </a:lnTo>
                <a:lnTo>
                  <a:pt x="150367" y="40005"/>
                </a:lnTo>
                <a:close/>
              </a:path>
              <a:path w="970914" h="287020">
                <a:moveTo>
                  <a:pt x="199389" y="53340"/>
                </a:moveTo>
                <a:lnTo>
                  <a:pt x="196087" y="65532"/>
                </a:lnTo>
                <a:lnTo>
                  <a:pt x="232790" y="75565"/>
                </a:lnTo>
                <a:lnTo>
                  <a:pt x="236220" y="63246"/>
                </a:lnTo>
                <a:lnTo>
                  <a:pt x="199389" y="53340"/>
                </a:lnTo>
                <a:close/>
              </a:path>
              <a:path w="970914" h="287020">
                <a:moveTo>
                  <a:pt x="248412" y="66675"/>
                </a:moveTo>
                <a:lnTo>
                  <a:pt x="245110" y="78867"/>
                </a:lnTo>
                <a:lnTo>
                  <a:pt x="281813" y="88900"/>
                </a:lnTo>
                <a:lnTo>
                  <a:pt x="285114" y="76581"/>
                </a:lnTo>
                <a:lnTo>
                  <a:pt x="248412" y="66675"/>
                </a:lnTo>
                <a:close/>
              </a:path>
              <a:path w="970914" h="287020">
                <a:moveTo>
                  <a:pt x="297434" y="80010"/>
                </a:moveTo>
                <a:lnTo>
                  <a:pt x="294131" y="92202"/>
                </a:lnTo>
                <a:lnTo>
                  <a:pt x="330835" y="102235"/>
                </a:lnTo>
                <a:lnTo>
                  <a:pt x="334137" y="89916"/>
                </a:lnTo>
                <a:lnTo>
                  <a:pt x="297434" y="80010"/>
                </a:lnTo>
                <a:close/>
              </a:path>
              <a:path w="970914" h="287020">
                <a:moveTo>
                  <a:pt x="346455" y="93345"/>
                </a:moveTo>
                <a:lnTo>
                  <a:pt x="343153" y="105537"/>
                </a:lnTo>
                <a:lnTo>
                  <a:pt x="379856" y="115570"/>
                </a:lnTo>
                <a:lnTo>
                  <a:pt x="383159" y="103251"/>
                </a:lnTo>
                <a:lnTo>
                  <a:pt x="346455" y="93345"/>
                </a:lnTo>
                <a:close/>
              </a:path>
              <a:path w="970914" h="287020">
                <a:moveTo>
                  <a:pt x="395477" y="106680"/>
                </a:moveTo>
                <a:lnTo>
                  <a:pt x="392175" y="118872"/>
                </a:lnTo>
                <a:lnTo>
                  <a:pt x="428878" y="128905"/>
                </a:lnTo>
                <a:lnTo>
                  <a:pt x="432180" y="116586"/>
                </a:lnTo>
                <a:lnTo>
                  <a:pt x="395477" y="106680"/>
                </a:lnTo>
                <a:close/>
              </a:path>
              <a:path w="970914" h="287020">
                <a:moveTo>
                  <a:pt x="444500" y="120015"/>
                </a:moveTo>
                <a:lnTo>
                  <a:pt x="441198" y="132207"/>
                </a:lnTo>
                <a:lnTo>
                  <a:pt x="477900" y="142240"/>
                </a:lnTo>
                <a:lnTo>
                  <a:pt x="481202" y="129921"/>
                </a:lnTo>
                <a:lnTo>
                  <a:pt x="444500" y="120015"/>
                </a:lnTo>
                <a:close/>
              </a:path>
              <a:path w="970914" h="287020">
                <a:moveTo>
                  <a:pt x="493522" y="133350"/>
                </a:moveTo>
                <a:lnTo>
                  <a:pt x="490220" y="145542"/>
                </a:lnTo>
                <a:lnTo>
                  <a:pt x="526923" y="155575"/>
                </a:lnTo>
                <a:lnTo>
                  <a:pt x="530225" y="143256"/>
                </a:lnTo>
                <a:lnTo>
                  <a:pt x="493522" y="133350"/>
                </a:lnTo>
                <a:close/>
              </a:path>
              <a:path w="970914" h="287020">
                <a:moveTo>
                  <a:pt x="542543" y="146685"/>
                </a:moveTo>
                <a:lnTo>
                  <a:pt x="539241" y="158877"/>
                </a:lnTo>
                <a:lnTo>
                  <a:pt x="575945" y="168910"/>
                </a:lnTo>
                <a:lnTo>
                  <a:pt x="579247" y="156591"/>
                </a:lnTo>
                <a:lnTo>
                  <a:pt x="542543" y="146685"/>
                </a:lnTo>
                <a:close/>
              </a:path>
              <a:path w="970914" h="287020">
                <a:moveTo>
                  <a:pt x="591565" y="160020"/>
                </a:moveTo>
                <a:lnTo>
                  <a:pt x="588263" y="172212"/>
                </a:lnTo>
                <a:lnTo>
                  <a:pt x="624966" y="182245"/>
                </a:lnTo>
                <a:lnTo>
                  <a:pt x="628268" y="169926"/>
                </a:lnTo>
                <a:lnTo>
                  <a:pt x="591565" y="160020"/>
                </a:lnTo>
                <a:close/>
              </a:path>
              <a:path w="970914" h="287020">
                <a:moveTo>
                  <a:pt x="640588" y="173355"/>
                </a:moveTo>
                <a:lnTo>
                  <a:pt x="637286" y="185547"/>
                </a:lnTo>
                <a:lnTo>
                  <a:pt x="673988" y="195580"/>
                </a:lnTo>
                <a:lnTo>
                  <a:pt x="677290" y="183261"/>
                </a:lnTo>
                <a:lnTo>
                  <a:pt x="640588" y="173355"/>
                </a:lnTo>
                <a:close/>
              </a:path>
              <a:path w="970914" h="287020">
                <a:moveTo>
                  <a:pt x="689610" y="186690"/>
                </a:moveTo>
                <a:lnTo>
                  <a:pt x="686308" y="198882"/>
                </a:lnTo>
                <a:lnTo>
                  <a:pt x="723011" y="208915"/>
                </a:lnTo>
                <a:lnTo>
                  <a:pt x="726313" y="196596"/>
                </a:lnTo>
                <a:lnTo>
                  <a:pt x="689610" y="186690"/>
                </a:lnTo>
                <a:close/>
              </a:path>
              <a:path w="970914" h="287020">
                <a:moveTo>
                  <a:pt x="738631" y="200025"/>
                </a:moveTo>
                <a:lnTo>
                  <a:pt x="735202" y="212217"/>
                </a:lnTo>
                <a:lnTo>
                  <a:pt x="772033" y="222250"/>
                </a:lnTo>
                <a:lnTo>
                  <a:pt x="775335" y="209931"/>
                </a:lnTo>
                <a:lnTo>
                  <a:pt x="738631" y="200025"/>
                </a:lnTo>
                <a:close/>
              </a:path>
              <a:path w="970914" h="287020">
                <a:moveTo>
                  <a:pt x="787653" y="213360"/>
                </a:moveTo>
                <a:lnTo>
                  <a:pt x="784225" y="225552"/>
                </a:lnTo>
                <a:lnTo>
                  <a:pt x="821054" y="235585"/>
                </a:lnTo>
                <a:lnTo>
                  <a:pt x="824356" y="223266"/>
                </a:lnTo>
                <a:lnTo>
                  <a:pt x="787653" y="213360"/>
                </a:lnTo>
                <a:close/>
              </a:path>
              <a:path w="970914" h="287020">
                <a:moveTo>
                  <a:pt x="836676" y="226695"/>
                </a:moveTo>
                <a:lnTo>
                  <a:pt x="833247" y="238887"/>
                </a:lnTo>
                <a:lnTo>
                  <a:pt x="870076" y="248920"/>
                </a:lnTo>
                <a:lnTo>
                  <a:pt x="873378" y="236601"/>
                </a:lnTo>
                <a:lnTo>
                  <a:pt x="836676" y="226695"/>
                </a:lnTo>
                <a:close/>
              </a:path>
              <a:path w="970914" h="287020">
                <a:moveTo>
                  <a:pt x="895707" y="255881"/>
                </a:moveTo>
                <a:lnTo>
                  <a:pt x="887349" y="286512"/>
                </a:lnTo>
                <a:lnTo>
                  <a:pt x="970914" y="269748"/>
                </a:lnTo>
                <a:lnTo>
                  <a:pt x="959124" y="259207"/>
                </a:lnTo>
                <a:lnTo>
                  <a:pt x="907923" y="259207"/>
                </a:lnTo>
                <a:lnTo>
                  <a:pt x="895707" y="255881"/>
                </a:lnTo>
                <a:close/>
              </a:path>
              <a:path w="970914" h="287020">
                <a:moveTo>
                  <a:pt x="899041" y="243663"/>
                </a:moveTo>
                <a:lnTo>
                  <a:pt x="895707" y="255881"/>
                </a:lnTo>
                <a:lnTo>
                  <a:pt x="907923" y="259207"/>
                </a:lnTo>
                <a:lnTo>
                  <a:pt x="911351" y="247015"/>
                </a:lnTo>
                <a:lnTo>
                  <a:pt x="899041" y="243663"/>
                </a:lnTo>
                <a:close/>
              </a:path>
              <a:path w="970914" h="287020">
                <a:moveTo>
                  <a:pt x="907414" y="212979"/>
                </a:moveTo>
                <a:lnTo>
                  <a:pt x="899041" y="243663"/>
                </a:lnTo>
                <a:lnTo>
                  <a:pt x="911351" y="247015"/>
                </a:lnTo>
                <a:lnTo>
                  <a:pt x="907923" y="259207"/>
                </a:lnTo>
                <a:lnTo>
                  <a:pt x="959124" y="259207"/>
                </a:lnTo>
                <a:lnTo>
                  <a:pt x="907414" y="212979"/>
                </a:lnTo>
                <a:close/>
              </a:path>
              <a:path w="970914" h="287020">
                <a:moveTo>
                  <a:pt x="885698" y="240030"/>
                </a:moveTo>
                <a:lnTo>
                  <a:pt x="882268" y="252222"/>
                </a:lnTo>
                <a:lnTo>
                  <a:pt x="895707" y="255881"/>
                </a:lnTo>
                <a:lnTo>
                  <a:pt x="899041" y="243663"/>
                </a:lnTo>
                <a:lnTo>
                  <a:pt x="885698" y="24003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5157978" y="3433953"/>
            <a:ext cx="3656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Multiple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Implementation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157978" y="3708272"/>
            <a:ext cx="2458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SUPPORTED BY</a:t>
            </a:r>
            <a:r>
              <a:rPr sz="1800" b="1" spc="-1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80" dirty="0">
                <a:solidFill>
                  <a:srgbClr val="FF0000"/>
                </a:solidFill>
                <a:latin typeface="Arial"/>
                <a:cs typeface="Arial"/>
              </a:rPr>
              <a:t>JAVA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837178" y="4216653"/>
            <a:ext cx="1405890" cy="363220"/>
          </a:xfrm>
          <a:custGeom>
            <a:avLst/>
            <a:gdLst/>
            <a:ahLst/>
            <a:cxnLst/>
            <a:rect l="l" t="t" r="r" b="b"/>
            <a:pathLst>
              <a:path w="1405889" h="363220">
                <a:moveTo>
                  <a:pt x="635" y="324612"/>
                </a:moveTo>
                <a:lnTo>
                  <a:pt x="627" y="327152"/>
                </a:lnTo>
                <a:lnTo>
                  <a:pt x="126" y="344678"/>
                </a:lnTo>
                <a:lnTo>
                  <a:pt x="0" y="362839"/>
                </a:lnTo>
                <a:lnTo>
                  <a:pt x="12700" y="363093"/>
                </a:lnTo>
                <a:lnTo>
                  <a:pt x="12829" y="344678"/>
                </a:lnTo>
                <a:lnTo>
                  <a:pt x="13208" y="327152"/>
                </a:lnTo>
                <a:lnTo>
                  <a:pt x="13335" y="325120"/>
                </a:lnTo>
                <a:lnTo>
                  <a:pt x="635" y="324612"/>
                </a:lnTo>
                <a:close/>
              </a:path>
              <a:path w="1405889" h="363220">
                <a:moveTo>
                  <a:pt x="4063" y="273558"/>
                </a:moveTo>
                <a:lnTo>
                  <a:pt x="3683" y="277495"/>
                </a:lnTo>
                <a:lnTo>
                  <a:pt x="2412" y="293243"/>
                </a:lnTo>
                <a:lnTo>
                  <a:pt x="1270" y="311912"/>
                </a:lnTo>
                <a:lnTo>
                  <a:pt x="13970" y="312420"/>
                </a:lnTo>
                <a:lnTo>
                  <a:pt x="13970" y="310261"/>
                </a:lnTo>
                <a:lnTo>
                  <a:pt x="15169" y="293243"/>
                </a:lnTo>
                <a:lnTo>
                  <a:pt x="16256" y="278511"/>
                </a:lnTo>
                <a:lnTo>
                  <a:pt x="16637" y="274828"/>
                </a:lnTo>
                <a:lnTo>
                  <a:pt x="4063" y="273558"/>
                </a:lnTo>
                <a:close/>
              </a:path>
              <a:path w="1405889" h="363220">
                <a:moveTo>
                  <a:pt x="11302" y="222504"/>
                </a:moveTo>
                <a:lnTo>
                  <a:pt x="10922" y="224282"/>
                </a:lnTo>
                <a:lnTo>
                  <a:pt x="8889" y="235966"/>
                </a:lnTo>
                <a:lnTo>
                  <a:pt x="6858" y="248793"/>
                </a:lnTo>
                <a:lnTo>
                  <a:pt x="5334" y="260731"/>
                </a:lnTo>
                <a:lnTo>
                  <a:pt x="17907" y="262382"/>
                </a:lnTo>
                <a:lnTo>
                  <a:pt x="19431" y="250444"/>
                </a:lnTo>
                <a:lnTo>
                  <a:pt x="21336" y="237998"/>
                </a:lnTo>
                <a:lnTo>
                  <a:pt x="23749" y="225298"/>
                </a:lnTo>
                <a:lnTo>
                  <a:pt x="11302" y="222504"/>
                </a:lnTo>
                <a:close/>
              </a:path>
              <a:path w="1405889" h="363220">
                <a:moveTo>
                  <a:pt x="41656" y="178308"/>
                </a:moveTo>
                <a:lnTo>
                  <a:pt x="35433" y="178308"/>
                </a:lnTo>
                <a:lnTo>
                  <a:pt x="34162" y="178562"/>
                </a:lnTo>
                <a:lnTo>
                  <a:pt x="31114" y="179578"/>
                </a:lnTo>
                <a:lnTo>
                  <a:pt x="30225" y="179832"/>
                </a:lnTo>
                <a:lnTo>
                  <a:pt x="21462" y="190119"/>
                </a:lnTo>
                <a:lnTo>
                  <a:pt x="18542" y="196596"/>
                </a:lnTo>
                <a:lnTo>
                  <a:pt x="15748" y="204597"/>
                </a:lnTo>
                <a:lnTo>
                  <a:pt x="14350" y="209931"/>
                </a:lnTo>
                <a:lnTo>
                  <a:pt x="26543" y="213233"/>
                </a:lnTo>
                <a:lnTo>
                  <a:pt x="28067" y="207772"/>
                </a:lnTo>
                <a:lnTo>
                  <a:pt x="30480" y="200787"/>
                </a:lnTo>
                <a:lnTo>
                  <a:pt x="32615" y="196088"/>
                </a:lnTo>
                <a:lnTo>
                  <a:pt x="33020" y="195199"/>
                </a:lnTo>
                <a:lnTo>
                  <a:pt x="34573" y="193040"/>
                </a:lnTo>
                <a:lnTo>
                  <a:pt x="34289" y="193040"/>
                </a:lnTo>
                <a:lnTo>
                  <a:pt x="35433" y="191770"/>
                </a:lnTo>
                <a:lnTo>
                  <a:pt x="35741" y="191770"/>
                </a:lnTo>
                <a:lnTo>
                  <a:pt x="35886" y="191643"/>
                </a:lnTo>
                <a:lnTo>
                  <a:pt x="34925" y="191643"/>
                </a:lnTo>
                <a:lnTo>
                  <a:pt x="36131" y="191008"/>
                </a:lnTo>
                <a:lnTo>
                  <a:pt x="37337" y="190373"/>
                </a:lnTo>
                <a:lnTo>
                  <a:pt x="41656" y="190373"/>
                </a:lnTo>
                <a:lnTo>
                  <a:pt x="41656" y="178308"/>
                </a:lnTo>
                <a:close/>
              </a:path>
              <a:path w="1405889" h="363220">
                <a:moveTo>
                  <a:pt x="33020" y="195199"/>
                </a:moveTo>
                <a:lnTo>
                  <a:pt x="32512" y="196088"/>
                </a:lnTo>
                <a:lnTo>
                  <a:pt x="32828" y="195619"/>
                </a:lnTo>
                <a:lnTo>
                  <a:pt x="33020" y="195199"/>
                </a:lnTo>
                <a:close/>
              </a:path>
              <a:path w="1405889" h="363220">
                <a:moveTo>
                  <a:pt x="32828" y="195619"/>
                </a:moveTo>
                <a:lnTo>
                  <a:pt x="32512" y="196088"/>
                </a:lnTo>
                <a:lnTo>
                  <a:pt x="32828" y="195619"/>
                </a:lnTo>
                <a:close/>
              </a:path>
              <a:path w="1405889" h="363220">
                <a:moveTo>
                  <a:pt x="33113" y="195199"/>
                </a:moveTo>
                <a:lnTo>
                  <a:pt x="32828" y="195619"/>
                </a:lnTo>
                <a:lnTo>
                  <a:pt x="33113" y="195199"/>
                </a:lnTo>
                <a:close/>
              </a:path>
              <a:path w="1405889" h="363220">
                <a:moveTo>
                  <a:pt x="35433" y="191770"/>
                </a:moveTo>
                <a:lnTo>
                  <a:pt x="34289" y="193040"/>
                </a:lnTo>
                <a:lnTo>
                  <a:pt x="34985" y="192431"/>
                </a:lnTo>
                <a:lnTo>
                  <a:pt x="35433" y="191770"/>
                </a:lnTo>
                <a:close/>
              </a:path>
              <a:path w="1405889" h="363220">
                <a:moveTo>
                  <a:pt x="34985" y="192431"/>
                </a:moveTo>
                <a:lnTo>
                  <a:pt x="34289" y="193040"/>
                </a:lnTo>
                <a:lnTo>
                  <a:pt x="34573" y="193040"/>
                </a:lnTo>
                <a:lnTo>
                  <a:pt x="34985" y="192431"/>
                </a:lnTo>
                <a:close/>
              </a:path>
              <a:path w="1405889" h="363220">
                <a:moveTo>
                  <a:pt x="35741" y="191770"/>
                </a:moveTo>
                <a:lnTo>
                  <a:pt x="35433" y="191770"/>
                </a:lnTo>
                <a:lnTo>
                  <a:pt x="34985" y="192431"/>
                </a:lnTo>
                <a:lnTo>
                  <a:pt x="35741" y="191770"/>
                </a:lnTo>
                <a:close/>
              </a:path>
              <a:path w="1405889" h="363220">
                <a:moveTo>
                  <a:pt x="36710" y="190922"/>
                </a:moveTo>
                <a:lnTo>
                  <a:pt x="36131" y="191008"/>
                </a:lnTo>
                <a:lnTo>
                  <a:pt x="34925" y="191643"/>
                </a:lnTo>
                <a:lnTo>
                  <a:pt x="36367" y="191222"/>
                </a:lnTo>
                <a:lnTo>
                  <a:pt x="36710" y="190922"/>
                </a:lnTo>
                <a:close/>
              </a:path>
              <a:path w="1405889" h="363220">
                <a:moveTo>
                  <a:pt x="36367" y="191222"/>
                </a:moveTo>
                <a:lnTo>
                  <a:pt x="34925" y="191643"/>
                </a:lnTo>
                <a:lnTo>
                  <a:pt x="35886" y="191643"/>
                </a:lnTo>
                <a:lnTo>
                  <a:pt x="36367" y="191222"/>
                </a:lnTo>
                <a:close/>
              </a:path>
              <a:path w="1405889" h="363220">
                <a:moveTo>
                  <a:pt x="37973" y="190754"/>
                </a:moveTo>
                <a:lnTo>
                  <a:pt x="36710" y="190922"/>
                </a:lnTo>
                <a:lnTo>
                  <a:pt x="36367" y="191222"/>
                </a:lnTo>
                <a:lnTo>
                  <a:pt x="37973" y="190754"/>
                </a:lnTo>
                <a:close/>
              </a:path>
              <a:path w="1405889" h="363220">
                <a:moveTo>
                  <a:pt x="41656" y="190754"/>
                </a:moveTo>
                <a:lnTo>
                  <a:pt x="37973" y="190754"/>
                </a:lnTo>
                <a:lnTo>
                  <a:pt x="37102" y="191008"/>
                </a:lnTo>
                <a:lnTo>
                  <a:pt x="41656" y="191008"/>
                </a:lnTo>
                <a:lnTo>
                  <a:pt x="41656" y="190754"/>
                </a:lnTo>
                <a:close/>
              </a:path>
              <a:path w="1405889" h="363220">
                <a:moveTo>
                  <a:pt x="37337" y="190373"/>
                </a:moveTo>
                <a:lnTo>
                  <a:pt x="36153" y="190996"/>
                </a:lnTo>
                <a:lnTo>
                  <a:pt x="36710" y="190922"/>
                </a:lnTo>
                <a:lnTo>
                  <a:pt x="37337" y="190373"/>
                </a:lnTo>
                <a:close/>
              </a:path>
              <a:path w="1405889" h="363220">
                <a:moveTo>
                  <a:pt x="41656" y="190373"/>
                </a:moveTo>
                <a:lnTo>
                  <a:pt x="37337" y="190373"/>
                </a:lnTo>
                <a:lnTo>
                  <a:pt x="36710" y="190922"/>
                </a:lnTo>
                <a:lnTo>
                  <a:pt x="37973" y="190754"/>
                </a:lnTo>
                <a:lnTo>
                  <a:pt x="41656" y="190754"/>
                </a:lnTo>
                <a:lnTo>
                  <a:pt x="41656" y="190373"/>
                </a:lnTo>
                <a:close/>
              </a:path>
              <a:path w="1405889" h="363220">
                <a:moveTo>
                  <a:pt x="92456" y="178308"/>
                </a:moveTo>
                <a:lnTo>
                  <a:pt x="54356" y="178308"/>
                </a:lnTo>
                <a:lnTo>
                  <a:pt x="54356" y="191008"/>
                </a:lnTo>
                <a:lnTo>
                  <a:pt x="92456" y="191008"/>
                </a:lnTo>
                <a:lnTo>
                  <a:pt x="92456" y="178308"/>
                </a:lnTo>
                <a:close/>
              </a:path>
              <a:path w="1405889" h="363220">
                <a:moveTo>
                  <a:pt x="143256" y="178308"/>
                </a:moveTo>
                <a:lnTo>
                  <a:pt x="105156" y="178308"/>
                </a:lnTo>
                <a:lnTo>
                  <a:pt x="105156" y="191008"/>
                </a:lnTo>
                <a:lnTo>
                  <a:pt x="143256" y="191008"/>
                </a:lnTo>
                <a:lnTo>
                  <a:pt x="143256" y="178308"/>
                </a:lnTo>
                <a:close/>
              </a:path>
              <a:path w="1405889" h="363220">
                <a:moveTo>
                  <a:pt x="194056" y="178308"/>
                </a:moveTo>
                <a:lnTo>
                  <a:pt x="155956" y="178308"/>
                </a:lnTo>
                <a:lnTo>
                  <a:pt x="155956" y="191008"/>
                </a:lnTo>
                <a:lnTo>
                  <a:pt x="194056" y="191008"/>
                </a:lnTo>
                <a:lnTo>
                  <a:pt x="194056" y="178308"/>
                </a:lnTo>
                <a:close/>
              </a:path>
              <a:path w="1405889" h="363220">
                <a:moveTo>
                  <a:pt x="244856" y="178308"/>
                </a:moveTo>
                <a:lnTo>
                  <a:pt x="206756" y="178308"/>
                </a:lnTo>
                <a:lnTo>
                  <a:pt x="206756" y="191008"/>
                </a:lnTo>
                <a:lnTo>
                  <a:pt x="244856" y="191008"/>
                </a:lnTo>
                <a:lnTo>
                  <a:pt x="244856" y="178308"/>
                </a:lnTo>
                <a:close/>
              </a:path>
              <a:path w="1405889" h="363220">
                <a:moveTo>
                  <a:pt x="295656" y="178308"/>
                </a:moveTo>
                <a:lnTo>
                  <a:pt x="257556" y="178308"/>
                </a:lnTo>
                <a:lnTo>
                  <a:pt x="257556" y="191008"/>
                </a:lnTo>
                <a:lnTo>
                  <a:pt x="295656" y="191008"/>
                </a:lnTo>
                <a:lnTo>
                  <a:pt x="295656" y="178308"/>
                </a:lnTo>
                <a:close/>
              </a:path>
              <a:path w="1405889" h="363220">
                <a:moveTo>
                  <a:pt x="346456" y="178308"/>
                </a:moveTo>
                <a:lnTo>
                  <a:pt x="308356" y="178308"/>
                </a:lnTo>
                <a:lnTo>
                  <a:pt x="308356" y="191008"/>
                </a:lnTo>
                <a:lnTo>
                  <a:pt x="346456" y="191008"/>
                </a:lnTo>
                <a:lnTo>
                  <a:pt x="346456" y="178308"/>
                </a:lnTo>
                <a:close/>
              </a:path>
              <a:path w="1405889" h="363220">
                <a:moveTo>
                  <a:pt x="397256" y="178308"/>
                </a:moveTo>
                <a:lnTo>
                  <a:pt x="359156" y="178308"/>
                </a:lnTo>
                <a:lnTo>
                  <a:pt x="359156" y="191008"/>
                </a:lnTo>
                <a:lnTo>
                  <a:pt x="397256" y="191008"/>
                </a:lnTo>
                <a:lnTo>
                  <a:pt x="397256" y="178308"/>
                </a:lnTo>
                <a:close/>
              </a:path>
              <a:path w="1405889" h="363220">
                <a:moveTo>
                  <a:pt x="448056" y="178308"/>
                </a:moveTo>
                <a:lnTo>
                  <a:pt x="409956" y="178308"/>
                </a:lnTo>
                <a:lnTo>
                  <a:pt x="409956" y="191008"/>
                </a:lnTo>
                <a:lnTo>
                  <a:pt x="448056" y="191008"/>
                </a:lnTo>
                <a:lnTo>
                  <a:pt x="448056" y="178308"/>
                </a:lnTo>
                <a:close/>
              </a:path>
              <a:path w="1405889" h="363220">
                <a:moveTo>
                  <a:pt x="498856" y="178308"/>
                </a:moveTo>
                <a:lnTo>
                  <a:pt x="460756" y="178308"/>
                </a:lnTo>
                <a:lnTo>
                  <a:pt x="460756" y="191008"/>
                </a:lnTo>
                <a:lnTo>
                  <a:pt x="498856" y="191008"/>
                </a:lnTo>
                <a:lnTo>
                  <a:pt x="498856" y="178308"/>
                </a:lnTo>
                <a:close/>
              </a:path>
              <a:path w="1405889" h="363220">
                <a:moveTo>
                  <a:pt x="549656" y="178308"/>
                </a:moveTo>
                <a:lnTo>
                  <a:pt x="511556" y="178308"/>
                </a:lnTo>
                <a:lnTo>
                  <a:pt x="511556" y="191008"/>
                </a:lnTo>
                <a:lnTo>
                  <a:pt x="549656" y="191008"/>
                </a:lnTo>
                <a:lnTo>
                  <a:pt x="549656" y="178308"/>
                </a:lnTo>
                <a:close/>
              </a:path>
              <a:path w="1405889" h="363220">
                <a:moveTo>
                  <a:pt x="600456" y="178308"/>
                </a:moveTo>
                <a:lnTo>
                  <a:pt x="562356" y="178308"/>
                </a:lnTo>
                <a:lnTo>
                  <a:pt x="562356" y="191008"/>
                </a:lnTo>
                <a:lnTo>
                  <a:pt x="600456" y="191008"/>
                </a:lnTo>
                <a:lnTo>
                  <a:pt x="600456" y="178308"/>
                </a:lnTo>
                <a:close/>
              </a:path>
              <a:path w="1405889" h="363220">
                <a:moveTo>
                  <a:pt x="651256" y="178308"/>
                </a:moveTo>
                <a:lnTo>
                  <a:pt x="613156" y="178308"/>
                </a:lnTo>
                <a:lnTo>
                  <a:pt x="613156" y="191008"/>
                </a:lnTo>
                <a:lnTo>
                  <a:pt x="651256" y="191008"/>
                </a:lnTo>
                <a:lnTo>
                  <a:pt x="651256" y="178308"/>
                </a:lnTo>
                <a:close/>
              </a:path>
              <a:path w="1405889" h="363220">
                <a:moveTo>
                  <a:pt x="674659" y="176276"/>
                </a:moveTo>
                <a:lnTo>
                  <a:pt x="660400" y="176276"/>
                </a:lnTo>
                <a:lnTo>
                  <a:pt x="659384" y="177546"/>
                </a:lnTo>
                <a:lnTo>
                  <a:pt x="659129" y="177546"/>
                </a:lnTo>
                <a:lnTo>
                  <a:pt x="667512" y="187071"/>
                </a:lnTo>
                <a:lnTo>
                  <a:pt x="669036" y="185801"/>
                </a:lnTo>
                <a:lnTo>
                  <a:pt x="669417" y="185420"/>
                </a:lnTo>
                <a:lnTo>
                  <a:pt x="669798" y="184912"/>
                </a:lnTo>
                <a:lnTo>
                  <a:pt x="672846" y="180086"/>
                </a:lnTo>
                <a:lnTo>
                  <a:pt x="673100" y="179832"/>
                </a:lnTo>
                <a:lnTo>
                  <a:pt x="673226" y="179578"/>
                </a:lnTo>
                <a:lnTo>
                  <a:pt x="673354" y="179197"/>
                </a:lnTo>
                <a:lnTo>
                  <a:pt x="674091" y="177546"/>
                </a:lnTo>
                <a:lnTo>
                  <a:pt x="659384" y="177546"/>
                </a:lnTo>
                <a:lnTo>
                  <a:pt x="659915" y="176760"/>
                </a:lnTo>
                <a:lnTo>
                  <a:pt x="674442" y="176760"/>
                </a:lnTo>
                <a:lnTo>
                  <a:pt x="674659" y="176276"/>
                </a:lnTo>
                <a:close/>
              </a:path>
              <a:path w="1405889" h="363220">
                <a:moveTo>
                  <a:pt x="660400" y="176276"/>
                </a:moveTo>
                <a:lnTo>
                  <a:pt x="659915" y="176760"/>
                </a:lnTo>
                <a:lnTo>
                  <a:pt x="659384" y="177546"/>
                </a:lnTo>
                <a:lnTo>
                  <a:pt x="660400" y="176276"/>
                </a:lnTo>
                <a:close/>
              </a:path>
              <a:path w="1405889" h="363220">
                <a:moveTo>
                  <a:pt x="676021" y="173228"/>
                </a:moveTo>
                <a:lnTo>
                  <a:pt x="662305" y="173228"/>
                </a:lnTo>
                <a:lnTo>
                  <a:pt x="661797" y="174117"/>
                </a:lnTo>
                <a:lnTo>
                  <a:pt x="659915" y="176760"/>
                </a:lnTo>
                <a:lnTo>
                  <a:pt x="660400" y="176276"/>
                </a:lnTo>
                <a:lnTo>
                  <a:pt x="674659" y="176276"/>
                </a:lnTo>
                <a:lnTo>
                  <a:pt x="676021" y="173228"/>
                </a:lnTo>
                <a:close/>
              </a:path>
              <a:path w="1405889" h="363220">
                <a:moveTo>
                  <a:pt x="661967" y="173726"/>
                </a:moveTo>
                <a:lnTo>
                  <a:pt x="661703" y="174117"/>
                </a:lnTo>
                <a:lnTo>
                  <a:pt x="661967" y="173726"/>
                </a:lnTo>
                <a:close/>
              </a:path>
              <a:path w="1405889" h="363220">
                <a:moveTo>
                  <a:pt x="662305" y="173228"/>
                </a:moveTo>
                <a:lnTo>
                  <a:pt x="661967" y="173726"/>
                </a:lnTo>
                <a:lnTo>
                  <a:pt x="661797" y="174117"/>
                </a:lnTo>
                <a:lnTo>
                  <a:pt x="662305" y="173228"/>
                </a:lnTo>
                <a:close/>
              </a:path>
              <a:path w="1405889" h="363220">
                <a:moveTo>
                  <a:pt x="670687" y="145796"/>
                </a:moveTo>
                <a:lnTo>
                  <a:pt x="669163" y="152527"/>
                </a:lnTo>
                <a:lnTo>
                  <a:pt x="666750" y="161036"/>
                </a:lnTo>
                <a:lnTo>
                  <a:pt x="664463" y="168021"/>
                </a:lnTo>
                <a:lnTo>
                  <a:pt x="661967" y="173726"/>
                </a:lnTo>
                <a:lnTo>
                  <a:pt x="662305" y="173228"/>
                </a:lnTo>
                <a:lnTo>
                  <a:pt x="676021" y="173228"/>
                </a:lnTo>
                <a:lnTo>
                  <a:pt x="678814" y="165227"/>
                </a:lnTo>
                <a:lnTo>
                  <a:pt x="681355" y="155829"/>
                </a:lnTo>
                <a:lnTo>
                  <a:pt x="683006" y="148590"/>
                </a:lnTo>
                <a:lnTo>
                  <a:pt x="670687" y="145796"/>
                </a:lnTo>
                <a:close/>
              </a:path>
              <a:path w="1405889" h="363220">
                <a:moveTo>
                  <a:pt x="703199" y="130048"/>
                </a:moveTo>
                <a:lnTo>
                  <a:pt x="690626" y="132080"/>
                </a:lnTo>
                <a:lnTo>
                  <a:pt x="692912" y="145161"/>
                </a:lnTo>
                <a:lnTo>
                  <a:pt x="695325" y="155575"/>
                </a:lnTo>
                <a:lnTo>
                  <a:pt x="697738" y="164719"/>
                </a:lnTo>
                <a:lnTo>
                  <a:pt x="699643" y="170180"/>
                </a:lnTo>
                <a:lnTo>
                  <a:pt x="711581" y="165989"/>
                </a:lnTo>
                <a:lnTo>
                  <a:pt x="710057" y="161544"/>
                </a:lnTo>
                <a:lnTo>
                  <a:pt x="707644" y="152781"/>
                </a:lnTo>
                <a:lnTo>
                  <a:pt x="705485" y="142875"/>
                </a:lnTo>
                <a:lnTo>
                  <a:pt x="703326" y="131445"/>
                </a:lnTo>
                <a:lnTo>
                  <a:pt x="703199" y="130048"/>
                </a:lnTo>
                <a:close/>
              </a:path>
              <a:path w="1405889" h="363220">
                <a:moveTo>
                  <a:pt x="677926" y="96393"/>
                </a:moveTo>
                <a:lnTo>
                  <a:pt x="677020" y="105410"/>
                </a:lnTo>
                <a:lnTo>
                  <a:pt x="675204" y="119253"/>
                </a:lnTo>
                <a:lnTo>
                  <a:pt x="673452" y="131445"/>
                </a:lnTo>
                <a:lnTo>
                  <a:pt x="672973" y="133604"/>
                </a:lnTo>
                <a:lnTo>
                  <a:pt x="685546" y="135890"/>
                </a:lnTo>
                <a:lnTo>
                  <a:pt x="685926" y="133604"/>
                </a:lnTo>
                <a:lnTo>
                  <a:pt x="687832" y="120777"/>
                </a:lnTo>
                <a:lnTo>
                  <a:pt x="688316" y="116967"/>
                </a:lnTo>
                <a:lnTo>
                  <a:pt x="687070" y="106680"/>
                </a:lnTo>
                <a:lnTo>
                  <a:pt x="686181" y="97226"/>
                </a:lnTo>
                <a:lnTo>
                  <a:pt x="677926" y="96393"/>
                </a:lnTo>
                <a:close/>
              </a:path>
              <a:path w="1405889" h="363220">
                <a:moveTo>
                  <a:pt x="697484" y="80137"/>
                </a:moveTo>
                <a:lnTo>
                  <a:pt x="692023" y="80573"/>
                </a:lnTo>
                <a:lnTo>
                  <a:pt x="691642" y="84836"/>
                </a:lnTo>
                <a:lnTo>
                  <a:pt x="685090" y="84836"/>
                </a:lnTo>
                <a:lnTo>
                  <a:pt x="685673" y="91821"/>
                </a:lnTo>
                <a:lnTo>
                  <a:pt x="686181" y="97226"/>
                </a:lnTo>
                <a:lnTo>
                  <a:pt x="690499" y="97663"/>
                </a:lnTo>
                <a:lnTo>
                  <a:pt x="689610" y="106807"/>
                </a:lnTo>
                <a:lnTo>
                  <a:pt x="688316" y="116967"/>
                </a:lnTo>
                <a:lnTo>
                  <a:pt x="688594" y="119253"/>
                </a:lnTo>
                <a:lnTo>
                  <a:pt x="701294" y="117729"/>
                </a:lnTo>
                <a:lnTo>
                  <a:pt x="699756" y="105283"/>
                </a:lnTo>
                <a:lnTo>
                  <a:pt x="698246" y="90805"/>
                </a:lnTo>
                <a:lnTo>
                  <a:pt x="697819" y="84836"/>
                </a:lnTo>
                <a:lnTo>
                  <a:pt x="691642" y="84836"/>
                </a:lnTo>
                <a:lnTo>
                  <a:pt x="685046" y="84303"/>
                </a:lnTo>
                <a:lnTo>
                  <a:pt x="697781" y="84303"/>
                </a:lnTo>
                <a:lnTo>
                  <a:pt x="697484" y="80137"/>
                </a:lnTo>
                <a:close/>
              </a:path>
              <a:path w="1405889" h="363220">
                <a:moveTo>
                  <a:pt x="686181" y="97226"/>
                </a:moveTo>
                <a:lnTo>
                  <a:pt x="687085" y="106807"/>
                </a:lnTo>
                <a:lnTo>
                  <a:pt x="688316" y="116967"/>
                </a:lnTo>
                <a:lnTo>
                  <a:pt x="689622" y="106680"/>
                </a:lnTo>
                <a:lnTo>
                  <a:pt x="690499" y="97663"/>
                </a:lnTo>
                <a:lnTo>
                  <a:pt x="686181" y="97226"/>
                </a:lnTo>
                <a:close/>
              </a:path>
              <a:path w="1405889" h="363220">
                <a:moveTo>
                  <a:pt x="692023" y="80573"/>
                </a:moveTo>
                <a:lnTo>
                  <a:pt x="684784" y="81153"/>
                </a:lnTo>
                <a:lnTo>
                  <a:pt x="685046" y="84303"/>
                </a:lnTo>
                <a:lnTo>
                  <a:pt x="691642" y="84836"/>
                </a:lnTo>
                <a:lnTo>
                  <a:pt x="692023" y="80573"/>
                </a:lnTo>
                <a:close/>
              </a:path>
              <a:path w="1405889" h="363220">
                <a:moveTo>
                  <a:pt x="681227" y="46101"/>
                </a:moveTo>
                <a:lnTo>
                  <a:pt x="680720" y="59055"/>
                </a:lnTo>
                <a:lnTo>
                  <a:pt x="679628" y="76327"/>
                </a:lnTo>
                <a:lnTo>
                  <a:pt x="679069" y="83820"/>
                </a:lnTo>
                <a:lnTo>
                  <a:pt x="685046" y="84303"/>
                </a:lnTo>
                <a:lnTo>
                  <a:pt x="684784" y="81153"/>
                </a:lnTo>
                <a:lnTo>
                  <a:pt x="692023" y="80573"/>
                </a:lnTo>
                <a:lnTo>
                  <a:pt x="692404" y="76327"/>
                </a:lnTo>
                <a:lnTo>
                  <a:pt x="692834" y="68326"/>
                </a:lnTo>
                <a:lnTo>
                  <a:pt x="683895" y="68326"/>
                </a:lnTo>
                <a:lnTo>
                  <a:pt x="683358" y="59055"/>
                </a:lnTo>
                <a:lnTo>
                  <a:pt x="682790" y="46163"/>
                </a:lnTo>
                <a:lnTo>
                  <a:pt x="681227" y="46101"/>
                </a:lnTo>
                <a:close/>
              </a:path>
              <a:path w="1405889" h="363220">
                <a:moveTo>
                  <a:pt x="682790" y="46163"/>
                </a:moveTo>
                <a:lnTo>
                  <a:pt x="683394" y="59817"/>
                </a:lnTo>
                <a:lnTo>
                  <a:pt x="683895" y="68326"/>
                </a:lnTo>
                <a:lnTo>
                  <a:pt x="692863" y="67787"/>
                </a:lnTo>
                <a:lnTo>
                  <a:pt x="693329" y="59055"/>
                </a:lnTo>
                <a:lnTo>
                  <a:pt x="693927" y="46609"/>
                </a:lnTo>
                <a:lnTo>
                  <a:pt x="682790" y="46163"/>
                </a:lnTo>
                <a:close/>
              </a:path>
              <a:path w="1405889" h="363220">
                <a:moveTo>
                  <a:pt x="692863" y="67787"/>
                </a:moveTo>
                <a:lnTo>
                  <a:pt x="683895" y="68326"/>
                </a:lnTo>
                <a:lnTo>
                  <a:pt x="692834" y="68326"/>
                </a:lnTo>
                <a:lnTo>
                  <a:pt x="692863" y="67787"/>
                </a:lnTo>
                <a:close/>
              </a:path>
              <a:path w="1405889" h="363220">
                <a:moveTo>
                  <a:pt x="694944" y="29718"/>
                </a:moveTo>
                <a:lnTo>
                  <a:pt x="694365" y="29729"/>
                </a:lnTo>
                <a:lnTo>
                  <a:pt x="694309" y="33782"/>
                </a:lnTo>
                <a:lnTo>
                  <a:pt x="682360" y="33782"/>
                </a:lnTo>
                <a:lnTo>
                  <a:pt x="682625" y="42418"/>
                </a:lnTo>
                <a:lnTo>
                  <a:pt x="682790" y="46163"/>
                </a:lnTo>
                <a:lnTo>
                  <a:pt x="693927" y="46609"/>
                </a:lnTo>
                <a:lnTo>
                  <a:pt x="693293" y="59817"/>
                </a:lnTo>
                <a:lnTo>
                  <a:pt x="692863" y="67787"/>
                </a:lnTo>
                <a:lnTo>
                  <a:pt x="696595" y="67564"/>
                </a:lnTo>
                <a:lnTo>
                  <a:pt x="695954" y="59055"/>
                </a:lnTo>
                <a:lnTo>
                  <a:pt x="695198" y="42164"/>
                </a:lnTo>
                <a:lnTo>
                  <a:pt x="695026" y="33782"/>
                </a:lnTo>
                <a:lnTo>
                  <a:pt x="694309" y="33782"/>
                </a:lnTo>
                <a:lnTo>
                  <a:pt x="682353" y="33542"/>
                </a:lnTo>
                <a:lnTo>
                  <a:pt x="695022" y="33542"/>
                </a:lnTo>
                <a:lnTo>
                  <a:pt x="694944" y="29718"/>
                </a:lnTo>
                <a:close/>
              </a:path>
              <a:path w="1405889" h="363220">
                <a:moveTo>
                  <a:pt x="694365" y="29729"/>
                </a:moveTo>
                <a:lnTo>
                  <a:pt x="682244" y="29972"/>
                </a:lnTo>
                <a:lnTo>
                  <a:pt x="682353" y="33542"/>
                </a:lnTo>
                <a:lnTo>
                  <a:pt x="694309" y="33782"/>
                </a:lnTo>
                <a:lnTo>
                  <a:pt x="694365" y="29729"/>
                </a:lnTo>
                <a:close/>
              </a:path>
              <a:path w="1405889" h="363220">
                <a:moveTo>
                  <a:pt x="691769" y="0"/>
                </a:moveTo>
                <a:lnTo>
                  <a:pt x="684911" y="0"/>
                </a:lnTo>
                <a:lnTo>
                  <a:pt x="681989" y="2794"/>
                </a:lnTo>
                <a:lnTo>
                  <a:pt x="681863" y="24384"/>
                </a:lnTo>
                <a:lnTo>
                  <a:pt x="681609" y="33528"/>
                </a:lnTo>
                <a:lnTo>
                  <a:pt x="682353" y="33542"/>
                </a:lnTo>
                <a:lnTo>
                  <a:pt x="682244" y="29972"/>
                </a:lnTo>
                <a:lnTo>
                  <a:pt x="694365" y="29729"/>
                </a:lnTo>
                <a:lnTo>
                  <a:pt x="694539" y="17272"/>
                </a:lnTo>
                <a:lnTo>
                  <a:pt x="682117" y="17272"/>
                </a:lnTo>
                <a:lnTo>
                  <a:pt x="681989" y="6477"/>
                </a:lnTo>
                <a:lnTo>
                  <a:pt x="694692" y="6477"/>
                </a:lnTo>
                <a:lnTo>
                  <a:pt x="694689" y="2794"/>
                </a:lnTo>
                <a:lnTo>
                  <a:pt x="691769" y="0"/>
                </a:lnTo>
                <a:close/>
              </a:path>
              <a:path w="1405889" h="363220">
                <a:moveTo>
                  <a:pt x="694689" y="6477"/>
                </a:moveTo>
                <a:lnTo>
                  <a:pt x="681989" y="6477"/>
                </a:lnTo>
                <a:lnTo>
                  <a:pt x="682117" y="17272"/>
                </a:lnTo>
                <a:lnTo>
                  <a:pt x="694541" y="17145"/>
                </a:lnTo>
                <a:lnTo>
                  <a:pt x="694689" y="6477"/>
                </a:lnTo>
                <a:close/>
              </a:path>
              <a:path w="1405889" h="363220">
                <a:moveTo>
                  <a:pt x="694541" y="17147"/>
                </a:moveTo>
                <a:lnTo>
                  <a:pt x="682117" y="17272"/>
                </a:lnTo>
                <a:lnTo>
                  <a:pt x="694539" y="17272"/>
                </a:lnTo>
                <a:close/>
              </a:path>
              <a:path w="1405889" h="363220">
                <a:moveTo>
                  <a:pt x="694692" y="6477"/>
                </a:moveTo>
                <a:lnTo>
                  <a:pt x="694541" y="17147"/>
                </a:lnTo>
                <a:lnTo>
                  <a:pt x="694817" y="17145"/>
                </a:lnTo>
                <a:lnTo>
                  <a:pt x="694692" y="6477"/>
                </a:lnTo>
                <a:close/>
              </a:path>
              <a:path w="1405889" h="363220">
                <a:moveTo>
                  <a:pt x="716407" y="176022"/>
                </a:moveTo>
                <a:lnTo>
                  <a:pt x="705738" y="183007"/>
                </a:lnTo>
                <a:lnTo>
                  <a:pt x="707009" y="184912"/>
                </a:lnTo>
                <a:lnTo>
                  <a:pt x="707389" y="185420"/>
                </a:lnTo>
                <a:lnTo>
                  <a:pt x="707771" y="185801"/>
                </a:lnTo>
                <a:lnTo>
                  <a:pt x="710692" y="188468"/>
                </a:lnTo>
                <a:lnTo>
                  <a:pt x="712216" y="189484"/>
                </a:lnTo>
                <a:lnTo>
                  <a:pt x="713105" y="189738"/>
                </a:lnTo>
                <a:lnTo>
                  <a:pt x="716152" y="190754"/>
                </a:lnTo>
                <a:lnTo>
                  <a:pt x="717423" y="191008"/>
                </a:lnTo>
                <a:lnTo>
                  <a:pt x="747141" y="191008"/>
                </a:lnTo>
                <a:lnTo>
                  <a:pt x="747141" y="178943"/>
                </a:lnTo>
                <a:lnTo>
                  <a:pt x="719327" y="178943"/>
                </a:lnTo>
                <a:lnTo>
                  <a:pt x="716914" y="177673"/>
                </a:lnTo>
                <a:lnTo>
                  <a:pt x="717876" y="177673"/>
                </a:lnTo>
                <a:lnTo>
                  <a:pt x="717731" y="177546"/>
                </a:lnTo>
                <a:lnTo>
                  <a:pt x="717423" y="177546"/>
                </a:lnTo>
                <a:lnTo>
                  <a:pt x="716280" y="176276"/>
                </a:lnTo>
                <a:lnTo>
                  <a:pt x="716576" y="176276"/>
                </a:lnTo>
                <a:lnTo>
                  <a:pt x="716407" y="176022"/>
                </a:lnTo>
                <a:close/>
              </a:path>
              <a:path w="1405889" h="363220">
                <a:moveTo>
                  <a:pt x="718143" y="178319"/>
                </a:moveTo>
                <a:lnTo>
                  <a:pt x="719327" y="178943"/>
                </a:lnTo>
                <a:lnTo>
                  <a:pt x="718700" y="178393"/>
                </a:lnTo>
                <a:lnTo>
                  <a:pt x="718143" y="178319"/>
                </a:lnTo>
                <a:close/>
              </a:path>
              <a:path w="1405889" h="363220">
                <a:moveTo>
                  <a:pt x="718700" y="178393"/>
                </a:moveTo>
                <a:lnTo>
                  <a:pt x="719327" y="178943"/>
                </a:lnTo>
                <a:lnTo>
                  <a:pt x="747141" y="178943"/>
                </a:lnTo>
                <a:lnTo>
                  <a:pt x="747141" y="178562"/>
                </a:lnTo>
                <a:lnTo>
                  <a:pt x="719963" y="178562"/>
                </a:lnTo>
                <a:lnTo>
                  <a:pt x="718700" y="178393"/>
                </a:lnTo>
                <a:close/>
              </a:path>
              <a:path w="1405889" h="363220">
                <a:moveTo>
                  <a:pt x="718357" y="178093"/>
                </a:moveTo>
                <a:lnTo>
                  <a:pt x="718700" y="178393"/>
                </a:lnTo>
                <a:lnTo>
                  <a:pt x="719963" y="178562"/>
                </a:lnTo>
                <a:lnTo>
                  <a:pt x="718357" y="178093"/>
                </a:lnTo>
                <a:close/>
              </a:path>
              <a:path w="1405889" h="363220">
                <a:moveTo>
                  <a:pt x="747141" y="178308"/>
                </a:moveTo>
                <a:lnTo>
                  <a:pt x="719092" y="178308"/>
                </a:lnTo>
                <a:lnTo>
                  <a:pt x="719963" y="178562"/>
                </a:lnTo>
                <a:lnTo>
                  <a:pt x="747141" y="178562"/>
                </a:lnTo>
                <a:lnTo>
                  <a:pt x="747141" y="178308"/>
                </a:lnTo>
                <a:close/>
              </a:path>
              <a:path w="1405889" h="363220">
                <a:moveTo>
                  <a:pt x="716914" y="177673"/>
                </a:moveTo>
                <a:lnTo>
                  <a:pt x="718143" y="178319"/>
                </a:lnTo>
                <a:lnTo>
                  <a:pt x="718700" y="178393"/>
                </a:lnTo>
                <a:lnTo>
                  <a:pt x="718357" y="178093"/>
                </a:lnTo>
                <a:lnTo>
                  <a:pt x="716914" y="177673"/>
                </a:lnTo>
                <a:close/>
              </a:path>
              <a:path w="1405889" h="363220">
                <a:moveTo>
                  <a:pt x="718121" y="178308"/>
                </a:moveTo>
                <a:close/>
              </a:path>
              <a:path w="1405889" h="363220">
                <a:moveTo>
                  <a:pt x="717876" y="177673"/>
                </a:moveTo>
                <a:lnTo>
                  <a:pt x="716914" y="177673"/>
                </a:lnTo>
                <a:lnTo>
                  <a:pt x="718357" y="178093"/>
                </a:lnTo>
                <a:lnTo>
                  <a:pt x="717876" y="177673"/>
                </a:lnTo>
                <a:close/>
              </a:path>
              <a:path w="1405889" h="363220">
                <a:moveTo>
                  <a:pt x="716280" y="176276"/>
                </a:moveTo>
                <a:lnTo>
                  <a:pt x="717423" y="177546"/>
                </a:lnTo>
                <a:lnTo>
                  <a:pt x="716991" y="176898"/>
                </a:lnTo>
                <a:lnTo>
                  <a:pt x="716280" y="176276"/>
                </a:lnTo>
                <a:close/>
              </a:path>
              <a:path w="1405889" h="363220">
                <a:moveTo>
                  <a:pt x="716991" y="176898"/>
                </a:moveTo>
                <a:lnTo>
                  <a:pt x="717423" y="177546"/>
                </a:lnTo>
                <a:lnTo>
                  <a:pt x="717731" y="177546"/>
                </a:lnTo>
                <a:lnTo>
                  <a:pt x="716991" y="176898"/>
                </a:lnTo>
                <a:close/>
              </a:path>
              <a:path w="1405889" h="363220">
                <a:moveTo>
                  <a:pt x="716576" y="176276"/>
                </a:moveTo>
                <a:lnTo>
                  <a:pt x="716280" y="176276"/>
                </a:lnTo>
                <a:lnTo>
                  <a:pt x="716991" y="176898"/>
                </a:lnTo>
                <a:lnTo>
                  <a:pt x="716576" y="176276"/>
                </a:lnTo>
                <a:close/>
              </a:path>
              <a:path w="1405889" h="363220">
                <a:moveTo>
                  <a:pt x="797941" y="178308"/>
                </a:moveTo>
                <a:lnTo>
                  <a:pt x="759841" y="178308"/>
                </a:lnTo>
                <a:lnTo>
                  <a:pt x="759841" y="191008"/>
                </a:lnTo>
                <a:lnTo>
                  <a:pt x="797941" y="191008"/>
                </a:lnTo>
                <a:lnTo>
                  <a:pt x="797941" y="178308"/>
                </a:lnTo>
                <a:close/>
              </a:path>
              <a:path w="1405889" h="363220">
                <a:moveTo>
                  <a:pt x="848741" y="178308"/>
                </a:moveTo>
                <a:lnTo>
                  <a:pt x="810641" y="178308"/>
                </a:lnTo>
                <a:lnTo>
                  <a:pt x="810641" y="191008"/>
                </a:lnTo>
                <a:lnTo>
                  <a:pt x="848741" y="191008"/>
                </a:lnTo>
                <a:lnTo>
                  <a:pt x="848741" y="178308"/>
                </a:lnTo>
                <a:close/>
              </a:path>
              <a:path w="1405889" h="363220">
                <a:moveTo>
                  <a:pt x="899541" y="178308"/>
                </a:moveTo>
                <a:lnTo>
                  <a:pt x="861441" y="178308"/>
                </a:lnTo>
                <a:lnTo>
                  <a:pt x="861441" y="191008"/>
                </a:lnTo>
                <a:lnTo>
                  <a:pt x="899541" y="191008"/>
                </a:lnTo>
                <a:lnTo>
                  <a:pt x="899541" y="178308"/>
                </a:lnTo>
                <a:close/>
              </a:path>
              <a:path w="1405889" h="363220">
                <a:moveTo>
                  <a:pt x="950341" y="178308"/>
                </a:moveTo>
                <a:lnTo>
                  <a:pt x="912241" y="178308"/>
                </a:lnTo>
                <a:lnTo>
                  <a:pt x="912241" y="191008"/>
                </a:lnTo>
                <a:lnTo>
                  <a:pt x="950341" y="191008"/>
                </a:lnTo>
                <a:lnTo>
                  <a:pt x="950341" y="178308"/>
                </a:lnTo>
                <a:close/>
              </a:path>
              <a:path w="1405889" h="363220">
                <a:moveTo>
                  <a:pt x="1001141" y="178308"/>
                </a:moveTo>
                <a:lnTo>
                  <a:pt x="963041" y="178308"/>
                </a:lnTo>
                <a:lnTo>
                  <a:pt x="963041" y="191008"/>
                </a:lnTo>
                <a:lnTo>
                  <a:pt x="1001141" y="191008"/>
                </a:lnTo>
                <a:lnTo>
                  <a:pt x="1001141" y="178308"/>
                </a:lnTo>
                <a:close/>
              </a:path>
              <a:path w="1405889" h="363220">
                <a:moveTo>
                  <a:pt x="1051941" y="178308"/>
                </a:moveTo>
                <a:lnTo>
                  <a:pt x="1013841" y="178308"/>
                </a:lnTo>
                <a:lnTo>
                  <a:pt x="1013841" y="191008"/>
                </a:lnTo>
                <a:lnTo>
                  <a:pt x="1051941" y="191008"/>
                </a:lnTo>
                <a:lnTo>
                  <a:pt x="1051941" y="178308"/>
                </a:lnTo>
                <a:close/>
              </a:path>
              <a:path w="1405889" h="363220">
                <a:moveTo>
                  <a:pt x="1102741" y="178308"/>
                </a:moveTo>
                <a:lnTo>
                  <a:pt x="1064641" y="178308"/>
                </a:lnTo>
                <a:lnTo>
                  <a:pt x="1064641" y="191008"/>
                </a:lnTo>
                <a:lnTo>
                  <a:pt x="1102741" y="191008"/>
                </a:lnTo>
                <a:lnTo>
                  <a:pt x="1102741" y="178308"/>
                </a:lnTo>
                <a:close/>
              </a:path>
              <a:path w="1405889" h="363220">
                <a:moveTo>
                  <a:pt x="1153541" y="178308"/>
                </a:moveTo>
                <a:lnTo>
                  <a:pt x="1115441" y="178308"/>
                </a:lnTo>
                <a:lnTo>
                  <a:pt x="1115441" y="191008"/>
                </a:lnTo>
                <a:lnTo>
                  <a:pt x="1153541" y="191008"/>
                </a:lnTo>
                <a:lnTo>
                  <a:pt x="1153541" y="178308"/>
                </a:lnTo>
                <a:close/>
              </a:path>
              <a:path w="1405889" h="363220">
                <a:moveTo>
                  <a:pt x="1204341" y="178308"/>
                </a:moveTo>
                <a:lnTo>
                  <a:pt x="1166241" y="178308"/>
                </a:lnTo>
                <a:lnTo>
                  <a:pt x="1166241" y="191008"/>
                </a:lnTo>
                <a:lnTo>
                  <a:pt x="1204341" y="191008"/>
                </a:lnTo>
                <a:lnTo>
                  <a:pt x="1204341" y="178308"/>
                </a:lnTo>
                <a:close/>
              </a:path>
              <a:path w="1405889" h="363220">
                <a:moveTo>
                  <a:pt x="1255141" y="178308"/>
                </a:moveTo>
                <a:lnTo>
                  <a:pt x="1217041" y="178308"/>
                </a:lnTo>
                <a:lnTo>
                  <a:pt x="1217041" y="191008"/>
                </a:lnTo>
                <a:lnTo>
                  <a:pt x="1255141" y="191008"/>
                </a:lnTo>
                <a:lnTo>
                  <a:pt x="1255141" y="178308"/>
                </a:lnTo>
                <a:close/>
              </a:path>
              <a:path w="1405889" h="363220">
                <a:moveTo>
                  <a:pt x="1305941" y="178308"/>
                </a:moveTo>
                <a:lnTo>
                  <a:pt x="1267841" y="178308"/>
                </a:lnTo>
                <a:lnTo>
                  <a:pt x="1267841" y="191008"/>
                </a:lnTo>
                <a:lnTo>
                  <a:pt x="1305941" y="191008"/>
                </a:lnTo>
                <a:lnTo>
                  <a:pt x="1305941" y="178308"/>
                </a:lnTo>
                <a:close/>
              </a:path>
              <a:path w="1405889" h="363220">
                <a:moveTo>
                  <a:pt x="1343928" y="195546"/>
                </a:moveTo>
                <a:lnTo>
                  <a:pt x="1345184" y="198628"/>
                </a:lnTo>
                <a:lnTo>
                  <a:pt x="1350883" y="196088"/>
                </a:lnTo>
                <a:lnTo>
                  <a:pt x="1344295" y="196088"/>
                </a:lnTo>
                <a:lnTo>
                  <a:pt x="1343928" y="195546"/>
                </a:lnTo>
                <a:close/>
              </a:path>
              <a:path w="1405889" h="363220">
                <a:moveTo>
                  <a:pt x="1343787" y="195199"/>
                </a:moveTo>
                <a:lnTo>
                  <a:pt x="1343928" y="195546"/>
                </a:lnTo>
                <a:lnTo>
                  <a:pt x="1344295" y="196088"/>
                </a:lnTo>
                <a:lnTo>
                  <a:pt x="1343787" y="195199"/>
                </a:lnTo>
                <a:close/>
              </a:path>
              <a:path w="1405889" h="363220">
                <a:moveTo>
                  <a:pt x="1352878" y="195199"/>
                </a:moveTo>
                <a:lnTo>
                  <a:pt x="1343787" y="195199"/>
                </a:lnTo>
                <a:lnTo>
                  <a:pt x="1344295" y="196088"/>
                </a:lnTo>
                <a:lnTo>
                  <a:pt x="1350883" y="196088"/>
                </a:lnTo>
                <a:lnTo>
                  <a:pt x="1352878" y="195199"/>
                </a:lnTo>
                <a:close/>
              </a:path>
              <a:path w="1405889" h="363220">
                <a:moveTo>
                  <a:pt x="1341979" y="192665"/>
                </a:moveTo>
                <a:lnTo>
                  <a:pt x="1343928" y="195546"/>
                </a:lnTo>
                <a:lnTo>
                  <a:pt x="1343787" y="195199"/>
                </a:lnTo>
                <a:lnTo>
                  <a:pt x="1352878" y="195199"/>
                </a:lnTo>
                <a:lnTo>
                  <a:pt x="1356868" y="193421"/>
                </a:lnTo>
                <a:lnTo>
                  <a:pt x="1356692" y="193040"/>
                </a:lnTo>
                <a:lnTo>
                  <a:pt x="1342389" y="193040"/>
                </a:lnTo>
                <a:lnTo>
                  <a:pt x="1341979" y="192665"/>
                </a:lnTo>
                <a:close/>
              </a:path>
              <a:path w="1405889" h="363220">
                <a:moveTo>
                  <a:pt x="1341374" y="191770"/>
                </a:moveTo>
                <a:lnTo>
                  <a:pt x="1341979" y="192665"/>
                </a:lnTo>
                <a:lnTo>
                  <a:pt x="1342389" y="193040"/>
                </a:lnTo>
                <a:lnTo>
                  <a:pt x="1341374" y="191770"/>
                </a:lnTo>
                <a:close/>
              </a:path>
              <a:path w="1405889" h="363220">
                <a:moveTo>
                  <a:pt x="1356106" y="191770"/>
                </a:moveTo>
                <a:lnTo>
                  <a:pt x="1341374" y="191770"/>
                </a:lnTo>
                <a:lnTo>
                  <a:pt x="1342389" y="193040"/>
                </a:lnTo>
                <a:lnTo>
                  <a:pt x="1356692" y="193040"/>
                </a:lnTo>
                <a:lnTo>
                  <a:pt x="1356106" y="191770"/>
                </a:lnTo>
                <a:close/>
              </a:path>
              <a:path w="1405889" h="363220">
                <a:moveTo>
                  <a:pt x="1340380" y="191204"/>
                </a:moveTo>
                <a:lnTo>
                  <a:pt x="1341979" y="192665"/>
                </a:lnTo>
                <a:lnTo>
                  <a:pt x="1341374" y="191770"/>
                </a:lnTo>
                <a:lnTo>
                  <a:pt x="1356106" y="191770"/>
                </a:lnTo>
                <a:lnTo>
                  <a:pt x="1341882" y="191643"/>
                </a:lnTo>
                <a:lnTo>
                  <a:pt x="1340380" y="191204"/>
                </a:lnTo>
                <a:close/>
              </a:path>
              <a:path w="1405889" h="363220">
                <a:moveTo>
                  <a:pt x="1340066" y="190918"/>
                </a:moveTo>
                <a:lnTo>
                  <a:pt x="1340380" y="191204"/>
                </a:lnTo>
                <a:lnTo>
                  <a:pt x="1341882" y="191643"/>
                </a:lnTo>
                <a:lnTo>
                  <a:pt x="1340653" y="190996"/>
                </a:lnTo>
                <a:lnTo>
                  <a:pt x="1340066" y="190918"/>
                </a:lnTo>
                <a:close/>
              </a:path>
              <a:path w="1405889" h="363220">
                <a:moveTo>
                  <a:pt x="1355461" y="190373"/>
                </a:moveTo>
                <a:lnTo>
                  <a:pt x="1339469" y="190373"/>
                </a:lnTo>
                <a:lnTo>
                  <a:pt x="1340653" y="190996"/>
                </a:lnTo>
                <a:lnTo>
                  <a:pt x="1341882" y="191643"/>
                </a:lnTo>
                <a:lnTo>
                  <a:pt x="1356047" y="191643"/>
                </a:lnTo>
                <a:lnTo>
                  <a:pt x="1355461" y="190373"/>
                </a:lnTo>
                <a:close/>
              </a:path>
              <a:path w="1405889" h="363220">
                <a:moveTo>
                  <a:pt x="1338834" y="190754"/>
                </a:moveTo>
                <a:lnTo>
                  <a:pt x="1340380" y="191204"/>
                </a:lnTo>
                <a:lnTo>
                  <a:pt x="1340066" y="190918"/>
                </a:lnTo>
                <a:lnTo>
                  <a:pt x="1338834" y="190754"/>
                </a:lnTo>
                <a:close/>
              </a:path>
              <a:path w="1405889" h="363220">
                <a:moveTo>
                  <a:pt x="1341374" y="178308"/>
                </a:moveTo>
                <a:lnTo>
                  <a:pt x="1318641" y="178308"/>
                </a:lnTo>
                <a:lnTo>
                  <a:pt x="1318641" y="191008"/>
                </a:lnTo>
                <a:lnTo>
                  <a:pt x="1339704" y="191008"/>
                </a:lnTo>
                <a:lnTo>
                  <a:pt x="1338834" y="190754"/>
                </a:lnTo>
                <a:lnTo>
                  <a:pt x="1339886" y="190754"/>
                </a:lnTo>
                <a:lnTo>
                  <a:pt x="1339469" y="190373"/>
                </a:lnTo>
                <a:lnTo>
                  <a:pt x="1355461" y="190373"/>
                </a:lnTo>
                <a:lnTo>
                  <a:pt x="1355344" y="190119"/>
                </a:lnTo>
                <a:lnTo>
                  <a:pt x="1355217" y="189738"/>
                </a:lnTo>
                <a:lnTo>
                  <a:pt x="1355089" y="189484"/>
                </a:lnTo>
                <a:lnTo>
                  <a:pt x="1354836" y="189230"/>
                </a:lnTo>
                <a:lnTo>
                  <a:pt x="1351788" y="184404"/>
                </a:lnTo>
                <a:lnTo>
                  <a:pt x="1345692" y="179578"/>
                </a:lnTo>
                <a:lnTo>
                  <a:pt x="1342644" y="178562"/>
                </a:lnTo>
                <a:lnTo>
                  <a:pt x="1341374" y="178308"/>
                </a:lnTo>
                <a:close/>
              </a:path>
              <a:path w="1405889" h="363220">
                <a:moveTo>
                  <a:pt x="1340653" y="190996"/>
                </a:moveTo>
                <a:close/>
              </a:path>
              <a:path w="1405889" h="363220">
                <a:moveTo>
                  <a:pt x="1339469" y="190373"/>
                </a:moveTo>
                <a:lnTo>
                  <a:pt x="1340066" y="190918"/>
                </a:lnTo>
                <a:lnTo>
                  <a:pt x="1340653" y="190996"/>
                </a:lnTo>
                <a:lnTo>
                  <a:pt x="1339469" y="190373"/>
                </a:lnTo>
                <a:close/>
              </a:path>
              <a:path w="1405889" h="363220">
                <a:moveTo>
                  <a:pt x="1339886" y="190754"/>
                </a:moveTo>
                <a:lnTo>
                  <a:pt x="1338834" y="190754"/>
                </a:lnTo>
                <a:lnTo>
                  <a:pt x="1340066" y="190918"/>
                </a:lnTo>
                <a:lnTo>
                  <a:pt x="1339886" y="190754"/>
                </a:lnTo>
                <a:close/>
              </a:path>
              <a:path w="1405889" h="363220">
                <a:moveTo>
                  <a:pt x="1361439" y="206248"/>
                </a:moveTo>
                <a:lnTo>
                  <a:pt x="1349121" y="209677"/>
                </a:lnTo>
                <a:lnTo>
                  <a:pt x="1351152" y="216789"/>
                </a:lnTo>
                <a:lnTo>
                  <a:pt x="1353312" y="226822"/>
                </a:lnTo>
                <a:lnTo>
                  <a:pt x="1355471" y="238125"/>
                </a:lnTo>
                <a:lnTo>
                  <a:pt x="1356614" y="246126"/>
                </a:lnTo>
                <a:lnTo>
                  <a:pt x="1369187" y="244348"/>
                </a:lnTo>
                <a:lnTo>
                  <a:pt x="1367917" y="235839"/>
                </a:lnTo>
                <a:lnTo>
                  <a:pt x="1365758" y="224028"/>
                </a:lnTo>
                <a:lnTo>
                  <a:pt x="1363345" y="213487"/>
                </a:lnTo>
                <a:lnTo>
                  <a:pt x="1361439" y="206248"/>
                </a:lnTo>
                <a:close/>
              </a:path>
              <a:path w="1405889" h="363220">
                <a:moveTo>
                  <a:pt x="1360979" y="287080"/>
                </a:moveTo>
                <a:lnTo>
                  <a:pt x="1329436" y="288290"/>
                </a:lnTo>
                <a:lnTo>
                  <a:pt x="1370330" y="362966"/>
                </a:lnTo>
                <a:lnTo>
                  <a:pt x="1400724" y="296164"/>
                </a:lnTo>
                <a:lnTo>
                  <a:pt x="1361439" y="296164"/>
                </a:lnTo>
                <a:lnTo>
                  <a:pt x="1360979" y="287080"/>
                </a:lnTo>
                <a:close/>
              </a:path>
              <a:path w="1405889" h="363220">
                <a:moveTo>
                  <a:pt x="1373643" y="286595"/>
                </a:moveTo>
                <a:lnTo>
                  <a:pt x="1360979" y="287080"/>
                </a:lnTo>
                <a:lnTo>
                  <a:pt x="1361439" y="296164"/>
                </a:lnTo>
                <a:lnTo>
                  <a:pt x="1374139" y="295402"/>
                </a:lnTo>
                <a:lnTo>
                  <a:pt x="1373643" y="286595"/>
                </a:lnTo>
                <a:close/>
              </a:path>
              <a:path w="1405889" h="363220">
                <a:moveTo>
                  <a:pt x="1405636" y="285369"/>
                </a:moveTo>
                <a:lnTo>
                  <a:pt x="1373643" y="286595"/>
                </a:lnTo>
                <a:lnTo>
                  <a:pt x="1374139" y="295402"/>
                </a:lnTo>
                <a:lnTo>
                  <a:pt x="1361439" y="296164"/>
                </a:lnTo>
                <a:lnTo>
                  <a:pt x="1400724" y="296164"/>
                </a:lnTo>
                <a:lnTo>
                  <a:pt x="1405636" y="285369"/>
                </a:lnTo>
                <a:close/>
              </a:path>
              <a:path w="1405889" h="363220">
                <a:moveTo>
                  <a:pt x="1370838" y="257048"/>
                </a:moveTo>
                <a:lnTo>
                  <a:pt x="1358264" y="258572"/>
                </a:lnTo>
                <a:lnTo>
                  <a:pt x="1359027" y="264160"/>
                </a:lnTo>
                <a:lnTo>
                  <a:pt x="1360551" y="278638"/>
                </a:lnTo>
                <a:lnTo>
                  <a:pt x="1360979" y="287080"/>
                </a:lnTo>
                <a:lnTo>
                  <a:pt x="1373643" y="286595"/>
                </a:lnTo>
                <a:lnTo>
                  <a:pt x="1373124" y="277368"/>
                </a:lnTo>
                <a:lnTo>
                  <a:pt x="1371600" y="262509"/>
                </a:lnTo>
                <a:lnTo>
                  <a:pt x="1370838" y="25704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530341" y="4207509"/>
            <a:ext cx="1405890" cy="363220"/>
          </a:xfrm>
          <a:custGeom>
            <a:avLst/>
            <a:gdLst/>
            <a:ahLst/>
            <a:cxnLst/>
            <a:rect l="l" t="t" r="r" b="b"/>
            <a:pathLst>
              <a:path w="1405890" h="363220">
                <a:moveTo>
                  <a:pt x="635" y="324612"/>
                </a:moveTo>
                <a:lnTo>
                  <a:pt x="627" y="327151"/>
                </a:lnTo>
                <a:lnTo>
                  <a:pt x="126" y="344804"/>
                </a:lnTo>
                <a:lnTo>
                  <a:pt x="0" y="362838"/>
                </a:lnTo>
                <a:lnTo>
                  <a:pt x="12700" y="363092"/>
                </a:lnTo>
                <a:lnTo>
                  <a:pt x="12829" y="344677"/>
                </a:lnTo>
                <a:lnTo>
                  <a:pt x="13208" y="327151"/>
                </a:lnTo>
                <a:lnTo>
                  <a:pt x="13335" y="325119"/>
                </a:lnTo>
                <a:lnTo>
                  <a:pt x="635" y="324612"/>
                </a:lnTo>
                <a:close/>
              </a:path>
              <a:path w="1405890" h="363220">
                <a:moveTo>
                  <a:pt x="4063" y="273557"/>
                </a:moveTo>
                <a:lnTo>
                  <a:pt x="3683" y="277494"/>
                </a:lnTo>
                <a:lnTo>
                  <a:pt x="2412" y="293242"/>
                </a:lnTo>
                <a:lnTo>
                  <a:pt x="1270" y="311912"/>
                </a:lnTo>
                <a:lnTo>
                  <a:pt x="13970" y="312419"/>
                </a:lnTo>
                <a:lnTo>
                  <a:pt x="13970" y="310260"/>
                </a:lnTo>
                <a:lnTo>
                  <a:pt x="15169" y="293242"/>
                </a:lnTo>
                <a:lnTo>
                  <a:pt x="16256" y="278510"/>
                </a:lnTo>
                <a:lnTo>
                  <a:pt x="16637" y="274827"/>
                </a:lnTo>
                <a:lnTo>
                  <a:pt x="4063" y="273557"/>
                </a:lnTo>
                <a:close/>
              </a:path>
              <a:path w="1405890" h="363220">
                <a:moveTo>
                  <a:pt x="11303" y="222503"/>
                </a:moveTo>
                <a:lnTo>
                  <a:pt x="10922" y="224281"/>
                </a:lnTo>
                <a:lnTo>
                  <a:pt x="8890" y="235965"/>
                </a:lnTo>
                <a:lnTo>
                  <a:pt x="6858" y="248792"/>
                </a:lnTo>
                <a:lnTo>
                  <a:pt x="5334" y="260731"/>
                </a:lnTo>
                <a:lnTo>
                  <a:pt x="17907" y="262381"/>
                </a:lnTo>
                <a:lnTo>
                  <a:pt x="19431" y="250444"/>
                </a:lnTo>
                <a:lnTo>
                  <a:pt x="21336" y="237997"/>
                </a:lnTo>
                <a:lnTo>
                  <a:pt x="23749" y="225297"/>
                </a:lnTo>
                <a:lnTo>
                  <a:pt x="11303" y="222503"/>
                </a:lnTo>
                <a:close/>
              </a:path>
              <a:path w="1405890" h="363220">
                <a:moveTo>
                  <a:pt x="41656" y="178307"/>
                </a:moveTo>
                <a:lnTo>
                  <a:pt x="35433" y="178307"/>
                </a:lnTo>
                <a:lnTo>
                  <a:pt x="34162" y="178562"/>
                </a:lnTo>
                <a:lnTo>
                  <a:pt x="31115" y="179577"/>
                </a:lnTo>
                <a:lnTo>
                  <a:pt x="30225" y="179831"/>
                </a:lnTo>
                <a:lnTo>
                  <a:pt x="21462" y="190119"/>
                </a:lnTo>
                <a:lnTo>
                  <a:pt x="18542" y="196595"/>
                </a:lnTo>
                <a:lnTo>
                  <a:pt x="15748" y="204596"/>
                </a:lnTo>
                <a:lnTo>
                  <a:pt x="14350" y="209931"/>
                </a:lnTo>
                <a:lnTo>
                  <a:pt x="26543" y="213232"/>
                </a:lnTo>
                <a:lnTo>
                  <a:pt x="28067" y="207771"/>
                </a:lnTo>
                <a:lnTo>
                  <a:pt x="30480" y="200787"/>
                </a:lnTo>
                <a:lnTo>
                  <a:pt x="32615" y="196087"/>
                </a:lnTo>
                <a:lnTo>
                  <a:pt x="33020" y="195198"/>
                </a:lnTo>
                <a:lnTo>
                  <a:pt x="34573" y="193039"/>
                </a:lnTo>
                <a:lnTo>
                  <a:pt x="34290" y="193039"/>
                </a:lnTo>
                <a:lnTo>
                  <a:pt x="35433" y="191769"/>
                </a:lnTo>
                <a:lnTo>
                  <a:pt x="35741" y="191769"/>
                </a:lnTo>
                <a:lnTo>
                  <a:pt x="35886" y="191642"/>
                </a:lnTo>
                <a:lnTo>
                  <a:pt x="34925" y="191642"/>
                </a:lnTo>
                <a:lnTo>
                  <a:pt x="36131" y="191007"/>
                </a:lnTo>
                <a:lnTo>
                  <a:pt x="37337" y="190372"/>
                </a:lnTo>
                <a:lnTo>
                  <a:pt x="41656" y="190372"/>
                </a:lnTo>
                <a:lnTo>
                  <a:pt x="41656" y="178307"/>
                </a:lnTo>
                <a:close/>
              </a:path>
              <a:path w="1405890" h="363220">
                <a:moveTo>
                  <a:pt x="33020" y="195198"/>
                </a:moveTo>
                <a:lnTo>
                  <a:pt x="32512" y="196087"/>
                </a:lnTo>
                <a:lnTo>
                  <a:pt x="32828" y="195619"/>
                </a:lnTo>
                <a:lnTo>
                  <a:pt x="33020" y="195198"/>
                </a:lnTo>
                <a:close/>
              </a:path>
              <a:path w="1405890" h="363220">
                <a:moveTo>
                  <a:pt x="32828" y="195619"/>
                </a:moveTo>
                <a:lnTo>
                  <a:pt x="32512" y="196087"/>
                </a:lnTo>
                <a:lnTo>
                  <a:pt x="32828" y="195619"/>
                </a:lnTo>
                <a:close/>
              </a:path>
              <a:path w="1405890" h="363220">
                <a:moveTo>
                  <a:pt x="33113" y="195198"/>
                </a:moveTo>
                <a:lnTo>
                  <a:pt x="32828" y="195619"/>
                </a:lnTo>
                <a:lnTo>
                  <a:pt x="33113" y="195198"/>
                </a:lnTo>
                <a:close/>
              </a:path>
              <a:path w="1405890" h="363220">
                <a:moveTo>
                  <a:pt x="35433" y="191769"/>
                </a:moveTo>
                <a:lnTo>
                  <a:pt x="34290" y="193039"/>
                </a:lnTo>
                <a:lnTo>
                  <a:pt x="34985" y="192431"/>
                </a:lnTo>
                <a:lnTo>
                  <a:pt x="35433" y="191769"/>
                </a:lnTo>
                <a:close/>
              </a:path>
              <a:path w="1405890" h="363220">
                <a:moveTo>
                  <a:pt x="34985" y="192431"/>
                </a:moveTo>
                <a:lnTo>
                  <a:pt x="34290" y="193039"/>
                </a:lnTo>
                <a:lnTo>
                  <a:pt x="34573" y="193039"/>
                </a:lnTo>
                <a:lnTo>
                  <a:pt x="34985" y="192431"/>
                </a:lnTo>
                <a:close/>
              </a:path>
              <a:path w="1405890" h="363220">
                <a:moveTo>
                  <a:pt x="35741" y="191769"/>
                </a:moveTo>
                <a:lnTo>
                  <a:pt x="35433" y="191769"/>
                </a:lnTo>
                <a:lnTo>
                  <a:pt x="34985" y="192431"/>
                </a:lnTo>
                <a:lnTo>
                  <a:pt x="35741" y="191769"/>
                </a:lnTo>
                <a:close/>
              </a:path>
              <a:path w="1405890" h="363220">
                <a:moveTo>
                  <a:pt x="36710" y="190922"/>
                </a:moveTo>
                <a:lnTo>
                  <a:pt x="36131" y="191007"/>
                </a:lnTo>
                <a:lnTo>
                  <a:pt x="34925" y="191642"/>
                </a:lnTo>
                <a:lnTo>
                  <a:pt x="36367" y="191222"/>
                </a:lnTo>
                <a:lnTo>
                  <a:pt x="36710" y="190922"/>
                </a:lnTo>
                <a:close/>
              </a:path>
              <a:path w="1405890" h="363220">
                <a:moveTo>
                  <a:pt x="36367" y="191222"/>
                </a:moveTo>
                <a:lnTo>
                  <a:pt x="34925" y="191642"/>
                </a:lnTo>
                <a:lnTo>
                  <a:pt x="35886" y="191642"/>
                </a:lnTo>
                <a:lnTo>
                  <a:pt x="36367" y="191222"/>
                </a:lnTo>
                <a:close/>
              </a:path>
              <a:path w="1405890" h="363220">
                <a:moveTo>
                  <a:pt x="37973" y="190753"/>
                </a:moveTo>
                <a:lnTo>
                  <a:pt x="36710" y="190922"/>
                </a:lnTo>
                <a:lnTo>
                  <a:pt x="36367" y="191222"/>
                </a:lnTo>
                <a:lnTo>
                  <a:pt x="37973" y="190753"/>
                </a:lnTo>
                <a:close/>
              </a:path>
              <a:path w="1405890" h="363220">
                <a:moveTo>
                  <a:pt x="41656" y="190753"/>
                </a:moveTo>
                <a:lnTo>
                  <a:pt x="37973" y="190753"/>
                </a:lnTo>
                <a:lnTo>
                  <a:pt x="37102" y="191007"/>
                </a:lnTo>
                <a:lnTo>
                  <a:pt x="41656" y="191007"/>
                </a:lnTo>
                <a:lnTo>
                  <a:pt x="41656" y="190753"/>
                </a:lnTo>
                <a:close/>
              </a:path>
              <a:path w="1405890" h="363220">
                <a:moveTo>
                  <a:pt x="37337" y="190372"/>
                </a:moveTo>
                <a:lnTo>
                  <a:pt x="36153" y="190996"/>
                </a:lnTo>
                <a:lnTo>
                  <a:pt x="36710" y="190922"/>
                </a:lnTo>
                <a:lnTo>
                  <a:pt x="37337" y="190372"/>
                </a:lnTo>
                <a:close/>
              </a:path>
              <a:path w="1405890" h="363220">
                <a:moveTo>
                  <a:pt x="41656" y="190372"/>
                </a:moveTo>
                <a:lnTo>
                  <a:pt x="37337" y="190372"/>
                </a:lnTo>
                <a:lnTo>
                  <a:pt x="36710" y="190922"/>
                </a:lnTo>
                <a:lnTo>
                  <a:pt x="37973" y="190753"/>
                </a:lnTo>
                <a:lnTo>
                  <a:pt x="41656" y="190753"/>
                </a:lnTo>
                <a:lnTo>
                  <a:pt x="41656" y="190372"/>
                </a:lnTo>
                <a:close/>
              </a:path>
              <a:path w="1405890" h="363220">
                <a:moveTo>
                  <a:pt x="92456" y="178307"/>
                </a:moveTo>
                <a:lnTo>
                  <a:pt x="54356" y="178307"/>
                </a:lnTo>
                <a:lnTo>
                  <a:pt x="54356" y="191007"/>
                </a:lnTo>
                <a:lnTo>
                  <a:pt x="92456" y="191007"/>
                </a:lnTo>
                <a:lnTo>
                  <a:pt x="92456" y="178307"/>
                </a:lnTo>
                <a:close/>
              </a:path>
              <a:path w="1405890" h="363220">
                <a:moveTo>
                  <a:pt x="143256" y="178307"/>
                </a:moveTo>
                <a:lnTo>
                  <a:pt x="105156" y="178307"/>
                </a:lnTo>
                <a:lnTo>
                  <a:pt x="105156" y="191007"/>
                </a:lnTo>
                <a:lnTo>
                  <a:pt x="143256" y="191007"/>
                </a:lnTo>
                <a:lnTo>
                  <a:pt x="143256" y="178307"/>
                </a:lnTo>
                <a:close/>
              </a:path>
              <a:path w="1405890" h="363220">
                <a:moveTo>
                  <a:pt x="194056" y="178307"/>
                </a:moveTo>
                <a:lnTo>
                  <a:pt x="155956" y="178307"/>
                </a:lnTo>
                <a:lnTo>
                  <a:pt x="155956" y="191007"/>
                </a:lnTo>
                <a:lnTo>
                  <a:pt x="194056" y="191007"/>
                </a:lnTo>
                <a:lnTo>
                  <a:pt x="194056" y="178307"/>
                </a:lnTo>
                <a:close/>
              </a:path>
              <a:path w="1405890" h="363220">
                <a:moveTo>
                  <a:pt x="244856" y="178307"/>
                </a:moveTo>
                <a:lnTo>
                  <a:pt x="206756" y="178307"/>
                </a:lnTo>
                <a:lnTo>
                  <a:pt x="206756" y="191007"/>
                </a:lnTo>
                <a:lnTo>
                  <a:pt x="244856" y="191007"/>
                </a:lnTo>
                <a:lnTo>
                  <a:pt x="244856" y="178307"/>
                </a:lnTo>
                <a:close/>
              </a:path>
              <a:path w="1405890" h="363220">
                <a:moveTo>
                  <a:pt x="295656" y="178307"/>
                </a:moveTo>
                <a:lnTo>
                  <a:pt x="257556" y="178307"/>
                </a:lnTo>
                <a:lnTo>
                  <a:pt x="257556" y="191007"/>
                </a:lnTo>
                <a:lnTo>
                  <a:pt x="295656" y="191007"/>
                </a:lnTo>
                <a:lnTo>
                  <a:pt x="295656" y="178307"/>
                </a:lnTo>
                <a:close/>
              </a:path>
              <a:path w="1405890" h="363220">
                <a:moveTo>
                  <a:pt x="346456" y="178307"/>
                </a:moveTo>
                <a:lnTo>
                  <a:pt x="308356" y="178307"/>
                </a:lnTo>
                <a:lnTo>
                  <a:pt x="308356" y="191007"/>
                </a:lnTo>
                <a:lnTo>
                  <a:pt x="346456" y="191007"/>
                </a:lnTo>
                <a:lnTo>
                  <a:pt x="346456" y="178307"/>
                </a:lnTo>
                <a:close/>
              </a:path>
              <a:path w="1405890" h="363220">
                <a:moveTo>
                  <a:pt x="397256" y="178307"/>
                </a:moveTo>
                <a:lnTo>
                  <a:pt x="359156" y="178307"/>
                </a:lnTo>
                <a:lnTo>
                  <a:pt x="359156" y="191007"/>
                </a:lnTo>
                <a:lnTo>
                  <a:pt x="397256" y="191007"/>
                </a:lnTo>
                <a:lnTo>
                  <a:pt x="397256" y="178307"/>
                </a:lnTo>
                <a:close/>
              </a:path>
              <a:path w="1405890" h="363220">
                <a:moveTo>
                  <a:pt x="448056" y="178307"/>
                </a:moveTo>
                <a:lnTo>
                  <a:pt x="409956" y="178307"/>
                </a:lnTo>
                <a:lnTo>
                  <a:pt x="409956" y="191007"/>
                </a:lnTo>
                <a:lnTo>
                  <a:pt x="448056" y="191007"/>
                </a:lnTo>
                <a:lnTo>
                  <a:pt x="448056" y="178307"/>
                </a:lnTo>
                <a:close/>
              </a:path>
              <a:path w="1405890" h="363220">
                <a:moveTo>
                  <a:pt x="498856" y="178307"/>
                </a:moveTo>
                <a:lnTo>
                  <a:pt x="460756" y="178307"/>
                </a:lnTo>
                <a:lnTo>
                  <a:pt x="460756" y="191007"/>
                </a:lnTo>
                <a:lnTo>
                  <a:pt x="498856" y="191007"/>
                </a:lnTo>
                <a:lnTo>
                  <a:pt x="498856" y="178307"/>
                </a:lnTo>
                <a:close/>
              </a:path>
              <a:path w="1405890" h="363220">
                <a:moveTo>
                  <a:pt x="549656" y="178307"/>
                </a:moveTo>
                <a:lnTo>
                  <a:pt x="511556" y="178307"/>
                </a:lnTo>
                <a:lnTo>
                  <a:pt x="511556" y="191007"/>
                </a:lnTo>
                <a:lnTo>
                  <a:pt x="549656" y="191007"/>
                </a:lnTo>
                <a:lnTo>
                  <a:pt x="549656" y="178307"/>
                </a:lnTo>
                <a:close/>
              </a:path>
              <a:path w="1405890" h="363220">
                <a:moveTo>
                  <a:pt x="600456" y="178307"/>
                </a:moveTo>
                <a:lnTo>
                  <a:pt x="562356" y="178307"/>
                </a:lnTo>
                <a:lnTo>
                  <a:pt x="562356" y="191007"/>
                </a:lnTo>
                <a:lnTo>
                  <a:pt x="600456" y="191007"/>
                </a:lnTo>
                <a:lnTo>
                  <a:pt x="600456" y="178307"/>
                </a:lnTo>
                <a:close/>
              </a:path>
              <a:path w="1405890" h="363220">
                <a:moveTo>
                  <a:pt x="651256" y="178307"/>
                </a:moveTo>
                <a:lnTo>
                  <a:pt x="613156" y="178307"/>
                </a:lnTo>
                <a:lnTo>
                  <a:pt x="613156" y="191007"/>
                </a:lnTo>
                <a:lnTo>
                  <a:pt x="651256" y="191007"/>
                </a:lnTo>
                <a:lnTo>
                  <a:pt x="651256" y="178307"/>
                </a:lnTo>
                <a:close/>
              </a:path>
              <a:path w="1405890" h="363220">
                <a:moveTo>
                  <a:pt x="674659" y="176275"/>
                </a:moveTo>
                <a:lnTo>
                  <a:pt x="660400" y="176275"/>
                </a:lnTo>
                <a:lnTo>
                  <a:pt x="659384" y="177545"/>
                </a:lnTo>
                <a:lnTo>
                  <a:pt x="659130" y="177545"/>
                </a:lnTo>
                <a:lnTo>
                  <a:pt x="667512" y="187070"/>
                </a:lnTo>
                <a:lnTo>
                  <a:pt x="669036" y="185800"/>
                </a:lnTo>
                <a:lnTo>
                  <a:pt x="669417" y="185419"/>
                </a:lnTo>
                <a:lnTo>
                  <a:pt x="669798" y="184912"/>
                </a:lnTo>
                <a:lnTo>
                  <a:pt x="672846" y="180085"/>
                </a:lnTo>
                <a:lnTo>
                  <a:pt x="673100" y="179831"/>
                </a:lnTo>
                <a:lnTo>
                  <a:pt x="673227" y="179577"/>
                </a:lnTo>
                <a:lnTo>
                  <a:pt x="673354" y="179196"/>
                </a:lnTo>
                <a:lnTo>
                  <a:pt x="674091" y="177545"/>
                </a:lnTo>
                <a:lnTo>
                  <a:pt x="659384" y="177545"/>
                </a:lnTo>
                <a:lnTo>
                  <a:pt x="659915" y="176760"/>
                </a:lnTo>
                <a:lnTo>
                  <a:pt x="674442" y="176760"/>
                </a:lnTo>
                <a:lnTo>
                  <a:pt x="674659" y="176275"/>
                </a:lnTo>
                <a:close/>
              </a:path>
              <a:path w="1405890" h="363220">
                <a:moveTo>
                  <a:pt x="660400" y="176275"/>
                </a:moveTo>
                <a:lnTo>
                  <a:pt x="659915" y="176760"/>
                </a:lnTo>
                <a:lnTo>
                  <a:pt x="659384" y="177545"/>
                </a:lnTo>
                <a:lnTo>
                  <a:pt x="660400" y="176275"/>
                </a:lnTo>
                <a:close/>
              </a:path>
              <a:path w="1405890" h="363220">
                <a:moveTo>
                  <a:pt x="676021" y="173227"/>
                </a:moveTo>
                <a:lnTo>
                  <a:pt x="662305" y="173227"/>
                </a:lnTo>
                <a:lnTo>
                  <a:pt x="661797" y="174116"/>
                </a:lnTo>
                <a:lnTo>
                  <a:pt x="659915" y="176760"/>
                </a:lnTo>
                <a:lnTo>
                  <a:pt x="660400" y="176275"/>
                </a:lnTo>
                <a:lnTo>
                  <a:pt x="674659" y="176275"/>
                </a:lnTo>
                <a:lnTo>
                  <a:pt x="676021" y="173227"/>
                </a:lnTo>
                <a:close/>
              </a:path>
              <a:path w="1405890" h="363220">
                <a:moveTo>
                  <a:pt x="661967" y="173726"/>
                </a:moveTo>
                <a:lnTo>
                  <a:pt x="661703" y="174116"/>
                </a:lnTo>
                <a:lnTo>
                  <a:pt x="661967" y="173726"/>
                </a:lnTo>
                <a:close/>
              </a:path>
              <a:path w="1405890" h="363220">
                <a:moveTo>
                  <a:pt x="662305" y="173227"/>
                </a:moveTo>
                <a:lnTo>
                  <a:pt x="661967" y="173726"/>
                </a:lnTo>
                <a:lnTo>
                  <a:pt x="661797" y="174116"/>
                </a:lnTo>
                <a:lnTo>
                  <a:pt x="662305" y="173227"/>
                </a:lnTo>
                <a:close/>
              </a:path>
              <a:path w="1405890" h="363220">
                <a:moveTo>
                  <a:pt x="670687" y="145795"/>
                </a:moveTo>
                <a:lnTo>
                  <a:pt x="669163" y="152526"/>
                </a:lnTo>
                <a:lnTo>
                  <a:pt x="666750" y="161035"/>
                </a:lnTo>
                <a:lnTo>
                  <a:pt x="664463" y="168020"/>
                </a:lnTo>
                <a:lnTo>
                  <a:pt x="661967" y="173726"/>
                </a:lnTo>
                <a:lnTo>
                  <a:pt x="662305" y="173227"/>
                </a:lnTo>
                <a:lnTo>
                  <a:pt x="676021" y="173227"/>
                </a:lnTo>
                <a:lnTo>
                  <a:pt x="678815" y="165226"/>
                </a:lnTo>
                <a:lnTo>
                  <a:pt x="681355" y="155828"/>
                </a:lnTo>
                <a:lnTo>
                  <a:pt x="683006" y="148589"/>
                </a:lnTo>
                <a:lnTo>
                  <a:pt x="670687" y="145795"/>
                </a:lnTo>
                <a:close/>
              </a:path>
              <a:path w="1405890" h="363220">
                <a:moveTo>
                  <a:pt x="703199" y="130047"/>
                </a:moveTo>
                <a:lnTo>
                  <a:pt x="690626" y="132079"/>
                </a:lnTo>
                <a:lnTo>
                  <a:pt x="692912" y="145160"/>
                </a:lnTo>
                <a:lnTo>
                  <a:pt x="695325" y="155575"/>
                </a:lnTo>
                <a:lnTo>
                  <a:pt x="697738" y="164719"/>
                </a:lnTo>
                <a:lnTo>
                  <a:pt x="699643" y="170179"/>
                </a:lnTo>
                <a:lnTo>
                  <a:pt x="711581" y="165988"/>
                </a:lnTo>
                <a:lnTo>
                  <a:pt x="710057" y="161544"/>
                </a:lnTo>
                <a:lnTo>
                  <a:pt x="707644" y="152781"/>
                </a:lnTo>
                <a:lnTo>
                  <a:pt x="705485" y="142875"/>
                </a:lnTo>
                <a:lnTo>
                  <a:pt x="703326" y="131444"/>
                </a:lnTo>
                <a:lnTo>
                  <a:pt x="703199" y="130047"/>
                </a:lnTo>
                <a:close/>
              </a:path>
              <a:path w="1405890" h="363220">
                <a:moveTo>
                  <a:pt x="677926" y="96392"/>
                </a:moveTo>
                <a:lnTo>
                  <a:pt x="677020" y="105409"/>
                </a:lnTo>
                <a:lnTo>
                  <a:pt x="675204" y="119252"/>
                </a:lnTo>
                <a:lnTo>
                  <a:pt x="673452" y="131444"/>
                </a:lnTo>
                <a:lnTo>
                  <a:pt x="672973" y="133603"/>
                </a:lnTo>
                <a:lnTo>
                  <a:pt x="685546" y="135889"/>
                </a:lnTo>
                <a:lnTo>
                  <a:pt x="685927" y="133603"/>
                </a:lnTo>
                <a:lnTo>
                  <a:pt x="687832" y="120776"/>
                </a:lnTo>
                <a:lnTo>
                  <a:pt x="688316" y="116966"/>
                </a:lnTo>
                <a:lnTo>
                  <a:pt x="687070" y="106679"/>
                </a:lnTo>
                <a:lnTo>
                  <a:pt x="686181" y="97226"/>
                </a:lnTo>
                <a:lnTo>
                  <a:pt x="677926" y="96392"/>
                </a:lnTo>
                <a:close/>
              </a:path>
              <a:path w="1405890" h="363220">
                <a:moveTo>
                  <a:pt x="697484" y="80137"/>
                </a:moveTo>
                <a:lnTo>
                  <a:pt x="692023" y="80573"/>
                </a:lnTo>
                <a:lnTo>
                  <a:pt x="691642" y="84835"/>
                </a:lnTo>
                <a:lnTo>
                  <a:pt x="685090" y="84835"/>
                </a:lnTo>
                <a:lnTo>
                  <a:pt x="685673" y="91820"/>
                </a:lnTo>
                <a:lnTo>
                  <a:pt x="686181" y="97226"/>
                </a:lnTo>
                <a:lnTo>
                  <a:pt x="690499" y="97662"/>
                </a:lnTo>
                <a:lnTo>
                  <a:pt x="689610" y="106806"/>
                </a:lnTo>
                <a:lnTo>
                  <a:pt x="688316" y="116966"/>
                </a:lnTo>
                <a:lnTo>
                  <a:pt x="688594" y="119252"/>
                </a:lnTo>
                <a:lnTo>
                  <a:pt x="701294" y="117728"/>
                </a:lnTo>
                <a:lnTo>
                  <a:pt x="699756" y="105282"/>
                </a:lnTo>
                <a:lnTo>
                  <a:pt x="698246" y="90804"/>
                </a:lnTo>
                <a:lnTo>
                  <a:pt x="697819" y="84835"/>
                </a:lnTo>
                <a:lnTo>
                  <a:pt x="691642" y="84835"/>
                </a:lnTo>
                <a:lnTo>
                  <a:pt x="685046" y="84303"/>
                </a:lnTo>
                <a:lnTo>
                  <a:pt x="697781" y="84303"/>
                </a:lnTo>
                <a:lnTo>
                  <a:pt x="697484" y="80137"/>
                </a:lnTo>
                <a:close/>
              </a:path>
              <a:path w="1405890" h="363220">
                <a:moveTo>
                  <a:pt x="686181" y="97226"/>
                </a:moveTo>
                <a:lnTo>
                  <a:pt x="687085" y="106806"/>
                </a:lnTo>
                <a:lnTo>
                  <a:pt x="688316" y="116966"/>
                </a:lnTo>
                <a:lnTo>
                  <a:pt x="689622" y="106679"/>
                </a:lnTo>
                <a:lnTo>
                  <a:pt x="690499" y="97662"/>
                </a:lnTo>
                <a:lnTo>
                  <a:pt x="686181" y="97226"/>
                </a:lnTo>
                <a:close/>
              </a:path>
              <a:path w="1405890" h="363220">
                <a:moveTo>
                  <a:pt x="692023" y="80573"/>
                </a:moveTo>
                <a:lnTo>
                  <a:pt x="684784" y="81152"/>
                </a:lnTo>
                <a:lnTo>
                  <a:pt x="685046" y="84303"/>
                </a:lnTo>
                <a:lnTo>
                  <a:pt x="691642" y="84835"/>
                </a:lnTo>
                <a:lnTo>
                  <a:pt x="692023" y="80573"/>
                </a:lnTo>
                <a:close/>
              </a:path>
              <a:path w="1405890" h="363220">
                <a:moveTo>
                  <a:pt x="681228" y="46100"/>
                </a:moveTo>
                <a:lnTo>
                  <a:pt x="680720" y="59054"/>
                </a:lnTo>
                <a:lnTo>
                  <a:pt x="679628" y="76326"/>
                </a:lnTo>
                <a:lnTo>
                  <a:pt x="679069" y="83819"/>
                </a:lnTo>
                <a:lnTo>
                  <a:pt x="685046" y="84303"/>
                </a:lnTo>
                <a:lnTo>
                  <a:pt x="684784" y="81152"/>
                </a:lnTo>
                <a:lnTo>
                  <a:pt x="692023" y="80573"/>
                </a:lnTo>
                <a:lnTo>
                  <a:pt x="692404" y="76326"/>
                </a:lnTo>
                <a:lnTo>
                  <a:pt x="692834" y="68325"/>
                </a:lnTo>
                <a:lnTo>
                  <a:pt x="683895" y="68325"/>
                </a:lnTo>
                <a:lnTo>
                  <a:pt x="683358" y="59054"/>
                </a:lnTo>
                <a:lnTo>
                  <a:pt x="682790" y="46163"/>
                </a:lnTo>
                <a:lnTo>
                  <a:pt x="681228" y="46100"/>
                </a:lnTo>
                <a:close/>
              </a:path>
              <a:path w="1405890" h="363220">
                <a:moveTo>
                  <a:pt x="682790" y="46163"/>
                </a:moveTo>
                <a:lnTo>
                  <a:pt x="683394" y="59816"/>
                </a:lnTo>
                <a:lnTo>
                  <a:pt x="683895" y="68325"/>
                </a:lnTo>
                <a:lnTo>
                  <a:pt x="692863" y="67787"/>
                </a:lnTo>
                <a:lnTo>
                  <a:pt x="693329" y="59054"/>
                </a:lnTo>
                <a:lnTo>
                  <a:pt x="693928" y="46608"/>
                </a:lnTo>
                <a:lnTo>
                  <a:pt x="682790" y="46163"/>
                </a:lnTo>
                <a:close/>
              </a:path>
              <a:path w="1405890" h="363220">
                <a:moveTo>
                  <a:pt x="692863" y="67787"/>
                </a:moveTo>
                <a:lnTo>
                  <a:pt x="683895" y="68325"/>
                </a:lnTo>
                <a:lnTo>
                  <a:pt x="692834" y="68325"/>
                </a:lnTo>
                <a:lnTo>
                  <a:pt x="692863" y="67787"/>
                </a:lnTo>
                <a:close/>
              </a:path>
              <a:path w="1405890" h="363220">
                <a:moveTo>
                  <a:pt x="694944" y="29717"/>
                </a:moveTo>
                <a:lnTo>
                  <a:pt x="694365" y="29729"/>
                </a:lnTo>
                <a:lnTo>
                  <a:pt x="694309" y="33781"/>
                </a:lnTo>
                <a:lnTo>
                  <a:pt x="682360" y="33781"/>
                </a:lnTo>
                <a:lnTo>
                  <a:pt x="682625" y="42417"/>
                </a:lnTo>
                <a:lnTo>
                  <a:pt x="682790" y="46163"/>
                </a:lnTo>
                <a:lnTo>
                  <a:pt x="693928" y="46608"/>
                </a:lnTo>
                <a:lnTo>
                  <a:pt x="693293" y="59816"/>
                </a:lnTo>
                <a:lnTo>
                  <a:pt x="692863" y="67787"/>
                </a:lnTo>
                <a:lnTo>
                  <a:pt x="696595" y="67563"/>
                </a:lnTo>
                <a:lnTo>
                  <a:pt x="695954" y="59054"/>
                </a:lnTo>
                <a:lnTo>
                  <a:pt x="695198" y="42163"/>
                </a:lnTo>
                <a:lnTo>
                  <a:pt x="695026" y="33781"/>
                </a:lnTo>
                <a:lnTo>
                  <a:pt x="694309" y="33781"/>
                </a:lnTo>
                <a:lnTo>
                  <a:pt x="682353" y="33542"/>
                </a:lnTo>
                <a:lnTo>
                  <a:pt x="695022" y="33542"/>
                </a:lnTo>
                <a:lnTo>
                  <a:pt x="694944" y="29717"/>
                </a:lnTo>
                <a:close/>
              </a:path>
              <a:path w="1405890" h="363220">
                <a:moveTo>
                  <a:pt x="694365" y="29729"/>
                </a:moveTo>
                <a:lnTo>
                  <a:pt x="682244" y="29971"/>
                </a:lnTo>
                <a:lnTo>
                  <a:pt x="682353" y="33542"/>
                </a:lnTo>
                <a:lnTo>
                  <a:pt x="694309" y="33781"/>
                </a:lnTo>
                <a:lnTo>
                  <a:pt x="694365" y="29729"/>
                </a:lnTo>
                <a:close/>
              </a:path>
              <a:path w="1405890" h="363220">
                <a:moveTo>
                  <a:pt x="691769" y="0"/>
                </a:moveTo>
                <a:lnTo>
                  <a:pt x="684911" y="0"/>
                </a:lnTo>
                <a:lnTo>
                  <a:pt x="681990" y="2793"/>
                </a:lnTo>
                <a:lnTo>
                  <a:pt x="681988" y="6476"/>
                </a:lnTo>
                <a:lnTo>
                  <a:pt x="681863" y="24383"/>
                </a:lnTo>
                <a:lnTo>
                  <a:pt x="681609" y="33527"/>
                </a:lnTo>
                <a:lnTo>
                  <a:pt x="682353" y="33542"/>
                </a:lnTo>
                <a:lnTo>
                  <a:pt x="682244" y="29971"/>
                </a:lnTo>
                <a:lnTo>
                  <a:pt x="694365" y="29729"/>
                </a:lnTo>
                <a:lnTo>
                  <a:pt x="694539" y="17271"/>
                </a:lnTo>
                <a:lnTo>
                  <a:pt x="682117" y="17271"/>
                </a:lnTo>
                <a:lnTo>
                  <a:pt x="681990" y="6476"/>
                </a:lnTo>
                <a:lnTo>
                  <a:pt x="694692" y="6476"/>
                </a:lnTo>
                <a:lnTo>
                  <a:pt x="694690" y="2793"/>
                </a:lnTo>
                <a:lnTo>
                  <a:pt x="691769" y="0"/>
                </a:lnTo>
                <a:close/>
              </a:path>
              <a:path w="1405890" h="363220">
                <a:moveTo>
                  <a:pt x="694690" y="6476"/>
                </a:moveTo>
                <a:lnTo>
                  <a:pt x="681990" y="6476"/>
                </a:lnTo>
                <a:lnTo>
                  <a:pt x="682117" y="17271"/>
                </a:lnTo>
                <a:lnTo>
                  <a:pt x="694541" y="17144"/>
                </a:lnTo>
                <a:lnTo>
                  <a:pt x="694690" y="6476"/>
                </a:lnTo>
                <a:close/>
              </a:path>
              <a:path w="1405890" h="363220">
                <a:moveTo>
                  <a:pt x="694541" y="17147"/>
                </a:moveTo>
                <a:lnTo>
                  <a:pt x="682117" y="17271"/>
                </a:lnTo>
                <a:lnTo>
                  <a:pt x="694539" y="17271"/>
                </a:lnTo>
                <a:close/>
              </a:path>
              <a:path w="1405890" h="363220">
                <a:moveTo>
                  <a:pt x="694692" y="6476"/>
                </a:moveTo>
                <a:lnTo>
                  <a:pt x="694541" y="17147"/>
                </a:lnTo>
                <a:lnTo>
                  <a:pt x="694817" y="17144"/>
                </a:lnTo>
                <a:lnTo>
                  <a:pt x="694692" y="6476"/>
                </a:lnTo>
                <a:close/>
              </a:path>
              <a:path w="1405890" h="363220">
                <a:moveTo>
                  <a:pt x="716407" y="176021"/>
                </a:moveTo>
                <a:lnTo>
                  <a:pt x="705738" y="183006"/>
                </a:lnTo>
                <a:lnTo>
                  <a:pt x="707009" y="184912"/>
                </a:lnTo>
                <a:lnTo>
                  <a:pt x="707390" y="185419"/>
                </a:lnTo>
                <a:lnTo>
                  <a:pt x="707771" y="185800"/>
                </a:lnTo>
                <a:lnTo>
                  <a:pt x="710692" y="188467"/>
                </a:lnTo>
                <a:lnTo>
                  <a:pt x="712216" y="189483"/>
                </a:lnTo>
                <a:lnTo>
                  <a:pt x="713105" y="189737"/>
                </a:lnTo>
                <a:lnTo>
                  <a:pt x="716153" y="190753"/>
                </a:lnTo>
                <a:lnTo>
                  <a:pt x="717423" y="191007"/>
                </a:lnTo>
                <a:lnTo>
                  <a:pt x="747141" y="191007"/>
                </a:lnTo>
                <a:lnTo>
                  <a:pt x="747141" y="178942"/>
                </a:lnTo>
                <a:lnTo>
                  <a:pt x="719328" y="178942"/>
                </a:lnTo>
                <a:lnTo>
                  <a:pt x="716915" y="177672"/>
                </a:lnTo>
                <a:lnTo>
                  <a:pt x="717876" y="177672"/>
                </a:lnTo>
                <a:lnTo>
                  <a:pt x="717731" y="177545"/>
                </a:lnTo>
                <a:lnTo>
                  <a:pt x="717423" y="177545"/>
                </a:lnTo>
                <a:lnTo>
                  <a:pt x="716280" y="176275"/>
                </a:lnTo>
                <a:lnTo>
                  <a:pt x="716576" y="176275"/>
                </a:lnTo>
                <a:lnTo>
                  <a:pt x="716407" y="176021"/>
                </a:lnTo>
                <a:close/>
              </a:path>
              <a:path w="1405890" h="363220">
                <a:moveTo>
                  <a:pt x="718143" y="178319"/>
                </a:moveTo>
                <a:lnTo>
                  <a:pt x="719328" y="178942"/>
                </a:lnTo>
                <a:lnTo>
                  <a:pt x="718700" y="178393"/>
                </a:lnTo>
                <a:lnTo>
                  <a:pt x="718143" y="178319"/>
                </a:lnTo>
                <a:close/>
              </a:path>
              <a:path w="1405890" h="363220">
                <a:moveTo>
                  <a:pt x="718700" y="178393"/>
                </a:moveTo>
                <a:lnTo>
                  <a:pt x="719328" y="178942"/>
                </a:lnTo>
                <a:lnTo>
                  <a:pt x="747141" y="178942"/>
                </a:lnTo>
                <a:lnTo>
                  <a:pt x="747141" y="178562"/>
                </a:lnTo>
                <a:lnTo>
                  <a:pt x="719963" y="178562"/>
                </a:lnTo>
                <a:lnTo>
                  <a:pt x="718700" y="178393"/>
                </a:lnTo>
                <a:close/>
              </a:path>
              <a:path w="1405890" h="363220">
                <a:moveTo>
                  <a:pt x="718357" y="178093"/>
                </a:moveTo>
                <a:lnTo>
                  <a:pt x="718700" y="178393"/>
                </a:lnTo>
                <a:lnTo>
                  <a:pt x="719963" y="178562"/>
                </a:lnTo>
                <a:lnTo>
                  <a:pt x="718357" y="178093"/>
                </a:lnTo>
                <a:close/>
              </a:path>
              <a:path w="1405890" h="363220">
                <a:moveTo>
                  <a:pt x="747141" y="178307"/>
                </a:moveTo>
                <a:lnTo>
                  <a:pt x="719092" y="178307"/>
                </a:lnTo>
                <a:lnTo>
                  <a:pt x="719963" y="178562"/>
                </a:lnTo>
                <a:lnTo>
                  <a:pt x="747141" y="178562"/>
                </a:lnTo>
                <a:lnTo>
                  <a:pt x="747141" y="178307"/>
                </a:lnTo>
                <a:close/>
              </a:path>
              <a:path w="1405890" h="363220">
                <a:moveTo>
                  <a:pt x="716915" y="177672"/>
                </a:moveTo>
                <a:lnTo>
                  <a:pt x="718143" y="178319"/>
                </a:lnTo>
                <a:lnTo>
                  <a:pt x="718700" y="178393"/>
                </a:lnTo>
                <a:lnTo>
                  <a:pt x="718357" y="178093"/>
                </a:lnTo>
                <a:lnTo>
                  <a:pt x="716915" y="177672"/>
                </a:lnTo>
                <a:close/>
              </a:path>
              <a:path w="1405890" h="363220">
                <a:moveTo>
                  <a:pt x="718121" y="178307"/>
                </a:moveTo>
                <a:close/>
              </a:path>
              <a:path w="1405890" h="363220">
                <a:moveTo>
                  <a:pt x="717876" y="177672"/>
                </a:moveTo>
                <a:lnTo>
                  <a:pt x="716915" y="177672"/>
                </a:lnTo>
                <a:lnTo>
                  <a:pt x="718357" y="178093"/>
                </a:lnTo>
                <a:lnTo>
                  <a:pt x="717876" y="177672"/>
                </a:lnTo>
                <a:close/>
              </a:path>
              <a:path w="1405890" h="363220">
                <a:moveTo>
                  <a:pt x="716280" y="176275"/>
                </a:moveTo>
                <a:lnTo>
                  <a:pt x="717423" y="177545"/>
                </a:lnTo>
                <a:lnTo>
                  <a:pt x="716991" y="176898"/>
                </a:lnTo>
                <a:lnTo>
                  <a:pt x="716280" y="176275"/>
                </a:lnTo>
                <a:close/>
              </a:path>
              <a:path w="1405890" h="363220">
                <a:moveTo>
                  <a:pt x="716991" y="176898"/>
                </a:moveTo>
                <a:lnTo>
                  <a:pt x="717423" y="177545"/>
                </a:lnTo>
                <a:lnTo>
                  <a:pt x="717731" y="177545"/>
                </a:lnTo>
                <a:lnTo>
                  <a:pt x="716991" y="176898"/>
                </a:lnTo>
                <a:close/>
              </a:path>
              <a:path w="1405890" h="363220">
                <a:moveTo>
                  <a:pt x="716576" y="176275"/>
                </a:moveTo>
                <a:lnTo>
                  <a:pt x="716280" y="176275"/>
                </a:lnTo>
                <a:lnTo>
                  <a:pt x="716991" y="176898"/>
                </a:lnTo>
                <a:lnTo>
                  <a:pt x="716576" y="176275"/>
                </a:lnTo>
                <a:close/>
              </a:path>
              <a:path w="1405890" h="363220">
                <a:moveTo>
                  <a:pt x="797941" y="178307"/>
                </a:moveTo>
                <a:lnTo>
                  <a:pt x="759841" y="178307"/>
                </a:lnTo>
                <a:lnTo>
                  <a:pt x="759841" y="191007"/>
                </a:lnTo>
                <a:lnTo>
                  <a:pt x="797941" y="191007"/>
                </a:lnTo>
                <a:lnTo>
                  <a:pt x="797941" y="178307"/>
                </a:lnTo>
                <a:close/>
              </a:path>
              <a:path w="1405890" h="363220">
                <a:moveTo>
                  <a:pt x="848741" y="178307"/>
                </a:moveTo>
                <a:lnTo>
                  <a:pt x="810641" y="178307"/>
                </a:lnTo>
                <a:lnTo>
                  <a:pt x="810641" y="191007"/>
                </a:lnTo>
                <a:lnTo>
                  <a:pt x="848741" y="191007"/>
                </a:lnTo>
                <a:lnTo>
                  <a:pt x="848741" y="178307"/>
                </a:lnTo>
                <a:close/>
              </a:path>
              <a:path w="1405890" h="363220">
                <a:moveTo>
                  <a:pt x="899541" y="178307"/>
                </a:moveTo>
                <a:lnTo>
                  <a:pt x="861441" y="178307"/>
                </a:lnTo>
                <a:lnTo>
                  <a:pt x="861441" y="191007"/>
                </a:lnTo>
                <a:lnTo>
                  <a:pt x="899541" y="191007"/>
                </a:lnTo>
                <a:lnTo>
                  <a:pt x="899541" y="178307"/>
                </a:lnTo>
                <a:close/>
              </a:path>
              <a:path w="1405890" h="363220">
                <a:moveTo>
                  <a:pt x="950341" y="178307"/>
                </a:moveTo>
                <a:lnTo>
                  <a:pt x="912241" y="178307"/>
                </a:lnTo>
                <a:lnTo>
                  <a:pt x="912241" y="191007"/>
                </a:lnTo>
                <a:lnTo>
                  <a:pt x="950341" y="191007"/>
                </a:lnTo>
                <a:lnTo>
                  <a:pt x="950341" y="178307"/>
                </a:lnTo>
                <a:close/>
              </a:path>
              <a:path w="1405890" h="363220">
                <a:moveTo>
                  <a:pt x="1001140" y="178307"/>
                </a:moveTo>
                <a:lnTo>
                  <a:pt x="963041" y="178307"/>
                </a:lnTo>
                <a:lnTo>
                  <a:pt x="963041" y="191007"/>
                </a:lnTo>
                <a:lnTo>
                  <a:pt x="1001140" y="191007"/>
                </a:lnTo>
                <a:lnTo>
                  <a:pt x="1001140" y="178307"/>
                </a:lnTo>
                <a:close/>
              </a:path>
              <a:path w="1405890" h="363220">
                <a:moveTo>
                  <a:pt x="1051940" y="178307"/>
                </a:moveTo>
                <a:lnTo>
                  <a:pt x="1013840" y="178307"/>
                </a:lnTo>
                <a:lnTo>
                  <a:pt x="1013840" y="191007"/>
                </a:lnTo>
                <a:lnTo>
                  <a:pt x="1051940" y="191007"/>
                </a:lnTo>
                <a:lnTo>
                  <a:pt x="1051940" y="178307"/>
                </a:lnTo>
                <a:close/>
              </a:path>
              <a:path w="1405890" h="363220">
                <a:moveTo>
                  <a:pt x="1102740" y="178307"/>
                </a:moveTo>
                <a:lnTo>
                  <a:pt x="1064640" y="178307"/>
                </a:lnTo>
                <a:lnTo>
                  <a:pt x="1064640" y="191007"/>
                </a:lnTo>
                <a:lnTo>
                  <a:pt x="1102740" y="191007"/>
                </a:lnTo>
                <a:lnTo>
                  <a:pt x="1102740" y="178307"/>
                </a:lnTo>
                <a:close/>
              </a:path>
              <a:path w="1405890" h="363220">
                <a:moveTo>
                  <a:pt x="1153540" y="178307"/>
                </a:moveTo>
                <a:lnTo>
                  <a:pt x="1115440" y="178307"/>
                </a:lnTo>
                <a:lnTo>
                  <a:pt x="1115440" y="191007"/>
                </a:lnTo>
                <a:lnTo>
                  <a:pt x="1153540" y="191007"/>
                </a:lnTo>
                <a:lnTo>
                  <a:pt x="1153540" y="178307"/>
                </a:lnTo>
                <a:close/>
              </a:path>
              <a:path w="1405890" h="363220">
                <a:moveTo>
                  <a:pt x="1204340" y="178307"/>
                </a:moveTo>
                <a:lnTo>
                  <a:pt x="1166240" y="178307"/>
                </a:lnTo>
                <a:lnTo>
                  <a:pt x="1166240" y="191007"/>
                </a:lnTo>
                <a:lnTo>
                  <a:pt x="1204340" y="191007"/>
                </a:lnTo>
                <a:lnTo>
                  <a:pt x="1204340" y="178307"/>
                </a:lnTo>
                <a:close/>
              </a:path>
              <a:path w="1405890" h="363220">
                <a:moveTo>
                  <a:pt x="1255140" y="178307"/>
                </a:moveTo>
                <a:lnTo>
                  <a:pt x="1217040" y="178307"/>
                </a:lnTo>
                <a:lnTo>
                  <a:pt x="1217040" y="191007"/>
                </a:lnTo>
                <a:lnTo>
                  <a:pt x="1255140" y="191007"/>
                </a:lnTo>
                <a:lnTo>
                  <a:pt x="1255140" y="178307"/>
                </a:lnTo>
                <a:close/>
              </a:path>
              <a:path w="1405890" h="363220">
                <a:moveTo>
                  <a:pt x="1305940" y="178307"/>
                </a:moveTo>
                <a:lnTo>
                  <a:pt x="1267840" y="178307"/>
                </a:lnTo>
                <a:lnTo>
                  <a:pt x="1267840" y="191007"/>
                </a:lnTo>
                <a:lnTo>
                  <a:pt x="1305940" y="191007"/>
                </a:lnTo>
                <a:lnTo>
                  <a:pt x="1305940" y="178307"/>
                </a:lnTo>
                <a:close/>
              </a:path>
              <a:path w="1405890" h="363220">
                <a:moveTo>
                  <a:pt x="1343928" y="195546"/>
                </a:moveTo>
                <a:lnTo>
                  <a:pt x="1345184" y="198627"/>
                </a:lnTo>
                <a:lnTo>
                  <a:pt x="1350883" y="196087"/>
                </a:lnTo>
                <a:lnTo>
                  <a:pt x="1344294" y="196087"/>
                </a:lnTo>
                <a:lnTo>
                  <a:pt x="1343928" y="195546"/>
                </a:lnTo>
                <a:close/>
              </a:path>
              <a:path w="1405890" h="363220">
                <a:moveTo>
                  <a:pt x="1343787" y="195198"/>
                </a:moveTo>
                <a:lnTo>
                  <a:pt x="1343928" y="195546"/>
                </a:lnTo>
                <a:lnTo>
                  <a:pt x="1344294" y="196087"/>
                </a:lnTo>
                <a:lnTo>
                  <a:pt x="1343787" y="195198"/>
                </a:lnTo>
                <a:close/>
              </a:path>
              <a:path w="1405890" h="363220">
                <a:moveTo>
                  <a:pt x="1352878" y="195198"/>
                </a:moveTo>
                <a:lnTo>
                  <a:pt x="1343787" y="195198"/>
                </a:lnTo>
                <a:lnTo>
                  <a:pt x="1344294" y="196087"/>
                </a:lnTo>
                <a:lnTo>
                  <a:pt x="1350883" y="196087"/>
                </a:lnTo>
                <a:lnTo>
                  <a:pt x="1352878" y="195198"/>
                </a:lnTo>
                <a:close/>
              </a:path>
              <a:path w="1405890" h="363220">
                <a:moveTo>
                  <a:pt x="1341979" y="192665"/>
                </a:moveTo>
                <a:lnTo>
                  <a:pt x="1343928" y="195546"/>
                </a:lnTo>
                <a:lnTo>
                  <a:pt x="1343787" y="195198"/>
                </a:lnTo>
                <a:lnTo>
                  <a:pt x="1352878" y="195198"/>
                </a:lnTo>
                <a:lnTo>
                  <a:pt x="1356867" y="193420"/>
                </a:lnTo>
                <a:lnTo>
                  <a:pt x="1356692" y="193039"/>
                </a:lnTo>
                <a:lnTo>
                  <a:pt x="1342389" y="193039"/>
                </a:lnTo>
                <a:lnTo>
                  <a:pt x="1341979" y="192665"/>
                </a:lnTo>
                <a:close/>
              </a:path>
              <a:path w="1405890" h="363220">
                <a:moveTo>
                  <a:pt x="1341374" y="191769"/>
                </a:moveTo>
                <a:lnTo>
                  <a:pt x="1341979" y="192665"/>
                </a:lnTo>
                <a:lnTo>
                  <a:pt x="1342389" y="193039"/>
                </a:lnTo>
                <a:lnTo>
                  <a:pt x="1341374" y="191769"/>
                </a:lnTo>
                <a:close/>
              </a:path>
              <a:path w="1405890" h="363220">
                <a:moveTo>
                  <a:pt x="1356106" y="191769"/>
                </a:moveTo>
                <a:lnTo>
                  <a:pt x="1341374" y="191769"/>
                </a:lnTo>
                <a:lnTo>
                  <a:pt x="1342389" y="193039"/>
                </a:lnTo>
                <a:lnTo>
                  <a:pt x="1356692" y="193039"/>
                </a:lnTo>
                <a:lnTo>
                  <a:pt x="1356106" y="191769"/>
                </a:lnTo>
                <a:close/>
              </a:path>
              <a:path w="1405890" h="363220">
                <a:moveTo>
                  <a:pt x="1340380" y="191204"/>
                </a:moveTo>
                <a:lnTo>
                  <a:pt x="1341979" y="192665"/>
                </a:lnTo>
                <a:lnTo>
                  <a:pt x="1341374" y="191769"/>
                </a:lnTo>
                <a:lnTo>
                  <a:pt x="1356106" y="191769"/>
                </a:lnTo>
                <a:lnTo>
                  <a:pt x="1356047" y="191642"/>
                </a:lnTo>
                <a:lnTo>
                  <a:pt x="1341882" y="191642"/>
                </a:lnTo>
                <a:lnTo>
                  <a:pt x="1340380" y="191204"/>
                </a:lnTo>
                <a:close/>
              </a:path>
              <a:path w="1405890" h="363220">
                <a:moveTo>
                  <a:pt x="1340066" y="190918"/>
                </a:moveTo>
                <a:lnTo>
                  <a:pt x="1340380" y="191204"/>
                </a:lnTo>
                <a:lnTo>
                  <a:pt x="1341882" y="191642"/>
                </a:lnTo>
                <a:lnTo>
                  <a:pt x="1340653" y="190996"/>
                </a:lnTo>
                <a:lnTo>
                  <a:pt x="1340066" y="190918"/>
                </a:lnTo>
                <a:close/>
              </a:path>
              <a:path w="1405890" h="363220">
                <a:moveTo>
                  <a:pt x="1355461" y="190372"/>
                </a:moveTo>
                <a:lnTo>
                  <a:pt x="1339468" y="190372"/>
                </a:lnTo>
                <a:lnTo>
                  <a:pt x="1340653" y="190996"/>
                </a:lnTo>
                <a:lnTo>
                  <a:pt x="1341882" y="191642"/>
                </a:lnTo>
                <a:lnTo>
                  <a:pt x="1356047" y="191642"/>
                </a:lnTo>
                <a:lnTo>
                  <a:pt x="1355461" y="190372"/>
                </a:lnTo>
                <a:close/>
              </a:path>
              <a:path w="1405890" h="363220">
                <a:moveTo>
                  <a:pt x="1338834" y="190753"/>
                </a:moveTo>
                <a:lnTo>
                  <a:pt x="1340380" y="191204"/>
                </a:lnTo>
                <a:lnTo>
                  <a:pt x="1340066" y="190918"/>
                </a:lnTo>
                <a:lnTo>
                  <a:pt x="1338834" y="190753"/>
                </a:lnTo>
                <a:close/>
              </a:path>
              <a:path w="1405890" h="363220">
                <a:moveTo>
                  <a:pt x="1341374" y="178307"/>
                </a:moveTo>
                <a:lnTo>
                  <a:pt x="1318640" y="178307"/>
                </a:lnTo>
                <a:lnTo>
                  <a:pt x="1318640" y="191007"/>
                </a:lnTo>
                <a:lnTo>
                  <a:pt x="1339704" y="191007"/>
                </a:lnTo>
                <a:lnTo>
                  <a:pt x="1338834" y="190753"/>
                </a:lnTo>
                <a:lnTo>
                  <a:pt x="1339886" y="190753"/>
                </a:lnTo>
                <a:lnTo>
                  <a:pt x="1339468" y="190372"/>
                </a:lnTo>
                <a:lnTo>
                  <a:pt x="1355461" y="190372"/>
                </a:lnTo>
                <a:lnTo>
                  <a:pt x="1355343" y="190119"/>
                </a:lnTo>
                <a:lnTo>
                  <a:pt x="1355216" y="189737"/>
                </a:lnTo>
                <a:lnTo>
                  <a:pt x="1355089" y="189483"/>
                </a:lnTo>
                <a:lnTo>
                  <a:pt x="1354836" y="189229"/>
                </a:lnTo>
                <a:lnTo>
                  <a:pt x="1351788" y="184403"/>
                </a:lnTo>
                <a:lnTo>
                  <a:pt x="1345691" y="179577"/>
                </a:lnTo>
                <a:lnTo>
                  <a:pt x="1342643" y="178562"/>
                </a:lnTo>
                <a:lnTo>
                  <a:pt x="1341374" y="178307"/>
                </a:lnTo>
                <a:close/>
              </a:path>
              <a:path w="1405890" h="363220">
                <a:moveTo>
                  <a:pt x="1340653" y="190996"/>
                </a:moveTo>
                <a:close/>
              </a:path>
              <a:path w="1405890" h="363220">
                <a:moveTo>
                  <a:pt x="1339468" y="190372"/>
                </a:moveTo>
                <a:lnTo>
                  <a:pt x="1340066" y="190918"/>
                </a:lnTo>
                <a:lnTo>
                  <a:pt x="1340653" y="190996"/>
                </a:lnTo>
                <a:lnTo>
                  <a:pt x="1339468" y="190372"/>
                </a:lnTo>
                <a:close/>
              </a:path>
              <a:path w="1405890" h="363220">
                <a:moveTo>
                  <a:pt x="1339886" y="190753"/>
                </a:moveTo>
                <a:lnTo>
                  <a:pt x="1338834" y="190753"/>
                </a:lnTo>
                <a:lnTo>
                  <a:pt x="1340066" y="190918"/>
                </a:lnTo>
                <a:lnTo>
                  <a:pt x="1339886" y="190753"/>
                </a:lnTo>
                <a:close/>
              </a:path>
              <a:path w="1405890" h="363220">
                <a:moveTo>
                  <a:pt x="1361439" y="206247"/>
                </a:moveTo>
                <a:lnTo>
                  <a:pt x="1349121" y="209676"/>
                </a:lnTo>
                <a:lnTo>
                  <a:pt x="1351153" y="216788"/>
                </a:lnTo>
                <a:lnTo>
                  <a:pt x="1353312" y="226821"/>
                </a:lnTo>
                <a:lnTo>
                  <a:pt x="1355471" y="238125"/>
                </a:lnTo>
                <a:lnTo>
                  <a:pt x="1356614" y="246125"/>
                </a:lnTo>
                <a:lnTo>
                  <a:pt x="1369187" y="244347"/>
                </a:lnTo>
                <a:lnTo>
                  <a:pt x="1367916" y="235838"/>
                </a:lnTo>
                <a:lnTo>
                  <a:pt x="1365758" y="224027"/>
                </a:lnTo>
                <a:lnTo>
                  <a:pt x="1363344" y="213487"/>
                </a:lnTo>
                <a:lnTo>
                  <a:pt x="1361439" y="206247"/>
                </a:lnTo>
                <a:close/>
              </a:path>
              <a:path w="1405890" h="363220">
                <a:moveTo>
                  <a:pt x="1360979" y="287080"/>
                </a:moveTo>
                <a:lnTo>
                  <a:pt x="1329436" y="288289"/>
                </a:lnTo>
                <a:lnTo>
                  <a:pt x="1370330" y="362965"/>
                </a:lnTo>
                <a:lnTo>
                  <a:pt x="1400724" y="296163"/>
                </a:lnTo>
                <a:lnTo>
                  <a:pt x="1361439" y="296163"/>
                </a:lnTo>
                <a:lnTo>
                  <a:pt x="1360979" y="287080"/>
                </a:lnTo>
                <a:close/>
              </a:path>
              <a:path w="1405890" h="363220">
                <a:moveTo>
                  <a:pt x="1373643" y="286595"/>
                </a:moveTo>
                <a:lnTo>
                  <a:pt x="1360979" y="287080"/>
                </a:lnTo>
                <a:lnTo>
                  <a:pt x="1361439" y="296163"/>
                </a:lnTo>
                <a:lnTo>
                  <a:pt x="1374139" y="295401"/>
                </a:lnTo>
                <a:lnTo>
                  <a:pt x="1373643" y="286595"/>
                </a:lnTo>
                <a:close/>
              </a:path>
              <a:path w="1405890" h="363220">
                <a:moveTo>
                  <a:pt x="1405636" y="285369"/>
                </a:moveTo>
                <a:lnTo>
                  <a:pt x="1373643" y="286595"/>
                </a:lnTo>
                <a:lnTo>
                  <a:pt x="1374139" y="295401"/>
                </a:lnTo>
                <a:lnTo>
                  <a:pt x="1361439" y="296163"/>
                </a:lnTo>
                <a:lnTo>
                  <a:pt x="1400724" y="296163"/>
                </a:lnTo>
                <a:lnTo>
                  <a:pt x="1405636" y="285369"/>
                </a:lnTo>
                <a:close/>
              </a:path>
              <a:path w="1405890" h="363220">
                <a:moveTo>
                  <a:pt x="1370838" y="257047"/>
                </a:moveTo>
                <a:lnTo>
                  <a:pt x="1358264" y="258571"/>
                </a:lnTo>
                <a:lnTo>
                  <a:pt x="1359027" y="264159"/>
                </a:lnTo>
                <a:lnTo>
                  <a:pt x="1360551" y="278638"/>
                </a:lnTo>
                <a:lnTo>
                  <a:pt x="1360979" y="287080"/>
                </a:lnTo>
                <a:lnTo>
                  <a:pt x="1373643" y="286595"/>
                </a:lnTo>
                <a:lnTo>
                  <a:pt x="1373124" y="277367"/>
                </a:lnTo>
                <a:lnTo>
                  <a:pt x="1371600" y="262508"/>
                </a:lnTo>
                <a:lnTo>
                  <a:pt x="1370838" y="2570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242303" y="4011676"/>
            <a:ext cx="209042" cy="2463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>
            <a:extLst>
              <a:ext uri="{FF2B5EF4-FFF2-40B4-BE49-F238E27FC236}">
                <a16:creationId xmlns:a16="http://schemas.microsoft.com/office/drawing/2014/main" id="{2F46519A-34BD-4331-8023-11F905ED2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91257"/>
            <a:ext cx="6666614" cy="3875485"/>
          </a:xfrm>
        </p:spPr>
        <p:txBody>
          <a:bodyPr/>
          <a:lstStyle/>
          <a:p>
            <a:pPr>
              <a:defRPr/>
            </a:pPr>
            <a:r>
              <a:rPr lang="en-US" sz="2000" dirty="0">
                <a:solidFill>
                  <a:srgbClr val="222426"/>
                </a:solidFill>
                <a:latin typeface="Rockwell" panose="02060603020205020403" pitchFamily="18" charset="0"/>
              </a:rPr>
              <a:t>General format:</a:t>
            </a:r>
          </a:p>
          <a:p>
            <a:pPr>
              <a:defRPr/>
            </a:pPr>
            <a:r>
              <a:rPr lang="en-US" sz="2000" dirty="0">
                <a:solidFill>
                  <a:srgbClr val="222426"/>
                </a:solidFill>
                <a:latin typeface="Rockwell" panose="02060603020205020403" pitchFamily="18" charset="0"/>
              </a:rPr>
              <a:t>class </a:t>
            </a:r>
            <a:r>
              <a:rPr lang="en-US" sz="2000" dirty="0" err="1">
                <a:solidFill>
                  <a:srgbClr val="222426"/>
                </a:solidFill>
                <a:latin typeface="Rockwell" panose="02060603020205020403" pitchFamily="18" charset="0"/>
              </a:rPr>
              <a:t>ChildClass</a:t>
            </a:r>
            <a:r>
              <a:rPr lang="en-US" sz="2000" dirty="0">
                <a:solidFill>
                  <a:srgbClr val="222426"/>
                </a:solidFill>
                <a:latin typeface="Rockwell" panose="02060603020205020403" pitchFamily="18" charset="0"/>
              </a:rPr>
              <a:t> extends </a:t>
            </a:r>
            <a:r>
              <a:rPr lang="en-US" sz="2000" dirty="0" err="1">
                <a:solidFill>
                  <a:srgbClr val="222426"/>
                </a:solidFill>
                <a:latin typeface="Rockwell" panose="02060603020205020403" pitchFamily="18" charset="0"/>
              </a:rPr>
              <a:t>ParentClass</a:t>
            </a:r>
            <a:endParaRPr lang="en-US" sz="2000" dirty="0">
              <a:solidFill>
                <a:srgbClr val="222426"/>
              </a:solidFill>
              <a:latin typeface="Rockwell" panose="02060603020205020403" pitchFamily="18" charset="0"/>
            </a:endParaRPr>
          </a:p>
          <a:p>
            <a:pPr>
              <a:defRPr/>
            </a:pPr>
            <a:r>
              <a:rPr lang="en-US" sz="2000" dirty="0">
                <a:solidFill>
                  <a:srgbClr val="222426"/>
                </a:solidFill>
                <a:latin typeface="Rockwell" panose="02060603020205020403" pitchFamily="18" charset="0"/>
              </a:rPr>
              <a:t>	{</a:t>
            </a:r>
          </a:p>
          <a:p>
            <a:pPr>
              <a:defRPr/>
            </a:pPr>
            <a:r>
              <a:rPr lang="en-US" sz="2000" dirty="0">
                <a:solidFill>
                  <a:srgbClr val="222426"/>
                </a:solidFill>
                <a:latin typeface="Rockwell" panose="02060603020205020403" pitchFamily="18" charset="0"/>
              </a:rPr>
              <a:t>		Members of the child class </a:t>
            </a:r>
          </a:p>
          <a:p>
            <a:pPr>
              <a:defRPr/>
            </a:pPr>
            <a:r>
              <a:rPr lang="en-US" sz="2000" dirty="0">
                <a:solidFill>
                  <a:srgbClr val="222426"/>
                </a:solidFill>
                <a:latin typeface="Rockwell" panose="02060603020205020403" pitchFamily="18" charset="0"/>
              </a:rPr>
              <a:t>	}</a:t>
            </a:r>
          </a:p>
          <a:p>
            <a:pPr>
              <a:defRPr/>
            </a:pPr>
            <a:endParaRPr lang="en-US" sz="2000" dirty="0">
              <a:solidFill>
                <a:srgbClr val="222426"/>
              </a:solidFill>
              <a:latin typeface="Rockwell" panose="02060603020205020403" pitchFamily="18" charset="0"/>
            </a:endParaRPr>
          </a:p>
          <a:p>
            <a:pPr>
              <a:defRPr/>
            </a:pPr>
            <a:r>
              <a:rPr lang="en-US" sz="2000" dirty="0">
                <a:solidFill>
                  <a:srgbClr val="222426"/>
                </a:solidFill>
                <a:latin typeface="Rockwell" panose="02060603020205020403" pitchFamily="18" charset="0"/>
              </a:rPr>
              <a:t> </a:t>
            </a:r>
            <a:r>
              <a:rPr lang="en-US" sz="2000" b="1" u="sng" dirty="0">
                <a:solidFill>
                  <a:srgbClr val="222426"/>
                </a:solidFill>
                <a:latin typeface="Rockwell" panose="02060603020205020403" pitchFamily="18" charset="0"/>
              </a:rPr>
              <a:t>Example</a:t>
            </a:r>
          </a:p>
          <a:p>
            <a:pPr>
              <a:defRPr/>
            </a:pPr>
            <a:r>
              <a:rPr lang="en-US" sz="2000" dirty="0">
                <a:solidFill>
                  <a:srgbClr val="222426"/>
                </a:solidFill>
                <a:latin typeface="Rockwell" panose="02060603020205020403" pitchFamily="18" charset="0"/>
              </a:rPr>
              <a:t>class Teacher</a:t>
            </a:r>
          </a:p>
          <a:p>
            <a:pPr>
              <a:defRPr/>
            </a:pPr>
            <a:r>
              <a:rPr lang="en-US" sz="2000" dirty="0">
                <a:solidFill>
                  <a:srgbClr val="222426"/>
                </a:solidFill>
                <a:latin typeface="Rockwell" panose="02060603020205020403" pitchFamily="18" charset="0"/>
              </a:rPr>
              <a:t>{</a:t>
            </a:r>
          </a:p>
          <a:p>
            <a:pPr>
              <a:defRPr/>
            </a:pPr>
            <a:r>
              <a:rPr lang="en-US" sz="2000" dirty="0">
                <a:solidFill>
                  <a:srgbClr val="222426"/>
                </a:solidFill>
                <a:latin typeface="Rockwell" panose="02060603020205020403" pitchFamily="18" charset="0"/>
              </a:rPr>
              <a:t>	String </a:t>
            </a:r>
            <a:r>
              <a:rPr lang="en-US" sz="2000" dirty="0" err="1">
                <a:solidFill>
                  <a:srgbClr val="222426"/>
                </a:solidFill>
                <a:latin typeface="Rockwell" panose="02060603020205020403" pitchFamily="18" charset="0"/>
              </a:rPr>
              <a:t>collegeName</a:t>
            </a:r>
            <a:r>
              <a:rPr lang="en-US" sz="2000" dirty="0">
                <a:solidFill>
                  <a:srgbClr val="222426"/>
                </a:solidFill>
                <a:latin typeface="Rockwell" panose="02060603020205020403" pitchFamily="18" charset="0"/>
              </a:rPr>
              <a:t>=“BITS Pilani";</a:t>
            </a:r>
          </a:p>
          <a:p>
            <a:pPr>
              <a:defRPr/>
            </a:pPr>
            <a:r>
              <a:rPr lang="en-US" sz="2000" dirty="0">
                <a:solidFill>
                  <a:srgbClr val="222426"/>
                </a:solidFill>
                <a:latin typeface="Rockwell" panose="02060603020205020403" pitchFamily="18" charset="0"/>
              </a:rPr>
              <a:t>	String designation = "Teacher";</a:t>
            </a:r>
          </a:p>
          <a:p>
            <a:pPr>
              <a:defRPr/>
            </a:pPr>
            <a:r>
              <a:rPr lang="en-US" sz="2000" dirty="0">
                <a:solidFill>
                  <a:srgbClr val="222426"/>
                </a:solidFill>
                <a:latin typeface="Rockwell" panose="02060603020205020403" pitchFamily="18" charset="0"/>
              </a:rPr>
              <a:t>	void activity()</a:t>
            </a:r>
          </a:p>
          <a:p>
            <a:pPr>
              <a:defRPr/>
            </a:pPr>
            <a:r>
              <a:rPr lang="en-US" sz="2000" dirty="0">
                <a:solidFill>
                  <a:srgbClr val="222426"/>
                </a:solidFill>
                <a:latin typeface="Rockwell" panose="02060603020205020403" pitchFamily="18" charset="0"/>
              </a:rPr>
              <a:t>	{</a:t>
            </a:r>
          </a:p>
          <a:p>
            <a:pPr marL="0" indent="0" fontAlgn="base">
              <a:spcAft>
                <a:spcPct val="0"/>
              </a:spcAft>
              <a:defRPr/>
            </a:pPr>
            <a:endParaRPr lang="en-US" altLang="en-US" sz="2000" dirty="0">
              <a:latin typeface="Rockwell" panose="02060603020205020403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CAEFB3-2356-4D0D-B221-C7813EFF25E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INHERITANCE - Example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2">
            <a:extLst>
              <a:ext uri="{FF2B5EF4-FFF2-40B4-BE49-F238E27FC236}">
                <a16:creationId xmlns:a16="http://schemas.microsoft.com/office/drawing/2014/main" id="{E18D702A-E277-44A4-93D0-B20E9F955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439" y="1885951"/>
            <a:ext cx="7057361" cy="3875485"/>
          </a:xfrm>
        </p:spPr>
        <p:txBody>
          <a:bodyPr/>
          <a:lstStyle/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</a:t>
            </a:r>
            <a:r>
              <a:rPr lang="en-US" altLang="en-US" sz="2000" dirty="0" err="1">
                <a:latin typeface="Rockwell" panose="02060603020205020403" pitchFamily="18" charset="0"/>
              </a:rPr>
              <a:t>System.out.prinltn</a:t>
            </a:r>
            <a:r>
              <a:rPr lang="en-US" altLang="en-US" sz="2000" dirty="0">
                <a:latin typeface="Rockwell" panose="02060603020205020403" pitchFamily="18" charset="0"/>
              </a:rPr>
              <a:t>("\n Performing Teaching..");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}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}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class </a:t>
            </a:r>
            <a:r>
              <a:rPr lang="en-US" altLang="en-US" sz="2000" dirty="0" err="1">
                <a:latin typeface="Rockwell" panose="02060603020205020403" pitchFamily="18" charset="0"/>
              </a:rPr>
              <a:t>MathsTeacher</a:t>
            </a:r>
            <a:r>
              <a:rPr lang="en-US" altLang="en-US" sz="2000" dirty="0">
                <a:latin typeface="Rockwell" panose="02060603020205020403" pitchFamily="18" charset="0"/>
              </a:rPr>
              <a:t> extends Teacher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{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String subject="Mathematics";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void grade()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{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	</a:t>
            </a:r>
            <a:r>
              <a:rPr lang="en-US" altLang="en-US" sz="2000" dirty="0" err="1">
                <a:latin typeface="Rockwell" panose="02060603020205020403" pitchFamily="18" charset="0"/>
              </a:rPr>
              <a:t>System.out.println</a:t>
            </a:r>
            <a:r>
              <a:rPr lang="en-US" altLang="en-US" sz="2000" dirty="0">
                <a:latin typeface="Rockwell" panose="02060603020205020403" pitchFamily="18" charset="0"/>
              </a:rPr>
              <a:t>("\n Secondary Teacher..");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} 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public static void main(String aa[])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{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BA0508-CFCA-41E4-9047-02895F15448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INHERITANCE - Example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2">
            <a:extLst>
              <a:ext uri="{FF2B5EF4-FFF2-40B4-BE49-F238E27FC236}">
                <a16:creationId xmlns:a16="http://schemas.microsoft.com/office/drawing/2014/main" id="{6E59F9BF-3D4D-4C44-8A30-C37091AF7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593" y="1905000"/>
            <a:ext cx="8266814" cy="3875485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defRPr/>
            </a:pPr>
            <a:r>
              <a:rPr lang="en-US" altLang="en-US" sz="2000" dirty="0">
                <a:latin typeface="PT Sans"/>
              </a:rPr>
              <a:t>	</a:t>
            </a:r>
            <a:r>
              <a:rPr lang="en-US" altLang="en-US" sz="2000" dirty="0" err="1">
                <a:latin typeface="Rockwell" panose="02060603020205020403" pitchFamily="18" charset="0"/>
              </a:rPr>
              <a:t>MathsTeacher</a:t>
            </a:r>
            <a:r>
              <a:rPr lang="en-US" altLang="en-US" sz="2000" dirty="0">
                <a:latin typeface="Rockwell" panose="02060603020205020403" pitchFamily="18" charset="0"/>
              </a:rPr>
              <a:t> mt=new </a:t>
            </a:r>
            <a:r>
              <a:rPr lang="en-US" altLang="en-US" sz="2000" dirty="0" err="1">
                <a:latin typeface="Rockwell" panose="02060603020205020403" pitchFamily="18" charset="0"/>
              </a:rPr>
              <a:t>MathsTeacher</a:t>
            </a:r>
            <a:r>
              <a:rPr lang="en-US" altLang="en-US" sz="2000" dirty="0">
                <a:latin typeface="Rockwell" panose="02060603020205020403" pitchFamily="18" charset="0"/>
              </a:rPr>
              <a:t>();</a:t>
            </a:r>
          </a:p>
          <a:p>
            <a:pPr marL="0" indent="0" fontAlgn="base">
              <a:spcAft>
                <a:spcPct val="0"/>
              </a:spcAft>
              <a:defRPr/>
            </a:pPr>
            <a:r>
              <a:rPr lang="en-US" altLang="en-US" sz="2000" dirty="0">
                <a:latin typeface="Rockwell" panose="02060603020205020403" pitchFamily="18" charset="0"/>
              </a:rPr>
              <a:t>	</a:t>
            </a:r>
            <a:r>
              <a:rPr lang="en-US" altLang="en-US" sz="2000" dirty="0" err="1">
                <a:latin typeface="Rockwell" panose="02060603020205020403" pitchFamily="18" charset="0"/>
              </a:rPr>
              <a:t>System.out.println</a:t>
            </a:r>
            <a:r>
              <a:rPr lang="en-US" altLang="en-US" sz="2000" dirty="0">
                <a:latin typeface="Rockwell" panose="02060603020205020403" pitchFamily="18" charset="0"/>
              </a:rPr>
              <a:t>("\n College name is "+</a:t>
            </a:r>
            <a:r>
              <a:rPr lang="en-US" altLang="en-US" sz="2000" dirty="0" err="1">
                <a:latin typeface="Rockwell" panose="02060603020205020403" pitchFamily="18" charset="0"/>
              </a:rPr>
              <a:t>mt.collegeName</a:t>
            </a:r>
            <a:r>
              <a:rPr lang="en-US" altLang="en-US" sz="2000" dirty="0">
                <a:latin typeface="Rockwell" panose="02060603020205020403" pitchFamily="18" charset="0"/>
              </a:rPr>
              <a:t>);</a:t>
            </a:r>
          </a:p>
          <a:p>
            <a:pPr marL="0" indent="0" fontAlgn="base">
              <a:spcAft>
                <a:spcPct val="0"/>
              </a:spcAft>
              <a:defRPr/>
            </a:pPr>
            <a:r>
              <a:rPr lang="en-US" altLang="en-US" sz="2000" dirty="0">
                <a:latin typeface="Rockwell" panose="02060603020205020403" pitchFamily="18" charset="0"/>
              </a:rPr>
              <a:t>	</a:t>
            </a:r>
            <a:r>
              <a:rPr lang="en-US" altLang="en-US" sz="2000" dirty="0" err="1">
                <a:latin typeface="Rockwell" panose="02060603020205020403" pitchFamily="18" charset="0"/>
              </a:rPr>
              <a:t>System.out.println</a:t>
            </a:r>
            <a:r>
              <a:rPr lang="en-US" altLang="en-US" sz="2000" dirty="0">
                <a:latin typeface="Rockwell" panose="02060603020205020403" pitchFamily="18" charset="0"/>
              </a:rPr>
              <a:t>("\n Designation "+</a:t>
            </a:r>
            <a:r>
              <a:rPr lang="en-US" altLang="en-US" sz="2000" dirty="0" err="1">
                <a:latin typeface="Rockwell" panose="02060603020205020403" pitchFamily="18" charset="0"/>
              </a:rPr>
              <a:t>mt.designation</a:t>
            </a:r>
            <a:r>
              <a:rPr lang="en-US" altLang="en-US" sz="2000" dirty="0">
                <a:latin typeface="Rockwell" panose="02060603020205020403" pitchFamily="18" charset="0"/>
              </a:rPr>
              <a:t>);</a:t>
            </a:r>
          </a:p>
          <a:p>
            <a:pPr marL="0" indent="0" fontAlgn="base">
              <a:spcAft>
                <a:spcPct val="0"/>
              </a:spcAft>
              <a:defRPr/>
            </a:pPr>
            <a:r>
              <a:rPr lang="en-US" altLang="en-US" sz="2000" dirty="0">
                <a:latin typeface="Rockwell" panose="02060603020205020403" pitchFamily="18" charset="0"/>
              </a:rPr>
              <a:t> 	</a:t>
            </a:r>
            <a:r>
              <a:rPr lang="en-US" altLang="en-US" sz="2000" dirty="0" err="1">
                <a:latin typeface="Rockwell" panose="02060603020205020403" pitchFamily="18" charset="0"/>
              </a:rPr>
              <a:t>mt.activity</a:t>
            </a:r>
            <a:r>
              <a:rPr lang="en-US" altLang="en-US" sz="2000" dirty="0">
                <a:latin typeface="Rockwell" panose="02060603020205020403" pitchFamily="18" charset="0"/>
              </a:rPr>
              <a:t>();</a:t>
            </a:r>
          </a:p>
          <a:p>
            <a:pPr marL="0" indent="0" fontAlgn="base">
              <a:spcAft>
                <a:spcPct val="0"/>
              </a:spcAft>
              <a:defRPr/>
            </a:pPr>
            <a:r>
              <a:rPr lang="en-US" altLang="en-US" sz="2000" dirty="0">
                <a:latin typeface="Rockwell" panose="02060603020205020403" pitchFamily="18" charset="0"/>
              </a:rPr>
              <a:t>	</a:t>
            </a:r>
            <a:r>
              <a:rPr lang="en-US" altLang="en-US" sz="2000" dirty="0" err="1">
                <a:latin typeface="Rockwell" panose="02060603020205020403" pitchFamily="18" charset="0"/>
              </a:rPr>
              <a:t>mt.grade</a:t>
            </a:r>
            <a:r>
              <a:rPr lang="en-US" altLang="en-US" sz="2000" dirty="0">
                <a:latin typeface="Rockwell" panose="02060603020205020403" pitchFamily="18" charset="0"/>
              </a:rPr>
              <a:t>();</a:t>
            </a:r>
          </a:p>
          <a:p>
            <a:pPr marL="0" indent="0" fontAlgn="base">
              <a:spcAft>
                <a:spcPct val="0"/>
              </a:spcAft>
              <a:defRPr/>
            </a:pPr>
            <a:r>
              <a:rPr lang="en-US" altLang="en-US" sz="2000" dirty="0">
                <a:latin typeface="Rockwell" panose="02060603020205020403" pitchFamily="18" charset="0"/>
              </a:rPr>
              <a:t>	}</a:t>
            </a:r>
          </a:p>
          <a:p>
            <a:pPr marL="0" indent="0" fontAlgn="base">
              <a:spcAft>
                <a:spcPct val="0"/>
              </a:spcAft>
              <a:defRPr/>
            </a:pPr>
            <a:r>
              <a:rPr lang="en-US" altLang="en-US" sz="2000" dirty="0">
                <a:latin typeface="Rockwell" panose="02060603020205020403" pitchFamily="18" charset="0"/>
              </a:rPr>
              <a:t>}</a:t>
            </a:r>
          </a:p>
          <a:p>
            <a:pPr>
              <a:defRPr/>
            </a:pPr>
            <a:r>
              <a:rPr lang="en-US" sz="2000" dirty="0">
                <a:solidFill>
                  <a:srgbClr val="222426"/>
                </a:solidFill>
                <a:latin typeface="Rockwell" panose="02060603020205020403" pitchFamily="18" charset="0"/>
              </a:rPr>
              <a:t>In the above example, we have a base class </a:t>
            </a:r>
            <a:r>
              <a:rPr lang="en-US" sz="2000" b="1" dirty="0">
                <a:solidFill>
                  <a:srgbClr val="222426"/>
                </a:solidFill>
                <a:latin typeface="Rockwell" panose="02060603020205020403" pitchFamily="18" charset="0"/>
              </a:rPr>
              <a:t>Teacher </a:t>
            </a:r>
            <a:r>
              <a:rPr lang="en-US" sz="2000" dirty="0">
                <a:solidFill>
                  <a:srgbClr val="222426"/>
                </a:solidFill>
                <a:latin typeface="Rockwell" panose="02060603020205020403" pitchFamily="18" charset="0"/>
              </a:rPr>
              <a:t>consisting of the data members </a:t>
            </a:r>
            <a:r>
              <a:rPr lang="en-US" sz="2000" dirty="0" err="1">
                <a:solidFill>
                  <a:srgbClr val="222426"/>
                </a:solidFill>
                <a:latin typeface="Rockwell" panose="02060603020205020403" pitchFamily="18" charset="0"/>
              </a:rPr>
              <a:t>collegeName</a:t>
            </a:r>
            <a:r>
              <a:rPr lang="en-US" sz="2000" dirty="0">
                <a:solidFill>
                  <a:srgbClr val="222426"/>
                </a:solidFill>
                <a:latin typeface="Rockwell" panose="02060603020205020403" pitchFamily="18" charset="0"/>
              </a:rPr>
              <a:t> and designation and performs() as its method. </a:t>
            </a:r>
          </a:p>
          <a:p>
            <a:pPr>
              <a:defRPr/>
            </a:pPr>
            <a:r>
              <a:rPr lang="en-US" sz="2000" dirty="0">
                <a:solidFill>
                  <a:srgbClr val="222426"/>
                </a:solidFill>
                <a:latin typeface="Rockwell" panose="02060603020205020403" pitchFamily="18" charset="0"/>
              </a:rPr>
              <a:t>We have a sub class </a:t>
            </a:r>
            <a:r>
              <a:rPr lang="en-US" sz="2000" b="1" dirty="0" err="1">
                <a:solidFill>
                  <a:srgbClr val="222426"/>
                </a:solidFill>
                <a:latin typeface="Rockwell" panose="02060603020205020403" pitchFamily="18" charset="0"/>
              </a:rPr>
              <a:t>MathsTeacher</a:t>
            </a:r>
            <a:r>
              <a:rPr lang="en-US" sz="2000" dirty="0">
                <a:solidFill>
                  <a:srgbClr val="222426"/>
                </a:solidFill>
                <a:latin typeface="Rockwell" panose="02060603020205020403" pitchFamily="18" charset="0"/>
              </a:rPr>
              <a:t> consisting of the data member subject and grade( ) as its method</a:t>
            </a:r>
          </a:p>
          <a:p>
            <a:pPr>
              <a:defRPr/>
            </a:pPr>
            <a:endParaRPr lang="en-US" sz="2000" dirty="0">
              <a:solidFill>
                <a:srgbClr val="222426"/>
              </a:solidFill>
              <a:latin typeface="PT Sans"/>
            </a:endParaRPr>
          </a:p>
          <a:p>
            <a:pPr marL="0" indent="0" fontAlgn="base">
              <a:spcAft>
                <a:spcPct val="0"/>
              </a:spcAft>
              <a:defRPr/>
            </a:pPr>
            <a:endParaRPr lang="en-US" altLang="en-US" sz="2000" dirty="0">
              <a:latin typeface="Rockwell" panose="02060603020205020403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8734CF-F55D-4EA1-A96E-235BE038DED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INHERITANCE - Example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5478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45" dirty="0">
                <a:solidFill>
                  <a:srgbClr val="000000"/>
                </a:solidFill>
                <a:latin typeface="Arial"/>
                <a:cs typeface="Arial"/>
              </a:rPr>
              <a:t>Multiple Inheritance </a:t>
            </a:r>
            <a:r>
              <a:rPr sz="3600" i="0" spc="-85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3600" i="0" spc="-5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Java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6334" y="1510665"/>
            <a:ext cx="809244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Java Does Not Support Multiple Inheritance by Extending  Multiple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Classes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Following Code is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Wrong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29889" y="3339845"/>
            <a:ext cx="1276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4544" y="3339845"/>
            <a:ext cx="24110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} // </a:t>
            </a:r>
            <a:r>
              <a:rPr sz="2400" spc="-5" dirty="0">
                <a:latin typeface="Arial"/>
                <a:cs typeface="Arial"/>
              </a:rPr>
              <a:t>End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class</a:t>
            </a:r>
            <a:r>
              <a:rPr sz="2400" spc="-229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} // </a:t>
            </a:r>
            <a:r>
              <a:rPr sz="2400" spc="-5" dirty="0">
                <a:latin typeface="Arial"/>
                <a:cs typeface="Arial"/>
              </a:rPr>
              <a:t>End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class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0734" y="3339845"/>
            <a:ext cx="11772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class </a:t>
            </a:r>
            <a:r>
              <a:rPr sz="2400" dirty="0">
                <a:latin typeface="Arial"/>
                <a:cs typeface="Arial"/>
              </a:rPr>
              <a:t>A  </a:t>
            </a:r>
            <a:r>
              <a:rPr sz="2400" spc="-5" dirty="0">
                <a:latin typeface="Arial"/>
                <a:cs typeface="Arial"/>
              </a:rPr>
              <a:t>class </a:t>
            </a:r>
            <a:r>
              <a:rPr sz="2400" dirty="0">
                <a:latin typeface="Arial"/>
                <a:cs typeface="Arial"/>
              </a:rPr>
              <a:t>B  </a:t>
            </a:r>
            <a:r>
              <a:rPr sz="2400" spc="-5" dirty="0">
                <a:latin typeface="Arial"/>
                <a:cs typeface="Arial"/>
              </a:rPr>
              <a:t>class</a:t>
            </a:r>
            <a:r>
              <a:rPr sz="2400" spc="3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29889" y="4071620"/>
            <a:ext cx="2430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1500" algn="l"/>
              </a:tabLst>
            </a:pPr>
            <a:r>
              <a:rPr sz="2400" spc="-5" dirty="0">
                <a:latin typeface="Arial"/>
                <a:cs typeface="Arial"/>
              </a:rPr>
              <a:t>extends	</a:t>
            </a:r>
            <a:r>
              <a:rPr sz="2400" dirty="0">
                <a:latin typeface="Arial"/>
                <a:cs typeface="Arial"/>
              </a:rPr>
              <a:t>A,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0734" y="4437379"/>
            <a:ext cx="23437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}// </a:t>
            </a:r>
            <a:r>
              <a:rPr sz="2400" spc="-5" dirty="0">
                <a:latin typeface="Arial"/>
                <a:cs typeface="Arial"/>
              </a:rPr>
              <a:t>End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class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44702" y="4149090"/>
            <a:ext cx="4897120" cy="1152525"/>
          </a:xfrm>
          <a:custGeom>
            <a:avLst/>
            <a:gdLst/>
            <a:ahLst/>
            <a:cxnLst/>
            <a:rect l="l" t="t" r="r" b="b"/>
            <a:pathLst>
              <a:path w="4897120" h="1152525">
                <a:moveTo>
                  <a:pt x="0" y="1152144"/>
                </a:moveTo>
                <a:lnTo>
                  <a:pt x="4896612" y="1152144"/>
                </a:lnTo>
                <a:lnTo>
                  <a:pt x="4896612" y="0"/>
                </a:lnTo>
                <a:lnTo>
                  <a:pt x="0" y="0"/>
                </a:lnTo>
                <a:lnTo>
                  <a:pt x="0" y="115214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69508" y="4148328"/>
            <a:ext cx="361315" cy="1152525"/>
          </a:xfrm>
          <a:custGeom>
            <a:avLst/>
            <a:gdLst/>
            <a:ahLst/>
            <a:cxnLst/>
            <a:rect l="l" t="t" r="r" b="b"/>
            <a:pathLst>
              <a:path w="361314" h="1152525">
                <a:moveTo>
                  <a:pt x="0" y="0"/>
                </a:moveTo>
                <a:lnTo>
                  <a:pt x="41394" y="5641"/>
                </a:lnTo>
                <a:lnTo>
                  <a:pt x="79401" y="21710"/>
                </a:lnTo>
                <a:lnTo>
                  <a:pt x="112933" y="46926"/>
                </a:lnTo>
                <a:lnTo>
                  <a:pt x="140905" y="80006"/>
                </a:lnTo>
                <a:lnTo>
                  <a:pt x="162230" y="119668"/>
                </a:lnTo>
                <a:lnTo>
                  <a:pt x="175822" y="164631"/>
                </a:lnTo>
                <a:lnTo>
                  <a:pt x="180593" y="213614"/>
                </a:lnTo>
                <a:lnTo>
                  <a:pt x="180593" y="362458"/>
                </a:lnTo>
                <a:lnTo>
                  <a:pt x="185365" y="411440"/>
                </a:lnTo>
                <a:lnTo>
                  <a:pt x="198957" y="456403"/>
                </a:lnTo>
                <a:lnTo>
                  <a:pt x="220282" y="496065"/>
                </a:lnTo>
                <a:lnTo>
                  <a:pt x="248254" y="529145"/>
                </a:lnTo>
                <a:lnTo>
                  <a:pt x="281786" y="554361"/>
                </a:lnTo>
                <a:lnTo>
                  <a:pt x="319793" y="570430"/>
                </a:lnTo>
                <a:lnTo>
                  <a:pt x="361188" y="576072"/>
                </a:lnTo>
                <a:lnTo>
                  <a:pt x="319793" y="581713"/>
                </a:lnTo>
                <a:lnTo>
                  <a:pt x="281786" y="597782"/>
                </a:lnTo>
                <a:lnTo>
                  <a:pt x="248254" y="622998"/>
                </a:lnTo>
                <a:lnTo>
                  <a:pt x="220282" y="656078"/>
                </a:lnTo>
                <a:lnTo>
                  <a:pt x="198957" y="695740"/>
                </a:lnTo>
                <a:lnTo>
                  <a:pt x="185365" y="740703"/>
                </a:lnTo>
                <a:lnTo>
                  <a:pt x="180593" y="789686"/>
                </a:lnTo>
                <a:lnTo>
                  <a:pt x="180593" y="938530"/>
                </a:lnTo>
                <a:lnTo>
                  <a:pt x="175822" y="987512"/>
                </a:lnTo>
                <a:lnTo>
                  <a:pt x="162230" y="1032475"/>
                </a:lnTo>
                <a:lnTo>
                  <a:pt x="140905" y="1072137"/>
                </a:lnTo>
                <a:lnTo>
                  <a:pt x="112933" y="1105217"/>
                </a:lnTo>
                <a:lnTo>
                  <a:pt x="79401" y="1130433"/>
                </a:lnTo>
                <a:lnTo>
                  <a:pt x="41394" y="1146502"/>
                </a:lnTo>
                <a:lnTo>
                  <a:pt x="0" y="1152144"/>
                </a:lnTo>
              </a:path>
            </a:pathLst>
          </a:custGeom>
          <a:ln w="1219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98666" y="4301490"/>
            <a:ext cx="201485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Wrong Java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Does</a:t>
            </a:r>
            <a:r>
              <a:rPr sz="1800" b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not  Allow Multiple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Class  Extensions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61328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45" dirty="0">
                <a:solidFill>
                  <a:srgbClr val="000000"/>
                </a:solidFill>
                <a:latin typeface="Arial"/>
                <a:cs typeface="Arial"/>
              </a:rPr>
              <a:t>Multiple Inheritance </a:t>
            </a:r>
            <a:r>
              <a:rPr sz="3600" i="0" spc="-85" dirty="0">
                <a:solidFill>
                  <a:srgbClr val="000000"/>
                </a:solidFill>
                <a:latin typeface="Arial"/>
                <a:cs typeface="Arial"/>
              </a:rPr>
              <a:t>in </a:t>
            </a: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Java</a:t>
            </a:r>
            <a:r>
              <a:rPr sz="3600" i="0" spc="-7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80" dirty="0">
                <a:solidFill>
                  <a:srgbClr val="000000"/>
                </a:solidFill>
                <a:latin typeface="Arial"/>
                <a:cs typeface="Arial"/>
              </a:rPr>
              <a:t>….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6334" y="1510665"/>
            <a:ext cx="850265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Java Supports Multiple Inheritance by Implementing Multiple  </a:t>
            </a:r>
            <a:r>
              <a:rPr sz="2400" dirty="0">
                <a:latin typeface="Arial"/>
                <a:cs typeface="Arial"/>
              </a:rPr>
              <a:t>Interfaces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Following Code is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Correct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81684" y="3381418"/>
          <a:ext cx="5665467" cy="7063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9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75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001">
                <a:tc>
                  <a:txBody>
                    <a:bodyPr/>
                    <a:lstStyle/>
                    <a:p>
                      <a:pPr marL="31750">
                        <a:lnSpc>
                          <a:spcPts val="2655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interface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0489" algn="r">
                        <a:lnSpc>
                          <a:spcPts val="265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ts val="265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ts val="265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} // 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End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interface</a:t>
                      </a:r>
                      <a:r>
                        <a:rPr sz="2400" spc="-2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341">
                <a:tc>
                  <a:txBody>
                    <a:bodyPr/>
                    <a:lstStyle/>
                    <a:p>
                      <a:pPr marL="31750">
                        <a:lnSpc>
                          <a:spcPts val="2680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interface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3345" algn="r">
                        <a:lnSpc>
                          <a:spcPts val="2680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ts val="2680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{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80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} // 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End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of interface</a:t>
                      </a:r>
                      <a:r>
                        <a:rPr sz="24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113434" y="4437379"/>
            <a:ext cx="42462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914400" algn="l"/>
                <a:tab pos="1828800" algn="l"/>
                <a:tab pos="3657600" algn="l"/>
              </a:tabLst>
            </a:pPr>
            <a:r>
              <a:rPr sz="2400" spc="-5" dirty="0">
                <a:latin typeface="Arial"/>
                <a:cs typeface="Arial"/>
              </a:rPr>
              <a:t>class	C	implements	</a:t>
            </a:r>
            <a:r>
              <a:rPr sz="2400" dirty="0">
                <a:latin typeface="Arial"/>
                <a:cs typeface="Arial"/>
              </a:rPr>
              <a:t>A,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}// </a:t>
            </a:r>
            <a:r>
              <a:rPr sz="2400" spc="-5" dirty="0">
                <a:latin typeface="Arial"/>
                <a:cs typeface="Arial"/>
              </a:rPr>
              <a:t>End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class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8105" y="4395978"/>
            <a:ext cx="4897120" cy="1409700"/>
          </a:xfrm>
          <a:custGeom>
            <a:avLst/>
            <a:gdLst/>
            <a:ahLst/>
            <a:cxnLst/>
            <a:rect l="l" t="t" r="r" b="b"/>
            <a:pathLst>
              <a:path w="4897120" h="1409700">
                <a:moveTo>
                  <a:pt x="0" y="1409700"/>
                </a:moveTo>
                <a:lnTo>
                  <a:pt x="4896612" y="1409700"/>
                </a:lnTo>
                <a:lnTo>
                  <a:pt x="4896612" y="0"/>
                </a:lnTo>
                <a:lnTo>
                  <a:pt x="0" y="0"/>
                </a:lnTo>
                <a:lnTo>
                  <a:pt x="0" y="14097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39384" y="4395215"/>
            <a:ext cx="360045" cy="1409700"/>
          </a:xfrm>
          <a:custGeom>
            <a:avLst/>
            <a:gdLst/>
            <a:ahLst/>
            <a:cxnLst/>
            <a:rect l="l" t="t" r="r" b="b"/>
            <a:pathLst>
              <a:path w="360045" h="1409700">
                <a:moveTo>
                  <a:pt x="0" y="0"/>
                </a:moveTo>
                <a:lnTo>
                  <a:pt x="41232" y="5618"/>
                </a:lnTo>
                <a:lnTo>
                  <a:pt x="79083" y="21620"/>
                </a:lnTo>
                <a:lnTo>
                  <a:pt x="112473" y="46726"/>
                </a:lnTo>
                <a:lnTo>
                  <a:pt x="140323" y="79656"/>
                </a:lnTo>
                <a:lnTo>
                  <a:pt x="161552" y="119131"/>
                </a:lnTo>
                <a:lnTo>
                  <a:pt x="175082" y="163872"/>
                </a:lnTo>
                <a:lnTo>
                  <a:pt x="179831" y="212597"/>
                </a:lnTo>
                <a:lnTo>
                  <a:pt x="179831" y="492251"/>
                </a:lnTo>
                <a:lnTo>
                  <a:pt x="184581" y="540977"/>
                </a:lnTo>
                <a:lnTo>
                  <a:pt x="198111" y="585718"/>
                </a:lnTo>
                <a:lnTo>
                  <a:pt x="219340" y="625193"/>
                </a:lnTo>
                <a:lnTo>
                  <a:pt x="247190" y="658123"/>
                </a:lnTo>
                <a:lnTo>
                  <a:pt x="280580" y="683229"/>
                </a:lnTo>
                <a:lnTo>
                  <a:pt x="318431" y="699231"/>
                </a:lnTo>
                <a:lnTo>
                  <a:pt x="359663" y="704849"/>
                </a:lnTo>
                <a:lnTo>
                  <a:pt x="318431" y="710468"/>
                </a:lnTo>
                <a:lnTo>
                  <a:pt x="280580" y="726470"/>
                </a:lnTo>
                <a:lnTo>
                  <a:pt x="247190" y="751576"/>
                </a:lnTo>
                <a:lnTo>
                  <a:pt x="219340" y="784506"/>
                </a:lnTo>
                <a:lnTo>
                  <a:pt x="198111" y="823981"/>
                </a:lnTo>
                <a:lnTo>
                  <a:pt x="184581" y="868722"/>
                </a:lnTo>
                <a:lnTo>
                  <a:pt x="179831" y="917447"/>
                </a:lnTo>
                <a:lnTo>
                  <a:pt x="179831" y="1197038"/>
                </a:lnTo>
                <a:lnTo>
                  <a:pt x="175082" y="1245799"/>
                </a:lnTo>
                <a:lnTo>
                  <a:pt x="161552" y="1290561"/>
                </a:lnTo>
                <a:lnTo>
                  <a:pt x="140323" y="1330047"/>
                </a:lnTo>
                <a:lnTo>
                  <a:pt x="112473" y="1362980"/>
                </a:lnTo>
                <a:lnTo>
                  <a:pt x="79083" y="1388084"/>
                </a:lnTo>
                <a:lnTo>
                  <a:pt x="41232" y="1404083"/>
                </a:lnTo>
                <a:lnTo>
                  <a:pt x="0" y="1409699"/>
                </a:lnTo>
              </a:path>
            </a:pathLst>
          </a:custGeom>
          <a:ln w="12191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360414" y="4657470"/>
            <a:ext cx="197103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Java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Allows</a:t>
            </a:r>
            <a:r>
              <a:rPr sz="1800" b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Multiple 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Interface  Implementations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61328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i="0" spc="-145" dirty="0">
                <a:solidFill>
                  <a:srgbClr val="000000"/>
                </a:solidFill>
                <a:latin typeface="Arial"/>
                <a:cs typeface="Arial"/>
              </a:rPr>
              <a:t>Interface</a:t>
            </a:r>
            <a:r>
              <a:rPr sz="3600" i="0" spc="-1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85" dirty="0">
                <a:solidFill>
                  <a:srgbClr val="000000"/>
                </a:solidFill>
                <a:latin typeface="Arial"/>
                <a:cs typeface="Arial"/>
              </a:rPr>
              <a:t>in </a:t>
            </a: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Java</a:t>
            </a:r>
            <a:r>
              <a:rPr sz="3600" i="0" spc="-7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80" dirty="0">
                <a:solidFill>
                  <a:srgbClr val="000000"/>
                </a:solidFill>
                <a:latin typeface="Arial"/>
                <a:cs typeface="Arial"/>
              </a:rPr>
              <a:t>….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6334" y="1510665"/>
            <a:ext cx="8502650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An interface is declared by using the interface keyword. It provides total abstraction; means all the methods in an interface are declared with the empty body, and all the fields are public, static and final by default. A class that implements an interface must implement all the methods declared in the interface.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771965-19B8-4B99-9B5A-5AF6CD9616CE}"/>
              </a:ext>
            </a:extLst>
          </p:cNvPr>
          <p:cNvSpPr txBox="1"/>
          <p:nvPr/>
        </p:nvSpPr>
        <p:spPr>
          <a:xfrm>
            <a:off x="2286000" y="4038600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06699"/>
                </a:solidFill>
                <a:effectLst/>
                <a:latin typeface="verdana" panose="020B0604030504040204" pitchFamily="34" charset="0"/>
              </a:rPr>
              <a:t>interface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&lt;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interface_name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&gt;{  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  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</a:t>
            </a:r>
            <a:r>
              <a:rPr lang="en-US" b="0" i="0" dirty="0">
                <a:solidFill>
                  <a:srgbClr val="008200"/>
                </a:solidFill>
                <a:effectLst/>
                <a:latin typeface="verdana" panose="020B0604030504040204" pitchFamily="34" charset="0"/>
              </a:rPr>
              <a:t>// declare constant fields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</a:t>
            </a:r>
            <a:r>
              <a:rPr lang="en-US" b="0" i="0" dirty="0">
                <a:solidFill>
                  <a:srgbClr val="008200"/>
                </a:solidFill>
                <a:effectLst/>
                <a:latin typeface="verdana" panose="020B0604030504040204" pitchFamily="34" charset="0"/>
              </a:rPr>
              <a:t>// declare methods that abstract 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  </a:t>
            </a:r>
            <a:r>
              <a:rPr lang="en-US" b="0" i="0" dirty="0">
                <a:solidFill>
                  <a:srgbClr val="008200"/>
                </a:solidFill>
                <a:effectLst/>
                <a:latin typeface="verdana" panose="020B0604030504040204" pitchFamily="34" charset="0"/>
              </a:rPr>
              <a:t>// by default.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881CA3-6F73-4BB2-BBEB-975FBEE9780C}"/>
              </a:ext>
            </a:extLst>
          </p:cNvPr>
          <p:cNvSpPr txBox="1"/>
          <p:nvPr/>
        </p:nvSpPr>
        <p:spPr>
          <a:xfrm>
            <a:off x="3962400" y="583567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It has static constants and abstract methods.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087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D1E12C-28BC-49EE-84C1-82DB16CFB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916"/>
            <a:ext cx="9144000" cy="655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01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9745" y="5281066"/>
            <a:ext cx="1676400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spc="-114" dirty="0">
                <a:solidFill>
                  <a:srgbClr val="FFFFFF"/>
                </a:solidFill>
                <a:latin typeface="Arial"/>
                <a:cs typeface="Arial"/>
              </a:rPr>
              <a:t>BITS</a:t>
            </a:r>
            <a:r>
              <a:rPr sz="2900" b="1" spc="-3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spc="-130" dirty="0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endParaRPr sz="2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6767" y="3630879"/>
            <a:ext cx="6666230" cy="1331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endParaRPr lang="en-US" sz="3000" b="1" spc="-150" dirty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000" b="1" spc="-150" dirty="0">
                <a:solidFill>
                  <a:srgbClr val="FFFFFF"/>
                </a:solidFill>
                <a:latin typeface="Arial"/>
                <a:cs typeface="Arial"/>
              </a:rPr>
              <a:t>Object-Oriented </a:t>
            </a:r>
            <a:r>
              <a:rPr sz="3000" b="1" spc="-145" dirty="0">
                <a:solidFill>
                  <a:srgbClr val="FFFFFF"/>
                </a:solidFill>
                <a:latin typeface="Arial"/>
                <a:cs typeface="Arial"/>
              </a:rPr>
              <a:t>Programming </a:t>
            </a:r>
            <a:endParaRPr lang="en-US" sz="3000" b="1" spc="-145" dirty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spc="-14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r>
              <a:rPr sz="2400" b="1" spc="-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1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400" b="1" spc="-3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45" dirty="0">
                <a:solidFill>
                  <a:srgbClr val="FFFFFF"/>
                </a:solidFill>
                <a:latin typeface="Arial"/>
                <a:cs typeface="Arial"/>
              </a:rPr>
              <a:t>Polymorphism</a:t>
            </a:r>
            <a:r>
              <a:rPr sz="2400" b="1" spc="-2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400" b="1" spc="-3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25" dirty="0">
                <a:solidFill>
                  <a:srgbClr val="FFFFFF"/>
                </a:solidFill>
                <a:latin typeface="Arial"/>
                <a:cs typeface="Arial"/>
              </a:rPr>
              <a:t>Java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515237"/>
            <a:ext cx="42722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0F1141"/>
              </a:buClr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Inheritance </a:t>
            </a:r>
            <a:r>
              <a:rPr sz="3200" dirty="0">
                <a:latin typeface="Arial"/>
                <a:cs typeface="Arial"/>
              </a:rPr>
              <a:t>Basics -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II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4739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80" dirty="0">
                <a:solidFill>
                  <a:srgbClr val="000000"/>
                </a:solidFill>
                <a:latin typeface="Arial"/>
                <a:cs typeface="Arial"/>
              </a:rPr>
              <a:t>Topics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519250"/>
            <a:ext cx="8074659" cy="1611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Clr>
                <a:srgbClr val="0F1141"/>
              </a:buClr>
              <a:buChar char="•"/>
              <a:tabLst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Suppose A </a:t>
            </a:r>
            <a:r>
              <a:rPr sz="2000" spc="-10" dirty="0">
                <a:latin typeface="Arial"/>
                <a:cs typeface="Arial"/>
              </a:rPr>
              <a:t>is </a:t>
            </a:r>
            <a:r>
              <a:rPr sz="2000" dirty="0">
                <a:latin typeface="Arial"/>
                <a:cs typeface="Arial"/>
              </a:rPr>
              <a:t>super class </a:t>
            </a:r>
            <a:r>
              <a:rPr sz="2000" spc="-5" dirty="0">
                <a:latin typeface="Arial"/>
                <a:cs typeface="Arial"/>
              </a:rPr>
              <a:t>of B. Then </a:t>
            </a:r>
            <a:r>
              <a:rPr sz="2000" dirty="0">
                <a:latin typeface="Arial"/>
                <a:cs typeface="Arial"/>
              </a:rPr>
              <a:t>class B can inherit all </a:t>
            </a:r>
            <a:r>
              <a:rPr sz="2000" spc="-5" dirty="0">
                <a:latin typeface="Arial"/>
                <a:cs typeface="Arial"/>
              </a:rPr>
              <a:t>the  features (Methods and Instance </a:t>
            </a:r>
            <a:r>
              <a:rPr sz="2000" dirty="0">
                <a:latin typeface="Arial"/>
                <a:cs typeface="Arial"/>
              </a:rPr>
              <a:t>Fields) of class A except the private  members.</a:t>
            </a:r>
            <a:endParaRPr sz="2000">
              <a:latin typeface="Arial"/>
              <a:cs typeface="Arial"/>
            </a:endParaRPr>
          </a:p>
          <a:p>
            <a:pPr marL="355600" indent="-342900" algn="just">
              <a:lnSpc>
                <a:spcPct val="100000"/>
              </a:lnSpc>
              <a:spcBef>
                <a:spcPts val="480"/>
              </a:spcBef>
              <a:buClr>
                <a:srgbClr val="0F1141"/>
              </a:buClr>
              <a:buChar char="•"/>
              <a:tabLst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Super</a:t>
            </a:r>
            <a:r>
              <a:rPr sz="2000" spc="3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and</a:t>
            </a:r>
            <a:r>
              <a:rPr sz="2000" spc="3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Sub</a:t>
            </a:r>
            <a:r>
              <a:rPr sz="2000" spc="3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Classes</a:t>
            </a:r>
            <a:r>
              <a:rPr sz="2000" spc="3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May</a:t>
            </a:r>
            <a:r>
              <a:rPr sz="2000" spc="3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Either</a:t>
            </a:r>
            <a:r>
              <a:rPr sz="2000" spc="35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Belong</a:t>
            </a:r>
            <a:r>
              <a:rPr sz="2000" spc="35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to</a:t>
            </a:r>
            <a:r>
              <a:rPr sz="2000" spc="3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Same</a:t>
            </a:r>
            <a:r>
              <a:rPr sz="2000" spc="1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or</a:t>
            </a:r>
            <a:r>
              <a:rPr sz="2000" spc="3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Different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Packages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37369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45" dirty="0">
                <a:solidFill>
                  <a:srgbClr val="000000"/>
                </a:solidFill>
                <a:latin typeface="Arial"/>
                <a:cs typeface="Arial"/>
              </a:rPr>
              <a:t>Inheritance</a:t>
            </a:r>
            <a:r>
              <a:rPr sz="3600" i="0" spc="-3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Basics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6971" y="3348749"/>
            <a:ext cx="7644765" cy="3025775"/>
            <a:chOff x="156971" y="3348749"/>
            <a:chExt cx="7644765" cy="3025775"/>
          </a:xfrm>
        </p:grpSpPr>
        <p:sp>
          <p:nvSpPr>
            <p:cNvPr id="5" name="object 5"/>
            <p:cNvSpPr/>
            <p:nvPr/>
          </p:nvSpPr>
          <p:spPr>
            <a:xfrm>
              <a:off x="526918" y="3348749"/>
              <a:ext cx="7274296" cy="30257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9925" y="4944617"/>
              <a:ext cx="1163320" cy="826135"/>
            </a:xfrm>
            <a:custGeom>
              <a:avLst/>
              <a:gdLst/>
              <a:ahLst/>
              <a:cxnLst/>
              <a:rect l="l" t="t" r="r" b="b"/>
              <a:pathLst>
                <a:path w="1163320" h="826135">
                  <a:moveTo>
                    <a:pt x="0" y="56387"/>
                  </a:moveTo>
                  <a:lnTo>
                    <a:pt x="1039368" y="56387"/>
                  </a:lnTo>
                  <a:lnTo>
                    <a:pt x="1039368" y="0"/>
                  </a:lnTo>
                  <a:lnTo>
                    <a:pt x="1152144" y="112775"/>
                  </a:lnTo>
                  <a:lnTo>
                    <a:pt x="1039368" y="225551"/>
                  </a:lnTo>
                  <a:lnTo>
                    <a:pt x="1039368" y="169163"/>
                  </a:lnTo>
                  <a:lnTo>
                    <a:pt x="0" y="169163"/>
                  </a:lnTo>
                  <a:lnTo>
                    <a:pt x="0" y="56387"/>
                  </a:lnTo>
                  <a:close/>
                </a:path>
                <a:path w="1163320" h="826135">
                  <a:moveTo>
                    <a:pt x="10667" y="656843"/>
                  </a:moveTo>
                  <a:lnTo>
                    <a:pt x="1050036" y="656843"/>
                  </a:lnTo>
                  <a:lnTo>
                    <a:pt x="1050036" y="600455"/>
                  </a:lnTo>
                  <a:lnTo>
                    <a:pt x="1162812" y="713231"/>
                  </a:lnTo>
                  <a:lnTo>
                    <a:pt x="1050036" y="826007"/>
                  </a:lnTo>
                  <a:lnTo>
                    <a:pt x="1050036" y="769619"/>
                  </a:lnTo>
                  <a:lnTo>
                    <a:pt x="10667" y="769619"/>
                  </a:lnTo>
                  <a:lnTo>
                    <a:pt x="10667" y="656843"/>
                  </a:lnTo>
                  <a:close/>
                </a:path>
              </a:pathLst>
            </a:custGeom>
            <a:ln w="25908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519249"/>
            <a:ext cx="8502015" cy="4385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0F1141"/>
              </a:buClr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b="1" spc="-5" dirty="0">
                <a:latin typeface="Arial"/>
                <a:cs typeface="Arial"/>
              </a:rPr>
              <a:t>Whenever</a:t>
            </a:r>
            <a:r>
              <a:rPr sz="2200" b="1" spc="17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an</a:t>
            </a:r>
            <a:r>
              <a:rPr sz="2200" b="1" spc="16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instance</a:t>
            </a:r>
            <a:r>
              <a:rPr sz="2200" b="1" spc="17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of</a:t>
            </a:r>
            <a:r>
              <a:rPr sz="2200" b="1" spc="17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sub-class</a:t>
            </a:r>
            <a:r>
              <a:rPr sz="2200" b="1" spc="17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type</a:t>
            </a:r>
            <a:r>
              <a:rPr sz="2200" b="1" spc="16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is</a:t>
            </a:r>
            <a:r>
              <a:rPr sz="2200" b="1" spc="17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created,</a:t>
            </a:r>
            <a:r>
              <a:rPr sz="2200" b="1" spc="18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a</a:t>
            </a:r>
            <a:r>
              <a:rPr sz="2200" b="1" spc="17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super-</a:t>
            </a:r>
            <a:endParaRPr sz="22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  <a:tabLst>
                <a:tab pos="1210310" algn="l"/>
              </a:tabLst>
            </a:pPr>
            <a:r>
              <a:rPr sz="2200" b="1" spc="-5" dirty="0">
                <a:latin typeface="Arial"/>
                <a:cs typeface="Arial"/>
              </a:rPr>
              <a:t>class	constructor is called</a:t>
            </a:r>
            <a:r>
              <a:rPr sz="2200" b="1" spc="7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first.</a:t>
            </a:r>
            <a:endParaRPr sz="2200" dirty="0">
              <a:latin typeface="Arial"/>
              <a:cs typeface="Arial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1320"/>
              </a:spcBef>
              <a:buClr>
                <a:srgbClr val="0F1141"/>
              </a:buClr>
              <a:buFont typeface="Arial"/>
              <a:buChar char="•"/>
              <a:tabLst>
                <a:tab pos="355600" algn="l"/>
              </a:tabLst>
            </a:pPr>
            <a:r>
              <a:rPr sz="2200" b="1" spc="-5" dirty="0">
                <a:latin typeface="Arial"/>
                <a:cs typeface="Arial"/>
              </a:rPr>
              <a:t>If a </a:t>
            </a:r>
            <a:r>
              <a:rPr sz="2200" b="1" dirty="0">
                <a:latin typeface="Arial"/>
                <a:cs typeface="Arial"/>
              </a:rPr>
              <a:t>super-class constructor does not </a:t>
            </a:r>
            <a:r>
              <a:rPr sz="2200" b="1" spc="-5" dirty="0">
                <a:latin typeface="Arial"/>
                <a:cs typeface="Arial"/>
              </a:rPr>
              <a:t>have </a:t>
            </a:r>
            <a:r>
              <a:rPr sz="2200" b="1" dirty="0">
                <a:latin typeface="Arial"/>
                <a:cs typeface="Arial"/>
              </a:rPr>
              <a:t>any constructor  </a:t>
            </a:r>
            <a:r>
              <a:rPr sz="2200" b="1" spc="-5" dirty="0">
                <a:latin typeface="Arial"/>
                <a:cs typeface="Arial"/>
              </a:rPr>
              <a:t>of </a:t>
            </a:r>
            <a:r>
              <a:rPr sz="2200" b="1" dirty="0">
                <a:latin typeface="Arial"/>
                <a:cs typeface="Arial"/>
              </a:rPr>
              <a:t>its own </a:t>
            </a:r>
            <a:r>
              <a:rPr sz="2200" b="1" spc="-10" dirty="0">
                <a:latin typeface="Arial"/>
                <a:cs typeface="Arial"/>
              </a:rPr>
              <a:t>OR </a:t>
            </a:r>
            <a:r>
              <a:rPr sz="2200" b="1" spc="-5" dirty="0">
                <a:latin typeface="Arial"/>
                <a:cs typeface="Arial"/>
              </a:rPr>
              <a:t>has an </a:t>
            </a:r>
            <a:r>
              <a:rPr sz="2200" b="1" dirty="0">
                <a:latin typeface="Arial"/>
                <a:cs typeface="Arial"/>
              </a:rPr>
              <a:t>un-parametrized constructor then </a:t>
            </a:r>
            <a:r>
              <a:rPr sz="2200" b="1" spc="-5" dirty="0">
                <a:latin typeface="Arial"/>
                <a:cs typeface="Arial"/>
              </a:rPr>
              <a:t>it is  automatically called by JRE by using call</a:t>
            </a:r>
            <a:r>
              <a:rPr sz="2200" b="1" spc="145" dirty="0"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Arial"/>
                <a:cs typeface="Arial"/>
              </a:rPr>
              <a:t>super()</a:t>
            </a:r>
            <a:endParaRPr sz="2200" dirty="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320"/>
              </a:spcBef>
              <a:buClr>
                <a:srgbClr val="0F1141"/>
              </a:buClr>
              <a:buFont typeface="Arial"/>
              <a:buChar char="•"/>
              <a:tabLst>
                <a:tab pos="355600" algn="l"/>
              </a:tabLst>
            </a:pPr>
            <a:r>
              <a:rPr sz="2200" b="1" spc="-5" dirty="0">
                <a:latin typeface="Arial"/>
                <a:cs typeface="Arial"/>
              </a:rPr>
              <a:t>If a super-class has a parameterized constructor </a:t>
            </a:r>
            <a:r>
              <a:rPr sz="2200" b="1" dirty="0">
                <a:latin typeface="Arial"/>
                <a:cs typeface="Arial"/>
              </a:rPr>
              <a:t>then </a:t>
            </a:r>
            <a:r>
              <a:rPr sz="2200" b="1" spc="-5" dirty="0">
                <a:latin typeface="Arial"/>
                <a:cs typeface="Arial"/>
              </a:rPr>
              <a:t>it </a:t>
            </a:r>
            <a:r>
              <a:rPr sz="2200" b="1" spc="-20" dirty="0">
                <a:latin typeface="Arial"/>
                <a:cs typeface="Arial"/>
              </a:rPr>
              <a:t>is  </a:t>
            </a:r>
            <a:r>
              <a:rPr sz="2200" b="1" spc="-5" dirty="0">
                <a:latin typeface="Arial"/>
                <a:cs typeface="Arial"/>
              </a:rPr>
              <a:t>the </a:t>
            </a:r>
            <a:r>
              <a:rPr sz="2200" b="1" dirty="0">
                <a:latin typeface="Arial"/>
                <a:cs typeface="Arial"/>
              </a:rPr>
              <a:t>responsibility </a:t>
            </a:r>
            <a:r>
              <a:rPr sz="2200" b="1" spc="-5" dirty="0">
                <a:latin typeface="Arial"/>
                <a:cs typeface="Arial"/>
              </a:rPr>
              <a:t>of </a:t>
            </a:r>
            <a:r>
              <a:rPr sz="2200" b="1" dirty="0">
                <a:latin typeface="Arial"/>
                <a:cs typeface="Arial"/>
              </a:rPr>
              <a:t>the sub-class </a:t>
            </a:r>
            <a:r>
              <a:rPr sz="2200" b="1" spc="-5" dirty="0">
                <a:latin typeface="Arial"/>
                <a:cs typeface="Arial"/>
              </a:rPr>
              <a:t>constructor </a:t>
            </a:r>
            <a:r>
              <a:rPr sz="2200" b="1" dirty="0">
                <a:latin typeface="Arial"/>
                <a:cs typeface="Arial"/>
              </a:rPr>
              <a:t>to call </a:t>
            </a:r>
            <a:r>
              <a:rPr sz="2200" b="1" spc="-5" dirty="0">
                <a:latin typeface="Arial"/>
                <a:cs typeface="Arial"/>
              </a:rPr>
              <a:t>the  super class constructor by</a:t>
            </a:r>
            <a:r>
              <a:rPr sz="2200" b="1" spc="9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call</a:t>
            </a:r>
            <a:endParaRPr sz="2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325"/>
              </a:spcBef>
            </a:pPr>
            <a:r>
              <a:rPr sz="2200" b="1" spc="-5" dirty="0">
                <a:solidFill>
                  <a:srgbClr val="FF0000"/>
                </a:solidFill>
                <a:latin typeface="Arial"/>
                <a:cs typeface="Arial"/>
              </a:rPr>
              <a:t>super(&lt;parameters required by super</a:t>
            </a:r>
            <a:r>
              <a:rPr sz="2200" b="1" spc="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Arial"/>
                <a:cs typeface="Arial"/>
              </a:rPr>
              <a:t>class&gt;)</a:t>
            </a:r>
            <a:endParaRPr sz="22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320"/>
              </a:spcBef>
              <a:buClr>
                <a:srgbClr val="0F1141"/>
              </a:buClr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b="1" spc="-5" dirty="0">
                <a:latin typeface="Arial"/>
                <a:cs typeface="Arial"/>
              </a:rPr>
              <a:t>Call to </a:t>
            </a:r>
            <a:r>
              <a:rPr sz="2200" b="1" dirty="0">
                <a:latin typeface="Arial"/>
                <a:cs typeface="Arial"/>
              </a:rPr>
              <a:t>super </a:t>
            </a:r>
            <a:r>
              <a:rPr sz="2200" b="1" spc="-5" dirty="0">
                <a:latin typeface="Arial"/>
                <a:cs typeface="Arial"/>
              </a:rPr>
              <a:t>class </a:t>
            </a:r>
            <a:r>
              <a:rPr sz="2200" b="1" dirty="0">
                <a:latin typeface="Arial"/>
                <a:cs typeface="Arial"/>
              </a:rPr>
              <a:t>constructor must </a:t>
            </a:r>
            <a:r>
              <a:rPr sz="2200" b="1" spc="-5" dirty="0">
                <a:latin typeface="Arial"/>
                <a:cs typeface="Arial"/>
              </a:rPr>
              <a:t>be the </a:t>
            </a:r>
            <a:r>
              <a:rPr sz="2200" b="1" dirty="0">
                <a:latin typeface="Arial"/>
                <a:cs typeface="Arial"/>
              </a:rPr>
              <a:t>first statement</a:t>
            </a:r>
            <a:r>
              <a:rPr sz="2200" b="1" spc="43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in</a:t>
            </a:r>
            <a:endParaRPr sz="22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200" b="1" spc="-5" dirty="0">
                <a:latin typeface="Arial"/>
                <a:cs typeface="Arial"/>
              </a:rPr>
              <a:t>sub class</a:t>
            </a:r>
            <a:r>
              <a:rPr sz="2200" b="1" spc="35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constructor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4394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45" dirty="0">
                <a:solidFill>
                  <a:srgbClr val="000000"/>
                </a:solidFill>
                <a:latin typeface="Arial"/>
                <a:cs typeface="Arial"/>
              </a:rPr>
              <a:t>Inheritance </a:t>
            </a: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Basics</a:t>
            </a:r>
            <a:r>
              <a:rPr sz="3600" i="0" spc="-4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80" dirty="0">
                <a:solidFill>
                  <a:srgbClr val="000000"/>
                </a:solidFill>
                <a:latin typeface="Arial"/>
                <a:cs typeface="Arial"/>
              </a:rPr>
              <a:t>….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ontent Placeholder 2">
            <a:extLst>
              <a:ext uri="{FF2B5EF4-FFF2-40B4-BE49-F238E27FC236}">
                <a16:creationId xmlns:a16="http://schemas.microsoft.com/office/drawing/2014/main" id="{C4BCD78B-3884-4ED2-8965-77E6044EE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52600"/>
            <a:ext cx="8305800" cy="4130361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defRPr/>
            </a:pPr>
            <a:r>
              <a:rPr lang="en-US" altLang="en-US" sz="2200" b="1" u="sng" dirty="0">
                <a:latin typeface="Rockwell" panose="02060603020205020403" pitchFamily="18" charset="0"/>
              </a:rPr>
              <a:t>Constructors in Inheritance</a:t>
            </a:r>
          </a:p>
          <a:p>
            <a:pPr marL="266700" indent="-266700" fontAlgn="base">
              <a:spcAft>
                <a:spcPct val="0"/>
              </a:spcAft>
              <a:defRPr/>
            </a:pPr>
            <a:r>
              <a:rPr lang="en-US" altLang="en-US" sz="2200" dirty="0">
                <a:latin typeface="Rockwell" panose="02060603020205020403" pitchFamily="18" charset="0"/>
              </a:rPr>
              <a:t>When a super class is inherited in the sub class, its constructor can also be inherited. </a:t>
            </a:r>
          </a:p>
          <a:p>
            <a:pPr marL="266700" indent="-266700" fontAlgn="base">
              <a:spcAft>
                <a:spcPct val="0"/>
              </a:spcAft>
              <a:defRPr/>
            </a:pPr>
            <a:r>
              <a:rPr lang="en-US" altLang="en-US" sz="2200" dirty="0">
                <a:latin typeface="Rockwell" panose="02060603020205020403" pitchFamily="18" charset="0"/>
              </a:rPr>
              <a:t>It means that the base class constructor of the super class is accessible in the sub class also. </a:t>
            </a:r>
          </a:p>
          <a:p>
            <a:pPr marL="266700" indent="-266700" fontAlgn="base">
              <a:spcAft>
                <a:spcPct val="0"/>
              </a:spcAft>
              <a:defRPr/>
            </a:pPr>
            <a:r>
              <a:rPr lang="en-US" altLang="en-US" sz="2200" dirty="0">
                <a:latin typeface="Rockwell" panose="02060603020205020403" pitchFamily="18" charset="0"/>
              </a:rPr>
              <a:t>There are two methods of inheriting the super class constructor in the sub class. They are</a:t>
            </a:r>
          </a:p>
          <a:p>
            <a:pPr marL="266700" indent="-266700" fontAlgn="base">
              <a:spcAft>
                <a:spcPct val="0"/>
              </a:spcAft>
              <a:buFont typeface="Arial" pitchFamily="34" charset="0"/>
              <a:buAutoNum type="arabicPeriod"/>
              <a:defRPr/>
            </a:pPr>
            <a:r>
              <a:rPr lang="en-US" altLang="en-US" sz="2200" dirty="0">
                <a:latin typeface="Rockwell" panose="02060603020205020403" pitchFamily="18" charset="0"/>
              </a:rPr>
              <a:t>Inheriting non parameterized constructor</a:t>
            </a:r>
          </a:p>
          <a:p>
            <a:pPr marL="266700" indent="-266700" fontAlgn="base">
              <a:spcAft>
                <a:spcPct val="0"/>
              </a:spcAft>
              <a:buFont typeface="Arial" pitchFamily="34" charset="0"/>
              <a:buAutoNum type="arabicPeriod"/>
              <a:defRPr/>
            </a:pPr>
            <a:r>
              <a:rPr lang="en-US" altLang="en-US" sz="2200" dirty="0">
                <a:latin typeface="Rockwell" panose="02060603020205020403" pitchFamily="18" charset="0"/>
              </a:rPr>
              <a:t>Inheriting parameterized constructor</a:t>
            </a:r>
          </a:p>
          <a:p>
            <a:pPr marL="266700" indent="-266700" fontAlgn="base">
              <a:spcAft>
                <a:spcPct val="0"/>
              </a:spcAft>
              <a:defRPr/>
            </a:pPr>
            <a:r>
              <a:rPr lang="en-US" sz="2200" dirty="0">
                <a:latin typeface="Rockwell" panose="02060603020205020403" pitchFamily="18" charset="0"/>
              </a:rPr>
              <a:t>In Java, constructor of base class with no argument gets automatically called in derived class constructor.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634AF-8549-4878-B4F6-1A25C034A4A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fontAlgn="base">
              <a:spcAft>
                <a:spcPct val="0"/>
              </a:spcAft>
              <a:defRPr/>
            </a:pPr>
            <a:r>
              <a:rPr lang="en-US" altLang="en-US" dirty="0">
                <a:latin typeface="Rockwell" panose="02060603020205020403" pitchFamily="18" charset="0"/>
              </a:rPr>
              <a:t>Constructors in Inheritance</a:t>
            </a:r>
          </a:p>
        </p:txBody>
      </p:sp>
    </p:spTree>
    <p:extLst>
      <p:ext uri="{BB962C8B-B14F-4D97-AF65-F5344CB8AC3E}">
        <p14:creationId xmlns:p14="http://schemas.microsoft.com/office/powerpoint/2010/main" val="2070104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ontent Placeholder 2">
            <a:extLst>
              <a:ext uri="{FF2B5EF4-FFF2-40B4-BE49-F238E27FC236}">
                <a16:creationId xmlns:a16="http://schemas.microsoft.com/office/drawing/2014/main" id="{31F75292-7E04-48EA-9350-839733EAC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8305800" cy="3875485"/>
          </a:xfrm>
        </p:spPr>
        <p:txBody>
          <a:bodyPr/>
          <a:lstStyle/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class Base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{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Base()	{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</a:t>
            </a:r>
            <a:r>
              <a:rPr lang="en-US" altLang="en-US" sz="2000" dirty="0" err="1">
                <a:latin typeface="Rockwell" panose="02060603020205020403" pitchFamily="18" charset="0"/>
              </a:rPr>
              <a:t>System.out.println</a:t>
            </a:r>
            <a:r>
              <a:rPr lang="en-US" altLang="en-US" sz="2000" dirty="0">
                <a:latin typeface="Rockwell" panose="02060603020205020403" pitchFamily="18" charset="0"/>
              </a:rPr>
              <a:t>(" It is the Super class Constructor ");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}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}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class Derived extends Base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{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Derived()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{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</a:t>
            </a:r>
            <a:r>
              <a:rPr lang="en-US" altLang="en-US" sz="2000" dirty="0" err="1">
                <a:latin typeface="Rockwell" panose="02060603020205020403" pitchFamily="18" charset="0"/>
              </a:rPr>
              <a:t>System.out.println</a:t>
            </a:r>
            <a:r>
              <a:rPr lang="en-US" altLang="en-US" sz="2000" dirty="0">
                <a:latin typeface="Rockwell" panose="02060603020205020403" pitchFamily="18" charset="0"/>
              </a:rPr>
              <a:t>(" It is the Sub Class Constructor ");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}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C3B7C-B1BA-4384-93B8-8F81F0CA82C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INHERITANCE - </a:t>
            </a:r>
            <a:r>
              <a:rPr lang="en-US" u="sng" dirty="0">
                <a:latin typeface="Rockwell" panose="02060603020205020403" pitchFamily="18" charset="0"/>
              </a:rPr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3705208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Content Placeholder 2">
            <a:extLst>
              <a:ext uri="{FF2B5EF4-FFF2-40B4-BE49-F238E27FC236}">
                <a16:creationId xmlns:a16="http://schemas.microsoft.com/office/drawing/2014/main" id="{82C50AD2-4C67-4AB3-BCDE-300B9545E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1986"/>
            <a:ext cx="8077200" cy="3875485"/>
          </a:xfrm>
        </p:spPr>
        <p:txBody>
          <a:bodyPr/>
          <a:lstStyle/>
          <a:p>
            <a:pPr marL="0" indent="0" algn="just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class SuperConstDemo1</a:t>
            </a:r>
          </a:p>
          <a:p>
            <a:pPr marL="0" indent="0" algn="just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{</a:t>
            </a:r>
          </a:p>
          <a:p>
            <a:pPr marL="0" indent="0" algn="just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public static void main(String aa[])</a:t>
            </a:r>
          </a:p>
          <a:p>
            <a:pPr marL="0" indent="0" algn="just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{</a:t>
            </a:r>
          </a:p>
          <a:p>
            <a:pPr marL="0" indent="0" algn="just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	Derived d = new Derived ();</a:t>
            </a:r>
          </a:p>
          <a:p>
            <a:pPr marL="0" indent="0" algn="just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}</a:t>
            </a:r>
          </a:p>
          <a:p>
            <a:pPr marL="0" indent="0" algn="just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}</a:t>
            </a:r>
          </a:p>
          <a:p>
            <a:pPr marL="0" indent="0" algn="just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The output of the above coding is</a:t>
            </a:r>
          </a:p>
          <a:p>
            <a:pPr marL="0" indent="0" algn="just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It is the Super class Constructor</a:t>
            </a:r>
          </a:p>
          <a:p>
            <a:pPr marL="0" indent="0" algn="just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It is the Sub Class Constructor</a:t>
            </a:r>
          </a:p>
          <a:p>
            <a:pPr marL="0" indent="0" algn="just" fontAlgn="base">
              <a:spcAft>
                <a:spcPct val="0"/>
              </a:spcAft>
            </a:pPr>
            <a:r>
              <a:rPr lang="en-US" altLang="en-US" sz="2000" b="1" u="sng" dirty="0">
                <a:latin typeface="Rockwell" panose="02060603020205020403" pitchFamily="18" charset="0"/>
              </a:rPr>
              <a:t>Note:- </a:t>
            </a:r>
            <a:r>
              <a:rPr lang="en-US" altLang="en-US" sz="2000" dirty="0">
                <a:latin typeface="Rockwell" panose="02060603020205020403" pitchFamily="18" charset="0"/>
              </a:rPr>
              <a:t>The super class constructor is automatically executed in the sub class. This constructor is executed before the sub class constructor</a:t>
            </a:r>
          </a:p>
          <a:p>
            <a:pPr marL="0" indent="0" algn="just" fontAlgn="base">
              <a:spcAft>
                <a:spcPct val="0"/>
              </a:spcAft>
            </a:pPr>
            <a:endParaRPr lang="en-US" altLang="en-US" sz="2000" dirty="0">
              <a:latin typeface="PT Sans" panose="020B0503020203020204" pitchFamily="34" charset="0"/>
            </a:endParaRPr>
          </a:p>
          <a:p>
            <a:pPr marL="0" indent="0" algn="just" fontAlgn="base">
              <a:spcAft>
                <a:spcPct val="0"/>
              </a:spcAft>
            </a:pPr>
            <a:endParaRPr lang="en-US" altLang="en-US" sz="2000" dirty="0">
              <a:latin typeface="PT Sans" panose="020B0503020203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9FB35-D275-48DC-B042-7C1C22C46E2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479674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Content Placeholder 2">
            <a:extLst>
              <a:ext uri="{FF2B5EF4-FFF2-40B4-BE49-F238E27FC236}">
                <a16:creationId xmlns:a16="http://schemas.microsoft.com/office/drawing/2014/main" id="{E4B3D4E0-DFB6-4478-90C7-051257CC3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72006"/>
            <a:ext cx="8077200" cy="3875485"/>
          </a:xfrm>
        </p:spPr>
        <p:txBody>
          <a:bodyPr/>
          <a:lstStyle/>
          <a:p>
            <a:pPr marL="0" indent="0" algn="just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But, if we want to call parameterized constructor of base class, then we can call it using the keyword </a:t>
            </a:r>
            <a:r>
              <a:rPr lang="en-US" altLang="en-US" sz="2000" b="1" dirty="0">
                <a:latin typeface="Rockwell" panose="02060603020205020403" pitchFamily="18" charset="0"/>
              </a:rPr>
              <a:t>super()</a:t>
            </a:r>
            <a:r>
              <a:rPr lang="en-US" altLang="en-US" sz="2000" dirty="0">
                <a:latin typeface="Rockwell" panose="02060603020205020403" pitchFamily="18" charset="0"/>
              </a:rPr>
              <a:t>. The point to note is that </a:t>
            </a:r>
            <a:r>
              <a:rPr lang="en-US" altLang="en-US" sz="2000" b="1" dirty="0">
                <a:latin typeface="Rockwell" panose="02060603020205020403" pitchFamily="18" charset="0"/>
              </a:rPr>
              <a:t>base class constructor calling statement is the first statement in the derived class constructor</a:t>
            </a:r>
            <a:r>
              <a:rPr lang="en-US" altLang="en-US" sz="2000" dirty="0">
                <a:latin typeface="Rockwell" panose="02060603020205020403" pitchFamily="18" charset="0"/>
              </a:rPr>
              <a:t>. </a:t>
            </a:r>
          </a:p>
          <a:p>
            <a:pPr marL="0" indent="0" algn="just" fontAlgn="base">
              <a:spcAft>
                <a:spcPct val="0"/>
              </a:spcAft>
            </a:pPr>
            <a:endParaRPr lang="en-US" altLang="en-US" sz="2000" b="1" u="sng" dirty="0">
              <a:latin typeface="Rockwell" panose="02060603020205020403" pitchFamily="18" charset="0"/>
            </a:endParaRPr>
          </a:p>
          <a:p>
            <a:pPr marL="0" indent="0" algn="just" fontAlgn="base">
              <a:spcAft>
                <a:spcPct val="0"/>
              </a:spcAft>
            </a:pPr>
            <a:r>
              <a:rPr lang="en-US" altLang="en-US" sz="2000" b="1" u="sng" dirty="0">
                <a:latin typeface="Rockwell" panose="02060603020205020403" pitchFamily="18" charset="0"/>
              </a:rPr>
              <a:t>Example:</a:t>
            </a:r>
          </a:p>
          <a:p>
            <a:pPr marL="0" indent="0" algn="just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class Base</a:t>
            </a:r>
          </a:p>
          <a:p>
            <a:pPr marL="0" indent="0" algn="just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{</a:t>
            </a:r>
          </a:p>
          <a:p>
            <a:pPr marL="0" indent="0" algn="just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int data1;</a:t>
            </a:r>
          </a:p>
          <a:p>
            <a:pPr marL="0" indent="0" algn="just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Base(int x)</a:t>
            </a:r>
          </a:p>
          <a:p>
            <a:pPr marL="0" indent="0" algn="just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{</a:t>
            </a:r>
          </a:p>
          <a:p>
            <a:pPr marL="0" indent="0" algn="just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	data1=x;</a:t>
            </a:r>
          </a:p>
          <a:p>
            <a:pPr marL="0" indent="0" algn="just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}</a:t>
            </a:r>
          </a:p>
          <a:p>
            <a:pPr marL="0" indent="0" algn="just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F7AF8-6B42-4226-8D68-E26CEF7C6A2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Example – Base VS Derived class constructors</a:t>
            </a:r>
          </a:p>
        </p:txBody>
      </p:sp>
    </p:spTree>
    <p:extLst>
      <p:ext uri="{BB962C8B-B14F-4D97-AF65-F5344CB8AC3E}">
        <p14:creationId xmlns:p14="http://schemas.microsoft.com/office/powerpoint/2010/main" val="3343825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Content Placeholder 2">
            <a:extLst>
              <a:ext uri="{FF2B5EF4-FFF2-40B4-BE49-F238E27FC236}">
                <a16:creationId xmlns:a16="http://schemas.microsoft.com/office/drawing/2014/main" id="{9D89C55F-DCB9-4119-A0E6-01DF09A74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1986"/>
            <a:ext cx="8382000" cy="3875485"/>
          </a:xfrm>
        </p:spPr>
        <p:txBody>
          <a:bodyPr/>
          <a:lstStyle/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class Derived extends Base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{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float data2;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Derived(int </a:t>
            </a:r>
            <a:r>
              <a:rPr lang="en-US" altLang="en-US" sz="2000" dirty="0" err="1">
                <a:latin typeface="Rockwell" panose="02060603020205020403" pitchFamily="18" charset="0"/>
              </a:rPr>
              <a:t>x,float</a:t>
            </a:r>
            <a:r>
              <a:rPr lang="en-US" altLang="en-US" sz="2000" dirty="0">
                <a:latin typeface="Rockwell" panose="02060603020205020403" pitchFamily="18" charset="0"/>
              </a:rPr>
              <a:t> y)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{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	super(x);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	data2=y;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}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void display()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{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</a:t>
            </a:r>
            <a:r>
              <a:rPr lang="en-US" altLang="en-US" sz="2000" dirty="0" err="1">
                <a:latin typeface="Rockwell" panose="02060603020205020403" pitchFamily="18" charset="0"/>
              </a:rPr>
              <a:t>System.out.prinltn</a:t>
            </a:r>
            <a:r>
              <a:rPr lang="en-US" altLang="en-US" sz="2000" dirty="0">
                <a:latin typeface="Rockwell" panose="02060603020205020403" pitchFamily="18" charset="0"/>
              </a:rPr>
              <a:t>(" Base:"+data1+"Derived:"+data2);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}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10EABC-C0CD-485D-B39C-B2600ED74E2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5878168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Content Placeholder 2">
            <a:extLst>
              <a:ext uri="{FF2B5EF4-FFF2-40B4-BE49-F238E27FC236}">
                <a16:creationId xmlns:a16="http://schemas.microsoft.com/office/drawing/2014/main" id="{FB0DB728-8A0F-4DEE-993E-F76C6638A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1986"/>
            <a:ext cx="8153400" cy="3875485"/>
          </a:xfrm>
        </p:spPr>
        <p:txBody>
          <a:bodyPr/>
          <a:lstStyle/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class SuperConstDemo2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{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public static void main(String aa[])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{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	Derived d = new Derived (100,200.50);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	</a:t>
            </a:r>
            <a:r>
              <a:rPr lang="en-US" altLang="en-US" sz="2000" dirty="0" err="1">
                <a:latin typeface="Rockwell" panose="02060603020205020403" pitchFamily="18" charset="0"/>
              </a:rPr>
              <a:t>d.display</a:t>
            </a:r>
            <a:r>
              <a:rPr lang="en-US" altLang="en-US" sz="2000" dirty="0">
                <a:latin typeface="Rockwell" panose="02060603020205020403" pitchFamily="18" charset="0"/>
              </a:rPr>
              <a:t>();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	}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}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The output of the above coding is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dirty="0">
                <a:latin typeface="Rockwell" panose="02060603020205020403" pitchFamily="18" charset="0"/>
              </a:rPr>
              <a:t>Base:100 Derived:200.50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2000" b="1" u="sng" dirty="0">
                <a:latin typeface="Rockwell" panose="02060603020205020403" pitchFamily="18" charset="0"/>
              </a:rPr>
              <a:t>Note:- </a:t>
            </a:r>
            <a:r>
              <a:rPr lang="en-US" altLang="en-US" sz="2000" dirty="0">
                <a:latin typeface="Rockwell" panose="02060603020205020403" pitchFamily="18" charset="0"/>
              </a:rPr>
              <a:t>The super class constructor is executed in the sub class through the keyword </a:t>
            </a:r>
            <a:r>
              <a:rPr lang="en-US" altLang="en-US" sz="2000" b="1" dirty="0">
                <a:latin typeface="Rockwell" panose="02060603020205020403" pitchFamily="18" charset="0"/>
              </a:rPr>
              <a:t>super</a:t>
            </a:r>
            <a:r>
              <a:rPr lang="en-US" altLang="en-US" sz="2000" dirty="0">
                <a:latin typeface="Rockwell" panose="02060603020205020403" pitchFamily="18" charset="0"/>
              </a:rPr>
              <a:t>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B8DFD-6DED-4207-BC75-EB00243C1EF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60509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6222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Extending </a:t>
            </a: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Classes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3600" i="0" spc="-7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Example </a:t>
            </a:r>
            <a:r>
              <a:rPr sz="3600" i="0" spc="-5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3928" y="2239213"/>
            <a:ext cx="850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3928" y="1224533"/>
            <a:ext cx="8322309" cy="1040765"/>
          </a:xfrm>
          <a:prstGeom prst="rect">
            <a:avLst/>
          </a:prstGeom>
        </p:spPr>
        <p:txBody>
          <a:bodyPr vert="horz" wrap="square" lIns="0" tIns="201295" rIns="0" bIns="0" rtlCol="0">
            <a:spAutoFit/>
          </a:bodyPr>
          <a:lstStyle/>
          <a:p>
            <a:pPr marL="331470">
              <a:lnSpc>
                <a:spcPct val="100000"/>
              </a:lnSpc>
              <a:spcBef>
                <a:spcPts val="1585"/>
              </a:spcBef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When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super-class has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an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Un-parametrized</a:t>
            </a:r>
            <a:r>
              <a:rPr sz="2400" b="1" spc="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Constructor</a:t>
            </a:r>
            <a:endParaRPr sz="2400">
              <a:latin typeface="Arial"/>
              <a:cs typeface="Arial"/>
            </a:endParaRPr>
          </a:p>
          <a:p>
            <a:pPr marL="12700" marR="6437630">
              <a:lnSpc>
                <a:spcPct val="100000"/>
              </a:lnSpc>
              <a:spcBef>
                <a:spcPts val="745"/>
              </a:spcBef>
            </a:pPr>
            <a:r>
              <a:rPr sz="1200" b="1" dirty="0">
                <a:latin typeface="Arial"/>
                <a:cs typeface="Arial"/>
              </a:rPr>
              <a:t>// File </a:t>
            </a:r>
            <a:r>
              <a:rPr sz="1200" b="1" spc="-5" dirty="0">
                <a:latin typeface="Arial"/>
                <a:cs typeface="Arial"/>
              </a:rPr>
              <a:t>Name </a:t>
            </a:r>
            <a:r>
              <a:rPr sz="1200" b="1" dirty="0">
                <a:latin typeface="Arial"/>
                <a:cs typeface="Arial"/>
              </a:rPr>
              <a:t>: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Sample.java  </a:t>
            </a:r>
            <a:r>
              <a:rPr sz="1200" b="1" dirty="0">
                <a:latin typeface="Arial"/>
                <a:cs typeface="Arial"/>
              </a:rPr>
              <a:t>class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8633" y="2422652"/>
            <a:ext cx="231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()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3928" y="2788411"/>
            <a:ext cx="5629275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System.out.println("This </a:t>
            </a:r>
            <a:r>
              <a:rPr sz="1200" b="1" dirty="0">
                <a:latin typeface="Arial"/>
                <a:cs typeface="Arial"/>
              </a:rPr>
              <a:t>is </a:t>
            </a:r>
            <a:r>
              <a:rPr sz="1200" b="1" spc="-5" dirty="0">
                <a:latin typeface="Arial"/>
                <a:cs typeface="Arial"/>
              </a:rPr>
              <a:t>constructor </a:t>
            </a:r>
            <a:r>
              <a:rPr sz="1200" b="1" dirty="0">
                <a:latin typeface="Arial"/>
                <a:cs typeface="Arial"/>
              </a:rPr>
              <a:t>of class</a:t>
            </a:r>
            <a:r>
              <a:rPr sz="1200" b="1" spc="60" dirty="0">
                <a:latin typeface="Arial"/>
                <a:cs typeface="Arial"/>
              </a:rPr>
              <a:t> </a:t>
            </a:r>
            <a:r>
              <a:rPr sz="1200" b="1" spc="-15" dirty="0">
                <a:latin typeface="Arial"/>
                <a:cs typeface="Arial"/>
              </a:rPr>
              <a:t>A");</a:t>
            </a:r>
            <a:endParaRPr sz="1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 marL="12700" marR="431165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} </a:t>
            </a:r>
            <a:r>
              <a:rPr sz="1200" b="1" dirty="0">
                <a:latin typeface="Arial"/>
                <a:cs typeface="Arial"/>
              </a:rPr>
              <a:t>// End of class </a:t>
            </a:r>
            <a:r>
              <a:rPr sz="1200" b="1" spc="-5" dirty="0">
                <a:latin typeface="Arial"/>
                <a:cs typeface="Arial"/>
              </a:rPr>
              <a:t>A 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class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 extends</a:t>
            </a:r>
            <a:r>
              <a:rPr sz="1200" b="1" spc="-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200" b="1" spc="-10" dirty="0">
                <a:solidFill>
                  <a:srgbClr val="FF0000"/>
                </a:solidFill>
                <a:latin typeface="Arial"/>
                <a:cs typeface="Arial"/>
              </a:rPr>
              <a:t>B()</a:t>
            </a:r>
            <a:endParaRPr sz="1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super();</a:t>
            </a:r>
            <a:endParaRPr sz="120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System.out.println("This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constructor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of class</a:t>
            </a:r>
            <a:r>
              <a:rPr sz="1200" b="1" spc="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B");</a:t>
            </a:r>
            <a:endParaRPr sz="1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 marL="12700" marR="4326255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}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// End of class</a:t>
            </a:r>
            <a:r>
              <a:rPr sz="1200" b="1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 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class</a:t>
            </a:r>
            <a:r>
              <a:rPr sz="12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FF0000"/>
                </a:solidFill>
                <a:latin typeface="Arial"/>
                <a:cs typeface="Arial"/>
              </a:rPr>
              <a:t>Test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public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static void main(String[]</a:t>
            </a:r>
            <a:r>
              <a:rPr sz="1200" b="1" spc="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args)</a:t>
            </a:r>
            <a:endParaRPr sz="1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37713" y="5532221"/>
            <a:ext cx="203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b1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52113" y="5532221"/>
            <a:ext cx="114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66894" y="5532221"/>
            <a:ext cx="322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new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1294" y="5532221"/>
            <a:ext cx="287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sz="1200" b="1" spc="-15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);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3928" y="5532221"/>
            <a:ext cx="21882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27965" algn="r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}// End of</a:t>
            </a:r>
            <a:r>
              <a:rPr sz="12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Method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}// End of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Class</a:t>
            </a:r>
            <a:r>
              <a:rPr sz="1200" b="1" spc="-25" dirty="0">
                <a:solidFill>
                  <a:srgbClr val="FF0000"/>
                </a:solidFill>
                <a:latin typeface="Arial"/>
                <a:cs typeface="Arial"/>
              </a:rPr>
              <a:t> Test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36342" y="2410586"/>
            <a:ext cx="3858895" cy="1778635"/>
          </a:xfrm>
          <a:custGeom>
            <a:avLst/>
            <a:gdLst/>
            <a:ahLst/>
            <a:cxnLst/>
            <a:rect l="l" t="t" r="r" b="b"/>
            <a:pathLst>
              <a:path w="3858895" h="1778635">
                <a:moveTo>
                  <a:pt x="3847591" y="0"/>
                </a:moveTo>
                <a:lnTo>
                  <a:pt x="3753357" y="43179"/>
                </a:lnTo>
                <a:lnTo>
                  <a:pt x="3764153" y="66675"/>
                </a:lnTo>
                <a:lnTo>
                  <a:pt x="3858386" y="23622"/>
                </a:lnTo>
                <a:lnTo>
                  <a:pt x="3847591" y="0"/>
                </a:lnTo>
                <a:close/>
              </a:path>
              <a:path w="3858895" h="1778635">
                <a:moveTo>
                  <a:pt x="3682746" y="75564"/>
                </a:moveTo>
                <a:lnTo>
                  <a:pt x="3588511" y="118617"/>
                </a:lnTo>
                <a:lnTo>
                  <a:pt x="3599306" y="142239"/>
                </a:lnTo>
                <a:lnTo>
                  <a:pt x="3693541" y="99060"/>
                </a:lnTo>
                <a:lnTo>
                  <a:pt x="3682746" y="75564"/>
                </a:lnTo>
                <a:close/>
              </a:path>
              <a:path w="3858895" h="1778635">
                <a:moveTo>
                  <a:pt x="3517773" y="151002"/>
                </a:moveTo>
                <a:lnTo>
                  <a:pt x="3423538" y="194183"/>
                </a:lnTo>
                <a:lnTo>
                  <a:pt x="3434333" y="217677"/>
                </a:lnTo>
                <a:lnTo>
                  <a:pt x="3528568" y="174498"/>
                </a:lnTo>
                <a:lnTo>
                  <a:pt x="3517773" y="151002"/>
                </a:lnTo>
                <a:close/>
              </a:path>
              <a:path w="3858895" h="1778635">
                <a:moveTo>
                  <a:pt x="3352927" y="226440"/>
                </a:moveTo>
                <a:lnTo>
                  <a:pt x="3258693" y="269621"/>
                </a:lnTo>
                <a:lnTo>
                  <a:pt x="3269487" y="293115"/>
                </a:lnTo>
                <a:lnTo>
                  <a:pt x="3363722" y="250062"/>
                </a:lnTo>
                <a:lnTo>
                  <a:pt x="3352927" y="226440"/>
                </a:lnTo>
                <a:close/>
              </a:path>
              <a:path w="3858895" h="1778635">
                <a:moveTo>
                  <a:pt x="3187954" y="302005"/>
                </a:moveTo>
                <a:lnTo>
                  <a:pt x="3093720" y="345059"/>
                </a:lnTo>
                <a:lnTo>
                  <a:pt x="3104515" y="368680"/>
                </a:lnTo>
                <a:lnTo>
                  <a:pt x="3198748" y="325500"/>
                </a:lnTo>
                <a:lnTo>
                  <a:pt x="3187954" y="302005"/>
                </a:lnTo>
                <a:close/>
              </a:path>
              <a:path w="3858895" h="1778635">
                <a:moveTo>
                  <a:pt x="3023108" y="377443"/>
                </a:moveTo>
                <a:lnTo>
                  <a:pt x="2928873" y="420624"/>
                </a:lnTo>
                <a:lnTo>
                  <a:pt x="2939669" y="444118"/>
                </a:lnTo>
                <a:lnTo>
                  <a:pt x="3033903" y="400938"/>
                </a:lnTo>
                <a:lnTo>
                  <a:pt x="3023108" y="377443"/>
                </a:lnTo>
                <a:close/>
              </a:path>
              <a:path w="3858895" h="1778635">
                <a:moveTo>
                  <a:pt x="2858261" y="452882"/>
                </a:moveTo>
                <a:lnTo>
                  <a:pt x="2764028" y="496062"/>
                </a:lnTo>
                <a:lnTo>
                  <a:pt x="2774696" y="519557"/>
                </a:lnTo>
                <a:lnTo>
                  <a:pt x="2868930" y="476503"/>
                </a:lnTo>
                <a:lnTo>
                  <a:pt x="2858261" y="452882"/>
                </a:lnTo>
                <a:close/>
              </a:path>
              <a:path w="3858895" h="1778635">
                <a:moveTo>
                  <a:pt x="2693288" y="528447"/>
                </a:moveTo>
                <a:lnTo>
                  <a:pt x="2599055" y="571500"/>
                </a:lnTo>
                <a:lnTo>
                  <a:pt x="2609849" y="595122"/>
                </a:lnTo>
                <a:lnTo>
                  <a:pt x="2704084" y="551941"/>
                </a:lnTo>
                <a:lnTo>
                  <a:pt x="2693288" y="528447"/>
                </a:lnTo>
                <a:close/>
              </a:path>
              <a:path w="3858895" h="1778635">
                <a:moveTo>
                  <a:pt x="2528443" y="603885"/>
                </a:moveTo>
                <a:lnTo>
                  <a:pt x="2434209" y="647064"/>
                </a:lnTo>
                <a:lnTo>
                  <a:pt x="2445004" y="670560"/>
                </a:lnTo>
                <a:lnTo>
                  <a:pt x="2539237" y="627507"/>
                </a:lnTo>
                <a:lnTo>
                  <a:pt x="2528443" y="603885"/>
                </a:lnTo>
                <a:close/>
              </a:path>
              <a:path w="3858895" h="1778635">
                <a:moveTo>
                  <a:pt x="2363470" y="679323"/>
                </a:moveTo>
                <a:lnTo>
                  <a:pt x="2269235" y="722502"/>
                </a:lnTo>
                <a:lnTo>
                  <a:pt x="2280031" y="746125"/>
                </a:lnTo>
                <a:lnTo>
                  <a:pt x="2374265" y="702945"/>
                </a:lnTo>
                <a:lnTo>
                  <a:pt x="2363470" y="679323"/>
                </a:lnTo>
                <a:close/>
              </a:path>
              <a:path w="3858895" h="1778635">
                <a:moveTo>
                  <a:pt x="2198623" y="754888"/>
                </a:moveTo>
                <a:lnTo>
                  <a:pt x="2104390" y="797940"/>
                </a:lnTo>
                <a:lnTo>
                  <a:pt x="2115185" y="821563"/>
                </a:lnTo>
                <a:lnTo>
                  <a:pt x="2209419" y="778383"/>
                </a:lnTo>
                <a:lnTo>
                  <a:pt x="2198623" y="754888"/>
                </a:lnTo>
                <a:close/>
              </a:path>
              <a:path w="3858895" h="1778635">
                <a:moveTo>
                  <a:pt x="2033650" y="830326"/>
                </a:moveTo>
                <a:lnTo>
                  <a:pt x="1939417" y="873505"/>
                </a:lnTo>
                <a:lnTo>
                  <a:pt x="1950211" y="897001"/>
                </a:lnTo>
                <a:lnTo>
                  <a:pt x="2044445" y="853948"/>
                </a:lnTo>
                <a:lnTo>
                  <a:pt x="2033650" y="830326"/>
                </a:lnTo>
                <a:close/>
              </a:path>
              <a:path w="3858895" h="1778635">
                <a:moveTo>
                  <a:pt x="1868805" y="905763"/>
                </a:moveTo>
                <a:lnTo>
                  <a:pt x="1774570" y="948943"/>
                </a:lnTo>
                <a:lnTo>
                  <a:pt x="1785366" y="972565"/>
                </a:lnTo>
                <a:lnTo>
                  <a:pt x="1879599" y="929386"/>
                </a:lnTo>
                <a:lnTo>
                  <a:pt x="1868805" y="905763"/>
                </a:lnTo>
                <a:close/>
              </a:path>
              <a:path w="3858895" h="1778635">
                <a:moveTo>
                  <a:pt x="1703832" y="981328"/>
                </a:moveTo>
                <a:lnTo>
                  <a:pt x="1609724" y="1024382"/>
                </a:lnTo>
                <a:lnTo>
                  <a:pt x="1620393" y="1048003"/>
                </a:lnTo>
                <a:lnTo>
                  <a:pt x="1714627" y="1004824"/>
                </a:lnTo>
                <a:lnTo>
                  <a:pt x="1703832" y="981328"/>
                </a:lnTo>
                <a:close/>
              </a:path>
              <a:path w="3858895" h="1778635">
                <a:moveTo>
                  <a:pt x="1538985" y="1056766"/>
                </a:moveTo>
                <a:lnTo>
                  <a:pt x="1444752" y="1099947"/>
                </a:lnTo>
                <a:lnTo>
                  <a:pt x="1455546" y="1123441"/>
                </a:lnTo>
                <a:lnTo>
                  <a:pt x="1549781" y="1080389"/>
                </a:lnTo>
                <a:lnTo>
                  <a:pt x="1538985" y="1056766"/>
                </a:lnTo>
                <a:close/>
              </a:path>
              <a:path w="3858895" h="1778635">
                <a:moveTo>
                  <a:pt x="1374140" y="1132332"/>
                </a:moveTo>
                <a:lnTo>
                  <a:pt x="1279906" y="1175385"/>
                </a:lnTo>
                <a:lnTo>
                  <a:pt x="1290700" y="1199007"/>
                </a:lnTo>
                <a:lnTo>
                  <a:pt x="1384934" y="1155827"/>
                </a:lnTo>
                <a:lnTo>
                  <a:pt x="1374140" y="1132332"/>
                </a:lnTo>
                <a:close/>
              </a:path>
              <a:path w="3858895" h="1778635">
                <a:moveTo>
                  <a:pt x="1209167" y="1207770"/>
                </a:moveTo>
                <a:lnTo>
                  <a:pt x="1114933" y="1250823"/>
                </a:lnTo>
                <a:lnTo>
                  <a:pt x="1125728" y="1274445"/>
                </a:lnTo>
                <a:lnTo>
                  <a:pt x="1219961" y="1231264"/>
                </a:lnTo>
                <a:lnTo>
                  <a:pt x="1209167" y="1207770"/>
                </a:lnTo>
                <a:close/>
              </a:path>
              <a:path w="3858895" h="1778635">
                <a:moveTo>
                  <a:pt x="1044320" y="1283208"/>
                </a:moveTo>
                <a:lnTo>
                  <a:pt x="950086" y="1326388"/>
                </a:lnTo>
                <a:lnTo>
                  <a:pt x="960882" y="1349883"/>
                </a:lnTo>
                <a:lnTo>
                  <a:pt x="1055116" y="1306830"/>
                </a:lnTo>
                <a:lnTo>
                  <a:pt x="1044320" y="1283208"/>
                </a:lnTo>
                <a:close/>
              </a:path>
              <a:path w="3858895" h="1778635">
                <a:moveTo>
                  <a:pt x="879347" y="1358773"/>
                </a:moveTo>
                <a:lnTo>
                  <a:pt x="785113" y="1401826"/>
                </a:lnTo>
                <a:lnTo>
                  <a:pt x="795908" y="1425448"/>
                </a:lnTo>
                <a:lnTo>
                  <a:pt x="890143" y="1382268"/>
                </a:lnTo>
                <a:lnTo>
                  <a:pt x="879347" y="1358773"/>
                </a:lnTo>
                <a:close/>
              </a:path>
              <a:path w="3858895" h="1778635">
                <a:moveTo>
                  <a:pt x="714502" y="1434211"/>
                </a:moveTo>
                <a:lnTo>
                  <a:pt x="620268" y="1477390"/>
                </a:lnTo>
                <a:lnTo>
                  <a:pt x="631062" y="1500886"/>
                </a:lnTo>
                <a:lnTo>
                  <a:pt x="725296" y="1457706"/>
                </a:lnTo>
                <a:lnTo>
                  <a:pt x="714502" y="1434211"/>
                </a:lnTo>
                <a:close/>
              </a:path>
              <a:path w="3858895" h="1778635">
                <a:moveTo>
                  <a:pt x="549529" y="1509649"/>
                </a:moveTo>
                <a:lnTo>
                  <a:pt x="455294" y="1552829"/>
                </a:lnTo>
                <a:lnTo>
                  <a:pt x="466089" y="1576324"/>
                </a:lnTo>
                <a:lnTo>
                  <a:pt x="560323" y="1533270"/>
                </a:lnTo>
                <a:lnTo>
                  <a:pt x="549529" y="1509649"/>
                </a:lnTo>
                <a:close/>
              </a:path>
              <a:path w="3858895" h="1778635">
                <a:moveTo>
                  <a:pt x="384682" y="1585214"/>
                </a:moveTo>
                <a:lnTo>
                  <a:pt x="290449" y="1628267"/>
                </a:lnTo>
                <a:lnTo>
                  <a:pt x="301244" y="1651889"/>
                </a:lnTo>
                <a:lnTo>
                  <a:pt x="395477" y="1608708"/>
                </a:lnTo>
                <a:lnTo>
                  <a:pt x="384682" y="1585214"/>
                </a:lnTo>
                <a:close/>
              </a:path>
              <a:path w="3858895" h="1778635">
                <a:moveTo>
                  <a:pt x="219837" y="1660652"/>
                </a:moveTo>
                <a:lnTo>
                  <a:pt x="125602" y="1703832"/>
                </a:lnTo>
                <a:lnTo>
                  <a:pt x="136397" y="1727327"/>
                </a:lnTo>
                <a:lnTo>
                  <a:pt x="230505" y="1684146"/>
                </a:lnTo>
                <a:lnTo>
                  <a:pt x="219837" y="1660652"/>
                </a:lnTo>
                <a:close/>
              </a:path>
              <a:path w="3858895" h="1778635">
                <a:moveTo>
                  <a:pt x="54482" y="1707769"/>
                </a:moveTo>
                <a:lnTo>
                  <a:pt x="0" y="1775460"/>
                </a:lnTo>
                <a:lnTo>
                  <a:pt x="86868" y="1778508"/>
                </a:lnTo>
                <a:lnTo>
                  <a:pt x="78553" y="1760346"/>
                </a:lnTo>
                <a:lnTo>
                  <a:pt x="64262" y="1760346"/>
                </a:lnTo>
                <a:lnTo>
                  <a:pt x="53466" y="1736725"/>
                </a:lnTo>
                <a:lnTo>
                  <a:pt x="54863" y="1736089"/>
                </a:lnTo>
                <a:lnTo>
                  <a:pt x="67448" y="1736089"/>
                </a:lnTo>
                <a:lnTo>
                  <a:pt x="54482" y="1707769"/>
                </a:lnTo>
                <a:close/>
              </a:path>
              <a:path w="3858895" h="1778635">
                <a:moveTo>
                  <a:pt x="54863" y="1736089"/>
                </a:moveTo>
                <a:lnTo>
                  <a:pt x="53466" y="1736725"/>
                </a:lnTo>
                <a:lnTo>
                  <a:pt x="64262" y="1760346"/>
                </a:lnTo>
                <a:lnTo>
                  <a:pt x="65658" y="1759712"/>
                </a:lnTo>
                <a:lnTo>
                  <a:pt x="54863" y="1736089"/>
                </a:lnTo>
                <a:close/>
              </a:path>
              <a:path w="3858895" h="1778635">
                <a:moveTo>
                  <a:pt x="67448" y="1736089"/>
                </a:moveTo>
                <a:lnTo>
                  <a:pt x="54863" y="1736089"/>
                </a:lnTo>
                <a:lnTo>
                  <a:pt x="65658" y="1759712"/>
                </a:lnTo>
                <a:lnTo>
                  <a:pt x="64262" y="1760346"/>
                </a:lnTo>
                <a:lnTo>
                  <a:pt x="78553" y="1760346"/>
                </a:lnTo>
                <a:lnTo>
                  <a:pt x="67448" y="173608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663308" y="2116073"/>
            <a:ext cx="2326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5305" algn="l"/>
                <a:tab pos="911860" algn="l"/>
                <a:tab pos="1201420" algn="l"/>
              </a:tabLst>
            </a:pP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Call	</a:t>
            </a:r>
            <a:r>
              <a:rPr sz="1800" b="1" spc="-15" dirty="0">
                <a:solidFill>
                  <a:srgbClr val="FF0000"/>
                </a:solidFill>
                <a:latin typeface="Carlito"/>
                <a:cs typeface="Carlito"/>
              </a:rPr>
              <a:t>to	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a	</a:t>
            </a:r>
            <a:r>
              <a:rPr sz="1800" b="1" spc="-10" dirty="0">
                <a:solidFill>
                  <a:srgbClr val="FF0000"/>
                </a:solidFill>
                <a:latin typeface="Carlito"/>
                <a:cs typeface="Carlito"/>
              </a:rPr>
              <a:t>Constructor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63308" y="2390394"/>
            <a:ext cx="2134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Method 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of</a:t>
            </a:r>
            <a:r>
              <a:rPr sz="1800" b="1" spc="-5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super-class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78028" y="5459205"/>
            <a:ext cx="2377716" cy="7330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62223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Extending </a:t>
            </a: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Classes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3600" i="0" spc="-7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Example </a:t>
            </a:r>
            <a:r>
              <a:rPr lang="en-US" sz="3600" i="0" spc="-5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3928" y="2971291"/>
            <a:ext cx="187515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 marL="12700" marR="556895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} </a:t>
            </a:r>
            <a:r>
              <a:rPr sz="1200" b="1" dirty="0">
                <a:latin typeface="Arial"/>
                <a:cs typeface="Arial"/>
              </a:rPr>
              <a:t>// End of class </a:t>
            </a:r>
            <a:r>
              <a:rPr sz="1200" b="1" spc="-5" dirty="0">
                <a:latin typeface="Arial"/>
                <a:cs typeface="Arial"/>
              </a:rPr>
              <a:t>A 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class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 extends</a:t>
            </a:r>
            <a:r>
              <a:rPr sz="1200" b="1" spc="-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B(int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a, int</a:t>
            </a:r>
            <a:r>
              <a:rPr sz="12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b)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8633" y="3885945"/>
            <a:ext cx="85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3928" y="1224533"/>
            <a:ext cx="8338820" cy="1772285"/>
          </a:xfrm>
          <a:prstGeom prst="rect">
            <a:avLst/>
          </a:prstGeom>
        </p:spPr>
        <p:txBody>
          <a:bodyPr vert="horz" wrap="square" lIns="0" tIns="201295" rIns="0" bIns="0" rtlCol="0">
            <a:spAutoFit/>
          </a:bodyPr>
          <a:lstStyle/>
          <a:p>
            <a:pPr marL="314960">
              <a:lnSpc>
                <a:spcPct val="100000"/>
              </a:lnSpc>
              <a:spcBef>
                <a:spcPts val="1585"/>
              </a:spcBef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When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super-class has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only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a Parametrized</a:t>
            </a:r>
            <a:r>
              <a:rPr sz="2400" b="1" spc="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Constructor</a:t>
            </a:r>
            <a:endParaRPr sz="2400">
              <a:latin typeface="Arial"/>
              <a:cs typeface="Arial"/>
            </a:endParaRPr>
          </a:p>
          <a:p>
            <a:pPr marL="12700" marR="6454140">
              <a:lnSpc>
                <a:spcPct val="100000"/>
              </a:lnSpc>
              <a:spcBef>
                <a:spcPts val="745"/>
              </a:spcBef>
            </a:pPr>
            <a:r>
              <a:rPr sz="1200" b="1" dirty="0">
                <a:latin typeface="Arial"/>
                <a:cs typeface="Arial"/>
              </a:rPr>
              <a:t>// File </a:t>
            </a:r>
            <a:r>
              <a:rPr sz="1200" b="1" spc="-5" dirty="0">
                <a:latin typeface="Arial"/>
                <a:cs typeface="Arial"/>
              </a:rPr>
              <a:t>Name </a:t>
            </a:r>
            <a:r>
              <a:rPr sz="1200" b="1" dirty="0">
                <a:latin typeface="Arial"/>
                <a:cs typeface="Arial"/>
              </a:rPr>
              <a:t>: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Sample.java  </a:t>
            </a:r>
            <a:r>
              <a:rPr sz="1200" b="1" dirty="0">
                <a:latin typeface="Arial"/>
                <a:cs typeface="Arial"/>
              </a:rPr>
              <a:t>class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FF0000"/>
                </a:solidFill>
                <a:latin typeface="Arial"/>
                <a:cs typeface="Arial"/>
              </a:rPr>
              <a:t>A(int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x, int</a:t>
            </a:r>
            <a:r>
              <a:rPr sz="1200" b="1" spc="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40" dirty="0">
                <a:solidFill>
                  <a:srgbClr val="FF0000"/>
                </a:solidFill>
                <a:latin typeface="Arial"/>
                <a:cs typeface="Arial"/>
              </a:rPr>
              <a:t>y)</a:t>
            </a:r>
            <a:endParaRPr sz="1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System.out.println("This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constructor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of class</a:t>
            </a:r>
            <a:r>
              <a:rPr sz="1200" b="1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15" dirty="0">
                <a:solidFill>
                  <a:srgbClr val="FF0000"/>
                </a:solidFill>
                <a:latin typeface="Arial"/>
                <a:cs typeface="Arial"/>
              </a:rPr>
              <a:t>A");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7182" y="4005834"/>
            <a:ext cx="1583690" cy="360045"/>
          </a:xfrm>
          <a:prstGeom prst="rect">
            <a:avLst/>
          </a:prstGeom>
          <a:ln w="25907">
            <a:solidFill>
              <a:srgbClr val="FF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595"/>
              </a:spcBef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super(a,b);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3928" y="4434585"/>
            <a:ext cx="562927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System.out.println("This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constructor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of class</a:t>
            </a:r>
            <a:r>
              <a:rPr sz="1200" b="1" spc="10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B");</a:t>
            </a:r>
            <a:endParaRPr sz="1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 marL="12700" marR="4326255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}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// End of class</a:t>
            </a:r>
            <a:r>
              <a:rPr sz="1200" b="1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 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class</a:t>
            </a:r>
            <a:r>
              <a:rPr sz="12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FF0000"/>
                </a:solidFill>
                <a:latin typeface="Arial"/>
                <a:cs typeface="Arial"/>
              </a:rPr>
              <a:t>Test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public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static void main(String[]</a:t>
            </a:r>
            <a:r>
              <a:rPr sz="1200" b="1" spc="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args)</a:t>
            </a:r>
            <a:endParaRPr sz="1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52113" y="5715101"/>
            <a:ext cx="114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66894" y="5715101"/>
            <a:ext cx="322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new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1294" y="5715101"/>
            <a:ext cx="287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sz="1200" b="1" spc="-15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);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08633" y="5715101"/>
            <a:ext cx="2032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100"/>
              </a:spcBef>
              <a:tabLst>
                <a:tab pos="1841500" algn="l"/>
              </a:tabLst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	b1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}// End of</a:t>
            </a:r>
            <a:r>
              <a:rPr sz="12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Method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3928" y="6080861"/>
            <a:ext cx="14814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}// End of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Class</a:t>
            </a:r>
            <a:r>
              <a:rPr sz="1200" b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FF0000"/>
                </a:solidFill>
                <a:latin typeface="Arial"/>
                <a:cs typeface="Arial"/>
              </a:rPr>
              <a:t>Test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17951" y="3336290"/>
            <a:ext cx="3056255" cy="682625"/>
          </a:xfrm>
          <a:custGeom>
            <a:avLst/>
            <a:gdLst/>
            <a:ahLst/>
            <a:cxnLst/>
            <a:rect l="l" t="t" r="r" b="b"/>
            <a:pathLst>
              <a:path w="3056254" h="682625">
                <a:moveTo>
                  <a:pt x="101346" y="635762"/>
                </a:moveTo>
                <a:lnTo>
                  <a:pt x="0" y="657225"/>
                </a:lnTo>
                <a:lnTo>
                  <a:pt x="5334" y="682625"/>
                </a:lnTo>
                <a:lnTo>
                  <a:pt x="106679" y="661035"/>
                </a:lnTo>
                <a:lnTo>
                  <a:pt x="101346" y="635762"/>
                </a:lnTo>
                <a:close/>
              </a:path>
              <a:path w="3056254" h="682625">
                <a:moveTo>
                  <a:pt x="278764" y="598043"/>
                </a:moveTo>
                <a:lnTo>
                  <a:pt x="177419" y="619633"/>
                </a:lnTo>
                <a:lnTo>
                  <a:pt x="182752" y="644906"/>
                </a:lnTo>
                <a:lnTo>
                  <a:pt x="284099" y="623443"/>
                </a:lnTo>
                <a:lnTo>
                  <a:pt x="278764" y="598043"/>
                </a:lnTo>
                <a:close/>
              </a:path>
              <a:path w="3056254" h="682625">
                <a:moveTo>
                  <a:pt x="456184" y="560451"/>
                </a:moveTo>
                <a:lnTo>
                  <a:pt x="354838" y="581914"/>
                </a:lnTo>
                <a:lnTo>
                  <a:pt x="360172" y="607314"/>
                </a:lnTo>
                <a:lnTo>
                  <a:pt x="461518" y="585724"/>
                </a:lnTo>
                <a:lnTo>
                  <a:pt x="456184" y="560451"/>
                </a:lnTo>
                <a:close/>
              </a:path>
              <a:path w="3056254" h="682625">
                <a:moveTo>
                  <a:pt x="633602" y="522732"/>
                </a:moveTo>
                <a:lnTo>
                  <a:pt x="532129" y="544322"/>
                </a:lnTo>
                <a:lnTo>
                  <a:pt x="537590" y="569595"/>
                </a:lnTo>
                <a:lnTo>
                  <a:pt x="638937" y="548132"/>
                </a:lnTo>
                <a:lnTo>
                  <a:pt x="633602" y="522732"/>
                </a:lnTo>
                <a:close/>
              </a:path>
              <a:path w="3056254" h="682625">
                <a:moveTo>
                  <a:pt x="811022" y="485140"/>
                </a:moveTo>
                <a:lnTo>
                  <a:pt x="709549" y="506603"/>
                </a:lnTo>
                <a:lnTo>
                  <a:pt x="715010" y="532003"/>
                </a:lnTo>
                <a:lnTo>
                  <a:pt x="816356" y="510413"/>
                </a:lnTo>
                <a:lnTo>
                  <a:pt x="811022" y="485140"/>
                </a:lnTo>
                <a:close/>
              </a:path>
              <a:path w="3056254" h="682625">
                <a:moveTo>
                  <a:pt x="988313" y="447421"/>
                </a:moveTo>
                <a:lnTo>
                  <a:pt x="886968" y="469011"/>
                </a:lnTo>
                <a:lnTo>
                  <a:pt x="892428" y="494284"/>
                </a:lnTo>
                <a:lnTo>
                  <a:pt x="993775" y="472821"/>
                </a:lnTo>
                <a:lnTo>
                  <a:pt x="988313" y="447421"/>
                </a:lnTo>
                <a:close/>
              </a:path>
              <a:path w="3056254" h="682625">
                <a:moveTo>
                  <a:pt x="1165733" y="409829"/>
                </a:moveTo>
                <a:lnTo>
                  <a:pt x="1064387" y="431292"/>
                </a:lnTo>
                <a:lnTo>
                  <a:pt x="1069721" y="456692"/>
                </a:lnTo>
                <a:lnTo>
                  <a:pt x="1171194" y="435102"/>
                </a:lnTo>
                <a:lnTo>
                  <a:pt x="1165733" y="409829"/>
                </a:lnTo>
                <a:close/>
              </a:path>
              <a:path w="3056254" h="682625">
                <a:moveTo>
                  <a:pt x="1343152" y="372110"/>
                </a:moveTo>
                <a:lnTo>
                  <a:pt x="1241806" y="393700"/>
                </a:lnTo>
                <a:lnTo>
                  <a:pt x="1247139" y="418973"/>
                </a:lnTo>
                <a:lnTo>
                  <a:pt x="1348613" y="397510"/>
                </a:lnTo>
                <a:lnTo>
                  <a:pt x="1343152" y="372110"/>
                </a:lnTo>
                <a:close/>
              </a:path>
              <a:path w="3056254" h="682625">
                <a:moveTo>
                  <a:pt x="1520571" y="334518"/>
                </a:moveTo>
                <a:lnTo>
                  <a:pt x="1419225" y="355981"/>
                </a:lnTo>
                <a:lnTo>
                  <a:pt x="1424559" y="381381"/>
                </a:lnTo>
                <a:lnTo>
                  <a:pt x="1525904" y="359791"/>
                </a:lnTo>
                <a:lnTo>
                  <a:pt x="1520571" y="334518"/>
                </a:lnTo>
                <a:close/>
              </a:path>
              <a:path w="3056254" h="682625">
                <a:moveTo>
                  <a:pt x="1697989" y="296799"/>
                </a:moveTo>
                <a:lnTo>
                  <a:pt x="1596644" y="318389"/>
                </a:lnTo>
                <a:lnTo>
                  <a:pt x="1601977" y="343662"/>
                </a:lnTo>
                <a:lnTo>
                  <a:pt x="1703324" y="322199"/>
                </a:lnTo>
                <a:lnTo>
                  <a:pt x="1697989" y="296799"/>
                </a:lnTo>
                <a:close/>
              </a:path>
              <a:path w="3056254" h="682625">
                <a:moveTo>
                  <a:pt x="1875409" y="259207"/>
                </a:moveTo>
                <a:lnTo>
                  <a:pt x="1774063" y="280670"/>
                </a:lnTo>
                <a:lnTo>
                  <a:pt x="1779397" y="306070"/>
                </a:lnTo>
                <a:lnTo>
                  <a:pt x="1880743" y="284480"/>
                </a:lnTo>
                <a:lnTo>
                  <a:pt x="1875409" y="259207"/>
                </a:lnTo>
                <a:close/>
              </a:path>
              <a:path w="3056254" h="682625">
                <a:moveTo>
                  <a:pt x="2052827" y="221487"/>
                </a:moveTo>
                <a:lnTo>
                  <a:pt x="1951354" y="243077"/>
                </a:lnTo>
                <a:lnTo>
                  <a:pt x="1956815" y="268350"/>
                </a:lnTo>
                <a:lnTo>
                  <a:pt x="2058162" y="246887"/>
                </a:lnTo>
                <a:lnTo>
                  <a:pt x="2052827" y="221487"/>
                </a:lnTo>
                <a:close/>
              </a:path>
              <a:path w="3056254" h="682625">
                <a:moveTo>
                  <a:pt x="2230247" y="183896"/>
                </a:moveTo>
                <a:lnTo>
                  <a:pt x="2128774" y="205359"/>
                </a:lnTo>
                <a:lnTo>
                  <a:pt x="2134235" y="230759"/>
                </a:lnTo>
                <a:lnTo>
                  <a:pt x="2235581" y="209169"/>
                </a:lnTo>
                <a:lnTo>
                  <a:pt x="2230247" y="183896"/>
                </a:lnTo>
                <a:close/>
              </a:path>
              <a:path w="3056254" h="682625">
                <a:moveTo>
                  <a:pt x="2407539" y="146176"/>
                </a:moveTo>
                <a:lnTo>
                  <a:pt x="2306193" y="167767"/>
                </a:lnTo>
                <a:lnTo>
                  <a:pt x="2311654" y="193039"/>
                </a:lnTo>
                <a:lnTo>
                  <a:pt x="2413000" y="171576"/>
                </a:lnTo>
                <a:lnTo>
                  <a:pt x="2407539" y="146176"/>
                </a:lnTo>
                <a:close/>
              </a:path>
              <a:path w="3056254" h="682625">
                <a:moveTo>
                  <a:pt x="2584958" y="108585"/>
                </a:moveTo>
                <a:lnTo>
                  <a:pt x="2483612" y="130048"/>
                </a:lnTo>
                <a:lnTo>
                  <a:pt x="2488946" y="155448"/>
                </a:lnTo>
                <a:lnTo>
                  <a:pt x="2590419" y="133858"/>
                </a:lnTo>
                <a:lnTo>
                  <a:pt x="2584958" y="108585"/>
                </a:lnTo>
                <a:close/>
              </a:path>
              <a:path w="3056254" h="682625">
                <a:moveTo>
                  <a:pt x="2762377" y="70865"/>
                </a:moveTo>
                <a:lnTo>
                  <a:pt x="2661031" y="92456"/>
                </a:lnTo>
                <a:lnTo>
                  <a:pt x="2666365" y="117729"/>
                </a:lnTo>
                <a:lnTo>
                  <a:pt x="2767838" y="96265"/>
                </a:lnTo>
                <a:lnTo>
                  <a:pt x="2762377" y="70865"/>
                </a:lnTo>
                <a:close/>
              </a:path>
              <a:path w="3056254" h="682625">
                <a:moveTo>
                  <a:pt x="2939796" y="33274"/>
                </a:moveTo>
                <a:lnTo>
                  <a:pt x="2838450" y="54737"/>
                </a:lnTo>
                <a:lnTo>
                  <a:pt x="2843784" y="80137"/>
                </a:lnTo>
                <a:lnTo>
                  <a:pt x="2945129" y="58547"/>
                </a:lnTo>
                <a:lnTo>
                  <a:pt x="2939796" y="33274"/>
                </a:lnTo>
                <a:close/>
              </a:path>
              <a:path w="3056254" h="682625">
                <a:moveTo>
                  <a:pt x="2971800" y="0"/>
                </a:moveTo>
                <a:lnTo>
                  <a:pt x="2987929" y="75946"/>
                </a:lnTo>
                <a:lnTo>
                  <a:pt x="3055874" y="21844"/>
                </a:lnTo>
                <a:lnTo>
                  <a:pt x="29718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502400" y="2885947"/>
            <a:ext cx="2614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8305" algn="l"/>
                <a:tab pos="1515110" algn="l"/>
              </a:tabLst>
            </a:pP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A	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sub-class	</a:t>
            </a:r>
            <a:r>
              <a:rPr sz="1800" b="1" spc="-10" dirty="0">
                <a:solidFill>
                  <a:srgbClr val="FF0000"/>
                </a:solidFill>
                <a:latin typeface="Carlito"/>
                <a:cs typeface="Carlito"/>
              </a:rPr>
              <a:t>constructor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02400" y="3160267"/>
            <a:ext cx="26130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rlito"/>
                <a:cs typeface="Carlito"/>
              </a:rPr>
              <a:t>must call 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a </a:t>
            </a:r>
            <a:r>
              <a:rPr sz="1800" b="1" spc="-15" dirty="0">
                <a:solidFill>
                  <a:srgbClr val="FF0000"/>
                </a:solidFill>
                <a:latin typeface="Carlito"/>
                <a:cs typeface="Carlito"/>
              </a:rPr>
              <a:t>parameterized 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constructor 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of</a:t>
            </a:r>
            <a:r>
              <a:rPr sz="1800" b="1" spc="-5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super-class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98751" y="6199123"/>
            <a:ext cx="7419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heavy" spc="-1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Carlito"/>
                <a:cs typeface="Carlito"/>
              </a:rPr>
              <a:t>Note </a:t>
            </a:r>
            <a:r>
              <a:rPr sz="1800" b="1" u="heavy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Carlito"/>
                <a:cs typeface="Carlito"/>
              </a:rPr>
              <a:t>: </a:t>
            </a:r>
            <a:r>
              <a:rPr sz="1800" b="1" u="heavy" spc="-5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Carlito"/>
                <a:cs typeface="Carlito"/>
              </a:rPr>
              <a:t>super() </a:t>
            </a:r>
            <a:r>
              <a:rPr sz="1800" b="1" u="heavy" spc="-15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Carlito"/>
                <a:cs typeface="Carlito"/>
              </a:rPr>
              <a:t>statement </a:t>
            </a:r>
            <a:r>
              <a:rPr sz="1800" b="1" u="heavy" spc="-10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Carlito"/>
                <a:cs typeface="Carlito"/>
              </a:rPr>
              <a:t>must </a:t>
            </a:r>
            <a:r>
              <a:rPr sz="1800" b="1" u="heavy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Carlito"/>
                <a:cs typeface="Carlito"/>
              </a:rPr>
              <a:t>be the </a:t>
            </a:r>
            <a:r>
              <a:rPr sz="1800" b="1" u="heavy" spc="-15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Carlito"/>
                <a:cs typeface="Carlito"/>
              </a:rPr>
              <a:t>first statement </a:t>
            </a:r>
            <a:r>
              <a:rPr sz="1800" b="1" u="heavy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Carlito"/>
                <a:cs typeface="Carlito"/>
              </a:rPr>
              <a:t>in a </a:t>
            </a:r>
            <a:r>
              <a:rPr sz="1800" b="1" u="heavy" spc="-5" dirty="0">
                <a:solidFill>
                  <a:srgbClr val="00AF50"/>
                </a:solidFill>
                <a:uFill>
                  <a:solidFill>
                    <a:srgbClr val="00AF50"/>
                  </a:solidFill>
                </a:uFill>
                <a:latin typeface="Carlito"/>
                <a:cs typeface="Carlito"/>
              </a:rPr>
              <a:t>sub-class constructor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6224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Extending </a:t>
            </a: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Classes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3600" i="0" spc="-7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Example </a:t>
            </a:r>
            <a:r>
              <a:rPr lang="en-US" sz="3600" i="0" spc="-140" dirty="0">
                <a:solidFill>
                  <a:srgbClr val="000000"/>
                </a:solidFill>
                <a:latin typeface="Arial"/>
                <a:cs typeface="Arial"/>
              </a:rPr>
              <a:t>3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3928" y="1224533"/>
            <a:ext cx="7162165" cy="3784600"/>
          </a:xfrm>
          <a:prstGeom prst="rect">
            <a:avLst/>
          </a:prstGeom>
        </p:spPr>
        <p:txBody>
          <a:bodyPr vert="horz" wrap="square" lIns="0" tIns="201295" rIns="0" bIns="0" rtlCol="0">
            <a:spAutoFit/>
          </a:bodyPr>
          <a:lstStyle/>
          <a:p>
            <a:pPr marL="1492885">
              <a:lnSpc>
                <a:spcPct val="100000"/>
              </a:lnSpc>
              <a:spcBef>
                <a:spcPts val="1585"/>
              </a:spcBef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‘final’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classes cannot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have</a:t>
            </a:r>
            <a:r>
              <a:rPr sz="2400" b="1" spc="-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sub-classes</a:t>
            </a:r>
            <a:endParaRPr sz="2400">
              <a:latin typeface="Arial"/>
              <a:cs typeface="Arial"/>
            </a:endParaRPr>
          </a:p>
          <a:p>
            <a:pPr marL="12700" marR="5277485">
              <a:lnSpc>
                <a:spcPct val="100000"/>
              </a:lnSpc>
              <a:spcBef>
                <a:spcPts val="745"/>
              </a:spcBef>
            </a:pPr>
            <a:r>
              <a:rPr sz="1200" b="1" dirty="0">
                <a:latin typeface="Arial"/>
                <a:cs typeface="Arial"/>
              </a:rPr>
              <a:t>// File </a:t>
            </a:r>
            <a:r>
              <a:rPr sz="1200" b="1" spc="-5" dirty="0">
                <a:latin typeface="Arial"/>
                <a:cs typeface="Arial"/>
              </a:rPr>
              <a:t>Name </a:t>
            </a:r>
            <a:r>
              <a:rPr sz="1200" b="1" dirty="0">
                <a:latin typeface="Arial"/>
                <a:cs typeface="Arial"/>
              </a:rPr>
              <a:t>: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Sample.java  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final class</a:t>
            </a:r>
            <a:r>
              <a:rPr sz="1200" b="1" spc="-7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006FC0"/>
                </a:solidFill>
                <a:latin typeface="Arial"/>
                <a:cs typeface="Arial"/>
              </a:rPr>
              <a:t>A(int 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x, int</a:t>
            </a:r>
            <a:r>
              <a:rPr sz="1200" b="1" spc="6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spc="-40" dirty="0">
                <a:solidFill>
                  <a:srgbClr val="006FC0"/>
                </a:solidFill>
                <a:latin typeface="Arial"/>
                <a:cs typeface="Arial"/>
              </a:rPr>
              <a:t>y)</a:t>
            </a:r>
            <a:endParaRPr sz="1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200" b="1" spc="-5" dirty="0">
                <a:solidFill>
                  <a:srgbClr val="006FC0"/>
                </a:solidFill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</a:pPr>
            <a:r>
              <a:rPr sz="1200" b="1" spc="-5" dirty="0">
                <a:solidFill>
                  <a:srgbClr val="006FC0"/>
                </a:solidFill>
                <a:latin typeface="Arial"/>
                <a:cs typeface="Arial"/>
              </a:rPr>
              <a:t>System.out.println("This 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is </a:t>
            </a:r>
            <a:r>
              <a:rPr sz="1200" b="1" spc="-5" dirty="0">
                <a:solidFill>
                  <a:srgbClr val="006FC0"/>
                </a:solidFill>
                <a:latin typeface="Arial"/>
                <a:cs typeface="Arial"/>
              </a:rPr>
              <a:t>constructor 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of class</a:t>
            </a:r>
            <a:r>
              <a:rPr sz="1200" b="1" spc="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spc="-15" dirty="0">
                <a:solidFill>
                  <a:srgbClr val="006FC0"/>
                </a:solidFill>
                <a:latin typeface="Arial"/>
                <a:cs typeface="Arial"/>
              </a:rPr>
              <a:t>A");</a:t>
            </a:r>
            <a:endParaRPr sz="1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200" b="1" spc="-5" dirty="0">
                <a:solidFill>
                  <a:srgbClr val="006FC0"/>
                </a:solidFill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 marL="12700" marR="5845175">
              <a:lnSpc>
                <a:spcPct val="100000"/>
              </a:lnSpc>
            </a:pPr>
            <a:r>
              <a:rPr sz="1200" b="1" spc="-5" dirty="0">
                <a:solidFill>
                  <a:srgbClr val="006FC0"/>
                </a:solidFill>
                <a:latin typeface="Arial"/>
                <a:cs typeface="Arial"/>
              </a:rPr>
              <a:t>} 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// End of class </a:t>
            </a:r>
            <a:r>
              <a:rPr sz="1200" b="1" spc="-5" dirty="0">
                <a:solidFill>
                  <a:srgbClr val="006FC0"/>
                </a:solidFill>
                <a:latin typeface="Arial"/>
                <a:cs typeface="Arial"/>
              </a:rPr>
              <a:t>A 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class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 extends</a:t>
            </a:r>
            <a:r>
              <a:rPr sz="1200" b="1" spc="-1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B(int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a, int</a:t>
            </a:r>
            <a:r>
              <a:rPr sz="1200" b="1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b)</a:t>
            </a:r>
            <a:endParaRPr sz="1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super(a,b);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System.out.println("This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constructor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of class</a:t>
            </a:r>
            <a:r>
              <a:rPr sz="1200" b="1" spc="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B");</a:t>
            </a:r>
            <a:endParaRPr sz="12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}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// End of class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 B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7076" y="5675782"/>
            <a:ext cx="73094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5" dirty="0">
                <a:solidFill>
                  <a:srgbClr val="FF0000"/>
                </a:solidFill>
                <a:latin typeface="Arial Black"/>
                <a:cs typeface="Arial Black"/>
              </a:rPr>
              <a:t>The </a:t>
            </a:r>
            <a:r>
              <a:rPr sz="2400" dirty="0">
                <a:solidFill>
                  <a:srgbClr val="FF0000"/>
                </a:solidFill>
                <a:latin typeface="Arial Black"/>
                <a:cs typeface="Arial Black"/>
              </a:rPr>
              <a:t>Code </a:t>
            </a:r>
            <a:r>
              <a:rPr sz="2400" spc="20" dirty="0">
                <a:solidFill>
                  <a:srgbClr val="FF0000"/>
                </a:solidFill>
                <a:latin typeface="Arial Black"/>
                <a:cs typeface="Arial Black"/>
              </a:rPr>
              <a:t>Will </a:t>
            </a:r>
            <a:r>
              <a:rPr sz="2400" spc="-15" dirty="0">
                <a:solidFill>
                  <a:srgbClr val="FF0000"/>
                </a:solidFill>
                <a:latin typeface="Arial Black"/>
                <a:cs typeface="Arial Black"/>
              </a:rPr>
              <a:t>Result </a:t>
            </a:r>
            <a:r>
              <a:rPr sz="2400" dirty="0">
                <a:solidFill>
                  <a:srgbClr val="FF0000"/>
                </a:solidFill>
                <a:latin typeface="Arial Black"/>
                <a:cs typeface="Arial Black"/>
              </a:rPr>
              <a:t>in Compile-Time</a:t>
            </a:r>
            <a:r>
              <a:rPr sz="2400" spc="-110" dirty="0">
                <a:solidFill>
                  <a:srgbClr val="FF0000"/>
                </a:solidFill>
                <a:latin typeface="Arial Black"/>
                <a:cs typeface="Arial Black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Arial Black"/>
                <a:cs typeface="Arial Black"/>
              </a:rPr>
              <a:t>Error.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488770"/>
            <a:ext cx="8409940" cy="1337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0F1141"/>
              </a:buClr>
              <a:buChar char="•"/>
              <a:tabLst>
                <a:tab pos="354965" algn="l"/>
                <a:tab pos="355600" algn="l"/>
              </a:tabLst>
            </a:pPr>
            <a:r>
              <a:rPr sz="2000" spc="5" dirty="0">
                <a:solidFill>
                  <a:srgbClr val="FF0000"/>
                </a:solidFill>
                <a:latin typeface="Arial"/>
                <a:cs typeface="Arial"/>
              </a:rPr>
              <a:t>‘super’ </a:t>
            </a:r>
            <a:r>
              <a:rPr sz="2000" dirty="0">
                <a:latin typeface="Arial"/>
                <a:cs typeface="Arial"/>
              </a:rPr>
              <a:t>Java keyword primarily used for two</a:t>
            </a:r>
            <a:r>
              <a:rPr sz="2000" spc="-2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purposes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 dirty="0">
              <a:latin typeface="Arial"/>
              <a:cs typeface="Arial"/>
            </a:endParaRPr>
          </a:p>
          <a:p>
            <a:pPr marL="501650" marR="5080" indent="-489584">
              <a:lnSpc>
                <a:spcPct val="110000"/>
              </a:lnSpc>
              <a:tabLst>
                <a:tab pos="469265" algn="l"/>
              </a:tabLst>
            </a:pPr>
            <a:r>
              <a:rPr sz="2000" dirty="0">
                <a:solidFill>
                  <a:srgbClr val="0F1141"/>
                </a:solidFill>
                <a:latin typeface="Arial"/>
                <a:cs typeface="Arial"/>
              </a:rPr>
              <a:t>1.	</a:t>
            </a:r>
            <a:r>
              <a:rPr sz="2000" spc="-110" dirty="0">
                <a:latin typeface="Arial"/>
                <a:cs typeface="Arial"/>
              </a:rPr>
              <a:t>To </a:t>
            </a:r>
            <a:r>
              <a:rPr sz="2000" dirty="0">
                <a:latin typeface="Arial"/>
                <a:cs typeface="Arial"/>
              </a:rPr>
              <a:t>Call constructor method of </a:t>
            </a:r>
            <a:r>
              <a:rPr sz="2000" spc="-5" dirty="0">
                <a:latin typeface="Arial"/>
                <a:cs typeface="Arial"/>
              </a:rPr>
              <a:t>super-class </a:t>
            </a:r>
            <a:r>
              <a:rPr sz="2000" dirty="0">
                <a:latin typeface="Arial"/>
                <a:cs typeface="Arial"/>
              </a:rPr>
              <a:t>from a sub-class constructor  </a:t>
            </a:r>
            <a:r>
              <a:rPr sz="2000" spc="-5" dirty="0">
                <a:latin typeface="Arial"/>
                <a:cs typeface="Arial"/>
              </a:rPr>
              <a:t>Syntax: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3048" y="2830144"/>
            <a:ext cx="13944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37515" algn="l"/>
              </a:tabLst>
            </a:pPr>
            <a:r>
              <a:rPr sz="2000" dirty="0">
                <a:latin typeface="Arial"/>
                <a:cs typeface="Arial"/>
              </a:rPr>
              <a:t>(i)	super()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;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27375" y="2881960"/>
            <a:ext cx="53117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// if super-class has only one un-parameterized</a:t>
            </a:r>
            <a:r>
              <a:rPr sz="1600" spc="13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constructor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3166110"/>
            <a:ext cx="8490585" cy="2556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1650">
              <a:lnSpc>
                <a:spcPct val="100000"/>
              </a:lnSpc>
              <a:spcBef>
                <a:spcPts val="105"/>
              </a:spcBef>
              <a:tabLst>
                <a:tab pos="924560" algn="l"/>
              </a:tabLst>
            </a:pPr>
            <a:r>
              <a:rPr sz="2000" dirty="0">
                <a:latin typeface="Arial"/>
                <a:cs typeface="Arial"/>
              </a:rPr>
              <a:t>(ii)	</a:t>
            </a:r>
            <a:r>
              <a:rPr sz="2000" spc="-5" dirty="0">
                <a:latin typeface="Arial"/>
                <a:cs typeface="Arial"/>
              </a:rPr>
              <a:t>super(&lt;parameters&gt;); </a:t>
            </a:r>
            <a:r>
              <a:rPr sz="2000" dirty="0">
                <a:latin typeface="Arial"/>
                <a:cs typeface="Arial"/>
              </a:rPr>
              <a:t>// </a:t>
            </a:r>
            <a:r>
              <a:rPr sz="1600" spc="-5" dirty="0">
                <a:latin typeface="Arial"/>
                <a:cs typeface="Arial"/>
              </a:rPr>
              <a:t>if super-class has only one parameterized</a:t>
            </a:r>
            <a:r>
              <a:rPr sz="1600" spc="10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constructor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00">
              <a:latin typeface="Arial"/>
              <a:cs typeface="Arial"/>
            </a:endParaRPr>
          </a:p>
          <a:p>
            <a:pPr marL="469900" marR="187960" indent="-457200" algn="just">
              <a:lnSpc>
                <a:spcPts val="2160"/>
              </a:lnSpc>
              <a:buClr>
                <a:srgbClr val="0F1141"/>
              </a:buClr>
              <a:buAutoNum type="arabicPeriod" startAt="2"/>
              <a:tabLst>
                <a:tab pos="469900" algn="l"/>
              </a:tabLst>
            </a:pPr>
            <a:r>
              <a:rPr sz="2000" spc="-110" dirty="0">
                <a:latin typeface="Arial"/>
                <a:cs typeface="Arial"/>
              </a:rPr>
              <a:t>To </a:t>
            </a:r>
            <a:r>
              <a:rPr sz="2000" dirty="0">
                <a:latin typeface="Arial"/>
                <a:cs typeface="Arial"/>
              </a:rPr>
              <a:t>call a method of super-class in a sub-class method or to access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  instance field of super-class in sub-class especially when their names  are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similar</a:t>
            </a:r>
            <a:endParaRPr sz="200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210"/>
              </a:spcBef>
            </a:pPr>
            <a:r>
              <a:rPr sz="2000" spc="-5" dirty="0">
                <a:latin typeface="Arial"/>
                <a:cs typeface="Arial"/>
              </a:rPr>
              <a:t>Syntax:</a:t>
            </a:r>
            <a:endParaRPr sz="2000">
              <a:latin typeface="Arial"/>
              <a:cs typeface="Arial"/>
            </a:endParaRPr>
          </a:p>
          <a:p>
            <a:pPr marL="927100" lvl="1" indent="-426084">
              <a:lnSpc>
                <a:spcPct val="100000"/>
              </a:lnSpc>
              <a:spcBef>
                <a:spcPts val="240"/>
              </a:spcBef>
              <a:buAutoNum type="romanLcParenBoth"/>
              <a:tabLst>
                <a:tab pos="927100" algn="l"/>
                <a:tab pos="927735" algn="l"/>
              </a:tabLst>
            </a:pPr>
            <a:r>
              <a:rPr sz="2000" spc="-5" dirty="0">
                <a:latin typeface="Arial"/>
                <a:cs typeface="Arial"/>
              </a:rPr>
              <a:t>super.&lt;super-class-method()&gt;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;</a:t>
            </a:r>
            <a:endParaRPr sz="2000">
              <a:latin typeface="Arial"/>
              <a:cs typeface="Arial"/>
            </a:endParaRPr>
          </a:p>
          <a:p>
            <a:pPr marL="923925" lvl="1" indent="-422909">
              <a:lnSpc>
                <a:spcPct val="100000"/>
              </a:lnSpc>
              <a:spcBef>
                <a:spcPts val="240"/>
              </a:spcBef>
              <a:buAutoNum type="romanLcParenBoth"/>
              <a:tabLst>
                <a:tab pos="923925" algn="l"/>
                <a:tab pos="924560" algn="l"/>
              </a:tabLst>
            </a:pPr>
            <a:r>
              <a:rPr sz="2000" spc="-5" dirty="0">
                <a:latin typeface="Arial"/>
                <a:cs typeface="Arial"/>
              </a:rPr>
              <a:t>super.&lt;super-class-instance-field&gt;;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46189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Role </a:t>
            </a:r>
            <a:r>
              <a:rPr sz="3600" i="0" spc="-80" dirty="0">
                <a:solidFill>
                  <a:srgbClr val="000000"/>
                </a:solidFill>
                <a:latin typeface="Arial"/>
                <a:cs typeface="Arial"/>
              </a:rPr>
              <a:t>of </a:t>
            </a: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super</a:t>
            </a:r>
            <a:r>
              <a:rPr sz="3600" i="0" spc="-7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Keyword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5156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Role</a:t>
            </a:r>
            <a:r>
              <a:rPr sz="3600" i="0" spc="-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8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3600" i="0" spc="-3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super</a:t>
            </a:r>
            <a:r>
              <a:rPr sz="3600" i="0" spc="-2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3600" i="0" spc="-3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Example</a:t>
            </a:r>
            <a:r>
              <a:rPr sz="3600" i="0" spc="-2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5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6334" y="1369567"/>
            <a:ext cx="178117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47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// File </a:t>
            </a:r>
            <a:r>
              <a:rPr sz="1200" b="1" spc="-5" dirty="0">
                <a:latin typeface="Arial"/>
                <a:cs typeface="Arial"/>
              </a:rPr>
              <a:t>Name </a:t>
            </a:r>
            <a:r>
              <a:rPr sz="1200" b="1" dirty="0">
                <a:latin typeface="Arial"/>
                <a:cs typeface="Arial"/>
              </a:rPr>
              <a:t>: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XYZ.java  </a:t>
            </a:r>
            <a:r>
              <a:rPr sz="1200" b="1" dirty="0">
                <a:latin typeface="Arial"/>
                <a:cs typeface="Arial"/>
              </a:rPr>
              <a:t>class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{</a:t>
            </a:r>
            <a:endParaRPr sz="1200" dirty="0">
              <a:latin typeface="Arial"/>
              <a:cs typeface="Arial"/>
            </a:endParaRPr>
          </a:p>
          <a:p>
            <a:pPr marL="182880">
              <a:lnSpc>
                <a:spcPct val="100000"/>
              </a:lnSpc>
            </a:pPr>
            <a:r>
              <a:rPr sz="1200" b="1" spc="-5" dirty="0">
                <a:solidFill>
                  <a:srgbClr val="0000FF"/>
                </a:solidFill>
                <a:latin typeface="Arial"/>
                <a:cs typeface="Arial"/>
              </a:rPr>
              <a:t>private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1200" b="1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a;</a:t>
            </a:r>
            <a:endParaRPr sz="1200" dirty="0">
              <a:latin typeface="Arial"/>
              <a:cs typeface="Arial"/>
            </a:endParaRPr>
          </a:p>
          <a:p>
            <a:pPr marL="178435" marR="5080" indent="4445">
              <a:lnSpc>
                <a:spcPct val="100000"/>
              </a:lnSpc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//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Constructor Method  </a:t>
            </a:r>
            <a:r>
              <a:rPr sz="1200" b="1" spc="-25" dirty="0">
                <a:solidFill>
                  <a:srgbClr val="FF0000"/>
                </a:solidFill>
                <a:latin typeface="Arial"/>
                <a:cs typeface="Arial"/>
              </a:rPr>
              <a:t>A(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int</a:t>
            </a:r>
            <a:r>
              <a:rPr sz="1200" b="1" spc="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a)</a:t>
            </a:r>
            <a:endParaRPr sz="1200" dirty="0">
              <a:latin typeface="Arial"/>
              <a:cs typeface="Arial"/>
            </a:endParaRPr>
          </a:p>
          <a:p>
            <a:pPr marL="182880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200" dirty="0">
              <a:latin typeface="Arial"/>
              <a:cs typeface="Arial"/>
            </a:endParaRPr>
          </a:p>
          <a:p>
            <a:pPr marL="312420">
              <a:lnSpc>
                <a:spcPct val="100000"/>
              </a:lnSpc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this.a</a:t>
            </a:r>
            <a:r>
              <a:rPr sz="12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=a;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15489" y="1917903"/>
            <a:ext cx="11379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//</a:t>
            </a:r>
            <a:r>
              <a:rPr sz="1200" b="1" spc="-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instance-field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3890" y="2832861"/>
            <a:ext cx="378650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System.out.println("This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constructor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of class</a:t>
            </a:r>
            <a:r>
              <a:rPr sz="1200" b="1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15" dirty="0">
                <a:solidFill>
                  <a:srgbClr val="FF0000"/>
                </a:solidFill>
                <a:latin typeface="Arial"/>
                <a:cs typeface="Arial"/>
              </a:rPr>
              <a:t>A");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7022" y="3015741"/>
            <a:ext cx="16465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}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// End of</a:t>
            </a:r>
            <a:r>
              <a:rPr sz="12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Constructor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C0504D"/>
                </a:solidFill>
                <a:latin typeface="Arial"/>
                <a:cs typeface="Arial"/>
              </a:rPr>
              <a:t>// print</a:t>
            </a:r>
            <a:r>
              <a:rPr sz="1200" b="1" spc="1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Method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void</a:t>
            </a:r>
            <a:r>
              <a:rPr sz="1200" b="1" spc="3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print()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{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6562" y="3747642"/>
            <a:ext cx="2003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System.out.println("a="+a);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4350" y="3930522"/>
            <a:ext cx="13589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} </a:t>
            </a:r>
            <a:r>
              <a:rPr sz="1200" b="1" dirty="0">
                <a:solidFill>
                  <a:srgbClr val="C0504D"/>
                </a:solidFill>
                <a:latin typeface="Arial"/>
                <a:cs typeface="Arial"/>
              </a:rPr>
              <a:t>// End of</a:t>
            </a:r>
            <a:r>
              <a:rPr sz="1200" b="1" spc="-4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Method</a:t>
            </a:r>
            <a:endParaRPr sz="1200" dirty="0">
              <a:latin typeface="Arial"/>
              <a:cs typeface="Arial"/>
            </a:endParaRPr>
          </a:p>
          <a:p>
            <a:pPr marL="55244" marR="84455" indent="-43180">
              <a:lnSpc>
                <a:spcPct val="100000"/>
              </a:lnSpc>
            </a:pPr>
            <a:r>
              <a:rPr sz="1200" b="1" dirty="0">
                <a:solidFill>
                  <a:srgbClr val="C0504D"/>
                </a:solidFill>
                <a:latin typeface="Arial"/>
                <a:cs typeface="Arial"/>
              </a:rPr>
              <a:t>// Display</a:t>
            </a:r>
            <a:r>
              <a:rPr sz="1200" b="1" spc="-8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Method  void</a:t>
            </a:r>
            <a:r>
              <a:rPr sz="1200" b="1" spc="2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display()</a:t>
            </a:r>
            <a:endParaRPr sz="1200" dirty="0">
              <a:latin typeface="Arial"/>
              <a:cs typeface="Arial"/>
            </a:endParaRPr>
          </a:p>
          <a:p>
            <a:pPr marL="55244">
              <a:lnSpc>
                <a:spcPct val="100000"/>
              </a:lnSpc>
            </a:pPr>
            <a:r>
              <a:rPr sz="1200" b="1" dirty="0">
                <a:solidFill>
                  <a:srgbClr val="C0504D"/>
                </a:solidFill>
                <a:latin typeface="Arial"/>
                <a:cs typeface="Arial"/>
              </a:rPr>
              <a:t>{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6334" y="4662296"/>
            <a:ext cx="375157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42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System.out.println("hello </a:t>
            </a:r>
            <a:r>
              <a:rPr sz="1200" b="1" dirty="0">
                <a:solidFill>
                  <a:srgbClr val="C0504D"/>
                </a:solidFill>
                <a:latin typeface="Arial"/>
                <a:cs typeface="Arial"/>
              </a:rPr>
              <a:t>This is Display in </a:t>
            </a:r>
            <a:r>
              <a:rPr sz="1200" b="1" spc="-15" dirty="0">
                <a:solidFill>
                  <a:srgbClr val="C0504D"/>
                </a:solidFill>
                <a:latin typeface="Arial"/>
                <a:cs typeface="Arial"/>
              </a:rPr>
              <a:t>A");</a:t>
            </a:r>
            <a:endParaRPr sz="1200" dirty="0">
              <a:latin typeface="Arial"/>
              <a:cs typeface="Arial"/>
            </a:endParaRPr>
          </a:p>
          <a:p>
            <a:pPr marL="182880">
              <a:lnSpc>
                <a:spcPct val="100000"/>
              </a:lnSpc>
            </a:pP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} </a:t>
            </a:r>
            <a:r>
              <a:rPr sz="1200" b="1" dirty="0">
                <a:solidFill>
                  <a:srgbClr val="C0504D"/>
                </a:solidFill>
                <a:latin typeface="Arial"/>
                <a:cs typeface="Arial"/>
              </a:rPr>
              <a:t>// End of</a:t>
            </a:r>
            <a:r>
              <a:rPr sz="1200" b="1" spc="15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Method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} </a:t>
            </a:r>
            <a:r>
              <a:rPr sz="1200" b="1" dirty="0">
                <a:latin typeface="Arial"/>
                <a:cs typeface="Arial"/>
              </a:rPr>
              <a:t>// End of class</a:t>
            </a:r>
            <a:r>
              <a:rPr sz="1200" b="1" spc="-7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32705" y="1385138"/>
            <a:ext cx="13227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class B extends</a:t>
            </a:r>
            <a:r>
              <a:rPr sz="1200" b="1" spc="-17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latin typeface="Arial"/>
                <a:cs typeface="Arial"/>
              </a:rPr>
              <a:t>{</a:t>
            </a:r>
            <a:endParaRPr sz="1200" dirty="0">
              <a:latin typeface="Arial"/>
              <a:cs typeface="Arial"/>
            </a:endParaRPr>
          </a:p>
          <a:p>
            <a:pPr marL="140335">
              <a:lnSpc>
                <a:spcPct val="100000"/>
              </a:lnSpc>
            </a:pPr>
            <a:r>
              <a:rPr sz="1200" b="1" spc="-5" dirty="0">
                <a:solidFill>
                  <a:srgbClr val="0000FF"/>
                </a:solidFill>
                <a:latin typeface="Arial"/>
                <a:cs typeface="Arial"/>
              </a:rPr>
              <a:t>private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1200" b="1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0000FF"/>
                </a:solidFill>
                <a:latin typeface="Arial"/>
                <a:cs typeface="Arial"/>
              </a:rPr>
              <a:t>b;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05575" y="1751457"/>
            <a:ext cx="1126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// instance</a:t>
            </a:r>
            <a:r>
              <a:rPr sz="1200" b="1" spc="-10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field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60721" y="1934336"/>
            <a:ext cx="24796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62710" algn="l"/>
              </a:tabLst>
            </a:pPr>
            <a:r>
              <a:rPr sz="1200" b="1" spc="-5" dirty="0">
                <a:solidFill>
                  <a:srgbClr val="0000FF"/>
                </a:solidFill>
                <a:latin typeface="Arial"/>
                <a:cs typeface="Arial"/>
              </a:rPr>
              <a:t>private</a:t>
            </a:r>
            <a:r>
              <a:rPr sz="12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0000FF"/>
                </a:solidFill>
                <a:latin typeface="Arial"/>
                <a:cs typeface="Arial"/>
              </a:rPr>
              <a:t>double</a:t>
            </a:r>
            <a:r>
              <a:rPr sz="1200" b="1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c;	// instance</a:t>
            </a:r>
            <a:r>
              <a:rPr sz="1200" b="1" spc="-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field 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B(int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a,int b,double</a:t>
            </a:r>
            <a:r>
              <a:rPr sz="1200" b="1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c)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200" dirty="0">
              <a:latin typeface="Arial"/>
              <a:cs typeface="Arial"/>
            </a:endParaRPr>
          </a:p>
          <a:p>
            <a:pPr marL="227329" marR="1590675" algn="just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super(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);  this.b=b; 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this.c=c;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75605" y="3031997"/>
            <a:ext cx="3800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System.out.println("This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constructor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of class</a:t>
            </a:r>
            <a:r>
              <a:rPr sz="1200" b="1" spc="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B");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60721" y="3214878"/>
            <a:ext cx="218757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}// End of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Constructor</a:t>
            </a:r>
            <a:r>
              <a:rPr sz="12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Method</a:t>
            </a:r>
            <a:endParaRPr sz="1200" dirty="0">
              <a:latin typeface="Arial"/>
              <a:cs typeface="Arial"/>
            </a:endParaRPr>
          </a:p>
          <a:p>
            <a:pPr marL="12700" marR="1021080">
              <a:lnSpc>
                <a:spcPct val="100000"/>
              </a:lnSpc>
            </a:pPr>
            <a:r>
              <a:rPr sz="1200" b="1" dirty="0">
                <a:solidFill>
                  <a:srgbClr val="C0504D"/>
                </a:solidFill>
                <a:latin typeface="Arial"/>
                <a:cs typeface="Arial"/>
              </a:rPr>
              <a:t>// show </a:t>
            </a: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Method  void</a:t>
            </a:r>
            <a:r>
              <a:rPr sz="1200" b="1" spc="2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C0504D"/>
                </a:solidFill>
                <a:latin typeface="Arial"/>
                <a:cs typeface="Arial"/>
              </a:rPr>
              <a:t>show()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ts val="1440"/>
              </a:lnSpc>
            </a:pP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{</a:t>
            </a:r>
            <a:endParaRPr sz="1200" dirty="0">
              <a:latin typeface="Arial"/>
              <a:cs typeface="Arial"/>
            </a:endParaRPr>
          </a:p>
          <a:p>
            <a:pPr marL="184785">
              <a:lnSpc>
                <a:spcPts val="1920"/>
              </a:lnSpc>
            </a:pPr>
            <a:r>
              <a:rPr sz="1600" b="1" spc="-5" dirty="0">
                <a:solidFill>
                  <a:srgbClr val="FF0000"/>
                </a:solidFill>
                <a:latin typeface="Arial"/>
                <a:cs typeface="Arial"/>
              </a:rPr>
              <a:t>print();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32705" y="4190492"/>
            <a:ext cx="25025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420" marR="508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System.out.println("b </a:t>
            </a:r>
            <a:r>
              <a:rPr sz="1200" b="1" dirty="0">
                <a:solidFill>
                  <a:srgbClr val="C0504D"/>
                </a:solidFill>
                <a:latin typeface="Arial"/>
                <a:cs typeface="Arial"/>
              </a:rPr>
              <a:t>= “ + </a:t>
            </a: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b);  System.out.println("c </a:t>
            </a:r>
            <a:r>
              <a:rPr sz="1200" b="1" dirty="0">
                <a:solidFill>
                  <a:srgbClr val="C0504D"/>
                </a:solidFill>
                <a:latin typeface="Arial"/>
                <a:cs typeface="Arial"/>
              </a:rPr>
              <a:t>= “ +</a:t>
            </a:r>
            <a:r>
              <a:rPr sz="1200" b="1" spc="2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c);</a:t>
            </a:r>
            <a:endParaRPr sz="1200" dirty="0">
              <a:latin typeface="Arial"/>
              <a:cs typeface="Arial"/>
            </a:endParaRPr>
          </a:p>
          <a:p>
            <a:pPr marL="182880">
              <a:lnSpc>
                <a:spcPct val="100000"/>
              </a:lnSpc>
            </a:pPr>
            <a:r>
              <a:rPr sz="1200" b="1" dirty="0">
                <a:solidFill>
                  <a:srgbClr val="C0504D"/>
                </a:solidFill>
                <a:latin typeface="Arial"/>
                <a:cs typeface="Arial"/>
              </a:rPr>
              <a:t>}// End of</a:t>
            </a:r>
            <a:r>
              <a:rPr sz="1200" b="1" spc="1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Method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}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// End of class</a:t>
            </a:r>
            <a:r>
              <a:rPr sz="12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343400" y="2583179"/>
            <a:ext cx="542925" cy="3207385"/>
          </a:xfrm>
          <a:custGeom>
            <a:avLst/>
            <a:gdLst/>
            <a:ahLst/>
            <a:cxnLst/>
            <a:rect l="l" t="t" r="r" b="b"/>
            <a:pathLst>
              <a:path w="542925" h="3207385">
                <a:moveTo>
                  <a:pt x="51816" y="3103575"/>
                </a:moveTo>
                <a:lnTo>
                  <a:pt x="25908" y="3103575"/>
                </a:lnTo>
                <a:lnTo>
                  <a:pt x="25908" y="3207207"/>
                </a:lnTo>
                <a:lnTo>
                  <a:pt x="51816" y="3207207"/>
                </a:lnTo>
                <a:lnTo>
                  <a:pt x="51816" y="3103575"/>
                </a:lnTo>
                <a:close/>
              </a:path>
              <a:path w="542925" h="3207385">
                <a:moveTo>
                  <a:pt x="51816" y="2922270"/>
                </a:moveTo>
                <a:lnTo>
                  <a:pt x="25908" y="2922270"/>
                </a:lnTo>
                <a:lnTo>
                  <a:pt x="25908" y="3025851"/>
                </a:lnTo>
                <a:lnTo>
                  <a:pt x="51816" y="3025851"/>
                </a:lnTo>
                <a:lnTo>
                  <a:pt x="51816" y="2922270"/>
                </a:lnTo>
                <a:close/>
              </a:path>
              <a:path w="542925" h="3207385">
                <a:moveTo>
                  <a:pt x="51816" y="2740914"/>
                </a:moveTo>
                <a:lnTo>
                  <a:pt x="25908" y="2740914"/>
                </a:lnTo>
                <a:lnTo>
                  <a:pt x="25908" y="2844546"/>
                </a:lnTo>
                <a:lnTo>
                  <a:pt x="51816" y="2844546"/>
                </a:lnTo>
                <a:lnTo>
                  <a:pt x="51816" y="2740914"/>
                </a:lnTo>
                <a:close/>
              </a:path>
              <a:path w="542925" h="3207385">
                <a:moveTo>
                  <a:pt x="51816" y="2559558"/>
                </a:moveTo>
                <a:lnTo>
                  <a:pt x="25908" y="2559558"/>
                </a:lnTo>
                <a:lnTo>
                  <a:pt x="25908" y="2663190"/>
                </a:lnTo>
                <a:lnTo>
                  <a:pt x="51816" y="2663190"/>
                </a:lnTo>
                <a:lnTo>
                  <a:pt x="51816" y="2559558"/>
                </a:lnTo>
                <a:close/>
              </a:path>
              <a:path w="542925" h="3207385">
                <a:moveTo>
                  <a:pt x="51816" y="2378202"/>
                </a:moveTo>
                <a:lnTo>
                  <a:pt x="25908" y="2378202"/>
                </a:lnTo>
                <a:lnTo>
                  <a:pt x="25908" y="2481834"/>
                </a:lnTo>
                <a:lnTo>
                  <a:pt x="51816" y="2481834"/>
                </a:lnTo>
                <a:lnTo>
                  <a:pt x="51816" y="2378202"/>
                </a:lnTo>
                <a:close/>
              </a:path>
              <a:path w="542925" h="3207385">
                <a:moveTo>
                  <a:pt x="51816" y="2196846"/>
                </a:moveTo>
                <a:lnTo>
                  <a:pt x="25908" y="2196846"/>
                </a:lnTo>
                <a:lnTo>
                  <a:pt x="25908" y="2300478"/>
                </a:lnTo>
                <a:lnTo>
                  <a:pt x="51816" y="2300478"/>
                </a:lnTo>
                <a:lnTo>
                  <a:pt x="51816" y="2196846"/>
                </a:lnTo>
                <a:close/>
              </a:path>
              <a:path w="542925" h="3207385">
                <a:moveTo>
                  <a:pt x="51816" y="2015490"/>
                </a:moveTo>
                <a:lnTo>
                  <a:pt x="25908" y="2015490"/>
                </a:lnTo>
                <a:lnTo>
                  <a:pt x="25908" y="2119122"/>
                </a:lnTo>
                <a:lnTo>
                  <a:pt x="51816" y="2119122"/>
                </a:lnTo>
                <a:lnTo>
                  <a:pt x="51816" y="2015490"/>
                </a:lnTo>
                <a:close/>
              </a:path>
              <a:path w="542925" h="3207385">
                <a:moveTo>
                  <a:pt x="51816" y="1834134"/>
                </a:moveTo>
                <a:lnTo>
                  <a:pt x="25908" y="1834134"/>
                </a:lnTo>
                <a:lnTo>
                  <a:pt x="25908" y="1937766"/>
                </a:lnTo>
                <a:lnTo>
                  <a:pt x="51816" y="1937766"/>
                </a:lnTo>
                <a:lnTo>
                  <a:pt x="51816" y="1834134"/>
                </a:lnTo>
                <a:close/>
              </a:path>
              <a:path w="542925" h="3207385">
                <a:moveTo>
                  <a:pt x="51816" y="1652778"/>
                </a:moveTo>
                <a:lnTo>
                  <a:pt x="25908" y="1652778"/>
                </a:lnTo>
                <a:lnTo>
                  <a:pt x="25908" y="1756410"/>
                </a:lnTo>
                <a:lnTo>
                  <a:pt x="51816" y="1756410"/>
                </a:lnTo>
                <a:lnTo>
                  <a:pt x="51816" y="1652778"/>
                </a:lnTo>
                <a:close/>
              </a:path>
              <a:path w="542925" h="3207385">
                <a:moveTo>
                  <a:pt x="51816" y="1471422"/>
                </a:moveTo>
                <a:lnTo>
                  <a:pt x="25908" y="1471422"/>
                </a:lnTo>
                <a:lnTo>
                  <a:pt x="25908" y="1575054"/>
                </a:lnTo>
                <a:lnTo>
                  <a:pt x="51816" y="1575054"/>
                </a:lnTo>
                <a:lnTo>
                  <a:pt x="51816" y="1471422"/>
                </a:lnTo>
                <a:close/>
              </a:path>
              <a:path w="542925" h="3207385">
                <a:moveTo>
                  <a:pt x="51816" y="1290066"/>
                </a:moveTo>
                <a:lnTo>
                  <a:pt x="25908" y="1290066"/>
                </a:lnTo>
                <a:lnTo>
                  <a:pt x="25908" y="1393698"/>
                </a:lnTo>
                <a:lnTo>
                  <a:pt x="51816" y="1393698"/>
                </a:lnTo>
                <a:lnTo>
                  <a:pt x="51816" y="1290066"/>
                </a:lnTo>
                <a:close/>
              </a:path>
              <a:path w="542925" h="3207385">
                <a:moveTo>
                  <a:pt x="51816" y="1108710"/>
                </a:moveTo>
                <a:lnTo>
                  <a:pt x="25908" y="1108710"/>
                </a:lnTo>
                <a:lnTo>
                  <a:pt x="25908" y="1212342"/>
                </a:lnTo>
                <a:lnTo>
                  <a:pt x="51816" y="1212342"/>
                </a:lnTo>
                <a:lnTo>
                  <a:pt x="51816" y="1108710"/>
                </a:lnTo>
                <a:close/>
              </a:path>
              <a:path w="542925" h="3207385">
                <a:moveTo>
                  <a:pt x="51816" y="927354"/>
                </a:moveTo>
                <a:lnTo>
                  <a:pt x="25908" y="927354"/>
                </a:lnTo>
                <a:lnTo>
                  <a:pt x="25908" y="1030986"/>
                </a:lnTo>
                <a:lnTo>
                  <a:pt x="51816" y="1030986"/>
                </a:lnTo>
                <a:lnTo>
                  <a:pt x="51816" y="927354"/>
                </a:lnTo>
                <a:close/>
              </a:path>
              <a:path w="542925" h="3207385">
                <a:moveTo>
                  <a:pt x="51816" y="745998"/>
                </a:moveTo>
                <a:lnTo>
                  <a:pt x="25908" y="745998"/>
                </a:lnTo>
                <a:lnTo>
                  <a:pt x="25908" y="849630"/>
                </a:lnTo>
                <a:lnTo>
                  <a:pt x="51816" y="849630"/>
                </a:lnTo>
                <a:lnTo>
                  <a:pt x="51816" y="745998"/>
                </a:lnTo>
                <a:close/>
              </a:path>
              <a:path w="542925" h="3207385">
                <a:moveTo>
                  <a:pt x="51816" y="564642"/>
                </a:moveTo>
                <a:lnTo>
                  <a:pt x="25908" y="564642"/>
                </a:lnTo>
                <a:lnTo>
                  <a:pt x="25908" y="668274"/>
                </a:lnTo>
                <a:lnTo>
                  <a:pt x="51816" y="668274"/>
                </a:lnTo>
                <a:lnTo>
                  <a:pt x="51816" y="564642"/>
                </a:lnTo>
                <a:close/>
              </a:path>
              <a:path w="542925" h="3207385">
                <a:moveTo>
                  <a:pt x="51816" y="383286"/>
                </a:moveTo>
                <a:lnTo>
                  <a:pt x="25908" y="383286"/>
                </a:lnTo>
                <a:lnTo>
                  <a:pt x="25908" y="486918"/>
                </a:lnTo>
                <a:lnTo>
                  <a:pt x="51816" y="486918"/>
                </a:lnTo>
                <a:lnTo>
                  <a:pt x="51816" y="383286"/>
                </a:lnTo>
                <a:close/>
              </a:path>
              <a:path w="542925" h="3207385">
                <a:moveTo>
                  <a:pt x="51816" y="201930"/>
                </a:moveTo>
                <a:lnTo>
                  <a:pt x="25908" y="201930"/>
                </a:lnTo>
                <a:lnTo>
                  <a:pt x="25908" y="305562"/>
                </a:lnTo>
                <a:lnTo>
                  <a:pt x="51816" y="305562"/>
                </a:lnTo>
                <a:lnTo>
                  <a:pt x="51816" y="201930"/>
                </a:lnTo>
                <a:close/>
              </a:path>
              <a:path w="542925" h="3207385">
                <a:moveTo>
                  <a:pt x="142494" y="25908"/>
                </a:moveTo>
                <a:lnTo>
                  <a:pt x="38862" y="25908"/>
                </a:lnTo>
                <a:lnTo>
                  <a:pt x="38862" y="38862"/>
                </a:lnTo>
                <a:lnTo>
                  <a:pt x="0" y="116586"/>
                </a:lnTo>
                <a:lnTo>
                  <a:pt x="25908" y="116586"/>
                </a:lnTo>
                <a:lnTo>
                  <a:pt x="25908" y="124206"/>
                </a:lnTo>
                <a:lnTo>
                  <a:pt x="51816" y="124206"/>
                </a:lnTo>
                <a:lnTo>
                  <a:pt x="51816" y="116586"/>
                </a:lnTo>
                <a:lnTo>
                  <a:pt x="77724" y="116586"/>
                </a:lnTo>
                <a:lnTo>
                  <a:pt x="71247" y="103632"/>
                </a:lnTo>
                <a:lnTo>
                  <a:pt x="45339" y="51816"/>
                </a:lnTo>
                <a:lnTo>
                  <a:pt x="142494" y="51816"/>
                </a:lnTo>
                <a:lnTo>
                  <a:pt x="142494" y="25908"/>
                </a:lnTo>
                <a:close/>
              </a:path>
              <a:path w="542925" h="3207385">
                <a:moveTo>
                  <a:pt x="323850" y="25908"/>
                </a:moveTo>
                <a:lnTo>
                  <a:pt x="220218" y="25908"/>
                </a:lnTo>
                <a:lnTo>
                  <a:pt x="220218" y="51816"/>
                </a:lnTo>
                <a:lnTo>
                  <a:pt x="323850" y="51816"/>
                </a:lnTo>
                <a:lnTo>
                  <a:pt x="323850" y="25908"/>
                </a:lnTo>
                <a:close/>
              </a:path>
              <a:path w="542925" h="3207385">
                <a:moveTo>
                  <a:pt x="542925" y="38862"/>
                </a:moveTo>
                <a:lnTo>
                  <a:pt x="517017" y="25908"/>
                </a:lnTo>
                <a:lnTo>
                  <a:pt x="465201" y="0"/>
                </a:lnTo>
                <a:lnTo>
                  <a:pt x="465201" y="25908"/>
                </a:lnTo>
                <a:lnTo>
                  <a:pt x="401574" y="25908"/>
                </a:lnTo>
                <a:lnTo>
                  <a:pt x="401574" y="51816"/>
                </a:lnTo>
                <a:lnTo>
                  <a:pt x="465201" y="51816"/>
                </a:lnTo>
                <a:lnTo>
                  <a:pt x="465201" y="77724"/>
                </a:lnTo>
                <a:lnTo>
                  <a:pt x="517004" y="51816"/>
                </a:lnTo>
                <a:lnTo>
                  <a:pt x="542925" y="388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53278" y="4038600"/>
            <a:ext cx="2198370" cy="1263650"/>
          </a:xfrm>
          <a:custGeom>
            <a:avLst/>
            <a:gdLst/>
            <a:ahLst/>
            <a:cxnLst/>
            <a:rect l="l" t="t" r="r" b="b"/>
            <a:pathLst>
              <a:path w="2198370" h="1263650">
                <a:moveTo>
                  <a:pt x="165354" y="25908"/>
                </a:moveTo>
                <a:lnTo>
                  <a:pt x="77724" y="25908"/>
                </a:lnTo>
                <a:lnTo>
                  <a:pt x="77724" y="0"/>
                </a:lnTo>
                <a:lnTo>
                  <a:pt x="0" y="38862"/>
                </a:lnTo>
                <a:lnTo>
                  <a:pt x="77724" y="77724"/>
                </a:lnTo>
                <a:lnTo>
                  <a:pt x="77724" y="51816"/>
                </a:lnTo>
                <a:lnTo>
                  <a:pt x="165354" y="51816"/>
                </a:lnTo>
                <a:lnTo>
                  <a:pt x="165354" y="25908"/>
                </a:lnTo>
                <a:close/>
              </a:path>
              <a:path w="2198370" h="1263650">
                <a:moveTo>
                  <a:pt x="346710" y="25908"/>
                </a:moveTo>
                <a:lnTo>
                  <a:pt x="243078" y="25908"/>
                </a:lnTo>
                <a:lnTo>
                  <a:pt x="243078" y="51816"/>
                </a:lnTo>
                <a:lnTo>
                  <a:pt x="346710" y="51816"/>
                </a:lnTo>
                <a:lnTo>
                  <a:pt x="346710" y="25908"/>
                </a:lnTo>
                <a:close/>
              </a:path>
              <a:path w="2198370" h="1263650">
                <a:moveTo>
                  <a:pt x="528066" y="25908"/>
                </a:moveTo>
                <a:lnTo>
                  <a:pt x="424434" y="25908"/>
                </a:lnTo>
                <a:lnTo>
                  <a:pt x="424434" y="51816"/>
                </a:lnTo>
                <a:lnTo>
                  <a:pt x="528066" y="51816"/>
                </a:lnTo>
                <a:lnTo>
                  <a:pt x="528066" y="25908"/>
                </a:lnTo>
                <a:close/>
              </a:path>
              <a:path w="2198370" h="1263650">
                <a:moveTo>
                  <a:pt x="709422" y="25908"/>
                </a:moveTo>
                <a:lnTo>
                  <a:pt x="605790" y="25908"/>
                </a:lnTo>
                <a:lnTo>
                  <a:pt x="605790" y="51816"/>
                </a:lnTo>
                <a:lnTo>
                  <a:pt x="709422" y="51816"/>
                </a:lnTo>
                <a:lnTo>
                  <a:pt x="709422" y="25908"/>
                </a:lnTo>
                <a:close/>
              </a:path>
              <a:path w="2198370" h="1263650">
                <a:moveTo>
                  <a:pt x="890778" y="25908"/>
                </a:moveTo>
                <a:lnTo>
                  <a:pt x="787146" y="25908"/>
                </a:lnTo>
                <a:lnTo>
                  <a:pt x="787146" y="51816"/>
                </a:lnTo>
                <a:lnTo>
                  <a:pt x="890778" y="51816"/>
                </a:lnTo>
                <a:lnTo>
                  <a:pt x="890778" y="25908"/>
                </a:lnTo>
                <a:close/>
              </a:path>
              <a:path w="2198370" h="1263650">
                <a:moveTo>
                  <a:pt x="1072134" y="25908"/>
                </a:moveTo>
                <a:lnTo>
                  <a:pt x="968502" y="25908"/>
                </a:lnTo>
                <a:lnTo>
                  <a:pt x="968502" y="51816"/>
                </a:lnTo>
                <a:lnTo>
                  <a:pt x="1072134" y="51816"/>
                </a:lnTo>
                <a:lnTo>
                  <a:pt x="1072134" y="25908"/>
                </a:lnTo>
                <a:close/>
              </a:path>
              <a:path w="2198370" h="1263650">
                <a:moveTo>
                  <a:pt x="1253490" y="25908"/>
                </a:moveTo>
                <a:lnTo>
                  <a:pt x="1149858" y="25908"/>
                </a:lnTo>
                <a:lnTo>
                  <a:pt x="1149858" y="51816"/>
                </a:lnTo>
                <a:lnTo>
                  <a:pt x="1253490" y="51816"/>
                </a:lnTo>
                <a:lnTo>
                  <a:pt x="1253490" y="25908"/>
                </a:lnTo>
                <a:close/>
              </a:path>
              <a:path w="2198370" h="1263650">
                <a:moveTo>
                  <a:pt x="1434846" y="25908"/>
                </a:moveTo>
                <a:lnTo>
                  <a:pt x="1331214" y="25908"/>
                </a:lnTo>
                <a:lnTo>
                  <a:pt x="1331214" y="51816"/>
                </a:lnTo>
                <a:lnTo>
                  <a:pt x="1434846" y="51816"/>
                </a:lnTo>
                <a:lnTo>
                  <a:pt x="1434846" y="25908"/>
                </a:lnTo>
                <a:close/>
              </a:path>
              <a:path w="2198370" h="1263650">
                <a:moveTo>
                  <a:pt x="1616202" y="25908"/>
                </a:moveTo>
                <a:lnTo>
                  <a:pt x="1512570" y="25908"/>
                </a:lnTo>
                <a:lnTo>
                  <a:pt x="1512570" y="51816"/>
                </a:lnTo>
                <a:lnTo>
                  <a:pt x="1616202" y="51816"/>
                </a:lnTo>
                <a:lnTo>
                  <a:pt x="1616202" y="25908"/>
                </a:lnTo>
                <a:close/>
              </a:path>
              <a:path w="2198370" h="1263650">
                <a:moveTo>
                  <a:pt x="1797558" y="25908"/>
                </a:moveTo>
                <a:lnTo>
                  <a:pt x="1693926" y="25908"/>
                </a:lnTo>
                <a:lnTo>
                  <a:pt x="1693926" y="51816"/>
                </a:lnTo>
                <a:lnTo>
                  <a:pt x="1797558" y="51816"/>
                </a:lnTo>
                <a:lnTo>
                  <a:pt x="1797558" y="25908"/>
                </a:lnTo>
                <a:close/>
              </a:path>
              <a:path w="2198370" h="1263650">
                <a:moveTo>
                  <a:pt x="1978914" y="25908"/>
                </a:moveTo>
                <a:lnTo>
                  <a:pt x="1875282" y="25908"/>
                </a:lnTo>
                <a:lnTo>
                  <a:pt x="1875282" y="51816"/>
                </a:lnTo>
                <a:lnTo>
                  <a:pt x="1978914" y="51816"/>
                </a:lnTo>
                <a:lnTo>
                  <a:pt x="1978914" y="25908"/>
                </a:lnTo>
                <a:close/>
              </a:path>
              <a:path w="2198370" h="1263650">
                <a:moveTo>
                  <a:pt x="2172462" y="1159764"/>
                </a:moveTo>
                <a:lnTo>
                  <a:pt x="2146554" y="1159764"/>
                </a:lnTo>
                <a:lnTo>
                  <a:pt x="2146554" y="1263396"/>
                </a:lnTo>
                <a:lnTo>
                  <a:pt x="2172462" y="1263396"/>
                </a:lnTo>
                <a:lnTo>
                  <a:pt x="2172462" y="1159764"/>
                </a:lnTo>
                <a:close/>
              </a:path>
              <a:path w="2198370" h="1263650">
                <a:moveTo>
                  <a:pt x="2172462" y="978408"/>
                </a:moveTo>
                <a:lnTo>
                  <a:pt x="2146554" y="978408"/>
                </a:lnTo>
                <a:lnTo>
                  <a:pt x="2146554" y="1082040"/>
                </a:lnTo>
                <a:lnTo>
                  <a:pt x="2172462" y="1082040"/>
                </a:lnTo>
                <a:lnTo>
                  <a:pt x="2172462" y="978408"/>
                </a:lnTo>
                <a:close/>
              </a:path>
              <a:path w="2198370" h="1263650">
                <a:moveTo>
                  <a:pt x="2172462" y="797052"/>
                </a:moveTo>
                <a:lnTo>
                  <a:pt x="2146554" y="797052"/>
                </a:lnTo>
                <a:lnTo>
                  <a:pt x="2146554" y="900684"/>
                </a:lnTo>
                <a:lnTo>
                  <a:pt x="2172462" y="900684"/>
                </a:lnTo>
                <a:lnTo>
                  <a:pt x="2172462" y="797052"/>
                </a:lnTo>
                <a:close/>
              </a:path>
              <a:path w="2198370" h="1263650">
                <a:moveTo>
                  <a:pt x="2172462" y="615696"/>
                </a:moveTo>
                <a:lnTo>
                  <a:pt x="2146554" y="615696"/>
                </a:lnTo>
                <a:lnTo>
                  <a:pt x="2146554" y="719328"/>
                </a:lnTo>
                <a:lnTo>
                  <a:pt x="2172462" y="719328"/>
                </a:lnTo>
                <a:lnTo>
                  <a:pt x="2172462" y="615696"/>
                </a:lnTo>
                <a:close/>
              </a:path>
              <a:path w="2198370" h="1263650">
                <a:moveTo>
                  <a:pt x="2172462" y="434340"/>
                </a:moveTo>
                <a:lnTo>
                  <a:pt x="2146554" y="434340"/>
                </a:lnTo>
                <a:lnTo>
                  <a:pt x="2146554" y="537972"/>
                </a:lnTo>
                <a:lnTo>
                  <a:pt x="2172462" y="537972"/>
                </a:lnTo>
                <a:lnTo>
                  <a:pt x="2172462" y="434340"/>
                </a:lnTo>
                <a:close/>
              </a:path>
              <a:path w="2198370" h="1263650">
                <a:moveTo>
                  <a:pt x="2172462" y="252984"/>
                </a:moveTo>
                <a:lnTo>
                  <a:pt x="2146554" y="252984"/>
                </a:lnTo>
                <a:lnTo>
                  <a:pt x="2146554" y="356616"/>
                </a:lnTo>
                <a:lnTo>
                  <a:pt x="2172462" y="356616"/>
                </a:lnTo>
                <a:lnTo>
                  <a:pt x="2172462" y="252984"/>
                </a:lnTo>
                <a:close/>
              </a:path>
              <a:path w="2198370" h="1263650">
                <a:moveTo>
                  <a:pt x="2198370" y="119634"/>
                </a:moveTo>
                <a:lnTo>
                  <a:pt x="2191893" y="106680"/>
                </a:lnTo>
                <a:lnTo>
                  <a:pt x="2160270" y="43434"/>
                </a:lnTo>
                <a:lnTo>
                  <a:pt x="2160270" y="25908"/>
                </a:lnTo>
                <a:lnTo>
                  <a:pt x="2056638" y="25908"/>
                </a:lnTo>
                <a:lnTo>
                  <a:pt x="2056638" y="51816"/>
                </a:lnTo>
                <a:lnTo>
                  <a:pt x="2154555" y="51816"/>
                </a:lnTo>
                <a:lnTo>
                  <a:pt x="2120646" y="119634"/>
                </a:lnTo>
                <a:lnTo>
                  <a:pt x="2146554" y="119634"/>
                </a:lnTo>
                <a:lnTo>
                  <a:pt x="2146554" y="175260"/>
                </a:lnTo>
                <a:lnTo>
                  <a:pt x="2172462" y="175260"/>
                </a:lnTo>
                <a:lnTo>
                  <a:pt x="2172462" y="119634"/>
                </a:lnTo>
                <a:lnTo>
                  <a:pt x="2198370" y="11963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499230" y="5320410"/>
            <a:ext cx="5404485" cy="1069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37740" marR="5080" indent="-24384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Call </a:t>
            </a:r>
            <a:r>
              <a:rPr sz="1800" b="1" spc="-10" dirty="0">
                <a:solidFill>
                  <a:srgbClr val="FF0000"/>
                </a:solidFill>
                <a:latin typeface="Carlito"/>
                <a:cs typeface="Carlito"/>
              </a:rPr>
              <a:t>to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print() method 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of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super-class  Can 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be </a:t>
            </a:r>
            <a:r>
              <a:rPr sz="1800" b="1" spc="-20" dirty="0">
                <a:solidFill>
                  <a:srgbClr val="FF0000"/>
                </a:solidFill>
                <a:latin typeface="Carlito"/>
                <a:cs typeface="Carlito"/>
              </a:rPr>
              <a:t>Written 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as </a:t>
            </a:r>
            <a:r>
              <a:rPr sz="1800" b="1" spc="-20" dirty="0">
                <a:solidFill>
                  <a:srgbClr val="FF0000"/>
                </a:solidFill>
                <a:latin typeface="Carlito"/>
                <a:cs typeface="Carlito"/>
              </a:rPr>
              <a:t>super.print()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ts val="1735"/>
              </a:lnSpc>
            </a:pP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Call </a:t>
            </a:r>
            <a:r>
              <a:rPr sz="1800" b="1" spc="-10" dirty="0">
                <a:solidFill>
                  <a:srgbClr val="FF0000"/>
                </a:solidFill>
                <a:latin typeface="Carlito"/>
                <a:cs typeface="Carlito"/>
              </a:rPr>
              <a:t>to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super-class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Constructor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5156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Role</a:t>
            </a:r>
            <a:r>
              <a:rPr sz="3600" i="0" spc="-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8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3600" i="0" spc="-3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super</a:t>
            </a:r>
            <a:r>
              <a:rPr sz="3600" i="0" spc="-2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3600" i="0" spc="-3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Example</a:t>
            </a:r>
            <a:r>
              <a:rPr sz="3600" i="0" spc="-2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5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6334" y="1366520"/>
            <a:ext cx="2632710" cy="3562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"/>
                <a:cs typeface="Arial"/>
              </a:rPr>
              <a:t>// File Name :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XYZ.java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class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</a:p>
          <a:p>
            <a:pPr marL="12700">
              <a:lnSpc>
                <a:spcPts val="2400"/>
              </a:lnSpc>
            </a:pPr>
            <a:r>
              <a:rPr sz="2000" dirty="0">
                <a:latin typeface="Arial"/>
                <a:cs typeface="Arial"/>
              </a:rPr>
              <a:t>{</a:t>
            </a:r>
          </a:p>
          <a:p>
            <a:pPr marL="927100">
              <a:lnSpc>
                <a:spcPts val="2880"/>
              </a:lnSpc>
            </a:pP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protected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} // </a:t>
            </a:r>
            <a:r>
              <a:rPr sz="2000" spc="-5" dirty="0">
                <a:latin typeface="Arial"/>
                <a:cs typeface="Arial"/>
              </a:rPr>
              <a:t>End </a:t>
            </a:r>
            <a:r>
              <a:rPr sz="2000" dirty="0">
                <a:latin typeface="Arial"/>
                <a:cs typeface="Arial"/>
              </a:rPr>
              <a:t>of class</a:t>
            </a:r>
            <a:r>
              <a:rPr sz="2000" spc="-2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class B extends</a:t>
            </a:r>
            <a:r>
              <a:rPr sz="2000" spc="-1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</a:p>
          <a:p>
            <a:pPr marL="12700">
              <a:lnSpc>
                <a:spcPts val="2400"/>
              </a:lnSpc>
            </a:pPr>
            <a:r>
              <a:rPr sz="2000" dirty="0">
                <a:latin typeface="Arial"/>
                <a:cs typeface="Arial"/>
              </a:rPr>
              <a:t>{</a:t>
            </a:r>
          </a:p>
          <a:p>
            <a:pPr marL="927100">
              <a:lnSpc>
                <a:spcPts val="2880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private</a:t>
            </a:r>
            <a:endParaRPr sz="24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"/>
                <a:cs typeface="Arial"/>
              </a:rPr>
              <a:t>void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show()</a:t>
            </a:r>
          </a:p>
          <a:p>
            <a:pPr marL="927100">
              <a:lnSpc>
                <a:spcPts val="2400"/>
              </a:lnSpc>
            </a:pPr>
            <a:r>
              <a:rPr sz="2000" dirty="0">
                <a:latin typeface="Arial"/>
                <a:cs typeface="Arial"/>
              </a:rPr>
              <a:t>{</a:t>
            </a:r>
          </a:p>
          <a:p>
            <a:pPr marL="1841500">
              <a:lnSpc>
                <a:spcPct val="100000"/>
              </a:lnSpc>
            </a:pPr>
            <a:r>
              <a:rPr sz="2400" b="1" dirty="0">
                <a:solidFill>
                  <a:srgbClr val="00AFEF"/>
                </a:solidFill>
                <a:latin typeface="Arial"/>
                <a:cs typeface="Arial"/>
              </a:rPr>
              <a:t>int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4544" y="2281173"/>
            <a:ext cx="1897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int	</a:t>
            </a:r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a </a:t>
            </a: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4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20;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87997" y="2331466"/>
            <a:ext cx="17367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//</a:t>
            </a:r>
            <a:r>
              <a:rPr sz="2000" spc="-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instance-field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4544" y="3561715"/>
            <a:ext cx="1897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int	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2400" b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30;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29889" y="4537329"/>
            <a:ext cx="982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AFEF"/>
                </a:solidFill>
                <a:latin typeface="Arial"/>
                <a:cs typeface="Arial"/>
              </a:rPr>
              <a:t>a </a:t>
            </a:r>
            <a:r>
              <a:rPr sz="2400" b="1" dirty="0">
                <a:solidFill>
                  <a:srgbClr val="00AFEF"/>
                </a:solidFill>
                <a:latin typeface="Arial"/>
                <a:cs typeface="Arial"/>
              </a:rPr>
              <a:t>=</a:t>
            </a:r>
            <a:r>
              <a:rPr sz="2400" b="1" spc="-7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AFEF"/>
                </a:solidFill>
                <a:latin typeface="Arial"/>
                <a:cs typeface="Arial"/>
              </a:rPr>
              <a:t>50;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334" y="4953380"/>
            <a:ext cx="5845175" cy="16224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841500" marR="5080">
              <a:lnSpc>
                <a:spcPct val="101800"/>
              </a:lnSpc>
              <a:spcBef>
                <a:spcPts val="60"/>
              </a:spcBef>
            </a:pPr>
            <a:r>
              <a:rPr sz="2000" spc="-5" dirty="0">
                <a:solidFill>
                  <a:srgbClr val="00AFEF"/>
                </a:solidFill>
                <a:latin typeface="Arial"/>
                <a:cs typeface="Arial"/>
              </a:rPr>
              <a:t>System.out.println(“ a= </a:t>
            </a:r>
            <a:r>
              <a:rPr sz="2000" dirty="0">
                <a:solidFill>
                  <a:srgbClr val="00AFEF"/>
                </a:solidFill>
                <a:latin typeface="Arial"/>
                <a:cs typeface="Arial"/>
              </a:rPr>
              <a:t>“ + </a:t>
            </a:r>
            <a:r>
              <a:rPr sz="2000" spc="-5" dirty="0">
                <a:solidFill>
                  <a:srgbClr val="00AFEF"/>
                </a:solidFill>
                <a:latin typeface="Arial"/>
                <a:cs typeface="Arial"/>
              </a:rPr>
              <a:t>a);  </a:t>
            </a:r>
            <a:r>
              <a:rPr sz="2000" dirty="0">
                <a:solidFill>
                  <a:srgbClr val="00AFEF"/>
                </a:solidFill>
                <a:latin typeface="Arial"/>
                <a:cs typeface="Arial"/>
              </a:rPr>
              <a:t>System.out.prinltn(“ </a:t>
            </a:r>
            <a:r>
              <a:rPr sz="2000" spc="-5" dirty="0">
                <a:solidFill>
                  <a:srgbClr val="00AFEF"/>
                </a:solidFill>
                <a:latin typeface="Arial"/>
                <a:cs typeface="Arial"/>
              </a:rPr>
              <a:t>a= </a:t>
            </a:r>
            <a:r>
              <a:rPr sz="2000" dirty="0">
                <a:solidFill>
                  <a:srgbClr val="00AFEF"/>
                </a:solidFill>
                <a:latin typeface="Arial"/>
                <a:cs typeface="Arial"/>
              </a:rPr>
              <a:t>“+ this.a);  </a:t>
            </a:r>
            <a:r>
              <a:rPr sz="2000" spc="-5" dirty="0">
                <a:solidFill>
                  <a:srgbClr val="00AFEF"/>
                </a:solidFill>
                <a:latin typeface="Arial"/>
                <a:cs typeface="Arial"/>
              </a:rPr>
              <a:t>System.out.println(“ </a:t>
            </a:r>
            <a:r>
              <a:rPr sz="2000" dirty="0">
                <a:solidFill>
                  <a:srgbClr val="00AFEF"/>
                </a:solidFill>
                <a:latin typeface="Arial"/>
                <a:cs typeface="Arial"/>
              </a:rPr>
              <a:t>a = “+</a:t>
            </a:r>
            <a:r>
              <a:rPr sz="2000" spc="-9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rgbClr val="00AFEF"/>
                </a:solidFill>
                <a:latin typeface="Arial"/>
                <a:cs typeface="Arial"/>
              </a:rPr>
              <a:t>super.a);</a:t>
            </a:r>
            <a:endParaRPr sz="20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00"/>
              </a:spcBef>
            </a:pPr>
            <a:r>
              <a:rPr sz="2000" dirty="0">
                <a:latin typeface="Arial"/>
                <a:cs typeface="Arial"/>
              </a:rPr>
              <a:t>}// End of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Method</a:t>
            </a: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2000" dirty="0">
                <a:latin typeface="Arial"/>
                <a:cs typeface="Arial"/>
              </a:rPr>
              <a:t>}// End of class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</a:t>
            </a:r>
          </a:p>
        </p:txBody>
      </p:sp>
      <p:sp>
        <p:nvSpPr>
          <p:cNvPr id="9" name="object 9"/>
          <p:cNvSpPr/>
          <p:nvPr/>
        </p:nvSpPr>
        <p:spPr>
          <a:xfrm>
            <a:off x="5062982" y="4798314"/>
            <a:ext cx="77723" cy="2503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49446" y="2637281"/>
            <a:ext cx="3792220" cy="3033395"/>
          </a:xfrm>
          <a:custGeom>
            <a:avLst/>
            <a:gdLst/>
            <a:ahLst/>
            <a:cxnLst/>
            <a:rect l="l" t="t" r="r" b="b"/>
            <a:pathLst>
              <a:path w="3792220" h="3033395">
                <a:moveTo>
                  <a:pt x="115824" y="2135886"/>
                </a:moveTo>
                <a:lnTo>
                  <a:pt x="77724" y="2135886"/>
                </a:lnTo>
                <a:lnTo>
                  <a:pt x="77724" y="2109978"/>
                </a:lnTo>
                <a:lnTo>
                  <a:pt x="0" y="2148840"/>
                </a:lnTo>
                <a:lnTo>
                  <a:pt x="77724" y="2187702"/>
                </a:lnTo>
                <a:lnTo>
                  <a:pt x="77724" y="2161794"/>
                </a:lnTo>
                <a:lnTo>
                  <a:pt x="115824" y="2161794"/>
                </a:lnTo>
                <a:lnTo>
                  <a:pt x="115824" y="2135886"/>
                </a:lnTo>
                <a:close/>
              </a:path>
              <a:path w="3792220" h="3033395">
                <a:moveTo>
                  <a:pt x="219456" y="2135886"/>
                </a:moveTo>
                <a:lnTo>
                  <a:pt x="141732" y="2135886"/>
                </a:lnTo>
                <a:lnTo>
                  <a:pt x="141732" y="2161794"/>
                </a:lnTo>
                <a:lnTo>
                  <a:pt x="219456" y="2161794"/>
                </a:lnTo>
                <a:lnTo>
                  <a:pt x="219456" y="2135886"/>
                </a:lnTo>
                <a:close/>
              </a:path>
              <a:path w="3792220" h="3033395">
                <a:moveTo>
                  <a:pt x="323088" y="2135886"/>
                </a:moveTo>
                <a:lnTo>
                  <a:pt x="245364" y="2135886"/>
                </a:lnTo>
                <a:lnTo>
                  <a:pt x="245364" y="2161794"/>
                </a:lnTo>
                <a:lnTo>
                  <a:pt x="323088" y="2161794"/>
                </a:lnTo>
                <a:lnTo>
                  <a:pt x="323088" y="2135886"/>
                </a:lnTo>
                <a:close/>
              </a:path>
              <a:path w="3792220" h="3033395">
                <a:moveTo>
                  <a:pt x="426720" y="2135886"/>
                </a:moveTo>
                <a:lnTo>
                  <a:pt x="348996" y="2135886"/>
                </a:lnTo>
                <a:lnTo>
                  <a:pt x="348996" y="2161794"/>
                </a:lnTo>
                <a:lnTo>
                  <a:pt x="426720" y="2161794"/>
                </a:lnTo>
                <a:lnTo>
                  <a:pt x="426720" y="2135886"/>
                </a:lnTo>
                <a:close/>
              </a:path>
              <a:path w="3792220" h="3033395">
                <a:moveTo>
                  <a:pt x="530352" y="2135886"/>
                </a:moveTo>
                <a:lnTo>
                  <a:pt x="452628" y="2135886"/>
                </a:lnTo>
                <a:lnTo>
                  <a:pt x="452628" y="2161794"/>
                </a:lnTo>
                <a:lnTo>
                  <a:pt x="530352" y="2161794"/>
                </a:lnTo>
                <a:lnTo>
                  <a:pt x="530352" y="2135886"/>
                </a:lnTo>
                <a:close/>
              </a:path>
              <a:path w="3792220" h="3033395">
                <a:moveTo>
                  <a:pt x="633984" y="2135886"/>
                </a:moveTo>
                <a:lnTo>
                  <a:pt x="556260" y="2135886"/>
                </a:lnTo>
                <a:lnTo>
                  <a:pt x="556260" y="2161794"/>
                </a:lnTo>
                <a:lnTo>
                  <a:pt x="633984" y="2161794"/>
                </a:lnTo>
                <a:lnTo>
                  <a:pt x="633984" y="2135886"/>
                </a:lnTo>
                <a:close/>
              </a:path>
              <a:path w="3792220" h="3033395">
                <a:moveTo>
                  <a:pt x="737616" y="2135886"/>
                </a:moveTo>
                <a:lnTo>
                  <a:pt x="659892" y="2135886"/>
                </a:lnTo>
                <a:lnTo>
                  <a:pt x="659892" y="2161794"/>
                </a:lnTo>
                <a:lnTo>
                  <a:pt x="737616" y="2161794"/>
                </a:lnTo>
                <a:lnTo>
                  <a:pt x="737616" y="2135886"/>
                </a:lnTo>
                <a:close/>
              </a:path>
              <a:path w="3792220" h="3033395">
                <a:moveTo>
                  <a:pt x="841248" y="2135886"/>
                </a:moveTo>
                <a:lnTo>
                  <a:pt x="763524" y="2135886"/>
                </a:lnTo>
                <a:lnTo>
                  <a:pt x="763524" y="2161794"/>
                </a:lnTo>
                <a:lnTo>
                  <a:pt x="841248" y="2161794"/>
                </a:lnTo>
                <a:lnTo>
                  <a:pt x="841248" y="2135886"/>
                </a:lnTo>
                <a:close/>
              </a:path>
              <a:path w="3792220" h="3033395">
                <a:moveTo>
                  <a:pt x="924306" y="250698"/>
                </a:moveTo>
                <a:lnTo>
                  <a:pt x="898398" y="250698"/>
                </a:lnTo>
                <a:lnTo>
                  <a:pt x="898398" y="328422"/>
                </a:lnTo>
                <a:lnTo>
                  <a:pt x="924306" y="328422"/>
                </a:lnTo>
                <a:lnTo>
                  <a:pt x="924306" y="250698"/>
                </a:lnTo>
                <a:close/>
              </a:path>
              <a:path w="3792220" h="3033395">
                <a:moveTo>
                  <a:pt x="924306" y="147066"/>
                </a:moveTo>
                <a:lnTo>
                  <a:pt x="898398" y="147066"/>
                </a:lnTo>
                <a:lnTo>
                  <a:pt x="898398" y="224790"/>
                </a:lnTo>
                <a:lnTo>
                  <a:pt x="924306" y="224790"/>
                </a:lnTo>
                <a:lnTo>
                  <a:pt x="924306" y="147066"/>
                </a:lnTo>
                <a:close/>
              </a:path>
              <a:path w="3792220" h="3033395">
                <a:moveTo>
                  <a:pt x="944880" y="2135886"/>
                </a:moveTo>
                <a:lnTo>
                  <a:pt x="867156" y="2135886"/>
                </a:lnTo>
                <a:lnTo>
                  <a:pt x="867156" y="2161794"/>
                </a:lnTo>
                <a:lnTo>
                  <a:pt x="944880" y="2161794"/>
                </a:lnTo>
                <a:lnTo>
                  <a:pt x="944880" y="2135886"/>
                </a:lnTo>
                <a:close/>
              </a:path>
              <a:path w="3792220" h="3033395">
                <a:moveTo>
                  <a:pt x="950214" y="77724"/>
                </a:moveTo>
                <a:lnTo>
                  <a:pt x="943737" y="64770"/>
                </a:lnTo>
                <a:lnTo>
                  <a:pt x="911352" y="0"/>
                </a:lnTo>
                <a:lnTo>
                  <a:pt x="872490" y="77724"/>
                </a:lnTo>
                <a:lnTo>
                  <a:pt x="898398" y="77724"/>
                </a:lnTo>
                <a:lnTo>
                  <a:pt x="898398" y="121158"/>
                </a:lnTo>
                <a:lnTo>
                  <a:pt x="924306" y="121158"/>
                </a:lnTo>
                <a:lnTo>
                  <a:pt x="924306" y="77724"/>
                </a:lnTo>
                <a:lnTo>
                  <a:pt x="950214" y="77724"/>
                </a:lnTo>
                <a:close/>
              </a:path>
              <a:path w="3792220" h="3033395">
                <a:moveTo>
                  <a:pt x="982853" y="1289431"/>
                </a:moveTo>
                <a:lnTo>
                  <a:pt x="979385" y="1286256"/>
                </a:lnTo>
                <a:lnTo>
                  <a:pt x="911352" y="1223772"/>
                </a:lnTo>
                <a:lnTo>
                  <a:pt x="901700" y="1320419"/>
                </a:lnTo>
                <a:lnTo>
                  <a:pt x="928725" y="1310106"/>
                </a:lnTo>
                <a:lnTo>
                  <a:pt x="937895" y="1334008"/>
                </a:lnTo>
                <a:lnTo>
                  <a:pt x="964946" y="1323721"/>
                </a:lnTo>
                <a:lnTo>
                  <a:pt x="955763" y="1299781"/>
                </a:lnTo>
                <a:lnTo>
                  <a:pt x="982853" y="1289431"/>
                </a:lnTo>
                <a:close/>
              </a:path>
              <a:path w="3792220" h="3033395">
                <a:moveTo>
                  <a:pt x="993648" y="419862"/>
                </a:moveTo>
                <a:lnTo>
                  <a:pt x="989076" y="419862"/>
                </a:lnTo>
                <a:lnTo>
                  <a:pt x="989076" y="393954"/>
                </a:lnTo>
                <a:lnTo>
                  <a:pt x="924306" y="426339"/>
                </a:lnTo>
                <a:lnTo>
                  <a:pt x="924306" y="354330"/>
                </a:lnTo>
                <a:lnTo>
                  <a:pt x="898398" y="354330"/>
                </a:lnTo>
                <a:lnTo>
                  <a:pt x="898398" y="432054"/>
                </a:lnTo>
                <a:lnTo>
                  <a:pt x="912876" y="432054"/>
                </a:lnTo>
                <a:lnTo>
                  <a:pt x="911352" y="432816"/>
                </a:lnTo>
                <a:lnTo>
                  <a:pt x="989076" y="471678"/>
                </a:lnTo>
                <a:lnTo>
                  <a:pt x="989076" y="445770"/>
                </a:lnTo>
                <a:lnTo>
                  <a:pt x="993648" y="445770"/>
                </a:lnTo>
                <a:lnTo>
                  <a:pt x="993648" y="419862"/>
                </a:lnTo>
                <a:close/>
              </a:path>
              <a:path w="3792220" h="3033395">
                <a:moveTo>
                  <a:pt x="1006094" y="1431925"/>
                </a:moveTo>
                <a:lnTo>
                  <a:pt x="975233" y="1350772"/>
                </a:lnTo>
                <a:lnTo>
                  <a:pt x="948182" y="1361059"/>
                </a:lnTo>
                <a:lnTo>
                  <a:pt x="979043" y="1442212"/>
                </a:lnTo>
                <a:lnTo>
                  <a:pt x="1006094" y="1431925"/>
                </a:lnTo>
                <a:close/>
              </a:path>
              <a:path w="3792220" h="3033395">
                <a:moveTo>
                  <a:pt x="1047369" y="1540129"/>
                </a:moveTo>
                <a:lnTo>
                  <a:pt x="1016508" y="1458976"/>
                </a:lnTo>
                <a:lnTo>
                  <a:pt x="989457" y="1469263"/>
                </a:lnTo>
                <a:lnTo>
                  <a:pt x="1020318" y="1550543"/>
                </a:lnTo>
                <a:lnTo>
                  <a:pt x="1047369" y="1540129"/>
                </a:lnTo>
                <a:close/>
              </a:path>
              <a:path w="3792220" h="3033395">
                <a:moveTo>
                  <a:pt x="1048512" y="2135886"/>
                </a:moveTo>
                <a:lnTo>
                  <a:pt x="970788" y="2135886"/>
                </a:lnTo>
                <a:lnTo>
                  <a:pt x="970788" y="2161794"/>
                </a:lnTo>
                <a:lnTo>
                  <a:pt x="1048512" y="2161794"/>
                </a:lnTo>
                <a:lnTo>
                  <a:pt x="1048512" y="2135886"/>
                </a:lnTo>
                <a:close/>
              </a:path>
              <a:path w="3792220" h="3033395">
                <a:moveTo>
                  <a:pt x="1088644" y="1648460"/>
                </a:moveTo>
                <a:lnTo>
                  <a:pt x="1057656" y="1567307"/>
                </a:lnTo>
                <a:lnTo>
                  <a:pt x="1030605" y="1577594"/>
                </a:lnTo>
                <a:lnTo>
                  <a:pt x="1061593" y="1658747"/>
                </a:lnTo>
                <a:lnTo>
                  <a:pt x="1088644" y="1648460"/>
                </a:lnTo>
                <a:close/>
              </a:path>
              <a:path w="3792220" h="3033395">
                <a:moveTo>
                  <a:pt x="1097280" y="419862"/>
                </a:moveTo>
                <a:lnTo>
                  <a:pt x="1019556" y="419862"/>
                </a:lnTo>
                <a:lnTo>
                  <a:pt x="1019556" y="445770"/>
                </a:lnTo>
                <a:lnTo>
                  <a:pt x="1097280" y="445770"/>
                </a:lnTo>
                <a:lnTo>
                  <a:pt x="1097280" y="419862"/>
                </a:lnTo>
                <a:close/>
              </a:path>
              <a:path w="3792220" h="3033395">
                <a:moveTo>
                  <a:pt x="1129792" y="1756664"/>
                </a:moveTo>
                <a:lnTo>
                  <a:pt x="1098931" y="1675511"/>
                </a:lnTo>
                <a:lnTo>
                  <a:pt x="1071880" y="1685798"/>
                </a:lnTo>
                <a:lnTo>
                  <a:pt x="1102741" y="1766951"/>
                </a:lnTo>
                <a:lnTo>
                  <a:pt x="1129792" y="1756664"/>
                </a:lnTo>
                <a:close/>
              </a:path>
              <a:path w="3792220" h="3033395">
                <a:moveTo>
                  <a:pt x="1152144" y="2135886"/>
                </a:moveTo>
                <a:lnTo>
                  <a:pt x="1074420" y="2135886"/>
                </a:lnTo>
                <a:lnTo>
                  <a:pt x="1074420" y="2161794"/>
                </a:lnTo>
                <a:lnTo>
                  <a:pt x="1152144" y="2161794"/>
                </a:lnTo>
                <a:lnTo>
                  <a:pt x="1152144" y="2135886"/>
                </a:lnTo>
                <a:close/>
              </a:path>
              <a:path w="3792220" h="3033395">
                <a:moveTo>
                  <a:pt x="1171067" y="1864868"/>
                </a:moveTo>
                <a:lnTo>
                  <a:pt x="1140206" y="1783715"/>
                </a:lnTo>
                <a:lnTo>
                  <a:pt x="1113155" y="1794002"/>
                </a:lnTo>
                <a:lnTo>
                  <a:pt x="1144016" y="1875155"/>
                </a:lnTo>
                <a:lnTo>
                  <a:pt x="1171067" y="1864868"/>
                </a:lnTo>
                <a:close/>
              </a:path>
              <a:path w="3792220" h="3033395">
                <a:moveTo>
                  <a:pt x="1200912" y="419862"/>
                </a:moveTo>
                <a:lnTo>
                  <a:pt x="1123188" y="419862"/>
                </a:lnTo>
                <a:lnTo>
                  <a:pt x="1123188" y="445770"/>
                </a:lnTo>
                <a:lnTo>
                  <a:pt x="1200912" y="445770"/>
                </a:lnTo>
                <a:lnTo>
                  <a:pt x="1200912" y="419862"/>
                </a:lnTo>
                <a:close/>
              </a:path>
              <a:path w="3792220" h="3033395">
                <a:moveTo>
                  <a:pt x="1212342" y="1973072"/>
                </a:moveTo>
                <a:lnTo>
                  <a:pt x="1181354" y="1891919"/>
                </a:lnTo>
                <a:lnTo>
                  <a:pt x="1154303" y="1902206"/>
                </a:lnTo>
                <a:lnTo>
                  <a:pt x="1185291" y="1983486"/>
                </a:lnTo>
                <a:lnTo>
                  <a:pt x="1212342" y="1973072"/>
                </a:lnTo>
                <a:close/>
              </a:path>
              <a:path w="3792220" h="3033395">
                <a:moveTo>
                  <a:pt x="1253490" y="2081403"/>
                </a:moveTo>
                <a:lnTo>
                  <a:pt x="1222629" y="2000250"/>
                </a:lnTo>
                <a:lnTo>
                  <a:pt x="1195578" y="2010537"/>
                </a:lnTo>
                <a:lnTo>
                  <a:pt x="1226439" y="2091690"/>
                </a:lnTo>
                <a:lnTo>
                  <a:pt x="1253490" y="2081403"/>
                </a:lnTo>
                <a:close/>
              </a:path>
              <a:path w="3792220" h="3033395">
                <a:moveTo>
                  <a:pt x="1294765" y="2189607"/>
                </a:moveTo>
                <a:lnTo>
                  <a:pt x="1263904" y="2108454"/>
                </a:lnTo>
                <a:lnTo>
                  <a:pt x="1236853" y="2118741"/>
                </a:lnTo>
                <a:lnTo>
                  <a:pt x="1267714" y="2199894"/>
                </a:lnTo>
                <a:lnTo>
                  <a:pt x="1294765" y="2189607"/>
                </a:lnTo>
                <a:close/>
              </a:path>
              <a:path w="3792220" h="3033395">
                <a:moveTo>
                  <a:pt x="1304544" y="419862"/>
                </a:moveTo>
                <a:lnTo>
                  <a:pt x="1226820" y="419862"/>
                </a:lnTo>
                <a:lnTo>
                  <a:pt x="1226820" y="445770"/>
                </a:lnTo>
                <a:lnTo>
                  <a:pt x="1304544" y="445770"/>
                </a:lnTo>
                <a:lnTo>
                  <a:pt x="1304544" y="419862"/>
                </a:lnTo>
                <a:close/>
              </a:path>
              <a:path w="3792220" h="3033395">
                <a:moveTo>
                  <a:pt x="1336040" y="2297811"/>
                </a:moveTo>
                <a:lnTo>
                  <a:pt x="1305052" y="2216658"/>
                </a:lnTo>
                <a:lnTo>
                  <a:pt x="1278001" y="2226945"/>
                </a:lnTo>
                <a:lnTo>
                  <a:pt x="1308989" y="2308098"/>
                </a:lnTo>
                <a:lnTo>
                  <a:pt x="1336040" y="2297811"/>
                </a:lnTo>
                <a:close/>
              </a:path>
              <a:path w="3792220" h="3033395">
                <a:moveTo>
                  <a:pt x="1377188" y="2406015"/>
                </a:moveTo>
                <a:lnTo>
                  <a:pt x="1346327" y="2324862"/>
                </a:lnTo>
                <a:lnTo>
                  <a:pt x="1319276" y="2335149"/>
                </a:lnTo>
                <a:lnTo>
                  <a:pt x="1350137" y="2416429"/>
                </a:lnTo>
                <a:lnTo>
                  <a:pt x="1377188" y="2406015"/>
                </a:lnTo>
                <a:close/>
              </a:path>
              <a:path w="3792220" h="3033395">
                <a:moveTo>
                  <a:pt x="1408176" y="419862"/>
                </a:moveTo>
                <a:lnTo>
                  <a:pt x="1330452" y="419862"/>
                </a:lnTo>
                <a:lnTo>
                  <a:pt x="1330452" y="445770"/>
                </a:lnTo>
                <a:lnTo>
                  <a:pt x="1408176" y="445770"/>
                </a:lnTo>
                <a:lnTo>
                  <a:pt x="1408176" y="419862"/>
                </a:lnTo>
                <a:close/>
              </a:path>
              <a:path w="3792220" h="3033395">
                <a:moveTo>
                  <a:pt x="1418463" y="2514346"/>
                </a:moveTo>
                <a:lnTo>
                  <a:pt x="1387602" y="2433193"/>
                </a:lnTo>
                <a:lnTo>
                  <a:pt x="1360551" y="2443480"/>
                </a:lnTo>
                <a:lnTo>
                  <a:pt x="1391412" y="2524633"/>
                </a:lnTo>
                <a:lnTo>
                  <a:pt x="1418463" y="2514346"/>
                </a:lnTo>
                <a:close/>
              </a:path>
              <a:path w="3792220" h="3033395">
                <a:moveTo>
                  <a:pt x="1459738" y="2622550"/>
                </a:moveTo>
                <a:lnTo>
                  <a:pt x="1428750" y="2541397"/>
                </a:lnTo>
                <a:lnTo>
                  <a:pt x="1401699" y="2551684"/>
                </a:lnTo>
                <a:lnTo>
                  <a:pt x="1432687" y="2632837"/>
                </a:lnTo>
                <a:lnTo>
                  <a:pt x="1459738" y="2622550"/>
                </a:lnTo>
                <a:close/>
              </a:path>
              <a:path w="3792220" h="3033395">
                <a:moveTo>
                  <a:pt x="1500886" y="2730754"/>
                </a:moveTo>
                <a:lnTo>
                  <a:pt x="1470025" y="2649601"/>
                </a:lnTo>
                <a:lnTo>
                  <a:pt x="1442974" y="2659888"/>
                </a:lnTo>
                <a:lnTo>
                  <a:pt x="1473835" y="2741041"/>
                </a:lnTo>
                <a:lnTo>
                  <a:pt x="1500886" y="2730754"/>
                </a:lnTo>
                <a:close/>
              </a:path>
              <a:path w="3792220" h="3033395">
                <a:moveTo>
                  <a:pt x="1511808" y="419862"/>
                </a:moveTo>
                <a:lnTo>
                  <a:pt x="1434084" y="419862"/>
                </a:lnTo>
                <a:lnTo>
                  <a:pt x="1434084" y="445770"/>
                </a:lnTo>
                <a:lnTo>
                  <a:pt x="1511808" y="445770"/>
                </a:lnTo>
                <a:lnTo>
                  <a:pt x="1511808" y="419862"/>
                </a:lnTo>
                <a:close/>
              </a:path>
              <a:path w="3792220" h="3033395">
                <a:moveTo>
                  <a:pt x="1615440" y="419862"/>
                </a:moveTo>
                <a:lnTo>
                  <a:pt x="1537716" y="419862"/>
                </a:lnTo>
                <a:lnTo>
                  <a:pt x="1537716" y="445770"/>
                </a:lnTo>
                <a:lnTo>
                  <a:pt x="1615440" y="445770"/>
                </a:lnTo>
                <a:lnTo>
                  <a:pt x="1615440" y="419862"/>
                </a:lnTo>
                <a:close/>
              </a:path>
              <a:path w="3792220" h="3033395">
                <a:moveTo>
                  <a:pt x="1719072" y="419862"/>
                </a:moveTo>
                <a:lnTo>
                  <a:pt x="1641348" y="419862"/>
                </a:lnTo>
                <a:lnTo>
                  <a:pt x="1641348" y="445770"/>
                </a:lnTo>
                <a:lnTo>
                  <a:pt x="1719072" y="445770"/>
                </a:lnTo>
                <a:lnTo>
                  <a:pt x="1719072" y="419862"/>
                </a:lnTo>
                <a:close/>
              </a:path>
              <a:path w="3792220" h="3033395">
                <a:moveTo>
                  <a:pt x="1822704" y="419862"/>
                </a:moveTo>
                <a:lnTo>
                  <a:pt x="1744980" y="419862"/>
                </a:lnTo>
                <a:lnTo>
                  <a:pt x="1744980" y="445770"/>
                </a:lnTo>
                <a:lnTo>
                  <a:pt x="1822704" y="445770"/>
                </a:lnTo>
                <a:lnTo>
                  <a:pt x="1822704" y="419862"/>
                </a:lnTo>
                <a:close/>
              </a:path>
              <a:path w="3792220" h="3033395">
                <a:moveTo>
                  <a:pt x="1833372" y="2971711"/>
                </a:moveTo>
                <a:lnTo>
                  <a:pt x="1812925" y="2955798"/>
                </a:lnTo>
                <a:lnTo>
                  <a:pt x="1765173" y="3017151"/>
                </a:lnTo>
                <a:lnTo>
                  <a:pt x="1785747" y="3033052"/>
                </a:lnTo>
                <a:lnTo>
                  <a:pt x="1833372" y="2971711"/>
                </a:lnTo>
                <a:close/>
              </a:path>
              <a:path w="3792220" h="3033395">
                <a:moveTo>
                  <a:pt x="1896999" y="2889885"/>
                </a:moveTo>
                <a:lnTo>
                  <a:pt x="1876552" y="2874010"/>
                </a:lnTo>
                <a:lnTo>
                  <a:pt x="1828800" y="2935351"/>
                </a:lnTo>
                <a:lnTo>
                  <a:pt x="1849247" y="2951251"/>
                </a:lnTo>
                <a:lnTo>
                  <a:pt x="1896999" y="2889885"/>
                </a:lnTo>
                <a:close/>
              </a:path>
              <a:path w="3792220" h="3033395">
                <a:moveTo>
                  <a:pt x="1926336" y="419862"/>
                </a:moveTo>
                <a:lnTo>
                  <a:pt x="1848612" y="419862"/>
                </a:lnTo>
                <a:lnTo>
                  <a:pt x="1848612" y="445770"/>
                </a:lnTo>
                <a:lnTo>
                  <a:pt x="1926336" y="445770"/>
                </a:lnTo>
                <a:lnTo>
                  <a:pt x="1926336" y="419862"/>
                </a:lnTo>
                <a:close/>
              </a:path>
              <a:path w="3792220" h="3033395">
                <a:moveTo>
                  <a:pt x="1960626" y="2808097"/>
                </a:moveTo>
                <a:lnTo>
                  <a:pt x="1940179" y="2792222"/>
                </a:lnTo>
                <a:lnTo>
                  <a:pt x="1892427" y="2853563"/>
                </a:lnTo>
                <a:lnTo>
                  <a:pt x="1912874" y="2869438"/>
                </a:lnTo>
                <a:lnTo>
                  <a:pt x="1960626" y="2808097"/>
                </a:lnTo>
                <a:close/>
              </a:path>
              <a:path w="3792220" h="3033395">
                <a:moveTo>
                  <a:pt x="2024253" y="2726309"/>
                </a:moveTo>
                <a:lnTo>
                  <a:pt x="2003806" y="2710434"/>
                </a:lnTo>
                <a:lnTo>
                  <a:pt x="1956054" y="2771775"/>
                </a:lnTo>
                <a:lnTo>
                  <a:pt x="1976501" y="2787650"/>
                </a:lnTo>
                <a:lnTo>
                  <a:pt x="2024253" y="2726309"/>
                </a:lnTo>
                <a:close/>
              </a:path>
              <a:path w="3792220" h="3033395">
                <a:moveTo>
                  <a:pt x="2029968" y="419862"/>
                </a:moveTo>
                <a:lnTo>
                  <a:pt x="1952244" y="419862"/>
                </a:lnTo>
                <a:lnTo>
                  <a:pt x="1952244" y="445770"/>
                </a:lnTo>
                <a:lnTo>
                  <a:pt x="2029968" y="445770"/>
                </a:lnTo>
                <a:lnTo>
                  <a:pt x="2029968" y="419862"/>
                </a:lnTo>
                <a:close/>
              </a:path>
              <a:path w="3792220" h="3033395">
                <a:moveTo>
                  <a:pt x="2087880" y="2644521"/>
                </a:moveTo>
                <a:lnTo>
                  <a:pt x="2067433" y="2628646"/>
                </a:lnTo>
                <a:lnTo>
                  <a:pt x="2019681" y="2689987"/>
                </a:lnTo>
                <a:lnTo>
                  <a:pt x="2040128" y="2705862"/>
                </a:lnTo>
                <a:lnTo>
                  <a:pt x="2087880" y="2644521"/>
                </a:lnTo>
                <a:close/>
              </a:path>
              <a:path w="3792220" h="3033395">
                <a:moveTo>
                  <a:pt x="2133600" y="419862"/>
                </a:moveTo>
                <a:lnTo>
                  <a:pt x="2055876" y="419862"/>
                </a:lnTo>
                <a:lnTo>
                  <a:pt x="2055876" y="445770"/>
                </a:lnTo>
                <a:lnTo>
                  <a:pt x="2133600" y="445770"/>
                </a:lnTo>
                <a:lnTo>
                  <a:pt x="2133600" y="419862"/>
                </a:lnTo>
                <a:close/>
              </a:path>
              <a:path w="3792220" h="3033395">
                <a:moveTo>
                  <a:pt x="2151507" y="2562733"/>
                </a:moveTo>
                <a:lnTo>
                  <a:pt x="2131060" y="2546731"/>
                </a:lnTo>
                <a:lnTo>
                  <a:pt x="2083308" y="2608199"/>
                </a:lnTo>
                <a:lnTo>
                  <a:pt x="2103755" y="2624074"/>
                </a:lnTo>
                <a:lnTo>
                  <a:pt x="2151507" y="2562733"/>
                </a:lnTo>
                <a:close/>
              </a:path>
              <a:path w="3792220" h="3033395">
                <a:moveTo>
                  <a:pt x="2215134" y="2480945"/>
                </a:moveTo>
                <a:lnTo>
                  <a:pt x="2194687" y="2464943"/>
                </a:lnTo>
                <a:lnTo>
                  <a:pt x="2146935" y="2526284"/>
                </a:lnTo>
                <a:lnTo>
                  <a:pt x="2167382" y="2542286"/>
                </a:lnTo>
                <a:lnTo>
                  <a:pt x="2215134" y="2480945"/>
                </a:lnTo>
                <a:close/>
              </a:path>
              <a:path w="3792220" h="3033395">
                <a:moveTo>
                  <a:pt x="2237232" y="419862"/>
                </a:moveTo>
                <a:lnTo>
                  <a:pt x="2159508" y="419862"/>
                </a:lnTo>
                <a:lnTo>
                  <a:pt x="2159508" y="445770"/>
                </a:lnTo>
                <a:lnTo>
                  <a:pt x="2237232" y="445770"/>
                </a:lnTo>
                <a:lnTo>
                  <a:pt x="2237232" y="419862"/>
                </a:lnTo>
                <a:close/>
              </a:path>
              <a:path w="3792220" h="3033395">
                <a:moveTo>
                  <a:pt x="2278761" y="2399030"/>
                </a:moveTo>
                <a:lnTo>
                  <a:pt x="2258314" y="2383155"/>
                </a:lnTo>
                <a:lnTo>
                  <a:pt x="2210562" y="2444496"/>
                </a:lnTo>
                <a:lnTo>
                  <a:pt x="2231009" y="2460498"/>
                </a:lnTo>
                <a:lnTo>
                  <a:pt x="2278761" y="2399030"/>
                </a:lnTo>
                <a:close/>
              </a:path>
              <a:path w="3792220" h="3033395">
                <a:moveTo>
                  <a:pt x="2340864" y="419862"/>
                </a:moveTo>
                <a:lnTo>
                  <a:pt x="2263140" y="419862"/>
                </a:lnTo>
                <a:lnTo>
                  <a:pt x="2263140" y="445770"/>
                </a:lnTo>
                <a:lnTo>
                  <a:pt x="2340864" y="445770"/>
                </a:lnTo>
                <a:lnTo>
                  <a:pt x="2340864" y="419862"/>
                </a:lnTo>
                <a:close/>
              </a:path>
              <a:path w="3792220" h="3033395">
                <a:moveTo>
                  <a:pt x="2342388" y="2317242"/>
                </a:moveTo>
                <a:lnTo>
                  <a:pt x="2321941" y="2301367"/>
                </a:lnTo>
                <a:lnTo>
                  <a:pt x="2274189" y="2362708"/>
                </a:lnTo>
                <a:lnTo>
                  <a:pt x="2294636" y="2378583"/>
                </a:lnTo>
                <a:lnTo>
                  <a:pt x="2342388" y="2317242"/>
                </a:lnTo>
                <a:close/>
              </a:path>
              <a:path w="3792220" h="3033395">
                <a:moveTo>
                  <a:pt x="2406015" y="2235454"/>
                </a:moveTo>
                <a:lnTo>
                  <a:pt x="2385568" y="2219579"/>
                </a:lnTo>
                <a:lnTo>
                  <a:pt x="2337816" y="2280920"/>
                </a:lnTo>
                <a:lnTo>
                  <a:pt x="2358263" y="2296795"/>
                </a:lnTo>
                <a:lnTo>
                  <a:pt x="2406015" y="2235454"/>
                </a:lnTo>
                <a:close/>
              </a:path>
              <a:path w="3792220" h="3033395">
                <a:moveTo>
                  <a:pt x="2444496" y="419862"/>
                </a:moveTo>
                <a:lnTo>
                  <a:pt x="2366772" y="419862"/>
                </a:lnTo>
                <a:lnTo>
                  <a:pt x="2366772" y="445770"/>
                </a:lnTo>
                <a:lnTo>
                  <a:pt x="2444496" y="445770"/>
                </a:lnTo>
                <a:lnTo>
                  <a:pt x="2444496" y="419862"/>
                </a:lnTo>
                <a:close/>
              </a:path>
              <a:path w="3792220" h="3033395">
                <a:moveTo>
                  <a:pt x="2469642" y="2153666"/>
                </a:moveTo>
                <a:lnTo>
                  <a:pt x="2449195" y="2137791"/>
                </a:lnTo>
                <a:lnTo>
                  <a:pt x="2401443" y="2199132"/>
                </a:lnTo>
                <a:lnTo>
                  <a:pt x="2421890" y="2215007"/>
                </a:lnTo>
                <a:lnTo>
                  <a:pt x="2469642" y="2153666"/>
                </a:lnTo>
                <a:close/>
              </a:path>
              <a:path w="3792220" h="3033395">
                <a:moveTo>
                  <a:pt x="2533269" y="2071878"/>
                </a:moveTo>
                <a:lnTo>
                  <a:pt x="2512822" y="2056003"/>
                </a:lnTo>
                <a:lnTo>
                  <a:pt x="2465070" y="2117344"/>
                </a:lnTo>
                <a:lnTo>
                  <a:pt x="2485517" y="2133219"/>
                </a:lnTo>
                <a:lnTo>
                  <a:pt x="2533269" y="2071878"/>
                </a:lnTo>
                <a:close/>
              </a:path>
              <a:path w="3792220" h="3033395">
                <a:moveTo>
                  <a:pt x="2548128" y="419862"/>
                </a:moveTo>
                <a:lnTo>
                  <a:pt x="2470404" y="419862"/>
                </a:lnTo>
                <a:lnTo>
                  <a:pt x="2470404" y="445770"/>
                </a:lnTo>
                <a:lnTo>
                  <a:pt x="2548128" y="445770"/>
                </a:lnTo>
                <a:lnTo>
                  <a:pt x="2548128" y="419862"/>
                </a:lnTo>
                <a:close/>
              </a:path>
              <a:path w="3792220" h="3033395">
                <a:moveTo>
                  <a:pt x="2596896" y="1990090"/>
                </a:moveTo>
                <a:lnTo>
                  <a:pt x="2576449" y="1974215"/>
                </a:lnTo>
                <a:lnTo>
                  <a:pt x="2528697" y="2035556"/>
                </a:lnTo>
                <a:lnTo>
                  <a:pt x="2549144" y="2051431"/>
                </a:lnTo>
                <a:lnTo>
                  <a:pt x="2596896" y="1990090"/>
                </a:lnTo>
                <a:close/>
              </a:path>
              <a:path w="3792220" h="3033395">
                <a:moveTo>
                  <a:pt x="2651760" y="419862"/>
                </a:moveTo>
                <a:lnTo>
                  <a:pt x="2574023" y="419862"/>
                </a:lnTo>
                <a:lnTo>
                  <a:pt x="2574023" y="445770"/>
                </a:lnTo>
                <a:lnTo>
                  <a:pt x="2651760" y="445770"/>
                </a:lnTo>
                <a:lnTo>
                  <a:pt x="2651760" y="419862"/>
                </a:lnTo>
                <a:close/>
              </a:path>
              <a:path w="3792220" h="3033395">
                <a:moveTo>
                  <a:pt x="2660523" y="1908302"/>
                </a:moveTo>
                <a:lnTo>
                  <a:pt x="2640076" y="1892427"/>
                </a:lnTo>
                <a:lnTo>
                  <a:pt x="2592324" y="1953768"/>
                </a:lnTo>
                <a:lnTo>
                  <a:pt x="2612771" y="1969643"/>
                </a:lnTo>
                <a:lnTo>
                  <a:pt x="2660523" y="1908302"/>
                </a:lnTo>
                <a:close/>
              </a:path>
              <a:path w="3792220" h="3033395">
                <a:moveTo>
                  <a:pt x="2724150" y="1826514"/>
                </a:moveTo>
                <a:lnTo>
                  <a:pt x="2703703" y="1810512"/>
                </a:lnTo>
                <a:lnTo>
                  <a:pt x="2655951" y="1871980"/>
                </a:lnTo>
                <a:lnTo>
                  <a:pt x="2676398" y="1887855"/>
                </a:lnTo>
                <a:lnTo>
                  <a:pt x="2724150" y="1826514"/>
                </a:lnTo>
                <a:close/>
              </a:path>
              <a:path w="3792220" h="3033395">
                <a:moveTo>
                  <a:pt x="2755392" y="419862"/>
                </a:moveTo>
                <a:lnTo>
                  <a:pt x="2677668" y="419862"/>
                </a:lnTo>
                <a:lnTo>
                  <a:pt x="2677668" y="445770"/>
                </a:lnTo>
                <a:lnTo>
                  <a:pt x="2755392" y="445770"/>
                </a:lnTo>
                <a:lnTo>
                  <a:pt x="2755392" y="419862"/>
                </a:lnTo>
                <a:close/>
              </a:path>
              <a:path w="3792220" h="3033395">
                <a:moveTo>
                  <a:pt x="2787777" y="1744726"/>
                </a:moveTo>
                <a:lnTo>
                  <a:pt x="2767330" y="1728724"/>
                </a:lnTo>
                <a:lnTo>
                  <a:pt x="2719578" y="1790065"/>
                </a:lnTo>
                <a:lnTo>
                  <a:pt x="2740025" y="1806067"/>
                </a:lnTo>
                <a:lnTo>
                  <a:pt x="2787777" y="1744726"/>
                </a:lnTo>
                <a:close/>
              </a:path>
              <a:path w="3792220" h="3033395">
                <a:moveTo>
                  <a:pt x="2851404" y="1662811"/>
                </a:moveTo>
                <a:lnTo>
                  <a:pt x="2830957" y="1646936"/>
                </a:lnTo>
                <a:lnTo>
                  <a:pt x="2783205" y="1708277"/>
                </a:lnTo>
                <a:lnTo>
                  <a:pt x="2803652" y="1724279"/>
                </a:lnTo>
                <a:lnTo>
                  <a:pt x="2851404" y="1662811"/>
                </a:lnTo>
                <a:close/>
              </a:path>
              <a:path w="3792220" h="3033395">
                <a:moveTo>
                  <a:pt x="2859024" y="419862"/>
                </a:moveTo>
                <a:lnTo>
                  <a:pt x="2781300" y="419862"/>
                </a:lnTo>
                <a:lnTo>
                  <a:pt x="2781300" y="445770"/>
                </a:lnTo>
                <a:lnTo>
                  <a:pt x="2859024" y="445770"/>
                </a:lnTo>
                <a:lnTo>
                  <a:pt x="2859024" y="419862"/>
                </a:lnTo>
                <a:close/>
              </a:path>
              <a:path w="3792220" h="3033395">
                <a:moveTo>
                  <a:pt x="2915031" y="1581023"/>
                </a:moveTo>
                <a:lnTo>
                  <a:pt x="2894584" y="1565148"/>
                </a:lnTo>
                <a:lnTo>
                  <a:pt x="2846832" y="1626489"/>
                </a:lnTo>
                <a:lnTo>
                  <a:pt x="2867279" y="1642364"/>
                </a:lnTo>
                <a:lnTo>
                  <a:pt x="2915031" y="1581023"/>
                </a:lnTo>
                <a:close/>
              </a:path>
              <a:path w="3792220" h="3033395">
                <a:moveTo>
                  <a:pt x="2962656" y="419862"/>
                </a:moveTo>
                <a:lnTo>
                  <a:pt x="2884932" y="419862"/>
                </a:lnTo>
                <a:lnTo>
                  <a:pt x="2884932" y="445770"/>
                </a:lnTo>
                <a:lnTo>
                  <a:pt x="2962656" y="445770"/>
                </a:lnTo>
                <a:lnTo>
                  <a:pt x="2962656" y="419862"/>
                </a:lnTo>
                <a:close/>
              </a:path>
              <a:path w="3792220" h="3033395">
                <a:moveTo>
                  <a:pt x="2978658" y="1499235"/>
                </a:moveTo>
                <a:lnTo>
                  <a:pt x="2958211" y="1483360"/>
                </a:lnTo>
                <a:lnTo>
                  <a:pt x="2910459" y="1544701"/>
                </a:lnTo>
                <a:lnTo>
                  <a:pt x="2930906" y="1560576"/>
                </a:lnTo>
                <a:lnTo>
                  <a:pt x="2978658" y="1499235"/>
                </a:lnTo>
                <a:close/>
              </a:path>
              <a:path w="3792220" h="3033395">
                <a:moveTo>
                  <a:pt x="3042285" y="1417447"/>
                </a:moveTo>
                <a:lnTo>
                  <a:pt x="3021838" y="1401572"/>
                </a:lnTo>
                <a:lnTo>
                  <a:pt x="2974086" y="1462913"/>
                </a:lnTo>
                <a:lnTo>
                  <a:pt x="2994533" y="1478788"/>
                </a:lnTo>
                <a:lnTo>
                  <a:pt x="3042285" y="1417447"/>
                </a:lnTo>
                <a:close/>
              </a:path>
              <a:path w="3792220" h="3033395">
                <a:moveTo>
                  <a:pt x="3066288" y="419862"/>
                </a:moveTo>
                <a:lnTo>
                  <a:pt x="2988564" y="419862"/>
                </a:lnTo>
                <a:lnTo>
                  <a:pt x="2988564" y="445770"/>
                </a:lnTo>
                <a:lnTo>
                  <a:pt x="3066288" y="445770"/>
                </a:lnTo>
                <a:lnTo>
                  <a:pt x="3066288" y="419862"/>
                </a:lnTo>
                <a:close/>
              </a:path>
              <a:path w="3792220" h="3033395">
                <a:moveTo>
                  <a:pt x="3105912" y="1335659"/>
                </a:moveTo>
                <a:lnTo>
                  <a:pt x="3085465" y="1319784"/>
                </a:lnTo>
                <a:lnTo>
                  <a:pt x="3037713" y="1381125"/>
                </a:lnTo>
                <a:lnTo>
                  <a:pt x="3058160" y="1397000"/>
                </a:lnTo>
                <a:lnTo>
                  <a:pt x="3105912" y="1335659"/>
                </a:lnTo>
                <a:close/>
              </a:path>
              <a:path w="3792220" h="3033395">
                <a:moveTo>
                  <a:pt x="3169539" y="1253871"/>
                </a:moveTo>
                <a:lnTo>
                  <a:pt x="3149092" y="1237996"/>
                </a:lnTo>
                <a:lnTo>
                  <a:pt x="3101340" y="1299337"/>
                </a:lnTo>
                <a:lnTo>
                  <a:pt x="3121787" y="1315212"/>
                </a:lnTo>
                <a:lnTo>
                  <a:pt x="3169539" y="1253871"/>
                </a:lnTo>
                <a:close/>
              </a:path>
              <a:path w="3792220" h="3033395">
                <a:moveTo>
                  <a:pt x="3169920" y="419862"/>
                </a:moveTo>
                <a:lnTo>
                  <a:pt x="3092196" y="419862"/>
                </a:lnTo>
                <a:lnTo>
                  <a:pt x="3092196" y="445770"/>
                </a:lnTo>
                <a:lnTo>
                  <a:pt x="3169920" y="445770"/>
                </a:lnTo>
                <a:lnTo>
                  <a:pt x="3169920" y="419862"/>
                </a:lnTo>
                <a:close/>
              </a:path>
              <a:path w="3792220" h="3033395">
                <a:moveTo>
                  <a:pt x="3233166" y="1172083"/>
                </a:moveTo>
                <a:lnTo>
                  <a:pt x="3212719" y="1156208"/>
                </a:lnTo>
                <a:lnTo>
                  <a:pt x="3164967" y="1217549"/>
                </a:lnTo>
                <a:lnTo>
                  <a:pt x="3185414" y="1233424"/>
                </a:lnTo>
                <a:lnTo>
                  <a:pt x="3233166" y="1172083"/>
                </a:lnTo>
                <a:close/>
              </a:path>
              <a:path w="3792220" h="3033395">
                <a:moveTo>
                  <a:pt x="3273552" y="419862"/>
                </a:moveTo>
                <a:lnTo>
                  <a:pt x="3195828" y="419862"/>
                </a:lnTo>
                <a:lnTo>
                  <a:pt x="3195828" y="445770"/>
                </a:lnTo>
                <a:lnTo>
                  <a:pt x="3273552" y="445770"/>
                </a:lnTo>
                <a:lnTo>
                  <a:pt x="3273552" y="419862"/>
                </a:lnTo>
                <a:close/>
              </a:path>
              <a:path w="3792220" h="3033395">
                <a:moveTo>
                  <a:pt x="3296793" y="1090295"/>
                </a:moveTo>
                <a:lnTo>
                  <a:pt x="3276346" y="1074293"/>
                </a:lnTo>
                <a:lnTo>
                  <a:pt x="3228594" y="1135761"/>
                </a:lnTo>
                <a:lnTo>
                  <a:pt x="3249041" y="1151636"/>
                </a:lnTo>
                <a:lnTo>
                  <a:pt x="3296793" y="1090295"/>
                </a:lnTo>
                <a:close/>
              </a:path>
              <a:path w="3792220" h="3033395">
                <a:moveTo>
                  <a:pt x="3360420" y="1008507"/>
                </a:moveTo>
                <a:lnTo>
                  <a:pt x="3339973" y="992505"/>
                </a:lnTo>
                <a:lnTo>
                  <a:pt x="3292221" y="1053846"/>
                </a:lnTo>
                <a:lnTo>
                  <a:pt x="3312668" y="1069848"/>
                </a:lnTo>
                <a:lnTo>
                  <a:pt x="3360420" y="1008507"/>
                </a:lnTo>
                <a:close/>
              </a:path>
              <a:path w="3792220" h="3033395">
                <a:moveTo>
                  <a:pt x="3377184" y="419862"/>
                </a:moveTo>
                <a:lnTo>
                  <a:pt x="3299460" y="419862"/>
                </a:lnTo>
                <a:lnTo>
                  <a:pt x="3299460" y="445770"/>
                </a:lnTo>
                <a:lnTo>
                  <a:pt x="3377184" y="445770"/>
                </a:lnTo>
                <a:lnTo>
                  <a:pt x="3377184" y="419862"/>
                </a:lnTo>
                <a:close/>
              </a:path>
              <a:path w="3792220" h="3033395">
                <a:moveTo>
                  <a:pt x="3424047" y="926592"/>
                </a:moveTo>
                <a:lnTo>
                  <a:pt x="3403600" y="910717"/>
                </a:lnTo>
                <a:lnTo>
                  <a:pt x="3355848" y="972058"/>
                </a:lnTo>
                <a:lnTo>
                  <a:pt x="3376295" y="988060"/>
                </a:lnTo>
                <a:lnTo>
                  <a:pt x="3424047" y="926592"/>
                </a:lnTo>
                <a:close/>
              </a:path>
              <a:path w="3792220" h="3033395">
                <a:moveTo>
                  <a:pt x="3480816" y="419862"/>
                </a:moveTo>
                <a:lnTo>
                  <a:pt x="3403092" y="419862"/>
                </a:lnTo>
                <a:lnTo>
                  <a:pt x="3403092" y="445770"/>
                </a:lnTo>
                <a:lnTo>
                  <a:pt x="3480816" y="445770"/>
                </a:lnTo>
                <a:lnTo>
                  <a:pt x="3480816" y="419862"/>
                </a:lnTo>
                <a:close/>
              </a:path>
              <a:path w="3792220" h="3033395">
                <a:moveTo>
                  <a:pt x="3487674" y="844804"/>
                </a:moveTo>
                <a:lnTo>
                  <a:pt x="3467227" y="828929"/>
                </a:lnTo>
                <a:lnTo>
                  <a:pt x="3419475" y="890270"/>
                </a:lnTo>
                <a:lnTo>
                  <a:pt x="3439922" y="906145"/>
                </a:lnTo>
                <a:lnTo>
                  <a:pt x="3487674" y="844804"/>
                </a:lnTo>
                <a:close/>
              </a:path>
              <a:path w="3792220" h="3033395">
                <a:moveTo>
                  <a:pt x="3551301" y="763016"/>
                </a:moveTo>
                <a:lnTo>
                  <a:pt x="3530854" y="747141"/>
                </a:lnTo>
                <a:lnTo>
                  <a:pt x="3483102" y="808482"/>
                </a:lnTo>
                <a:lnTo>
                  <a:pt x="3503549" y="824357"/>
                </a:lnTo>
                <a:lnTo>
                  <a:pt x="3551301" y="763016"/>
                </a:lnTo>
                <a:close/>
              </a:path>
              <a:path w="3792220" h="3033395">
                <a:moveTo>
                  <a:pt x="3584448" y="419862"/>
                </a:moveTo>
                <a:lnTo>
                  <a:pt x="3506724" y="419862"/>
                </a:lnTo>
                <a:lnTo>
                  <a:pt x="3506724" y="445770"/>
                </a:lnTo>
                <a:lnTo>
                  <a:pt x="3584448" y="445770"/>
                </a:lnTo>
                <a:lnTo>
                  <a:pt x="3584448" y="419862"/>
                </a:lnTo>
                <a:close/>
              </a:path>
              <a:path w="3792220" h="3033395">
                <a:moveTo>
                  <a:pt x="3614928" y="681228"/>
                </a:moveTo>
                <a:lnTo>
                  <a:pt x="3594481" y="665353"/>
                </a:lnTo>
                <a:lnTo>
                  <a:pt x="3546729" y="726694"/>
                </a:lnTo>
                <a:lnTo>
                  <a:pt x="3567176" y="742569"/>
                </a:lnTo>
                <a:lnTo>
                  <a:pt x="3614928" y="681228"/>
                </a:lnTo>
                <a:close/>
              </a:path>
              <a:path w="3792220" h="3033395">
                <a:moveTo>
                  <a:pt x="3678555" y="599440"/>
                </a:moveTo>
                <a:lnTo>
                  <a:pt x="3657981" y="583565"/>
                </a:lnTo>
                <a:lnTo>
                  <a:pt x="3610356" y="644906"/>
                </a:lnTo>
                <a:lnTo>
                  <a:pt x="3630803" y="660781"/>
                </a:lnTo>
                <a:lnTo>
                  <a:pt x="3678555" y="599440"/>
                </a:lnTo>
                <a:close/>
              </a:path>
              <a:path w="3792220" h="3033395">
                <a:moveTo>
                  <a:pt x="3688080" y="419862"/>
                </a:moveTo>
                <a:lnTo>
                  <a:pt x="3610356" y="419862"/>
                </a:lnTo>
                <a:lnTo>
                  <a:pt x="3610356" y="445770"/>
                </a:lnTo>
                <a:lnTo>
                  <a:pt x="3688080" y="445770"/>
                </a:lnTo>
                <a:lnTo>
                  <a:pt x="3688080" y="419862"/>
                </a:lnTo>
                <a:close/>
              </a:path>
              <a:path w="3792220" h="3033395">
                <a:moveTo>
                  <a:pt x="3742055" y="517652"/>
                </a:moveTo>
                <a:lnTo>
                  <a:pt x="3721608" y="501777"/>
                </a:lnTo>
                <a:lnTo>
                  <a:pt x="3673983" y="563118"/>
                </a:lnTo>
                <a:lnTo>
                  <a:pt x="3694430" y="578993"/>
                </a:lnTo>
                <a:lnTo>
                  <a:pt x="3742055" y="517652"/>
                </a:lnTo>
                <a:close/>
              </a:path>
              <a:path w="3792220" h="3033395">
                <a:moveTo>
                  <a:pt x="3791712" y="419862"/>
                </a:moveTo>
                <a:lnTo>
                  <a:pt x="3713988" y="419862"/>
                </a:lnTo>
                <a:lnTo>
                  <a:pt x="3713988" y="445770"/>
                </a:lnTo>
                <a:lnTo>
                  <a:pt x="3764572" y="445770"/>
                </a:lnTo>
                <a:lnTo>
                  <a:pt x="3713226" y="470281"/>
                </a:lnTo>
                <a:lnTo>
                  <a:pt x="3774694" y="518033"/>
                </a:lnTo>
                <a:lnTo>
                  <a:pt x="3778847" y="497205"/>
                </a:lnTo>
                <a:lnTo>
                  <a:pt x="3783088" y="475996"/>
                </a:lnTo>
                <a:lnTo>
                  <a:pt x="3789121" y="445770"/>
                </a:lnTo>
                <a:lnTo>
                  <a:pt x="3791712" y="445770"/>
                </a:lnTo>
                <a:lnTo>
                  <a:pt x="3791712" y="432816"/>
                </a:lnTo>
                <a:lnTo>
                  <a:pt x="3791712" y="4198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E4FD6AB-8941-084F-6C86-186D2A8850B0}"/>
                  </a:ext>
                </a:extLst>
              </p14:cNvPr>
              <p14:cNvContentPartPr/>
              <p14:nvPr/>
            </p14:nvContentPartPr>
            <p14:xfrm>
              <a:off x="5009760" y="5715000"/>
              <a:ext cx="205560" cy="3398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E4FD6AB-8941-084F-6C86-186D2A8850B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00400" y="5705640"/>
                <a:ext cx="224280" cy="358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5156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Role</a:t>
            </a:r>
            <a:r>
              <a:rPr sz="3600" i="0" spc="-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8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3600" i="0" spc="-3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super</a:t>
            </a:r>
            <a:r>
              <a:rPr sz="3600" i="0" spc="-2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3600" i="0" spc="-3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Example</a:t>
            </a:r>
            <a:r>
              <a:rPr sz="3600" i="0" spc="-2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5" dirty="0">
                <a:solidFill>
                  <a:srgbClr val="000000"/>
                </a:solidFill>
                <a:latin typeface="Arial"/>
                <a:cs typeface="Arial"/>
              </a:rPr>
              <a:t>3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6334" y="1369567"/>
            <a:ext cx="178117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47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// File </a:t>
            </a:r>
            <a:r>
              <a:rPr sz="1200" b="1" spc="-5" dirty="0">
                <a:latin typeface="Arial"/>
                <a:cs typeface="Arial"/>
              </a:rPr>
              <a:t>Name </a:t>
            </a:r>
            <a:r>
              <a:rPr sz="1200" b="1" dirty="0">
                <a:latin typeface="Arial"/>
                <a:cs typeface="Arial"/>
              </a:rPr>
              <a:t>:</a:t>
            </a:r>
            <a:r>
              <a:rPr sz="1200" b="1" spc="-9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XYZ.java  </a:t>
            </a:r>
            <a:r>
              <a:rPr sz="1200" b="1" dirty="0">
                <a:latin typeface="Arial"/>
                <a:cs typeface="Arial"/>
              </a:rPr>
              <a:t>class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spc="-5" dirty="0"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182880">
              <a:lnSpc>
                <a:spcPct val="100000"/>
              </a:lnSpc>
            </a:pPr>
            <a:r>
              <a:rPr sz="1200" b="1" spc="-5" dirty="0">
                <a:solidFill>
                  <a:srgbClr val="0000FF"/>
                </a:solidFill>
                <a:latin typeface="Arial"/>
                <a:cs typeface="Arial"/>
              </a:rPr>
              <a:t>private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1200" b="1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a;</a:t>
            </a:r>
            <a:endParaRPr sz="1200">
              <a:latin typeface="Arial"/>
              <a:cs typeface="Arial"/>
            </a:endParaRPr>
          </a:p>
          <a:p>
            <a:pPr marL="178435" marR="5080" indent="4445">
              <a:lnSpc>
                <a:spcPct val="100000"/>
              </a:lnSpc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//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Constructor Method  </a:t>
            </a:r>
            <a:r>
              <a:rPr sz="1200" b="1" spc="-25" dirty="0">
                <a:solidFill>
                  <a:srgbClr val="FF0000"/>
                </a:solidFill>
                <a:latin typeface="Arial"/>
                <a:cs typeface="Arial"/>
              </a:rPr>
              <a:t>A(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int</a:t>
            </a:r>
            <a:r>
              <a:rPr sz="1200" b="1" spc="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a)</a:t>
            </a:r>
            <a:endParaRPr sz="1200">
              <a:latin typeface="Arial"/>
              <a:cs typeface="Arial"/>
            </a:endParaRPr>
          </a:p>
          <a:p>
            <a:pPr marL="182880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312420">
              <a:lnSpc>
                <a:spcPct val="100000"/>
              </a:lnSpc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this.a</a:t>
            </a:r>
            <a:r>
              <a:rPr sz="12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=a;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15489" y="1917903"/>
            <a:ext cx="11379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//</a:t>
            </a:r>
            <a:r>
              <a:rPr sz="1200" b="1" spc="-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instance-field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3890" y="2832861"/>
            <a:ext cx="378650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System.out.println("This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constructor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of class</a:t>
            </a:r>
            <a:r>
              <a:rPr sz="1200" b="1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15" dirty="0">
                <a:solidFill>
                  <a:srgbClr val="FF0000"/>
                </a:solidFill>
                <a:latin typeface="Arial"/>
                <a:cs typeface="Arial"/>
              </a:rPr>
              <a:t>A");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7022" y="3015741"/>
            <a:ext cx="16465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}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// End of</a:t>
            </a:r>
            <a:r>
              <a:rPr sz="12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Constructor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C0504D"/>
                </a:solidFill>
                <a:latin typeface="Arial"/>
                <a:cs typeface="Arial"/>
              </a:rPr>
              <a:t>// print</a:t>
            </a:r>
            <a:r>
              <a:rPr sz="1200" b="1" spc="1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Method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void</a:t>
            </a:r>
            <a:r>
              <a:rPr sz="1200" b="1" spc="3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print()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6562" y="3747642"/>
            <a:ext cx="2003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System.out.println("a="+a);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7022" y="3930522"/>
            <a:ext cx="85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}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6334" y="4113403"/>
            <a:ext cx="387096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>
              <a:lnSpc>
                <a:spcPts val="1440"/>
              </a:lnSpc>
              <a:spcBef>
                <a:spcPts val="100"/>
              </a:spcBef>
            </a:pPr>
            <a:r>
              <a:rPr sz="1200" b="1" dirty="0">
                <a:solidFill>
                  <a:srgbClr val="C0504D"/>
                </a:solidFill>
                <a:latin typeface="Arial"/>
                <a:cs typeface="Arial"/>
              </a:rPr>
              <a:t>// Display</a:t>
            </a:r>
            <a:r>
              <a:rPr sz="1200" b="1" spc="-1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Method</a:t>
            </a:r>
            <a:endParaRPr sz="1200">
              <a:latin typeface="Arial"/>
              <a:cs typeface="Arial"/>
            </a:endParaRPr>
          </a:p>
          <a:p>
            <a:pPr marL="182880">
              <a:lnSpc>
                <a:spcPts val="1920"/>
              </a:lnSpc>
            </a:pPr>
            <a:r>
              <a:rPr sz="1600" b="1" spc="-15" dirty="0">
                <a:solidFill>
                  <a:srgbClr val="FF0000"/>
                </a:solidFill>
                <a:latin typeface="Arial"/>
                <a:cs typeface="Arial"/>
              </a:rPr>
              <a:t>void</a:t>
            </a:r>
            <a:r>
              <a:rPr sz="1600" b="1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0000"/>
                </a:solidFill>
                <a:latin typeface="Arial"/>
                <a:cs typeface="Arial"/>
              </a:rPr>
              <a:t>show()</a:t>
            </a:r>
            <a:endParaRPr sz="16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</a:pPr>
            <a:r>
              <a:rPr sz="1600" b="1" spc="-5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411480">
              <a:lnSpc>
                <a:spcPct val="100000"/>
              </a:lnSpc>
              <a:spcBef>
                <a:spcPts val="400"/>
              </a:spcBef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System.out.println(“Hello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This is Display in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15" dirty="0">
                <a:solidFill>
                  <a:srgbClr val="FF0000"/>
                </a:solidFill>
                <a:latin typeface="Arial"/>
                <a:cs typeface="Arial"/>
              </a:rPr>
              <a:t>A");</a:t>
            </a:r>
            <a:endParaRPr sz="12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  <a:spcBef>
                <a:spcPts val="80"/>
              </a:spcBef>
            </a:pPr>
            <a:r>
              <a:rPr sz="1600" b="1" spc="-5" dirty="0">
                <a:solidFill>
                  <a:srgbClr val="FF0000"/>
                </a:solidFill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latin typeface="Arial"/>
                <a:cs typeface="Arial"/>
              </a:rPr>
              <a:t>} </a:t>
            </a:r>
            <a:r>
              <a:rPr sz="1200" b="1" dirty="0">
                <a:latin typeface="Arial"/>
                <a:cs typeface="Arial"/>
              </a:rPr>
              <a:t>// End of class</a:t>
            </a:r>
            <a:r>
              <a:rPr sz="1200" b="1" spc="-7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32705" y="1385138"/>
            <a:ext cx="13227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class B extends</a:t>
            </a:r>
            <a:r>
              <a:rPr sz="1200" b="1" spc="-17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140335">
              <a:lnSpc>
                <a:spcPct val="100000"/>
              </a:lnSpc>
            </a:pPr>
            <a:r>
              <a:rPr sz="1200" b="1" spc="-5" dirty="0">
                <a:solidFill>
                  <a:srgbClr val="0000FF"/>
                </a:solidFill>
                <a:latin typeface="Arial"/>
                <a:cs typeface="Arial"/>
              </a:rPr>
              <a:t>private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1200" b="1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0000FF"/>
                </a:solidFill>
                <a:latin typeface="Arial"/>
                <a:cs typeface="Arial"/>
              </a:rPr>
              <a:t>b;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05575" y="1751457"/>
            <a:ext cx="1126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// instance</a:t>
            </a:r>
            <a:r>
              <a:rPr sz="1200" b="1" spc="-10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field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60721" y="1934336"/>
            <a:ext cx="247967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62710" algn="l"/>
              </a:tabLst>
            </a:pPr>
            <a:r>
              <a:rPr sz="1200" b="1" spc="-5" dirty="0">
                <a:solidFill>
                  <a:srgbClr val="0000FF"/>
                </a:solidFill>
                <a:latin typeface="Arial"/>
                <a:cs typeface="Arial"/>
              </a:rPr>
              <a:t>private</a:t>
            </a:r>
            <a:r>
              <a:rPr sz="12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0000FF"/>
                </a:solidFill>
                <a:latin typeface="Arial"/>
                <a:cs typeface="Arial"/>
              </a:rPr>
              <a:t>double</a:t>
            </a:r>
            <a:r>
              <a:rPr sz="1200" b="1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c;	// instance</a:t>
            </a:r>
            <a:r>
              <a:rPr sz="1200" b="1" spc="-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field</a:t>
            </a:r>
            <a:endParaRPr sz="1200">
              <a:latin typeface="Arial"/>
              <a:cs typeface="Arial"/>
            </a:endParaRPr>
          </a:p>
          <a:p>
            <a:pPr marL="12700" marR="806450">
              <a:lnSpc>
                <a:spcPct val="100000"/>
              </a:lnSpc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//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Constructor Method  B(int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a, int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b, double</a:t>
            </a:r>
            <a:r>
              <a:rPr sz="1200" b="1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c)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200">
              <a:latin typeface="Arial"/>
              <a:cs typeface="Arial"/>
            </a:endParaRPr>
          </a:p>
          <a:p>
            <a:pPr marL="227329" marR="1590675" algn="just">
              <a:lnSpc>
                <a:spcPct val="100000"/>
              </a:lnSpc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super(a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);  this.b=b; 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this.c=c;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75605" y="3214878"/>
            <a:ext cx="3800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System.out.println("This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constructor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of class</a:t>
            </a:r>
            <a:r>
              <a:rPr sz="1200" b="1" spc="1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B");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60721" y="3397758"/>
            <a:ext cx="21875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}// End of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Constructor</a:t>
            </a:r>
            <a:r>
              <a:rPr sz="12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Method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40"/>
              </a:lnSpc>
            </a:pPr>
            <a:r>
              <a:rPr sz="1200" b="1" dirty="0">
                <a:solidFill>
                  <a:srgbClr val="C0504D"/>
                </a:solidFill>
                <a:latin typeface="Arial"/>
                <a:cs typeface="Arial"/>
              </a:rPr>
              <a:t>// show</a:t>
            </a:r>
            <a:r>
              <a:rPr sz="1200" b="1" spc="27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Method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920"/>
              </a:lnSpc>
            </a:pPr>
            <a:r>
              <a:rPr sz="1600" b="1" spc="-15" dirty="0">
                <a:solidFill>
                  <a:srgbClr val="FF0000"/>
                </a:solidFill>
                <a:latin typeface="Arial"/>
                <a:cs typeface="Arial"/>
              </a:rPr>
              <a:t>void</a:t>
            </a:r>
            <a:r>
              <a:rPr sz="16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0000"/>
                </a:solidFill>
                <a:latin typeface="Arial"/>
                <a:cs typeface="Arial"/>
              </a:rPr>
              <a:t>show()</a:t>
            </a:r>
            <a:endParaRPr sz="1600">
              <a:latin typeface="Arial"/>
              <a:cs typeface="Arial"/>
            </a:endParaRPr>
          </a:p>
          <a:p>
            <a:pPr marL="55244">
              <a:lnSpc>
                <a:spcPct val="100000"/>
              </a:lnSpc>
            </a:pPr>
            <a:r>
              <a:rPr sz="1600" b="1" spc="-5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184785">
              <a:lnSpc>
                <a:spcPct val="100000"/>
              </a:lnSpc>
            </a:pPr>
            <a:r>
              <a:rPr sz="1600" b="1" spc="-10" dirty="0">
                <a:solidFill>
                  <a:srgbClr val="FF0000"/>
                </a:solidFill>
                <a:latin typeface="Arial"/>
                <a:cs typeface="Arial"/>
              </a:rPr>
              <a:t>super.show();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32934" y="4495292"/>
            <a:ext cx="2202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System.out.println("b </a:t>
            </a:r>
            <a:r>
              <a:rPr sz="1200" b="1" dirty="0">
                <a:solidFill>
                  <a:srgbClr val="C0504D"/>
                </a:solidFill>
                <a:latin typeface="Arial"/>
                <a:cs typeface="Arial"/>
              </a:rPr>
              <a:t>= “ + </a:t>
            </a: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b);  System.out.println("c </a:t>
            </a:r>
            <a:r>
              <a:rPr sz="1200" b="1" dirty="0">
                <a:solidFill>
                  <a:srgbClr val="C0504D"/>
                </a:solidFill>
                <a:latin typeface="Arial"/>
                <a:cs typeface="Arial"/>
              </a:rPr>
              <a:t>= “ +</a:t>
            </a:r>
            <a:r>
              <a:rPr sz="1200" b="1" spc="20" dirty="0">
                <a:solidFill>
                  <a:srgbClr val="C0504D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C0504D"/>
                </a:solidFill>
                <a:latin typeface="Arial"/>
                <a:cs typeface="Arial"/>
              </a:rPr>
              <a:t>c);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32705" y="4861052"/>
            <a:ext cx="1856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0000"/>
                </a:solidFill>
                <a:latin typeface="Arial"/>
                <a:cs typeface="Arial"/>
              </a:rPr>
              <a:t>}// End of</a:t>
            </a:r>
            <a:r>
              <a:rPr sz="16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FF0000"/>
                </a:solidFill>
                <a:latin typeface="Arial"/>
                <a:cs typeface="Arial"/>
              </a:rPr>
              <a:t>Method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} </a:t>
            </a: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// End of class</a:t>
            </a:r>
            <a:r>
              <a:rPr sz="12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415028" y="2741675"/>
            <a:ext cx="542925" cy="3207385"/>
          </a:xfrm>
          <a:custGeom>
            <a:avLst/>
            <a:gdLst/>
            <a:ahLst/>
            <a:cxnLst/>
            <a:rect l="l" t="t" r="r" b="b"/>
            <a:pathLst>
              <a:path w="542925" h="3207385">
                <a:moveTo>
                  <a:pt x="51816" y="3103575"/>
                </a:moveTo>
                <a:lnTo>
                  <a:pt x="25908" y="3103575"/>
                </a:lnTo>
                <a:lnTo>
                  <a:pt x="25908" y="3207220"/>
                </a:lnTo>
                <a:lnTo>
                  <a:pt x="51816" y="3207220"/>
                </a:lnTo>
                <a:lnTo>
                  <a:pt x="51816" y="3103575"/>
                </a:lnTo>
                <a:close/>
              </a:path>
              <a:path w="542925" h="3207385">
                <a:moveTo>
                  <a:pt x="51816" y="2922232"/>
                </a:moveTo>
                <a:lnTo>
                  <a:pt x="25908" y="2922219"/>
                </a:lnTo>
                <a:lnTo>
                  <a:pt x="25908" y="3025864"/>
                </a:lnTo>
                <a:lnTo>
                  <a:pt x="51816" y="3025864"/>
                </a:lnTo>
                <a:lnTo>
                  <a:pt x="51816" y="2922232"/>
                </a:lnTo>
                <a:close/>
              </a:path>
              <a:path w="542925" h="3207385">
                <a:moveTo>
                  <a:pt x="51816" y="2740914"/>
                </a:moveTo>
                <a:lnTo>
                  <a:pt x="25908" y="2740914"/>
                </a:lnTo>
                <a:lnTo>
                  <a:pt x="25908" y="2844546"/>
                </a:lnTo>
                <a:lnTo>
                  <a:pt x="51816" y="2844546"/>
                </a:lnTo>
                <a:lnTo>
                  <a:pt x="51816" y="2740914"/>
                </a:lnTo>
                <a:close/>
              </a:path>
              <a:path w="542925" h="3207385">
                <a:moveTo>
                  <a:pt x="51816" y="2559558"/>
                </a:moveTo>
                <a:lnTo>
                  <a:pt x="25908" y="2559558"/>
                </a:lnTo>
                <a:lnTo>
                  <a:pt x="25908" y="2663190"/>
                </a:lnTo>
                <a:lnTo>
                  <a:pt x="51816" y="2663190"/>
                </a:lnTo>
                <a:lnTo>
                  <a:pt x="51816" y="2559558"/>
                </a:lnTo>
                <a:close/>
              </a:path>
              <a:path w="542925" h="3207385">
                <a:moveTo>
                  <a:pt x="51816" y="2378202"/>
                </a:moveTo>
                <a:lnTo>
                  <a:pt x="25908" y="2378202"/>
                </a:lnTo>
                <a:lnTo>
                  <a:pt x="25908" y="2481846"/>
                </a:lnTo>
                <a:lnTo>
                  <a:pt x="51816" y="2481846"/>
                </a:lnTo>
                <a:lnTo>
                  <a:pt x="51816" y="2378202"/>
                </a:lnTo>
                <a:close/>
              </a:path>
              <a:path w="542925" h="3207385">
                <a:moveTo>
                  <a:pt x="51816" y="2196846"/>
                </a:moveTo>
                <a:lnTo>
                  <a:pt x="25908" y="2196846"/>
                </a:lnTo>
                <a:lnTo>
                  <a:pt x="25908" y="2300478"/>
                </a:lnTo>
                <a:lnTo>
                  <a:pt x="51816" y="2300478"/>
                </a:lnTo>
                <a:lnTo>
                  <a:pt x="51816" y="2196846"/>
                </a:lnTo>
                <a:close/>
              </a:path>
              <a:path w="542925" h="3207385">
                <a:moveTo>
                  <a:pt x="51816" y="2015490"/>
                </a:moveTo>
                <a:lnTo>
                  <a:pt x="25908" y="2015490"/>
                </a:lnTo>
                <a:lnTo>
                  <a:pt x="25908" y="2119122"/>
                </a:lnTo>
                <a:lnTo>
                  <a:pt x="51816" y="2119122"/>
                </a:lnTo>
                <a:lnTo>
                  <a:pt x="51816" y="2015490"/>
                </a:lnTo>
                <a:close/>
              </a:path>
              <a:path w="542925" h="3207385">
                <a:moveTo>
                  <a:pt x="51816" y="1834134"/>
                </a:moveTo>
                <a:lnTo>
                  <a:pt x="25908" y="1834134"/>
                </a:lnTo>
                <a:lnTo>
                  <a:pt x="25908" y="1937766"/>
                </a:lnTo>
                <a:lnTo>
                  <a:pt x="51816" y="1937766"/>
                </a:lnTo>
                <a:lnTo>
                  <a:pt x="51816" y="1834134"/>
                </a:lnTo>
                <a:close/>
              </a:path>
              <a:path w="542925" h="3207385">
                <a:moveTo>
                  <a:pt x="51816" y="1652778"/>
                </a:moveTo>
                <a:lnTo>
                  <a:pt x="25908" y="1652778"/>
                </a:lnTo>
                <a:lnTo>
                  <a:pt x="25908" y="1756410"/>
                </a:lnTo>
                <a:lnTo>
                  <a:pt x="51816" y="1756410"/>
                </a:lnTo>
                <a:lnTo>
                  <a:pt x="51816" y="1652778"/>
                </a:lnTo>
                <a:close/>
              </a:path>
              <a:path w="542925" h="3207385">
                <a:moveTo>
                  <a:pt x="51816" y="1471422"/>
                </a:moveTo>
                <a:lnTo>
                  <a:pt x="25908" y="1471422"/>
                </a:lnTo>
                <a:lnTo>
                  <a:pt x="25908" y="1575054"/>
                </a:lnTo>
                <a:lnTo>
                  <a:pt x="51816" y="1575054"/>
                </a:lnTo>
                <a:lnTo>
                  <a:pt x="51816" y="1471422"/>
                </a:lnTo>
                <a:close/>
              </a:path>
              <a:path w="542925" h="3207385">
                <a:moveTo>
                  <a:pt x="51816" y="1290066"/>
                </a:moveTo>
                <a:lnTo>
                  <a:pt x="25908" y="1290066"/>
                </a:lnTo>
                <a:lnTo>
                  <a:pt x="25908" y="1393698"/>
                </a:lnTo>
                <a:lnTo>
                  <a:pt x="51816" y="1393698"/>
                </a:lnTo>
                <a:lnTo>
                  <a:pt x="51816" y="1290066"/>
                </a:lnTo>
                <a:close/>
              </a:path>
              <a:path w="542925" h="3207385">
                <a:moveTo>
                  <a:pt x="51816" y="1108710"/>
                </a:moveTo>
                <a:lnTo>
                  <a:pt x="25908" y="1108710"/>
                </a:lnTo>
                <a:lnTo>
                  <a:pt x="25908" y="1212342"/>
                </a:lnTo>
                <a:lnTo>
                  <a:pt x="51816" y="1212342"/>
                </a:lnTo>
                <a:lnTo>
                  <a:pt x="51816" y="1108710"/>
                </a:lnTo>
                <a:close/>
              </a:path>
              <a:path w="542925" h="3207385">
                <a:moveTo>
                  <a:pt x="51816" y="927354"/>
                </a:moveTo>
                <a:lnTo>
                  <a:pt x="25908" y="927354"/>
                </a:lnTo>
                <a:lnTo>
                  <a:pt x="25908" y="1030986"/>
                </a:lnTo>
                <a:lnTo>
                  <a:pt x="51816" y="1030986"/>
                </a:lnTo>
                <a:lnTo>
                  <a:pt x="51816" y="927354"/>
                </a:lnTo>
                <a:close/>
              </a:path>
              <a:path w="542925" h="3207385">
                <a:moveTo>
                  <a:pt x="51816" y="745998"/>
                </a:moveTo>
                <a:lnTo>
                  <a:pt x="25908" y="745998"/>
                </a:lnTo>
                <a:lnTo>
                  <a:pt x="25908" y="849630"/>
                </a:lnTo>
                <a:lnTo>
                  <a:pt x="51816" y="849630"/>
                </a:lnTo>
                <a:lnTo>
                  <a:pt x="51816" y="745998"/>
                </a:lnTo>
                <a:close/>
              </a:path>
              <a:path w="542925" h="3207385">
                <a:moveTo>
                  <a:pt x="51816" y="564642"/>
                </a:moveTo>
                <a:lnTo>
                  <a:pt x="25908" y="564642"/>
                </a:lnTo>
                <a:lnTo>
                  <a:pt x="25908" y="668274"/>
                </a:lnTo>
                <a:lnTo>
                  <a:pt x="51816" y="668274"/>
                </a:lnTo>
                <a:lnTo>
                  <a:pt x="51816" y="564642"/>
                </a:lnTo>
                <a:close/>
              </a:path>
              <a:path w="542925" h="3207385">
                <a:moveTo>
                  <a:pt x="51816" y="383286"/>
                </a:moveTo>
                <a:lnTo>
                  <a:pt x="25908" y="383286"/>
                </a:lnTo>
                <a:lnTo>
                  <a:pt x="25908" y="486918"/>
                </a:lnTo>
                <a:lnTo>
                  <a:pt x="51816" y="486918"/>
                </a:lnTo>
                <a:lnTo>
                  <a:pt x="51816" y="383286"/>
                </a:lnTo>
                <a:close/>
              </a:path>
              <a:path w="542925" h="3207385">
                <a:moveTo>
                  <a:pt x="51816" y="201930"/>
                </a:moveTo>
                <a:lnTo>
                  <a:pt x="25908" y="201930"/>
                </a:lnTo>
                <a:lnTo>
                  <a:pt x="25908" y="305562"/>
                </a:lnTo>
                <a:lnTo>
                  <a:pt x="51816" y="305562"/>
                </a:lnTo>
                <a:lnTo>
                  <a:pt x="51816" y="201930"/>
                </a:lnTo>
                <a:close/>
              </a:path>
              <a:path w="542925" h="3207385">
                <a:moveTo>
                  <a:pt x="142494" y="25908"/>
                </a:moveTo>
                <a:lnTo>
                  <a:pt x="38862" y="25908"/>
                </a:lnTo>
                <a:lnTo>
                  <a:pt x="38862" y="38862"/>
                </a:lnTo>
                <a:lnTo>
                  <a:pt x="0" y="116586"/>
                </a:lnTo>
                <a:lnTo>
                  <a:pt x="25908" y="116586"/>
                </a:lnTo>
                <a:lnTo>
                  <a:pt x="25908" y="124206"/>
                </a:lnTo>
                <a:lnTo>
                  <a:pt x="51816" y="124206"/>
                </a:lnTo>
                <a:lnTo>
                  <a:pt x="51816" y="116586"/>
                </a:lnTo>
                <a:lnTo>
                  <a:pt x="77724" y="116586"/>
                </a:lnTo>
                <a:lnTo>
                  <a:pt x="71247" y="103632"/>
                </a:lnTo>
                <a:lnTo>
                  <a:pt x="45339" y="51816"/>
                </a:lnTo>
                <a:lnTo>
                  <a:pt x="142494" y="51816"/>
                </a:lnTo>
                <a:lnTo>
                  <a:pt x="142494" y="25908"/>
                </a:lnTo>
                <a:close/>
              </a:path>
              <a:path w="542925" h="3207385">
                <a:moveTo>
                  <a:pt x="323850" y="25908"/>
                </a:moveTo>
                <a:lnTo>
                  <a:pt x="220218" y="25908"/>
                </a:lnTo>
                <a:lnTo>
                  <a:pt x="220218" y="51816"/>
                </a:lnTo>
                <a:lnTo>
                  <a:pt x="323850" y="51816"/>
                </a:lnTo>
                <a:lnTo>
                  <a:pt x="323850" y="25908"/>
                </a:lnTo>
                <a:close/>
              </a:path>
              <a:path w="542925" h="3207385">
                <a:moveTo>
                  <a:pt x="542925" y="38862"/>
                </a:moveTo>
                <a:lnTo>
                  <a:pt x="517017" y="25908"/>
                </a:lnTo>
                <a:lnTo>
                  <a:pt x="465201" y="0"/>
                </a:lnTo>
                <a:lnTo>
                  <a:pt x="465201" y="25908"/>
                </a:lnTo>
                <a:lnTo>
                  <a:pt x="401574" y="25908"/>
                </a:lnTo>
                <a:lnTo>
                  <a:pt x="401574" y="51816"/>
                </a:lnTo>
                <a:lnTo>
                  <a:pt x="465201" y="51816"/>
                </a:lnTo>
                <a:lnTo>
                  <a:pt x="465201" y="77724"/>
                </a:lnTo>
                <a:lnTo>
                  <a:pt x="517017" y="51816"/>
                </a:lnTo>
                <a:lnTo>
                  <a:pt x="542925" y="388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00978" y="4365244"/>
            <a:ext cx="1550670" cy="1244600"/>
          </a:xfrm>
          <a:custGeom>
            <a:avLst/>
            <a:gdLst/>
            <a:ahLst/>
            <a:cxnLst/>
            <a:rect l="l" t="t" r="r" b="b"/>
            <a:pathLst>
              <a:path w="1550670" h="1244600">
                <a:moveTo>
                  <a:pt x="77978" y="0"/>
                </a:moveTo>
                <a:lnTo>
                  <a:pt x="0" y="38354"/>
                </a:lnTo>
                <a:lnTo>
                  <a:pt x="77470" y="77724"/>
                </a:lnTo>
                <a:lnTo>
                  <a:pt x="77978" y="0"/>
                </a:lnTo>
                <a:close/>
              </a:path>
              <a:path w="1550670" h="1244600">
                <a:moveTo>
                  <a:pt x="242824" y="27051"/>
                </a:moveTo>
                <a:lnTo>
                  <a:pt x="139192" y="26416"/>
                </a:lnTo>
                <a:lnTo>
                  <a:pt x="138938" y="52324"/>
                </a:lnTo>
                <a:lnTo>
                  <a:pt x="242570" y="52959"/>
                </a:lnTo>
                <a:lnTo>
                  <a:pt x="242824" y="27051"/>
                </a:lnTo>
                <a:close/>
              </a:path>
              <a:path w="1550670" h="1244600">
                <a:moveTo>
                  <a:pt x="424180" y="28448"/>
                </a:moveTo>
                <a:lnTo>
                  <a:pt x="320548" y="27686"/>
                </a:lnTo>
                <a:lnTo>
                  <a:pt x="320294" y="53594"/>
                </a:lnTo>
                <a:lnTo>
                  <a:pt x="423926" y="54356"/>
                </a:lnTo>
                <a:lnTo>
                  <a:pt x="424180" y="28448"/>
                </a:lnTo>
                <a:close/>
              </a:path>
              <a:path w="1550670" h="1244600">
                <a:moveTo>
                  <a:pt x="605536" y="29718"/>
                </a:moveTo>
                <a:lnTo>
                  <a:pt x="501904" y="28956"/>
                </a:lnTo>
                <a:lnTo>
                  <a:pt x="501650" y="54864"/>
                </a:lnTo>
                <a:lnTo>
                  <a:pt x="605282" y="55626"/>
                </a:lnTo>
                <a:lnTo>
                  <a:pt x="605536" y="29718"/>
                </a:lnTo>
                <a:close/>
              </a:path>
              <a:path w="1550670" h="1244600">
                <a:moveTo>
                  <a:pt x="786892" y="30988"/>
                </a:moveTo>
                <a:lnTo>
                  <a:pt x="683260" y="30226"/>
                </a:lnTo>
                <a:lnTo>
                  <a:pt x="683006" y="56134"/>
                </a:lnTo>
                <a:lnTo>
                  <a:pt x="786638" y="56896"/>
                </a:lnTo>
                <a:lnTo>
                  <a:pt x="786892" y="30988"/>
                </a:lnTo>
                <a:close/>
              </a:path>
              <a:path w="1550670" h="1244600">
                <a:moveTo>
                  <a:pt x="968248" y="32258"/>
                </a:moveTo>
                <a:lnTo>
                  <a:pt x="864616" y="31496"/>
                </a:lnTo>
                <a:lnTo>
                  <a:pt x="864362" y="57404"/>
                </a:lnTo>
                <a:lnTo>
                  <a:pt x="967994" y="58166"/>
                </a:lnTo>
                <a:lnTo>
                  <a:pt x="968248" y="32258"/>
                </a:lnTo>
                <a:close/>
              </a:path>
              <a:path w="1550670" h="1244600">
                <a:moveTo>
                  <a:pt x="1149604" y="33528"/>
                </a:moveTo>
                <a:lnTo>
                  <a:pt x="1045972" y="32766"/>
                </a:lnTo>
                <a:lnTo>
                  <a:pt x="1045718" y="58674"/>
                </a:lnTo>
                <a:lnTo>
                  <a:pt x="1149350" y="59436"/>
                </a:lnTo>
                <a:lnTo>
                  <a:pt x="1149604" y="33528"/>
                </a:lnTo>
                <a:close/>
              </a:path>
              <a:path w="1550670" h="1244600">
                <a:moveTo>
                  <a:pt x="1330960" y="34798"/>
                </a:moveTo>
                <a:lnTo>
                  <a:pt x="1227328" y="34036"/>
                </a:lnTo>
                <a:lnTo>
                  <a:pt x="1227074" y="59944"/>
                </a:lnTo>
                <a:lnTo>
                  <a:pt x="1330706" y="60706"/>
                </a:lnTo>
                <a:lnTo>
                  <a:pt x="1330960" y="34798"/>
                </a:lnTo>
                <a:close/>
              </a:path>
              <a:path w="1550670" h="1244600">
                <a:moveTo>
                  <a:pt x="1524762" y="1140968"/>
                </a:moveTo>
                <a:lnTo>
                  <a:pt x="1498854" y="1140968"/>
                </a:lnTo>
                <a:lnTo>
                  <a:pt x="1498854" y="1244561"/>
                </a:lnTo>
                <a:lnTo>
                  <a:pt x="1524762" y="1244561"/>
                </a:lnTo>
                <a:lnTo>
                  <a:pt x="1524762" y="1140968"/>
                </a:lnTo>
                <a:close/>
              </a:path>
              <a:path w="1550670" h="1244600">
                <a:moveTo>
                  <a:pt x="1524762" y="959612"/>
                </a:moveTo>
                <a:lnTo>
                  <a:pt x="1498854" y="959612"/>
                </a:lnTo>
                <a:lnTo>
                  <a:pt x="1498854" y="1063244"/>
                </a:lnTo>
                <a:lnTo>
                  <a:pt x="1524762" y="1063244"/>
                </a:lnTo>
                <a:lnTo>
                  <a:pt x="1524762" y="959612"/>
                </a:lnTo>
                <a:close/>
              </a:path>
              <a:path w="1550670" h="1244600">
                <a:moveTo>
                  <a:pt x="1524762" y="778256"/>
                </a:moveTo>
                <a:lnTo>
                  <a:pt x="1498854" y="778256"/>
                </a:lnTo>
                <a:lnTo>
                  <a:pt x="1498854" y="881888"/>
                </a:lnTo>
                <a:lnTo>
                  <a:pt x="1524762" y="881888"/>
                </a:lnTo>
                <a:lnTo>
                  <a:pt x="1524762" y="778256"/>
                </a:lnTo>
                <a:close/>
              </a:path>
              <a:path w="1550670" h="1244600">
                <a:moveTo>
                  <a:pt x="1524762" y="596900"/>
                </a:moveTo>
                <a:lnTo>
                  <a:pt x="1498854" y="596900"/>
                </a:lnTo>
                <a:lnTo>
                  <a:pt x="1498854" y="700532"/>
                </a:lnTo>
                <a:lnTo>
                  <a:pt x="1524762" y="700532"/>
                </a:lnTo>
                <a:lnTo>
                  <a:pt x="1524762" y="596900"/>
                </a:lnTo>
                <a:close/>
              </a:path>
              <a:path w="1550670" h="1244600">
                <a:moveTo>
                  <a:pt x="1524762" y="415544"/>
                </a:moveTo>
                <a:lnTo>
                  <a:pt x="1498854" y="415544"/>
                </a:lnTo>
                <a:lnTo>
                  <a:pt x="1498854" y="519176"/>
                </a:lnTo>
                <a:lnTo>
                  <a:pt x="1524762" y="519176"/>
                </a:lnTo>
                <a:lnTo>
                  <a:pt x="1524762" y="415544"/>
                </a:lnTo>
                <a:close/>
              </a:path>
              <a:path w="1550670" h="1244600">
                <a:moveTo>
                  <a:pt x="1524762" y="234188"/>
                </a:moveTo>
                <a:lnTo>
                  <a:pt x="1498854" y="234188"/>
                </a:lnTo>
                <a:lnTo>
                  <a:pt x="1498854" y="337820"/>
                </a:lnTo>
                <a:lnTo>
                  <a:pt x="1524762" y="337820"/>
                </a:lnTo>
                <a:lnTo>
                  <a:pt x="1524762" y="234188"/>
                </a:lnTo>
                <a:close/>
              </a:path>
              <a:path w="1550670" h="1244600">
                <a:moveTo>
                  <a:pt x="1550670" y="100838"/>
                </a:moveTo>
                <a:lnTo>
                  <a:pt x="1544193" y="87884"/>
                </a:lnTo>
                <a:lnTo>
                  <a:pt x="1511808" y="23114"/>
                </a:lnTo>
                <a:lnTo>
                  <a:pt x="1505356" y="36017"/>
                </a:lnTo>
                <a:lnTo>
                  <a:pt x="1408684" y="35306"/>
                </a:lnTo>
                <a:lnTo>
                  <a:pt x="1408430" y="61214"/>
                </a:lnTo>
                <a:lnTo>
                  <a:pt x="1492440" y="61836"/>
                </a:lnTo>
                <a:lnTo>
                  <a:pt x="1472946" y="100838"/>
                </a:lnTo>
                <a:lnTo>
                  <a:pt x="1498854" y="100838"/>
                </a:lnTo>
                <a:lnTo>
                  <a:pt x="1498854" y="156464"/>
                </a:lnTo>
                <a:lnTo>
                  <a:pt x="1524762" y="156464"/>
                </a:lnTo>
                <a:lnTo>
                  <a:pt x="1524762" y="100838"/>
                </a:lnTo>
                <a:lnTo>
                  <a:pt x="1550670" y="10083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995041" y="5536488"/>
            <a:ext cx="5931535" cy="737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523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Call </a:t>
            </a:r>
            <a:r>
              <a:rPr sz="1800" b="1" spc="-10" dirty="0">
                <a:solidFill>
                  <a:srgbClr val="FF0000"/>
                </a:solidFill>
                <a:latin typeface="Carlito"/>
                <a:cs typeface="Carlito"/>
              </a:rPr>
              <a:t>to 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show()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method 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of</a:t>
            </a:r>
            <a:r>
              <a:rPr sz="1800" b="1" spc="-8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super-class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Call </a:t>
            </a:r>
            <a:r>
              <a:rPr sz="1800" b="1" spc="-10" dirty="0">
                <a:solidFill>
                  <a:srgbClr val="FF0000"/>
                </a:solidFill>
                <a:latin typeface="Carlito"/>
                <a:cs typeface="Carlito"/>
              </a:rPr>
              <a:t>to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super class</a:t>
            </a:r>
            <a:r>
              <a:rPr sz="1800" b="1" spc="-5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Constructor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9745" y="5281066"/>
            <a:ext cx="1676400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900" b="1" i="0" u="none" strike="noStrike" kern="1200" cap="none" spc="-11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</a:t>
            </a:r>
            <a:r>
              <a:rPr kumimoji="0" sz="2900" b="1" i="0" u="none" strike="noStrike" kern="1200" cap="none" spc="-37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900" b="0" i="0" u="none" strike="noStrike" kern="1200" cap="none" spc="-1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</a:t>
            </a:r>
            <a:endParaRPr kumimoji="0" sz="2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6767" y="3630879"/>
            <a:ext cx="6666230" cy="1331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1" i="0" u="none" strike="noStrike" kern="1200" cap="none" spc="-1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Object-Oriented </a:t>
            </a:r>
            <a:r>
              <a:rPr kumimoji="0" sz="3000" b="1" i="0" u="none" strike="noStrike" kern="1200" cap="none" spc="-1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Programming </a:t>
            </a:r>
            <a:endParaRPr kumimoji="0" lang="en-US" sz="3000" b="1" i="0" u="none" strike="noStrike" kern="1200" cap="none" spc="-145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1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Inheritance</a:t>
            </a:r>
            <a:r>
              <a:rPr kumimoji="0" sz="2400" b="1" i="0" u="none" strike="noStrike" kern="1200" cap="none" spc="-2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1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and</a:t>
            </a:r>
            <a:r>
              <a:rPr kumimoji="0" sz="2400" b="1" i="0" u="none" strike="noStrike" kern="1200" cap="none" spc="-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1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Polymorphism</a:t>
            </a:r>
            <a:r>
              <a:rPr kumimoji="0" sz="2400" b="1" i="0" u="none" strike="noStrike" kern="1200" cap="none" spc="-2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</a:t>
            </a:r>
            <a:r>
              <a:rPr kumimoji="0" sz="2400" b="1" i="0" u="none" strike="noStrike" kern="1200" cap="none" spc="-3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-1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Java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418310"/>
            <a:ext cx="5107305" cy="11963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0F1141"/>
              </a:buClr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Overriding in</a:t>
            </a:r>
            <a:r>
              <a:rPr kumimoji="0" sz="32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Java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0F1141"/>
              </a:buClr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 Hiding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Java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4739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80" dirty="0">
                <a:solidFill>
                  <a:srgbClr val="000000"/>
                </a:solidFill>
                <a:latin typeface="Arial"/>
                <a:cs typeface="Arial"/>
              </a:rPr>
              <a:t>Topics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334" y="1391158"/>
            <a:ext cx="8628380" cy="471678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54965" marR="6350" lvl="0" indent="-342900" algn="l" defTabSz="914400" rtl="0" eaLnBrk="1" fontAlgn="auto" latinLnBrk="0" hangingPunct="1">
              <a:lnSpc>
                <a:spcPct val="80000"/>
              </a:lnSpc>
              <a:spcBef>
                <a:spcPts val="550"/>
              </a:spcBef>
              <a:spcAft>
                <a:spcPts val="0"/>
              </a:spcAft>
              <a:buClr>
                <a:srgbClr val="0F1141"/>
              </a:buClr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Also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known as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Runtime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Polymorphism, Dynamic Method Dispatch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or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Late 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Binding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55600" marR="0" lvl="0" indent="-342900" algn="l" defTabSz="914400" rtl="0" eaLnBrk="1" fontAlgn="auto" latinLnBrk="0" hangingPunct="1">
              <a:lnSpc>
                <a:spcPts val="2055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1900" b="0" i="0" u="none" strike="noStrike" kern="1200" cap="none" spc="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sub-class</a:t>
            </a:r>
            <a:r>
              <a:rPr kumimoji="0" sz="1900" b="0" i="0" u="none" strike="noStrike" kern="1200" cap="none" spc="4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overrides</a:t>
            </a:r>
            <a:r>
              <a:rPr kumimoji="0" sz="1900" b="0" i="0" u="none" strike="noStrike" kern="1200" cap="none" spc="3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</a:t>
            </a:r>
            <a:r>
              <a:rPr kumimoji="0" sz="1900" b="0" i="0" u="none" strike="noStrike" kern="1200" cap="none" spc="3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object</a:t>
            </a:r>
            <a:r>
              <a:rPr kumimoji="0" sz="1900" b="0" i="0" u="none" strike="noStrike" kern="1200" cap="none" spc="3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(instance)</a:t>
            </a:r>
            <a:r>
              <a:rPr kumimoji="0" sz="1900" b="0" i="0" u="none" strike="noStrike" kern="1200" cap="none" spc="3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r>
              <a:rPr kumimoji="0" sz="1900" b="0" i="0" u="none" strike="noStrike" kern="1200" cap="none" spc="3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</a:t>
            </a:r>
            <a:r>
              <a:rPr kumimoji="0" sz="1900" b="0" i="0" u="none" strike="noStrike" kern="1200" cap="none" spc="3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1900" b="0" i="0" u="none" strike="noStrike" kern="1200" cap="none" spc="3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super-class</a:t>
            </a:r>
            <a:r>
              <a:rPr kumimoji="0" sz="1900" b="0" i="0" u="none" strike="noStrike" kern="1200" cap="none" spc="3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if</a:t>
            </a:r>
            <a:r>
              <a:rPr kumimoji="0" sz="1900" b="0" i="0" u="none" strike="noStrike" kern="1200" cap="none" spc="3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54965" marR="0" lvl="0" indent="0" algn="l" defTabSz="914400" rtl="0" eaLnBrk="1" fontAlgn="auto" latinLnBrk="0" hangingPunct="1">
              <a:lnSpc>
                <a:spcPts val="20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following three conditions are</a:t>
            </a:r>
            <a:r>
              <a:rPr kumimoji="0" sz="1900" b="0" i="0" u="none" strike="noStrike" kern="1200" cap="none" spc="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satisfied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870585" marR="7620" lvl="1" indent="-457200" algn="l" defTabSz="914400" rtl="0" eaLnBrk="1" fontAlgn="auto" latinLnBrk="0" hangingPunct="1">
              <a:lnSpc>
                <a:spcPts val="1820"/>
              </a:lnSpc>
              <a:spcBef>
                <a:spcPts val="44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870585" algn="l"/>
                <a:tab pos="871219" algn="l"/>
              </a:tabLst>
              <a:defRPr/>
            </a:pP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a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sub-class and method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a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super class have same 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name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870585" marR="0" lvl="1" indent="-457834" algn="l" defTabSz="914400" rtl="0" eaLnBrk="1" fontAlgn="auto" latinLnBrk="0" hangingPunct="1">
              <a:lnSpc>
                <a:spcPts val="205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870585" algn="l"/>
                <a:tab pos="871219" algn="l"/>
              </a:tabLst>
              <a:defRPr/>
            </a:pP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</a:t>
            </a:r>
            <a:r>
              <a:rPr kumimoji="0" sz="1900" b="0" i="0" u="none" strike="noStrike" kern="1200" cap="none" spc="3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r>
              <a:rPr kumimoji="0" sz="1900" b="0" i="0" u="none" strike="noStrike" kern="1200" cap="none" spc="3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</a:t>
            </a:r>
            <a:r>
              <a:rPr kumimoji="0" sz="1900" b="0" i="0" u="none" strike="noStrike" kern="1200" cap="none" spc="3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1900" b="0" i="0" u="none" strike="noStrike" kern="1200" cap="none" spc="3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sub-class</a:t>
            </a:r>
            <a:r>
              <a:rPr kumimoji="0" sz="1900" b="0" i="0" u="none" strike="noStrike" kern="1200" cap="none" spc="3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and</a:t>
            </a:r>
            <a:r>
              <a:rPr kumimoji="0" sz="1900" b="0" i="0" u="none" strike="noStrike" kern="1200" cap="none" spc="3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r>
              <a:rPr kumimoji="0" sz="1900" b="0" i="0" u="none" strike="noStrike" kern="1200" cap="none" spc="3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</a:t>
            </a:r>
            <a:r>
              <a:rPr kumimoji="0" sz="1900" b="0" i="0" u="none" strike="noStrike" kern="1200" cap="none" spc="3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1900" b="0" i="0" u="none" strike="noStrike" kern="1200" cap="none" spc="3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super</a:t>
            </a:r>
            <a:r>
              <a:rPr kumimoji="0" sz="1900" b="0" i="0" u="none" strike="noStrike" kern="1200" cap="none" spc="3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</a:t>
            </a:r>
            <a:r>
              <a:rPr kumimoji="0" sz="1900" b="0" i="0" u="none" strike="noStrike" kern="1200" cap="none" spc="3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have</a:t>
            </a:r>
            <a:r>
              <a:rPr kumimoji="0" sz="1900" b="0" i="0" u="none" strike="noStrike" kern="1200" cap="none" spc="3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same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870585" marR="0" lvl="0" indent="0" algn="l" defTabSz="914400" rtl="0" eaLnBrk="1" fontAlgn="auto" latinLnBrk="0" hangingPunct="1">
              <a:lnSpc>
                <a:spcPts val="2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signature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870585" marR="7620" lvl="1" indent="-457200" algn="l" defTabSz="914400" rtl="0" eaLnBrk="1" fontAlgn="auto" latinLnBrk="0" hangingPunct="1">
              <a:lnSpc>
                <a:spcPct val="80000"/>
              </a:lnSpc>
              <a:spcBef>
                <a:spcPts val="459"/>
              </a:spcBef>
              <a:spcAft>
                <a:spcPts val="0"/>
              </a:spcAft>
              <a:buClrTx/>
              <a:buSzTx/>
              <a:buFontTx/>
              <a:buAutoNum type="arabicPeriod" startAt="3"/>
              <a:tabLst>
                <a:tab pos="870585" algn="l"/>
                <a:tab pos="871219" algn="l"/>
              </a:tabLst>
              <a:defRPr/>
            </a:pP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a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sub-class and method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a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super class have same 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return</a:t>
            </a:r>
            <a:r>
              <a:rPr kumimoji="0" sz="1900" b="0" i="0" u="none" strike="noStrike" kern="1200" cap="none" spc="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type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469900" marR="6985" lvl="0" indent="-457200" algn="just" defTabSz="914400" rtl="0" eaLnBrk="1" fontAlgn="auto" latinLnBrk="0" hangingPunct="1">
              <a:lnSpc>
                <a:spcPts val="1820"/>
              </a:lnSpc>
              <a:spcBef>
                <a:spcPts val="440"/>
              </a:spcBef>
              <a:spcAft>
                <a:spcPts val="0"/>
              </a:spcAft>
              <a:buClr>
                <a:srgbClr val="0F1141"/>
              </a:buClr>
              <a:buSzTx/>
              <a:buFontTx/>
              <a:buChar char="•"/>
              <a:tabLst>
                <a:tab pos="469900" algn="l"/>
              </a:tabLst>
              <a:defRPr/>
            </a:pP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scope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a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sub-class method should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be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either same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or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higher than that 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a super-class</a:t>
            </a:r>
            <a:r>
              <a:rPr kumimoji="0" sz="19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469900" marR="6985" lvl="0" indent="-457200" algn="just" defTabSz="914400" rtl="0" eaLnBrk="1" fontAlgn="auto" latinLnBrk="0" hangingPunct="1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F1141"/>
              </a:buClr>
              <a:buSzTx/>
              <a:buFontTx/>
              <a:buChar char="•"/>
              <a:tabLst>
                <a:tab pos="469900" algn="l"/>
              </a:tabLst>
              <a:defRPr/>
            </a:pP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Note :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private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methods of a super-class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are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not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visible in sub-class. Hence, 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sub-class cannot override the private methods of super</a:t>
            </a:r>
            <a:r>
              <a:rPr kumimoji="0" sz="1900" b="0" i="0" u="none" strike="noStrike" kern="1200" cap="none" spc="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class.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4699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Tx/>
              <a:buFontTx/>
              <a:buChar char="•"/>
              <a:tabLst>
                <a:tab pos="469900" algn="l"/>
              </a:tabLst>
              <a:defRPr/>
            </a:pP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Call to an overridden method is decided at</a:t>
            </a:r>
            <a:r>
              <a:rPr kumimoji="0" sz="1900" b="0" i="0" u="none" strike="noStrike" kern="1200" cap="none" spc="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runtime.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469900" marR="6350" lvl="0" indent="-457200" algn="just" defTabSz="914400" rtl="0" eaLnBrk="1" fontAlgn="auto" latinLnBrk="0" hangingPunct="1">
              <a:lnSpc>
                <a:spcPct val="80000"/>
              </a:lnSpc>
              <a:spcBef>
                <a:spcPts val="455"/>
              </a:spcBef>
              <a:spcAft>
                <a:spcPts val="0"/>
              </a:spcAft>
              <a:buClr>
                <a:srgbClr val="0F1141"/>
              </a:buClr>
              <a:buSzTx/>
              <a:buFontTx/>
              <a:buChar char="•"/>
              <a:tabLst>
                <a:tab pos="469900" algn="l"/>
              </a:tabLst>
              <a:defRPr/>
            </a:pP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Call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 a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overridden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 is not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decided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by the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Arial"/>
                <a:ea typeface="+mn-ea"/>
                <a:cs typeface="Arial"/>
              </a:rPr>
              <a:t>type of </a:t>
            </a:r>
            <a:r>
              <a:rPr kumimoji="0" sz="1900" b="0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Arial"/>
                <a:ea typeface="+mn-ea"/>
                <a:cs typeface="Arial"/>
              </a:rPr>
              <a:t>reference variable.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Rather it is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decided by the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Arial"/>
                <a:ea typeface="+mn-ea"/>
                <a:cs typeface="Arial"/>
              </a:rPr>
              <a:t>type of </a:t>
            </a:r>
            <a:r>
              <a:rPr kumimoji="0" sz="1900" b="0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Arial"/>
                <a:ea typeface="+mn-ea"/>
                <a:cs typeface="Arial"/>
              </a:rPr>
              <a:t>the object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where reference variable </a:t>
            </a:r>
            <a:r>
              <a:rPr kumimoji="0" sz="19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  </a:t>
            </a:r>
            <a:r>
              <a:rPr kumimoji="0" sz="19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pointing.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5308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Method </a:t>
            </a:r>
            <a:r>
              <a:rPr sz="3600" i="0" spc="-145" dirty="0">
                <a:solidFill>
                  <a:srgbClr val="000000"/>
                </a:solidFill>
                <a:latin typeface="Arial"/>
                <a:cs typeface="Arial"/>
              </a:rPr>
              <a:t>Overriding </a:t>
            </a:r>
            <a:r>
              <a:rPr sz="3600" i="0" spc="-85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3600" i="0" spc="-5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Java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29911" y="6550152"/>
            <a:ext cx="4514215" cy="48895"/>
            <a:chOff x="4629911" y="6550152"/>
            <a:chExt cx="4514215" cy="48895"/>
          </a:xfrm>
        </p:grpSpPr>
        <p:sp>
          <p:nvSpPr>
            <p:cNvPr id="3" name="object 3"/>
            <p:cNvSpPr/>
            <p:nvPr/>
          </p:nvSpPr>
          <p:spPr>
            <a:xfrm>
              <a:off x="4629911" y="6550152"/>
              <a:ext cx="2329180" cy="48895"/>
            </a:xfrm>
            <a:custGeom>
              <a:avLst/>
              <a:gdLst/>
              <a:ahLst/>
              <a:cxnLst/>
              <a:rect l="l" t="t" r="r" b="b"/>
              <a:pathLst>
                <a:path w="2329179" h="48895">
                  <a:moveTo>
                    <a:pt x="2328672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328672" y="48768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6908291" y="6550152"/>
              <a:ext cx="2235835" cy="45720"/>
            </a:xfrm>
            <a:custGeom>
              <a:avLst/>
              <a:gdLst/>
              <a:ahLst/>
              <a:cxnLst/>
              <a:rect l="l" t="t" r="r" b="b"/>
              <a:pathLst>
                <a:path w="2235834" h="45720">
                  <a:moveTo>
                    <a:pt x="2235707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235707" y="45720"/>
                  </a:lnTo>
                  <a:lnTo>
                    <a:pt x="2235707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object 5"/>
          <p:cNvSpPr/>
          <p:nvPr/>
        </p:nvSpPr>
        <p:spPr>
          <a:xfrm>
            <a:off x="6629400" y="0"/>
            <a:ext cx="2193036" cy="6934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495800" y="6553200"/>
            <a:ext cx="4648200" cy="45720"/>
            <a:chOff x="4495800" y="6553200"/>
            <a:chExt cx="4648200" cy="45720"/>
          </a:xfrm>
        </p:grpSpPr>
        <p:sp>
          <p:nvSpPr>
            <p:cNvPr id="7" name="object 7"/>
            <p:cNvSpPr/>
            <p:nvPr/>
          </p:nvSpPr>
          <p:spPr>
            <a:xfrm>
              <a:off x="4495800" y="65532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20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6815327" y="65532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20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0" y="1295400"/>
            <a:ext cx="7010400" cy="45720"/>
            <a:chOff x="0" y="1295400"/>
            <a:chExt cx="7010400" cy="45720"/>
          </a:xfrm>
        </p:grpSpPr>
        <p:sp>
          <p:nvSpPr>
            <p:cNvPr id="10" name="object 10"/>
            <p:cNvSpPr/>
            <p:nvPr/>
          </p:nvSpPr>
          <p:spPr>
            <a:xfrm>
              <a:off x="2362200" y="12954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1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1295400"/>
              <a:ext cx="2362200" cy="45720"/>
            </a:xfrm>
            <a:custGeom>
              <a:avLst/>
              <a:gdLst/>
              <a:ahLst/>
              <a:cxnLst/>
              <a:rect l="l" t="t" r="r" b="b"/>
              <a:pathLst>
                <a:path w="2362200" h="45719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4681728" y="12954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1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58762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Method </a:t>
            </a:r>
            <a:r>
              <a:rPr sz="3600" i="0" spc="-145" dirty="0">
                <a:solidFill>
                  <a:srgbClr val="000000"/>
                </a:solidFill>
                <a:latin typeface="Arial"/>
                <a:cs typeface="Arial"/>
              </a:rPr>
              <a:t>Overriding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3600" i="0" spc="-5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Example</a:t>
            </a:r>
            <a:endParaRPr sz="3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119" y="1338453"/>
            <a:ext cx="551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</a:t>
            </a:r>
            <a:r>
              <a:rPr kumimoji="0" sz="1200" b="1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5037" y="1701545"/>
            <a:ext cx="4968240" cy="79248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313055" marR="0" lvl="0" indent="0" algn="l" defTabSz="914400" rtl="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show(int a, int</a:t>
            </a:r>
            <a:r>
              <a:rPr kumimoji="0" sz="1200" b="1" i="0" u="none" strike="noStrike" kern="1200" cap="none" spc="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1305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2745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System.out.println("Hello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! This is show() in</a:t>
            </a:r>
            <a:r>
              <a:rPr kumimoji="0" sz="1200" b="1" i="0" u="none" strike="noStrike" kern="1200" cap="none" spc="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A");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1305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show()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Method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119" y="2618994"/>
            <a:ext cx="1322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// End of class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 extends</a:t>
            </a:r>
            <a:r>
              <a:rPr kumimoji="0" sz="1200" b="1" i="0" u="none" strike="noStrike" kern="1200" cap="none" spc="-125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119" y="2984753"/>
            <a:ext cx="85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5037" y="3141726"/>
            <a:ext cx="4968240" cy="79248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313055" marR="0" lvl="0" indent="0" algn="l" defTabSz="914400" rtl="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show(int a, int</a:t>
            </a:r>
            <a:r>
              <a:rPr kumimoji="0" sz="1200" b="1" i="0" u="none" strike="noStrike" kern="1200" cap="none" spc="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1305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2745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System.out.println("Hello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This is show() in</a:t>
            </a:r>
            <a:r>
              <a:rPr kumimoji="0" sz="1200" b="1" i="0" u="none" strike="noStrike" kern="1200" cap="none" spc="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B");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1305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show()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Method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119" y="4082288"/>
            <a:ext cx="1307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// End of class</a:t>
            </a:r>
            <a:r>
              <a:rPr kumimoji="0" sz="1200" b="1" i="0" u="none" strike="noStrike" kern="1200" cap="none" spc="-85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//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Driver</a:t>
            </a:r>
            <a:r>
              <a:rPr kumimoji="0" sz="12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119" y="4448047"/>
            <a:ext cx="13887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26465" algn="l"/>
              </a:tabLst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	</a:t>
            </a:r>
            <a:r>
              <a:rPr kumimoji="0" sz="12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Test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public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00173" y="4813807"/>
            <a:ext cx="424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static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4573" y="4813807"/>
            <a:ext cx="3365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oid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29354" y="5361178"/>
            <a:ext cx="12953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=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43754" y="5361178"/>
            <a:ext cx="3721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ew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58409" y="5361178"/>
            <a:ext cx="3270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();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00173" y="5361178"/>
            <a:ext cx="1151255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26465" algn="l"/>
              </a:tabLst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	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a1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a1.show(4,5);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119" y="6001308"/>
            <a:ext cx="49047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7345" marR="5080" lvl="0" indent="224154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55900" algn="l"/>
                <a:tab pos="3670300" algn="l"/>
                <a:tab pos="4584700" algn="l"/>
              </a:tabLst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	=	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ew	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(); 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a1.show(1,1);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93590" algn="l"/>
              </a:tabLst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</a:t>
            </a:r>
            <a:r>
              <a:rPr kumimoji="0" sz="1200" b="1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</a:t>
            </a:r>
            <a:r>
              <a:rPr kumimoji="0" sz="1200" b="1" i="0" u="heavy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>
                  <a:solidFill>
                    <a:srgbClr val="FBAF17"/>
                  </a:solidFill>
                </a:uFill>
                <a:latin typeface="Arial"/>
                <a:ea typeface="+mn-ea"/>
                <a:cs typeface="Arial"/>
              </a:rPr>
              <a:t>od	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648705" y="1701545"/>
            <a:ext cx="762000" cy="2232660"/>
          </a:xfrm>
          <a:custGeom>
            <a:avLst/>
            <a:gdLst/>
            <a:ahLst/>
            <a:cxnLst/>
            <a:rect l="l" t="t" r="r" b="b"/>
            <a:pathLst>
              <a:path w="762000" h="2232660">
                <a:moveTo>
                  <a:pt x="0" y="0"/>
                </a:moveTo>
                <a:lnTo>
                  <a:pt x="56305" y="2481"/>
                </a:lnTo>
                <a:lnTo>
                  <a:pt x="110044" y="9691"/>
                </a:lnTo>
                <a:lnTo>
                  <a:pt x="160627" y="21274"/>
                </a:lnTo>
                <a:lnTo>
                  <a:pt x="207466" y="36876"/>
                </a:lnTo>
                <a:lnTo>
                  <a:pt x="249971" y="56143"/>
                </a:lnTo>
                <a:lnTo>
                  <a:pt x="287553" y="78720"/>
                </a:lnTo>
                <a:lnTo>
                  <a:pt x="319623" y="104252"/>
                </a:lnTo>
                <a:lnTo>
                  <a:pt x="345591" y="132386"/>
                </a:lnTo>
                <a:lnTo>
                  <a:pt x="376869" y="195041"/>
                </a:lnTo>
                <a:lnTo>
                  <a:pt x="381000" y="228853"/>
                </a:lnTo>
                <a:lnTo>
                  <a:pt x="381000" y="887476"/>
                </a:lnTo>
                <a:lnTo>
                  <a:pt x="385130" y="921288"/>
                </a:lnTo>
                <a:lnTo>
                  <a:pt x="416408" y="983943"/>
                </a:lnTo>
                <a:lnTo>
                  <a:pt x="442376" y="1012077"/>
                </a:lnTo>
                <a:lnTo>
                  <a:pt x="474446" y="1037609"/>
                </a:lnTo>
                <a:lnTo>
                  <a:pt x="512028" y="1060186"/>
                </a:lnTo>
                <a:lnTo>
                  <a:pt x="554533" y="1079453"/>
                </a:lnTo>
                <a:lnTo>
                  <a:pt x="601372" y="1095055"/>
                </a:lnTo>
                <a:lnTo>
                  <a:pt x="651955" y="1106638"/>
                </a:lnTo>
                <a:lnTo>
                  <a:pt x="705694" y="1113848"/>
                </a:lnTo>
                <a:lnTo>
                  <a:pt x="762000" y="1116329"/>
                </a:lnTo>
                <a:lnTo>
                  <a:pt x="705694" y="1118811"/>
                </a:lnTo>
                <a:lnTo>
                  <a:pt x="651955" y="1126021"/>
                </a:lnTo>
                <a:lnTo>
                  <a:pt x="601372" y="1137604"/>
                </a:lnTo>
                <a:lnTo>
                  <a:pt x="554533" y="1153206"/>
                </a:lnTo>
                <a:lnTo>
                  <a:pt x="512028" y="1172473"/>
                </a:lnTo>
                <a:lnTo>
                  <a:pt x="474446" y="1195050"/>
                </a:lnTo>
                <a:lnTo>
                  <a:pt x="442376" y="1220582"/>
                </a:lnTo>
                <a:lnTo>
                  <a:pt x="416408" y="1248716"/>
                </a:lnTo>
                <a:lnTo>
                  <a:pt x="385130" y="1311371"/>
                </a:lnTo>
                <a:lnTo>
                  <a:pt x="381000" y="1345183"/>
                </a:lnTo>
                <a:lnTo>
                  <a:pt x="381000" y="2003805"/>
                </a:lnTo>
                <a:lnTo>
                  <a:pt x="376869" y="2037618"/>
                </a:lnTo>
                <a:lnTo>
                  <a:pt x="345591" y="2100273"/>
                </a:lnTo>
                <a:lnTo>
                  <a:pt x="319623" y="2128407"/>
                </a:lnTo>
                <a:lnTo>
                  <a:pt x="287553" y="2153939"/>
                </a:lnTo>
                <a:lnTo>
                  <a:pt x="249971" y="2176516"/>
                </a:lnTo>
                <a:lnTo>
                  <a:pt x="207466" y="2195783"/>
                </a:lnTo>
                <a:lnTo>
                  <a:pt x="160627" y="2211385"/>
                </a:lnTo>
                <a:lnTo>
                  <a:pt x="110044" y="2222968"/>
                </a:lnTo>
                <a:lnTo>
                  <a:pt x="56305" y="2230178"/>
                </a:lnTo>
                <a:lnTo>
                  <a:pt x="0" y="2232660"/>
                </a:lnTo>
              </a:path>
            </a:pathLst>
          </a:custGeom>
          <a:ln w="25907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46291" y="2365375"/>
            <a:ext cx="204533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405" marR="5461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sub-class B</a:t>
            </a:r>
            <a:r>
              <a:rPr kumimoji="0" sz="1800" b="1" i="0" u="none" strike="noStrike" kern="120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</a:t>
            </a: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overrides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065" marR="508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1800" b="1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show()</a:t>
            </a:r>
            <a:r>
              <a:rPr kumimoji="0" sz="1800" b="1" i="0" u="none" strike="noStrike" kern="1200" cap="none" spc="-1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  of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super-class</a:t>
            </a:r>
            <a:r>
              <a:rPr kumimoji="0" sz="1800" b="1" i="0" u="none" strike="noStrike" kern="1200" cap="none" spc="-9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921502" y="5439917"/>
            <a:ext cx="536575" cy="149860"/>
          </a:xfrm>
          <a:custGeom>
            <a:avLst/>
            <a:gdLst/>
            <a:ahLst/>
            <a:cxnLst/>
            <a:rect l="l" t="t" r="r" b="b"/>
            <a:pathLst>
              <a:path w="536575" h="149860">
                <a:moveTo>
                  <a:pt x="0" y="37337"/>
                </a:moveTo>
                <a:lnTo>
                  <a:pt x="461772" y="37337"/>
                </a:lnTo>
                <a:lnTo>
                  <a:pt x="461772" y="0"/>
                </a:lnTo>
                <a:lnTo>
                  <a:pt x="536448" y="74675"/>
                </a:lnTo>
                <a:lnTo>
                  <a:pt x="461772" y="149351"/>
                </a:lnTo>
                <a:lnTo>
                  <a:pt x="461772" y="112013"/>
                </a:lnTo>
                <a:lnTo>
                  <a:pt x="0" y="112013"/>
                </a:lnTo>
                <a:lnTo>
                  <a:pt x="0" y="37337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41389" y="5225541"/>
            <a:ext cx="23342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Type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sz="1800" b="1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Variable ‘a1’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1800" b="1" i="0" u="none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 </a:t>
            </a:r>
            <a:r>
              <a:rPr kumimoji="0" sz="1800" b="1" i="0" u="none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Type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Object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1800" b="1" i="0" u="none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-8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‘A’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836164" y="4259579"/>
            <a:ext cx="3069590" cy="2207260"/>
            <a:chOff x="2836164" y="4259579"/>
            <a:chExt cx="3069590" cy="2207260"/>
          </a:xfrm>
        </p:grpSpPr>
        <p:sp>
          <p:nvSpPr>
            <p:cNvPr id="33" name="object 33"/>
            <p:cNvSpPr/>
            <p:nvPr/>
          </p:nvSpPr>
          <p:spPr>
            <a:xfrm>
              <a:off x="3056382" y="5624321"/>
              <a:ext cx="2199640" cy="192405"/>
            </a:xfrm>
            <a:custGeom>
              <a:avLst/>
              <a:gdLst/>
              <a:ahLst/>
              <a:cxnLst/>
              <a:rect l="l" t="t" r="r" b="b"/>
              <a:pathLst>
                <a:path w="2199640" h="192404">
                  <a:moveTo>
                    <a:pt x="0" y="48005"/>
                  </a:moveTo>
                  <a:lnTo>
                    <a:pt x="2103120" y="48005"/>
                  </a:lnTo>
                  <a:lnTo>
                    <a:pt x="2103120" y="0"/>
                  </a:lnTo>
                  <a:lnTo>
                    <a:pt x="2199132" y="96011"/>
                  </a:lnTo>
                  <a:lnTo>
                    <a:pt x="2103120" y="192023"/>
                  </a:lnTo>
                  <a:lnTo>
                    <a:pt x="2103120" y="144017"/>
                  </a:lnTo>
                  <a:lnTo>
                    <a:pt x="0" y="144017"/>
                  </a:lnTo>
                  <a:lnTo>
                    <a:pt x="0" y="48005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5275326" y="4725161"/>
              <a:ext cx="161925" cy="1019810"/>
            </a:xfrm>
            <a:custGeom>
              <a:avLst/>
              <a:gdLst/>
              <a:ahLst/>
              <a:cxnLst/>
              <a:rect l="l" t="t" r="r" b="b"/>
              <a:pathLst>
                <a:path w="161925" h="1019810">
                  <a:moveTo>
                    <a:pt x="40386" y="1019556"/>
                  </a:moveTo>
                  <a:lnTo>
                    <a:pt x="40386" y="80771"/>
                  </a:lnTo>
                  <a:lnTo>
                    <a:pt x="0" y="80771"/>
                  </a:lnTo>
                  <a:lnTo>
                    <a:pt x="80772" y="0"/>
                  </a:lnTo>
                  <a:lnTo>
                    <a:pt x="161544" y="80771"/>
                  </a:lnTo>
                  <a:lnTo>
                    <a:pt x="121158" y="80771"/>
                  </a:lnTo>
                  <a:lnTo>
                    <a:pt x="121158" y="1019556"/>
                  </a:lnTo>
                  <a:lnTo>
                    <a:pt x="40386" y="1019556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2849118" y="4581905"/>
              <a:ext cx="3043555" cy="1871980"/>
            </a:xfrm>
            <a:custGeom>
              <a:avLst/>
              <a:gdLst/>
              <a:ahLst/>
              <a:cxnLst/>
              <a:rect l="l" t="t" r="r" b="b"/>
              <a:pathLst>
                <a:path w="3043554" h="1871979">
                  <a:moveTo>
                    <a:pt x="2506980" y="37338"/>
                  </a:moveTo>
                  <a:lnTo>
                    <a:pt x="2968752" y="37338"/>
                  </a:lnTo>
                  <a:lnTo>
                    <a:pt x="2968752" y="0"/>
                  </a:lnTo>
                  <a:lnTo>
                    <a:pt x="3043428" y="74676"/>
                  </a:lnTo>
                  <a:lnTo>
                    <a:pt x="2968752" y="149352"/>
                  </a:lnTo>
                  <a:lnTo>
                    <a:pt x="2968752" y="112014"/>
                  </a:lnTo>
                  <a:lnTo>
                    <a:pt x="2506980" y="112014"/>
                  </a:lnTo>
                  <a:lnTo>
                    <a:pt x="2506980" y="37338"/>
                  </a:lnTo>
                  <a:close/>
                </a:path>
                <a:path w="3043554" h="1871979">
                  <a:moveTo>
                    <a:pt x="0" y="1724025"/>
                  </a:moveTo>
                  <a:lnTo>
                    <a:pt x="256794" y="1724025"/>
                  </a:lnTo>
                  <a:lnTo>
                    <a:pt x="256794" y="1674876"/>
                  </a:lnTo>
                  <a:lnTo>
                    <a:pt x="355092" y="1773174"/>
                  </a:lnTo>
                  <a:lnTo>
                    <a:pt x="256794" y="1871472"/>
                  </a:lnTo>
                  <a:lnTo>
                    <a:pt x="256794" y="1822323"/>
                  </a:lnTo>
                  <a:lnTo>
                    <a:pt x="0" y="1822323"/>
                  </a:lnTo>
                  <a:lnTo>
                    <a:pt x="0" y="1724025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3231642" y="4461509"/>
              <a:ext cx="256540" cy="1902460"/>
            </a:xfrm>
            <a:custGeom>
              <a:avLst/>
              <a:gdLst/>
              <a:ahLst/>
              <a:cxnLst/>
              <a:rect l="l" t="t" r="r" b="b"/>
              <a:pathLst>
                <a:path w="256539" h="1902460">
                  <a:moveTo>
                    <a:pt x="64007" y="1901952"/>
                  </a:moveTo>
                  <a:lnTo>
                    <a:pt x="64007" y="128015"/>
                  </a:lnTo>
                  <a:lnTo>
                    <a:pt x="0" y="128015"/>
                  </a:lnTo>
                  <a:lnTo>
                    <a:pt x="128016" y="0"/>
                  </a:lnTo>
                  <a:lnTo>
                    <a:pt x="256031" y="128015"/>
                  </a:lnTo>
                  <a:lnTo>
                    <a:pt x="192023" y="128015"/>
                  </a:lnTo>
                  <a:lnTo>
                    <a:pt x="192023" y="1901952"/>
                  </a:lnTo>
                  <a:lnTo>
                    <a:pt x="64007" y="1901952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3347466" y="4272533"/>
              <a:ext cx="536575" cy="149860"/>
            </a:xfrm>
            <a:custGeom>
              <a:avLst/>
              <a:gdLst/>
              <a:ahLst/>
              <a:cxnLst/>
              <a:rect l="l" t="t" r="r" b="b"/>
              <a:pathLst>
                <a:path w="536575" h="149860">
                  <a:moveTo>
                    <a:pt x="0" y="37338"/>
                  </a:moveTo>
                  <a:lnTo>
                    <a:pt x="461772" y="37338"/>
                  </a:lnTo>
                  <a:lnTo>
                    <a:pt x="461772" y="0"/>
                  </a:lnTo>
                  <a:lnTo>
                    <a:pt x="536448" y="74676"/>
                  </a:lnTo>
                  <a:lnTo>
                    <a:pt x="461772" y="149352"/>
                  </a:lnTo>
                  <a:lnTo>
                    <a:pt x="461772" y="112014"/>
                  </a:lnTo>
                  <a:lnTo>
                    <a:pt x="0" y="112014"/>
                  </a:lnTo>
                  <a:lnTo>
                    <a:pt x="0" y="37338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635878" y="5920841"/>
            <a:ext cx="27216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Type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sz="1800" b="1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Variable ‘a1’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still</a:t>
            </a:r>
            <a:r>
              <a:rPr kumimoji="0" sz="1800" b="1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 But type of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Object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1800" b="1" i="0" u="none" strike="noStrike" kern="120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‘B’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987290" y="6075426"/>
            <a:ext cx="538480" cy="151130"/>
          </a:xfrm>
          <a:custGeom>
            <a:avLst/>
            <a:gdLst/>
            <a:ahLst/>
            <a:cxnLst/>
            <a:rect l="l" t="t" r="r" b="b"/>
            <a:pathLst>
              <a:path w="538479" h="151129">
                <a:moveTo>
                  <a:pt x="0" y="37719"/>
                </a:moveTo>
                <a:lnTo>
                  <a:pt x="462534" y="37719"/>
                </a:lnTo>
                <a:lnTo>
                  <a:pt x="462534" y="0"/>
                </a:lnTo>
                <a:lnTo>
                  <a:pt x="537972" y="75438"/>
                </a:lnTo>
                <a:lnTo>
                  <a:pt x="462534" y="150876"/>
                </a:lnTo>
                <a:lnTo>
                  <a:pt x="462534" y="113157"/>
                </a:lnTo>
                <a:lnTo>
                  <a:pt x="0" y="113157"/>
                </a:lnTo>
                <a:lnTo>
                  <a:pt x="0" y="37719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729354" y="4131055"/>
            <a:ext cx="4617720" cy="89154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10820" marR="0" lvl="0" indent="0" algn="l" defTabSz="914400" rtl="0" eaLnBrk="1" fontAlgn="auto" latinLnBrk="0" hangingPunct="1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Calls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show() </a:t>
            </a: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</a:t>
            </a:r>
            <a:r>
              <a:rPr kumimoji="0" sz="1800" b="1" i="0" u="none" strike="noStrike" kern="120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class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266950" marR="0" lvl="0" indent="0" algn="l" defTabSz="914400" rtl="0" eaLnBrk="1" fontAlgn="auto" latinLnBrk="0" hangingPunct="1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Calls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show() </a:t>
            </a: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1800" b="1" i="0" u="none" strike="noStrike" kern="1200" cap="none" spc="-9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class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4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main(String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args[])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458671"/>
            <a:ext cx="8361680" cy="6972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F1141"/>
              </a:buClr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super class variable can point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any of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its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sub-class</a:t>
            </a:r>
            <a:r>
              <a:rPr kumimoji="0" sz="2000" b="0" i="0" u="none" strike="noStrike" kern="1200" cap="none" spc="-2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instance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rgbClr val="0F1141"/>
              </a:buClr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Example</a:t>
            </a:r>
            <a:r>
              <a:rPr kumimoji="0" sz="2000" b="0" i="0" u="none" strike="noStrike" kern="1200" cap="none" spc="2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</a:t>
            </a:r>
            <a:r>
              <a:rPr kumimoji="0" sz="2000" b="0" i="0" u="none" strike="noStrike" kern="1200" cap="none" spc="2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Suppose</a:t>
            </a:r>
            <a:r>
              <a:rPr kumimoji="0" sz="2000" b="0" i="0" u="none" strike="noStrike" kern="1200" cap="none" spc="2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‘X’</a:t>
            </a:r>
            <a:r>
              <a:rPr kumimoji="0" sz="2000" b="0" i="0" u="none" strike="noStrike" kern="1200" cap="none" spc="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</a:t>
            </a:r>
            <a:r>
              <a:rPr kumimoji="0" sz="2000" b="0" i="0" u="none" strike="noStrike" kern="1200" cap="none" spc="2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</a:t>
            </a:r>
            <a:r>
              <a:rPr kumimoji="0" sz="2000" b="0" i="0" u="none" strike="noStrike" kern="1200" cap="none" spc="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super-class</a:t>
            </a:r>
            <a:r>
              <a:rPr kumimoji="0" sz="2000" b="0" i="0" u="none" strike="noStrike" kern="1200" cap="none" spc="2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for</a:t>
            </a:r>
            <a:r>
              <a:rPr kumimoji="0" sz="2000" b="0" i="0" u="none" strike="noStrike" kern="1200" cap="none" spc="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sub-classes</a:t>
            </a:r>
            <a:r>
              <a:rPr kumimoji="0" sz="2000" b="0" i="0" u="none" strike="noStrike" kern="1200" cap="none" spc="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‘A’,</a:t>
            </a:r>
            <a:r>
              <a:rPr kumimoji="0" sz="2000" b="0" i="0" u="none" strike="noStrike" kern="1200" cap="none" spc="2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‘B’</a:t>
            </a:r>
            <a:r>
              <a:rPr kumimoji="0" sz="2000" b="0" i="0" u="none" strike="noStrike" kern="1200" cap="none" spc="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and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6440" y="2098929"/>
            <a:ext cx="3937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‘C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’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3540" y="150621"/>
            <a:ext cx="5306695" cy="103124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819"/>
              </a:spcBef>
            </a:pP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Basic Facts About</a:t>
            </a:r>
            <a:r>
              <a:rPr sz="3600" i="0" spc="-7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Method  </a:t>
            </a:r>
            <a:r>
              <a:rPr sz="3600" i="0" spc="-145" dirty="0">
                <a:solidFill>
                  <a:srgbClr val="000000"/>
                </a:solidFill>
                <a:latin typeface="Arial"/>
                <a:cs typeface="Arial"/>
              </a:rPr>
              <a:t>Overriding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: </a:t>
            </a: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Fact</a:t>
            </a:r>
            <a:r>
              <a:rPr sz="3600" i="0" spc="-7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I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92468" y="2735579"/>
            <a:ext cx="1667510" cy="577850"/>
          </a:xfrm>
          <a:prstGeom prst="rect">
            <a:avLst/>
          </a:prstGeom>
          <a:solidFill>
            <a:srgbClr val="4F81BC"/>
          </a:solidFill>
          <a:ln w="9144">
            <a:solidFill>
              <a:srgbClr val="000000"/>
            </a:solidFill>
          </a:ln>
        </p:spPr>
        <p:txBody>
          <a:bodyPr vert="horz" wrap="square" lIns="0" tIns="146685" rIns="0" bIns="0" rtlCol="0">
            <a:spAutoFit/>
          </a:bodyPr>
          <a:lstStyle/>
          <a:p>
            <a:pPr marL="3175" marR="0" lvl="0" indent="0" algn="ctr" defTabSz="914400" rtl="0" eaLnBrk="1" fontAlgn="auto" latinLnBrk="0" hangingPunct="1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X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86471" y="3313176"/>
            <a:ext cx="76200" cy="386080"/>
          </a:xfrm>
          <a:custGeom>
            <a:avLst/>
            <a:gdLst/>
            <a:ahLst/>
            <a:cxnLst/>
            <a:rect l="l" t="t" r="r" b="b"/>
            <a:pathLst>
              <a:path w="76200" h="386079">
                <a:moveTo>
                  <a:pt x="44450" y="63500"/>
                </a:moveTo>
                <a:lnTo>
                  <a:pt x="31750" y="63500"/>
                </a:lnTo>
                <a:lnTo>
                  <a:pt x="31750" y="385572"/>
                </a:lnTo>
                <a:lnTo>
                  <a:pt x="44450" y="385572"/>
                </a:lnTo>
                <a:lnTo>
                  <a:pt x="44450" y="63500"/>
                </a:lnTo>
                <a:close/>
              </a:path>
              <a:path w="76200" h="38607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86079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150864" y="3691128"/>
          <a:ext cx="2882261" cy="772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84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87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78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67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952">
                <a:tc grid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861809" y="2367153"/>
            <a:ext cx="1513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&lt;&lt;super-class&gt;&gt;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44982" y="3612833"/>
          <a:ext cx="3225798" cy="10787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7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036">
                <a:tc>
                  <a:txBody>
                    <a:bodyPr/>
                    <a:lstStyle/>
                    <a:p>
                      <a:pPr marL="31750">
                        <a:lnSpc>
                          <a:spcPts val="1989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X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ts val="1989"/>
                        </a:lnSpc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x1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ts val="1989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=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8285">
                        <a:lnSpc>
                          <a:spcPts val="1989"/>
                        </a:lnSpc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new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3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2080"/>
                        </a:lnSpc>
                      </a:pPr>
                      <a:r>
                        <a:rPr sz="1800" spc="-15" dirty="0">
                          <a:latin typeface="Arial"/>
                          <a:cs typeface="Arial"/>
                        </a:rPr>
                        <a:t>x1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337820">
                        <a:lnSpc>
                          <a:spcPts val="208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=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337820">
                        <a:lnSpc>
                          <a:spcPts val="2080"/>
                        </a:lnSpc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new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248285">
                        <a:lnSpc>
                          <a:spcPts val="208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B();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4022216" y="3578479"/>
            <a:ext cx="393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A();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4032" y="5498998"/>
            <a:ext cx="264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x1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78382" y="5498998"/>
            <a:ext cx="15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=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93163" y="5498998"/>
            <a:ext cx="443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new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07563" y="5498998"/>
            <a:ext cx="406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C();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456176" y="2776727"/>
            <a:ext cx="670560" cy="1074420"/>
            <a:chOff x="4456176" y="2776727"/>
            <a:chExt cx="670560" cy="1074420"/>
          </a:xfrm>
        </p:grpSpPr>
        <p:sp>
          <p:nvSpPr>
            <p:cNvPr id="16" name="object 16"/>
            <p:cNvSpPr/>
            <p:nvPr/>
          </p:nvSpPr>
          <p:spPr>
            <a:xfrm>
              <a:off x="4469130" y="3646169"/>
              <a:ext cx="424180" cy="192405"/>
            </a:xfrm>
            <a:custGeom>
              <a:avLst/>
              <a:gdLst/>
              <a:ahLst/>
              <a:cxnLst/>
              <a:rect l="l" t="t" r="r" b="b"/>
              <a:pathLst>
                <a:path w="424179" h="192404">
                  <a:moveTo>
                    <a:pt x="0" y="48005"/>
                  </a:moveTo>
                  <a:lnTo>
                    <a:pt x="327660" y="48005"/>
                  </a:lnTo>
                  <a:lnTo>
                    <a:pt x="327660" y="0"/>
                  </a:lnTo>
                  <a:lnTo>
                    <a:pt x="423672" y="96011"/>
                  </a:lnTo>
                  <a:lnTo>
                    <a:pt x="327660" y="192023"/>
                  </a:lnTo>
                  <a:lnTo>
                    <a:pt x="327660" y="144017"/>
                  </a:lnTo>
                  <a:lnTo>
                    <a:pt x="0" y="144017"/>
                  </a:lnTo>
                  <a:lnTo>
                    <a:pt x="0" y="48005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857750" y="2789681"/>
              <a:ext cx="256540" cy="978535"/>
            </a:xfrm>
            <a:custGeom>
              <a:avLst/>
              <a:gdLst/>
              <a:ahLst/>
              <a:cxnLst/>
              <a:rect l="l" t="t" r="r" b="b"/>
              <a:pathLst>
                <a:path w="256539" h="978535">
                  <a:moveTo>
                    <a:pt x="128015" y="0"/>
                  </a:moveTo>
                  <a:lnTo>
                    <a:pt x="0" y="128015"/>
                  </a:lnTo>
                  <a:lnTo>
                    <a:pt x="64008" y="128015"/>
                  </a:lnTo>
                  <a:lnTo>
                    <a:pt x="64008" y="978407"/>
                  </a:lnTo>
                  <a:lnTo>
                    <a:pt x="192024" y="978407"/>
                  </a:lnTo>
                  <a:lnTo>
                    <a:pt x="192024" y="128015"/>
                  </a:lnTo>
                  <a:lnTo>
                    <a:pt x="256032" y="128015"/>
                  </a:lnTo>
                  <a:lnTo>
                    <a:pt x="1280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857750" y="2789681"/>
              <a:ext cx="256540" cy="978535"/>
            </a:xfrm>
            <a:custGeom>
              <a:avLst/>
              <a:gdLst/>
              <a:ahLst/>
              <a:cxnLst/>
              <a:rect l="l" t="t" r="r" b="b"/>
              <a:pathLst>
                <a:path w="256539" h="978535">
                  <a:moveTo>
                    <a:pt x="256032" y="128015"/>
                  </a:moveTo>
                  <a:lnTo>
                    <a:pt x="192024" y="128015"/>
                  </a:lnTo>
                  <a:lnTo>
                    <a:pt x="192024" y="978407"/>
                  </a:lnTo>
                  <a:lnTo>
                    <a:pt x="64008" y="978407"/>
                  </a:lnTo>
                  <a:lnTo>
                    <a:pt x="64008" y="128015"/>
                  </a:lnTo>
                  <a:lnTo>
                    <a:pt x="0" y="128015"/>
                  </a:lnTo>
                  <a:lnTo>
                    <a:pt x="128015" y="0"/>
                  </a:lnTo>
                  <a:lnTo>
                    <a:pt x="256032" y="128015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732913" y="2152903"/>
            <a:ext cx="3898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43688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super-class variable of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type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‘X’ 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pointing to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sub-class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instance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type</a:t>
            </a:r>
            <a:r>
              <a:rPr kumimoji="0" sz="1800" b="0" i="0" u="none" strike="noStrike" kern="1200" cap="none" spc="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8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‘A’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32632" y="4451603"/>
            <a:ext cx="2164080" cy="494030"/>
            <a:chOff x="3532632" y="4451603"/>
            <a:chExt cx="2164080" cy="494030"/>
          </a:xfrm>
        </p:grpSpPr>
        <p:sp>
          <p:nvSpPr>
            <p:cNvPr id="21" name="object 21"/>
            <p:cNvSpPr/>
            <p:nvPr/>
          </p:nvSpPr>
          <p:spPr>
            <a:xfrm>
              <a:off x="3545586" y="4464557"/>
              <a:ext cx="1952625" cy="238125"/>
            </a:xfrm>
            <a:custGeom>
              <a:avLst/>
              <a:gdLst/>
              <a:ahLst/>
              <a:cxnLst/>
              <a:rect l="l" t="t" r="r" b="b"/>
              <a:pathLst>
                <a:path w="1952625" h="238125">
                  <a:moveTo>
                    <a:pt x="0" y="59436"/>
                  </a:moveTo>
                  <a:lnTo>
                    <a:pt x="1833372" y="59436"/>
                  </a:lnTo>
                  <a:lnTo>
                    <a:pt x="1833372" y="0"/>
                  </a:lnTo>
                  <a:lnTo>
                    <a:pt x="1952243" y="118872"/>
                  </a:lnTo>
                  <a:lnTo>
                    <a:pt x="1833372" y="237744"/>
                  </a:lnTo>
                  <a:lnTo>
                    <a:pt x="1833372" y="178308"/>
                  </a:lnTo>
                  <a:lnTo>
                    <a:pt x="0" y="178308"/>
                  </a:lnTo>
                  <a:lnTo>
                    <a:pt x="0" y="59436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5497830" y="4618481"/>
              <a:ext cx="186055" cy="314325"/>
            </a:xfrm>
            <a:custGeom>
              <a:avLst/>
              <a:gdLst/>
              <a:ahLst/>
              <a:cxnLst/>
              <a:rect l="l" t="t" r="r" b="b"/>
              <a:pathLst>
                <a:path w="186054" h="314325">
                  <a:moveTo>
                    <a:pt x="139446" y="0"/>
                  </a:moveTo>
                  <a:lnTo>
                    <a:pt x="46482" y="0"/>
                  </a:lnTo>
                  <a:lnTo>
                    <a:pt x="46482" y="220980"/>
                  </a:lnTo>
                  <a:lnTo>
                    <a:pt x="0" y="220980"/>
                  </a:lnTo>
                  <a:lnTo>
                    <a:pt x="92964" y="313944"/>
                  </a:lnTo>
                  <a:lnTo>
                    <a:pt x="185928" y="220980"/>
                  </a:lnTo>
                  <a:lnTo>
                    <a:pt x="139446" y="220980"/>
                  </a:lnTo>
                  <a:lnTo>
                    <a:pt x="1394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5497830" y="4618481"/>
              <a:ext cx="186055" cy="314325"/>
            </a:xfrm>
            <a:custGeom>
              <a:avLst/>
              <a:gdLst/>
              <a:ahLst/>
              <a:cxnLst/>
              <a:rect l="l" t="t" r="r" b="b"/>
              <a:pathLst>
                <a:path w="186054" h="314325">
                  <a:moveTo>
                    <a:pt x="139446" y="0"/>
                  </a:moveTo>
                  <a:lnTo>
                    <a:pt x="139446" y="220980"/>
                  </a:lnTo>
                  <a:lnTo>
                    <a:pt x="185928" y="220980"/>
                  </a:lnTo>
                  <a:lnTo>
                    <a:pt x="92964" y="313944"/>
                  </a:lnTo>
                  <a:lnTo>
                    <a:pt x="0" y="220980"/>
                  </a:lnTo>
                  <a:lnTo>
                    <a:pt x="46482" y="220980"/>
                  </a:lnTo>
                  <a:lnTo>
                    <a:pt x="46482" y="0"/>
                  </a:lnTo>
                  <a:lnTo>
                    <a:pt x="139446" y="0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4" name="object 24"/>
          <p:cNvSpPr/>
          <p:nvPr/>
        </p:nvSpPr>
        <p:spPr>
          <a:xfrm>
            <a:off x="3545585" y="5520690"/>
            <a:ext cx="990600" cy="287020"/>
          </a:xfrm>
          <a:custGeom>
            <a:avLst/>
            <a:gdLst/>
            <a:ahLst/>
            <a:cxnLst/>
            <a:rect l="l" t="t" r="r" b="b"/>
            <a:pathLst>
              <a:path w="990600" h="287020">
                <a:moveTo>
                  <a:pt x="0" y="71628"/>
                </a:moveTo>
                <a:lnTo>
                  <a:pt x="847343" y="71628"/>
                </a:lnTo>
                <a:lnTo>
                  <a:pt x="847343" y="0"/>
                </a:lnTo>
                <a:lnTo>
                  <a:pt x="990600" y="143256"/>
                </a:lnTo>
                <a:lnTo>
                  <a:pt x="847343" y="286512"/>
                </a:lnTo>
                <a:lnTo>
                  <a:pt x="847343" y="214884"/>
                </a:lnTo>
                <a:lnTo>
                  <a:pt x="0" y="214884"/>
                </a:lnTo>
                <a:lnTo>
                  <a:pt x="0" y="71628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96690" y="4388037"/>
            <a:ext cx="4438015" cy="1644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1009" marR="5080" lvl="0" indent="2465070" algn="l" defTabSz="914400" rtl="0" eaLnBrk="1" fontAlgn="auto" latinLnBrk="0" hangingPunct="1">
              <a:lnSpc>
                <a:spcPct val="1347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&lt;&lt;sub-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es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&gt;&gt; 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super-class variable of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type</a:t>
            </a:r>
            <a:r>
              <a:rPr kumimoji="0" sz="1800" b="0" i="0" u="none" strike="noStrike" kern="1200" cap="none" spc="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‘X’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pointing to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sub-class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instance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type</a:t>
            </a:r>
            <a:r>
              <a:rPr kumimoji="0" sz="1800" b="0" i="0" u="none" strike="noStrike" kern="1200" cap="none" spc="7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‘B’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8740" marR="0" lvl="0" indent="0" algn="ctr" defTabSz="914400" rtl="0" eaLnBrk="1" fontAlgn="auto" latinLnBrk="0" hangingPunct="1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super-class variable of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type</a:t>
            </a:r>
            <a:r>
              <a:rPr kumimoji="0" sz="1800" b="0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‘X’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874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pointing to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sub-class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instance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type</a:t>
            </a:r>
            <a:r>
              <a:rPr kumimoji="0" sz="1800" b="0" i="0" u="none" strike="noStrike" kern="1200" cap="none" spc="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‘C’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488770"/>
            <a:ext cx="8503920" cy="142494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5600" marR="5080" lvl="0" indent="-342900" algn="just" defTabSz="914400" rtl="0" eaLnBrk="1" fontAlgn="auto" latinLnBrk="0" hangingPunct="1">
              <a:lnSpc>
                <a:spcPts val="2160"/>
              </a:lnSpc>
              <a:spcBef>
                <a:spcPts val="375"/>
              </a:spcBef>
              <a:spcAft>
                <a:spcPts val="0"/>
              </a:spcAft>
              <a:buClr>
                <a:srgbClr val="0F1141"/>
              </a:buClr>
              <a:buSzTx/>
              <a:buFontTx/>
              <a:buChar char="•"/>
              <a:tabLst>
                <a:tab pos="355600" algn="l"/>
              </a:tabLst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When a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super-class variable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points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 any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its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sub-class instance,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then  from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sub-class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only overridden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methods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can be invoked by using  the same</a:t>
            </a:r>
            <a:r>
              <a:rPr kumimoji="0" sz="20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variable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19405" marR="0" lvl="0" indent="0" algn="l" defTabSz="914400" rtl="0" eaLnBrk="1" fontAlgn="auto" latinLnBrk="0" hangingPunct="1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</a:t>
            </a:r>
            <a:r>
              <a:rPr kumimoji="0" sz="1200" b="1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1940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150621"/>
            <a:ext cx="5306695" cy="103124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819"/>
              </a:spcBef>
            </a:pP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Basic Facts About</a:t>
            </a:r>
            <a:r>
              <a:rPr sz="3600" i="0" spc="-7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Method  </a:t>
            </a:r>
            <a:r>
              <a:rPr sz="3600" i="0" spc="-145" dirty="0">
                <a:solidFill>
                  <a:srgbClr val="000000"/>
                </a:solidFill>
                <a:latin typeface="Arial"/>
                <a:cs typeface="Arial"/>
              </a:rPr>
              <a:t>Overriding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: </a:t>
            </a: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Fact</a:t>
            </a:r>
            <a:r>
              <a:rPr sz="3600" i="0" spc="-7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85" dirty="0">
                <a:solidFill>
                  <a:srgbClr val="000000"/>
                </a:solidFill>
                <a:latin typeface="Arial"/>
                <a:cs typeface="Arial"/>
              </a:rPr>
              <a:t>II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3697" y="2853689"/>
            <a:ext cx="1899285" cy="79248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223520" marR="0" lvl="0" indent="0" algn="l" defTabSz="914400" rtl="0" eaLnBrk="1" fontAlgn="auto" latinLnBrk="0" hangingPunct="1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</a:t>
            </a:r>
            <a:r>
              <a:rPr kumimoji="0" sz="1400" b="1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show()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2352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2352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End of</a:t>
            </a:r>
            <a:r>
              <a:rPr kumimoji="0" sz="1400" b="1" i="0" u="none" strike="noStrike" kern="1200" cap="none" spc="-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0473" y="3711067"/>
            <a:ext cx="1261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</a:t>
            </a:r>
            <a:r>
              <a:rPr kumimoji="0" sz="1200" b="1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0473" y="4076827"/>
            <a:ext cx="13220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 extends</a:t>
            </a:r>
            <a:r>
              <a:rPr kumimoji="0" sz="1200" b="1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0473" y="4259707"/>
            <a:ext cx="85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8458" y="4386834"/>
            <a:ext cx="1899285" cy="79248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238760" marR="0" lvl="0" indent="0" algn="l" defTabSz="914400" rtl="0" eaLnBrk="1" fontAlgn="auto" latinLnBrk="0" hangingPunct="1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</a:t>
            </a:r>
            <a:r>
              <a:rPr kumimoji="0" sz="1400" b="1" i="0" u="none" strike="noStrike" kern="120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show()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3876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3876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 /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End of</a:t>
            </a:r>
            <a:r>
              <a:rPr kumimoji="0" sz="1400" b="1" i="0" u="none" strike="noStrike" kern="1200" cap="none" spc="-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04899" y="5265801"/>
            <a:ext cx="12731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</a:t>
            </a:r>
            <a:r>
              <a:rPr kumimoji="0" sz="12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display()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 End of</a:t>
            </a:r>
            <a:r>
              <a:rPr kumimoji="0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0473" y="5997651"/>
            <a:ext cx="1266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</a:t>
            </a:r>
            <a:r>
              <a:rPr kumimoji="0" sz="1200" b="1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65953" y="2974975"/>
            <a:ext cx="3106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B </a:t>
            </a: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class overrides show()</a:t>
            </a:r>
            <a:r>
              <a:rPr kumimoji="0" sz="1800" b="1" i="0" u="heavy" strike="noStrike" kern="1200" cap="none" spc="-8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Method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07484" y="3807409"/>
            <a:ext cx="11684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26465" algn="l"/>
              </a:tabLst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	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a1.show();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36538" y="3807409"/>
            <a:ext cx="139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32803" y="3807409"/>
            <a:ext cx="1593215" cy="854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5080" lvl="0" indent="0" algn="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</a:tabLst>
              <a:defRPr/>
            </a:pPr>
            <a:r>
              <a:rPr kumimoji="0" sz="1800" b="1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</a:t>
            </a: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	B();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60325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Valid</a:t>
            </a:r>
            <a:r>
              <a:rPr kumimoji="0" sz="1800" b="1" i="0" u="none" strike="noStrike" kern="1200" cap="none" spc="-9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Statement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07484" y="4905247"/>
            <a:ext cx="1186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a1.disp</a:t>
            </a:r>
            <a:r>
              <a:rPr kumimoji="0" sz="1800" b="1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</a:t>
            </a:r>
            <a:r>
              <a:rPr kumimoji="0" sz="1800" b="1" i="0" u="none" strike="noStrike" kern="1200" cap="none" spc="-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y();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83318" y="3108197"/>
            <a:ext cx="1604645" cy="1684020"/>
          </a:xfrm>
          <a:custGeom>
            <a:avLst/>
            <a:gdLst/>
            <a:ahLst/>
            <a:cxnLst/>
            <a:rect l="l" t="t" r="r" b="b"/>
            <a:pathLst>
              <a:path w="1604645" h="1684020">
                <a:moveTo>
                  <a:pt x="72783" y="1627759"/>
                </a:moveTo>
                <a:lnTo>
                  <a:pt x="54114" y="1609725"/>
                </a:lnTo>
                <a:lnTo>
                  <a:pt x="0" y="1665478"/>
                </a:lnTo>
                <a:lnTo>
                  <a:pt x="18554" y="1683512"/>
                </a:lnTo>
                <a:lnTo>
                  <a:pt x="72783" y="1627759"/>
                </a:lnTo>
                <a:close/>
              </a:path>
              <a:path w="1604645" h="1684020">
                <a:moveTo>
                  <a:pt x="87642" y="149352"/>
                </a:moveTo>
                <a:lnTo>
                  <a:pt x="85991" y="123571"/>
                </a:lnTo>
                <a:lnTo>
                  <a:pt x="8394" y="128778"/>
                </a:lnTo>
                <a:lnTo>
                  <a:pt x="10160" y="154686"/>
                </a:lnTo>
                <a:lnTo>
                  <a:pt x="87642" y="149352"/>
                </a:lnTo>
                <a:close/>
              </a:path>
              <a:path w="1604645" h="1684020">
                <a:moveTo>
                  <a:pt x="144919" y="1553464"/>
                </a:moveTo>
                <a:lnTo>
                  <a:pt x="126377" y="1535430"/>
                </a:lnTo>
                <a:lnTo>
                  <a:pt x="72275" y="1591183"/>
                </a:lnTo>
                <a:lnTo>
                  <a:pt x="90817" y="1609217"/>
                </a:lnTo>
                <a:lnTo>
                  <a:pt x="144919" y="1553464"/>
                </a:lnTo>
                <a:close/>
              </a:path>
              <a:path w="1604645" h="1684020">
                <a:moveTo>
                  <a:pt x="191147" y="142367"/>
                </a:moveTo>
                <a:lnTo>
                  <a:pt x="189369" y="116586"/>
                </a:lnTo>
                <a:lnTo>
                  <a:pt x="111772" y="121793"/>
                </a:lnTo>
                <a:lnTo>
                  <a:pt x="113550" y="147701"/>
                </a:lnTo>
                <a:lnTo>
                  <a:pt x="191147" y="142367"/>
                </a:lnTo>
                <a:close/>
              </a:path>
              <a:path w="1604645" h="1684020">
                <a:moveTo>
                  <a:pt x="217182" y="1479169"/>
                </a:moveTo>
                <a:lnTo>
                  <a:pt x="198640" y="1461135"/>
                </a:lnTo>
                <a:lnTo>
                  <a:pt x="144411" y="1516888"/>
                </a:lnTo>
                <a:lnTo>
                  <a:pt x="163080" y="1534922"/>
                </a:lnTo>
                <a:lnTo>
                  <a:pt x="217182" y="1479169"/>
                </a:lnTo>
                <a:close/>
              </a:path>
              <a:path w="1604645" h="1684020">
                <a:moveTo>
                  <a:pt x="289445" y="1404874"/>
                </a:moveTo>
                <a:lnTo>
                  <a:pt x="270903" y="1386840"/>
                </a:lnTo>
                <a:lnTo>
                  <a:pt x="216674" y="1442593"/>
                </a:lnTo>
                <a:lnTo>
                  <a:pt x="235216" y="1460627"/>
                </a:lnTo>
                <a:lnTo>
                  <a:pt x="289445" y="1404874"/>
                </a:lnTo>
                <a:close/>
              </a:path>
              <a:path w="1604645" h="1684020">
                <a:moveTo>
                  <a:pt x="294525" y="135382"/>
                </a:moveTo>
                <a:lnTo>
                  <a:pt x="292747" y="109474"/>
                </a:lnTo>
                <a:lnTo>
                  <a:pt x="215150" y="114808"/>
                </a:lnTo>
                <a:lnTo>
                  <a:pt x="216928" y="140589"/>
                </a:lnTo>
                <a:lnTo>
                  <a:pt x="294525" y="135382"/>
                </a:lnTo>
                <a:close/>
              </a:path>
              <a:path w="1604645" h="1684020">
                <a:moveTo>
                  <a:pt x="361708" y="1330579"/>
                </a:moveTo>
                <a:lnTo>
                  <a:pt x="343039" y="1312545"/>
                </a:lnTo>
                <a:lnTo>
                  <a:pt x="288937" y="1368298"/>
                </a:lnTo>
                <a:lnTo>
                  <a:pt x="307479" y="1386332"/>
                </a:lnTo>
                <a:lnTo>
                  <a:pt x="361708" y="1330579"/>
                </a:lnTo>
                <a:close/>
              </a:path>
              <a:path w="1604645" h="1684020">
                <a:moveTo>
                  <a:pt x="397903" y="128397"/>
                </a:moveTo>
                <a:lnTo>
                  <a:pt x="396125" y="102489"/>
                </a:lnTo>
                <a:lnTo>
                  <a:pt x="318528" y="107823"/>
                </a:lnTo>
                <a:lnTo>
                  <a:pt x="320306" y="133604"/>
                </a:lnTo>
                <a:lnTo>
                  <a:pt x="397903" y="128397"/>
                </a:lnTo>
                <a:close/>
              </a:path>
              <a:path w="1604645" h="1684020">
                <a:moveTo>
                  <a:pt x="433844" y="1256284"/>
                </a:moveTo>
                <a:lnTo>
                  <a:pt x="415302" y="1238250"/>
                </a:lnTo>
                <a:lnTo>
                  <a:pt x="361200" y="1293876"/>
                </a:lnTo>
                <a:lnTo>
                  <a:pt x="379742" y="1312037"/>
                </a:lnTo>
                <a:lnTo>
                  <a:pt x="433844" y="1256284"/>
                </a:lnTo>
                <a:close/>
              </a:path>
              <a:path w="1604645" h="1684020">
                <a:moveTo>
                  <a:pt x="501281" y="121285"/>
                </a:moveTo>
                <a:lnTo>
                  <a:pt x="499503" y="95504"/>
                </a:lnTo>
                <a:lnTo>
                  <a:pt x="422033" y="100711"/>
                </a:lnTo>
                <a:lnTo>
                  <a:pt x="423684" y="126619"/>
                </a:lnTo>
                <a:lnTo>
                  <a:pt x="501281" y="121285"/>
                </a:lnTo>
                <a:close/>
              </a:path>
              <a:path w="1604645" h="1684020">
                <a:moveTo>
                  <a:pt x="506107" y="1181989"/>
                </a:moveTo>
                <a:lnTo>
                  <a:pt x="487565" y="1163828"/>
                </a:lnTo>
                <a:lnTo>
                  <a:pt x="433336" y="1219581"/>
                </a:lnTo>
                <a:lnTo>
                  <a:pt x="452005" y="1237615"/>
                </a:lnTo>
                <a:lnTo>
                  <a:pt x="506107" y="1181989"/>
                </a:lnTo>
                <a:close/>
              </a:path>
              <a:path w="1604645" h="1684020">
                <a:moveTo>
                  <a:pt x="578370" y="1107567"/>
                </a:moveTo>
                <a:lnTo>
                  <a:pt x="559828" y="1089533"/>
                </a:lnTo>
                <a:lnTo>
                  <a:pt x="505599" y="1145286"/>
                </a:lnTo>
                <a:lnTo>
                  <a:pt x="524141" y="1163320"/>
                </a:lnTo>
                <a:lnTo>
                  <a:pt x="578370" y="1107567"/>
                </a:lnTo>
                <a:close/>
              </a:path>
              <a:path w="1604645" h="1684020">
                <a:moveTo>
                  <a:pt x="604659" y="114300"/>
                </a:moveTo>
                <a:lnTo>
                  <a:pt x="602881" y="88519"/>
                </a:lnTo>
                <a:lnTo>
                  <a:pt x="525411" y="93726"/>
                </a:lnTo>
                <a:lnTo>
                  <a:pt x="527189" y="119634"/>
                </a:lnTo>
                <a:lnTo>
                  <a:pt x="604659" y="114300"/>
                </a:lnTo>
                <a:close/>
              </a:path>
              <a:path w="1604645" h="1684020">
                <a:moveTo>
                  <a:pt x="650633" y="1033272"/>
                </a:moveTo>
                <a:lnTo>
                  <a:pt x="631964" y="1015238"/>
                </a:lnTo>
                <a:lnTo>
                  <a:pt x="577862" y="1070991"/>
                </a:lnTo>
                <a:lnTo>
                  <a:pt x="596404" y="1089025"/>
                </a:lnTo>
                <a:lnTo>
                  <a:pt x="650633" y="1033272"/>
                </a:lnTo>
                <a:close/>
              </a:path>
              <a:path w="1604645" h="1684020">
                <a:moveTo>
                  <a:pt x="708037" y="107315"/>
                </a:moveTo>
                <a:lnTo>
                  <a:pt x="706259" y="81407"/>
                </a:lnTo>
                <a:lnTo>
                  <a:pt x="628789" y="86741"/>
                </a:lnTo>
                <a:lnTo>
                  <a:pt x="630567" y="112522"/>
                </a:lnTo>
                <a:lnTo>
                  <a:pt x="708037" y="107315"/>
                </a:lnTo>
                <a:close/>
              </a:path>
              <a:path w="1604645" h="1684020">
                <a:moveTo>
                  <a:pt x="722769" y="958977"/>
                </a:moveTo>
                <a:lnTo>
                  <a:pt x="704227" y="940943"/>
                </a:lnTo>
                <a:lnTo>
                  <a:pt x="649998" y="996696"/>
                </a:lnTo>
                <a:lnTo>
                  <a:pt x="668667" y="1014730"/>
                </a:lnTo>
                <a:lnTo>
                  <a:pt x="722769" y="958977"/>
                </a:lnTo>
                <a:close/>
              </a:path>
              <a:path w="1604645" h="1684020">
                <a:moveTo>
                  <a:pt x="795032" y="884682"/>
                </a:moveTo>
                <a:lnTo>
                  <a:pt x="776490" y="866648"/>
                </a:lnTo>
                <a:lnTo>
                  <a:pt x="722261" y="922401"/>
                </a:lnTo>
                <a:lnTo>
                  <a:pt x="740930" y="940435"/>
                </a:lnTo>
                <a:lnTo>
                  <a:pt x="795032" y="884682"/>
                </a:lnTo>
                <a:close/>
              </a:path>
              <a:path w="1604645" h="1684020">
                <a:moveTo>
                  <a:pt x="811415" y="100330"/>
                </a:moveTo>
                <a:lnTo>
                  <a:pt x="809764" y="74422"/>
                </a:lnTo>
                <a:lnTo>
                  <a:pt x="732167" y="79756"/>
                </a:lnTo>
                <a:lnTo>
                  <a:pt x="733945" y="105537"/>
                </a:lnTo>
                <a:lnTo>
                  <a:pt x="811415" y="100330"/>
                </a:lnTo>
                <a:close/>
              </a:path>
              <a:path w="1604645" h="1684020">
                <a:moveTo>
                  <a:pt x="867295" y="810387"/>
                </a:moveTo>
                <a:lnTo>
                  <a:pt x="848753" y="792353"/>
                </a:lnTo>
                <a:lnTo>
                  <a:pt x="794524" y="848106"/>
                </a:lnTo>
                <a:lnTo>
                  <a:pt x="813066" y="866140"/>
                </a:lnTo>
                <a:lnTo>
                  <a:pt x="867295" y="810387"/>
                </a:lnTo>
                <a:close/>
              </a:path>
              <a:path w="1604645" h="1684020">
                <a:moveTo>
                  <a:pt x="914920" y="93345"/>
                </a:moveTo>
                <a:lnTo>
                  <a:pt x="913142" y="67437"/>
                </a:lnTo>
                <a:lnTo>
                  <a:pt x="835545" y="72644"/>
                </a:lnTo>
                <a:lnTo>
                  <a:pt x="837323" y="98552"/>
                </a:lnTo>
                <a:lnTo>
                  <a:pt x="914920" y="93345"/>
                </a:lnTo>
                <a:close/>
              </a:path>
              <a:path w="1604645" h="1684020">
                <a:moveTo>
                  <a:pt x="939558" y="736092"/>
                </a:moveTo>
                <a:lnTo>
                  <a:pt x="920889" y="718058"/>
                </a:lnTo>
                <a:lnTo>
                  <a:pt x="866787" y="773684"/>
                </a:lnTo>
                <a:lnTo>
                  <a:pt x="885329" y="791845"/>
                </a:lnTo>
                <a:lnTo>
                  <a:pt x="939558" y="736092"/>
                </a:lnTo>
                <a:close/>
              </a:path>
              <a:path w="1604645" h="1684020">
                <a:moveTo>
                  <a:pt x="1011694" y="661797"/>
                </a:moveTo>
                <a:lnTo>
                  <a:pt x="993152" y="643636"/>
                </a:lnTo>
                <a:lnTo>
                  <a:pt x="938923" y="699389"/>
                </a:lnTo>
                <a:lnTo>
                  <a:pt x="957592" y="717423"/>
                </a:lnTo>
                <a:lnTo>
                  <a:pt x="1011694" y="661797"/>
                </a:lnTo>
                <a:close/>
              </a:path>
              <a:path w="1604645" h="1684020">
                <a:moveTo>
                  <a:pt x="1018298" y="86233"/>
                </a:moveTo>
                <a:lnTo>
                  <a:pt x="1016520" y="60452"/>
                </a:lnTo>
                <a:lnTo>
                  <a:pt x="938923" y="65659"/>
                </a:lnTo>
                <a:lnTo>
                  <a:pt x="940701" y="91567"/>
                </a:lnTo>
                <a:lnTo>
                  <a:pt x="1018298" y="86233"/>
                </a:lnTo>
                <a:close/>
              </a:path>
              <a:path w="1604645" h="1684020">
                <a:moveTo>
                  <a:pt x="1083957" y="587375"/>
                </a:moveTo>
                <a:lnTo>
                  <a:pt x="1065415" y="569341"/>
                </a:lnTo>
                <a:lnTo>
                  <a:pt x="1011186" y="625094"/>
                </a:lnTo>
                <a:lnTo>
                  <a:pt x="1029728" y="643128"/>
                </a:lnTo>
                <a:lnTo>
                  <a:pt x="1083957" y="587375"/>
                </a:lnTo>
                <a:close/>
              </a:path>
              <a:path w="1604645" h="1684020">
                <a:moveTo>
                  <a:pt x="1121676" y="79248"/>
                </a:moveTo>
                <a:lnTo>
                  <a:pt x="1119898" y="53467"/>
                </a:lnTo>
                <a:lnTo>
                  <a:pt x="1042301" y="58674"/>
                </a:lnTo>
                <a:lnTo>
                  <a:pt x="1044079" y="84455"/>
                </a:lnTo>
                <a:lnTo>
                  <a:pt x="1121676" y="79248"/>
                </a:lnTo>
                <a:close/>
              </a:path>
              <a:path w="1604645" h="1684020">
                <a:moveTo>
                  <a:pt x="1156220" y="513080"/>
                </a:moveTo>
                <a:lnTo>
                  <a:pt x="1137551" y="495058"/>
                </a:lnTo>
                <a:lnTo>
                  <a:pt x="1083449" y="550799"/>
                </a:lnTo>
                <a:lnTo>
                  <a:pt x="1101991" y="568833"/>
                </a:lnTo>
                <a:lnTo>
                  <a:pt x="1156220" y="513080"/>
                </a:lnTo>
                <a:close/>
              </a:path>
              <a:path w="1604645" h="1684020">
                <a:moveTo>
                  <a:pt x="1225054" y="72263"/>
                </a:moveTo>
                <a:lnTo>
                  <a:pt x="1223276" y="46355"/>
                </a:lnTo>
                <a:lnTo>
                  <a:pt x="1145679" y="51689"/>
                </a:lnTo>
                <a:lnTo>
                  <a:pt x="1147457" y="77470"/>
                </a:lnTo>
                <a:lnTo>
                  <a:pt x="1225054" y="72263"/>
                </a:lnTo>
                <a:close/>
              </a:path>
              <a:path w="1604645" h="1684020">
                <a:moveTo>
                  <a:pt x="1228483" y="438797"/>
                </a:moveTo>
                <a:lnTo>
                  <a:pt x="1209814" y="420751"/>
                </a:lnTo>
                <a:lnTo>
                  <a:pt x="1155712" y="476504"/>
                </a:lnTo>
                <a:lnTo>
                  <a:pt x="1174254" y="494538"/>
                </a:lnTo>
                <a:lnTo>
                  <a:pt x="1228483" y="438797"/>
                </a:lnTo>
                <a:close/>
              </a:path>
              <a:path w="1604645" h="1684020">
                <a:moveTo>
                  <a:pt x="1300619" y="364490"/>
                </a:moveTo>
                <a:lnTo>
                  <a:pt x="1282077" y="346456"/>
                </a:lnTo>
                <a:lnTo>
                  <a:pt x="1227848" y="402209"/>
                </a:lnTo>
                <a:lnTo>
                  <a:pt x="1246517" y="420243"/>
                </a:lnTo>
                <a:lnTo>
                  <a:pt x="1300619" y="364490"/>
                </a:lnTo>
                <a:close/>
              </a:path>
              <a:path w="1604645" h="1684020">
                <a:moveTo>
                  <a:pt x="1328432" y="65278"/>
                </a:moveTo>
                <a:lnTo>
                  <a:pt x="1326654" y="39370"/>
                </a:lnTo>
                <a:lnTo>
                  <a:pt x="1249184" y="44577"/>
                </a:lnTo>
                <a:lnTo>
                  <a:pt x="1250835" y="70485"/>
                </a:lnTo>
                <a:lnTo>
                  <a:pt x="1328432" y="65278"/>
                </a:lnTo>
                <a:close/>
              </a:path>
              <a:path w="1604645" h="1684020">
                <a:moveTo>
                  <a:pt x="1372882" y="290195"/>
                </a:moveTo>
                <a:lnTo>
                  <a:pt x="1354340" y="272161"/>
                </a:lnTo>
                <a:lnTo>
                  <a:pt x="1300111" y="327914"/>
                </a:lnTo>
                <a:lnTo>
                  <a:pt x="1318653" y="345948"/>
                </a:lnTo>
                <a:lnTo>
                  <a:pt x="1372882" y="290195"/>
                </a:lnTo>
                <a:close/>
              </a:path>
              <a:path w="1604645" h="1684020">
                <a:moveTo>
                  <a:pt x="1431810" y="58166"/>
                </a:moveTo>
                <a:lnTo>
                  <a:pt x="1430032" y="32385"/>
                </a:lnTo>
                <a:lnTo>
                  <a:pt x="1352562" y="37592"/>
                </a:lnTo>
                <a:lnTo>
                  <a:pt x="1354340" y="63500"/>
                </a:lnTo>
                <a:lnTo>
                  <a:pt x="1431810" y="58166"/>
                </a:lnTo>
                <a:close/>
              </a:path>
              <a:path w="1604645" h="1684020">
                <a:moveTo>
                  <a:pt x="1445145" y="215900"/>
                </a:moveTo>
                <a:lnTo>
                  <a:pt x="1426476" y="197866"/>
                </a:lnTo>
                <a:lnTo>
                  <a:pt x="1372374" y="253492"/>
                </a:lnTo>
                <a:lnTo>
                  <a:pt x="1390916" y="271653"/>
                </a:lnTo>
                <a:lnTo>
                  <a:pt x="1445145" y="215900"/>
                </a:lnTo>
                <a:close/>
              </a:path>
              <a:path w="1604645" h="1684020">
                <a:moveTo>
                  <a:pt x="1517281" y="141605"/>
                </a:moveTo>
                <a:lnTo>
                  <a:pt x="1498739" y="123444"/>
                </a:lnTo>
                <a:lnTo>
                  <a:pt x="1444637" y="179197"/>
                </a:lnTo>
                <a:lnTo>
                  <a:pt x="1463179" y="197231"/>
                </a:lnTo>
                <a:lnTo>
                  <a:pt x="1517281" y="141605"/>
                </a:lnTo>
                <a:close/>
              </a:path>
              <a:path w="1604645" h="1684020">
                <a:moveTo>
                  <a:pt x="1604276" y="33528"/>
                </a:moveTo>
                <a:lnTo>
                  <a:pt x="1584845" y="25400"/>
                </a:lnTo>
                <a:lnTo>
                  <a:pt x="1524139" y="0"/>
                </a:lnTo>
                <a:lnTo>
                  <a:pt x="1525866" y="25908"/>
                </a:lnTo>
                <a:lnTo>
                  <a:pt x="1455940" y="30607"/>
                </a:lnTo>
                <a:lnTo>
                  <a:pt x="1457718" y="56515"/>
                </a:lnTo>
                <a:lnTo>
                  <a:pt x="1527606" y="51714"/>
                </a:lnTo>
                <a:lnTo>
                  <a:pt x="1528165" y="60159"/>
                </a:lnTo>
                <a:lnTo>
                  <a:pt x="1522234" y="62230"/>
                </a:lnTo>
                <a:lnTo>
                  <a:pt x="1528737" y="68541"/>
                </a:lnTo>
                <a:lnTo>
                  <a:pt x="1529346" y="77597"/>
                </a:lnTo>
                <a:lnTo>
                  <a:pt x="1534769" y="74409"/>
                </a:lnTo>
                <a:lnTo>
                  <a:pt x="1540789" y="80238"/>
                </a:lnTo>
                <a:lnTo>
                  <a:pt x="1516773" y="104902"/>
                </a:lnTo>
                <a:lnTo>
                  <a:pt x="1535442" y="122936"/>
                </a:lnTo>
                <a:lnTo>
                  <a:pt x="1559407" y="98323"/>
                </a:lnTo>
                <a:lnTo>
                  <a:pt x="1577987" y="116332"/>
                </a:lnTo>
                <a:lnTo>
                  <a:pt x="1592376" y="70993"/>
                </a:lnTo>
                <a:lnTo>
                  <a:pt x="1604276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49290" y="4402073"/>
            <a:ext cx="978535" cy="253365"/>
          </a:xfrm>
          <a:custGeom>
            <a:avLst/>
            <a:gdLst/>
            <a:ahLst/>
            <a:cxnLst/>
            <a:rect l="l" t="t" r="r" b="b"/>
            <a:pathLst>
              <a:path w="978534" h="253364">
                <a:moveTo>
                  <a:pt x="0" y="63245"/>
                </a:moveTo>
                <a:lnTo>
                  <a:pt x="851915" y="63245"/>
                </a:lnTo>
                <a:lnTo>
                  <a:pt x="851915" y="0"/>
                </a:lnTo>
                <a:lnTo>
                  <a:pt x="978408" y="126492"/>
                </a:lnTo>
                <a:lnTo>
                  <a:pt x="851915" y="252983"/>
                </a:lnTo>
                <a:lnTo>
                  <a:pt x="851915" y="189737"/>
                </a:lnTo>
                <a:lnTo>
                  <a:pt x="0" y="189737"/>
                </a:lnTo>
                <a:lnTo>
                  <a:pt x="0" y="63245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749290" y="4965953"/>
            <a:ext cx="1199515" cy="658495"/>
          </a:xfrm>
          <a:custGeom>
            <a:avLst/>
            <a:gdLst/>
            <a:ahLst/>
            <a:cxnLst/>
            <a:rect l="l" t="t" r="r" b="b"/>
            <a:pathLst>
              <a:path w="1199515" h="658495">
                <a:moveTo>
                  <a:pt x="0" y="63627"/>
                </a:moveTo>
                <a:lnTo>
                  <a:pt x="851154" y="63627"/>
                </a:lnTo>
                <a:lnTo>
                  <a:pt x="851154" y="0"/>
                </a:lnTo>
                <a:lnTo>
                  <a:pt x="978408" y="127254"/>
                </a:lnTo>
                <a:lnTo>
                  <a:pt x="851154" y="254508"/>
                </a:lnTo>
                <a:lnTo>
                  <a:pt x="851154" y="190881"/>
                </a:lnTo>
                <a:lnTo>
                  <a:pt x="0" y="190881"/>
                </a:lnTo>
                <a:lnTo>
                  <a:pt x="0" y="63627"/>
                </a:lnTo>
                <a:close/>
              </a:path>
              <a:path w="1199515" h="658495">
                <a:moveTo>
                  <a:pt x="978408" y="547878"/>
                </a:moveTo>
                <a:lnTo>
                  <a:pt x="1033653" y="547878"/>
                </a:lnTo>
                <a:lnTo>
                  <a:pt x="1033653" y="155448"/>
                </a:lnTo>
                <a:lnTo>
                  <a:pt x="1144142" y="155448"/>
                </a:lnTo>
                <a:lnTo>
                  <a:pt x="1144142" y="547878"/>
                </a:lnTo>
                <a:lnTo>
                  <a:pt x="1199388" y="547878"/>
                </a:lnTo>
                <a:lnTo>
                  <a:pt x="1088898" y="658368"/>
                </a:lnTo>
                <a:lnTo>
                  <a:pt x="978408" y="547878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55411" y="5671210"/>
            <a:ext cx="2827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Results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Compile-Time</a:t>
            </a:r>
            <a:r>
              <a:rPr kumimoji="0" sz="1800" b="1" i="0" u="none" strike="noStrike" kern="1200" cap="none" spc="-1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Error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519250"/>
            <a:ext cx="850265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0F1141"/>
              </a:buClr>
              <a:buSzTx/>
              <a:buFontTx/>
              <a:buChar char="•"/>
              <a:tabLst>
                <a:tab pos="354965" algn="l"/>
                <a:tab pos="355600" algn="l"/>
                <a:tab pos="1753235" algn="l"/>
                <a:tab pos="2742565" algn="l"/>
                <a:tab pos="3081020" algn="l"/>
                <a:tab pos="4295775" algn="l"/>
                <a:tab pos="5185410" algn="l"/>
                <a:tab pos="5877560" algn="l"/>
                <a:tab pos="6655434" algn="l"/>
                <a:tab pos="7417434" algn="l"/>
                <a:tab pos="7783195" algn="l"/>
              </a:tabLst>
              <a:defRPr/>
            </a:pP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id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	Me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od	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	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ub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-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ss	s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uld	ha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	ei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her	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ame	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	high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55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scope than the scope of a similar method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super</a:t>
            </a:r>
            <a:r>
              <a:rPr kumimoji="0" sz="20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class.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150621"/>
            <a:ext cx="5306695" cy="103124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819"/>
              </a:spcBef>
            </a:pP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Basic Facts About</a:t>
            </a:r>
            <a:r>
              <a:rPr sz="3600" i="0" spc="-7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Method  </a:t>
            </a:r>
            <a:r>
              <a:rPr sz="3600" i="0" spc="-145" dirty="0">
                <a:solidFill>
                  <a:srgbClr val="000000"/>
                </a:solidFill>
                <a:latin typeface="Arial"/>
                <a:cs typeface="Arial"/>
              </a:rPr>
              <a:t>Overriding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: </a:t>
            </a: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Fact</a:t>
            </a:r>
            <a:r>
              <a:rPr sz="3600" i="0" spc="-7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10" dirty="0">
                <a:solidFill>
                  <a:srgbClr val="000000"/>
                </a:solidFill>
                <a:latin typeface="Arial"/>
                <a:cs typeface="Arial"/>
              </a:rPr>
              <a:t>III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0473" y="2521965"/>
            <a:ext cx="551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</a:t>
            </a:r>
            <a:r>
              <a:rPr kumimoji="0" sz="1200" b="1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93697" y="2853689"/>
            <a:ext cx="1899285" cy="79248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223520" marR="0" lvl="0" indent="0" algn="l" defTabSz="914400" rtl="0" eaLnBrk="1" fontAlgn="auto" latinLnBrk="0" hangingPunct="1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</a:t>
            </a:r>
            <a:r>
              <a:rPr kumimoji="0" sz="1400" b="1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show()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2352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2352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End of</a:t>
            </a:r>
            <a:r>
              <a:rPr kumimoji="0" sz="1400" b="1" i="0" u="none" strike="noStrike" kern="1200" cap="none" spc="-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0473" y="3711067"/>
            <a:ext cx="1322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</a:t>
            </a:r>
            <a:r>
              <a:rPr kumimoji="0" sz="12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 extends</a:t>
            </a:r>
            <a:r>
              <a:rPr kumimoji="0" sz="1200" b="1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0473" y="4259707"/>
            <a:ext cx="85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8458" y="4386834"/>
            <a:ext cx="1899285" cy="79248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238760" marR="0" lvl="0" indent="0" algn="l" defTabSz="914400" rtl="0" eaLnBrk="1" fontAlgn="auto" latinLnBrk="0" hangingPunct="1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public void</a:t>
            </a:r>
            <a:r>
              <a:rPr kumimoji="0" sz="1400" b="1" i="0" u="none" strike="noStrike" kern="1200" cap="none" spc="-1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show()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3876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3876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 /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End of</a:t>
            </a:r>
            <a:r>
              <a:rPr kumimoji="0" sz="1400" b="1" i="0" u="none" strike="noStrike" kern="1200" cap="none" spc="-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04899" y="5265801"/>
            <a:ext cx="10058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</a:t>
            </a:r>
            <a:r>
              <a:rPr kumimoji="0" sz="1200" b="1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display()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27677" y="2899917"/>
            <a:ext cx="2170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 marR="5080" lvl="0" indent="-127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heavy" strike="noStrike" kern="1200" cap="none" spc="-4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Times New Roman"/>
                <a:ea typeface="+mn-ea"/>
                <a:cs typeface="Times New Roman"/>
              </a:rPr>
              <a:t> </a:t>
            </a:r>
            <a:r>
              <a:rPr kumimoji="0" sz="1800" b="1" i="0" u="heavy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A’s </a:t>
            </a:r>
            <a:r>
              <a:rPr kumimoji="0" sz="1800" b="1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show() </a:t>
            </a: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method</a:t>
            </a:r>
            <a:r>
              <a:rPr kumimoji="0" sz="1800" b="1" i="0" u="heavy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1800" b="1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has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heavy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package-private</a:t>
            </a:r>
            <a:r>
              <a:rPr kumimoji="0" sz="1800" b="1" i="0" u="heavy" strike="noStrike" kern="1200" cap="none" spc="-8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scope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92221" y="3177032"/>
            <a:ext cx="1137285" cy="85725"/>
          </a:xfrm>
          <a:custGeom>
            <a:avLst/>
            <a:gdLst/>
            <a:ahLst/>
            <a:cxnLst/>
            <a:rect l="l" t="t" r="r" b="b"/>
            <a:pathLst>
              <a:path w="1137285" h="85725">
                <a:moveTo>
                  <a:pt x="77596" y="57150"/>
                </a:moveTo>
                <a:lnTo>
                  <a:pt x="0" y="59562"/>
                </a:lnTo>
                <a:lnTo>
                  <a:pt x="762" y="85470"/>
                </a:lnTo>
                <a:lnTo>
                  <a:pt x="78486" y="83057"/>
                </a:lnTo>
                <a:lnTo>
                  <a:pt x="77596" y="57150"/>
                </a:lnTo>
                <a:close/>
              </a:path>
              <a:path w="1137285" h="85725">
                <a:moveTo>
                  <a:pt x="181228" y="53847"/>
                </a:moveTo>
                <a:lnTo>
                  <a:pt x="103504" y="56260"/>
                </a:lnTo>
                <a:lnTo>
                  <a:pt x="104393" y="82168"/>
                </a:lnTo>
                <a:lnTo>
                  <a:pt x="182117" y="79755"/>
                </a:lnTo>
                <a:lnTo>
                  <a:pt x="181228" y="53847"/>
                </a:lnTo>
                <a:close/>
              </a:path>
              <a:path w="1137285" h="85725">
                <a:moveTo>
                  <a:pt x="284861" y="50545"/>
                </a:moveTo>
                <a:lnTo>
                  <a:pt x="207137" y="52958"/>
                </a:lnTo>
                <a:lnTo>
                  <a:pt x="207899" y="78866"/>
                </a:lnTo>
                <a:lnTo>
                  <a:pt x="285623" y="76453"/>
                </a:lnTo>
                <a:lnTo>
                  <a:pt x="284861" y="50545"/>
                </a:lnTo>
                <a:close/>
              </a:path>
              <a:path w="1137285" h="85725">
                <a:moveTo>
                  <a:pt x="388365" y="47243"/>
                </a:moveTo>
                <a:lnTo>
                  <a:pt x="310641" y="49656"/>
                </a:lnTo>
                <a:lnTo>
                  <a:pt x="311530" y="75564"/>
                </a:lnTo>
                <a:lnTo>
                  <a:pt x="389254" y="73151"/>
                </a:lnTo>
                <a:lnTo>
                  <a:pt x="388365" y="47243"/>
                </a:lnTo>
                <a:close/>
              </a:path>
              <a:path w="1137285" h="85725">
                <a:moveTo>
                  <a:pt x="491998" y="43941"/>
                </a:moveTo>
                <a:lnTo>
                  <a:pt x="414274" y="46354"/>
                </a:lnTo>
                <a:lnTo>
                  <a:pt x="415163" y="72262"/>
                </a:lnTo>
                <a:lnTo>
                  <a:pt x="492759" y="69850"/>
                </a:lnTo>
                <a:lnTo>
                  <a:pt x="491998" y="43941"/>
                </a:lnTo>
                <a:close/>
              </a:path>
              <a:path w="1137285" h="85725">
                <a:moveTo>
                  <a:pt x="595502" y="40639"/>
                </a:moveTo>
                <a:lnTo>
                  <a:pt x="517905" y="43052"/>
                </a:lnTo>
                <a:lnTo>
                  <a:pt x="518667" y="68960"/>
                </a:lnTo>
                <a:lnTo>
                  <a:pt x="596391" y="66547"/>
                </a:lnTo>
                <a:lnTo>
                  <a:pt x="595502" y="40639"/>
                </a:lnTo>
                <a:close/>
              </a:path>
              <a:path w="1137285" h="85725">
                <a:moveTo>
                  <a:pt x="699134" y="37337"/>
                </a:moveTo>
                <a:lnTo>
                  <a:pt x="621411" y="39750"/>
                </a:lnTo>
                <a:lnTo>
                  <a:pt x="622300" y="65658"/>
                </a:lnTo>
                <a:lnTo>
                  <a:pt x="699896" y="63245"/>
                </a:lnTo>
                <a:lnTo>
                  <a:pt x="699134" y="37337"/>
                </a:lnTo>
                <a:close/>
              </a:path>
              <a:path w="1137285" h="85725">
                <a:moveTo>
                  <a:pt x="802766" y="34035"/>
                </a:moveTo>
                <a:lnTo>
                  <a:pt x="725042" y="36448"/>
                </a:lnTo>
                <a:lnTo>
                  <a:pt x="725804" y="62356"/>
                </a:lnTo>
                <a:lnTo>
                  <a:pt x="803528" y="59943"/>
                </a:lnTo>
                <a:lnTo>
                  <a:pt x="802766" y="34035"/>
                </a:lnTo>
                <a:close/>
              </a:path>
              <a:path w="1137285" h="85725">
                <a:moveTo>
                  <a:pt x="906271" y="30733"/>
                </a:moveTo>
                <a:lnTo>
                  <a:pt x="828548" y="33146"/>
                </a:lnTo>
                <a:lnTo>
                  <a:pt x="829437" y="59054"/>
                </a:lnTo>
                <a:lnTo>
                  <a:pt x="907161" y="56641"/>
                </a:lnTo>
                <a:lnTo>
                  <a:pt x="906271" y="30733"/>
                </a:lnTo>
                <a:close/>
              </a:path>
              <a:path w="1137285" h="85725">
                <a:moveTo>
                  <a:pt x="1009903" y="27431"/>
                </a:moveTo>
                <a:lnTo>
                  <a:pt x="932179" y="29844"/>
                </a:lnTo>
                <a:lnTo>
                  <a:pt x="933068" y="55752"/>
                </a:lnTo>
                <a:lnTo>
                  <a:pt x="1010665" y="53339"/>
                </a:lnTo>
                <a:lnTo>
                  <a:pt x="1009903" y="27431"/>
                </a:lnTo>
                <a:close/>
              </a:path>
              <a:path w="1137285" h="85725">
                <a:moveTo>
                  <a:pt x="1113150" y="25400"/>
                </a:moveTo>
                <a:lnTo>
                  <a:pt x="1071752" y="25400"/>
                </a:lnTo>
                <a:lnTo>
                  <a:pt x="1072514" y="51307"/>
                </a:lnTo>
                <a:lnTo>
                  <a:pt x="1059602" y="51718"/>
                </a:lnTo>
                <a:lnTo>
                  <a:pt x="1060450" y="77596"/>
                </a:lnTo>
                <a:lnTo>
                  <a:pt x="1136903" y="36321"/>
                </a:lnTo>
                <a:lnTo>
                  <a:pt x="1113150" y="25400"/>
                </a:lnTo>
                <a:close/>
              </a:path>
              <a:path w="1137285" h="85725">
                <a:moveTo>
                  <a:pt x="1058754" y="25813"/>
                </a:moveTo>
                <a:lnTo>
                  <a:pt x="1035812" y="26542"/>
                </a:lnTo>
                <a:lnTo>
                  <a:pt x="1036574" y="52450"/>
                </a:lnTo>
                <a:lnTo>
                  <a:pt x="1059602" y="51718"/>
                </a:lnTo>
                <a:lnTo>
                  <a:pt x="1058754" y="25813"/>
                </a:lnTo>
                <a:close/>
              </a:path>
              <a:path w="1137285" h="85725">
                <a:moveTo>
                  <a:pt x="1071752" y="25400"/>
                </a:moveTo>
                <a:lnTo>
                  <a:pt x="1058754" y="25813"/>
                </a:lnTo>
                <a:lnTo>
                  <a:pt x="1059602" y="51718"/>
                </a:lnTo>
                <a:lnTo>
                  <a:pt x="1072514" y="51307"/>
                </a:lnTo>
                <a:lnTo>
                  <a:pt x="1071752" y="25400"/>
                </a:lnTo>
                <a:close/>
              </a:path>
              <a:path w="1137285" h="85725">
                <a:moveTo>
                  <a:pt x="1057909" y="0"/>
                </a:moveTo>
                <a:lnTo>
                  <a:pt x="1058754" y="25813"/>
                </a:lnTo>
                <a:lnTo>
                  <a:pt x="1071752" y="25400"/>
                </a:lnTo>
                <a:lnTo>
                  <a:pt x="1113150" y="25400"/>
                </a:lnTo>
                <a:lnTo>
                  <a:pt x="10579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12690" y="4384040"/>
            <a:ext cx="21659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heavy" strike="noStrike" kern="1200" cap="none" spc="-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B’s </a:t>
            </a:r>
            <a:r>
              <a:rPr kumimoji="0" sz="1800" b="1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show() </a:t>
            </a: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method</a:t>
            </a:r>
            <a:r>
              <a:rPr kumimoji="0" sz="1800" b="1" i="0" u="heavy" strike="noStrike" kern="1200" cap="none" spc="-1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1800" b="1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has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public</a:t>
            </a:r>
            <a:r>
              <a:rPr kumimoji="0" sz="1800" b="1" i="0" u="heavy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scope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76980" y="4661408"/>
            <a:ext cx="1137285" cy="85725"/>
          </a:xfrm>
          <a:custGeom>
            <a:avLst/>
            <a:gdLst/>
            <a:ahLst/>
            <a:cxnLst/>
            <a:rect l="l" t="t" r="r" b="b"/>
            <a:pathLst>
              <a:path w="1137285" h="85725">
                <a:moveTo>
                  <a:pt x="77597" y="57150"/>
                </a:moveTo>
                <a:lnTo>
                  <a:pt x="0" y="59563"/>
                </a:lnTo>
                <a:lnTo>
                  <a:pt x="762" y="85471"/>
                </a:lnTo>
                <a:lnTo>
                  <a:pt x="78486" y="83058"/>
                </a:lnTo>
                <a:lnTo>
                  <a:pt x="77597" y="57150"/>
                </a:lnTo>
                <a:close/>
              </a:path>
              <a:path w="1137285" h="85725">
                <a:moveTo>
                  <a:pt x="181229" y="53848"/>
                </a:moveTo>
                <a:lnTo>
                  <a:pt x="103505" y="56261"/>
                </a:lnTo>
                <a:lnTo>
                  <a:pt x="104394" y="82169"/>
                </a:lnTo>
                <a:lnTo>
                  <a:pt x="182118" y="79756"/>
                </a:lnTo>
                <a:lnTo>
                  <a:pt x="181229" y="53848"/>
                </a:lnTo>
                <a:close/>
              </a:path>
              <a:path w="1137285" h="85725">
                <a:moveTo>
                  <a:pt x="284861" y="50546"/>
                </a:moveTo>
                <a:lnTo>
                  <a:pt x="207137" y="52959"/>
                </a:lnTo>
                <a:lnTo>
                  <a:pt x="207899" y="78867"/>
                </a:lnTo>
                <a:lnTo>
                  <a:pt x="285623" y="76454"/>
                </a:lnTo>
                <a:lnTo>
                  <a:pt x="284861" y="50546"/>
                </a:lnTo>
                <a:close/>
              </a:path>
              <a:path w="1137285" h="85725">
                <a:moveTo>
                  <a:pt x="388366" y="47244"/>
                </a:moveTo>
                <a:lnTo>
                  <a:pt x="310769" y="49657"/>
                </a:lnTo>
                <a:lnTo>
                  <a:pt x="311531" y="75565"/>
                </a:lnTo>
                <a:lnTo>
                  <a:pt x="389255" y="73152"/>
                </a:lnTo>
                <a:lnTo>
                  <a:pt x="388366" y="47244"/>
                </a:lnTo>
                <a:close/>
              </a:path>
              <a:path w="1137285" h="85725">
                <a:moveTo>
                  <a:pt x="491998" y="43942"/>
                </a:moveTo>
                <a:lnTo>
                  <a:pt x="414274" y="46355"/>
                </a:lnTo>
                <a:lnTo>
                  <a:pt x="415163" y="72263"/>
                </a:lnTo>
                <a:lnTo>
                  <a:pt x="492760" y="69850"/>
                </a:lnTo>
                <a:lnTo>
                  <a:pt x="491998" y="43942"/>
                </a:lnTo>
                <a:close/>
              </a:path>
              <a:path w="1137285" h="85725">
                <a:moveTo>
                  <a:pt x="595503" y="40640"/>
                </a:moveTo>
                <a:lnTo>
                  <a:pt x="517906" y="43053"/>
                </a:lnTo>
                <a:lnTo>
                  <a:pt x="518668" y="68961"/>
                </a:lnTo>
                <a:lnTo>
                  <a:pt x="596392" y="66548"/>
                </a:lnTo>
                <a:lnTo>
                  <a:pt x="595503" y="40640"/>
                </a:lnTo>
                <a:close/>
              </a:path>
              <a:path w="1137285" h="85725">
                <a:moveTo>
                  <a:pt x="699135" y="37338"/>
                </a:moveTo>
                <a:lnTo>
                  <a:pt x="621411" y="39751"/>
                </a:lnTo>
                <a:lnTo>
                  <a:pt x="622300" y="65659"/>
                </a:lnTo>
                <a:lnTo>
                  <a:pt x="699897" y="63246"/>
                </a:lnTo>
                <a:lnTo>
                  <a:pt x="699135" y="37338"/>
                </a:lnTo>
                <a:close/>
              </a:path>
              <a:path w="1137285" h="85725">
                <a:moveTo>
                  <a:pt x="802767" y="34036"/>
                </a:moveTo>
                <a:lnTo>
                  <a:pt x="725043" y="36449"/>
                </a:lnTo>
                <a:lnTo>
                  <a:pt x="725805" y="62357"/>
                </a:lnTo>
                <a:lnTo>
                  <a:pt x="803529" y="59944"/>
                </a:lnTo>
                <a:lnTo>
                  <a:pt x="802767" y="34036"/>
                </a:lnTo>
                <a:close/>
              </a:path>
              <a:path w="1137285" h="85725">
                <a:moveTo>
                  <a:pt x="906272" y="30734"/>
                </a:moveTo>
                <a:lnTo>
                  <a:pt x="828548" y="33147"/>
                </a:lnTo>
                <a:lnTo>
                  <a:pt x="829437" y="59055"/>
                </a:lnTo>
                <a:lnTo>
                  <a:pt x="907161" y="56642"/>
                </a:lnTo>
                <a:lnTo>
                  <a:pt x="906272" y="30734"/>
                </a:lnTo>
                <a:close/>
              </a:path>
              <a:path w="1137285" h="85725">
                <a:moveTo>
                  <a:pt x="1009904" y="27432"/>
                </a:moveTo>
                <a:lnTo>
                  <a:pt x="932180" y="29845"/>
                </a:lnTo>
                <a:lnTo>
                  <a:pt x="933069" y="55753"/>
                </a:lnTo>
                <a:lnTo>
                  <a:pt x="1010666" y="53340"/>
                </a:lnTo>
                <a:lnTo>
                  <a:pt x="1009904" y="27432"/>
                </a:lnTo>
                <a:close/>
              </a:path>
              <a:path w="1137285" h="85725">
                <a:moveTo>
                  <a:pt x="1113150" y="25400"/>
                </a:moveTo>
                <a:lnTo>
                  <a:pt x="1071753" y="25400"/>
                </a:lnTo>
                <a:lnTo>
                  <a:pt x="1072515" y="51308"/>
                </a:lnTo>
                <a:lnTo>
                  <a:pt x="1059602" y="51718"/>
                </a:lnTo>
                <a:lnTo>
                  <a:pt x="1060450" y="77597"/>
                </a:lnTo>
                <a:lnTo>
                  <a:pt x="1136904" y="36322"/>
                </a:lnTo>
                <a:lnTo>
                  <a:pt x="1113150" y="25400"/>
                </a:lnTo>
                <a:close/>
              </a:path>
              <a:path w="1137285" h="85725">
                <a:moveTo>
                  <a:pt x="1058754" y="25813"/>
                </a:moveTo>
                <a:lnTo>
                  <a:pt x="1035812" y="26543"/>
                </a:lnTo>
                <a:lnTo>
                  <a:pt x="1036574" y="52451"/>
                </a:lnTo>
                <a:lnTo>
                  <a:pt x="1059602" y="51718"/>
                </a:lnTo>
                <a:lnTo>
                  <a:pt x="1058754" y="25813"/>
                </a:lnTo>
                <a:close/>
              </a:path>
              <a:path w="1137285" h="85725">
                <a:moveTo>
                  <a:pt x="1071753" y="25400"/>
                </a:moveTo>
                <a:lnTo>
                  <a:pt x="1058754" y="25813"/>
                </a:lnTo>
                <a:lnTo>
                  <a:pt x="1059602" y="51718"/>
                </a:lnTo>
                <a:lnTo>
                  <a:pt x="1072515" y="51308"/>
                </a:lnTo>
                <a:lnTo>
                  <a:pt x="1071753" y="25400"/>
                </a:lnTo>
                <a:close/>
              </a:path>
              <a:path w="1137285" h="85725">
                <a:moveTo>
                  <a:pt x="1057910" y="0"/>
                </a:moveTo>
                <a:lnTo>
                  <a:pt x="1058754" y="25813"/>
                </a:lnTo>
                <a:lnTo>
                  <a:pt x="1071753" y="25400"/>
                </a:lnTo>
                <a:lnTo>
                  <a:pt x="1113150" y="25400"/>
                </a:lnTo>
                <a:lnTo>
                  <a:pt x="1057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33264" y="5484891"/>
            <a:ext cx="2413000" cy="5994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NO</a:t>
            </a:r>
            <a:r>
              <a:rPr kumimoji="0" sz="3200" b="0" i="0" u="none" strike="noStrike" kern="1200" cap="none" spc="-1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ERROR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/>
              <a:ea typeface="+mn-ea"/>
              <a:cs typeface="Arial Blac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04899" y="5646022"/>
            <a:ext cx="12731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 End of</a:t>
            </a:r>
            <a:r>
              <a:rPr kumimoji="0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0473" y="6012087"/>
            <a:ext cx="126682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</a:t>
            </a:r>
            <a:r>
              <a:rPr kumimoji="0" sz="1200" b="1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488770"/>
            <a:ext cx="8504555" cy="142494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5600" marR="5080" lvl="0" indent="-342900" algn="just" defTabSz="914400" rtl="0" eaLnBrk="1" fontAlgn="auto" latinLnBrk="0" hangingPunct="1">
              <a:lnSpc>
                <a:spcPts val="2160"/>
              </a:lnSpc>
              <a:spcBef>
                <a:spcPts val="375"/>
              </a:spcBef>
              <a:spcAft>
                <a:spcPts val="0"/>
              </a:spcAft>
              <a:buClr>
                <a:srgbClr val="0F1141"/>
              </a:buClr>
              <a:buSzTx/>
              <a:buFontTx/>
              <a:buChar char="•"/>
              <a:tabLst>
                <a:tab pos="355600" algn="l"/>
              </a:tabLst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Overridden Method in sub-class should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have either same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or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higher  scope than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scope of a similar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 in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super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class.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scope  of overridden method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sub-class should not have lesser</a:t>
            </a:r>
            <a:r>
              <a:rPr kumimoji="0" sz="20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scope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19405" marR="0" lvl="0" indent="0" algn="l" defTabSz="914400" rtl="0" eaLnBrk="1" fontAlgn="auto" latinLnBrk="0" hangingPunct="1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</a:t>
            </a:r>
            <a:r>
              <a:rPr kumimoji="0" sz="1200" b="1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1940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150621"/>
            <a:ext cx="5306695" cy="103124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819"/>
              </a:spcBef>
            </a:pP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Basic Facts About</a:t>
            </a:r>
            <a:r>
              <a:rPr sz="3600" i="0" spc="-7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Method  </a:t>
            </a:r>
            <a:r>
              <a:rPr sz="3600" i="0" spc="-125" dirty="0">
                <a:solidFill>
                  <a:srgbClr val="000000"/>
                </a:solidFill>
                <a:latin typeface="Arial"/>
                <a:cs typeface="Arial"/>
              </a:rPr>
              <a:t>Over</a:t>
            </a:r>
            <a:r>
              <a:rPr sz="3600" i="0" spc="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iding</a:t>
            </a:r>
            <a:r>
              <a:rPr sz="3600" i="0" spc="-25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3600" i="0" spc="-3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Fact</a:t>
            </a:r>
            <a:r>
              <a:rPr sz="3600" i="0" spc="-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I</a:t>
            </a:r>
            <a:r>
              <a:rPr sz="3600" i="0" spc="-3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I</a:t>
            </a:r>
            <a:r>
              <a:rPr sz="3600" i="0" spc="-2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…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3697" y="2853689"/>
            <a:ext cx="2171700" cy="79248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223520" marR="0" lvl="0" indent="0" algn="l" defTabSz="914400" rtl="0" eaLnBrk="1" fontAlgn="auto" latinLnBrk="0" hangingPunct="1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protected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</a:t>
            </a:r>
            <a:r>
              <a:rPr kumimoji="0" sz="1400" b="1" i="0" u="none" strike="noStrike" kern="1200" cap="none" spc="-1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show()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2352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2352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End of</a:t>
            </a:r>
            <a:r>
              <a:rPr kumimoji="0" sz="1400" b="1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0473" y="3711067"/>
            <a:ext cx="1322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</a:t>
            </a:r>
            <a:r>
              <a:rPr kumimoji="0" sz="12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 extends</a:t>
            </a:r>
            <a:r>
              <a:rPr kumimoji="0" sz="1200" b="1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0473" y="4259707"/>
            <a:ext cx="85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8458" y="4386834"/>
            <a:ext cx="1899285" cy="79248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238760" marR="0" lvl="0" indent="0" algn="l" defTabSz="914400" rtl="0" eaLnBrk="1" fontAlgn="auto" latinLnBrk="0" hangingPunct="1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public void</a:t>
            </a:r>
            <a:r>
              <a:rPr kumimoji="0" sz="1400" b="1" i="0" u="none" strike="noStrike" kern="1200" cap="none" spc="-1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show()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3876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3876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 /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End of</a:t>
            </a:r>
            <a:r>
              <a:rPr kumimoji="0" sz="1400" b="1" i="0" u="none" strike="noStrike" kern="1200" cap="none" spc="-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4899" y="5265801"/>
            <a:ext cx="10058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</a:t>
            </a:r>
            <a:r>
              <a:rPr kumimoji="0" sz="1200" b="1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display()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27677" y="2899917"/>
            <a:ext cx="2170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 marR="5080" lvl="0" indent="-127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heavy" strike="noStrike" kern="1200" cap="none" spc="-4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Times New Roman"/>
                <a:ea typeface="+mn-ea"/>
                <a:cs typeface="Times New Roman"/>
              </a:rPr>
              <a:t> </a:t>
            </a:r>
            <a:r>
              <a:rPr kumimoji="0" sz="1800" b="1" i="0" u="heavy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A’s </a:t>
            </a:r>
            <a:r>
              <a:rPr kumimoji="0" sz="1800" b="1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show() </a:t>
            </a: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method</a:t>
            </a:r>
            <a:r>
              <a:rPr kumimoji="0" sz="1800" b="1" i="0" u="heavy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1800" b="1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has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heavy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protected</a:t>
            </a:r>
            <a:r>
              <a:rPr kumimoji="0" sz="1800" b="1" i="0" u="heavy" strike="noStrike" kern="120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scope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64890" y="3177794"/>
            <a:ext cx="864869" cy="85090"/>
          </a:xfrm>
          <a:custGeom>
            <a:avLst/>
            <a:gdLst/>
            <a:ahLst/>
            <a:cxnLst/>
            <a:rect l="l" t="t" r="r" b="b"/>
            <a:pathLst>
              <a:path w="864870" h="85089">
                <a:moveTo>
                  <a:pt x="77597" y="55625"/>
                </a:moveTo>
                <a:lnTo>
                  <a:pt x="0" y="58800"/>
                </a:lnTo>
                <a:lnTo>
                  <a:pt x="1015" y="84708"/>
                </a:lnTo>
                <a:lnTo>
                  <a:pt x="78739" y="81406"/>
                </a:lnTo>
                <a:lnTo>
                  <a:pt x="77597" y="55625"/>
                </a:lnTo>
                <a:close/>
              </a:path>
              <a:path w="864870" h="85089">
                <a:moveTo>
                  <a:pt x="181101" y="51180"/>
                </a:moveTo>
                <a:lnTo>
                  <a:pt x="103505" y="54482"/>
                </a:lnTo>
                <a:lnTo>
                  <a:pt x="104648" y="80390"/>
                </a:lnTo>
                <a:lnTo>
                  <a:pt x="182245" y="77088"/>
                </a:lnTo>
                <a:lnTo>
                  <a:pt x="181101" y="51180"/>
                </a:lnTo>
                <a:close/>
              </a:path>
              <a:path w="864870" h="85089">
                <a:moveTo>
                  <a:pt x="284734" y="46862"/>
                </a:moveTo>
                <a:lnTo>
                  <a:pt x="207010" y="50164"/>
                </a:lnTo>
                <a:lnTo>
                  <a:pt x="208152" y="76072"/>
                </a:lnTo>
                <a:lnTo>
                  <a:pt x="285750" y="72770"/>
                </a:lnTo>
                <a:lnTo>
                  <a:pt x="284734" y="46862"/>
                </a:lnTo>
                <a:close/>
              </a:path>
              <a:path w="864870" h="85089">
                <a:moveTo>
                  <a:pt x="388238" y="42544"/>
                </a:moveTo>
                <a:lnTo>
                  <a:pt x="310642" y="45846"/>
                </a:lnTo>
                <a:lnTo>
                  <a:pt x="311658" y="71754"/>
                </a:lnTo>
                <a:lnTo>
                  <a:pt x="389382" y="68452"/>
                </a:lnTo>
                <a:lnTo>
                  <a:pt x="388238" y="42544"/>
                </a:lnTo>
                <a:close/>
              </a:path>
              <a:path w="864870" h="85089">
                <a:moveTo>
                  <a:pt x="491744" y="38226"/>
                </a:moveTo>
                <a:lnTo>
                  <a:pt x="414147" y="41528"/>
                </a:lnTo>
                <a:lnTo>
                  <a:pt x="415163" y="67309"/>
                </a:lnTo>
                <a:lnTo>
                  <a:pt x="492887" y="64134"/>
                </a:lnTo>
                <a:lnTo>
                  <a:pt x="491744" y="38226"/>
                </a:lnTo>
                <a:close/>
              </a:path>
              <a:path w="864870" h="85089">
                <a:moveTo>
                  <a:pt x="595376" y="33908"/>
                </a:moveTo>
                <a:lnTo>
                  <a:pt x="517651" y="37083"/>
                </a:lnTo>
                <a:lnTo>
                  <a:pt x="518795" y="62991"/>
                </a:lnTo>
                <a:lnTo>
                  <a:pt x="596392" y="59816"/>
                </a:lnTo>
                <a:lnTo>
                  <a:pt x="595376" y="33908"/>
                </a:lnTo>
                <a:close/>
              </a:path>
              <a:path w="864870" h="85089">
                <a:moveTo>
                  <a:pt x="698881" y="29590"/>
                </a:moveTo>
                <a:lnTo>
                  <a:pt x="621157" y="32765"/>
                </a:lnTo>
                <a:lnTo>
                  <a:pt x="622300" y="58673"/>
                </a:lnTo>
                <a:lnTo>
                  <a:pt x="699897" y="55371"/>
                </a:lnTo>
                <a:lnTo>
                  <a:pt x="698881" y="29590"/>
                </a:lnTo>
                <a:close/>
              </a:path>
              <a:path w="864870" h="85089">
                <a:moveTo>
                  <a:pt x="841690" y="25272"/>
                </a:moveTo>
                <a:lnTo>
                  <a:pt x="799338" y="25272"/>
                </a:lnTo>
                <a:lnTo>
                  <a:pt x="800481" y="51180"/>
                </a:lnTo>
                <a:lnTo>
                  <a:pt x="787484" y="51733"/>
                </a:lnTo>
                <a:lnTo>
                  <a:pt x="788543" y="77596"/>
                </a:lnTo>
                <a:lnTo>
                  <a:pt x="864615" y="35559"/>
                </a:lnTo>
                <a:lnTo>
                  <a:pt x="841690" y="25272"/>
                </a:lnTo>
                <a:close/>
              </a:path>
              <a:path w="864870" h="85089">
                <a:moveTo>
                  <a:pt x="786424" y="25822"/>
                </a:moveTo>
                <a:lnTo>
                  <a:pt x="724788" y="28447"/>
                </a:lnTo>
                <a:lnTo>
                  <a:pt x="725805" y="54355"/>
                </a:lnTo>
                <a:lnTo>
                  <a:pt x="787484" y="51733"/>
                </a:lnTo>
                <a:lnTo>
                  <a:pt x="786424" y="25822"/>
                </a:lnTo>
                <a:close/>
              </a:path>
              <a:path w="864870" h="85089">
                <a:moveTo>
                  <a:pt x="799338" y="25272"/>
                </a:moveTo>
                <a:lnTo>
                  <a:pt x="786424" y="25822"/>
                </a:lnTo>
                <a:lnTo>
                  <a:pt x="787484" y="51733"/>
                </a:lnTo>
                <a:lnTo>
                  <a:pt x="800481" y="51180"/>
                </a:lnTo>
                <a:lnTo>
                  <a:pt x="799338" y="25272"/>
                </a:lnTo>
                <a:close/>
              </a:path>
              <a:path w="864870" h="85089">
                <a:moveTo>
                  <a:pt x="785368" y="0"/>
                </a:moveTo>
                <a:lnTo>
                  <a:pt x="786424" y="25822"/>
                </a:lnTo>
                <a:lnTo>
                  <a:pt x="799338" y="25272"/>
                </a:lnTo>
                <a:lnTo>
                  <a:pt x="841690" y="25272"/>
                </a:lnTo>
                <a:lnTo>
                  <a:pt x="7853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12690" y="4384040"/>
            <a:ext cx="21659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heavy" strike="noStrike" kern="1200" cap="none" spc="-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B’s </a:t>
            </a:r>
            <a:r>
              <a:rPr kumimoji="0" sz="1800" b="1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show() </a:t>
            </a: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method</a:t>
            </a:r>
            <a:r>
              <a:rPr kumimoji="0" sz="1800" b="1" i="0" u="heavy" strike="noStrike" kern="1200" cap="none" spc="-1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1800" b="1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has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public</a:t>
            </a:r>
            <a:r>
              <a:rPr kumimoji="0" sz="1800" b="1" i="0" u="heavy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scope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76980" y="4661408"/>
            <a:ext cx="1137285" cy="85725"/>
          </a:xfrm>
          <a:custGeom>
            <a:avLst/>
            <a:gdLst/>
            <a:ahLst/>
            <a:cxnLst/>
            <a:rect l="l" t="t" r="r" b="b"/>
            <a:pathLst>
              <a:path w="1137285" h="85725">
                <a:moveTo>
                  <a:pt x="77597" y="57150"/>
                </a:moveTo>
                <a:lnTo>
                  <a:pt x="0" y="59563"/>
                </a:lnTo>
                <a:lnTo>
                  <a:pt x="762" y="85471"/>
                </a:lnTo>
                <a:lnTo>
                  <a:pt x="78486" y="83058"/>
                </a:lnTo>
                <a:lnTo>
                  <a:pt x="77597" y="57150"/>
                </a:lnTo>
                <a:close/>
              </a:path>
              <a:path w="1137285" h="85725">
                <a:moveTo>
                  <a:pt x="181229" y="53848"/>
                </a:moveTo>
                <a:lnTo>
                  <a:pt x="103505" y="56261"/>
                </a:lnTo>
                <a:lnTo>
                  <a:pt x="104394" y="82169"/>
                </a:lnTo>
                <a:lnTo>
                  <a:pt x="182118" y="79756"/>
                </a:lnTo>
                <a:lnTo>
                  <a:pt x="181229" y="53848"/>
                </a:lnTo>
                <a:close/>
              </a:path>
              <a:path w="1137285" h="85725">
                <a:moveTo>
                  <a:pt x="284861" y="50546"/>
                </a:moveTo>
                <a:lnTo>
                  <a:pt x="207137" y="52959"/>
                </a:lnTo>
                <a:lnTo>
                  <a:pt x="207899" y="78867"/>
                </a:lnTo>
                <a:lnTo>
                  <a:pt x="285623" y="76454"/>
                </a:lnTo>
                <a:lnTo>
                  <a:pt x="284861" y="50546"/>
                </a:lnTo>
                <a:close/>
              </a:path>
              <a:path w="1137285" h="85725">
                <a:moveTo>
                  <a:pt x="388366" y="47244"/>
                </a:moveTo>
                <a:lnTo>
                  <a:pt x="310769" y="49657"/>
                </a:lnTo>
                <a:lnTo>
                  <a:pt x="311531" y="75565"/>
                </a:lnTo>
                <a:lnTo>
                  <a:pt x="389255" y="73152"/>
                </a:lnTo>
                <a:lnTo>
                  <a:pt x="388366" y="47244"/>
                </a:lnTo>
                <a:close/>
              </a:path>
              <a:path w="1137285" h="85725">
                <a:moveTo>
                  <a:pt x="491998" y="43942"/>
                </a:moveTo>
                <a:lnTo>
                  <a:pt x="414274" y="46355"/>
                </a:lnTo>
                <a:lnTo>
                  <a:pt x="415163" y="72263"/>
                </a:lnTo>
                <a:lnTo>
                  <a:pt x="492760" y="69850"/>
                </a:lnTo>
                <a:lnTo>
                  <a:pt x="491998" y="43942"/>
                </a:lnTo>
                <a:close/>
              </a:path>
              <a:path w="1137285" h="85725">
                <a:moveTo>
                  <a:pt x="595503" y="40640"/>
                </a:moveTo>
                <a:lnTo>
                  <a:pt x="517906" y="43053"/>
                </a:lnTo>
                <a:lnTo>
                  <a:pt x="518668" y="68961"/>
                </a:lnTo>
                <a:lnTo>
                  <a:pt x="596392" y="66548"/>
                </a:lnTo>
                <a:lnTo>
                  <a:pt x="595503" y="40640"/>
                </a:lnTo>
                <a:close/>
              </a:path>
              <a:path w="1137285" h="85725">
                <a:moveTo>
                  <a:pt x="699135" y="37338"/>
                </a:moveTo>
                <a:lnTo>
                  <a:pt x="621411" y="39751"/>
                </a:lnTo>
                <a:lnTo>
                  <a:pt x="622300" y="65659"/>
                </a:lnTo>
                <a:lnTo>
                  <a:pt x="699897" y="63246"/>
                </a:lnTo>
                <a:lnTo>
                  <a:pt x="699135" y="37338"/>
                </a:lnTo>
                <a:close/>
              </a:path>
              <a:path w="1137285" h="85725">
                <a:moveTo>
                  <a:pt x="802767" y="34036"/>
                </a:moveTo>
                <a:lnTo>
                  <a:pt x="725043" y="36449"/>
                </a:lnTo>
                <a:lnTo>
                  <a:pt x="725805" y="62357"/>
                </a:lnTo>
                <a:lnTo>
                  <a:pt x="803529" y="59944"/>
                </a:lnTo>
                <a:lnTo>
                  <a:pt x="802767" y="34036"/>
                </a:lnTo>
                <a:close/>
              </a:path>
              <a:path w="1137285" h="85725">
                <a:moveTo>
                  <a:pt x="906272" y="30734"/>
                </a:moveTo>
                <a:lnTo>
                  <a:pt x="828548" y="33147"/>
                </a:lnTo>
                <a:lnTo>
                  <a:pt x="829437" y="59055"/>
                </a:lnTo>
                <a:lnTo>
                  <a:pt x="907161" y="56642"/>
                </a:lnTo>
                <a:lnTo>
                  <a:pt x="906272" y="30734"/>
                </a:lnTo>
                <a:close/>
              </a:path>
              <a:path w="1137285" h="85725">
                <a:moveTo>
                  <a:pt x="1009904" y="27432"/>
                </a:moveTo>
                <a:lnTo>
                  <a:pt x="932180" y="29845"/>
                </a:lnTo>
                <a:lnTo>
                  <a:pt x="933069" y="55753"/>
                </a:lnTo>
                <a:lnTo>
                  <a:pt x="1010666" y="53340"/>
                </a:lnTo>
                <a:lnTo>
                  <a:pt x="1009904" y="27432"/>
                </a:lnTo>
                <a:close/>
              </a:path>
              <a:path w="1137285" h="85725">
                <a:moveTo>
                  <a:pt x="1113150" y="25400"/>
                </a:moveTo>
                <a:lnTo>
                  <a:pt x="1071753" y="25400"/>
                </a:lnTo>
                <a:lnTo>
                  <a:pt x="1072515" y="51308"/>
                </a:lnTo>
                <a:lnTo>
                  <a:pt x="1059602" y="51718"/>
                </a:lnTo>
                <a:lnTo>
                  <a:pt x="1060450" y="77597"/>
                </a:lnTo>
                <a:lnTo>
                  <a:pt x="1136904" y="36322"/>
                </a:lnTo>
                <a:lnTo>
                  <a:pt x="1113150" y="25400"/>
                </a:lnTo>
                <a:close/>
              </a:path>
              <a:path w="1137285" h="85725">
                <a:moveTo>
                  <a:pt x="1058754" y="25813"/>
                </a:moveTo>
                <a:lnTo>
                  <a:pt x="1035812" y="26543"/>
                </a:lnTo>
                <a:lnTo>
                  <a:pt x="1036574" y="52451"/>
                </a:lnTo>
                <a:lnTo>
                  <a:pt x="1059602" y="51718"/>
                </a:lnTo>
                <a:lnTo>
                  <a:pt x="1058754" y="25813"/>
                </a:lnTo>
                <a:close/>
              </a:path>
              <a:path w="1137285" h="85725">
                <a:moveTo>
                  <a:pt x="1071753" y="25400"/>
                </a:moveTo>
                <a:lnTo>
                  <a:pt x="1058754" y="25813"/>
                </a:lnTo>
                <a:lnTo>
                  <a:pt x="1059602" y="51718"/>
                </a:lnTo>
                <a:lnTo>
                  <a:pt x="1072515" y="51308"/>
                </a:lnTo>
                <a:lnTo>
                  <a:pt x="1071753" y="25400"/>
                </a:lnTo>
                <a:close/>
              </a:path>
              <a:path w="1137285" h="85725">
                <a:moveTo>
                  <a:pt x="1057910" y="0"/>
                </a:moveTo>
                <a:lnTo>
                  <a:pt x="1058754" y="25813"/>
                </a:lnTo>
                <a:lnTo>
                  <a:pt x="1071753" y="25400"/>
                </a:lnTo>
                <a:lnTo>
                  <a:pt x="1113150" y="25400"/>
                </a:lnTo>
                <a:lnTo>
                  <a:pt x="1057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49188" y="5510190"/>
            <a:ext cx="2412365" cy="5994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NO</a:t>
            </a:r>
            <a:r>
              <a:rPr kumimoji="0" sz="3200" b="0" i="0" u="none" strike="noStrike" kern="1200" cap="none" spc="-10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ERROR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/>
              <a:ea typeface="+mn-ea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04899" y="5646022"/>
            <a:ext cx="12731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 End of</a:t>
            </a:r>
            <a:r>
              <a:rPr kumimoji="0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0473" y="6012087"/>
            <a:ext cx="126682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</a:t>
            </a:r>
            <a:r>
              <a:rPr kumimoji="0" sz="1200" b="1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519250"/>
            <a:ext cx="850265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0F1141"/>
              </a:buClr>
              <a:buSzTx/>
              <a:buFontTx/>
              <a:buChar char="•"/>
              <a:tabLst>
                <a:tab pos="354965" algn="l"/>
                <a:tab pos="355600" algn="l"/>
                <a:tab pos="1753235" algn="l"/>
                <a:tab pos="2742565" algn="l"/>
                <a:tab pos="3081020" algn="l"/>
                <a:tab pos="4295775" algn="l"/>
                <a:tab pos="5185410" algn="l"/>
                <a:tab pos="5877560" algn="l"/>
                <a:tab pos="6655434" algn="l"/>
                <a:tab pos="7417434" algn="l"/>
                <a:tab pos="7783195" algn="l"/>
              </a:tabLst>
              <a:defRPr/>
            </a:pP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id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	Me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od	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	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ub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-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ss	s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uld	ha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	ei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her	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ame	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	high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355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scope than the scope of a similar method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super</a:t>
            </a:r>
            <a:r>
              <a:rPr kumimoji="0" sz="20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class.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150621"/>
            <a:ext cx="5306695" cy="103124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819"/>
              </a:spcBef>
            </a:pP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Basic Facts About</a:t>
            </a:r>
            <a:r>
              <a:rPr sz="3600" i="0" spc="-7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Method  </a:t>
            </a:r>
            <a:r>
              <a:rPr sz="3600" i="0" spc="-125" dirty="0">
                <a:solidFill>
                  <a:srgbClr val="000000"/>
                </a:solidFill>
                <a:latin typeface="Arial"/>
                <a:cs typeface="Arial"/>
              </a:rPr>
              <a:t>Over</a:t>
            </a:r>
            <a:r>
              <a:rPr sz="3600" i="0" spc="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iding</a:t>
            </a:r>
            <a:r>
              <a:rPr sz="3600" i="0" spc="-25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3600" i="0" spc="-3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Fact</a:t>
            </a:r>
            <a:r>
              <a:rPr sz="3600" i="0" spc="-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I</a:t>
            </a:r>
            <a:r>
              <a:rPr sz="3600" i="0" spc="-3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I</a:t>
            </a:r>
            <a:r>
              <a:rPr sz="3600" i="0" spc="-2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…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0473" y="2521965"/>
            <a:ext cx="551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</a:t>
            </a:r>
            <a:r>
              <a:rPr kumimoji="0" sz="1200" b="1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93697" y="2853689"/>
            <a:ext cx="2171700" cy="79248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223520" marR="0" lvl="0" indent="0" algn="l" defTabSz="914400" rtl="0" eaLnBrk="1" fontAlgn="auto" latinLnBrk="0" hangingPunct="1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protected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</a:t>
            </a:r>
            <a:r>
              <a:rPr kumimoji="0" sz="1400" b="1" i="0" u="none" strike="noStrike" kern="1200" cap="none" spc="-1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show()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2352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2352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End of</a:t>
            </a:r>
            <a:r>
              <a:rPr kumimoji="0" sz="1400" b="1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0473" y="3711067"/>
            <a:ext cx="1322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</a:t>
            </a:r>
            <a:r>
              <a:rPr kumimoji="0" sz="12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 extends</a:t>
            </a:r>
            <a:r>
              <a:rPr kumimoji="0" sz="1200" b="1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0473" y="4259707"/>
            <a:ext cx="85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8458" y="4386834"/>
            <a:ext cx="1899285" cy="79248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238760" marR="0" lvl="0" indent="0" algn="l" defTabSz="914400" rtl="0" eaLnBrk="1" fontAlgn="auto" latinLnBrk="0" hangingPunct="1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</a:t>
            </a:r>
            <a:r>
              <a:rPr kumimoji="0" sz="1400" b="1" i="0" u="none" strike="noStrike" kern="120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show()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3876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3876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 /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End of</a:t>
            </a:r>
            <a:r>
              <a:rPr kumimoji="0" sz="1400" b="1" i="0" u="none" strike="noStrike" kern="1200" cap="none" spc="-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04899" y="5265801"/>
            <a:ext cx="10058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</a:t>
            </a:r>
            <a:r>
              <a:rPr kumimoji="0" sz="1200" b="1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display()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27677" y="2899917"/>
            <a:ext cx="2170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 marR="5080" lvl="0" indent="-127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heavy" strike="noStrike" kern="1200" cap="none" spc="-4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Times New Roman"/>
                <a:ea typeface="+mn-ea"/>
                <a:cs typeface="Times New Roman"/>
              </a:rPr>
              <a:t> </a:t>
            </a:r>
            <a:r>
              <a:rPr kumimoji="0" sz="1800" b="1" i="0" u="heavy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A’s </a:t>
            </a:r>
            <a:r>
              <a:rPr kumimoji="0" sz="1800" b="1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show() </a:t>
            </a: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method</a:t>
            </a:r>
            <a:r>
              <a:rPr kumimoji="0" sz="1800" b="1" i="0" u="heavy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1800" b="1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has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heavy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protected</a:t>
            </a:r>
            <a:r>
              <a:rPr kumimoji="0" sz="1800" b="1" i="0" u="heavy" strike="noStrike" kern="120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scope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64890" y="3177794"/>
            <a:ext cx="864869" cy="85090"/>
          </a:xfrm>
          <a:custGeom>
            <a:avLst/>
            <a:gdLst/>
            <a:ahLst/>
            <a:cxnLst/>
            <a:rect l="l" t="t" r="r" b="b"/>
            <a:pathLst>
              <a:path w="864870" h="85089">
                <a:moveTo>
                  <a:pt x="77597" y="55625"/>
                </a:moveTo>
                <a:lnTo>
                  <a:pt x="0" y="58800"/>
                </a:lnTo>
                <a:lnTo>
                  <a:pt x="1015" y="84708"/>
                </a:lnTo>
                <a:lnTo>
                  <a:pt x="78739" y="81406"/>
                </a:lnTo>
                <a:lnTo>
                  <a:pt x="77597" y="55625"/>
                </a:lnTo>
                <a:close/>
              </a:path>
              <a:path w="864870" h="85089">
                <a:moveTo>
                  <a:pt x="181101" y="51180"/>
                </a:moveTo>
                <a:lnTo>
                  <a:pt x="103505" y="54482"/>
                </a:lnTo>
                <a:lnTo>
                  <a:pt x="104648" y="80390"/>
                </a:lnTo>
                <a:lnTo>
                  <a:pt x="182245" y="77088"/>
                </a:lnTo>
                <a:lnTo>
                  <a:pt x="181101" y="51180"/>
                </a:lnTo>
                <a:close/>
              </a:path>
              <a:path w="864870" h="85089">
                <a:moveTo>
                  <a:pt x="284734" y="46862"/>
                </a:moveTo>
                <a:lnTo>
                  <a:pt x="207010" y="50164"/>
                </a:lnTo>
                <a:lnTo>
                  <a:pt x="208152" y="76072"/>
                </a:lnTo>
                <a:lnTo>
                  <a:pt x="285750" y="72770"/>
                </a:lnTo>
                <a:lnTo>
                  <a:pt x="284734" y="46862"/>
                </a:lnTo>
                <a:close/>
              </a:path>
              <a:path w="864870" h="85089">
                <a:moveTo>
                  <a:pt x="388238" y="42544"/>
                </a:moveTo>
                <a:lnTo>
                  <a:pt x="310642" y="45846"/>
                </a:lnTo>
                <a:lnTo>
                  <a:pt x="311658" y="71754"/>
                </a:lnTo>
                <a:lnTo>
                  <a:pt x="389382" y="68452"/>
                </a:lnTo>
                <a:lnTo>
                  <a:pt x="388238" y="42544"/>
                </a:lnTo>
                <a:close/>
              </a:path>
              <a:path w="864870" h="85089">
                <a:moveTo>
                  <a:pt x="491744" y="38226"/>
                </a:moveTo>
                <a:lnTo>
                  <a:pt x="414147" y="41528"/>
                </a:lnTo>
                <a:lnTo>
                  <a:pt x="415163" y="67309"/>
                </a:lnTo>
                <a:lnTo>
                  <a:pt x="492887" y="64134"/>
                </a:lnTo>
                <a:lnTo>
                  <a:pt x="491744" y="38226"/>
                </a:lnTo>
                <a:close/>
              </a:path>
              <a:path w="864870" h="85089">
                <a:moveTo>
                  <a:pt x="595376" y="33908"/>
                </a:moveTo>
                <a:lnTo>
                  <a:pt x="517651" y="37083"/>
                </a:lnTo>
                <a:lnTo>
                  <a:pt x="518795" y="62991"/>
                </a:lnTo>
                <a:lnTo>
                  <a:pt x="596392" y="59816"/>
                </a:lnTo>
                <a:lnTo>
                  <a:pt x="595376" y="33908"/>
                </a:lnTo>
                <a:close/>
              </a:path>
              <a:path w="864870" h="85089">
                <a:moveTo>
                  <a:pt x="698881" y="29590"/>
                </a:moveTo>
                <a:lnTo>
                  <a:pt x="621157" y="32765"/>
                </a:lnTo>
                <a:lnTo>
                  <a:pt x="622300" y="58673"/>
                </a:lnTo>
                <a:lnTo>
                  <a:pt x="699897" y="55371"/>
                </a:lnTo>
                <a:lnTo>
                  <a:pt x="698881" y="29590"/>
                </a:lnTo>
                <a:close/>
              </a:path>
              <a:path w="864870" h="85089">
                <a:moveTo>
                  <a:pt x="841690" y="25272"/>
                </a:moveTo>
                <a:lnTo>
                  <a:pt x="799338" y="25272"/>
                </a:lnTo>
                <a:lnTo>
                  <a:pt x="800481" y="51180"/>
                </a:lnTo>
                <a:lnTo>
                  <a:pt x="787484" y="51733"/>
                </a:lnTo>
                <a:lnTo>
                  <a:pt x="788543" y="77596"/>
                </a:lnTo>
                <a:lnTo>
                  <a:pt x="864615" y="35559"/>
                </a:lnTo>
                <a:lnTo>
                  <a:pt x="841690" y="25272"/>
                </a:lnTo>
                <a:close/>
              </a:path>
              <a:path w="864870" h="85089">
                <a:moveTo>
                  <a:pt x="786424" y="25822"/>
                </a:moveTo>
                <a:lnTo>
                  <a:pt x="724788" y="28447"/>
                </a:lnTo>
                <a:lnTo>
                  <a:pt x="725805" y="54355"/>
                </a:lnTo>
                <a:lnTo>
                  <a:pt x="787484" y="51733"/>
                </a:lnTo>
                <a:lnTo>
                  <a:pt x="786424" y="25822"/>
                </a:lnTo>
                <a:close/>
              </a:path>
              <a:path w="864870" h="85089">
                <a:moveTo>
                  <a:pt x="799338" y="25272"/>
                </a:moveTo>
                <a:lnTo>
                  <a:pt x="786424" y="25822"/>
                </a:lnTo>
                <a:lnTo>
                  <a:pt x="787484" y="51733"/>
                </a:lnTo>
                <a:lnTo>
                  <a:pt x="800481" y="51180"/>
                </a:lnTo>
                <a:lnTo>
                  <a:pt x="799338" y="25272"/>
                </a:lnTo>
                <a:close/>
              </a:path>
              <a:path w="864870" h="85089">
                <a:moveTo>
                  <a:pt x="785368" y="0"/>
                </a:moveTo>
                <a:lnTo>
                  <a:pt x="786424" y="25822"/>
                </a:lnTo>
                <a:lnTo>
                  <a:pt x="799338" y="25272"/>
                </a:lnTo>
                <a:lnTo>
                  <a:pt x="841690" y="25272"/>
                </a:lnTo>
                <a:lnTo>
                  <a:pt x="7853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12690" y="4384040"/>
            <a:ext cx="21659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heavy" strike="noStrike" kern="1200" cap="none" spc="-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B’s </a:t>
            </a:r>
            <a:r>
              <a:rPr kumimoji="0" sz="1800" b="1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show() </a:t>
            </a: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method</a:t>
            </a:r>
            <a:r>
              <a:rPr kumimoji="0" sz="1800" b="1" i="0" u="heavy" strike="noStrike" kern="1200" cap="none" spc="-1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1800" b="1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has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heavy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package-private</a:t>
            </a:r>
            <a:r>
              <a:rPr kumimoji="0" sz="1800" b="1" i="0" u="heavy" strike="noStrike" kern="1200" cap="none" spc="-8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scope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76980" y="4661408"/>
            <a:ext cx="1137285" cy="85725"/>
          </a:xfrm>
          <a:custGeom>
            <a:avLst/>
            <a:gdLst/>
            <a:ahLst/>
            <a:cxnLst/>
            <a:rect l="l" t="t" r="r" b="b"/>
            <a:pathLst>
              <a:path w="1137285" h="85725">
                <a:moveTo>
                  <a:pt x="77597" y="57150"/>
                </a:moveTo>
                <a:lnTo>
                  <a:pt x="0" y="59563"/>
                </a:lnTo>
                <a:lnTo>
                  <a:pt x="762" y="85471"/>
                </a:lnTo>
                <a:lnTo>
                  <a:pt x="78486" y="83058"/>
                </a:lnTo>
                <a:lnTo>
                  <a:pt x="77597" y="57150"/>
                </a:lnTo>
                <a:close/>
              </a:path>
              <a:path w="1137285" h="85725">
                <a:moveTo>
                  <a:pt x="181229" y="53848"/>
                </a:moveTo>
                <a:lnTo>
                  <a:pt x="103505" y="56261"/>
                </a:lnTo>
                <a:lnTo>
                  <a:pt x="104394" y="82169"/>
                </a:lnTo>
                <a:lnTo>
                  <a:pt x="182118" y="79756"/>
                </a:lnTo>
                <a:lnTo>
                  <a:pt x="181229" y="53848"/>
                </a:lnTo>
                <a:close/>
              </a:path>
              <a:path w="1137285" h="85725">
                <a:moveTo>
                  <a:pt x="284861" y="50546"/>
                </a:moveTo>
                <a:lnTo>
                  <a:pt x="207137" y="52959"/>
                </a:lnTo>
                <a:lnTo>
                  <a:pt x="207899" y="78867"/>
                </a:lnTo>
                <a:lnTo>
                  <a:pt x="285623" y="76454"/>
                </a:lnTo>
                <a:lnTo>
                  <a:pt x="284861" y="50546"/>
                </a:lnTo>
                <a:close/>
              </a:path>
              <a:path w="1137285" h="85725">
                <a:moveTo>
                  <a:pt x="388366" y="47244"/>
                </a:moveTo>
                <a:lnTo>
                  <a:pt x="310769" y="49657"/>
                </a:lnTo>
                <a:lnTo>
                  <a:pt x="311531" y="75565"/>
                </a:lnTo>
                <a:lnTo>
                  <a:pt x="389255" y="73152"/>
                </a:lnTo>
                <a:lnTo>
                  <a:pt x="388366" y="47244"/>
                </a:lnTo>
                <a:close/>
              </a:path>
              <a:path w="1137285" h="85725">
                <a:moveTo>
                  <a:pt x="491998" y="43942"/>
                </a:moveTo>
                <a:lnTo>
                  <a:pt x="414274" y="46355"/>
                </a:lnTo>
                <a:lnTo>
                  <a:pt x="415163" y="72263"/>
                </a:lnTo>
                <a:lnTo>
                  <a:pt x="492760" y="69850"/>
                </a:lnTo>
                <a:lnTo>
                  <a:pt x="491998" y="43942"/>
                </a:lnTo>
                <a:close/>
              </a:path>
              <a:path w="1137285" h="85725">
                <a:moveTo>
                  <a:pt x="595503" y="40640"/>
                </a:moveTo>
                <a:lnTo>
                  <a:pt x="517906" y="43053"/>
                </a:lnTo>
                <a:lnTo>
                  <a:pt x="518668" y="68961"/>
                </a:lnTo>
                <a:lnTo>
                  <a:pt x="596392" y="66548"/>
                </a:lnTo>
                <a:lnTo>
                  <a:pt x="595503" y="40640"/>
                </a:lnTo>
                <a:close/>
              </a:path>
              <a:path w="1137285" h="85725">
                <a:moveTo>
                  <a:pt x="699135" y="37338"/>
                </a:moveTo>
                <a:lnTo>
                  <a:pt x="621411" y="39751"/>
                </a:lnTo>
                <a:lnTo>
                  <a:pt x="622300" y="65659"/>
                </a:lnTo>
                <a:lnTo>
                  <a:pt x="699897" y="63246"/>
                </a:lnTo>
                <a:lnTo>
                  <a:pt x="699135" y="37338"/>
                </a:lnTo>
                <a:close/>
              </a:path>
              <a:path w="1137285" h="85725">
                <a:moveTo>
                  <a:pt x="802767" y="34036"/>
                </a:moveTo>
                <a:lnTo>
                  <a:pt x="725043" y="36449"/>
                </a:lnTo>
                <a:lnTo>
                  <a:pt x="725805" y="62357"/>
                </a:lnTo>
                <a:lnTo>
                  <a:pt x="803529" y="59944"/>
                </a:lnTo>
                <a:lnTo>
                  <a:pt x="802767" y="34036"/>
                </a:lnTo>
                <a:close/>
              </a:path>
              <a:path w="1137285" h="85725">
                <a:moveTo>
                  <a:pt x="906272" y="30734"/>
                </a:moveTo>
                <a:lnTo>
                  <a:pt x="828548" y="33147"/>
                </a:lnTo>
                <a:lnTo>
                  <a:pt x="829437" y="59055"/>
                </a:lnTo>
                <a:lnTo>
                  <a:pt x="907161" y="56642"/>
                </a:lnTo>
                <a:lnTo>
                  <a:pt x="906272" y="30734"/>
                </a:lnTo>
                <a:close/>
              </a:path>
              <a:path w="1137285" h="85725">
                <a:moveTo>
                  <a:pt x="1009904" y="27432"/>
                </a:moveTo>
                <a:lnTo>
                  <a:pt x="932180" y="29845"/>
                </a:lnTo>
                <a:lnTo>
                  <a:pt x="933069" y="55753"/>
                </a:lnTo>
                <a:lnTo>
                  <a:pt x="1010666" y="53340"/>
                </a:lnTo>
                <a:lnTo>
                  <a:pt x="1009904" y="27432"/>
                </a:lnTo>
                <a:close/>
              </a:path>
              <a:path w="1137285" h="85725">
                <a:moveTo>
                  <a:pt x="1113150" y="25400"/>
                </a:moveTo>
                <a:lnTo>
                  <a:pt x="1071753" y="25400"/>
                </a:lnTo>
                <a:lnTo>
                  <a:pt x="1072515" y="51308"/>
                </a:lnTo>
                <a:lnTo>
                  <a:pt x="1059602" y="51718"/>
                </a:lnTo>
                <a:lnTo>
                  <a:pt x="1060450" y="77597"/>
                </a:lnTo>
                <a:lnTo>
                  <a:pt x="1136904" y="36322"/>
                </a:lnTo>
                <a:lnTo>
                  <a:pt x="1113150" y="25400"/>
                </a:lnTo>
                <a:close/>
              </a:path>
              <a:path w="1137285" h="85725">
                <a:moveTo>
                  <a:pt x="1058754" y="25813"/>
                </a:moveTo>
                <a:lnTo>
                  <a:pt x="1035812" y="26543"/>
                </a:lnTo>
                <a:lnTo>
                  <a:pt x="1036574" y="52451"/>
                </a:lnTo>
                <a:lnTo>
                  <a:pt x="1059602" y="51718"/>
                </a:lnTo>
                <a:lnTo>
                  <a:pt x="1058754" y="25813"/>
                </a:lnTo>
                <a:close/>
              </a:path>
              <a:path w="1137285" h="85725">
                <a:moveTo>
                  <a:pt x="1071753" y="25400"/>
                </a:moveTo>
                <a:lnTo>
                  <a:pt x="1058754" y="25813"/>
                </a:lnTo>
                <a:lnTo>
                  <a:pt x="1059602" y="51718"/>
                </a:lnTo>
                <a:lnTo>
                  <a:pt x="1072515" y="51308"/>
                </a:lnTo>
                <a:lnTo>
                  <a:pt x="1071753" y="25400"/>
                </a:lnTo>
                <a:close/>
              </a:path>
              <a:path w="1137285" h="85725">
                <a:moveTo>
                  <a:pt x="1057910" y="0"/>
                </a:moveTo>
                <a:lnTo>
                  <a:pt x="1058754" y="25813"/>
                </a:lnTo>
                <a:lnTo>
                  <a:pt x="1071753" y="25400"/>
                </a:lnTo>
                <a:lnTo>
                  <a:pt x="1113150" y="25400"/>
                </a:lnTo>
                <a:lnTo>
                  <a:pt x="1057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68036" y="5456631"/>
            <a:ext cx="33489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COM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P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IL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E-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TIME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/>
              <a:ea typeface="+mn-ea"/>
              <a:cs typeface="Arial Blac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04899" y="5646022"/>
            <a:ext cx="12731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 End of</a:t>
            </a:r>
            <a:r>
              <a:rPr kumimoji="0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41670" y="5903046"/>
            <a:ext cx="1601470" cy="6000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ER</a:t>
            </a:r>
            <a:r>
              <a:rPr kumimoji="0" sz="3200" b="0" i="0" u="none" strike="noStrike" kern="120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R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OR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/>
              <a:ea typeface="+mn-ea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0473" y="6012087"/>
            <a:ext cx="126682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</a:t>
            </a:r>
            <a:r>
              <a:rPr kumimoji="0" sz="1200" b="1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F1141"/>
              </a:buClr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‘final’</a:t>
            </a:r>
            <a:r>
              <a:rPr spc="145" dirty="0"/>
              <a:t> </a:t>
            </a:r>
            <a:r>
              <a:rPr spc="-5" dirty="0"/>
              <a:t>Methods</a:t>
            </a:r>
            <a:r>
              <a:rPr spc="285" dirty="0"/>
              <a:t> </a:t>
            </a:r>
            <a:r>
              <a:rPr spc="-5" dirty="0"/>
              <a:t>of</a:t>
            </a:r>
            <a:r>
              <a:rPr spc="280" dirty="0"/>
              <a:t> </a:t>
            </a:r>
            <a:r>
              <a:rPr spc="-5" dirty="0"/>
              <a:t>super-class</a:t>
            </a:r>
            <a:r>
              <a:rPr spc="290" dirty="0"/>
              <a:t> </a:t>
            </a:r>
            <a:r>
              <a:rPr spc="-5" dirty="0"/>
              <a:t>cannot</a:t>
            </a:r>
            <a:r>
              <a:rPr spc="290" dirty="0"/>
              <a:t> </a:t>
            </a:r>
            <a:r>
              <a:rPr spc="-10" dirty="0"/>
              <a:t>be</a:t>
            </a:r>
            <a:r>
              <a:rPr spc="285" dirty="0"/>
              <a:t> </a:t>
            </a:r>
            <a:r>
              <a:rPr spc="-5" dirty="0"/>
              <a:t>overridden</a:t>
            </a:r>
            <a:r>
              <a:rPr spc="285" dirty="0"/>
              <a:t> </a:t>
            </a:r>
            <a:r>
              <a:rPr spc="5" dirty="0"/>
              <a:t>by</a:t>
            </a: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sub-class.</a:t>
            </a:r>
          </a:p>
          <a:p>
            <a:pPr marL="319405">
              <a:lnSpc>
                <a:spcPct val="100000"/>
              </a:lnSpc>
              <a:spcBef>
                <a:spcPts val="2130"/>
              </a:spcBef>
            </a:pPr>
            <a:r>
              <a:rPr sz="1200" dirty="0"/>
              <a:t>class</a:t>
            </a:r>
            <a:r>
              <a:rPr sz="1200" spc="-85" dirty="0"/>
              <a:t> </a:t>
            </a:r>
            <a:r>
              <a:rPr sz="1200" spc="-5" dirty="0"/>
              <a:t>A</a:t>
            </a:r>
            <a:endParaRPr sz="1200"/>
          </a:p>
          <a:p>
            <a:pPr marL="319405">
              <a:lnSpc>
                <a:spcPct val="100000"/>
              </a:lnSpc>
            </a:pPr>
            <a:r>
              <a:rPr sz="1200" spc="-5" dirty="0"/>
              <a:t>{</a:t>
            </a:r>
            <a:endParaRPr sz="12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150621"/>
            <a:ext cx="5306695" cy="103124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819"/>
              </a:spcBef>
            </a:pP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Basic Facts About</a:t>
            </a:r>
            <a:r>
              <a:rPr sz="3600" i="0" spc="-7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Method  </a:t>
            </a:r>
            <a:r>
              <a:rPr sz="3600" i="0" spc="-145" dirty="0">
                <a:solidFill>
                  <a:srgbClr val="000000"/>
                </a:solidFill>
                <a:latin typeface="Arial"/>
                <a:cs typeface="Arial"/>
              </a:rPr>
              <a:t>Overriding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: </a:t>
            </a: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Fact</a:t>
            </a:r>
            <a:r>
              <a:rPr sz="3600" i="0" spc="-7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85" dirty="0">
                <a:solidFill>
                  <a:srgbClr val="000000"/>
                </a:solidFill>
                <a:latin typeface="Arial"/>
                <a:cs typeface="Arial"/>
              </a:rPr>
              <a:t>IV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3697" y="2853689"/>
            <a:ext cx="2171700" cy="79248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223520" marR="0" lvl="0" indent="0" algn="l" defTabSz="914400" rtl="0" eaLnBrk="1" fontAlgn="auto" latinLnBrk="0" hangingPunct="1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final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</a:t>
            </a:r>
            <a:r>
              <a:rPr kumimoji="0" sz="1400" b="1" i="0" u="none" strike="noStrike" kern="1200" cap="none" spc="-1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show()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2352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2352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End of</a:t>
            </a:r>
            <a:r>
              <a:rPr kumimoji="0" sz="1400" b="1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0473" y="3711067"/>
            <a:ext cx="1322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</a:t>
            </a:r>
            <a:r>
              <a:rPr kumimoji="0" sz="12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 extends</a:t>
            </a:r>
            <a:r>
              <a:rPr kumimoji="0" sz="1200" b="1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0473" y="4259707"/>
            <a:ext cx="85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8458" y="4386834"/>
            <a:ext cx="1899285" cy="79248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238760" marR="0" lvl="0" indent="0" algn="l" defTabSz="914400" rtl="0" eaLnBrk="1" fontAlgn="auto" latinLnBrk="0" hangingPunct="1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</a:t>
            </a:r>
            <a:r>
              <a:rPr kumimoji="0" sz="1400" b="1" i="0" u="none" strike="noStrike" kern="120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show()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3876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3876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 /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End of</a:t>
            </a:r>
            <a:r>
              <a:rPr kumimoji="0" sz="1400" b="1" i="0" u="none" strike="noStrike" kern="1200" cap="none" spc="-6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4899" y="5265801"/>
            <a:ext cx="10058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</a:t>
            </a:r>
            <a:r>
              <a:rPr kumimoji="0" sz="1200" b="1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display()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27677" y="2899917"/>
            <a:ext cx="2461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heavy" strike="noStrike" kern="1200" cap="none" spc="-4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Times New Roman"/>
                <a:ea typeface="+mn-ea"/>
                <a:cs typeface="Times New Roman"/>
              </a:rPr>
              <a:t> </a:t>
            </a:r>
            <a:r>
              <a:rPr kumimoji="0" sz="1800" b="1" i="0" u="heavy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A’s </a:t>
            </a:r>
            <a:r>
              <a:rPr kumimoji="0" sz="1800" b="1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show() </a:t>
            </a: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method </a:t>
            </a:r>
            <a:r>
              <a:rPr kumimoji="0" sz="1800" b="1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is</a:t>
            </a:r>
            <a:r>
              <a:rPr kumimoji="0" sz="1800" b="1" i="0" u="heavy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final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64890" y="3177794"/>
            <a:ext cx="864869" cy="85090"/>
          </a:xfrm>
          <a:custGeom>
            <a:avLst/>
            <a:gdLst/>
            <a:ahLst/>
            <a:cxnLst/>
            <a:rect l="l" t="t" r="r" b="b"/>
            <a:pathLst>
              <a:path w="864870" h="85089">
                <a:moveTo>
                  <a:pt x="77597" y="55625"/>
                </a:moveTo>
                <a:lnTo>
                  <a:pt x="0" y="58800"/>
                </a:lnTo>
                <a:lnTo>
                  <a:pt x="1015" y="84708"/>
                </a:lnTo>
                <a:lnTo>
                  <a:pt x="78739" y="81406"/>
                </a:lnTo>
                <a:lnTo>
                  <a:pt x="77597" y="55625"/>
                </a:lnTo>
                <a:close/>
              </a:path>
              <a:path w="864870" h="85089">
                <a:moveTo>
                  <a:pt x="181101" y="51180"/>
                </a:moveTo>
                <a:lnTo>
                  <a:pt x="103505" y="54482"/>
                </a:lnTo>
                <a:lnTo>
                  <a:pt x="104648" y="80390"/>
                </a:lnTo>
                <a:lnTo>
                  <a:pt x="182245" y="77088"/>
                </a:lnTo>
                <a:lnTo>
                  <a:pt x="181101" y="51180"/>
                </a:lnTo>
                <a:close/>
              </a:path>
              <a:path w="864870" h="85089">
                <a:moveTo>
                  <a:pt x="284734" y="46862"/>
                </a:moveTo>
                <a:lnTo>
                  <a:pt x="207010" y="50164"/>
                </a:lnTo>
                <a:lnTo>
                  <a:pt x="208152" y="76072"/>
                </a:lnTo>
                <a:lnTo>
                  <a:pt x="285750" y="72770"/>
                </a:lnTo>
                <a:lnTo>
                  <a:pt x="284734" y="46862"/>
                </a:lnTo>
                <a:close/>
              </a:path>
              <a:path w="864870" h="85089">
                <a:moveTo>
                  <a:pt x="388238" y="42544"/>
                </a:moveTo>
                <a:lnTo>
                  <a:pt x="310642" y="45846"/>
                </a:lnTo>
                <a:lnTo>
                  <a:pt x="311658" y="71754"/>
                </a:lnTo>
                <a:lnTo>
                  <a:pt x="389382" y="68452"/>
                </a:lnTo>
                <a:lnTo>
                  <a:pt x="388238" y="42544"/>
                </a:lnTo>
                <a:close/>
              </a:path>
              <a:path w="864870" h="85089">
                <a:moveTo>
                  <a:pt x="491744" y="38226"/>
                </a:moveTo>
                <a:lnTo>
                  <a:pt x="414147" y="41528"/>
                </a:lnTo>
                <a:lnTo>
                  <a:pt x="415163" y="67309"/>
                </a:lnTo>
                <a:lnTo>
                  <a:pt x="492887" y="64134"/>
                </a:lnTo>
                <a:lnTo>
                  <a:pt x="491744" y="38226"/>
                </a:lnTo>
                <a:close/>
              </a:path>
              <a:path w="864870" h="85089">
                <a:moveTo>
                  <a:pt x="595376" y="33908"/>
                </a:moveTo>
                <a:lnTo>
                  <a:pt x="517651" y="37083"/>
                </a:lnTo>
                <a:lnTo>
                  <a:pt x="518795" y="62991"/>
                </a:lnTo>
                <a:lnTo>
                  <a:pt x="596392" y="59816"/>
                </a:lnTo>
                <a:lnTo>
                  <a:pt x="595376" y="33908"/>
                </a:lnTo>
                <a:close/>
              </a:path>
              <a:path w="864870" h="85089">
                <a:moveTo>
                  <a:pt x="698881" y="29590"/>
                </a:moveTo>
                <a:lnTo>
                  <a:pt x="621157" y="32765"/>
                </a:lnTo>
                <a:lnTo>
                  <a:pt x="622300" y="58673"/>
                </a:lnTo>
                <a:lnTo>
                  <a:pt x="699897" y="55371"/>
                </a:lnTo>
                <a:lnTo>
                  <a:pt x="698881" y="29590"/>
                </a:lnTo>
                <a:close/>
              </a:path>
              <a:path w="864870" h="85089">
                <a:moveTo>
                  <a:pt x="841690" y="25272"/>
                </a:moveTo>
                <a:lnTo>
                  <a:pt x="799338" y="25272"/>
                </a:lnTo>
                <a:lnTo>
                  <a:pt x="800481" y="51180"/>
                </a:lnTo>
                <a:lnTo>
                  <a:pt x="787484" y="51733"/>
                </a:lnTo>
                <a:lnTo>
                  <a:pt x="788543" y="77596"/>
                </a:lnTo>
                <a:lnTo>
                  <a:pt x="864615" y="35559"/>
                </a:lnTo>
                <a:lnTo>
                  <a:pt x="841690" y="25272"/>
                </a:lnTo>
                <a:close/>
              </a:path>
              <a:path w="864870" h="85089">
                <a:moveTo>
                  <a:pt x="786424" y="25822"/>
                </a:moveTo>
                <a:lnTo>
                  <a:pt x="724788" y="28447"/>
                </a:lnTo>
                <a:lnTo>
                  <a:pt x="725805" y="54355"/>
                </a:lnTo>
                <a:lnTo>
                  <a:pt x="787484" y="51733"/>
                </a:lnTo>
                <a:lnTo>
                  <a:pt x="786424" y="25822"/>
                </a:lnTo>
                <a:close/>
              </a:path>
              <a:path w="864870" h="85089">
                <a:moveTo>
                  <a:pt x="799338" y="25272"/>
                </a:moveTo>
                <a:lnTo>
                  <a:pt x="786424" y="25822"/>
                </a:lnTo>
                <a:lnTo>
                  <a:pt x="787484" y="51733"/>
                </a:lnTo>
                <a:lnTo>
                  <a:pt x="800481" y="51180"/>
                </a:lnTo>
                <a:lnTo>
                  <a:pt x="799338" y="25272"/>
                </a:lnTo>
                <a:close/>
              </a:path>
              <a:path w="864870" h="85089">
                <a:moveTo>
                  <a:pt x="785368" y="0"/>
                </a:moveTo>
                <a:lnTo>
                  <a:pt x="786424" y="25822"/>
                </a:lnTo>
                <a:lnTo>
                  <a:pt x="799338" y="25272"/>
                </a:lnTo>
                <a:lnTo>
                  <a:pt x="841690" y="25272"/>
                </a:lnTo>
                <a:lnTo>
                  <a:pt x="7853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12690" y="4384040"/>
            <a:ext cx="25507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B </a:t>
            </a: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cannot override final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method </a:t>
            </a:r>
            <a:r>
              <a:rPr kumimoji="0" sz="1800" b="1" i="0" u="heavy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from </a:t>
            </a:r>
            <a:r>
              <a:rPr kumimoji="0" sz="1800" b="1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super class</a:t>
            </a:r>
            <a:r>
              <a:rPr kumimoji="0" sz="1800" b="1" i="0" u="heavy" strike="noStrike" kern="1200" cap="none" spc="-1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1800" b="1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A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76980" y="4661408"/>
            <a:ext cx="1137285" cy="85725"/>
          </a:xfrm>
          <a:custGeom>
            <a:avLst/>
            <a:gdLst/>
            <a:ahLst/>
            <a:cxnLst/>
            <a:rect l="l" t="t" r="r" b="b"/>
            <a:pathLst>
              <a:path w="1137285" h="85725">
                <a:moveTo>
                  <a:pt x="77597" y="57150"/>
                </a:moveTo>
                <a:lnTo>
                  <a:pt x="0" y="59563"/>
                </a:lnTo>
                <a:lnTo>
                  <a:pt x="762" y="85471"/>
                </a:lnTo>
                <a:lnTo>
                  <a:pt x="78486" y="83058"/>
                </a:lnTo>
                <a:lnTo>
                  <a:pt x="77597" y="57150"/>
                </a:lnTo>
                <a:close/>
              </a:path>
              <a:path w="1137285" h="85725">
                <a:moveTo>
                  <a:pt x="181229" y="53848"/>
                </a:moveTo>
                <a:lnTo>
                  <a:pt x="103505" y="56261"/>
                </a:lnTo>
                <a:lnTo>
                  <a:pt x="104394" y="82169"/>
                </a:lnTo>
                <a:lnTo>
                  <a:pt x="182118" y="79756"/>
                </a:lnTo>
                <a:lnTo>
                  <a:pt x="181229" y="53848"/>
                </a:lnTo>
                <a:close/>
              </a:path>
              <a:path w="1137285" h="85725">
                <a:moveTo>
                  <a:pt x="284861" y="50546"/>
                </a:moveTo>
                <a:lnTo>
                  <a:pt x="207137" y="52959"/>
                </a:lnTo>
                <a:lnTo>
                  <a:pt x="207899" y="78867"/>
                </a:lnTo>
                <a:lnTo>
                  <a:pt x="285623" y="76454"/>
                </a:lnTo>
                <a:lnTo>
                  <a:pt x="284861" y="50546"/>
                </a:lnTo>
                <a:close/>
              </a:path>
              <a:path w="1137285" h="85725">
                <a:moveTo>
                  <a:pt x="388366" y="47244"/>
                </a:moveTo>
                <a:lnTo>
                  <a:pt x="310769" y="49657"/>
                </a:lnTo>
                <a:lnTo>
                  <a:pt x="311531" y="75565"/>
                </a:lnTo>
                <a:lnTo>
                  <a:pt x="389255" y="73152"/>
                </a:lnTo>
                <a:lnTo>
                  <a:pt x="388366" y="47244"/>
                </a:lnTo>
                <a:close/>
              </a:path>
              <a:path w="1137285" h="85725">
                <a:moveTo>
                  <a:pt x="491998" y="43942"/>
                </a:moveTo>
                <a:lnTo>
                  <a:pt x="414274" y="46355"/>
                </a:lnTo>
                <a:lnTo>
                  <a:pt x="415163" y="72263"/>
                </a:lnTo>
                <a:lnTo>
                  <a:pt x="492760" y="69850"/>
                </a:lnTo>
                <a:lnTo>
                  <a:pt x="491998" y="43942"/>
                </a:lnTo>
                <a:close/>
              </a:path>
              <a:path w="1137285" h="85725">
                <a:moveTo>
                  <a:pt x="595503" y="40640"/>
                </a:moveTo>
                <a:lnTo>
                  <a:pt x="517906" y="43053"/>
                </a:lnTo>
                <a:lnTo>
                  <a:pt x="518668" y="68961"/>
                </a:lnTo>
                <a:lnTo>
                  <a:pt x="596392" y="66548"/>
                </a:lnTo>
                <a:lnTo>
                  <a:pt x="595503" y="40640"/>
                </a:lnTo>
                <a:close/>
              </a:path>
              <a:path w="1137285" h="85725">
                <a:moveTo>
                  <a:pt x="699135" y="37338"/>
                </a:moveTo>
                <a:lnTo>
                  <a:pt x="621411" y="39751"/>
                </a:lnTo>
                <a:lnTo>
                  <a:pt x="622300" y="65659"/>
                </a:lnTo>
                <a:lnTo>
                  <a:pt x="699897" y="63246"/>
                </a:lnTo>
                <a:lnTo>
                  <a:pt x="699135" y="37338"/>
                </a:lnTo>
                <a:close/>
              </a:path>
              <a:path w="1137285" h="85725">
                <a:moveTo>
                  <a:pt x="802767" y="34036"/>
                </a:moveTo>
                <a:lnTo>
                  <a:pt x="725043" y="36449"/>
                </a:lnTo>
                <a:lnTo>
                  <a:pt x="725805" y="62357"/>
                </a:lnTo>
                <a:lnTo>
                  <a:pt x="803529" y="59944"/>
                </a:lnTo>
                <a:lnTo>
                  <a:pt x="802767" y="34036"/>
                </a:lnTo>
                <a:close/>
              </a:path>
              <a:path w="1137285" h="85725">
                <a:moveTo>
                  <a:pt x="906272" y="30734"/>
                </a:moveTo>
                <a:lnTo>
                  <a:pt x="828548" y="33147"/>
                </a:lnTo>
                <a:lnTo>
                  <a:pt x="829437" y="59055"/>
                </a:lnTo>
                <a:lnTo>
                  <a:pt x="907161" y="56642"/>
                </a:lnTo>
                <a:lnTo>
                  <a:pt x="906272" y="30734"/>
                </a:lnTo>
                <a:close/>
              </a:path>
              <a:path w="1137285" h="85725">
                <a:moveTo>
                  <a:pt x="1009904" y="27432"/>
                </a:moveTo>
                <a:lnTo>
                  <a:pt x="932180" y="29845"/>
                </a:lnTo>
                <a:lnTo>
                  <a:pt x="933069" y="55753"/>
                </a:lnTo>
                <a:lnTo>
                  <a:pt x="1010666" y="53340"/>
                </a:lnTo>
                <a:lnTo>
                  <a:pt x="1009904" y="27432"/>
                </a:lnTo>
                <a:close/>
              </a:path>
              <a:path w="1137285" h="85725">
                <a:moveTo>
                  <a:pt x="1113150" y="25400"/>
                </a:moveTo>
                <a:lnTo>
                  <a:pt x="1071753" y="25400"/>
                </a:lnTo>
                <a:lnTo>
                  <a:pt x="1072515" y="51308"/>
                </a:lnTo>
                <a:lnTo>
                  <a:pt x="1059602" y="51718"/>
                </a:lnTo>
                <a:lnTo>
                  <a:pt x="1060450" y="77597"/>
                </a:lnTo>
                <a:lnTo>
                  <a:pt x="1136904" y="36322"/>
                </a:lnTo>
                <a:lnTo>
                  <a:pt x="1113150" y="25400"/>
                </a:lnTo>
                <a:close/>
              </a:path>
              <a:path w="1137285" h="85725">
                <a:moveTo>
                  <a:pt x="1058754" y="25813"/>
                </a:moveTo>
                <a:lnTo>
                  <a:pt x="1035812" y="26543"/>
                </a:lnTo>
                <a:lnTo>
                  <a:pt x="1036574" y="52451"/>
                </a:lnTo>
                <a:lnTo>
                  <a:pt x="1059602" y="51718"/>
                </a:lnTo>
                <a:lnTo>
                  <a:pt x="1058754" y="25813"/>
                </a:lnTo>
                <a:close/>
              </a:path>
              <a:path w="1137285" h="85725">
                <a:moveTo>
                  <a:pt x="1071753" y="25400"/>
                </a:moveTo>
                <a:lnTo>
                  <a:pt x="1058754" y="25813"/>
                </a:lnTo>
                <a:lnTo>
                  <a:pt x="1059602" y="51718"/>
                </a:lnTo>
                <a:lnTo>
                  <a:pt x="1072515" y="51308"/>
                </a:lnTo>
                <a:lnTo>
                  <a:pt x="1071753" y="25400"/>
                </a:lnTo>
                <a:close/>
              </a:path>
              <a:path w="1137285" h="85725">
                <a:moveTo>
                  <a:pt x="1057910" y="0"/>
                </a:moveTo>
                <a:lnTo>
                  <a:pt x="1058754" y="25813"/>
                </a:lnTo>
                <a:lnTo>
                  <a:pt x="1071753" y="25400"/>
                </a:lnTo>
                <a:lnTo>
                  <a:pt x="1113150" y="25400"/>
                </a:lnTo>
                <a:lnTo>
                  <a:pt x="1057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68036" y="5456631"/>
            <a:ext cx="33489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COM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P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IL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E-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TIME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/>
              <a:ea typeface="+mn-ea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04899" y="5646022"/>
            <a:ext cx="127317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 End of</a:t>
            </a:r>
            <a:r>
              <a:rPr kumimoji="0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41670" y="5903046"/>
            <a:ext cx="1601470" cy="6000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ER</a:t>
            </a:r>
            <a:r>
              <a:rPr kumimoji="0" sz="3200" b="0" i="0" u="none" strike="noStrike" kern="120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R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OR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/>
              <a:ea typeface="+mn-ea"/>
              <a:cs typeface="Arial 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0473" y="6012087"/>
            <a:ext cx="126682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</a:t>
            </a:r>
            <a:r>
              <a:rPr kumimoji="0" sz="1200" b="1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3169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25" dirty="0">
                <a:solidFill>
                  <a:srgbClr val="000000"/>
                </a:solidFill>
                <a:latin typeface="Arial"/>
                <a:cs typeface="Arial"/>
              </a:rPr>
              <a:t>Find </a:t>
            </a:r>
            <a:r>
              <a:rPr sz="3600" i="0" spc="-105" dirty="0">
                <a:solidFill>
                  <a:srgbClr val="000000"/>
                </a:solidFill>
                <a:latin typeface="Arial"/>
                <a:cs typeface="Arial"/>
              </a:rPr>
              <a:t>the </a:t>
            </a: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Error</a:t>
            </a:r>
            <a:r>
              <a:rPr sz="3600" i="0" spc="-6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?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73960" y="3816350"/>
            <a:ext cx="3071495" cy="1774825"/>
          </a:xfrm>
          <a:custGeom>
            <a:avLst/>
            <a:gdLst/>
            <a:ahLst/>
            <a:cxnLst/>
            <a:rect l="l" t="t" r="r" b="b"/>
            <a:pathLst>
              <a:path w="3071495" h="1774825">
                <a:moveTo>
                  <a:pt x="12953" y="0"/>
                </a:moveTo>
                <a:lnTo>
                  <a:pt x="0" y="22351"/>
                </a:lnTo>
                <a:lnTo>
                  <a:pt x="67437" y="61213"/>
                </a:lnTo>
                <a:lnTo>
                  <a:pt x="80263" y="38735"/>
                </a:lnTo>
                <a:lnTo>
                  <a:pt x="12953" y="0"/>
                </a:lnTo>
                <a:close/>
              </a:path>
              <a:path w="3071495" h="1774825">
                <a:moveTo>
                  <a:pt x="102743" y="51688"/>
                </a:moveTo>
                <a:lnTo>
                  <a:pt x="89788" y="74041"/>
                </a:lnTo>
                <a:lnTo>
                  <a:pt x="157225" y="112902"/>
                </a:lnTo>
                <a:lnTo>
                  <a:pt x="170180" y="90424"/>
                </a:lnTo>
                <a:lnTo>
                  <a:pt x="102743" y="51688"/>
                </a:lnTo>
                <a:close/>
              </a:path>
              <a:path w="3071495" h="1774825">
                <a:moveTo>
                  <a:pt x="192531" y="103377"/>
                </a:moveTo>
                <a:lnTo>
                  <a:pt x="179705" y="125730"/>
                </a:lnTo>
                <a:lnTo>
                  <a:pt x="247014" y="164592"/>
                </a:lnTo>
                <a:lnTo>
                  <a:pt x="259969" y="142112"/>
                </a:lnTo>
                <a:lnTo>
                  <a:pt x="192531" y="103377"/>
                </a:lnTo>
                <a:close/>
              </a:path>
              <a:path w="3071495" h="1774825">
                <a:moveTo>
                  <a:pt x="282447" y="155067"/>
                </a:moveTo>
                <a:lnTo>
                  <a:pt x="269494" y="177419"/>
                </a:lnTo>
                <a:lnTo>
                  <a:pt x="336803" y="216281"/>
                </a:lnTo>
                <a:lnTo>
                  <a:pt x="349757" y="193801"/>
                </a:lnTo>
                <a:lnTo>
                  <a:pt x="282447" y="155067"/>
                </a:lnTo>
                <a:close/>
              </a:path>
              <a:path w="3071495" h="1774825">
                <a:moveTo>
                  <a:pt x="372237" y="206756"/>
                </a:moveTo>
                <a:lnTo>
                  <a:pt x="359282" y="229107"/>
                </a:lnTo>
                <a:lnTo>
                  <a:pt x="426719" y="267969"/>
                </a:lnTo>
                <a:lnTo>
                  <a:pt x="439546" y="245491"/>
                </a:lnTo>
                <a:lnTo>
                  <a:pt x="372237" y="206756"/>
                </a:lnTo>
                <a:close/>
              </a:path>
              <a:path w="3071495" h="1774825">
                <a:moveTo>
                  <a:pt x="462025" y="258444"/>
                </a:moveTo>
                <a:lnTo>
                  <a:pt x="449071" y="280797"/>
                </a:lnTo>
                <a:lnTo>
                  <a:pt x="516508" y="319658"/>
                </a:lnTo>
                <a:lnTo>
                  <a:pt x="529463" y="297180"/>
                </a:lnTo>
                <a:lnTo>
                  <a:pt x="462025" y="258444"/>
                </a:lnTo>
                <a:close/>
              </a:path>
              <a:path w="3071495" h="1774825">
                <a:moveTo>
                  <a:pt x="551814" y="310133"/>
                </a:moveTo>
                <a:lnTo>
                  <a:pt x="538988" y="332486"/>
                </a:lnTo>
                <a:lnTo>
                  <a:pt x="606297" y="371348"/>
                </a:lnTo>
                <a:lnTo>
                  <a:pt x="619251" y="348869"/>
                </a:lnTo>
                <a:lnTo>
                  <a:pt x="551814" y="310133"/>
                </a:lnTo>
                <a:close/>
              </a:path>
              <a:path w="3071495" h="1774825">
                <a:moveTo>
                  <a:pt x="641731" y="361823"/>
                </a:moveTo>
                <a:lnTo>
                  <a:pt x="628776" y="384175"/>
                </a:lnTo>
                <a:lnTo>
                  <a:pt x="696087" y="423037"/>
                </a:lnTo>
                <a:lnTo>
                  <a:pt x="709040" y="400557"/>
                </a:lnTo>
                <a:lnTo>
                  <a:pt x="641731" y="361823"/>
                </a:lnTo>
                <a:close/>
              </a:path>
              <a:path w="3071495" h="1774825">
                <a:moveTo>
                  <a:pt x="731519" y="413385"/>
                </a:moveTo>
                <a:lnTo>
                  <a:pt x="718565" y="435863"/>
                </a:lnTo>
                <a:lnTo>
                  <a:pt x="786002" y="474725"/>
                </a:lnTo>
                <a:lnTo>
                  <a:pt x="798830" y="452247"/>
                </a:lnTo>
                <a:lnTo>
                  <a:pt x="731519" y="413385"/>
                </a:lnTo>
                <a:close/>
              </a:path>
              <a:path w="3071495" h="1774825">
                <a:moveTo>
                  <a:pt x="821308" y="465074"/>
                </a:moveTo>
                <a:lnTo>
                  <a:pt x="808355" y="487552"/>
                </a:lnTo>
                <a:lnTo>
                  <a:pt x="875791" y="526414"/>
                </a:lnTo>
                <a:lnTo>
                  <a:pt x="888745" y="503936"/>
                </a:lnTo>
                <a:lnTo>
                  <a:pt x="821308" y="465074"/>
                </a:lnTo>
                <a:close/>
              </a:path>
              <a:path w="3071495" h="1774825">
                <a:moveTo>
                  <a:pt x="911097" y="516763"/>
                </a:moveTo>
                <a:lnTo>
                  <a:pt x="898270" y="539242"/>
                </a:lnTo>
                <a:lnTo>
                  <a:pt x="965581" y="578104"/>
                </a:lnTo>
                <a:lnTo>
                  <a:pt x="978534" y="555625"/>
                </a:lnTo>
                <a:lnTo>
                  <a:pt x="911097" y="516763"/>
                </a:lnTo>
                <a:close/>
              </a:path>
              <a:path w="3071495" h="1774825">
                <a:moveTo>
                  <a:pt x="1001013" y="568451"/>
                </a:moveTo>
                <a:lnTo>
                  <a:pt x="988059" y="590931"/>
                </a:lnTo>
                <a:lnTo>
                  <a:pt x="1055370" y="629793"/>
                </a:lnTo>
                <a:lnTo>
                  <a:pt x="1068324" y="607313"/>
                </a:lnTo>
                <a:lnTo>
                  <a:pt x="1001013" y="568451"/>
                </a:lnTo>
                <a:close/>
              </a:path>
              <a:path w="3071495" h="1774825">
                <a:moveTo>
                  <a:pt x="1090802" y="620141"/>
                </a:moveTo>
                <a:lnTo>
                  <a:pt x="1077849" y="642619"/>
                </a:lnTo>
                <a:lnTo>
                  <a:pt x="1145286" y="681482"/>
                </a:lnTo>
                <a:lnTo>
                  <a:pt x="1158113" y="659002"/>
                </a:lnTo>
                <a:lnTo>
                  <a:pt x="1090802" y="620141"/>
                </a:lnTo>
                <a:close/>
              </a:path>
              <a:path w="3071495" h="1774825">
                <a:moveTo>
                  <a:pt x="1180591" y="671830"/>
                </a:moveTo>
                <a:lnTo>
                  <a:pt x="1167638" y="694308"/>
                </a:lnTo>
                <a:lnTo>
                  <a:pt x="1235075" y="733044"/>
                </a:lnTo>
                <a:lnTo>
                  <a:pt x="1248028" y="710692"/>
                </a:lnTo>
                <a:lnTo>
                  <a:pt x="1180591" y="671830"/>
                </a:lnTo>
                <a:close/>
              </a:path>
              <a:path w="3071495" h="1774825">
                <a:moveTo>
                  <a:pt x="1270381" y="723519"/>
                </a:moveTo>
                <a:lnTo>
                  <a:pt x="1257553" y="745998"/>
                </a:lnTo>
                <a:lnTo>
                  <a:pt x="1324864" y="784732"/>
                </a:lnTo>
                <a:lnTo>
                  <a:pt x="1337817" y="762381"/>
                </a:lnTo>
                <a:lnTo>
                  <a:pt x="1270381" y="723519"/>
                </a:lnTo>
                <a:close/>
              </a:path>
              <a:path w="3071495" h="1774825">
                <a:moveTo>
                  <a:pt x="1360297" y="775207"/>
                </a:moveTo>
                <a:lnTo>
                  <a:pt x="1347342" y="797687"/>
                </a:lnTo>
                <a:lnTo>
                  <a:pt x="1414652" y="836422"/>
                </a:lnTo>
                <a:lnTo>
                  <a:pt x="1427606" y="814069"/>
                </a:lnTo>
                <a:lnTo>
                  <a:pt x="1360297" y="775207"/>
                </a:lnTo>
                <a:close/>
              </a:path>
              <a:path w="3071495" h="1774825">
                <a:moveTo>
                  <a:pt x="1450086" y="826897"/>
                </a:moveTo>
                <a:lnTo>
                  <a:pt x="1437131" y="849376"/>
                </a:lnTo>
                <a:lnTo>
                  <a:pt x="1504568" y="888111"/>
                </a:lnTo>
                <a:lnTo>
                  <a:pt x="1517396" y="865758"/>
                </a:lnTo>
                <a:lnTo>
                  <a:pt x="1450086" y="826897"/>
                </a:lnTo>
                <a:close/>
              </a:path>
              <a:path w="3071495" h="1774825">
                <a:moveTo>
                  <a:pt x="1539875" y="878586"/>
                </a:moveTo>
                <a:lnTo>
                  <a:pt x="1527048" y="901064"/>
                </a:lnTo>
                <a:lnTo>
                  <a:pt x="1594358" y="939800"/>
                </a:lnTo>
                <a:lnTo>
                  <a:pt x="1607312" y="917448"/>
                </a:lnTo>
                <a:lnTo>
                  <a:pt x="1539875" y="878586"/>
                </a:lnTo>
                <a:close/>
              </a:path>
              <a:path w="3071495" h="1774825">
                <a:moveTo>
                  <a:pt x="1629790" y="930275"/>
                </a:moveTo>
                <a:lnTo>
                  <a:pt x="1616837" y="952754"/>
                </a:lnTo>
                <a:lnTo>
                  <a:pt x="1684147" y="991488"/>
                </a:lnTo>
                <a:lnTo>
                  <a:pt x="1697101" y="969137"/>
                </a:lnTo>
                <a:lnTo>
                  <a:pt x="1629790" y="930275"/>
                </a:lnTo>
                <a:close/>
              </a:path>
              <a:path w="3071495" h="1774825">
                <a:moveTo>
                  <a:pt x="1719579" y="981963"/>
                </a:moveTo>
                <a:lnTo>
                  <a:pt x="1706626" y="1004443"/>
                </a:lnTo>
                <a:lnTo>
                  <a:pt x="1773936" y="1043177"/>
                </a:lnTo>
                <a:lnTo>
                  <a:pt x="1786889" y="1020826"/>
                </a:lnTo>
                <a:lnTo>
                  <a:pt x="1719579" y="981963"/>
                </a:lnTo>
                <a:close/>
              </a:path>
              <a:path w="3071495" h="1774825">
                <a:moveTo>
                  <a:pt x="1809368" y="1033652"/>
                </a:moveTo>
                <a:lnTo>
                  <a:pt x="1796414" y="1056132"/>
                </a:lnTo>
                <a:lnTo>
                  <a:pt x="1863852" y="1094867"/>
                </a:lnTo>
                <a:lnTo>
                  <a:pt x="1876678" y="1072514"/>
                </a:lnTo>
                <a:lnTo>
                  <a:pt x="1809368" y="1033652"/>
                </a:lnTo>
                <a:close/>
              </a:path>
              <a:path w="3071495" h="1774825">
                <a:moveTo>
                  <a:pt x="1899158" y="1085342"/>
                </a:moveTo>
                <a:lnTo>
                  <a:pt x="1886330" y="1107820"/>
                </a:lnTo>
                <a:lnTo>
                  <a:pt x="1953640" y="1146556"/>
                </a:lnTo>
                <a:lnTo>
                  <a:pt x="1966594" y="1124204"/>
                </a:lnTo>
                <a:lnTo>
                  <a:pt x="1899158" y="1085342"/>
                </a:lnTo>
                <a:close/>
              </a:path>
              <a:path w="3071495" h="1774825">
                <a:moveTo>
                  <a:pt x="1989074" y="1137031"/>
                </a:moveTo>
                <a:lnTo>
                  <a:pt x="1976119" y="1159510"/>
                </a:lnTo>
                <a:lnTo>
                  <a:pt x="2043429" y="1198245"/>
                </a:lnTo>
                <a:lnTo>
                  <a:pt x="2056384" y="1175893"/>
                </a:lnTo>
                <a:lnTo>
                  <a:pt x="1989074" y="1137031"/>
                </a:lnTo>
                <a:close/>
              </a:path>
              <a:path w="3071495" h="1774825">
                <a:moveTo>
                  <a:pt x="2078863" y="1188720"/>
                </a:moveTo>
                <a:lnTo>
                  <a:pt x="2065909" y="1211199"/>
                </a:lnTo>
                <a:lnTo>
                  <a:pt x="2133346" y="1249933"/>
                </a:lnTo>
                <a:lnTo>
                  <a:pt x="2146173" y="1227582"/>
                </a:lnTo>
                <a:lnTo>
                  <a:pt x="2078863" y="1188720"/>
                </a:lnTo>
                <a:close/>
              </a:path>
              <a:path w="3071495" h="1774825">
                <a:moveTo>
                  <a:pt x="2168652" y="1240408"/>
                </a:moveTo>
                <a:lnTo>
                  <a:pt x="2155698" y="1262888"/>
                </a:lnTo>
                <a:lnTo>
                  <a:pt x="2223135" y="1301623"/>
                </a:lnTo>
                <a:lnTo>
                  <a:pt x="2236089" y="1279270"/>
                </a:lnTo>
                <a:lnTo>
                  <a:pt x="2168652" y="1240408"/>
                </a:lnTo>
                <a:close/>
              </a:path>
              <a:path w="3071495" h="1774825">
                <a:moveTo>
                  <a:pt x="2258441" y="1292098"/>
                </a:moveTo>
                <a:lnTo>
                  <a:pt x="2245614" y="1314577"/>
                </a:lnTo>
                <a:lnTo>
                  <a:pt x="2312924" y="1353312"/>
                </a:lnTo>
                <a:lnTo>
                  <a:pt x="2325878" y="1330960"/>
                </a:lnTo>
                <a:lnTo>
                  <a:pt x="2258441" y="1292098"/>
                </a:lnTo>
                <a:close/>
              </a:path>
              <a:path w="3071495" h="1774825">
                <a:moveTo>
                  <a:pt x="2348356" y="1343787"/>
                </a:moveTo>
                <a:lnTo>
                  <a:pt x="2335403" y="1366266"/>
                </a:lnTo>
                <a:lnTo>
                  <a:pt x="2402713" y="1405001"/>
                </a:lnTo>
                <a:lnTo>
                  <a:pt x="2415666" y="1382649"/>
                </a:lnTo>
                <a:lnTo>
                  <a:pt x="2348356" y="1343787"/>
                </a:lnTo>
                <a:close/>
              </a:path>
              <a:path w="3071495" h="1774825">
                <a:moveTo>
                  <a:pt x="2438146" y="1395476"/>
                </a:moveTo>
                <a:lnTo>
                  <a:pt x="2425191" y="1417955"/>
                </a:lnTo>
                <a:lnTo>
                  <a:pt x="2492629" y="1456690"/>
                </a:lnTo>
                <a:lnTo>
                  <a:pt x="2505455" y="1434338"/>
                </a:lnTo>
                <a:lnTo>
                  <a:pt x="2438146" y="1395476"/>
                </a:lnTo>
                <a:close/>
              </a:path>
              <a:path w="3071495" h="1774825">
                <a:moveTo>
                  <a:pt x="2527935" y="1447165"/>
                </a:moveTo>
                <a:lnTo>
                  <a:pt x="2514980" y="1469644"/>
                </a:lnTo>
                <a:lnTo>
                  <a:pt x="2582417" y="1508379"/>
                </a:lnTo>
                <a:lnTo>
                  <a:pt x="2595372" y="1486027"/>
                </a:lnTo>
                <a:lnTo>
                  <a:pt x="2527935" y="1447165"/>
                </a:lnTo>
                <a:close/>
              </a:path>
              <a:path w="3071495" h="1774825">
                <a:moveTo>
                  <a:pt x="2617724" y="1498854"/>
                </a:moveTo>
                <a:lnTo>
                  <a:pt x="2604897" y="1521333"/>
                </a:lnTo>
                <a:lnTo>
                  <a:pt x="2672206" y="1560068"/>
                </a:lnTo>
                <a:lnTo>
                  <a:pt x="2685161" y="1537716"/>
                </a:lnTo>
                <a:lnTo>
                  <a:pt x="2617724" y="1498854"/>
                </a:lnTo>
                <a:close/>
              </a:path>
              <a:path w="3071495" h="1774825">
                <a:moveTo>
                  <a:pt x="2707640" y="1550543"/>
                </a:moveTo>
                <a:lnTo>
                  <a:pt x="2694686" y="1573022"/>
                </a:lnTo>
                <a:lnTo>
                  <a:pt x="2761996" y="1611757"/>
                </a:lnTo>
                <a:lnTo>
                  <a:pt x="2774950" y="1589278"/>
                </a:lnTo>
                <a:lnTo>
                  <a:pt x="2707640" y="1550543"/>
                </a:lnTo>
                <a:close/>
              </a:path>
              <a:path w="3071495" h="1774825">
                <a:moveTo>
                  <a:pt x="2797429" y="1602232"/>
                </a:moveTo>
                <a:lnTo>
                  <a:pt x="2784475" y="1624711"/>
                </a:lnTo>
                <a:lnTo>
                  <a:pt x="2851912" y="1663446"/>
                </a:lnTo>
                <a:lnTo>
                  <a:pt x="2864739" y="1640966"/>
                </a:lnTo>
                <a:lnTo>
                  <a:pt x="2797429" y="1602232"/>
                </a:lnTo>
                <a:close/>
              </a:path>
              <a:path w="3071495" h="1774825">
                <a:moveTo>
                  <a:pt x="2887217" y="1653921"/>
                </a:moveTo>
                <a:lnTo>
                  <a:pt x="2874264" y="1676400"/>
                </a:lnTo>
                <a:lnTo>
                  <a:pt x="2941701" y="1715135"/>
                </a:lnTo>
                <a:lnTo>
                  <a:pt x="2954654" y="1692656"/>
                </a:lnTo>
                <a:lnTo>
                  <a:pt x="2887217" y="1653921"/>
                </a:lnTo>
                <a:close/>
              </a:path>
              <a:path w="3071495" h="1774825">
                <a:moveTo>
                  <a:pt x="2997410" y="1747267"/>
                </a:moveTo>
                <a:lnTo>
                  <a:pt x="2984500" y="1769745"/>
                </a:lnTo>
                <a:lnTo>
                  <a:pt x="3071241" y="1774774"/>
                </a:lnTo>
                <a:lnTo>
                  <a:pt x="3057308" y="1753743"/>
                </a:lnTo>
                <a:lnTo>
                  <a:pt x="3008629" y="1753743"/>
                </a:lnTo>
                <a:lnTo>
                  <a:pt x="2997410" y="1747267"/>
                </a:lnTo>
                <a:close/>
              </a:path>
              <a:path w="3071495" h="1774825">
                <a:moveTo>
                  <a:pt x="3010324" y="1724784"/>
                </a:moveTo>
                <a:lnTo>
                  <a:pt x="2997410" y="1747267"/>
                </a:lnTo>
                <a:lnTo>
                  <a:pt x="3008629" y="1753743"/>
                </a:lnTo>
                <a:lnTo>
                  <a:pt x="3021584" y="1731264"/>
                </a:lnTo>
                <a:lnTo>
                  <a:pt x="3010324" y="1724784"/>
                </a:lnTo>
                <a:close/>
              </a:path>
              <a:path w="3071495" h="1774825">
                <a:moveTo>
                  <a:pt x="3023235" y="1702308"/>
                </a:moveTo>
                <a:lnTo>
                  <a:pt x="3010324" y="1724784"/>
                </a:lnTo>
                <a:lnTo>
                  <a:pt x="3021584" y="1731264"/>
                </a:lnTo>
                <a:lnTo>
                  <a:pt x="3008629" y="1753743"/>
                </a:lnTo>
                <a:lnTo>
                  <a:pt x="3057308" y="1753743"/>
                </a:lnTo>
                <a:lnTo>
                  <a:pt x="3023235" y="1702308"/>
                </a:lnTo>
                <a:close/>
              </a:path>
              <a:path w="3071495" h="1774825">
                <a:moveTo>
                  <a:pt x="2977006" y="1705610"/>
                </a:moveTo>
                <a:lnTo>
                  <a:pt x="2964179" y="1728089"/>
                </a:lnTo>
                <a:lnTo>
                  <a:pt x="2997410" y="1747267"/>
                </a:lnTo>
                <a:lnTo>
                  <a:pt x="3010324" y="1724784"/>
                </a:lnTo>
                <a:lnTo>
                  <a:pt x="2977006" y="170561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4339" y="1657603"/>
            <a:ext cx="7005955" cy="4526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</a:t>
            </a:r>
            <a:r>
              <a:rPr kumimoji="0" sz="1200" b="1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ts val="1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int show(int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a,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int</a:t>
            </a:r>
            <a:r>
              <a:rPr kumimoji="0" sz="1400" b="1" i="0" u="none" strike="noStrike" kern="1200" cap="none" spc="-8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End of</a:t>
            </a:r>
            <a:r>
              <a:rPr kumimoji="0" sz="1400" b="1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</a:t>
            </a:r>
            <a:r>
              <a:rPr kumimoji="0" sz="12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 B extends</a:t>
            </a:r>
            <a:r>
              <a:rPr kumimoji="0" sz="1200" b="1" i="0" u="none" strike="noStrike" kern="1200" cap="none" spc="-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ts val="1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 show(int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a,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int</a:t>
            </a:r>
            <a:r>
              <a:rPr kumimoji="0" sz="1400" b="1" i="0" u="none" strike="noStrike" kern="1200" cap="none" spc="-8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 /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End of</a:t>
            </a:r>
            <a:r>
              <a:rPr kumimoji="0" sz="1400" b="1" i="0" u="none" strike="noStrike" kern="1200" cap="none" spc="-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</a:t>
            </a:r>
            <a:r>
              <a:rPr kumimoji="0" sz="12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display()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 End of</a:t>
            </a:r>
            <a:r>
              <a:rPr kumimoji="0" sz="120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</a:t>
            </a:r>
            <a:r>
              <a:rPr kumimoji="0" sz="12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369060" marR="0" lvl="0" indent="0" algn="ctr" defTabSz="914400" rtl="0" eaLnBrk="1" fontAlgn="auto" latinLnBrk="0" hangingPunct="1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Compile-Time</a:t>
            </a:r>
            <a:r>
              <a:rPr kumimoji="0" sz="1800" b="1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Error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41351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(Overridden Methods Cannot </a:t>
            </a: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 Different Return</a:t>
            </a:r>
            <a:r>
              <a:rPr kumimoji="0" sz="1800" b="1" i="0" u="none" strike="noStrike" kern="1200" cap="none" spc="-1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Types)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98014" y="2231898"/>
            <a:ext cx="3147060" cy="3183255"/>
          </a:xfrm>
          <a:custGeom>
            <a:avLst/>
            <a:gdLst/>
            <a:ahLst/>
            <a:cxnLst/>
            <a:rect l="l" t="t" r="r" b="b"/>
            <a:pathLst>
              <a:path w="3147060" h="3183254">
                <a:moveTo>
                  <a:pt x="18542" y="0"/>
                </a:moveTo>
                <a:lnTo>
                  <a:pt x="0" y="18287"/>
                </a:lnTo>
                <a:lnTo>
                  <a:pt x="54737" y="73532"/>
                </a:lnTo>
                <a:lnTo>
                  <a:pt x="73152" y="55372"/>
                </a:lnTo>
                <a:lnTo>
                  <a:pt x="18542" y="0"/>
                </a:lnTo>
                <a:close/>
              </a:path>
              <a:path w="3147060" h="3183254">
                <a:moveTo>
                  <a:pt x="91312" y="73787"/>
                </a:moveTo>
                <a:lnTo>
                  <a:pt x="72898" y="91948"/>
                </a:lnTo>
                <a:lnTo>
                  <a:pt x="127508" y="147192"/>
                </a:lnTo>
                <a:lnTo>
                  <a:pt x="145923" y="129031"/>
                </a:lnTo>
                <a:lnTo>
                  <a:pt x="91312" y="73787"/>
                </a:lnTo>
                <a:close/>
              </a:path>
              <a:path w="3147060" h="3183254">
                <a:moveTo>
                  <a:pt x="164211" y="147447"/>
                </a:moveTo>
                <a:lnTo>
                  <a:pt x="145796" y="165607"/>
                </a:lnTo>
                <a:lnTo>
                  <a:pt x="200406" y="220979"/>
                </a:lnTo>
                <a:lnTo>
                  <a:pt x="218821" y="202691"/>
                </a:lnTo>
                <a:lnTo>
                  <a:pt x="164211" y="147447"/>
                </a:lnTo>
                <a:close/>
              </a:path>
              <a:path w="3147060" h="3183254">
                <a:moveTo>
                  <a:pt x="236982" y="221106"/>
                </a:moveTo>
                <a:lnTo>
                  <a:pt x="218567" y="239394"/>
                </a:lnTo>
                <a:lnTo>
                  <a:pt x="273304" y="294639"/>
                </a:lnTo>
                <a:lnTo>
                  <a:pt x="291719" y="276478"/>
                </a:lnTo>
                <a:lnTo>
                  <a:pt x="236982" y="221106"/>
                </a:lnTo>
                <a:close/>
              </a:path>
              <a:path w="3147060" h="3183254">
                <a:moveTo>
                  <a:pt x="309880" y="294893"/>
                </a:moveTo>
                <a:lnTo>
                  <a:pt x="291465" y="313054"/>
                </a:lnTo>
                <a:lnTo>
                  <a:pt x="346075" y="368300"/>
                </a:lnTo>
                <a:lnTo>
                  <a:pt x="364490" y="350138"/>
                </a:lnTo>
                <a:lnTo>
                  <a:pt x="309880" y="294893"/>
                </a:lnTo>
                <a:close/>
              </a:path>
              <a:path w="3147060" h="3183254">
                <a:moveTo>
                  <a:pt x="382778" y="368553"/>
                </a:moveTo>
                <a:lnTo>
                  <a:pt x="364363" y="386714"/>
                </a:lnTo>
                <a:lnTo>
                  <a:pt x="418973" y="442087"/>
                </a:lnTo>
                <a:lnTo>
                  <a:pt x="437388" y="423799"/>
                </a:lnTo>
                <a:lnTo>
                  <a:pt x="382778" y="368553"/>
                </a:lnTo>
                <a:close/>
              </a:path>
              <a:path w="3147060" h="3183254">
                <a:moveTo>
                  <a:pt x="455549" y="442213"/>
                </a:moveTo>
                <a:lnTo>
                  <a:pt x="437134" y="460501"/>
                </a:lnTo>
                <a:lnTo>
                  <a:pt x="491744" y="515747"/>
                </a:lnTo>
                <a:lnTo>
                  <a:pt x="510159" y="497586"/>
                </a:lnTo>
                <a:lnTo>
                  <a:pt x="455549" y="442213"/>
                </a:lnTo>
                <a:close/>
              </a:path>
              <a:path w="3147060" h="3183254">
                <a:moveTo>
                  <a:pt x="528447" y="516000"/>
                </a:moveTo>
                <a:lnTo>
                  <a:pt x="510032" y="534162"/>
                </a:lnTo>
                <a:lnTo>
                  <a:pt x="564642" y="589406"/>
                </a:lnTo>
                <a:lnTo>
                  <a:pt x="583057" y="571246"/>
                </a:lnTo>
                <a:lnTo>
                  <a:pt x="528447" y="516000"/>
                </a:lnTo>
                <a:close/>
              </a:path>
              <a:path w="3147060" h="3183254">
                <a:moveTo>
                  <a:pt x="601218" y="589661"/>
                </a:moveTo>
                <a:lnTo>
                  <a:pt x="582803" y="607949"/>
                </a:lnTo>
                <a:lnTo>
                  <a:pt x="637540" y="663193"/>
                </a:lnTo>
                <a:lnTo>
                  <a:pt x="655955" y="644905"/>
                </a:lnTo>
                <a:lnTo>
                  <a:pt x="601218" y="589661"/>
                </a:lnTo>
                <a:close/>
              </a:path>
              <a:path w="3147060" h="3183254">
                <a:moveTo>
                  <a:pt x="674116" y="663448"/>
                </a:moveTo>
                <a:lnTo>
                  <a:pt x="655701" y="681609"/>
                </a:lnTo>
                <a:lnTo>
                  <a:pt x="710311" y="736853"/>
                </a:lnTo>
                <a:lnTo>
                  <a:pt x="728726" y="718692"/>
                </a:lnTo>
                <a:lnTo>
                  <a:pt x="674116" y="663448"/>
                </a:lnTo>
                <a:close/>
              </a:path>
              <a:path w="3147060" h="3183254">
                <a:moveTo>
                  <a:pt x="747014" y="737107"/>
                </a:moveTo>
                <a:lnTo>
                  <a:pt x="728599" y="755268"/>
                </a:lnTo>
                <a:lnTo>
                  <a:pt x="783209" y="810640"/>
                </a:lnTo>
                <a:lnTo>
                  <a:pt x="801624" y="792352"/>
                </a:lnTo>
                <a:lnTo>
                  <a:pt x="747014" y="737107"/>
                </a:lnTo>
                <a:close/>
              </a:path>
              <a:path w="3147060" h="3183254">
                <a:moveTo>
                  <a:pt x="819785" y="810767"/>
                </a:moveTo>
                <a:lnTo>
                  <a:pt x="801370" y="829055"/>
                </a:lnTo>
                <a:lnTo>
                  <a:pt x="855980" y="884301"/>
                </a:lnTo>
                <a:lnTo>
                  <a:pt x="874522" y="866139"/>
                </a:lnTo>
                <a:lnTo>
                  <a:pt x="819785" y="810767"/>
                </a:lnTo>
                <a:close/>
              </a:path>
              <a:path w="3147060" h="3183254">
                <a:moveTo>
                  <a:pt x="892683" y="884554"/>
                </a:moveTo>
                <a:lnTo>
                  <a:pt x="874268" y="902715"/>
                </a:lnTo>
                <a:lnTo>
                  <a:pt x="928878" y="957961"/>
                </a:lnTo>
                <a:lnTo>
                  <a:pt x="947293" y="939800"/>
                </a:lnTo>
                <a:lnTo>
                  <a:pt x="892683" y="884554"/>
                </a:lnTo>
                <a:close/>
              </a:path>
              <a:path w="3147060" h="3183254">
                <a:moveTo>
                  <a:pt x="965581" y="958214"/>
                </a:moveTo>
                <a:lnTo>
                  <a:pt x="947039" y="976376"/>
                </a:lnTo>
                <a:lnTo>
                  <a:pt x="1001776" y="1031748"/>
                </a:lnTo>
                <a:lnTo>
                  <a:pt x="1020191" y="1013460"/>
                </a:lnTo>
                <a:lnTo>
                  <a:pt x="965581" y="958214"/>
                </a:lnTo>
                <a:close/>
              </a:path>
              <a:path w="3147060" h="3183254">
                <a:moveTo>
                  <a:pt x="1038352" y="1031875"/>
                </a:moveTo>
                <a:lnTo>
                  <a:pt x="1019937" y="1050163"/>
                </a:lnTo>
                <a:lnTo>
                  <a:pt x="1074547" y="1105407"/>
                </a:lnTo>
                <a:lnTo>
                  <a:pt x="1092962" y="1087247"/>
                </a:lnTo>
                <a:lnTo>
                  <a:pt x="1038352" y="1031875"/>
                </a:lnTo>
                <a:close/>
              </a:path>
              <a:path w="3147060" h="3183254">
                <a:moveTo>
                  <a:pt x="1111250" y="1105662"/>
                </a:moveTo>
                <a:lnTo>
                  <a:pt x="1092835" y="1123823"/>
                </a:lnTo>
                <a:lnTo>
                  <a:pt x="1147445" y="1179067"/>
                </a:lnTo>
                <a:lnTo>
                  <a:pt x="1165860" y="1160906"/>
                </a:lnTo>
                <a:lnTo>
                  <a:pt x="1111250" y="1105662"/>
                </a:lnTo>
                <a:close/>
              </a:path>
              <a:path w="3147060" h="3183254">
                <a:moveTo>
                  <a:pt x="1184021" y="1179322"/>
                </a:moveTo>
                <a:lnTo>
                  <a:pt x="1165606" y="1197482"/>
                </a:lnTo>
                <a:lnTo>
                  <a:pt x="1220343" y="1252854"/>
                </a:lnTo>
                <a:lnTo>
                  <a:pt x="1238758" y="1234566"/>
                </a:lnTo>
                <a:lnTo>
                  <a:pt x="1184021" y="1179322"/>
                </a:lnTo>
                <a:close/>
              </a:path>
              <a:path w="3147060" h="3183254">
                <a:moveTo>
                  <a:pt x="1256919" y="1252981"/>
                </a:moveTo>
                <a:lnTo>
                  <a:pt x="1238504" y="1271269"/>
                </a:lnTo>
                <a:lnTo>
                  <a:pt x="1293114" y="1326514"/>
                </a:lnTo>
                <a:lnTo>
                  <a:pt x="1311529" y="1308353"/>
                </a:lnTo>
                <a:lnTo>
                  <a:pt x="1256919" y="1252981"/>
                </a:lnTo>
                <a:close/>
              </a:path>
              <a:path w="3147060" h="3183254">
                <a:moveTo>
                  <a:pt x="1329817" y="1326768"/>
                </a:moveTo>
                <a:lnTo>
                  <a:pt x="1311402" y="1344929"/>
                </a:lnTo>
                <a:lnTo>
                  <a:pt x="1366012" y="1400175"/>
                </a:lnTo>
                <a:lnTo>
                  <a:pt x="1384427" y="1382014"/>
                </a:lnTo>
                <a:lnTo>
                  <a:pt x="1329817" y="1326768"/>
                </a:lnTo>
                <a:close/>
              </a:path>
              <a:path w="3147060" h="3183254">
                <a:moveTo>
                  <a:pt x="1402588" y="1400428"/>
                </a:moveTo>
                <a:lnTo>
                  <a:pt x="1384173" y="1418716"/>
                </a:lnTo>
                <a:lnTo>
                  <a:pt x="1438783" y="1473962"/>
                </a:lnTo>
                <a:lnTo>
                  <a:pt x="1457198" y="1455674"/>
                </a:lnTo>
                <a:lnTo>
                  <a:pt x="1402588" y="1400428"/>
                </a:lnTo>
                <a:close/>
              </a:path>
              <a:path w="3147060" h="3183254">
                <a:moveTo>
                  <a:pt x="1475486" y="1474089"/>
                </a:moveTo>
                <a:lnTo>
                  <a:pt x="1457071" y="1492377"/>
                </a:lnTo>
                <a:lnTo>
                  <a:pt x="1511681" y="1547621"/>
                </a:lnTo>
                <a:lnTo>
                  <a:pt x="1530096" y="1529460"/>
                </a:lnTo>
                <a:lnTo>
                  <a:pt x="1475486" y="1474089"/>
                </a:lnTo>
                <a:close/>
              </a:path>
              <a:path w="3147060" h="3183254">
                <a:moveTo>
                  <a:pt x="1548384" y="1547876"/>
                </a:moveTo>
                <a:lnTo>
                  <a:pt x="1529842" y="1566037"/>
                </a:lnTo>
                <a:lnTo>
                  <a:pt x="1584579" y="1621408"/>
                </a:lnTo>
                <a:lnTo>
                  <a:pt x="1602994" y="1603120"/>
                </a:lnTo>
                <a:lnTo>
                  <a:pt x="1548384" y="1547876"/>
                </a:lnTo>
                <a:close/>
              </a:path>
              <a:path w="3147060" h="3183254">
                <a:moveTo>
                  <a:pt x="1621155" y="1621535"/>
                </a:moveTo>
                <a:lnTo>
                  <a:pt x="1602739" y="1639824"/>
                </a:lnTo>
                <a:lnTo>
                  <a:pt x="1657350" y="1695069"/>
                </a:lnTo>
                <a:lnTo>
                  <a:pt x="1675764" y="1676781"/>
                </a:lnTo>
                <a:lnTo>
                  <a:pt x="1621155" y="1621535"/>
                </a:lnTo>
                <a:close/>
              </a:path>
              <a:path w="3147060" h="3183254">
                <a:moveTo>
                  <a:pt x="1694052" y="1695322"/>
                </a:moveTo>
                <a:lnTo>
                  <a:pt x="1675638" y="1713483"/>
                </a:lnTo>
                <a:lnTo>
                  <a:pt x="1730248" y="1768728"/>
                </a:lnTo>
                <a:lnTo>
                  <a:pt x="1748663" y="1750568"/>
                </a:lnTo>
                <a:lnTo>
                  <a:pt x="1694052" y="1695322"/>
                </a:lnTo>
                <a:close/>
              </a:path>
              <a:path w="3147060" h="3183254">
                <a:moveTo>
                  <a:pt x="1766824" y="1768983"/>
                </a:moveTo>
                <a:lnTo>
                  <a:pt x="1748409" y="1787144"/>
                </a:lnTo>
                <a:lnTo>
                  <a:pt x="1803019" y="1842515"/>
                </a:lnTo>
                <a:lnTo>
                  <a:pt x="1821561" y="1824227"/>
                </a:lnTo>
                <a:lnTo>
                  <a:pt x="1766824" y="1768983"/>
                </a:lnTo>
                <a:close/>
              </a:path>
              <a:path w="3147060" h="3183254">
                <a:moveTo>
                  <a:pt x="1839722" y="1842643"/>
                </a:moveTo>
                <a:lnTo>
                  <a:pt x="1821307" y="1860931"/>
                </a:lnTo>
                <a:lnTo>
                  <a:pt x="1875917" y="1916176"/>
                </a:lnTo>
                <a:lnTo>
                  <a:pt x="1894332" y="1898014"/>
                </a:lnTo>
                <a:lnTo>
                  <a:pt x="1839722" y="1842643"/>
                </a:lnTo>
                <a:close/>
              </a:path>
              <a:path w="3147060" h="3183254">
                <a:moveTo>
                  <a:pt x="1912620" y="1916429"/>
                </a:moveTo>
                <a:lnTo>
                  <a:pt x="1894205" y="1934590"/>
                </a:lnTo>
                <a:lnTo>
                  <a:pt x="1948814" y="1989835"/>
                </a:lnTo>
                <a:lnTo>
                  <a:pt x="1967230" y="1971675"/>
                </a:lnTo>
                <a:lnTo>
                  <a:pt x="1912620" y="1916429"/>
                </a:lnTo>
                <a:close/>
              </a:path>
              <a:path w="3147060" h="3183254">
                <a:moveTo>
                  <a:pt x="1985390" y="1990089"/>
                </a:moveTo>
                <a:lnTo>
                  <a:pt x="1966976" y="2008251"/>
                </a:lnTo>
                <a:lnTo>
                  <a:pt x="2021586" y="2063622"/>
                </a:lnTo>
                <a:lnTo>
                  <a:pt x="2040001" y="2045334"/>
                </a:lnTo>
                <a:lnTo>
                  <a:pt x="1985390" y="1990089"/>
                </a:lnTo>
                <a:close/>
              </a:path>
              <a:path w="3147060" h="3183254">
                <a:moveTo>
                  <a:pt x="2058289" y="2063750"/>
                </a:moveTo>
                <a:lnTo>
                  <a:pt x="2039874" y="2082038"/>
                </a:lnTo>
                <a:lnTo>
                  <a:pt x="2094484" y="2137283"/>
                </a:lnTo>
                <a:lnTo>
                  <a:pt x="2112899" y="2119122"/>
                </a:lnTo>
                <a:lnTo>
                  <a:pt x="2058289" y="2063750"/>
                </a:lnTo>
                <a:close/>
              </a:path>
              <a:path w="3147060" h="3183254">
                <a:moveTo>
                  <a:pt x="2131060" y="2137537"/>
                </a:moveTo>
                <a:lnTo>
                  <a:pt x="2112645" y="2155697"/>
                </a:lnTo>
                <a:lnTo>
                  <a:pt x="2167382" y="2210943"/>
                </a:lnTo>
                <a:lnTo>
                  <a:pt x="2185797" y="2192782"/>
                </a:lnTo>
                <a:lnTo>
                  <a:pt x="2131060" y="2137537"/>
                </a:lnTo>
                <a:close/>
              </a:path>
              <a:path w="3147060" h="3183254">
                <a:moveTo>
                  <a:pt x="2203958" y="2211197"/>
                </a:moveTo>
                <a:lnTo>
                  <a:pt x="2185543" y="2229358"/>
                </a:lnTo>
                <a:lnTo>
                  <a:pt x="2240153" y="2284729"/>
                </a:lnTo>
                <a:lnTo>
                  <a:pt x="2258568" y="2266441"/>
                </a:lnTo>
                <a:lnTo>
                  <a:pt x="2203958" y="2211197"/>
                </a:lnTo>
                <a:close/>
              </a:path>
              <a:path w="3147060" h="3183254">
                <a:moveTo>
                  <a:pt x="2276856" y="2284857"/>
                </a:moveTo>
                <a:lnTo>
                  <a:pt x="2258441" y="2303145"/>
                </a:lnTo>
                <a:lnTo>
                  <a:pt x="2313051" y="2358390"/>
                </a:lnTo>
                <a:lnTo>
                  <a:pt x="2331466" y="2340229"/>
                </a:lnTo>
                <a:lnTo>
                  <a:pt x="2276856" y="2284857"/>
                </a:lnTo>
                <a:close/>
              </a:path>
              <a:path w="3147060" h="3183254">
                <a:moveTo>
                  <a:pt x="2349627" y="2358644"/>
                </a:moveTo>
                <a:lnTo>
                  <a:pt x="2331212" y="2376804"/>
                </a:lnTo>
                <a:lnTo>
                  <a:pt x="2385822" y="2432050"/>
                </a:lnTo>
                <a:lnTo>
                  <a:pt x="2404364" y="2413889"/>
                </a:lnTo>
                <a:lnTo>
                  <a:pt x="2349627" y="2358644"/>
                </a:lnTo>
                <a:close/>
              </a:path>
              <a:path w="3147060" h="3183254">
                <a:moveTo>
                  <a:pt x="2422525" y="2432304"/>
                </a:moveTo>
                <a:lnTo>
                  <a:pt x="2404110" y="2450591"/>
                </a:lnTo>
                <a:lnTo>
                  <a:pt x="2458720" y="2505837"/>
                </a:lnTo>
                <a:lnTo>
                  <a:pt x="2477135" y="2487549"/>
                </a:lnTo>
                <a:lnTo>
                  <a:pt x="2422525" y="2432304"/>
                </a:lnTo>
                <a:close/>
              </a:path>
              <a:path w="3147060" h="3183254">
                <a:moveTo>
                  <a:pt x="2495423" y="2506091"/>
                </a:moveTo>
                <a:lnTo>
                  <a:pt x="2476881" y="2524252"/>
                </a:lnTo>
                <a:lnTo>
                  <a:pt x="2531618" y="2579497"/>
                </a:lnTo>
                <a:lnTo>
                  <a:pt x="2550033" y="2561335"/>
                </a:lnTo>
                <a:lnTo>
                  <a:pt x="2495423" y="2506091"/>
                </a:lnTo>
                <a:close/>
              </a:path>
              <a:path w="3147060" h="3183254">
                <a:moveTo>
                  <a:pt x="2568194" y="2579751"/>
                </a:moveTo>
                <a:lnTo>
                  <a:pt x="2549779" y="2597912"/>
                </a:lnTo>
                <a:lnTo>
                  <a:pt x="2604389" y="2653284"/>
                </a:lnTo>
                <a:lnTo>
                  <a:pt x="2622804" y="2634996"/>
                </a:lnTo>
                <a:lnTo>
                  <a:pt x="2568194" y="2579751"/>
                </a:lnTo>
                <a:close/>
              </a:path>
              <a:path w="3147060" h="3183254">
                <a:moveTo>
                  <a:pt x="2641092" y="2653410"/>
                </a:moveTo>
                <a:lnTo>
                  <a:pt x="2622677" y="2671699"/>
                </a:lnTo>
                <a:lnTo>
                  <a:pt x="2677287" y="2726944"/>
                </a:lnTo>
                <a:lnTo>
                  <a:pt x="2695702" y="2708783"/>
                </a:lnTo>
                <a:lnTo>
                  <a:pt x="2641092" y="2653410"/>
                </a:lnTo>
                <a:close/>
              </a:path>
              <a:path w="3147060" h="3183254">
                <a:moveTo>
                  <a:pt x="2713863" y="2727197"/>
                </a:moveTo>
                <a:lnTo>
                  <a:pt x="2695448" y="2745359"/>
                </a:lnTo>
                <a:lnTo>
                  <a:pt x="2750185" y="2800604"/>
                </a:lnTo>
                <a:lnTo>
                  <a:pt x="2768600" y="2782443"/>
                </a:lnTo>
                <a:lnTo>
                  <a:pt x="2713863" y="2727197"/>
                </a:lnTo>
                <a:close/>
              </a:path>
              <a:path w="3147060" h="3183254">
                <a:moveTo>
                  <a:pt x="2786761" y="2800858"/>
                </a:moveTo>
                <a:lnTo>
                  <a:pt x="2768346" y="2819019"/>
                </a:lnTo>
                <a:lnTo>
                  <a:pt x="2822956" y="2874391"/>
                </a:lnTo>
                <a:lnTo>
                  <a:pt x="2841371" y="2856103"/>
                </a:lnTo>
                <a:lnTo>
                  <a:pt x="2786761" y="2800858"/>
                </a:lnTo>
                <a:close/>
              </a:path>
              <a:path w="3147060" h="3183254">
                <a:moveTo>
                  <a:pt x="2859659" y="2874518"/>
                </a:moveTo>
                <a:lnTo>
                  <a:pt x="2841244" y="2892806"/>
                </a:lnTo>
                <a:lnTo>
                  <a:pt x="2895854" y="2948051"/>
                </a:lnTo>
                <a:lnTo>
                  <a:pt x="2914269" y="2929890"/>
                </a:lnTo>
                <a:lnTo>
                  <a:pt x="2859659" y="2874518"/>
                </a:lnTo>
                <a:close/>
              </a:path>
              <a:path w="3147060" h="3183254">
                <a:moveTo>
                  <a:pt x="2932430" y="2948304"/>
                </a:moveTo>
                <a:lnTo>
                  <a:pt x="2914015" y="2966466"/>
                </a:lnTo>
                <a:lnTo>
                  <a:pt x="2968625" y="3021711"/>
                </a:lnTo>
                <a:lnTo>
                  <a:pt x="2987040" y="3003550"/>
                </a:lnTo>
                <a:lnTo>
                  <a:pt x="2932430" y="2948304"/>
                </a:lnTo>
                <a:close/>
              </a:path>
              <a:path w="3147060" h="3183254">
                <a:moveTo>
                  <a:pt x="3005328" y="3021965"/>
                </a:moveTo>
                <a:lnTo>
                  <a:pt x="2986913" y="3040126"/>
                </a:lnTo>
                <a:lnTo>
                  <a:pt x="3041523" y="3095498"/>
                </a:lnTo>
                <a:lnTo>
                  <a:pt x="3059938" y="3077210"/>
                </a:lnTo>
                <a:lnTo>
                  <a:pt x="3005328" y="3021965"/>
                </a:lnTo>
                <a:close/>
              </a:path>
              <a:path w="3147060" h="3183254">
                <a:moveTo>
                  <a:pt x="3082686" y="3137096"/>
                </a:moveTo>
                <a:lnTo>
                  <a:pt x="3064256" y="3155315"/>
                </a:lnTo>
                <a:lnTo>
                  <a:pt x="3146552" y="3183254"/>
                </a:lnTo>
                <a:lnTo>
                  <a:pt x="3134441" y="3146298"/>
                </a:lnTo>
                <a:lnTo>
                  <a:pt x="3091815" y="3146298"/>
                </a:lnTo>
                <a:lnTo>
                  <a:pt x="3082686" y="3137096"/>
                </a:lnTo>
                <a:close/>
              </a:path>
              <a:path w="3147060" h="3183254">
                <a:moveTo>
                  <a:pt x="3101097" y="3118896"/>
                </a:moveTo>
                <a:lnTo>
                  <a:pt x="3082686" y="3137096"/>
                </a:lnTo>
                <a:lnTo>
                  <a:pt x="3091815" y="3146298"/>
                </a:lnTo>
                <a:lnTo>
                  <a:pt x="3110230" y="3128137"/>
                </a:lnTo>
                <a:lnTo>
                  <a:pt x="3101097" y="3118896"/>
                </a:lnTo>
                <a:close/>
              </a:path>
              <a:path w="3147060" h="3183254">
                <a:moveTo>
                  <a:pt x="3119501" y="3100704"/>
                </a:moveTo>
                <a:lnTo>
                  <a:pt x="3101097" y="3118896"/>
                </a:lnTo>
                <a:lnTo>
                  <a:pt x="3110230" y="3128137"/>
                </a:lnTo>
                <a:lnTo>
                  <a:pt x="3091815" y="3146298"/>
                </a:lnTo>
                <a:lnTo>
                  <a:pt x="3134441" y="3146298"/>
                </a:lnTo>
                <a:lnTo>
                  <a:pt x="3119501" y="3100704"/>
                </a:lnTo>
                <a:close/>
              </a:path>
              <a:path w="3147060" h="3183254">
                <a:moveTo>
                  <a:pt x="3078099" y="3095625"/>
                </a:moveTo>
                <a:lnTo>
                  <a:pt x="3059684" y="3113913"/>
                </a:lnTo>
                <a:lnTo>
                  <a:pt x="3082686" y="3137096"/>
                </a:lnTo>
                <a:lnTo>
                  <a:pt x="3101097" y="3118896"/>
                </a:lnTo>
                <a:lnTo>
                  <a:pt x="3078099" y="309562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3169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25" dirty="0">
                <a:solidFill>
                  <a:srgbClr val="000000"/>
                </a:solidFill>
                <a:latin typeface="Arial"/>
                <a:cs typeface="Arial"/>
              </a:rPr>
              <a:t>Find </a:t>
            </a:r>
            <a:r>
              <a:rPr sz="3600" i="0" spc="-105" dirty="0">
                <a:solidFill>
                  <a:srgbClr val="000000"/>
                </a:solidFill>
                <a:latin typeface="Arial"/>
                <a:cs typeface="Arial"/>
              </a:rPr>
              <a:t>the </a:t>
            </a:r>
            <a:r>
              <a:rPr sz="3600" i="0" spc="-130" dirty="0">
                <a:solidFill>
                  <a:srgbClr val="000000"/>
                </a:solidFill>
                <a:latin typeface="Arial"/>
                <a:cs typeface="Arial"/>
              </a:rPr>
              <a:t>Error</a:t>
            </a:r>
            <a:r>
              <a:rPr sz="3600" i="0" spc="-6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?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4339" y="1657603"/>
            <a:ext cx="551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</a:t>
            </a:r>
            <a:r>
              <a:rPr kumimoji="0" sz="1200" b="1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9044" y="2022094"/>
            <a:ext cx="1843405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 show(int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a,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int</a:t>
            </a:r>
            <a:r>
              <a:rPr kumimoji="0" sz="1400" b="1" i="0" u="none" strike="noStrike" kern="1200" cap="none" spc="-1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End of</a:t>
            </a:r>
            <a:r>
              <a:rPr kumimoji="0" sz="1400" b="1" i="0" u="none" strike="noStrike" kern="1200" cap="none" spc="-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4339" y="2846578"/>
            <a:ext cx="1261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</a:t>
            </a:r>
            <a:r>
              <a:rPr kumimoji="0" sz="1200" b="1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4339" y="3212033"/>
            <a:ext cx="239204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 B extends</a:t>
            </a:r>
            <a:r>
              <a:rPr kumimoji="0" sz="1200" b="1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ts val="1435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ts val="1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</a:t>
            </a:r>
            <a:r>
              <a:rPr kumimoji="0" sz="1400" b="1" i="0" u="none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show()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 /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End of</a:t>
            </a:r>
            <a:r>
              <a:rPr kumimoji="0" sz="1400" b="1" i="0" u="none" strike="noStrike" kern="1200" cap="none" spc="-9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9044" y="4401439"/>
            <a:ext cx="12731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</a:t>
            </a:r>
            <a:r>
              <a:rPr kumimoji="0" sz="12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display()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 End of</a:t>
            </a:r>
            <a:r>
              <a:rPr kumimoji="0" sz="1200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4339" y="5133213"/>
            <a:ext cx="1266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</a:t>
            </a:r>
            <a:r>
              <a:rPr kumimoji="0" sz="1200" b="1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09108" y="1635963"/>
            <a:ext cx="19018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No</a:t>
            </a:r>
            <a:r>
              <a:rPr kumimoji="0" sz="3200" b="0" i="0" u="none" strike="noStrike" kern="1200" cap="none" spc="-8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 </a:t>
            </a:r>
            <a:r>
              <a:rPr kumimoji="0" sz="3200" b="0" i="0" u="none" strike="noStrike" kern="1200" cap="none" spc="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/>
                <a:ea typeface="+mn-ea"/>
                <a:cs typeface="Arial Black"/>
              </a:rPr>
              <a:t>Error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/>
              <a:ea typeface="+mn-ea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87266" y="2735072"/>
            <a:ext cx="52324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This Code Represents Method</a:t>
            </a:r>
            <a:r>
              <a:rPr kumimoji="0" sz="2000" b="1" i="0" u="none" strike="noStrike" kern="1200" cap="none" spc="-8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Overloading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51628" y="3744848"/>
            <a:ext cx="12077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26465" algn="l"/>
              </a:tabLst>
              <a:defRPr/>
            </a:pP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	b1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b1.show();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80809" y="3744848"/>
            <a:ext cx="159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=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95209" y="3744848"/>
            <a:ext cx="4705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new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09864" y="3744848"/>
            <a:ext cx="419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B();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51628" y="4842509"/>
            <a:ext cx="1616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1.</a:t>
            </a:r>
            <a:r>
              <a:rPr kumimoji="0" sz="1800" b="1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</a:t>
            </a:r>
            <a:r>
              <a:rPr kumimoji="0" sz="1800" b="1" i="0" u="none" strike="noStrike" kern="1200" cap="none" spc="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(1</a:t>
            </a:r>
            <a:r>
              <a:rPr kumimoji="0" sz="1800" b="1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0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,8);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868162" y="4410455"/>
            <a:ext cx="1560195" cy="1537970"/>
          </a:xfrm>
          <a:custGeom>
            <a:avLst/>
            <a:gdLst/>
            <a:ahLst/>
            <a:cxnLst/>
            <a:rect l="l" t="t" r="r" b="b"/>
            <a:pathLst>
              <a:path w="1560195" h="1537970">
                <a:moveTo>
                  <a:pt x="77724" y="25908"/>
                </a:moveTo>
                <a:lnTo>
                  <a:pt x="0" y="25908"/>
                </a:lnTo>
                <a:lnTo>
                  <a:pt x="0" y="51816"/>
                </a:lnTo>
                <a:lnTo>
                  <a:pt x="77724" y="51816"/>
                </a:lnTo>
                <a:lnTo>
                  <a:pt x="77724" y="25908"/>
                </a:lnTo>
                <a:close/>
              </a:path>
              <a:path w="1560195" h="1537970">
                <a:moveTo>
                  <a:pt x="181356" y="25908"/>
                </a:moveTo>
                <a:lnTo>
                  <a:pt x="103632" y="25908"/>
                </a:lnTo>
                <a:lnTo>
                  <a:pt x="103632" y="51816"/>
                </a:lnTo>
                <a:lnTo>
                  <a:pt x="181356" y="51816"/>
                </a:lnTo>
                <a:lnTo>
                  <a:pt x="181356" y="25908"/>
                </a:lnTo>
                <a:close/>
              </a:path>
              <a:path w="1560195" h="1537970">
                <a:moveTo>
                  <a:pt x="284988" y="25908"/>
                </a:moveTo>
                <a:lnTo>
                  <a:pt x="207264" y="25908"/>
                </a:lnTo>
                <a:lnTo>
                  <a:pt x="207264" y="51816"/>
                </a:lnTo>
                <a:lnTo>
                  <a:pt x="284988" y="51816"/>
                </a:lnTo>
                <a:lnTo>
                  <a:pt x="284988" y="25908"/>
                </a:lnTo>
                <a:close/>
              </a:path>
              <a:path w="1560195" h="1537970">
                <a:moveTo>
                  <a:pt x="388620" y="25908"/>
                </a:moveTo>
                <a:lnTo>
                  <a:pt x="310896" y="25908"/>
                </a:lnTo>
                <a:lnTo>
                  <a:pt x="310896" y="51816"/>
                </a:lnTo>
                <a:lnTo>
                  <a:pt x="388620" y="51816"/>
                </a:lnTo>
                <a:lnTo>
                  <a:pt x="388620" y="25908"/>
                </a:lnTo>
                <a:close/>
              </a:path>
              <a:path w="1560195" h="1537970">
                <a:moveTo>
                  <a:pt x="492252" y="25908"/>
                </a:moveTo>
                <a:lnTo>
                  <a:pt x="414528" y="25908"/>
                </a:lnTo>
                <a:lnTo>
                  <a:pt x="414528" y="51816"/>
                </a:lnTo>
                <a:lnTo>
                  <a:pt x="492252" y="51816"/>
                </a:lnTo>
                <a:lnTo>
                  <a:pt x="492252" y="25908"/>
                </a:lnTo>
                <a:close/>
              </a:path>
              <a:path w="1560195" h="1537970">
                <a:moveTo>
                  <a:pt x="595884" y="25908"/>
                </a:moveTo>
                <a:lnTo>
                  <a:pt x="518160" y="25908"/>
                </a:lnTo>
                <a:lnTo>
                  <a:pt x="518160" y="51816"/>
                </a:lnTo>
                <a:lnTo>
                  <a:pt x="595884" y="51816"/>
                </a:lnTo>
                <a:lnTo>
                  <a:pt x="595884" y="25908"/>
                </a:lnTo>
                <a:close/>
              </a:path>
              <a:path w="1560195" h="1537970">
                <a:moveTo>
                  <a:pt x="699516" y="25908"/>
                </a:moveTo>
                <a:lnTo>
                  <a:pt x="621792" y="25908"/>
                </a:lnTo>
                <a:lnTo>
                  <a:pt x="621792" y="51816"/>
                </a:lnTo>
                <a:lnTo>
                  <a:pt x="699516" y="51816"/>
                </a:lnTo>
                <a:lnTo>
                  <a:pt x="699516" y="25908"/>
                </a:lnTo>
                <a:close/>
              </a:path>
              <a:path w="1560195" h="1537970">
                <a:moveTo>
                  <a:pt x="803148" y="25908"/>
                </a:moveTo>
                <a:lnTo>
                  <a:pt x="725411" y="25908"/>
                </a:lnTo>
                <a:lnTo>
                  <a:pt x="725411" y="51816"/>
                </a:lnTo>
                <a:lnTo>
                  <a:pt x="803148" y="51816"/>
                </a:lnTo>
                <a:lnTo>
                  <a:pt x="803148" y="25908"/>
                </a:lnTo>
                <a:close/>
              </a:path>
              <a:path w="1560195" h="1537970">
                <a:moveTo>
                  <a:pt x="906780" y="25908"/>
                </a:moveTo>
                <a:lnTo>
                  <a:pt x="829056" y="25908"/>
                </a:lnTo>
                <a:lnTo>
                  <a:pt x="829056" y="51816"/>
                </a:lnTo>
                <a:lnTo>
                  <a:pt x="906780" y="51816"/>
                </a:lnTo>
                <a:lnTo>
                  <a:pt x="906780" y="25908"/>
                </a:lnTo>
                <a:close/>
              </a:path>
              <a:path w="1560195" h="1537970">
                <a:moveTo>
                  <a:pt x="1010412" y="25908"/>
                </a:moveTo>
                <a:lnTo>
                  <a:pt x="932688" y="25908"/>
                </a:lnTo>
                <a:lnTo>
                  <a:pt x="932688" y="51816"/>
                </a:lnTo>
                <a:lnTo>
                  <a:pt x="1010412" y="51816"/>
                </a:lnTo>
                <a:lnTo>
                  <a:pt x="1010412" y="25908"/>
                </a:lnTo>
                <a:close/>
              </a:path>
              <a:path w="1560195" h="1537970">
                <a:moveTo>
                  <a:pt x="1114044" y="25908"/>
                </a:moveTo>
                <a:lnTo>
                  <a:pt x="1036320" y="25908"/>
                </a:lnTo>
                <a:lnTo>
                  <a:pt x="1036320" y="51816"/>
                </a:lnTo>
                <a:lnTo>
                  <a:pt x="1114044" y="51816"/>
                </a:lnTo>
                <a:lnTo>
                  <a:pt x="1114044" y="25908"/>
                </a:lnTo>
                <a:close/>
              </a:path>
              <a:path w="1560195" h="1537970">
                <a:moveTo>
                  <a:pt x="1217676" y="25908"/>
                </a:moveTo>
                <a:lnTo>
                  <a:pt x="1139952" y="25908"/>
                </a:lnTo>
                <a:lnTo>
                  <a:pt x="1139952" y="51816"/>
                </a:lnTo>
                <a:lnTo>
                  <a:pt x="1217676" y="51816"/>
                </a:lnTo>
                <a:lnTo>
                  <a:pt x="1217676" y="25908"/>
                </a:lnTo>
                <a:close/>
              </a:path>
              <a:path w="1560195" h="1537970">
                <a:moveTo>
                  <a:pt x="1321308" y="25908"/>
                </a:moveTo>
                <a:lnTo>
                  <a:pt x="1243584" y="25908"/>
                </a:lnTo>
                <a:lnTo>
                  <a:pt x="1243584" y="51816"/>
                </a:lnTo>
                <a:lnTo>
                  <a:pt x="1321308" y="51816"/>
                </a:lnTo>
                <a:lnTo>
                  <a:pt x="1321308" y="25908"/>
                </a:lnTo>
                <a:close/>
              </a:path>
              <a:path w="1560195" h="1537970">
                <a:moveTo>
                  <a:pt x="1424940" y="25908"/>
                </a:moveTo>
                <a:lnTo>
                  <a:pt x="1347216" y="25908"/>
                </a:lnTo>
                <a:lnTo>
                  <a:pt x="1347216" y="51816"/>
                </a:lnTo>
                <a:lnTo>
                  <a:pt x="1424940" y="51816"/>
                </a:lnTo>
                <a:lnTo>
                  <a:pt x="1424940" y="25908"/>
                </a:lnTo>
                <a:close/>
              </a:path>
              <a:path w="1560195" h="1537970">
                <a:moveTo>
                  <a:pt x="1533906" y="1282446"/>
                </a:moveTo>
                <a:lnTo>
                  <a:pt x="1507998" y="1282446"/>
                </a:lnTo>
                <a:lnTo>
                  <a:pt x="1507998" y="1360170"/>
                </a:lnTo>
                <a:lnTo>
                  <a:pt x="1533906" y="1360170"/>
                </a:lnTo>
                <a:lnTo>
                  <a:pt x="1533906" y="1282446"/>
                </a:lnTo>
                <a:close/>
              </a:path>
              <a:path w="1560195" h="1537970">
                <a:moveTo>
                  <a:pt x="1533906" y="1178814"/>
                </a:moveTo>
                <a:lnTo>
                  <a:pt x="1507998" y="1178814"/>
                </a:lnTo>
                <a:lnTo>
                  <a:pt x="1507998" y="1256538"/>
                </a:lnTo>
                <a:lnTo>
                  <a:pt x="1533906" y="1256538"/>
                </a:lnTo>
                <a:lnTo>
                  <a:pt x="1533906" y="1178814"/>
                </a:lnTo>
                <a:close/>
              </a:path>
              <a:path w="1560195" h="1537970">
                <a:moveTo>
                  <a:pt x="1533906" y="1075182"/>
                </a:moveTo>
                <a:lnTo>
                  <a:pt x="1507998" y="1075182"/>
                </a:lnTo>
                <a:lnTo>
                  <a:pt x="1507998" y="1152906"/>
                </a:lnTo>
                <a:lnTo>
                  <a:pt x="1533906" y="1152906"/>
                </a:lnTo>
                <a:lnTo>
                  <a:pt x="1533906" y="1075182"/>
                </a:lnTo>
                <a:close/>
              </a:path>
              <a:path w="1560195" h="1537970">
                <a:moveTo>
                  <a:pt x="1533906" y="971550"/>
                </a:moveTo>
                <a:lnTo>
                  <a:pt x="1507998" y="971550"/>
                </a:lnTo>
                <a:lnTo>
                  <a:pt x="1507998" y="1049274"/>
                </a:lnTo>
                <a:lnTo>
                  <a:pt x="1533906" y="1049274"/>
                </a:lnTo>
                <a:lnTo>
                  <a:pt x="1533906" y="971550"/>
                </a:lnTo>
                <a:close/>
              </a:path>
              <a:path w="1560195" h="1537970">
                <a:moveTo>
                  <a:pt x="1533906" y="867918"/>
                </a:moveTo>
                <a:lnTo>
                  <a:pt x="1507998" y="867918"/>
                </a:lnTo>
                <a:lnTo>
                  <a:pt x="1507998" y="945642"/>
                </a:lnTo>
                <a:lnTo>
                  <a:pt x="1533906" y="945642"/>
                </a:lnTo>
                <a:lnTo>
                  <a:pt x="1533906" y="867918"/>
                </a:lnTo>
                <a:close/>
              </a:path>
              <a:path w="1560195" h="1537970">
                <a:moveTo>
                  <a:pt x="1533906" y="764286"/>
                </a:moveTo>
                <a:lnTo>
                  <a:pt x="1507998" y="764286"/>
                </a:lnTo>
                <a:lnTo>
                  <a:pt x="1507998" y="842010"/>
                </a:lnTo>
                <a:lnTo>
                  <a:pt x="1533906" y="842010"/>
                </a:lnTo>
                <a:lnTo>
                  <a:pt x="1533906" y="764286"/>
                </a:lnTo>
                <a:close/>
              </a:path>
              <a:path w="1560195" h="1537970">
                <a:moveTo>
                  <a:pt x="1533906" y="660654"/>
                </a:moveTo>
                <a:lnTo>
                  <a:pt x="1507998" y="660654"/>
                </a:lnTo>
                <a:lnTo>
                  <a:pt x="1507998" y="738378"/>
                </a:lnTo>
                <a:lnTo>
                  <a:pt x="1533906" y="738378"/>
                </a:lnTo>
                <a:lnTo>
                  <a:pt x="1533906" y="660654"/>
                </a:lnTo>
                <a:close/>
              </a:path>
              <a:path w="1560195" h="1537970">
                <a:moveTo>
                  <a:pt x="1533906" y="557022"/>
                </a:moveTo>
                <a:lnTo>
                  <a:pt x="1507998" y="557022"/>
                </a:lnTo>
                <a:lnTo>
                  <a:pt x="1507998" y="634746"/>
                </a:lnTo>
                <a:lnTo>
                  <a:pt x="1533906" y="634746"/>
                </a:lnTo>
                <a:lnTo>
                  <a:pt x="1533906" y="557022"/>
                </a:lnTo>
                <a:close/>
              </a:path>
              <a:path w="1560195" h="1537970">
                <a:moveTo>
                  <a:pt x="1533906" y="453390"/>
                </a:moveTo>
                <a:lnTo>
                  <a:pt x="1507998" y="453390"/>
                </a:lnTo>
                <a:lnTo>
                  <a:pt x="1507998" y="531114"/>
                </a:lnTo>
                <a:lnTo>
                  <a:pt x="1533906" y="531114"/>
                </a:lnTo>
                <a:lnTo>
                  <a:pt x="1533906" y="453390"/>
                </a:lnTo>
                <a:close/>
              </a:path>
              <a:path w="1560195" h="1537970">
                <a:moveTo>
                  <a:pt x="1533906" y="349758"/>
                </a:moveTo>
                <a:lnTo>
                  <a:pt x="1507998" y="349758"/>
                </a:lnTo>
                <a:lnTo>
                  <a:pt x="1507998" y="427482"/>
                </a:lnTo>
                <a:lnTo>
                  <a:pt x="1533906" y="427482"/>
                </a:lnTo>
                <a:lnTo>
                  <a:pt x="1533906" y="349758"/>
                </a:lnTo>
                <a:close/>
              </a:path>
              <a:path w="1560195" h="1537970">
                <a:moveTo>
                  <a:pt x="1533906" y="246126"/>
                </a:moveTo>
                <a:lnTo>
                  <a:pt x="1507998" y="246126"/>
                </a:lnTo>
                <a:lnTo>
                  <a:pt x="1507998" y="323850"/>
                </a:lnTo>
                <a:lnTo>
                  <a:pt x="1533906" y="323850"/>
                </a:lnTo>
                <a:lnTo>
                  <a:pt x="1533906" y="246126"/>
                </a:lnTo>
                <a:close/>
              </a:path>
              <a:path w="1560195" h="1537970">
                <a:moveTo>
                  <a:pt x="1533906" y="142494"/>
                </a:moveTo>
                <a:lnTo>
                  <a:pt x="1507998" y="142494"/>
                </a:lnTo>
                <a:lnTo>
                  <a:pt x="1507998" y="220218"/>
                </a:lnTo>
                <a:lnTo>
                  <a:pt x="1533906" y="220218"/>
                </a:lnTo>
                <a:lnTo>
                  <a:pt x="1533906" y="142494"/>
                </a:lnTo>
                <a:close/>
              </a:path>
              <a:path w="1560195" h="1537970">
                <a:moveTo>
                  <a:pt x="1533906" y="38862"/>
                </a:moveTo>
                <a:lnTo>
                  <a:pt x="1510284" y="38862"/>
                </a:lnTo>
                <a:lnTo>
                  <a:pt x="1432560" y="0"/>
                </a:lnTo>
                <a:lnTo>
                  <a:pt x="1432560" y="77724"/>
                </a:lnTo>
                <a:lnTo>
                  <a:pt x="1507998" y="40005"/>
                </a:lnTo>
                <a:lnTo>
                  <a:pt x="1507998" y="116586"/>
                </a:lnTo>
                <a:lnTo>
                  <a:pt x="1533906" y="116586"/>
                </a:lnTo>
                <a:lnTo>
                  <a:pt x="1533906" y="38862"/>
                </a:lnTo>
                <a:close/>
              </a:path>
              <a:path w="1560195" h="1537970">
                <a:moveTo>
                  <a:pt x="1559814" y="1459877"/>
                </a:moveTo>
                <a:lnTo>
                  <a:pt x="1533906" y="1459877"/>
                </a:lnTo>
                <a:lnTo>
                  <a:pt x="1533906" y="1386078"/>
                </a:lnTo>
                <a:lnTo>
                  <a:pt x="1507998" y="1386078"/>
                </a:lnTo>
                <a:lnTo>
                  <a:pt x="1507998" y="1459877"/>
                </a:lnTo>
                <a:lnTo>
                  <a:pt x="1482090" y="1459877"/>
                </a:lnTo>
                <a:lnTo>
                  <a:pt x="1520952" y="1537601"/>
                </a:lnTo>
                <a:lnTo>
                  <a:pt x="1557845" y="1463802"/>
                </a:lnTo>
                <a:lnTo>
                  <a:pt x="1559814" y="145987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07963" y="6040628"/>
            <a:ext cx="2351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Calls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show() </a:t>
            </a: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</a:t>
            </a:r>
            <a:r>
              <a:rPr kumimoji="0" sz="1800" b="1" i="0" u="none" strike="noStrike" kern="1200" cap="none" spc="-9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class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467861" y="5008245"/>
            <a:ext cx="1184275" cy="741045"/>
          </a:xfrm>
          <a:custGeom>
            <a:avLst/>
            <a:gdLst/>
            <a:ahLst/>
            <a:cxnLst/>
            <a:rect l="l" t="t" r="r" b="b"/>
            <a:pathLst>
              <a:path w="1184275" h="741045">
                <a:moveTo>
                  <a:pt x="1170051" y="0"/>
                </a:moveTo>
                <a:lnTo>
                  <a:pt x="1104011" y="41020"/>
                </a:lnTo>
                <a:lnTo>
                  <a:pt x="1117727" y="62991"/>
                </a:lnTo>
                <a:lnTo>
                  <a:pt x="1183766" y="22097"/>
                </a:lnTo>
                <a:lnTo>
                  <a:pt x="1170051" y="0"/>
                </a:lnTo>
                <a:close/>
              </a:path>
              <a:path w="1184275" h="741045">
                <a:moveTo>
                  <a:pt x="1082039" y="54609"/>
                </a:moveTo>
                <a:lnTo>
                  <a:pt x="1016000" y="95630"/>
                </a:lnTo>
                <a:lnTo>
                  <a:pt x="1029588" y="117601"/>
                </a:lnTo>
                <a:lnTo>
                  <a:pt x="1095628" y="76707"/>
                </a:lnTo>
                <a:lnTo>
                  <a:pt x="1082039" y="54609"/>
                </a:lnTo>
                <a:close/>
              </a:path>
              <a:path w="1184275" h="741045">
                <a:moveTo>
                  <a:pt x="993901" y="109219"/>
                </a:moveTo>
                <a:lnTo>
                  <a:pt x="927862" y="150240"/>
                </a:lnTo>
                <a:lnTo>
                  <a:pt x="941577" y="172211"/>
                </a:lnTo>
                <a:lnTo>
                  <a:pt x="1007617" y="131317"/>
                </a:lnTo>
                <a:lnTo>
                  <a:pt x="993901" y="109219"/>
                </a:lnTo>
                <a:close/>
              </a:path>
              <a:path w="1184275" h="741045">
                <a:moveTo>
                  <a:pt x="905890" y="163829"/>
                </a:moveTo>
                <a:lnTo>
                  <a:pt x="839851" y="204850"/>
                </a:lnTo>
                <a:lnTo>
                  <a:pt x="853439" y="226821"/>
                </a:lnTo>
                <a:lnTo>
                  <a:pt x="919479" y="185927"/>
                </a:lnTo>
                <a:lnTo>
                  <a:pt x="905890" y="163829"/>
                </a:lnTo>
                <a:close/>
              </a:path>
              <a:path w="1184275" h="741045">
                <a:moveTo>
                  <a:pt x="817752" y="218439"/>
                </a:moveTo>
                <a:lnTo>
                  <a:pt x="751713" y="259460"/>
                </a:lnTo>
                <a:lnTo>
                  <a:pt x="765428" y="281431"/>
                </a:lnTo>
                <a:lnTo>
                  <a:pt x="831468" y="240537"/>
                </a:lnTo>
                <a:lnTo>
                  <a:pt x="817752" y="218439"/>
                </a:lnTo>
                <a:close/>
              </a:path>
              <a:path w="1184275" h="741045">
                <a:moveTo>
                  <a:pt x="729741" y="273049"/>
                </a:moveTo>
                <a:lnTo>
                  <a:pt x="663701" y="314070"/>
                </a:lnTo>
                <a:lnTo>
                  <a:pt x="677290" y="336041"/>
                </a:lnTo>
                <a:lnTo>
                  <a:pt x="743330" y="295147"/>
                </a:lnTo>
                <a:lnTo>
                  <a:pt x="729741" y="273049"/>
                </a:lnTo>
                <a:close/>
              </a:path>
              <a:path w="1184275" h="741045">
                <a:moveTo>
                  <a:pt x="641603" y="327659"/>
                </a:moveTo>
                <a:lnTo>
                  <a:pt x="575563" y="368680"/>
                </a:lnTo>
                <a:lnTo>
                  <a:pt x="589279" y="390651"/>
                </a:lnTo>
                <a:lnTo>
                  <a:pt x="655320" y="349757"/>
                </a:lnTo>
                <a:lnTo>
                  <a:pt x="641603" y="327659"/>
                </a:lnTo>
                <a:close/>
              </a:path>
              <a:path w="1184275" h="741045">
                <a:moveTo>
                  <a:pt x="553592" y="382269"/>
                </a:moveTo>
                <a:lnTo>
                  <a:pt x="487552" y="423290"/>
                </a:lnTo>
                <a:lnTo>
                  <a:pt x="501141" y="445261"/>
                </a:lnTo>
                <a:lnTo>
                  <a:pt x="567182" y="404367"/>
                </a:lnTo>
                <a:lnTo>
                  <a:pt x="553592" y="382269"/>
                </a:lnTo>
                <a:close/>
              </a:path>
              <a:path w="1184275" h="741045">
                <a:moveTo>
                  <a:pt x="465454" y="436879"/>
                </a:moveTo>
                <a:lnTo>
                  <a:pt x="399414" y="477900"/>
                </a:lnTo>
                <a:lnTo>
                  <a:pt x="413130" y="499871"/>
                </a:lnTo>
                <a:lnTo>
                  <a:pt x="479171" y="458977"/>
                </a:lnTo>
                <a:lnTo>
                  <a:pt x="465454" y="436879"/>
                </a:lnTo>
                <a:close/>
              </a:path>
              <a:path w="1184275" h="741045">
                <a:moveTo>
                  <a:pt x="377443" y="491489"/>
                </a:moveTo>
                <a:lnTo>
                  <a:pt x="311403" y="532510"/>
                </a:lnTo>
                <a:lnTo>
                  <a:pt x="324992" y="554481"/>
                </a:lnTo>
                <a:lnTo>
                  <a:pt x="391033" y="513587"/>
                </a:lnTo>
                <a:lnTo>
                  <a:pt x="377443" y="491489"/>
                </a:lnTo>
                <a:close/>
              </a:path>
              <a:path w="1184275" h="741045">
                <a:moveTo>
                  <a:pt x="289305" y="546099"/>
                </a:moveTo>
                <a:lnTo>
                  <a:pt x="223265" y="587095"/>
                </a:lnTo>
                <a:lnTo>
                  <a:pt x="236982" y="609117"/>
                </a:lnTo>
                <a:lnTo>
                  <a:pt x="303022" y="568197"/>
                </a:lnTo>
                <a:lnTo>
                  <a:pt x="289305" y="546099"/>
                </a:lnTo>
                <a:close/>
              </a:path>
              <a:path w="1184275" h="741045">
                <a:moveTo>
                  <a:pt x="201295" y="600748"/>
                </a:moveTo>
                <a:lnTo>
                  <a:pt x="135254" y="641705"/>
                </a:lnTo>
                <a:lnTo>
                  <a:pt x="148843" y="663727"/>
                </a:lnTo>
                <a:lnTo>
                  <a:pt x="214884" y="622769"/>
                </a:lnTo>
                <a:lnTo>
                  <a:pt x="201295" y="600748"/>
                </a:lnTo>
                <a:close/>
              </a:path>
              <a:path w="1184275" h="741045">
                <a:moveTo>
                  <a:pt x="45592" y="666788"/>
                </a:moveTo>
                <a:lnTo>
                  <a:pt x="0" y="740778"/>
                </a:lnTo>
                <a:lnTo>
                  <a:pt x="86487" y="732853"/>
                </a:lnTo>
                <a:lnTo>
                  <a:pt x="77077" y="717651"/>
                </a:lnTo>
                <a:lnTo>
                  <a:pt x="61849" y="717651"/>
                </a:lnTo>
                <a:lnTo>
                  <a:pt x="48260" y="695642"/>
                </a:lnTo>
                <a:lnTo>
                  <a:pt x="59236" y="688829"/>
                </a:lnTo>
                <a:lnTo>
                  <a:pt x="45592" y="666788"/>
                </a:lnTo>
                <a:close/>
              </a:path>
              <a:path w="1184275" h="741045">
                <a:moveTo>
                  <a:pt x="59236" y="688829"/>
                </a:moveTo>
                <a:lnTo>
                  <a:pt x="48260" y="695642"/>
                </a:lnTo>
                <a:lnTo>
                  <a:pt x="61849" y="717651"/>
                </a:lnTo>
                <a:lnTo>
                  <a:pt x="72857" y="710833"/>
                </a:lnTo>
                <a:lnTo>
                  <a:pt x="59236" y="688829"/>
                </a:lnTo>
                <a:close/>
              </a:path>
              <a:path w="1184275" h="741045">
                <a:moveTo>
                  <a:pt x="72857" y="710833"/>
                </a:moveTo>
                <a:lnTo>
                  <a:pt x="61849" y="717651"/>
                </a:lnTo>
                <a:lnTo>
                  <a:pt x="77077" y="717651"/>
                </a:lnTo>
                <a:lnTo>
                  <a:pt x="72857" y="710833"/>
                </a:lnTo>
                <a:close/>
              </a:path>
              <a:path w="1184275" h="741045">
                <a:moveTo>
                  <a:pt x="113157" y="655358"/>
                </a:moveTo>
                <a:lnTo>
                  <a:pt x="59236" y="688829"/>
                </a:lnTo>
                <a:lnTo>
                  <a:pt x="72857" y="710833"/>
                </a:lnTo>
                <a:lnTo>
                  <a:pt x="126873" y="677379"/>
                </a:lnTo>
                <a:lnTo>
                  <a:pt x="113157" y="65535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68042" y="5744362"/>
            <a:ext cx="2362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Calls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show() </a:t>
            </a: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1800" b="1" i="0" u="none" strike="noStrike" kern="1200" cap="none" spc="-9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class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96341"/>
            <a:ext cx="6101715" cy="985519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520"/>
              </a:spcBef>
            </a:pPr>
            <a:r>
              <a:rPr sz="3300" i="0" spc="-120" dirty="0">
                <a:solidFill>
                  <a:srgbClr val="000000"/>
                </a:solidFill>
                <a:latin typeface="Arial"/>
                <a:cs typeface="Arial"/>
              </a:rPr>
              <a:t>Does</a:t>
            </a:r>
            <a:r>
              <a:rPr sz="3300" i="0" spc="-3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300" i="0" spc="-105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3300" i="0" spc="-3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300" i="0" spc="-145" dirty="0">
                <a:solidFill>
                  <a:srgbClr val="000000"/>
                </a:solidFill>
                <a:latin typeface="Arial"/>
                <a:cs typeface="Arial"/>
              </a:rPr>
              <a:t>Following</a:t>
            </a:r>
            <a:r>
              <a:rPr sz="3300" i="0" spc="-2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300" i="0" spc="-120" dirty="0">
                <a:solidFill>
                  <a:srgbClr val="000000"/>
                </a:solidFill>
                <a:latin typeface="Arial"/>
                <a:cs typeface="Arial"/>
              </a:rPr>
              <a:t>Code</a:t>
            </a:r>
            <a:r>
              <a:rPr sz="3300" i="0" spc="-3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300" i="0" spc="-140" dirty="0">
                <a:solidFill>
                  <a:srgbClr val="000000"/>
                </a:solidFill>
                <a:latin typeface="Arial"/>
                <a:cs typeface="Arial"/>
              </a:rPr>
              <a:t>Snippet  </a:t>
            </a:r>
            <a:r>
              <a:rPr sz="3300" i="0" spc="-145" dirty="0">
                <a:solidFill>
                  <a:srgbClr val="000000"/>
                </a:solidFill>
                <a:latin typeface="Arial"/>
                <a:cs typeface="Arial"/>
              </a:rPr>
              <a:t>Represent </a:t>
            </a:r>
            <a:r>
              <a:rPr sz="3300" i="0" spc="-135" dirty="0">
                <a:solidFill>
                  <a:srgbClr val="000000"/>
                </a:solidFill>
                <a:latin typeface="Arial"/>
                <a:cs typeface="Arial"/>
              </a:rPr>
              <a:t>Method</a:t>
            </a:r>
            <a:r>
              <a:rPr sz="3300" i="0" spc="-3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300" i="0" spc="-150" dirty="0">
                <a:solidFill>
                  <a:srgbClr val="000000"/>
                </a:solidFill>
                <a:latin typeface="Arial"/>
                <a:cs typeface="Arial"/>
              </a:rPr>
              <a:t>Overriding?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62860" y="1585721"/>
            <a:ext cx="34950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</a:t>
            </a:r>
            <a:r>
              <a:rPr kumimoji="0" sz="1200" b="1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private void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show(int a, int</a:t>
            </a:r>
            <a:r>
              <a:rPr kumimoji="0" sz="1200" b="1" i="0" u="none" strike="noStrike" kern="1200" cap="none" spc="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05473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System.out.prinltn(“A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 “ +</a:t>
            </a:r>
            <a:r>
              <a:rPr kumimoji="0" sz="1200" b="1" i="0" u="none" strike="noStrike" kern="120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(a+b));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</a:t>
            </a:r>
            <a:r>
              <a:rPr kumimoji="0" sz="1200" b="1" i="0" u="none" strike="noStrike" kern="1200" cap="none" spc="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62860" y="2866135"/>
            <a:ext cx="3551554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3520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 extends</a:t>
            </a:r>
            <a:r>
              <a:rPr kumimoji="0" sz="1200" b="1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show(int a, int</a:t>
            </a:r>
            <a:r>
              <a:rPr kumimoji="0" sz="1200" b="1" i="0" u="none" strike="noStrike" kern="1200" cap="none" spc="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14173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System.out.prinltn(“A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 “ +</a:t>
            </a:r>
            <a:r>
              <a:rPr kumimoji="0" sz="1200" b="1" i="0" u="none" strike="noStrike" kern="1200" cap="none" spc="-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(a*b));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136779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 End of</a:t>
            </a:r>
            <a:r>
              <a:rPr kumimoji="0" sz="1200" b="1" i="0" u="none" strike="noStrike" kern="120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 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</a:t>
            </a:r>
            <a:r>
              <a:rPr kumimoji="0" sz="12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display()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/ End of</a:t>
            </a:r>
            <a:r>
              <a:rPr kumimoji="0" sz="120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55725" y="1545336"/>
            <a:ext cx="5201920" cy="3441700"/>
            <a:chOff x="1255725" y="1545336"/>
            <a:chExt cx="5201920" cy="3441700"/>
          </a:xfrm>
        </p:grpSpPr>
        <p:sp>
          <p:nvSpPr>
            <p:cNvPr id="6" name="object 6"/>
            <p:cNvSpPr/>
            <p:nvPr/>
          </p:nvSpPr>
          <p:spPr>
            <a:xfrm>
              <a:off x="2484881" y="1558290"/>
              <a:ext cx="3959860" cy="3415665"/>
            </a:xfrm>
            <a:custGeom>
              <a:avLst/>
              <a:gdLst/>
              <a:ahLst/>
              <a:cxnLst/>
              <a:rect l="l" t="t" r="r" b="b"/>
              <a:pathLst>
                <a:path w="3959860" h="3415665">
                  <a:moveTo>
                    <a:pt x="0" y="3415284"/>
                  </a:moveTo>
                  <a:lnTo>
                    <a:pt x="3959352" y="3415284"/>
                  </a:lnTo>
                  <a:lnTo>
                    <a:pt x="3959352" y="0"/>
                  </a:lnTo>
                  <a:lnTo>
                    <a:pt x="0" y="0"/>
                  </a:lnTo>
                  <a:lnTo>
                    <a:pt x="0" y="3415284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255725" y="2058162"/>
              <a:ext cx="2212975" cy="1022985"/>
            </a:xfrm>
            <a:custGeom>
              <a:avLst/>
              <a:gdLst/>
              <a:ahLst/>
              <a:cxnLst/>
              <a:rect l="l" t="t" r="r" b="b"/>
              <a:pathLst>
                <a:path w="2212975" h="1022985">
                  <a:moveTo>
                    <a:pt x="94284" y="956310"/>
                  </a:moveTo>
                  <a:lnTo>
                    <a:pt x="0" y="999363"/>
                  </a:lnTo>
                  <a:lnTo>
                    <a:pt x="10769" y="1022985"/>
                  </a:lnTo>
                  <a:lnTo>
                    <a:pt x="105079" y="979932"/>
                  </a:lnTo>
                  <a:lnTo>
                    <a:pt x="94284" y="956310"/>
                  </a:lnTo>
                  <a:close/>
                </a:path>
                <a:path w="2212975" h="1022985">
                  <a:moveTo>
                    <a:pt x="259257" y="880999"/>
                  </a:moveTo>
                  <a:lnTo>
                    <a:pt x="165023" y="924051"/>
                  </a:lnTo>
                  <a:lnTo>
                    <a:pt x="175691" y="947547"/>
                  </a:lnTo>
                  <a:lnTo>
                    <a:pt x="270052" y="904493"/>
                  </a:lnTo>
                  <a:lnTo>
                    <a:pt x="259257" y="880999"/>
                  </a:lnTo>
                  <a:close/>
                </a:path>
                <a:path w="2212975" h="1022985">
                  <a:moveTo>
                    <a:pt x="424230" y="805688"/>
                  </a:moveTo>
                  <a:lnTo>
                    <a:pt x="329996" y="848740"/>
                  </a:lnTo>
                  <a:lnTo>
                    <a:pt x="340664" y="872236"/>
                  </a:lnTo>
                  <a:lnTo>
                    <a:pt x="435025" y="829183"/>
                  </a:lnTo>
                  <a:lnTo>
                    <a:pt x="424230" y="805688"/>
                  </a:lnTo>
                  <a:close/>
                </a:path>
                <a:path w="2212975" h="1022985">
                  <a:moveTo>
                    <a:pt x="589203" y="730250"/>
                  </a:moveTo>
                  <a:lnTo>
                    <a:pt x="494842" y="773302"/>
                  </a:lnTo>
                  <a:lnTo>
                    <a:pt x="505637" y="796925"/>
                  </a:lnTo>
                  <a:lnTo>
                    <a:pt x="599871" y="753872"/>
                  </a:lnTo>
                  <a:lnTo>
                    <a:pt x="589203" y="730250"/>
                  </a:lnTo>
                  <a:close/>
                </a:path>
                <a:path w="2212975" h="1022985">
                  <a:moveTo>
                    <a:pt x="754176" y="654938"/>
                  </a:moveTo>
                  <a:lnTo>
                    <a:pt x="659815" y="697991"/>
                  </a:lnTo>
                  <a:lnTo>
                    <a:pt x="670610" y="721613"/>
                  </a:lnTo>
                  <a:lnTo>
                    <a:pt x="764844" y="678561"/>
                  </a:lnTo>
                  <a:lnTo>
                    <a:pt x="754176" y="654938"/>
                  </a:lnTo>
                  <a:close/>
                </a:path>
                <a:path w="2212975" h="1022985">
                  <a:moveTo>
                    <a:pt x="919149" y="579627"/>
                  </a:moveTo>
                  <a:lnTo>
                    <a:pt x="824788" y="622680"/>
                  </a:lnTo>
                  <a:lnTo>
                    <a:pt x="835583" y="646302"/>
                  </a:lnTo>
                  <a:lnTo>
                    <a:pt x="929817" y="603250"/>
                  </a:lnTo>
                  <a:lnTo>
                    <a:pt x="919149" y="579627"/>
                  </a:lnTo>
                  <a:close/>
                </a:path>
                <a:path w="2212975" h="1022985">
                  <a:moveTo>
                    <a:pt x="1084122" y="504316"/>
                  </a:moveTo>
                  <a:lnTo>
                    <a:pt x="989761" y="547370"/>
                  </a:lnTo>
                  <a:lnTo>
                    <a:pt x="1000556" y="570864"/>
                  </a:lnTo>
                  <a:lnTo>
                    <a:pt x="1094790" y="527812"/>
                  </a:lnTo>
                  <a:lnTo>
                    <a:pt x="1084122" y="504316"/>
                  </a:lnTo>
                  <a:close/>
                </a:path>
                <a:path w="2212975" h="1022985">
                  <a:moveTo>
                    <a:pt x="1249095" y="429005"/>
                  </a:moveTo>
                  <a:lnTo>
                    <a:pt x="1154734" y="472059"/>
                  </a:lnTo>
                  <a:lnTo>
                    <a:pt x="1165529" y="495553"/>
                  </a:lnTo>
                  <a:lnTo>
                    <a:pt x="1259763" y="452500"/>
                  </a:lnTo>
                  <a:lnTo>
                    <a:pt x="1249095" y="429005"/>
                  </a:lnTo>
                  <a:close/>
                </a:path>
                <a:path w="2212975" h="1022985">
                  <a:moveTo>
                    <a:pt x="1414068" y="353567"/>
                  </a:moveTo>
                  <a:lnTo>
                    <a:pt x="1319707" y="396621"/>
                  </a:lnTo>
                  <a:lnTo>
                    <a:pt x="1330502" y="420242"/>
                  </a:lnTo>
                  <a:lnTo>
                    <a:pt x="1424736" y="377189"/>
                  </a:lnTo>
                  <a:lnTo>
                    <a:pt x="1414068" y="353567"/>
                  </a:lnTo>
                  <a:close/>
                </a:path>
                <a:path w="2212975" h="1022985">
                  <a:moveTo>
                    <a:pt x="1578914" y="278257"/>
                  </a:moveTo>
                  <a:lnTo>
                    <a:pt x="1484680" y="321310"/>
                  </a:lnTo>
                  <a:lnTo>
                    <a:pt x="1495475" y="344932"/>
                  </a:lnTo>
                  <a:lnTo>
                    <a:pt x="1589709" y="301878"/>
                  </a:lnTo>
                  <a:lnTo>
                    <a:pt x="1578914" y="278257"/>
                  </a:lnTo>
                  <a:close/>
                </a:path>
                <a:path w="2212975" h="1022985">
                  <a:moveTo>
                    <a:pt x="1743887" y="202946"/>
                  </a:moveTo>
                  <a:lnTo>
                    <a:pt x="1649653" y="245999"/>
                  </a:lnTo>
                  <a:lnTo>
                    <a:pt x="1660448" y="269621"/>
                  </a:lnTo>
                  <a:lnTo>
                    <a:pt x="1754682" y="226567"/>
                  </a:lnTo>
                  <a:lnTo>
                    <a:pt x="1743887" y="202946"/>
                  </a:lnTo>
                  <a:close/>
                </a:path>
                <a:path w="2212975" h="1022985">
                  <a:moveTo>
                    <a:pt x="1908860" y="127635"/>
                  </a:moveTo>
                  <a:lnTo>
                    <a:pt x="1814626" y="170687"/>
                  </a:lnTo>
                  <a:lnTo>
                    <a:pt x="1825421" y="194183"/>
                  </a:lnTo>
                  <a:lnTo>
                    <a:pt x="1919655" y="151129"/>
                  </a:lnTo>
                  <a:lnTo>
                    <a:pt x="1908860" y="127635"/>
                  </a:lnTo>
                  <a:close/>
                </a:path>
                <a:path w="2212975" h="1022985">
                  <a:moveTo>
                    <a:pt x="2073833" y="52324"/>
                  </a:moveTo>
                  <a:lnTo>
                    <a:pt x="1979599" y="95376"/>
                  </a:lnTo>
                  <a:lnTo>
                    <a:pt x="1990394" y="118872"/>
                  </a:lnTo>
                  <a:lnTo>
                    <a:pt x="2084628" y="75818"/>
                  </a:lnTo>
                  <a:lnTo>
                    <a:pt x="2073833" y="52324"/>
                  </a:lnTo>
                  <a:close/>
                </a:path>
                <a:path w="2212975" h="1022985">
                  <a:moveTo>
                    <a:pt x="2126030" y="0"/>
                  </a:moveTo>
                  <a:lnTo>
                    <a:pt x="2158288" y="70738"/>
                  </a:lnTo>
                  <a:lnTo>
                    <a:pt x="2180214" y="43561"/>
                  </a:lnTo>
                  <a:lnTo>
                    <a:pt x="2155367" y="43561"/>
                  </a:lnTo>
                  <a:lnTo>
                    <a:pt x="2144572" y="19938"/>
                  </a:lnTo>
                  <a:lnTo>
                    <a:pt x="2148509" y="18161"/>
                  </a:lnTo>
                  <a:lnTo>
                    <a:pt x="2200706" y="18161"/>
                  </a:lnTo>
                  <a:lnTo>
                    <a:pt x="2212898" y="3048"/>
                  </a:lnTo>
                  <a:lnTo>
                    <a:pt x="2126030" y="0"/>
                  </a:lnTo>
                  <a:close/>
                </a:path>
                <a:path w="2212975" h="1022985">
                  <a:moveTo>
                    <a:pt x="2148509" y="18161"/>
                  </a:moveTo>
                  <a:lnTo>
                    <a:pt x="2144572" y="19938"/>
                  </a:lnTo>
                  <a:lnTo>
                    <a:pt x="2155367" y="43561"/>
                  </a:lnTo>
                  <a:lnTo>
                    <a:pt x="2159304" y="41783"/>
                  </a:lnTo>
                  <a:lnTo>
                    <a:pt x="2148509" y="18161"/>
                  </a:lnTo>
                  <a:close/>
                </a:path>
                <a:path w="2212975" h="1022985">
                  <a:moveTo>
                    <a:pt x="2200706" y="18161"/>
                  </a:moveTo>
                  <a:lnTo>
                    <a:pt x="2148509" y="18161"/>
                  </a:lnTo>
                  <a:lnTo>
                    <a:pt x="2159304" y="41783"/>
                  </a:lnTo>
                  <a:lnTo>
                    <a:pt x="2155367" y="43561"/>
                  </a:lnTo>
                  <a:lnTo>
                    <a:pt x="2180214" y="43561"/>
                  </a:lnTo>
                  <a:lnTo>
                    <a:pt x="2200706" y="1816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38452" y="5538012"/>
            <a:ext cx="6686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heavy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Arial Black"/>
                <a:ea typeface="+mn-ea"/>
                <a:cs typeface="Arial Black"/>
              </a:rPr>
              <a:t>NO. </a:t>
            </a:r>
            <a:r>
              <a:rPr kumimoji="0" sz="1800" b="0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Arial Black"/>
                <a:ea typeface="+mn-ea"/>
                <a:cs typeface="Arial Black"/>
              </a:rPr>
              <a:t>IT </a:t>
            </a:r>
            <a:r>
              <a:rPr kumimoji="0" sz="1800" b="0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Arial Black"/>
                <a:ea typeface="+mn-ea"/>
                <a:cs typeface="Arial Black"/>
              </a:rPr>
              <a:t>DOES </a:t>
            </a:r>
            <a:r>
              <a:rPr kumimoji="0" sz="1800" b="0" i="0" u="heavy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Arial Black"/>
                <a:ea typeface="+mn-ea"/>
                <a:cs typeface="Arial Black"/>
              </a:rPr>
              <a:t>NOT </a:t>
            </a:r>
            <a:r>
              <a:rPr kumimoji="0" sz="1800" b="0" i="0" u="heavy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Arial Black"/>
                <a:ea typeface="+mn-ea"/>
                <a:cs typeface="Arial Black"/>
              </a:rPr>
              <a:t>REPRESENT METHOD</a:t>
            </a:r>
            <a:r>
              <a:rPr kumimoji="0" sz="1800" b="0" i="0" u="heavy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Arial Black"/>
                <a:ea typeface="+mn-ea"/>
                <a:cs typeface="Arial Black"/>
              </a:rPr>
              <a:t> </a:t>
            </a:r>
            <a:r>
              <a:rPr kumimoji="0" sz="1800" b="0" i="0" u="heavy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Arial Black"/>
                <a:ea typeface="+mn-ea"/>
                <a:cs typeface="Arial Black"/>
              </a:rPr>
              <a:t>OVERRIDING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Black"/>
              <a:ea typeface="+mn-ea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9389" y="3087370"/>
            <a:ext cx="16275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280" marR="325755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Method</a:t>
            </a:r>
            <a:r>
              <a:rPr kumimoji="0" sz="1800" b="1" i="0" u="none" strike="noStrike" kern="1200" cap="none" spc="-1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 </a:t>
            </a:r>
            <a:r>
              <a:rPr kumimoji="0" sz="1800" b="1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Private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So,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Visible</a:t>
            </a:r>
            <a:r>
              <a:rPr kumimoji="0" sz="1800" b="1" i="0" u="none" strike="noStrike" kern="1200" cap="none" spc="-1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class</a:t>
            </a:r>
            <a:r>
              <a:rPr kumimoji="0" sz="1800" b="1" i="0" u="none" strike="noStrike" kern="1200" cap="none" spc="-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519250"/>
            <a:ext cx="8575675" cy="2367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lvl="0" indent="-342900" algn="just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F1141"/>
              </a:buClr>
              <a:buSzTx/>
              <a:buFontTx/>
              <a:buChar char="•"/>
              <a:tabLst>
                <a:tab pos="355600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sub-class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can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hide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static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(class method) of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super-class if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following conditions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are satisfied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for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  methods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870585" marR="0" lvl="1" indent="-457834" algn="just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871219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Methods</a:t>
            </a:r>
            <a:r>
              <a:rPr kumimoji="0" sz="2400" b="0" i="0" u="none" strike="noStrike" kern="1200" cap="none" spc="1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should</a:t>
            </a:r>
            <a:r>
              <a:rPr kumimoji="0" sz="2400" b="0" i="0" u="none" strike="noStrike" kern="1200" cap="none" spc="1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have</a:t>
            </a:r>
            <a:r>
              <a:rPr kumimoji="0" sz="2400" b="0" i="0" u="none" strike="noStrike" kern="1200" cap="none" spc="1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same</a:t>
            </a:r>
            <a:r>
              <a:rPr kumimoji="0" sz="2400" b="0" i="0" u="none" strike="noStrike" kern="1200" cap="none" spc="1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name,</a:t>
            </a:r>
            <a:r>
              <a:rPr kumimoji="0" sz="2400" b="0" i="0" u="none" strike="noStrike" kern="1200" cap="none" spc="1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same</a:t>
            </a:r>
            <a:r>
              <a:rPr kumimoji="0" sz="2400" b="0" i="0" u="none" strike="noStrike" kern="1200" cap="none" spc="1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signatures</a:t>
            </a:r>
            <a:r>
              <a:rPr kumimoji="0" sz="2400" b="0" i="0" u="none" strike="noStrike" kern="1200" cap="none" spc="1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and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870585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same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return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type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870585" marR="0" lvl="1" indent="-457834" algn="just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Tx/>
              <a:buAutoNum type="arabicPeriod" startAt="2"/>
              <a:tabLst>
                <a:tab pos="871219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Methods should be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static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and not instance (or</a:t>
            </a:r>
            <a:r>
              <a:rPr kumimoji="0" sz="2400" b="0" i="0" u="none" strike="noStrike" kern="1200" cap="none" spc="9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object)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29679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Method</a:t>
            </a:r>
            <a:r>
              <a:rPr sz="3600" i="0" spc="-3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Hiding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5302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Method </a:t>
            </a: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Hiding: Example</a:t>
            </a:r>
            <a:r>
              <a:rPr sz="3600" i="0" spc="-5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5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6334" y="1369567"/>
            <a:ext cx="551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</a:t>
            </a:r>
            <a:r>
              <a:rPr kumimoji="0" sz="1200" b="1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037" y="1701545"/>
            <a:ext cx="5759450" cy="1009015"/>
          </a:xfrm>
          <a:prstGeom prst="rect">
            <a:avLst/>
          </a:prstGeom>
          <a:ln w="25907">
            <a:solidFill>
              <a:srgbClr val="FF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public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static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show(int a,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int</a:t>
            </a:r>
            <a:r>
              <a:rPr kumimoji="0" sz="1400" b="1" i="0" u="none" strike="noStrike" kern="1200" cap="none" spc="-16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3430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System.out.println(“ Class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:”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+ (a +</a:t>
            </a:r>
            <a:r>
              <a:rPr kumimoji="0" sz="1400" b="1" i="0" u="none" strike="noStrike" kern="1200" cap="none" spc="-2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b));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End of</a:t>
            </a:r>
            <a:r>
              <a:rPr kumimoji="0" sz="1400" b="1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6334" y="2771902"/>
            <a:ext cx="1322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 extends</a:t>
            </a:r>
            <a:r>
              <a:rPr kumimoji="0" sz="1200" b="1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6334" y="3137661"/>
            <a:ext cx="85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5037" y="3268217"/>
            <a:ext cx="5759450" cy="1007744"/>
          </a:xfrm>
          <a:prstGeom prst="rect">
            <a:avLst/>
          </a:prstGeom>
          <a:ln w="25907">
            <a:solidFill>
              <a:srgbClr val="FF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public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static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show(int a,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int</a:t>
            </a:r>
            <a:r>
              <a:rPr kumimoji="0" sz="1400" b="1" i="0" u="none" strike="noStrike" kern="1200" cap="none" spc="-16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3430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System.out.println(“ Class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:”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+ (a *</a:t>
            </a:r>
            <a:r>
              <a:rPr kumimoji="0" sz="1400" b="1" i="0" u="none" strike="noStrike" kern="1200" cap="none" spc="-10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b));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 // End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</a:t>
            </a:r>
            <a:r>
              <a:rPr kumimoji="0" sz="1400" b="1" i="0" u="none" strike="noStrike" kern="1200" cap="none" spc="-4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334" y="4357242"/>
            <a:ext cx="22701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07744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</a:t>
            </a:r>
            <a:r>
              <a:rPr kumimoji="0" sz="1200" b="1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 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</a:t>
            </a:r>
            <a:r>
              <a:rPr kumimoji="0" sz="12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Test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public static</a:t>
            </a:r>
            <a:r>
              <a:rPr kumimoji="0" sz="1200" b="1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30988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61336" y="4906136"/>
            <a:ext cx="1397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9525" lvl="0" indent="0" algn="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main(String[]</a:t>
            </a:r>
            <a:r>
              <a:rPr kumimoji="0" sz="12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args)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508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</a:tabLst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a1	=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58944" y="5271896"/>
            <a:ext cx="322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new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73597" y="5271896"/>
            <a:ext cx="2819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</a:t>
            </a:r>
            <a:r>
              <a:rPr kumimoji="0" sz="12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)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;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489" y="5454802"/>
            <a:ext cx="10293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a1.show(5,6);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26465" algn="l"/>
              </a:tabLst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a1	=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44544" y="5820257"/>
            <a:ext cx="3225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new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58944" y="5820257"/>
            <a:ext cx="2863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B();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00734" y="6003747"/>
            <a:ext cx="1910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a1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  <a:r>
              <a:rPr kumimoji="0" sz="1200" b="1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</a:t>
            </a:r>
            <a:r>
              <a:rPr kumimoji="0" sz="1200" b="1" i="0" u="none" strike="noStrike" kern="1200" cap="none" spc="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</a:t>
            </a:r>
            <a:r>
              <a:rPr kumimoji="0" sz="1200" b="1" i="0" u="none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5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,</a:t>
            </a:r>
            <a:r>
              <a:rPr kumimoji="0" sz="1200" b="1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6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);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</a:t>
            </a:r>
            <a:r>
              <a:rPr kumimoji="0" sz="12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6334" y="6369507"/>
            <a:ext cx="14592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</a:t>
            </a:r>
            <a:r>
              <a:rPr kumimoji="0" sz="1200" b="1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Test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35344" y="2194560"/>
            <a:ext cx="657225" cy="515620"/>
          </a:xfrm>
          <a:custGeom>
            <a:avLst/>
            <a:gdLst/>
            <a:ahLst/>
            <a:cxnLst/>
            <a:rect l="l" t="t" r="r" b="b"/>
            <a:pathLst>
              <a:path w="657225" h="515619">
                <a:moveTo>
                  <a:pt x="17779" y="0"/>
                </a:moveTo>
                <a:lnTo>
                  <a:pt x="0" y="22860"/>
                </a:lnTo>
                <a:lnTo>
                  <a:pt x="68579" y="76200"/>
                </a:lnTo>
                <a:lnTo>
                  <a:pt x="86359" y="53339"/>
                </a:lnTo>
                <a:lnTo>
                  <a:pt x="17779" y="0"/>
                </a:lnTo>
                <a:close/>
              </a:path>
              <a:path w="657225" h="515619">
                <a:moveTo>
                  <a:pt x="109220" y="71119"/>
                </a:moveTo>
                <a:lnTo>
                  <a:pt x="91439" y="93979"/>
                </a:lnTo>
                <a:lnTo>
                  <a:pt x="160020" y="147319"/>
                </a:lnTo>
                <a:lnTo>
                  <a:pt x="177800" y="124460"/>
                </a:lnTo>
                <a:lnTo>
                  <a:pt x="109220" y="71119"/>
                </a:lnTo>
                <a:close/>
              </a:path>
              <a:path w="657225" h="515619">
                <a:moveTo>
                  <a:pt x="200659" y="142239"/>
                </a:moveTo>
                <a:lnTo>
                  <a:pt x="182879" y="165100"/>
                </a:lnTo>
                <a:lnTo>
                  <a:pt x="251459" y="218439"/>
                </a:lnTo>
                <a:lnTo>
                  <a:pt x="269239" y="195579"/>
                </a:lnTo>
                <a:lnTo>
                  <a:pt x="200659" y="142239"/>
                </a:lnTo>
                <a:close/>
              </a:path>
              <a:path w="657225" h="515619">
                <a:moveTo>
                  <a:pt x="292100" y="213360"/>
                </a:moveTo>
                <a:lnTo>
                  <a:pt x="274320" y="236219"/>
                </a:lnTo>
                <a:lnTo>
                  <a:pt x="342900" y="289560"/>
                </a:lnTo>
                <a:lnTo>
                  <a:pt x="360679" y="266700"/>
                </a:lnTo>
                <a:lnTo>
                  <a:pt x="292100" y="213360"/>
                </a:lnTo>
                <a:close/>
              </a:path>
              <a:path w="657225" h="515619">
                <a:moveTo>
                  <a:pt x="383539" y="284479"/>
                </a:moveTo>
                <a:lnTo>
                  <a:pt x="365759" y="307339"/>
                </a:lnTo>
                <a:lnTo>
                  <a:pt x="434212" y="360679"/>
                </a:lnTo>
                <a:lnTo>
                  <a:pt x="451992" y="337819"/>
                </a:lnTo>
                <a:lnTo>
                  <a:pt x="383539" y="284479"/>
                </a:lnTo>
                <a:close/>
              </a:path>
              <a:path w="657225" h="515619">
                <a:moveTo>
                  <a:pt x="474852" y="355600"/>
                </a:moveTo>
                <a:lnTo>
                  <a:pt x="457073" y="378460"/>
                </a:lnTo>
                <a:lnTo>
                  <a:pt x="525652" y="431673"/>
                </a:lnTo>
                <a:lnTo>
                  <a:pt x="543432" y="408939"/>
                </a:lnTo>
                <a:lnTo>
                  <a:pt x="474852" y="355600"/>
                </a:lnTo>
                <a:close/>
              </a:path>
              <a:path w="657225" h="515619">
                <a:moveTo>
                  <a:pt x="579504" y="473578"/>
                </a:moveTo>
                <a:lnTo>
                  <a:pt x="561721" y="496442"/>
                </a:lnTo>
                <a:lnTo>
                  <a:pt x="656971" y="515492"/>
                </a:lnTo>
                <a:lnTo>
                  <a:pt x="641178" y="482473"/>
                </a:lnTo>
                <a:lnTo>
                  <a:pt x="590930" y="482473"/>
                </a:lnTo>
                <a:lnTo>
                  <a:pt x="579504" y="473578"/>
                </a:lnTo>
                <a:close/>
              </a:path>
              <a:path w="657225" h="515619">
                <a:moveTo>
                  <a:pt x="597284" y="450718"/>
                </a:moveTo>
                <a:lnTo>
                  <a:pt x="579504" y="473578"/>
                </a:lnTo>
                <a:lnTo>
                  <a:pt x="590930" y="482473"/>
                </a:lnTo>
                <a:lnTo>
                  <a:pt x="608710" y="459613"/>
                </a:lnTo>
                <a:lnTo>
                  <a:pt x="597284" y="450718"/>
                </a:lnTo>
                <a:close/>
              </a:path>
              <a:path w="657225" h="515619">
                <a:moveTo>
                  <a:pt x="615060" y="427863"/>
                </a:moveTo>
                <a:lnTo>
                  <a:pt x="597284" y="450718"/>
                </a:lnTo>
                <a:lnTo>
                  <a:pt x="608710" y="459613"/>
                </a:lnTo>
                <a:lnTo>
                  <a:pt x="590930" y="482473"/>
                </a:lnTo>
                <a:lnTo>
                  <a:pt x="641178" y="482473"/>
                </a:lnTo>
                <a:lnTo>
                  <a:pt x="615060" y="427863"/>
                </a:lnTo>
                <a:close/>
              </a:path>
              <a:path w="657225" h="515619">
                <a:moveTo>
                  <a:pt x="566292" y="426592"/>
                </a:moveTo>
                <a:lnTo>
                  <a:pt x="548512" y="449452"/>
                </a:lnTo>
                <a:lnTo>
                  <a:pt x="579504" y="473578"/>
                </a:lnTo>
                <a:lnTo>
                  <a:pt x="597284" y="450718"/>
                </a:lnTo>
                <a:lnTo>
                  <a:pt x="566292" y="42659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433058" y="3070098"/>
            <a:ext cx="587375" cy="711835"/>
          </a:xfrm>
          <a:custGeom>
            <a:avLst/>
            <a:gdLst/>
            <a:ahLst/>
            <a:cxnLst/>
            <a:rect l="l" t="t" r="r" b="b"/>
            <a:pathLst>
              <a:path w="587375" h="711835">
                <a:moveTo>
                  <a:pt x="55117" y="625982"/>
                </a:moveTo>
                <a:lnTo>
                  <a:pt x="0" y="693165"/>
                </a:lnTo>
                <a:lnTo>
                  <a:pt x="22351" y="711581"/>
                </a:lnTo>
                <a:lnTo>
                  <a:pt x="77469" y="644397"/>
                </a:lnTo>
                <a:lnTo>
                  <a:pt x="55117" y="625982"/>
                </a:lnTo>
                <a:close/>
              </a:path>
              <a:path w="587375" h="711835">
                <a:moveTo>
                  <a:pt x="128523" y="536448"/>
                </a:moveTo>
                <a:lnTo>
                  <a:pt x="73406" y="603631"/>
                </a:lnTo>
                <a:lnTo>
                  <a:pt x="95758" y="622045"/>
                </a:lnTo>
                <a:lnTo>
                  <a:pt x="150875" y="554863"/>
                </a:lnTo>
                <a:lnTo>
                  <a:pt x="128523" y="536448"/>
                </a:lnTo>
                <a:close/>
              </a:path>
              <a:path w="587375" h="711835">
                <a:moveTo>
                  <a:pt x="201930" y="446913"/>
                </a:moveTo>
                <a:lnTo>
                  <a:pt x="146938" y="514096"/>
                </a:lnTo>
                <a:lnTo>
                  <a:pt x="169290" y="532384"/>
                </a:lnTo>
                <a:lnTo>
                  <a:pt x="224409" y="465327"/>
                </a:lnTo>
                <a:lnTo>
                  <a:pt x="201930" y="446913"/>
                </a:lnTo>
                <a:close/>
              </a:path>
              <a:path w="587375" h="711835">
                <a:moveTo>
                  <a:pt x="275463" y="357377"/>
                </a:moveTo>
                <a:lnTo>
                  <a:pt x="220344" y="424561"/>
                </a:lnTo>
                <a:lnTo>
                  <a:pt x="242696" y="442849"/>
                </a:lnTo>
                <a:lnTo>
                  <a:pt x="297814" y="375665"/>
                </a:lnTo>
                <a:lnTo>
                  <a:pt x="275463" y="357377"/>
                </a:lnTo>
                <a:close/>
              </a:path>
              <a:path w="587375" h="711835">
                <a:moveTo>
                  <a:pt x="348868" y="267842"/>
                </a:moveTo>
                <a:lnTo>
                  <a:pt x="293750" y="335025"/>
                </a:lnTo>
                <a:lnTo>
                  <a:pt x="316230" y="353313"/>
                </a:lnTo>
                <a:lnTo>
                  <a:pt x="371220" y="286130"/>
                </a:lnTo>
                <a:lnTo>
                  <a:pt x="348868" y="267842"/>
                </a:lnTo>
                <a:close/>
              </a:path>
              <a:path w="587375" h="711835">
                <a:moveTo>
                  <a:pt x="422274" y="178307"/>
                </a:moveTo>
                <a:lnTo>
                  <a:pt x="367284" y="245363"/>
                </a:lnTo>
                <a:lnTo>
                  <a:pt x="389636" y="263778"/>
                </a:lnTo>
                <a:lnTo>
                  <a:pt x="444753" y="196596"/>
                </a:lnTo>
                <a:lnTo>
                  <a:pt x="422274" y="178307"/>
                </a:lnTo>
                <a:close/>
              </a:path>
              <a:path w="587375" h="711835">
                <a:moveTo>
                  <a:pt x="495808" y="88646"/>
                </a:moveTo>
                <a:lnTo>
                  <a:pt x="440689" y="155828"/>
                </a:lnTo>
                <a:lnTo>
                  <a:pt x="463041" y="174243"/>
                </a:lnTo>
                <a:lnTo>
                  <a:pt x="518160" y="107061"/>
                </a:lnTo>
                <a:lnTo>
                  <a:pt x="495808" y="88646"/>
                </a:lnTo>
                <a:close/>
              </a:path>
              <a:path w="587375" h="711835">
                <a:moveTo>
                  <a:pt x="576660" y="46736"/>
                </a:moveTo>
                <a:lnTo>
                  <a:pt x="530097" y="46736"/>
                </a:lnTo>
                <a:lnTo>
                  <a:pt x="552576" y="65150"/>
                </a:lnTo>
                <a:lnTo>
                  <a:pt x="543395" y="76373"/>
                </a:lnTo>
                <a:lnTo>
                  <a:pt x="565785" y="94741"/>
                </a:lnTo>
                <a:lnTo>
                  <a:pt x="576660" y="46736"/>
                </a:lnTo>
                <a:close/>
              </a:path>
              <a:path w="587375" h="711835">
                <a:moveTo>
                  <a:pt x="520929" y="57941"/>
                </a:moveTo>
                <a:lnTo>
                  <a:pt x="514095" y="66293"/>
                </a:lnTo>
                <a:lnTo>
                  <a:pt x="536574" y="84709"/>
                </a:lnTo>
                <a:lnTo>
                  <a:pt x="543395" y="76373"/>
                </a:lnTo>
                <a:lnTo>
                  <a:pt x="520929" y="57941"/>
                </a:lnTo>
                <a:close/>
              </a:path>
              <a:path w="587375" h="711835">
                <a:moveTo>
                  <a:pt x="530097" y="46736"/>
                </a:moveTo>
                <a:lnTo>
                  <a:pt x="520929" y="57941"/>
                </a:lnTo>
                <a:lnTo>
                  <a:pt x="543395" y="76373"/>
                </a:lnTo>
                <a:lnTo>
                  <a:pt x="552576" y="65150"/>
                </a:lnTo>
                <a:lnTo>
                  <a:pt x="530097" y="46736"/>
                </a:lnTo>
                <a:close/>
              </a:path>
              <a:path w="587375" h="711835">
                <a:moveTo>
                  <a:pt x="587247" y="0"/>
                </a:moveTo>
                <a:lnTo>
                  <a:pt x="498601" y="39624"/>
                </a:lnTo>
                <a:lnTo>
                  <a:pt x="520929" y="57941"/>
                </a:lnTo>
                <a:lnTo>
                  <a:pt x="530097" y="46736"/>
                </a:lnTo>
                <a:lnTo>
                  <a:pt x="576660" y="46736"/>
                </a:lnTo>
                <a:lnTo>
                  <a:pt x="58724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78726" y="2475357"/>
            <a:ext cx="15760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-635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class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 hides a  </a:t>
            </a: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static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method</a:t>
            </a:r>
            <a:r>
              <a:rPr kumimoji="0" sz="1800" b="1" i="0" u="none" strike="noStrike" kern="1200" cap="none" spc="-1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super-class</a:t>
            </a:r>
            <a:r>
              <a:rPr kumimoji="0" sz="1800" b="1" i="0" u="none" strike="noStrike" kern="1200" cap="none" spc="-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81850" y="4955540"/>
            <a:ext cx="1093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OUTPUT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07860" y="5687364"/>
            <a:ext cx="24199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class A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Method:</a:t>
            </a:r>
            <a:r>
              <a:rPr kumimoji="0" sz="2400" b="1" i="0" u="none" strike="noStrike" kern="1200" cap="none" spc="-1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11  class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Method:</a:t>
            </a:r>
            <a:r>
              <a:rPr kumimoji="0" sz="2400" b="1" i="0" u="none" strike="noStrike" kern="1200" cap="none" spc="-9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11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5302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Method </a:t>
            </a: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Hiding: Example</a:t>
            </a:r>
            <a:r>
              <a:rPr sz="3600" i="0" spc="-5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5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6334" y="1369567"/>
            <a:ext cx="551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</a:t>
            </a:r>
            <a:r>
              <a:rPr kumimoji="0" sz="1200" b="1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037" y="1701545"/>
            <a:ext cx="5759450" cy="1009015"/>
          </a:xfrm>
          <a:prstGeom prst="rect">
            <a:avLst/>
          </a:prstGeom>
          <a:ln w="25907">
            <a:solidFill>
              <a:srgbClr val="FF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protected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static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 show(int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a,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int</a:t>
            </a:r>
            <a:r>
              <a:rPr kumimoji="0" sz="1400" b="1" i="0" u="none" strike="noStrike" kern="1200" cap="none" spc="-1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3430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System.out.println(“ Class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:”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+ (a +</a:t>
            </a:r>
            <a:r>
              <a:rPr kumimoji="0" sz="1400" b="1" i="0" u="none" strike="noStrike" kern="1200" cap="none" spc="-2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b));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End of</a:t>
            </a:r>
            <a:r>
              <a:rPr kumimoji="0" sz="1400" b="1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6334" y="2771902"/>
            <a:ext cx="1322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 extends</a:t>
            </a:r>
            <a:r>
              <a:rPr kumimoji="0" sz="1200" b="1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6334" y="3137661"/>
            <a:ext cx="85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5037" y="3268217"/>
            <a:ext cx="5759450" cy="1007744"/>
          </a:xfrm>
          <a:prstGeom prst="rect">
            <a:avLst/>
          </a:prstGeom>
          <a:ln w="25907">
            <a:solidFill>
              <a:srgbClr val="FF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public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static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 show(int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a,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int</a:t>
            </a:r>
            <a:r>
              <a:rPr kumimoji="0" sz="1400" b="1" i="0" u="none" strike="noStrike" kern="1200" cap="none" spc="-14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3430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System.out.println(“ Class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:”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+ (a *</a:t>
            </a:r>
            <a:r>
              <a:rPr kumimoji="0" sz="1400" b="1" i="0" u="none" strike="noStrike" kern="1200" cap="none" spc="-10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b));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 // End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</a:t>
            </a:r>
            <a:r>
              <a:rPr kumimoji="0" sz="1400" b="1" i="0" u="none" strike="noStrike" kern="1200" cap="none" spc="-4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334" y="4357242"/>
            <a:ext cx="22701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07744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</a:t>
            </a:r>
            <a:r>
              <a:rPr kumimoji="0" sz="1200" b="1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 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</a:t>
            </a:r>
            <a:r>
              <a:rPr kumimoji="0" sz="12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Test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public static</a:t>
            </a:r>
            <a:r>
              <a:rPr kumimoji="0" sz="1200" b="1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61336" y="4906136"/>
            <a:ext cx="13931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main(String[]</a:t>
            </a:r>
            <a:r>
              <a:rPr kumimoji="0" sz="1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args)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35344" y="2194560"/>
            <a:ext cx="657225" cy="515620"/>
          </a:xfrm>
          <a:custGeom>
            <a:avLst/>
            <a:gdLst/>
            <a:ahLst/>
            <a:cxnLst/>
            <a:rect l="l" t="t" r="r" b="b"/>
            <a:pathLst>
              <a:path w="657225" h="515619">
                <a:moveTo>
                  <a:pt x="17779" y="0"/>
                </a:moveTo>
                <a:lnTo>
                  <a:pt x="0" y="22860"/>
                </a:lnTo>
                <a:lnTo>
                  <a:pt x="68579" y="76200"/>
                </a:lnTo>
                <a:lnTo>
                  <a:pt x="86359" y="53339"/>
                </a:lnTo>
                <a:lnTo>
                  <a:pt x="17779" y="0"/>
                </a:lnTo>
                <a:close/>
              </a:path>
              <a:path w="657225" h="515619">
                <a:moveTo>
                  <a:pt x="109220" y="71119"/>
                </a:moveTo>
                <a:lnTo>
                  <a:pt x="91439" y="93979"/>
                </a:lnTo>
                <a:lnTo>
                  <a:pt x="160020" y="147319"/>
                </a:lnTo>
                <a:lnTo>
                  <a:pt x="177800" y="124460"/>
                </a:lnTo>
                <a:lnTo>
                  <a:pt x="109220" y="71119"/>
                </a:lnTo>
                <a:close/>
              </a:path>
              <a:path w="657225" h="515619">
                <a:moveTo>
                  <a:pt x="200659" y="142239"/>
                </a:moveTo>
                <a:lnTo>
                  <a:pt x="182879" y="165100"/>
                </a:lnTo>
                <a:lnTo>
                  <a:pt x="251459" y="218439"/>
                </a:lnTo>
                <a:lnTo>
                  <a:pt x="269239" y="195579"/>
                </a:lnTo>
                <a:lnTo>
                  <a:pt x="200659" y="142239"/>
                </a:lnTo>
                <a:close/>
              </a:path>
              <a:path w="657225" h="515619">
                <a:moveTo>
                  <a:pt x="292100" y="213360"/>
                </a:moveTo>
                <a:lnTo>
                  <a:pt x="274320" y="236219"/>
                </a:lnTo>
                <a:lnTo>
                  <a:pt x="342900" y="289560"/>
                </a:lnTo>
                <a:lnTo>
                  <a:pt x="360679" y="266700"/>
                </a:lnTo>
                <a:lnTo>
                  <a:pt x="292100" y="213360"/>
                </a:lnTo>
                <a:close/>
              </a:path>
              <a:path w="657225" h="515619">
                <a:moveTo>
                  <a:pt x="383539" y="284479"/>
                </a:moveTo>
                <a:lnTo>
                  <a:pt x="365759" y="307339"/>
                </a:lnTo>
                <a:lnTo>
                  <a:pt x="434212" y="360679"/>
                </a:lnTo>
                <a:lnTo>
                  <a:pt x="451992" y="337819"/>
                </a:lnTo>
                <a:lnTo>
                  <a:pt x="383539" y="284479"/>
                </a:lnTo>
                <a:close/>
              </a:path>
              <a:path w="657225" h="515619">
                <a:moveTo>
                  <a:pt x="474852" y="355600"/>
                </a:moveTo>
                <a:lnTo>
                  <a:pt x="457073" y="378460"/>
                </a:lnTo>
                <a:lnTo>
                  <a:pt x="525652" y="431673"/>
                </a:lnTo>
                <a:lnTo>
                  <a:pt x="543432" y="408939"/>
                </a:lnTo>
                <a:lnTo>
                  <a:pt x="474852" y="355600"/>
                </a:lnTo>
                <a:close/>
              </a:path>
              <a:path w="657225" h="515619">
                <a:moveTo>
                  <a:pt x="579504" y="473578"/>
                </a:moveTo>
                <a:lnTo>
                  <a:pt x="561721" y="496442"/>
                </a:lnTo>
                <a:lnTo>
                  <a:pt x="656971" y="515492"/>
                </a:lnTo>
                <a:lnTo>
                  <a:pt x="641178" y="482473"/>
                </a:lnTo>
                <a:lnTo>
                  <a:pt x="590930" y="482473"/>
                </a:lnTo>
                <a:lnTo>
                  <a:pt x="579504" y="473578"/>
                </a:lnTo>
                <a:close/>
              </a:path>
              <a:path w="657225" h="515619">
                <a:moveTo>
                  <a:pt x="597284" y="450718"/>
                </a:moveTo>
                <a:lnTo>
                  <a:pt x="579504" y="473578"/>
                </a:lnTo>
                <a:lnTo>
                  <a:pt x="590930" y="482473"/>
                </a:lnTo>
                <a:lnTo>
                  <a:pt x="608710" y="459613"/>
                </a:lnTo>
                <a:lnTo>
                  <a:pt x="597284" y="450718"/>
                </a:lnTo>
                <a:close/>
              </a:path>
              <a:path w="657225" h="515619">
                <a:moveTo>
                  <a:pt x="615060" y="427863"/>
                </a:moveTo>
                <a:lnTo>
                  <a:pt x="597284" y="450718"/>
                </a:lnTo>
                <a:lnTo>
                  <a:pt x="608710" y="459613"/>
                </a:lnTo>
                <a:lnTo>
                  <a:pt x="590930" y="482473"/>
                </a:lnTo>
                <a:lnTo>
                  <a:pt x="641178" y="482473"/>
                </a:lnTo>
                <a:lnTo>
                  <a:pt x="615060" y="427863"/>
                </a:lnTo>
                <a:close/>
              </a:path>
              <a:path w="657225" h="515619">
                <a:moveTo>
                  <a:pt x="566292" y="426592"/>
                </a:moveTo>
                <a:lnTo>
                  <a:pt x="548512" y="449452"/>
                </a:lnTo>
                <a:lnTo>
                  <a:pt x="579504" y="473578"/>
                </a:lnTo>
                <a:lnTo>
                  <a:pt x="597284" y="450718"/>
                </a:lnTo>
                <a:lnTo>
                  <a:pt x="566292" y="42659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433058" y="3070098"/>
            <a:ext cx="587375" cy="711835"/>
          </a:xfrm>
          <a:custGeom>
            <a:avLst/>
            <a:gdLst/>
            <a:ahLst/>
            <a:cxnLst/>
            <a:rect l="l" t="t" r="r" b="b"/>
            <a:pathLst>
              <a:path w="587375" h="711835">
                <a:moveTo>
                  <a:pt x="55117" y="625982"/>
                </a:moveTo>
                <a:lnTo>
                  <a:pt x="0" y="693165"/>
                </a:lnTo>
                <a:lnTo>
                  <a:pt x="22351" y="711581"/>
                </a:lnTo>
                <a:lnTo>
                  <a:pt x="77469" y="644397"/>
                </a:lnTo>
                <a:lnTo>
                  <a:pt x="55117" y="625982"/>
                </a:lnTo>
                <a:close/>
              </a:path>
              <a:path w="587375" h="711835">
                <a:moveTo>
                  <a:pt x="128523" y="536448"/>
                </a:moveTo>
                <a:lnTo>
                  <a:pt x="73406" y="603631"/>
                </a:lnTo>
                <a:lnTo>
                  <a:pt x="95758" y="622045"/>
                </a:lnTo>
                <a:lnTo>
                  <a:pt x="150875" y="554863"/>
                </a:lnTo>
                <a:lnTo>
                  <a:pt x="128523" y="536448"/>
                </a:lnTo>
                <a:close/>
              </a:path>
              <a:path w="587375" h="711835">
                <a:moveTo>
                  <a:pt x="201930" y="446913"/>
                </a:moveTo>
                <a:lnTo>
                  <a:pt x="146938" y="514096"/>
                </a:lnTo>
                <a:lnTo>
                  <a:pt x="169290" y="532384"/>
                </a:lnTo>
                <a:lnTo>
                  <a:pt x="224409" y="465327"/>
                </a:lnTo>
                <a:lnTo>
                  <a:pt x="201930" y="446913"/>
                </a:lnTo>
                <a:close/>
              </a:path>
              <a:path w="587375" h="711835">
                <a:moveTo>
                  <a:pt x="275463" y="357377"/>
                </a:moveTo>
                <a:lnTo>
                  <a:pt x="220344" y="424561"/>
                </a:lnTo>
                <a:lnTo>
                  <a:pt x="242696" y="442849"/>
                </a:lnTo>
                <a:lnTo>
                  <a:pt x="297814" y="375665"/>
                </a:lnTo>
                <a:lnTo>
                  <a:pt x="275463" y="357377"/>
                </a:lnTo>
                <a:close/>
              </a:path>
              <a:path w="587375" h="711835">
                <a:moveTo>
                  <a:pt x="348868" y="267842"/>
                </a:moveTo>
                <a:lnTo>
                  <a:pt x="293750" y="335025"/>
                </a:lnTo>
                <a:lnTo>
                  <a:pt x="316230" y="353313"/>
                </a:lnTo>
                <a:lnTo>
                  <a:pt x="371220" y="286130"/>
                </a:lnTo>
                <a:lnTo>
                  <a:pt x="348868" y="267842"/>
                </a:lnTo>
                <a:close/>
              </a:path>
              <a:path w="587375" h="711835">
                <a:moveTo>
                  <a:pt x="422274" y="178307"/>
                </a:moveTo>
                <a:lnTo>
                  <a:pt x="367284" y="245363"/>
                </a:lnTo>
                <a:lnTo>
                  <a:pt x="389636" y="263778"/>
                </a:lnTo>
                <a:lnTo>
                  <a:pt x="444753" y="196596"/>
                </a:lnTo>
                <a:lnTo>
                  <a:pt x="422274" y="178307"/>
                </a:lnTo>
                <a:close/>
              </a:path>
              <a:path w="587375" h="711835">
                <a:moveTo>
                  <a:pt x="495808" y="88646"/>
                </a:moveTo>
                <a:lnTo>
                  <a:pt x="440689" y="155828"/>
                </a:lnTo>
                <a:lnTo>
                  <a:pt x="463041" y="174243"/>
                </a:lnTo>
                <a:lnTo>
                  <a:pt x="518160" y="107061"/>
                </a:lnTo>
                <a:lnTo>
                  <a:pt x="495808" y="88646"/>
                </a:lnTo>
                <a:close/>
              </a:path>
              <a:path w="587375" h="711835">
                <a:moveTo>
                  <a:pt x="576660" y="46736"/>
                </a:moveTo>
                <a:lnTo>
                  <a:pt x="530097" y="46736"/>
                </a:lnTo>
                <a:lnTo>
                  <a:pt x="552576" y="65150"/>
                </a:lnTo>
                <a:lnTo>
                  <a:pt x="543395" y="76373"/>
                </a:lnTo>
                <a:lnTo>
                  <a:pt x="565785" y="94741"/>
                </a:lnTo>
                <a:lnTo>
                  <a:pt x="576660" y="46736"/>
                </a:lnTo>
                <a:close/>
              </a:path>
              <a:path w="587375" h="711835">
                <a:moveTo>
                  <a:pt x="520929" y="57941"/>
                </a:moveTo>
                <a:lnTo>
                  <a:pt x="514095" y="66293"/>
                </a:lnTo>
                <a:lnTo>
                  <a:pt x="536574" y="84709"/>
                </a:lnTo>
                <a:lnTo>
                  <a:pt x="543395" y="76373"/>
                </a:lnTo>
                <a:lnTo>
                  <a:pt x="520929" y="57941"/>
                </a:lnTo>
                <a:close/>
              </a:path>
              <a:path w="587375" h="711835">
                <a:moveTo>
                  <a:pt x="530097" y="46736"/>
                </a:moveTo>
                <a:lnTo>
                  <a:pt x="520929" y="57941"/>
                </a:lnTo>
                <a:lnTo>
                  <a:pt x="543395" y="76373"/>
                </a:lnTo>
                <a:lnTo>
                  <a:pt x="552576" y="65150"/>
                </a:lnTo>
                <a:lnTo>
                  <a:pt x="530097" y="46736"/>
                </a:lnTo>
                <a:close/>
              </a:path>
              <a:path w="587375" h="711835">
                <a:moveTo>
                  <a:pt x="587247" y="0"/>
                </a:moveTo>
                <a:lnTo>
                  <a:pt x="498601" y="39624"/>
                </a:lnTo>
                <a:lnTo>
                  <a:pt x="520929" y="57941"/>
                </a:lnTo>
                <a:lnTo>
                  <a:pt x="530097" y="46736"/>
                </a:lnTo>
                <a:lnTo>
                  <a:pt x="576660" y="46736"/>
                </a:lnTo>
                <a:lnTo>
                  <a:pt x="58724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78726" y="2475357"/>
            <a:ext cx="15760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-635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class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 hides a  </a:t>
            </a:r>
            <a:r>
              <a:rPr kumimoji="0" sz="18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static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method</a:t>
            </a:r>
            <a:r>
              <a:rPr kumimoji="0" sz="1800" b="1" i="0" u="none" strike="noStrike" kern="1200" cap="none" spc="-1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 </a:t>
            </a:r>
            <a:r>
              <a:rPr kumimoji="0" sz="1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super-class</a:t>
            </a:r>
            <a:r>
              <a:rPr kumimoji="0" sz="1800" b="1" i="0" u="none" strike="noStrike" kern="1200" cap="none" spc="-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81850" y="5031740"/>
            <a:ext cx="109347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OUTPUT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00734" y="5103453"/>
            <a:ext cx="850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15489" y="5286333"/>
            <a:ext cx="1358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29889" y="5286333"/>
            <a:ext cx="19621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a1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44544" y="5286333"/>
            <a:ext cx="11493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=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58944" y="5286333"/>
            <a:ext cx="32258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new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73597" y="5286333"/>
            <a:ext cx="28194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</a:t>
            </a:r>
            <a:r>
              <a:rPr kumimoji="0" sz="12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)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;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15489" y="5469238"/>
            <a:ext cx="99504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a1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  <a:r>
              <a:rPr kumimoji="0" sz="1200" b="1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</a:t>
            </a:r>
            <a:r>
              <a:rPr kumimoji="0" sz="1200" b="1" i="0" u="none" strike="noStrike" kern="1200" cap="none" spc="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</a:t>
            </a:r>
            <a:r>
              <a:rPr kumimoji="0" sz="1200" b="1" i="0" u="none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5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,</a:t>
            </a:r>
            <a:r>
              <a:rPr kumimoji="0" sz="1200" b="1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6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);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07860" y="5763564"/>
            <a:ext cx="2419985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class A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Method:</a:t>
            </a:r>
            <a:r>
              <a:rPr kumimoji="0" sz="2400" b="1" i="0" u="none" strike="noStrike" kern="1200" cap="none" spc="-1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11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class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Method:</a:t>
            </a:r>
            <a:r>
              <a:rPr kumimoji="0" sz="2400" b="1" i="0" u="none" strike="noStrike" kern="1200" cap="none" spc="-9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11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15489" y="5834722"/>
            <a:ext cx="19621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a1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29889" y="5834722"/>
            <a:ext cx="11493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=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44544" y="5834722"/>
            <a:ext cx="32258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new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58944" y="5834722"/>
            <a:ext cx="28638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B();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6334" y="6018183"/>
            <a:ext cx="2824480" cy="561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0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a1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  <a:r>
              <a:rPr kumimoji="0" sz="1200" b="1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</a:t>
            </a:r>
            <a:r>
              <a:rPr kumimoji="0" sz="1200" b="1" i="0" u="none" strike="noStrike" kern="1200" cap="none" spc="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</a:t>
            </a:r>
            <a:r>
              <a:rPr kumimoji="0" sz="1200" b="1" i="0" u="none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5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,</a:t>
            </a:r>
            <a:r>
              <a:rPr kumimoji="0" sz="1200" b="1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6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);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</a:t>
            </a:r>
            <a:r>
              <a:rPr kumimoji="0" sz="12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 </a:t>
            </a:r>
            <a:r>
              <a:rPr kumimoji="0" sz="12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Test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5302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Method </a:t>
            </a: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Hiding: Example</a:t>
            </a:r>
            <a:r>
              <a:rPr sz="3600" i="0" spc="-5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5" dirty="0">
                <a:solidFill>
                  <a:srgbClr val="000000"/>
                </a:solidFill>
                <a:latin typeface="Arial"/>
                <a:cs typeface="Arial"/>
              </a:rPr>
              <a:t>3</a:t>
            </a:r>
            <a:endParaRPr sz="3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6334" y="6201063"/>
            <a:ext cx="2187575" cy="379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710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</a:t>
            </a:r>
            <a:r>
              <a:rPr kumimoji="0" sz="1200" b="1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</a:t>
            </a:r>
            <a:r>
              <a:rPr kumimoji="0" sz="1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Test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6334" y="1369567"/>
            <a:ext cx="551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</a:t>
            </a:r>
            <a:r>
              <a:rPr kumimoji="0" sz="1200" b="1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037" y="1701545"/>
            <a:ext cx="5759450" cy="1009015"/>
          </a:xfrm>
          <a:prstGeom prst="rect">
            <a:avLst/>
          </a:prstGeom>
          <a:ln w="25907">
            <a:solidFill>
              <a:srgbClr val="FF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public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static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 show(int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a,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int</a:t>
            </a:r>
            <a:r>
              <a:rPr kumimoji="0" sz="1400" b="1" i="0" u="none" strike="noStrike" kern="1200" cap="none" spc="-19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3430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System.out.println(“ Class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:”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+ (a +</a:t>
            </a:r>
            <a:r>
              <a:rPr kumimoji="0" sz="1400" b="1" i="0" u="none" strike="noStrike" kern="1200" cap="none" spc="-2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b));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End of</a:t>
            </a:r>
            <a:r>
              <a:rPr kumimoji="0" sz="1400" b="1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6334" y="2771902"/>
            <a:ext cx="1322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 extends</a:t>
            </a:r>
            <a:r>
              <a:rPr kumimoji="0" sz="1200" b="1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6334" y="3137661"/>
            <a:ext cx="85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5037" y="3268217"/>
            <a:ext cx="5759450" cy="1007744"/>
          </a:xfrm>
          <a:prstGeom prst="rect">
            <a:avLst/>
          </a:prstGeom>
          <a:ln w="25907">
            <a:solidFill>
              <a:srgbClr val="FF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public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 show(int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a,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int</a:t>
            </a:r>
            <a:r>
              <a:rPr kumimoji="0" sz="1400" b="1" i="0" u="none" strike="noStrike" kern="1200" cap="none" spc="-9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3430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System.out.println(“ Class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:”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+ (a *</a:t>
            </a:r>
            <a:r>
              <a:rPr kumimoji="0" sz="1400" b="1" i="0" u="none" strike="noStrike" kern="1200" cap="none" spc="-10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b));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 // End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</a:t>
            </a:r>
            <a:r>
              <a:rPr kumimoji="0" sz="1400" b="1" i="0" u="none" strike="noStrike" kern="1200" cap="none" spc="-4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334" y="4357242"/>
            <a:ext cx="22701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07744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</a:t>
            </a:r>
            <a:r>
              <a:rPr kumimoji="0" sz="1200" b="1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 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</a:t>
            </a:r>
            <a:r>
              <a:rPr kumimoji="0" sz="12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Test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public static</a:t>
            </a:r>
            <a:r>
              <a:rPr kumimoji="0" sz="1200" b="1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30988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61336" y="4906136"/>
            <a:ext cx="1397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9525" lvl="0" indent="0" algn="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main(String[]</a:t>
            </a:r>
            <a:r>
              <a:rPr kumimoji="0" sz="12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args)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508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</a:tabLst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a1	=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58944" y="5271896"/>
            <a:ext cx="322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new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73597" y="5271896"/>
            <a:ext cx="2819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</a:t>
            </a:r>
            <a:r>
              <a:rPr kumimoji="0" sz="12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)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;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489" y="5454802"/>
            <a:ext cx="10293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a1.show(5,6);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26465" algn="l"/>
              </a:tabLst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a1	=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a1.show(5,6);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44544" y="5820257"/>
            <a:ext cx="3225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new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58944" y="5820257"/>
            <a:ext cx="2863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B();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21551" y="5603849"/>
            <a:ext cx="19196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5780" marR="5080" lvl="0" indent="-513715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OMP</a:t>
            </a: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</a:t>
            </a:r>
            <a:r>
              <a:rPr kumimoji="0" sz="2400" b="1" i="0" u="none" strike="noStrike" kern="1200" cap="none" spc="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-TIME  ERROR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5302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Method </a:t>
            </a: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Hiding: Example</a:t>
            </a:r>
            <a:r>
              <a:rPr sz="3600" i="0" spc="-5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5" dirty="0">
                <a:solidFill>
                  <a:srgbClr val="000000"/>
                </a:solidFill>
                <a:latin typeface="Arial"/>
                <a:cs typeface="Arial"/>
              </a:rPr>
              <a:t>3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6334" y="1369567"/>
            <a:ext cx="551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</a:t>
            </a:r>
            <a:r>
              <a:rPr kumimoji="0" sz="1200" b="1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037" y="1701545"/>
            <a:ext cx="5759450" cy="1009015"/>
          </a:xfrm>
          <a:prstGeom prst="rect">
            <a:avLst/>
          </a:prstGeom>
          <a:ln w="25907">
            <a:solidFill>
              <a:srgbClr val="FF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public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static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 show(int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a,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int</a:t>
            </a:r>
            <a:r>
              <a:rPr kumimoji="0" sz="1400" b="1" i="0" u="none" strike="noStrike" kern="1200" cap="none" spc="-19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3430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System.out.println(“ Class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:”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+ (a +</a:t>
            </a:r>
            <a:r>
              <a:rPr kumimoji="0" sz="1400" b="1" i="0" u="none" strike="noStrike" kern="1200" cap="none" spc="-2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b));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End of</a:t>
            </a:r>
            <a:r>
              <a:rPr kumimoji="0" sz="1400" b="1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6334" y="2771902"/>
            <a:ext cx="1322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 extends</a:t>
            </a:r>
            <a:r>
              <a:rPr kumimoji="0" sz="1200" b="1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6334" y="3137661"/>
            <a:ext cx="850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5037" y="3268217"/>
            <a:ext cx="5759450" cy="1007744"/>
          </a:xfrm>
          <a:prstGeom prst="rect">
            <a:avLst/>
          </a:prstGeom>
          <a:ln w="25907">
            <a:solidFill>
              <a:srgbClr val="FF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protected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static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 show(int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a,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int</a:t>
            </a:r>
            <a:r>
              <a:rPr kumimoji="0" sz="1400" b="1" i="0" u="none" strike="noStrike" kern="1200" cap="none" spc="-14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3430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System.out.println(“ Class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 </a:t>
            </a:r>
            <a:r>
              <a:rPr kumimoji="0" sz="1400" b="1" i="0" u="none" strike="noStrike" kern="1200" cap="none" spc="-1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:” 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+ (a *</a:t>
            </a:r>
            <a:r>
              <a:rPr kumimoji="0" sz="1400" b="1" i="0" u="none" strike="noStrike" kern="1200" cap="none" spc="-10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b));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42799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 // End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</a:t>
            </a:r>
            <a:r>
              <a:rPr kumimoji="0" sz="1400" b="1" i="0" u="none" strike="noStrike" kern="1200" cap="none" spc="-4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400" b="1" i="0" u="none" strike="noStrike" kern="1200" cap="none" spc="-5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334" y="4357242"/>
            <a:ext cx="22701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07744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</a:t>
            </a:r>
            <a:r>
              <a:rPr kumimoji="0" sz="1200" b="1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 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class</a:t>
            </a:r>
            <a:r>
              <a:rPr kumimoji="0" sz="12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Test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public static</a:t>
            </a:r>
            <a:r>
              <a:rPr kumimoji="0" sz="1200" b="1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void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{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30988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61336" y="4906136"/>
            <a:ext cx="1397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9525" lvl="0" indent="0" algn="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main(String[]</a:t>
            </a:r>
            <a:r>
              <a:rPr kumimoji="0" sz="12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args)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508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</a:tabLst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a1	=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58944" y="5271896"/>
            <a:ext cx="322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new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73597" y="5271896"/>
            <a:ext cx="2819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</a:t>
            </a:r>
            <a:r>
              <a:rPr kumimoji="0" sz="12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)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;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5489" y="5454802"/>
            <a:ext cx="10293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a1.show(5,6);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26465" algn="l"/>
              </a:tabLst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a1	=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44544" y="5820257"/>
            <a:ext cx="3225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new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58944" y="5820257"/>
            <a:ext cx="2863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B();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00734" y="6003747"/>
            <a:ext cx="1910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a1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  <a:r>
              <a:rPr kumimoji="0" sz="1200" b="1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</a:t>
            </a:r>
            <a:r>
              <a:rPr kumimoji="0" sz="1200" b="1" i="0" u="none" strike="noStrike" kern="1200" cap="none" spc="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</a:t>
            </a:r>
            <a:r>
              <a:rPr kumimoji="0" sz="1200" b="1" i="0" u="none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5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,</a:t>
            </a:r>
            <a:r>
              <a:rPr kumimoji="0" sz="1200" b="1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6</a:t>
            </a: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);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</a:t>
            </a:r>
            <a:r>
              <a:rPr kumimoji="0" sz="120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6334" y="6369507"/>
            <a:ext cx="14592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}// End of class</a:t>
            </a:r>
            <a:r>
              <a:rPr kumimoji="0" sz="1200" b="1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Test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21551" y="5603849"/>
            <a:ext cx="19196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5780" marR="5080" lvl="0" indent="-513715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OMP</a:t>
            </a: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</a:t>
            </a:r>
            <a:r>
              <a:rPr kumimoji="0" sz="2400" b="1" i="0" u="none" strike="noStrike" kern="1200" cap="none" spc="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-TIME  ERROR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9745" y="5281066"/>
            <a:ext cx="1676400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spc="-114" dirty="0">
                <a:solidFill>
                  <a:srgbClr val="FFFFFF"/>
                </a:solidFill>
                <a:latin typeface="Arial"/>
                <a:cs typeface="Arial"/>
              </a:rPr>
              <a:t>BITS</a:t>
            </a:r>
            <a:r>
              <a:rPr sz="2900" b="1" spc="-3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900" spc="-130" dirty="0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endParaRPr sz="2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6767" y="3630879"/>
            <a:ext cx="6666230" cy="1331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endParaRPr lang="en-US" sz="3000" b="1" spc="-150" dirty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000" b="1" spc="-150" dirty="0">
                <a:solidFill>
                  <a:srgbClr val="FFFFFF"/>
                </a:solidFill>
                <a:latin typeface="Arial"/>
                <a:cs typeface="Arial"/>
              </a:rPr>
              <a:t>Object-Oriented </a:t>
            </a:r>
            <a:r>
              <a:rPr sz="3000" b="1" spc="-145" dirty="0">
                <a:solidFill>
                  <a:srgbClr val="FFFFFF"/>
                </a:solidFill>
                <a:latin typeface="Arial"/>
                <a:cs typeface="Arial"/>
              </a:rPr>
              <a:t>Programming </a:t>
            </a:r>
            <a:endParaRPr lang="en-US" sz="3000" b="1" spc="-145" dirty="0">
              <a:solidFill>
                <a:srgbClr val="FFFFFF"/>
              </a:solidFill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spc="-145" dirty="0">
                <a:solidFill>
                  <a:srgbClr val="FFFFFF"/>
                </a:solidFill>
                <a:latin typeface="Arial"/>
                <a:cs typeface="Arial"/>
              </a:rPr>
              <a:t>Inheritance</a:t>
            </a:r>
            <a:r>
              <a:rPr sz="2400" b="1" spc="-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1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400" b="1" spc="-3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45" dirty="0">
                <a:solidFill>
                  <a:srgbClr val="FFFFFF"/>
                </a:solidFill>
                <a:latin typeface="Arial"/>
                <a:cs typeface="Arial"/>
              </a:rPr>
              <a:t>Polymorphism</a:t>
            </a:r>
            <a:r>
              <a:rPr sz="2400" b="1" spc="-2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400" b="1" spc="-3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25" dirty="0">
                <a:solidFill>
                  <a:srgbClr val="FFFFFF"/>
                </a:solidFill>
                <a:latin typeface="Arial"/>
                <a:cs typeface="Arial"/>
              </a:rPr>
              <a:t>Java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418310"/>
            <a:ext cx="3528695" cy="119634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Clr>
                <a:srgbClr val="0F1141"/>
              </a:buClr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Arial"/>
                <a:cs typeface="Arial"/>
              </a:rPr>
              <a:t>Abstract</a:t>
            </a:r>
            <a:r>
              <a:rPr sz="3200" spc="-8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Methods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0F1141"/>
              </a:buClr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Arial"/>
                <a:cs typeface="Arial"/>
              </a:rPr>
              <a:t>Abstract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Classes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49758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80" dirty="0">
                <a:solidFill>
                  <a:srgbClr val="000000"/>
                </a:solidFill>
                <a:latin typeface="Arial"/>
                <a:cs typeface="Arial"/>
              </a:rPr>
              <a:t>Topics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458290"/>
            <a:ext cx="8388985" cy="1718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ts val="2160"/>
              </a:lnSpc>
              <a:spcBef>
                <a:spcPts val="105"/>
              </a:spcBef>
              <a:buClr>
                <a:srgbClr val="0F1141"/>
              </a:buClr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Abstract Method </a:t>
            </a:r>
            <a:r>
              <a:rPr sz="2000" spc="5" dirty="0">
                <a:latin typeface="Wingdings"/>
                <a:cs typeface="Wingdings"/>
              </a:rPr>
              <a:t>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Method with only declaration part and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without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160"/>
              </a:lnSpc>
              <a:tabLst>
                <a:tab pos="2755900" algn="l"/>
              </a:tabLst>
            </a:pPr>
            <a:r>
              <a:rPr sz="2000" dirty="0">
                <a:latin typeface="Arial"/>
                <a:cs typeface="Arial"/>
              </a:rPr>
              <a:t>implementation	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[Incomplete</a:t>
            </a:r>
            <a:r>
              <a:rPr sz="20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Method]</a:t>
            </a:r>
            <a:endParaRPr sz="2000">
              <a:latin typeface="Arial"/>
              <a:cs typeface="Arial"/>
            </a:endParaRPr>
          </a:p>
          <a:p>
            <a:pPr marL="355600" marR="5080" indent="-342900">
              <a:lnSpc>
                <a:spcPts val="1920"/>
              </a:lnSpc>
              <a:spcBef>
                <a:spcPts val="465"/>
              </a:spcBef>
              <a:buClr>
                <a:srgbClr val="0F1141"/>
              </a:buClr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Abstract Classes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If a class has any one abstract method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[Incomplete  Class]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5"/>
              </a:spcBef>
              <a:buClr>
                <a:srgbClr val="0F1141"/>
              </a:buClr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Example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abstract </a:t>
            </a:r>
            <a:r>
              <a:rPr sz="1400" dirty="0">
                <a:latin typeface="Arial"/>
                <a:cs typeface="Arial"/>
              </a:rPr>
              <a:t>class</a:t>
            </a:r>
            <a:r>
              <a:rPr sz="1400" spc="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Sample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8194" y="3167633"/>
            <a:ext cx="850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16173" y="3213354"/>
            <a:ext cx="3557270" cy="2052955"/>
          </a:xfrm>
          <a:prstGeom prst="rect">
            <a:avLst/>
          </a:prstGeom>
          <a:ln w="25907">
            <a:solidFill>
              <a:srgbClr val="385D89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imes New Roman"/>
              <a:cs typeface="Times New Roman"/>
            </a:endParaRPr>
          </a:p>
          <a:p>
            <a:pPr marL="22352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public </a:t>
            </a:r>
            <a:r>
              <a:rPr sz="1400" spc="-5" dirty="0">
                <a:latin typeface="Arial"/>
                <a:cs typeface="Arial"/>
              </a:rPr>
              <a:t>void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doSome1()</a:t>
            </a:r>
            <a:endParaRPr sz="140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113792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System.out.prinltn(“Hello”);</a:t>
            </a:r>
            <a:endParaRPr sz="140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public </a:t>
            </a:r>
            <a:r>
              <a:rPr sz="1400" spc="-5" dirty="0">
                <a:latin typeface="Arial"/>
                <a:cs typeface="Arial"/>
              </a:rPr>
              <a:t>void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doSome2()</a:t>
            </a:r>
            <a:endParaRPr sz="140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113792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System.out.prinltn(“Hi”);</a:t>
            </a:r>
            <a:endParaRPr sz="140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5503" y="379552"/>
            <a:ext cx="79565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Abstract Methods </a:t>
            </a:r>
            <a:r>
              <a:rPr sz="3600" i="0" spc="-105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3600" i="0" spc="-81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Abstract </a:t>
            </a: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Classes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08242" y="3213354"/>
            <a:ext cx="535305" cy="2052955"/>
          </a:xfrm>
          <a:custGeom>
            <a:avLst/>
            <a:gdLst/>
            <a:ahLst/>
            <a:cxnLst/>
            <a:rect l="l" t="t" r="r" b="b"/>
            <a:pathLst>
              <a:path w="535304" h="2052954">
                <a:moveTo>
                  <a:pt x="0" y="0"/>
                </a:moveTo>
                <a:lnTo>
                  <a:pt x="61322" y="3925"/>
                </a:lnTo>
                <a:lnTo>
                  <a:pt x="117616" y="15106"/>
                </a:lnTo>
                <a:lnTo>
                  <a:pt x="167277" y="32650"/>
                </a:lnTo>
                <a:lnTo>
                  <a:pt x="208699" y="55663"/>
                </a:lnTo>
                <a:lnTo>
                  <a:pt x="240274" y="83253"/>
                </a:lnTo>
                <a:lnTo>
                  <a:pt x="267461" y="148590"/>
                </a:lnTo>
                <a:lnTo>
                  <a:pt x="267461" y="890016"/>
                </a:lnTo>
                <a:lnTo>
                  <a:pt x="274526" y="924079"/>
                </a:lnTo>
                <a:lnTo>
                  <a:pt x="326224" y="982942"/>
                </a:lnTo>
                <a:lnTo>
                  <a:pt x="367646" y="1005955"/>
                </a:lnTo>
                <a:lnTo>
                  <a:pt x="417307" y="1023499"/>
                </a:lnTo>
                <a:lnTo>
                  <a:pt x="473601" y="1034680"/>
                </a:lnTo>
                <a:lnTo>
                  <a:pt x="534924" y="1038606"/>
                </a:lnTo>
                <a:lnTo>
                  <a:pt x="473601" y="1042531"/>
                </a:lnTo>
                <a:lnTo>
                  <a:pt x="417307" y="1053712"/>
                </a:lnTo>
                <a:lnTo>
                  <a:pt x="367646" y="1071256"/>
                </a:lnTo>
                <a:lnTo>
                  <a:pt x="326224" y="1094269"/>
                </a:lnTo>
                <a:lnTo>
                  <a:pt x="294649" y="1121859"/>
                </a:lnTo>
                <a:lnTo>
                  <a:pt x="267461" y="1187196"/>
                </a:lnTo>
                <a:lnTo>
                  <a:pt x="267461" y="1904238"/>
                </a:lnTo>
                <a:lnTo>
                  <a:pt x="260397" y="1938301"/>
                </a:lnTo>
                <a:lnTo>
                  <a:pt x="208699" y="1997164"/>
                </a:lnTo>
                <a:lnTo>
                  <a:pt x="167277" y="2020177"/>
                </a:lnTo>
                <a:lnTo>
                  <a:pt x="117616" y="2037721"/>
                </a:lnTo>
                <a:lnTo>
                  <a:pt x="61322" y="2048902"/>
                </a:lnTo>
                <a:lnTo>
                  <a:pt x="0" y="2052828"/>
                </a:lnTo>
              </a:path>
            </a:pathLst>
          </a:custGeom>
          <a:ln w="25908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127240" y="3935095"/>
            <a:ext cx="12852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265" marR="5080" indent="-2032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No</a:t>
            </a:r>
            <a:r>
              <a:rPr sz="1800" b="1" spc="5" dirty="0">
                <a:solidFill>
                  <a:srgbClr val="FF0000"/>
                </a:solidFill>
                <a:latin typeface="Carlito"/>
                <a:cs typeface="Carlito"/>
              </a:rPr>
              <a:t>n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-Ab</a:t>
            </a:r>
            <a:r>
              <a:rPr sz="1800" b="1" spc="-30" dirty="0">
                <a:solidFill>
                  <a:srgbClr val="FF0000"/>
                </a:solidFill>
                <a:latin typeface="Carlito"/>
                <a:cs typeface="Carlito"/>
              </a:rPr>
              <a:t>s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t</a:t>
            </a:r>
            <a:r>
              <a:rPr sz="1800" b="1" spc="-40" dirty="0">
                <a:solidFill>
                  <a:srgbClr val="FF0000"/>
                </a:solidFill>
                <a:latin typeface="Carlito"/>
                <a:cs typeface="Carlito"/>
              </a:rPr>
              <a:t>r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a</a:t>
            </a:r>
            <a:r>
              <a:rPr sz="1800" b="1" spc="-10" dirty="0">
                <a:solidFill>
                  <a:srgbClr val="FF0000"/>
                </a:solidFill>
                <a:latin typeface="Carlito"/>
                <a:cs typeface="Carlito"/>
              </a:rPr>
              <a:t>c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t 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Methods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98465" y="5504434"/>
            <a:ext cx="897255" cy="443865"/>
          </a:xfrm>
          <a:custGeom>
            <a:avLst/>
            <a:gdLst/>
            <a:ahLst/>
            <a:cxnLst/>
            <a:rect l="l" t="t" r="r" b="b"/>
            <a:pathLst>
              <a:path w="897254" h="443864">
                <a:moveTo>
                  <a:pt x="11175" y="0"/>
                </a:moveTo>
                <a:lnTo>
                  <a:pt x="0" y="23367"/>
                </a:lnTo>
                <a:lnTo>
                  <a:pt x="93218" y="68452"/>
                </a:lnTo>
                <a:lnTo>
                  <a:pt x="104521" y="45084"/>
                </a:lnTo>
                <a:lnTo>
                  <a:pt x="11175" y="0"/>
                </a:lnTo>
                <a:close/>
              </a:path>
              <a:path w="897254" h="443864">
                <a:moveTo>
                  <a:pt x="174498" y="78866"/>
                </a:moveTo>
                <a:lnTo>
                  <a:pt x="163322" y="102196"/>
                </a:lnTo>
                <a:lnTo>
                  <a:pt x="256539" y="147256"/>
                </a:lnTo>
                <a:lnTo>
                  <a:pt x="267843" y="123926"/>
                </a:lnTo>
                <a:lnTo>
                  <a:pt x="174498" y="78866"/>
                </a:lnTo>
                <a:close/>
              </a:path>
              <a:path w="897254" h="443864">
                <a:moveTo>
                  <a:pt x="337820" y="157721"/>
                </a:moveTo>
                <a:lnTo>
                  <a:pt x="326644" y="181063"/>
                </a:lnTo>
                <a:lnTo>
                  <a:pt x="419862" y="226123"/>
                </a:lnTo>
                <a:lnTo>
                  <a:pt x="431164" y="202793"/>
                </a:lnTo>
                <a:lnTo>
                  <a:pt x="337820" y="157721"/>
                </a:lnTo>
                <a:close/>
              </a:path>
              <a:path w="897254" h="443864">
                <a:moveTo>
                  <a:pt x="501142" y="236588"/>
                </a:moveTo>
                <a:lnTo>
                  <a:pt x="489838" y="259918"/>
                </a:lnTo>
                <a:lnTo>
                  <a:pt x="583184" y="304977"/>
                </a:lnTo>
                <a:lnTo>
                  <a:pt x="594487" y="281647"/>
                </a:lnTo>
                <a:lnTo>
                  <a:pt x="501142" y="236588"/>
                </a:lnTo>
                <a:close/>
              </a:path>
              <a:path w="897254" h="443864">
                <a:moveTo>
                  <a:pt x="664463" y="315442"/>
                </a:moveTo>
                <a:lnTo>
                  <a:pt x="653161" y="338772"/>
                </a:lnTo>
                <a:lnTo>
                  <a:pt x="746506" y="383832"/>
                </a:lnTo>
                <a:lnTo>
                  <a:pt x="757809" y="360502"/>
                </a:lnTo>
                <a:lnTo>
                  <a:pt x="664463" y="315442"/>
                </a:lnTo>
                <a:close/>
              </a:path>
              <a:path w="897254" h="443864">
                <a:moveTo>
                  <a:pt x="821650" y="420109"/>
                </a:moveTo>
                <a:lnTo>
                  <a:pt x="810387" y="443445"/>
                </a:lnTo>
                <a:lnTo>
                  <a:pt x="897255" y="442239"/>
                </a:lnTo>
                <a:lnTo>
                  <a:pt x="884522" y="425742"/>
                </a:lnTo>
                <a:lnTo>
                  <a:pt x="833374" y="425742"/>
                </a:lnTo>
                <a:lnTo>
                  <a:pt x="821650" y="420109"/>
                </a:lnTo>
                <a:close/>
              </a:path>
              <a:path w="897254" h="443864">
                <a:moveTo>
                  <a:pt x="832912" y="396778"/>
                </a:moveTo>
                <a:lnTo>
                  <a:pt x="821650" y="420109"/>
                </a:lnTo>
                <a:lnTo>
                  <a:pt x="833374" y="425742"/>
                </a:lnTo>
                <a:lnTo>
                  <a:pt x="844550" y="402412"/>
                </a:lnTo>
                <a:lnTo>
                  <a:pt x="832912" y="396778"/>
                </a:lnTo>
                <a:close/>
              </a:path>
              <a:path w="897254" h="443864">
                <a:moveTo>
                  <a:pt x="844169" y="373456"/>
                </a:moveTo>
                <a:lnTo>
                  <a:pt x="832912" y="396778"/>
                </a:lnTo>
                <a:lnTo>
                  <a:pt x="844550" y="402412"/>
                </a:lnTo>
                <a:lnTo>
                  <a:pt x="833374" y="425742"/>
                </a:lnTo>
                <a:lnTo>
                  <a:pt x="884522" y="425742"/>
                </a:lnTo>
                <a:lnTo>
                  <a:pt x="844169" y="373456"/>
                </a:lnTo>
                <a:close/>
              </a:path>
              <a:path w="897254" h="443864">
                <a:moveTo>
                  <a:pt x="827786" y="394296"/>
                </a:moveTo>
                <a:lnTo>
                  <a:pt x="816483" y="417626"/>
                </a:lnTo>
                <a:lnTo>
                  <a:pt x="821650" y="420109"/>
                </a:lnTo>
                <a:lnTo>
                  <a:pt x="832912" y="396778"/>
                </a:lnTo>
                <a:lnTo>
                  <a:pt x="827786" y="3942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98194" y="5301488"/>
            <a:ext cx="6045200" cy="991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0">
              <a:lnSpc>
                <a:spcPct val="100000"/>
              </a:lnSpc>
              <a:spcBef>
                <a:spcPts val="100"/>
              </a:spcBef>
              <a:tabLst>
                <a:tab pos="4584700" algn="l"/>
              </a:tabLst>
            </a:pPr>
            <a:r>
              <a:rPr sz="1400" dirty="0">
                <a:latin typeface="Arial"/>
                <a:cs typeface="Arial"/>
              </a:rPr>
              <a:t>public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abstract</a:t>
            </a:r>
            <a:r>
              <a:rPr sz="14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void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doAny();	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// Abstract</a:t>
            </a:r>
            <a:r>
              <a:rPr sz="1400" spc="-2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Method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}// End of class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Sample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Ab</a:t>
            </a:r>
            <a:r>
              <a:rPr sz="1800" b="1" spc="-30" dirty="0">
                <a:solidFill>
                  <a:srgbClr val="FF0000"/>
                </a:solidFill>
                <a:latin typeface="Carlito"/>
                <a:cs typeface="Carlito"/>
              </a:rPr>
              <a:t>s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t</a:t>
            </a:r>
            <a:r>
              <a:rPr sz="1800" b="1" spc="-40" dirty="0">
                <a:solidFill>
                  <a:srgbClr val="FF0000"/>
                </a:solidFill>
                <a:latin typeface="Carlito"/>
                <a:cs typeface="Carlito"/>
              </a:rPr>
              <a:t>r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ac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t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-M</a:t>
            </a:r>
            <a:r>
              <a:rPr sz="1800" b="1" spc="-10" dirty="0">
                <a:solidFill>
                  <a:srgbClr val="FF0000"/>
                </a:solidFill>
                <a:latin typeface="Carlito"/>
                <a:cs typeface="Carlito"/>
              </a:rPr>
              <a:t>e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tho</a:t>
            </a:r>
            <a:r>
              <a:rPr sz="1800" b="1" spc="-15" dirty="0">
                <a:solidFill>
                  <a:srgbClr val="FF0000"/>
                </a:solidFill>
                <a:latin typeface="Carlito"/>
                <a:cs typeface="Carlito"/>
              </a:rPr>
              <a:t>d</a:t>
            </a:r>
            <a:r>
              <a:rPr sz="1800" b="1" dirty="0">
                <a:solidFill>
                  <a:srgbClr val="FF0000"/>
                </a:solidFill>
                <a:latin typeface="Carlito"/>
                <a:cs typeface="Carlito"/>
              </a:rPr>
              <a:t>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12634" y="3141726"/>
            <a:ext cx="188595" cy="1101090"/>
          </a:xfrm>
          <a:custGeom>
            <a:avLst/>
            <a:gdLst/>
            <a:ahLst/>
            <a:cxnLst/>
            <a:rect l="l" t="t" r="r" b="b"/>
            <a:pathLst>
              <a:path w="188594" h="1101089">
                <a:moveTo>
                  <a:pt x="13766" y="994410"/>
                </a:moveTo>
                <a:lnTo>
                  <a:pt x="0" y="1097153"/>
                </a:lnTo>
                <a:lnTo>
                  <a:pt x="25679" y="1100582"/>
                </a:lnTo>
                <a:lnTo>
                  <a:pt x="39446" y="997838"/>
                </a:lnTo>
                <a:lnTo>
                  <a:pt x="13766" y="994410"/>
                </a:lnTo>
                <a:close/>
              </a:path>
              <a:path w="188594" h="1101089">
                <a:moveTo>
                  <a:pt x="37858" y="814705"/>
                </a:moveTo>
                <a:lnTo>
                  <a:pt x="24091" y="917448"/>
                </a:lnTo>
                <a:lnTo>
                  <a:pt x="49771" y="920876"/>
                </a:lnTo>
                <a:lnTo>
                  <a:pt x="63538" y="818134"/>
                </a:lnTo>
                <a:lnTo>
                  <a:pt x="37858" y="814705"/>
                </a:lnTo>
                <a:close/>
              </a:path>
              <a:path w="188594" h="1101089">
                <a:moveTo>
                  <a:pt x="61950" y="635000"/>
                </a:moveTo>
                <a:lnTo>
                  <a:pt x="48183" y="737616"/>
                </a:lnTo>
                <a:lnTo>
                  <a:pt x="73863" y="741044"/>
                </a:lnTo>
                <a:lnTo>
                  <a:pt x="87630" y="638429"/>
                </a:lnTo>
                <a:lnTo>
                  <a:pt x="61950" y="635000"/>
                </a:lnTo>
                <a:close/>
              </a:path>
              <a:path w="188594" h="1101089">
                <a:moveTo>
                  <a:pt x="86042" y="455168"/>
                </a:moveTo>
                <a:lnTo>
                  <a:pt x="72275" y="557911"/>
                </a:lnTo>
                <a:lnTo>
                  <a:pt x="97955" y="561340"/>
                </a:lnTo>
                <a:lnTo>
                  <a:pt x="111721" y="458597"/>
                </a:lnTo>
                <a:lnTo>
                  <a:pt x="86042" y="455168"/>
                </a:lnTo>
                <a:close/>
              </a:path>
              <a:path w="188594" h="1101089">
                <a:moveTo>
                  <a:pt x="110134" y="275463"/>
                </a:moveTo>
                <a:lnTo>
                  <a:pt x="96367" y="378206"/>
                </a:lnTo>
                <a:lnTo>
                  <a:pt x="122047" y="381635"/>
                </a:lnTo>
                <a:lnTo>
                  <a:pt x="135813" y="278891"/>
                </a:lnTo>
                <a:lnTo>
                  <a:pt x="110134" y="275463"/>
                </a:lnTo>
                <a:close/>
              </a:path>
              <a:path w="188594" h="1101089">
                <a:moveTo>
                  <a:pt x="134226" y="95631"/>
                </a:moveTo>
                <a:lnTo>
                  <a:pt x="120459" y="198374"/>
                </a:lnTo>
                <a:lnTo>
                  <a:pt x="146138" y="201802"/>
                </a:lnTo>
                <a:lnTo>
                  <a:pt x="159905" y="99187"/>
                </a:lnTo>
                <a:lnTo>
                  <a:pt x="134226" y="95631"/>
                </a:lnTo>
                <a:close/>
              </a:path>
              <a:path w="188594" h="1101089">
                <a:moveTo>
                  <a:pt x="160159" y="0"/>
                </a:moveTo>
                <a:lnTo>
                  <a:pt x="111290" y="71882"/>
                </a:lnTo>
                <a:lnTo>
                  <a:pt x="188353" y="82169"/>
                </a:lnTo>
                <a:lnTo>
                  <a:pt x="1601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53948" y="4258182"/>
            <a:ext cx="1341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rlito"/>
                <a:cs typeface="Carlito"/>
              </a:rPr>
              <a:t>Abstract</a:t>
            </a:r>
            <a:r>
              <a:rPr sz="1800" b="1" spc="-8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Class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334" y="1485722"/>
            <a:ext cx="8773160" cy="4787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265" indent="-342265">
              <a:lnSpc>
                <a:spcPts val="2510"/>
              </a:lnSpc>
              <a:spcBef>
                <a:spcPts val="95"/>
              </a:spcBef>
              <a:buClr>
                <a:srgbClr val="0F1141"/>
              </a:buClr>
              <a:buChar char="•"/>
              <a:tabLst>
                <a:tab pos="342265" algn="l"/>
                <a:tab pos="355600" algn="l"/>
                <a:tab pos="814705" algn="l"/>
                <a:tab pos="1941830" algn="l"/>
                <a:tab pos="2711450" algn="l"/>
                <a:tab pos="3044825" algn="l"/>
                <a:tab pos="3331845" algn="l"/>
                <a:tab pos="4101465" algn="l"/>
                <a:tab pos="4946015" algn="l"/>
                <a:tab pos="5528310" algn="l"/>
                <a:tab pos="6657340" algn="l"/>
                <a:tab pos="7992745" algn="l"/>
                <a:tab pos="8590280" algn="l"/>
              </a:tabLst>
            </a:pPr>
            <a:r>
              <a:rPr sz="2200" spc="-5" dirty="0">
                <a:latin typeface="Arial"/>
                <a:cs typeface="Arial"/>
              </a:rPr>
              <a:t>An	abstract	</a:t>
            </a:r>
            <a:r>
              <a:rPr sz="2200" dirty="0">
                <a:latin typeface="Arial"/>
                <a:cs typeface="Arial"/>
              </a:rPr>
              <a:t>class	</a:t>
            </a:r>
            <a:r>
              <a:rPr sz="2200" spc="-5" dirty="0">
                <a:latin typeface="Arial"/>
                <a:cs typeface="Arial"/>
              </a:rPr>
              <a:t>is	a	</a:t>
            </a:r>
            <a:r>
              <a:rPr sz="2200" dirty="0">
                <a:latin typeface="Arial"/>
                <a:cs typeface="Arial"/>
              </a:rPr>
              <a:t>class	</a:t>
            </a:r>
            <a:r>
              <a:rPr sz="2200" spc="-5" dirty="0">
                <a:latin typeface="Arial"/>
                <a:cs typeface="Arial"/>
              </a:rPr>
              <a:t>which	has	</a:t>
            </a:r>
            <a:r>
              <a:rPr sz="2200" i="1" dirty="0">
                <a:latin typeface="Arial"/>
                <a:cs typeface="Arial"/>
              </a:rPr>
              <a:t>abstract	</a:t>
            </a:r>
            <a:r>
              <a:rPr sz="2200" i="1" spc="-5" dirty="0">
                <a:latin typeface="Arial"/>
                <a:cs typeface="Arial"/>
              </a:rPr>
              <a:t>methods	</a:t>
            </a:r>
            <a:r>
              <a:rPr sz="2200" spc="-5" dirty="0">
                <a:latin typeface="Arial"/>
                <a:cs typeface="Arial"/>
              </a:rPr>
              <a:t>(i.e.	a</a:t>
            </a:r>
            <a:endParaRPr sz="2200">
              <a:latin typeface="Arial"/>
              <a:cs typeface="Arial"/>
            </a:endParaRPr>
          </a:p>
          <a:p>
            <a:pPr marL="36830" algn="ctr">
              <a:lnSpc>
                <a:spcPts val="2510"/>
              </a:lnSpc>
            </a:pPr>
            <a:r>
              <a:rPr sz="2200" spc="-5" dirty="0">
                <a:latin typeface="Arial"/>
                <a:cs typeface="Arial"/>
              </a:rPr>
              <a:t>method with only heading with no body of executable</a:t>
            </a:r>
            <a:r>
              <a:rPr sz="2200" spc="17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statements)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65"/>
              </a:spcBef>
              <a:buClr>
                <a:srgbClr val="0F1141"/>
              </a:buClr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Arial"/>
                <a:cs typeface="Arial"/>
              </a:rPr>
              <a:t>An </a:t>
            </a:r>
            <a:r>
              <a:rPr sz="2200" spc="-5" dirty="0">
                <a:latin typeface="Arial"/>
                <a:cs typeface="Arial"/>
              </a:rPr>
              <a:t>object or instance </a:t>
            </a:r>
            <a:r>
              <a:rPr sz="2200" dirty="0">
                <a:latin typeface="Arial"/>
                <a:cs typeface="Arial"/>
              </a:rPr>
              <a:t>of </a:t>
            </a:r>
            <a:r>
              <a:rPr sz="2200" spc="-5" dirty="0">
                <a:latin typeface="Arial"/>
                <a:cs typeface="Arial"/>
              </a:rPr>
              <a:t>abstract </a:t>
            </a:r>
            <a:r>
              <a:rPr sz="2200" dirty="0">
                <a:latin typeface="Arial"/>
                <a:cs typeface="Arial"/>
              </a:rPr>
              <a:t>classes </a:t>
            </a:r>
            <a:r>
              <a:rPr sz="2200" spc="-5" dirty="0">
                <a:latin typeface="Arial"/>
                <a:cs typeface="Arial"/>
              </a:rPr>
              <a:t>can not be</a:t>
            </a:r>
            <a:r>
              <a:rPr sz="2200" spc="11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instantiated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ts val="2510"/>
              </a:lnSpc>
              <a:spcBef>
                <a:spcPts val="265"/>
              </a:spcBef>
              <a:buClr>
                <a:srgbClr val="0F1141"/>
              </a:buClr>
              <a:buChar char="•"/>
              <a:tabLst>
                <a:tab pos="354965" algn="l"/>
                <a:tab pos="355600" algn="l"/>
              </a:tabLst>
            </a:pPr>
            <a:r>
              <a:rPr sz="2200" spc="-10" dirty="0">
                <a:latin typeface="Arial"/>
                <a:cs typeface="Arial"/>
              </a:rPr>
              <a:t>An</a:t>
            </a:r>
            <a:r>
              <a:rPr sz="2200" spc="21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abstract</a:t>
            </a:r>
            <a:r>
              <a:rPr sz="2200" spc="21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class</a:t>
            </a:r>
            <a:r>
              <a:rPr sz="2200" spc="21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needs</a:t>
            </a:r>
            <a:r>
              <a:rPr sz="2200" spc="204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to</a:t>
            </a:r>
            <a:r>
              <a:rPr sz="2200" spc="21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be</a:t>
            </a:r>
            <a:r>
              <a:rPr sz="2200" spc="21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extended</a:t>
            </a:r>
            <a:r>
              <a:rPr sz="2200" spc="22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by</a:t>
            </a:r>
            <a:r>
              <a:rPr sz="2200" spc="2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sub</a:t>
            </a:r>
            <a:r>
              <a:rPr sz="2200" spc="22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classes</a:t>
            </a:r>
            <a:r>
              <a:rPr sz="2200" spc="21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to</a:t>
            </a:r>
            <a:r>
              <a:rPr sz="2200" spc="21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provide</a:t>
            </a:r>
            <a:endParaRPr sz="2200">
              <a:latin typeface="Arial"/>
              <a:cs typeface="Arial"/>
            </a:endParaRPr>
          </a:p>
          <a:p>
            <a:pPr marL="354965">
              <a:lnSpc>
                <a:spcPts val="2510"/>
              </a:lnSpc>
            </a:pPr>
            <a:r>
              <a:rPr sz="2200" spc="-5" dirty="0">
                <a:latin typeface="Arial"/>
                <a:cs typeface="Arial"/>
              </a:rPr>
              <a:t>the implementation for the abstract</a:t>
            </a:r>
            <a:r>
              <a:rPr sz="2200" spc="7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methods.</a:t>
            </a:r>
            <a:endParaRPr sz="2200">
              <a:latin typeface="Arial"/>
              <a:cs typeface="Arial"/>
            </a:endParaRPr>
          </a:p>
          <a:p>
            <a:pPr marL="354965" marR="5080" indent="-342900">
              <a:lnSpc>
                <a:spcPts val="2380"/>
              </a:lnSpc>
              <a:spcBef>
                <a:spcPts val="565"/>
              </a:spcBef>
              <a:buClr>
                <a:srgbClr val="0F1141"/>
              </a:buClr>
              <a:buChar char="•"/>
              <a:tabLst>
                <a:tab pos="354965" algn="l"/>
                <a:tab pos="355600" algn="l"/>
                <a:tab pos="1600835" algn="l"/>
                <a:tab pos="2752725" algn="l"/>
                <a:tab pos="3500120" algn="l"/>
                <a:tab pos="4621530" algn="l"/>
                <a:tab pos="5493385" algn="l"/>
                <a:tab pos="6785609" algn="l"/>
                <a:tab pos="7597140" algn="l"/>
              </a:tabLst>
            </a:pPr>
            <a:r>
              <a:rPr sz="2200" spc="-5" dirty="0">
                <a:latin typeface="Arial"/>
                <a:cs typeface="Arial"/>
              </a:rPr>
              <a:t>Ab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tra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t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class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may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c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ntain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static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meth</a:t>
            </a:r>
            <a:r>
              <a:rPr sz="2200" spc="1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ds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ls</a:t>
            </a:r>
            <a:r>
              <a:rPr sz="2200" spc="-5" dirty="0">
                <a:latin typeface="Arial"/>
                <a:cs typeface="Arial"/>
              </a:rPr>
              <a:t>o.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20" dirty="0">
                <a:latin typeface="Arial"/>
                <a:cs typeface="Arial"/>
              </a:rPr>
              <a:t>H</a:t>
            </a:r>
            <a:r>
              <a:rPr sz="2200" spc="-5" dirty="0">
                <a:latin typeface="Arial"/>
                <a:cs typeface="Arial"/>
              </a:rPr>
              <a:t>owev</a:t>
            </a:r>
            <a:r>
              <a:rPr sz="2200" spc="5" dirty="0">
                <a:latin typeface="Arial"/>
                <a:cs typeface="Arial"/>
              </a:rPr>
              <a:t>e</a:t>
            </a:r>
            <a:r>
              <a:rPr sz="2200" spc="-125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,  abstract and static keyword combination is</a:t>
            </a:r>
            <a:r>
              <a:rPr sz="2200" spc="8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wrong</a:t>
            </a:r>
            <a:endParaRPr sz="2200">
              <a:latin typeface="Arial"/>
              <a:cs typeface="Arial"/>
            </a:endParaRPr>
          </a:p>
          <a:p>
            <a:pPr marL="2027555">
              <a:lnSpc>
                <a:spcPct val="100000"/>
              </a:lnSpc>
              <a:spcBef>
                <a:spcPts val="250"/>
              </a:spcBef>
              <a:tabLst>
                <a:tab pos="6040755" algn="l"/>
              </a:tabLst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abstract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static</a:t>
            </a:r>
            <a:r>
              <a:rPr sz="2400" b="1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void</a:t>
            </a:r>
            <a:r>
              <a:rPr sz="24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print();	//</a:t>
            </a:r>
            <a:r>
              <a:rPr sz="24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5" dirty="0">
                <a:solidFill>
                  <a:srgbClr val="FF0000"/>
                </a:solidFill>
                <a:latin typeface="Arial"/>
                <a:cs typeface="Arial"/>
              </a:rPr>
              <a:t>wrong</a:t>
            </a:r>
            <a:endParaRPr sz="2400">
              <a:latin typeface="Arial"/>
              <a:cs typeface="Arial"/>
            </a:endParaRPr>
          </a:p>
          <a:p>
            <a:pPr marL="354965" marR="5715" indent="-342900">
              <a:lnSpc>
                <a:spcPts val="2380"/>
              </a:lnSpc>
              <a:spcBef>
                <a:spcPts val="560"/>
              </a:spcBef>
              <a:buClr>
                <a:srgbClr val="0F1141"/>
              </a:buClr>
              <a:buChar char="•"/>
              <a:tabLst>
                <a:tab pos="354965" algn="l"/>
                <a:tab pos="355600" algn="l"/>
                <a:tab pos="1574800" algn="l"/>
                <a:tab pos="2701290" algn="l"/>
                <a:tab pos="3422015" algn="l"/>
                <a:tab pos="4453890" algn="l"/>
                <a:tab pos="5347335" algn="l"/>
                <a:tab pos="6490335" algn="l"/>
                <a:tab pos="7679055" algn="l"/>
                <a:tab pos="8509635" algn="l"/>
              </a:tabLst>
            </a:pPr>
            <a:r>
              <a:rPr sz="2200" spc="-5" dirty="0">
                <a:latin typeface="Arial"/>
                <a:cs typeface="Arial"/>
              </a:rPr>
              <a:t>Ab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tra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t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class</a:t>
            </a:r>
            <a:r>
              <a:rPr sz="2200" dirty="0">
                <a:latin typeface="Arial"/>
                <a:cs typeface="Arial"/>
              </a:rPr>
              <a:t>e</a:t>
            </a:r>
            <a:r>
              <a:rPr sz="2200" spc="-5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may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extend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either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an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5" dirty="0">
                <a:latin typeface="Arial"/>
                <a:cs typeface="Arial"/>
              </a:rPr>
              <a:t>ther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ab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tra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t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class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or  concrete (complete or non-abstract)</a:t>
            </a:r>
            <a:r>
              <a:rPr sz="2200" spc="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class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ts val="2510"/>
              </a:lnSpc>
              <a:spcBef>
                <a:spcPts val="220"/>
              </a:spcBef>
              <a:buClr>
                <a:srgbClr val="0F1141"/>
              </a:buClr>
              <a:buChar char="•"/>
              <a:tabLst>
                <a:tab pos="354965" algn="l"/>
                <a:tab pos="355600" algn="l"/>
                <a:tab pos="1551940" algn="l"/>
                <a:tab pos="2655570" algn="l"/>
                <a:tab pos="3352165" algn="l"/>
                <a:tab pos="4409440" algn="l"/>
                <a:tab pos="6181090" algn="l"/>
                <a:tab pos="7191375" algn="l"/>
                <a:tab pos="8293734" algn="l"/>
              </a:tabLst>
            </a:pPr>
            <a:r>
              <a:rPr sz="2200" spc="-5" dirty="0">
                <a:latin typeface="Arial"/>
                <a:cs typeface="Arial"/>
              </a:rPr>
              <a:t>Ab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tra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t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c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15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may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inc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ude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c</a:t>
            </a:r>
            <a:r>
              <a:rPr sz="2200" dirty="0">
                <a:latin typeface="Arial"/>
                <a:cs typeface="Arial"/>
              </a:rPr>
              <a:t>o</a:t>
            </a:r>
            <a:r>
              <a:rPr sz="2200" spc="-15" dirty="0">
                <a:latin typeface="Arial"/>
                <a:cs typeface="Arial"/>
              </a:rPr>
              <a:t>n</a:t>
            </a:r>
            <a:r>
              <a:rPr sz="2200" spc="-5" dirty="0">
                <a:latin typeface="Arial"/>
                <a:cs typeface="Arial"/>
              </a:rPr>
              <a:t>stru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tor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,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ne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ted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c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5" dirty="0">
                <a:latin typeface="Arial"/>
                <a:cs typeface="Arial"/>
              </a:rPr>
              <a:t>as</a:t>
            </a:r>
            <a:r>
              <a:rPr sz="2200" spc="-15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and</a:t>
            </a:r>
            <a:endParaRPr sz="2200">
              <a:latin typeface="Arial"/>
              <a:cs typeface="Arial"/>
            </a:endParaRPr>
          </a:p>
          <a:p>
            <a:pPr marL="354965">
              <a:lnSpc>
                <a:spcPts val="2510"/>
              </a:lnSpc>
            </a:pPr>
            <a:r>
              <a:rPr sz="2200" spc="-5" dirty="0">
                <a:latin typeface="Arial"/>
                <a:cs typeface="Arial"/>
              </a:rPr>
              <a:t>interfaces</a:t>
            </a:r>
            <a:endParaRPr sz="2200">
              <a:latin typeface="Arial"/>
              <a:cs typeface="Arial"/>
            </a:endParaRPr>
          </a:p>
          <a:p>
            <a:pPr marL="354965" marR="7620" indent="-342900">
              <a:lnSpc>
                <a:spcPts val="2380"/>
              </a:lnSpc>
              <a:spcBef>
                <a:spcPts val="565"/>
              </a:spcBef>
              <a:buClr>
                <a:srgbClr val="0F1141"/>
              </a:buClr>
              <a:buChar char="•"/>
              <a:tabLst>
                <a:tab pos="354965" algn="l"/>
                <a:tab pos="355600" algn="l"/>
                <a:tab pos="1518285" algn="l"/>
                <a:tab pos="2588260" algn="l"/>
                <a:tab pos="3176905" algn="l"/>
                <a:tab pos="4010660" algn="l"/>
                <a:tab pos="4956810" algn="l"/>
                <a:tab pos="6337935" algn="l"/>
                <a:tab pos="7313295" algn="l"/>
                <a:tab pos="7699375" algn="l"/>
              </a:tabLst>
            </a:pPr>
            <a:r>
              <a:rPr sz="2200" spc="-5" dirty="0">
                <a:latin typeface="Arial"/>
                <a:cs typeface="Arial"/>
              </a:rPr>
              <a:t>Ab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tra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t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c</a:t>
            </a:r>
            <a:r>
              <a:rPr sz="2200" dirty="0">
                <a:latin typeface="Arial"/>
                <a:cs typeface="Arial"/>
              </a:rPr>
              <a:t>l</a:t>
            </a:r>
            <a:r>
              <a:rPr sz="2200" spc="-15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s</a:t>
            </a:r>
            <a:r>
              <a:rPr sz="2200" spc="-5" dirty="0">
                <a:latin typeface="Arial"/>
                <a:cs typeface="Arial"/>
              </a:rPr>
              <a:t>es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has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5" dirty="0">
                <a:latin typeface="Arial"/>
                <a:cs typeface="Arial"/>
              </a:rPr>
              <a:t>ei</a:t>
            </a:r>
            <a:r>
              <a:rPr sz="2200" spc="-5" dirty="0">
                <a:latin typeface="Arial"/>
                <a:cs typeface="Arial"/>
              </a:rPr>
              <a:t>ther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pu</a:t>
            </a:r>
            <a:r>
              <a:rPr sz="2200" dirty="0">
                <a:latin typeface="Arial"/>
                <a:cs typeface="Arial"/>
              </a:rPr>
              <a:t>b</a:t>
            </a:r>
            <a:r>
              <a:rPr sz="2200" spc="-5" dirty="0">
                <a:latin typeface="Arial"/>
                <a:cs typeface="Arial"/>
              </a:rPr>
              <a:t>l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c,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prote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ted,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pr</a:t>
            </a:r>
            <a:r>
              <a:rPr sz="2200" dirty="0">
                <a:latin typeface="Arial"/>
                <a:cs typeface="Arial"/>
              </a:rPr>
              <a:t>i</a:t>
            </a:r>
            <a:r>
              <a:rPr sz="2200" spc="-5" dirty="0">
                <a:latin typeface="Arial"/>
                <a:cs typeface="Arial"/>
              </a:rPr>
              <a:t>vate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or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5" dirty="0">
                <a:latin typeface="Arial"/>
                <a:cs typeface="Arial"/>
              </a:rPr>
              <a:t>p</a:t>
            </a:r>
            <a:r>
              <a:rPr sz="2200" spc="-5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k</a:t>
            </a:r>
            <a:r>
              <a:rPr sz="220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ge  accessibility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3446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Abstract</a:t>
            </a:r>
            <a:r>
              <a:rPr sz="3600" i="0" spc="-3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Classes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5178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Abstract </a:t>
            </a: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Classes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3600" i="0" spc="-6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Syntax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255578"/>
            <a:ext cx="1623695" cy="80391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622300" indent="-610235">
              <a:lnSpc>
                <a:spcPct val="100000"/>
              </a:lnSpc>
              <a:spcBef>
                <a:spcPts val="1300"/>
              </a:spcBef>
              <a:buFont typeface="Arial"/>
              <a:buChar char="•"/>
              <a:tabLst>
                <a:tab pos="622300" algn="l"/>
                <a:tab pos="622935" algn="l"/>
              </a:tabLst>
            </a:pPr>
            <a:r>
              <a:rPr sz="2000" b="1" spc="-5" dirty="0">
                <a:solidFill>
                  <a:srgbClr val="FF0000"/>
                </a:solidFill>
                <a:latin typeface="Arial"/>
                <a:cs typeface="Arial"/>
              </a:rPr>
              <a:t>Syntax</a:t>
            </a:r>
            <a:r>
              <a:rPr sz="2000" b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622300">
              <a:lnSpc>
                <a:spcPct val="100000"/>
              </a:lnSpc>
              <a:spcBef>
                <a:spcPts val="844"/>
              </a:spcBef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&lt;scope&gt;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12594" y="1819782"/>
            <a:ext cx="6604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abstra</a:t>
            </a:r>
            <a:r>
              <a:rPr sz="1400" i="1" spc="-10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1400" i="1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7375" y="1819782"/>
            <a:ext cx="20580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6465" algn="l"/>
              </a:tabLst>
            </a:pPr>
            <a:r>
              <a:rPr sz="1400" dirty="0">
                <a:latin typeface="Arial"/>
                <a:cs typeface="Arial"/>
              </a:rPr>
              <a:t>class	</a:t>
            </a:r>
            <a:r>
              <a:rPr sz="1400" spc="-5" dirty="0">
                <a:latin typeface="Arial"/>
                <a:cs typeface="Arial"/>
              </a:rPr>
              <a:t>&lt;class-name&gt;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70828" y="1819782"/>
            <a:ext cx="6985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Arial"/>
                <a:cs typeface="Arial"/>
              </a:rPr>
              <a:t>[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1400" spc="-20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tends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4669" y="1819782"/>
            <a:ext cx="16941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"/>
                <a:cs typeface="Arial"/>
              </a:rPr>
              <a:t>&lt;super-class-name&gt;]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8194" y="2028570"/>
            <a:ext cx="9861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Arial"/>
                <a:cs typeface="Arial"/>
              </a:rPr>
              <a:t>[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ple</a:t>
            </a:r>
            <a:r>
              <a:rPr sz="1400" spc="-10" dirty="0">
                <a:solidFill>
                  <a:srgbClr val="FF0000"/>
                </a:solidFill>
                <a:latin typeface="Arial"/>
                <a:cs typeface="Arial"/>
              </a:rPr>
              <a:t>m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ents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27375" y="2028570"/>
            <a:ext cx="31127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"/>
                <a:cs typeface="Arial"/>
              </a:rPr>
              <a:t>interface-1, interface-2, </a:t>
            </a:r>
            <a:r>
              <a:rPr sz="1400" dirty="0">
                <a:latin typeface="Arial"/>
                <a:cs typeface="Arial"/>
              </a:rPr>
              <a:t>….,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interface-n]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3444" y="2242540"/>
            <a:ext cx="1359535" cy="49530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dirty="0"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400" spc="-5" dirty="0">
                <a:latin typeface="Arial"/>
                <a:cs typeface="Arial"/>
              </a:rPr>
              <a:t>...........................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3444" y="2711398"/>
            <a:ext cx="710565" cy="495934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10" dirty="0">
                <a:latin typeface="Arial"/>
                <a:cs typeface="Arial"/>
              </a:rPr>
              <a:t>&lt;</a:t>
            </a:r>
            <a:r>
              <a:rPr sz="1400" dirty="0">
                <a:latin typeface="Arial"/>
                <a:cs typeface="Arial"/>
              </a:rPr>
              <a:t>scop</a:t>
            </a:r>
            <a:r>
              <a:rPr sz="1400" spc="-10" dirty="0">
                <a:latin typeface="Arial"/>
                <a:cs typeface="Arial"/>
              </a:rPr>
              <a:t>e</a:t>
            </a:r>
            <a:r>
              <a:rPr sz="1400" dirty="0">
                <a:latin typeface="Arial"/>
                <a:cs typeface="Arial"/>
              </a:rPr>
              <a:t>&gt;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400" dirty="0">
                <a:latin typeface="Arial"/>
                <a:cs typeface="Arial"/>
              </a:rPr>
              <a:t>&lt;s</a:t>
            </a:r>
            <a:r>
              <a:rPr sz="1400" spc="5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ope&gt;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12594" y="2711398"/>
            <a:ext cx="660400" cy="495934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latin typeface="Arial"/>
                <a:cs typeface="Arial"/>
              </a:rPr>
              <a:t>abstra</a:t>
            </a:r>
            <a:r>
              <a:rPr sz="1400" spc="-10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t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400" dirty="0">
                <a:latin typeface="Arial"/>
                <a:cs typeface="Arial"/>
              </a:rPr>
              <a:t>abstra</a:t>
            </a:r>
            <a:r>
              <a:rPr sz="1400" spc="-10" dirty="0">
                <a:latin typeface="Arial"/>
                <a:cs typeface="Arial"/>
              </a:rPr>
              <a:t>c</a:t>
            </a:r>
            <a:r>
              <a:rPr sz="1400" dirty="0">
                <a:latin typeface="Arial"/>
                <a:cs typeface="Arial"/>
              </a:rPr>
              <a:t>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27375" y="2711398"/>
            <a:ext cx="1079500" cy="495934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latin typeface="Arial"/>
                <a:cs typeface="Arial"/>
              </a:rPr>
              <a:t>&lt;return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type&gt;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400" dirty="0">
                <a:latin typeface="Arial"/>
                <a:cs typeface="Arial"/>
              </a:rPr>
              <a:t>&lt;return</a:t>
            </a:r>
            <a:r>
              <a:rPr sz="1400" spc="-12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type&gt;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56428" y="2711398"/>
            <a:ext cx="2785745" cy="495934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latin typeface="Arial"/>
                <a:cs typeface="Arial"/>
              </a:rPr>
              <a:t>method-name-1(&lt;parameter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List&gt;);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400" spc="-5" dirty="0">
                <a:latin typeface="Arial"/>
                <a:cs typeface="Arial"/>
              </a:rPr>
              <a:t>method-name-2(&lt;parameter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List&gt;);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12594" y="3181578"/>
            <a:ext cx="4565650" cy="495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57985">
              <a:lnSpc>
                <a:spcPct val="11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………………………………..  abstract &lt;return </a:t>
            </a:r>
            <a:r>
              <a:rPr sz="1400" spc="-5" dirty="0">
                <a:latin typeface="Arial"/>
                <a:cs typeface="Arial"/>
              </a:rPr>
              <a:t>type&gt; method-name-n(&lt;parameter</a:t>
            </a:r>
            <a:r>
              <a:rPr sz="1400" spc="-1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List&gt;);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93444" y="3416274"/>
            <a:ext cx="710565" cy="49530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400" spc="-5" dirty="0">
                <a:latin typeface="Arial"/>
                <a:cs typeface="Arial"/>
              </a:rPr>
              <a:t>&lt;</a:t>
            </a:r>
            <a:r>
              <a:rPr sz="1400" dirty="0">
                <a:latin typeface="Arial"/>
                <a:cs typeface="Arial"/>
              </a:rPr>
              <a:t>scope&gt;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400" dirty="0"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3540" y="3883481"/>
            <a:ext cx="7883525" cy="130683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2000" dirty="0">
                <a:latin typeface="Arial"/>
                <a:cs typeface="Arial"/>
              </a:rPr>
              <a:t>Note:</a:t>
            </a:r>
            <a:endParaRPr sz="2000">
              <a:latin typeface="Arial"/>
              <a:cs typeface="Arial"/>
            </a:endParaRPr>
          </a:p>
          <a:p>
            <a:pPr marL="622300" indent="-61023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622300" algn="l"/>
                <a:tab pos="622935" algn="l"/>
              </a:tabLst>
            </a:pPr>
            <a:r>
              <a:rPr sz="2000" dirty="0">
                <a:latin typeface="Arial"/>
                <a:cs typeface="Arial"/>
              </a:rPr>
              <a:t>Abstract class can have one or more abstract</a:t>
            </a:r>
            <a:r>
              <a:rPr sz="2000" spc="-2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methods</a:t>
            </a:r>
            <a:endParaRPr sz="2000">
              <a:latin typeface="Arial"/>
              <a:cs typeface="Arial"/>
            </a:endParaRPr>
          </a:p>
          <a:p>
            <a:pPr marL="622300" marR="5080" indent="-610235">
              <a:lnSpc>
                <a:spcPts val="2160"/>
              </a:lnSpc>
              <a:spcBef>
                <a:spcPts val="515"/>
              </a:spcBef>
              <a:buAutoNum type="arabicPeriod"/>
              <a:tabLst>
                <a:tab pos="622300" algn="l"/>
                <a:tab pos="622935" algn="l"/>
              </a:tabLst>
            </a:pPr>
            <a:r>
              <a:rPr sz="2000" dirty="0">
                <a:latin typeface="Arial"/>
                <a:cs typeface="Arial"/>
              </a:rPr>
              <a:t>Abstract classes may extend another class , implements</a:t>
            </a:r>
            <a:r>
              <a:rPr sz="2000" spc="-1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another  interface , may have concrete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methods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519250"/>
            <a:ext cx="7637780" cy="426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F1141"/>
              </a:buClr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class </a:t>
            </a:r>
            <a:r>
              <a:rPr sz="2400" dirty="0">
                <a:latin typeface="Arial"/>
                <a:cs typeface="Arial"/>
              </a:rPr>
              <a:t>can be </a:t>
            </a:r>
            <a:r>
              <a:rPr sz="2400" spc="-5" dirty="0">
                <a:latin typeface="Arial"/>
                <a:cs typeface="Arial"/>
              </a:rPr>
              <a:t>declared </a:t>
            </a:r>
            <a:r>
              <a:rPr sz="2400" dirty="0">
                <a:latin typeface="Arial"/>
                <a:cs typeface="Arial"/>
              </a:rPr>
              <a:t>as </a:t>
            </a:r>
            <a:r>
              <a:rPr sz="2400" spc="-5" dirty="0">
                <a:latin typeface="Arial"/>
                <a:cs typeface="Arial"/>
              </a:rPr>
              <a:t>abstract even </a:t>
            </a:r>
            <a:r>
              <a:rPr sz="2400" dirty="0">
                <a:latin typeface="Arial"/>
                <a:cs typeface="Arial"/>
              </a:rPr>
              <a:t>if it </a:t>
            </a:r>
            <a:r>
              <a:rPr sz="2400" spc="-5" dirty="0">
                <a:latin typeface="Arial"/>
                <a:cs typeface="Arial"/>
              </a:rPr>
              <a:t>does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have any </a:t>
            </a:r>
            <a:r>
              <a:rPr sz="2400" dirty="0">
                <a:latin typeface="Arial"/>
                <a:cs typeface="Arial"/>
              </a:rPr>
              <a:t>abstract</a:t>
            </a:r>
            <a:r>
              <a:rPr sz="2400" spc="-5" dirty="0">
                <a:latin typeface="Arial"/>
                <a:cs typeface="Arial"/>
              </a:rPr>
              <a:t> method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F1141"/>
              </a:buClr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Example: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75"/>
              </a:spcBef>
              <a:tabLst>
                <a:tab pos="2755900" algn="l"/>
                <a:tab pos="4585335" algn="l"/>
              </a:tabLst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abstract	class	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public void doS(int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a,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int</a:t>
            </a:r>
            <a:r>
              <a:rPr sz="2400" spc="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b)</a:t>
            </a:r>
            <a:endParaRPr sz="240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2756535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System.out.println(a+b);</a:t>
            </a:r>
            <a:endParaRPr sz="240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}//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End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Method</a:t>
            </a:r>
            <a:endParaRPr sz="24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}//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End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class</a:t>
            </a:r>
            <a:r>
              <a:rPr sz="2400" spc="-1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48761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Abstract</a:t>
            </a:r>
            <a:r>
              <a:rPr sz="3600" i="0" spc="-2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Classes</a:t>
            </a:r>
            <a:r>
              <a:rPr sz="3600" i="0" spc="-3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3600" i="0" spc="-3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Fact</a:t>
            </a:r>
            <a:r>
              <a:rPr sz="3600" i="0" spc="-3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I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519250"/>
            <a:ext cx="24225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F1141"/>
              </a:buClr>
              <a:buChar char="•"/>
              <a:tabLst>
                <a:tab pos="354965" algn="l"/>
                <a:tab pos="355600" algn="l"/>
                <a:tab pos="1274445" algn="l"/>
              </a:tabLst>
            </a:pPr>
            <a:r>
              <a:rPr sz="2400" dirty="0">
                <a:latin typeface="Arial"/>
                <a:cs typeface="Arial"/>
              </a:rPr>
              <a:t>Only	</a:t>
            </a:r>
            <a:r>
              <a:rPr sz="2400" spc="-5" dirty="0">
                <a:latin typeface="Arial"/>
                <a:cs typeface="Arial"/>
              </a:rPr>
              <a:t>instance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2510" y="1519250"/>
            <a:ext cx="53816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3835" algn="l"/>
                <a:tab pos="2684145" algn="l"/>
                <a:tab pos="4246880" algn="l"/>
                <a:tab pos="5029835" algn="l"/>
              </a:tabLst>
            </a:pPr>
            <a:r>
              <a:rPr sz="2400" dirty="0">
                <a:latin typeface="Arial"/>
                <a:cs typeface="Arial"/>
              </a:rPr>
              <a:t>metho</a:t>
            </a:r>
            <a:r>
              <a:rPr sz="2400" spc="-10" dirty="0">
                <a:latin typeface="Arial"/>
                <a:cs typeface="Arial"/>
              </a:rPr>
              <a:t>d</a:t>
            </a:r>
            <a:r>
              <a:rPr sz="2400" dirty="0">
                <a:latin typeface="Arial"/>
                <a:cs typeface="Arial"/>
              </a:rPr>
              <a:t>s	(ob</a:t>
            </a:r>
            <a:r>
              <a:rPr sz="2400" spc="15" dirty="0">
                <a:latin typeface="Arial"/>
                <a:cs typeface="Arial"/>
              </a:rPr>
              <a:t>j</a:t>
            </a:r>
            <a:r>
              <a:rPr sz="2400" dirty="0">
                <a:latin typeface="Arial"/>
                <a:cs typeface="Arial"/>
              </a:rPr>
              <a:t>ect	m</a:t>
            </a:r>
            <a:r>
              <a:rPr sz="2400" spc="-15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thod</a:t>
            </a:r>
            <a:r>
              <a:rPr sz="2400" spc="-10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)	can	</a:t>
            </a:r>
            <a:r>
              <a:rPr sz="2400" spc="-5" dirty="0">
                <a:latin typeface="Arial"/>
                <a:cs typeface="Arial"/>
              </a:rPr>
              <a:t>be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57200" y="1886464"/>
            <a:ext cx="8506460" cy="13944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675"/>
              </a:spcBef>
            </a:pPr>
            <a:r>
              <a:rPr spc="-5" dirty="0"/>
              <a:t>declared as</a:t>
            </a:r>
            <a:r>
              <a:rPr spc="30" dirty="0"/>
              <a:t> </a:t>
            </a:r>
            <a:r>
              <a:rPr dirty="0"/>
              <a:t>abstract.</a:t>
            </a: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F1141"/>
              </a:buClr>
              <a:buChar char="•"/>
              <a:tabLst>
                <a:tab pos="354965" algn="l"/>
                <a:tab pos="355600" algn="l"/>
              </a:tabLst>
            </a:pPr>
            <a:r>
              <a:rPr spc="-5" dirty="0">
                <a:solidFill>
                  <a:srgbClr val="FF0000"/>
                </a:solidFill>
              </a:rPr>
              <a:t>‘static’ </a:t>
            </a:r>
            <a:r>
              <a:rPr spc="-5" dirty="0"/>
              <a:t>and </a:t>
            </a:r>
            <a:r>
              <a:rPr spc="-5" dirty="0">
                <a:solidFill>
                  <a:srgbClr val="FF0000"/>
                </a:solidFill>
              </a:rPr>
              <a:t>‘abstract’ </a:t>
            </a:r>
            <a:r>
              <a:rPr dirty="0"/>
              <a:t>forms </a:t>
            </a:r>
            <a:r>
              <a:rPr spc="-5" dirty="0"/>
              <a:t>illegal</a:t>
            </a:r>
            <a:r>
              <a:rPr spc="-130" dirty="0"/>
              <a:t> </a:t>
            </a:r>
            <a:r>
              <a:rPr spc="-5" dirty="0"/>
              <a:t>combination</a:t>
            </a: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F1141"/>
              </a:buClr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Example:</a:t>
            </a:r>
          </a:p>
          <a:p>
            <a:pPr>
              <a:lnSpc>
                <a:spcPct val="100000"/>
              </a:lnSpc>
            </a:pPr>
            <a:endParaRPr sz="2700" dirty="0"/>
          </a:p>
          <a:p>
            <a:pPr marL="1325245">
              <a:lnSpc>
                <a:spcPct val="100000"/>
              </a:lnSpc>
              <a:spcBef>
                <a:spcPts val="2205"/>
              </a:spcBef>
              <a:tabLst>
                <a:tab pos="3154045" algn="l"/>
                <a:tab pos="4983480" algn="l"/>
              </a:tabLst>
            </a:pPr>
            <a:r>
              <a:rPr spc="-15" dirty="0">
                <a:solidFill>
                  <a:srgbClr val="FF0000"/>
                </a:solidFill>
                <a:latin typeface="Carlito"/>
                <a:cs typeface="Carlito"/>
              </a:rPr>
              <a:t>abstract	</a:t>
            </a:r>
            <a:r>
              <a:rPr dirty="0">
                <a:solidFill>
                  <a:srgbClr val="FF0000"/>
                </a:solidFill>
                <a:latin typeface="Carlito"/>
                <a:cs typeface="Carlito"/>
              </a:rPr>
              <a:t>class	A</a:t>
            </a:r>
          </a:p>
          <a:p>
            <a:pPr marL="1325245">
              <a:lnSpc>
                <a:spcPct val="100000"/>
              </a:lnSpc>
            </a:pPr>
            <a:r>
              <a:rPr dirty="0">
                <a:solidFill>
                  <a:srgbClr val="FF0000"/>
                </a:solidFill>
                <a:latin typeface="Carlito"/>
                <a:cs typeface="Carlito"/>
              </a:rPr>
              <a:t>{</a:t>
            </a:r>
          </a:p>
          <a:p>
            <a:pPr marL="2239645">
              <a:lnSpc>
                <a:spcPct val="100000"/>
              </a:lnSpc>
            </a:pPr>
            <a:r>
              <a:rPr spc="-5" dirty="0">
                <a:solidFill>
                  <a:srgbClr val="FF0000"/>
                </a:solidFill>
                <a:latin typeface="Carlito"/>
                <a:cs typeface="Carlito"/>
              </a:rPr>
              <a:t>public </a:t>
            </a:r>
            <a:r>
              <a:rPr spc="-15" dirty="0">
                <a:solidFill>
                  <a:srgbClr val="FF0000"/>
                </a:solidFill>
                <a:latin typeface="Carlito"/>
                <a:cs typeface="Carlito"/>
              </a:rPr>
              <a:t>static abstract </a:t>
            </a:r>
            <a:r>
              <a:rPr spc="-10" dirty="0">
                <a:solidFill>
                  <a:srgbClr val="FF0000"/>
                </a:solidFill>
                <a:latin typeface="Carlito"/>
                <a:cs typeface="Carlito"/>
              </a:rPr>
              <a:t>void doS(int </a:t>
            </a:r>
            <a:r>
              <a:rPr dirty="0">
                <a:solidFill>
                  <a:srgbClr val="FF0000"/>
                </a:solidFill>
                <a:latin typeface="Carlito"/>
                <a:cs typeface="Carlito"/>
              </a:rPr>
              <a:t>a, </a:t>
            </a:r>
            <a:r>
              <a:rPr spc="-10" dirty="0">
                <a:solidFill>
                  <a:srgbClr val="FF0000"/>
                </a:solidFill>
                <a:latin typeface="Carlito"/>
                <a:cs typeface="Carlito"/>
              </a:rPr>
              <a:t>int</a:t>
            </a:r>
            <a:r>
              <a:rPr spc="-4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dirty="0">
                <a:solidFill>
                  <a:srgbClr val="FF0000"/>
                </a:solidFill>
                <a:latin typeface="Carlito"/>
                <a:cs typeface="Carlito"/>
              </a:rPr>
              <a:t>b);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350" dirty="0">
              <a:latin typeface="Carlito"/>
              <a:cs typeface="Carlito"/>
            </a:endParaRPr>
          </a:p>
          <a:p>
            <a:pPr marL="1325245">
              <a:lnSpc>
                <a:spcPct val="100000"/>
              </a:lnSpc>
            </a:pPr>
            <a:r>
              <a:rPr spc="-5" dirty="0">
                <a:solidFill>
                  <a:srgbClr val="FF0000"/>
                </a:solidFill>
                <a:latin typeface="Carlito"/>
                <a:cs typeface="Carlito"/>
              </a:rPr>
              <a:t>}// End of </a:t>
            </a:r>
            <a:r>
              <a:rPr dirty="0">
                <a:solidFill>
                  <a:srgbClr val="FF0000"/>
                </a:solidFill>
                <a:latin typeface="Carlito"/>
                <a:cs typeface="Carlito"/>
              </a:rPr>
              <a:t>class</a:t>
            </a:r>
            <a:r>
              <a:rPr spc="-3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dirty="0">
                <a:solidFill>
                  <a:srgbClr val="FF0000"/>
                </a:solidFill>
                <a:latin typeface="Carlito"/>
                <a:cs typeface="Carlito"/>
              </a:rPr>
              <a:t>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4982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Abstract</a:t>
            </a:r>
            <a:r>
              <a:rPr sz="3600" i="0" spc="-2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Classes</a:t>
            </a:r>
            <a:r>
              <a:rPr sz="3600" i="0" spc="-3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3600" i="0" spc="-3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Fact</a:t>
            </a:r>
            <a:r>
              <a:rPr sz="3600" i="0" spc="-3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85" dirty="0">
                <a:solidFill>
                  <a:srgbClr val="000000"/>
                </a:solidFill>
                <a:latin typeface="Arial"/>
                <a:cs typeface="Arial"/>
              </a:rPr>
              <a:t>II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519250"/>
            <a:ext cx="8072755" cy="1196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F1141"/>
              </a:buClr>
              <a:buChar char="•"/>
              <a:tabLst>
                <a:tab pos="354965" algn="l"/>
                <a:tab pos="355600" algn="l"/>
                <a:tab pos="896619" algn="l"/>
                <a:tab pos="2149475" algn="l"/>
                <a:tab pos="3012440" algn="l"/>
                <a:tab pos="3757295" algn="l"/>
                <a:tab pos="4839970" algn="l"/>
                <a:tab pos="5770880" algn="l"/>
                <a:tab pos="6975475" algn="l"/>
              </a:tabLst>
            </a:pPr>
            <a:r>
              <a:rPr sz="2400" spc="-5" dirty="0">
                <a:latin typeface="Arial"/>
                <a:cs typeface="Arial"/>
              </a:rPr>
              <a:t>An	abstract	class	</a:t>
            </a:r>
            <a:r>
              <a:rPr sz="2400" dirty="0">
                <a:latin typeface="Arial"/>
                <a:cs typeface="Arial"/>
              </a:rPr>
              <a:t>may	</a:t>
            </a:r>
            <a:r>
              <a:rPr sz="2400" spc="-5" dirty="0">
                <a:latin typeface="Arial"/>
                <a:cs typeface="Arial"/>
              </a:rPr>
              <a:t>extend	either	</a:t>
            </a:r>
            <a:r>
              <a:rPr sz="2400" dirty="0">
                <a:latin typeface="Arial"/>
                <a:cs typeface="Arial"/>
              </a:rPr>
              <a:t>another	</a:t>
            </a:r>
            <a:r>
              <a:rPr sz="2400" spc="-5" dirty="0">
                <a:latin typeface="Arial"/>
                <a:cs typeface="Arial"/>
              </a:rPr>
              <a:t>abstract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class or a concrete (non-abstract)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class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F1141"/>
              </a:buClr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Example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5088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Abstract</a:t>
            </a:r>
            <a:r>
              <a:rPr sz="3600" i="0" spc="-2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Classes</a:t>
            </a:r>
            <a:r>
              <a:rPr sz="3600" i="0" spc="-3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3600" i="0" spc="-3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Fact</a:t>
            </a:r>
            <a:r>
              <a:rPr sz="3600" i="0" spc="-3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10" dirty="0">
                <a:solidFill>
                  <a:srgbClr val="000000"/>
                </a:solidFill>
                <a:latin typeface="Arial"/>
                <a:cs typeface="Arial"/>
              </a:rPr>
              <a:t>III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3800" y="2794761"/>
            <a:ext cx="319341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FF0000"/>
                </a:solidFill>
                <a:latin typeface="Carlito"/>
                <a:cs typeface="Carlito"/>
              </a:rPr>
              <a:t>abstract </a:t>
            </a: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class</a:t>
            </a:r>
            <a:r>
              <a:rPr sz="2400" spc="-4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A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{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0000"/>
                </a:solidFill>
                <a:latin typeface="Carlito"/>
                <a:cs typeface="Carlito"/>
              </a:rPr>
              <a:t>}// End of </a:t>
            </a: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class</a:t>
            </a:r>
            <a:r>
              <a:rPr sz="2400" spc="-4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A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400" spc="-15" dirty="0">
                <a:solidFill>
                  <a:srgbClr val="FF0000"/>
                </a:solidFill>
                <a:latin typeface="Carlito"/>
                <a:cs typeface="Carlito"/>
              </a:rPr>
              <a:t>abstract </a:t>
            </a: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class B </a:t>
            </a:r>
            <a:r>
              <a:rPr sz="2400" spc="-10" dirty="0">
                <a:solidFill>
                  <a:srgbClr val="FF0000"/>
                </a:solidFill>
                <a:latin typeface="Carlito"/>
                <a:cs typeface="Carlito"/>
              </a:rPr>
              <a:t>extends</a:t>
            </a:r>
            <a:r>
              <a:rPr sz="2400" spc="-10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A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{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FF0000"/>
                </a:solidFill>
                <a:latin typeface="Carlito"/>
                <a:cs typeface="Carlito"/>
              </a:rPr>
              <a:t>}// End of </a:t>
            </a: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class</a:t>
            </a:r>
            <a:r>
              <a:rPr sz="2400" spc="-3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B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36921" y="2794761"/>
            <a:ext cx="319341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class</a:t>
            </a:r>
            <a:r>
              <a:rPr sz="2400" spc="-2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A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{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0000"/>
                </a:solidFill>
                <a:latin typeface="Carlito"/>
                <a:cs typeface="Carlito"/>
              </a:rPr>
              <a:t>}// End of </a:t>
            </a: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class</a:t>
            </a:r>
            <a:r>
              <a:rPr sz="2400" spc="-4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A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400" spc="-15" dirty="0">
                <a:solidFill>
                  <a:srgbClr val="FF0000"/>
                </a:solidFill>
                <a:latin typeface="Carlito"/>
                <a:cs typeface="Carlito"/>
              </a:rPr>
              <a:t>abstract </a:t>
            </a: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class B </a:t>
            </a:r>
            <a:r>
              <a:rPr sz="2400" spc="-10" dirty="0">
                <a:solidFill>
                  <a:srgbClr val="FF0000"/>
                </a:solidFill>
                <a:latin typeface="Carlito"/>
                <a:cs typeface="Carlito"/>
              </a:rPr>
              <a:t>extends</a:t>
            </a:r>
            <a:r>
              <a:rPr sz="2400" spc="-10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A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{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FF0000"/>
                </a:solidFill>
                <a:latin typeface="Carlito"/>
                <a:cs typeface="Carlito"/>
              </a:rPr>
              <a:t>}// End of </a:t>
            </a: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class</a:t>
            </a:r>
            <a:r>
              <a:rPr sz="2400" spc="-3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B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29911" y="6550152"/>
            <a:ext cx="4514215" cy="48895"/>
            <a:chOff x="4629911" y="6550152"/>
            <a:chExt cx="4514215" cy="48895"/>
          </a:xfrm>
        </p:grpSpPr>
        <p:sp>
          <p:nvSpPr>
            <p:cNvPr id="3" name="object 3"/>
            <p:cNvSpPr/>
            <p:nvPr/>
          </p:nvSpPr>
          <p:spPr>
            <a:xfrm>
              <a:off x="4629911" y="6550152"/>
              <a:ext cx="2329180" cy="48895"/>
            </a:xfrm>
            <a:custGeom>
              <a:avLst/>
              <a:gdLst/>
              <a:ahLst/>
              <a:cxnLst/>
              <a:rect l="l" t="t" r="r" b="b"/>
              <a:pathLst>
                <a:path w="2329179" h="48895">
                  <a:moveTo>
                    <a:pt x="2328672" y="0"/>
                  </a:moveTo>
                  <a:lnTo>
                    <a:pt x="0" y="0"/>
                  </a:lnTo>
                  <a:lnTo>
                    <a:pt x="0" y="48768"/>
                  </a:lnTo>
                  <a:lnTo>
                    <a:pt x="2328672" y="48768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08291" y="6550152"/>
              <a:ext cx="2235835" cy="45720"/>
            </a:xfrm>
            <a:custGeom>
              <a:avLst/>
              <a:gdLst/>
              <a:ahLst/>
              <a:cxnLst/>
              <a:rect l="l" t="t" r="r" b="b"/>
              <a:pathLst>
                <a:path w="2235834" h="45720">
                  <a:moveTo>
                    <a:pt x="2235707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235707" y="45720"/>
                  </a:lnTo>
                  <a:lnTo>
                    <a:pt x="2235707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6629400" y="0"/>
            <a:ext cx="2193036" cy="6934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4495800" y="6553200"/>
            <a:ext cx="4648200" cy="45720"/>
            <a:chOff x="4495800" y="6553200"/>
            <a:chExt cx="4648200" cy="45720"/>
          </a:xfrm>
        </p:grpSpPr>
        <p:sp>
          <p:nvSpPr>
            <p:cNvPr id="7" name="object 7"/>
            <p:cNvSpPr/>
            <p:nvPr/>
          </p:nvSpPr>
          <p:spPr>
            <a:xfrm>
              <a:off x="4495800" y="65532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20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15327" y="65532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20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0" y="1295400"/>
            <a:ext cx="7010400" cy="45720"/>
            <a:chOff x="0" y="1295400"/>
            <a:chExt cx="7010400" cy="45720"/>
          </a:xfrm>
        </p:grpSpPr>
        <p:sp>
          <p:nvSpPr>
            <p:cNvPr id="10" name="object 10"/>
            <p:cNvSpPr/>
            <p:nvPr/>
          </p:nvSpPr>
          <p:spPr>
            <a:xfrm>
              <a:off x="2362200" y="12954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1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1295400"/>
              <a:ext cx="2362200" cy="45720"/>
            </a:xfrm>
            <a:custGeom>
              <a:avLst/>
              <a:gdLst/>
              <a:ahLst/>
              <a:cxnLst/>
              <a:rect l="l" t="t" r="r" b="b"/>
              <a:pathLst>
                <a:path w="2362200" h="45719">
                  <a:moveTo>
                    <a:pt x="23622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62200" y="45720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81728" y="1295400"/>
              <a:ext cx="2329180" cy="45720"/>
            </a:xfrm>
            <a:custGeom>
              <a:avLst/>
              <a:gdLst/>
              <a:ahLst/>
              <a:cxnLst/>
              <a:rect l="l" t="t" r="r" b="b"/>
              <a:pathLst>
                <a:path w="2329179" h="45719">
                  <a:moveTo>
                    <a:pt x="232867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328672" y="45720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83540" y="1519250"/>
            <a:ext cx="8073390" cy="1196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265" marR="5080" indent="-342265" algn="r">
              <a:lnSpc>
                <a:spcPct val="100000"/>
              </a:lnSpc>
              <a:spcBef>
                <a:spcPts val="100"/>
              </a:spcBef>
              <a:buClr>
                <a:srgbClr val="0F1141"/>
              </a:buClr>
              <a:buChar char="•"/>
              <a:tabLst>
                <a:tab pos="342265" algn="l"/>
                <a:tab pos="342900" algn="l"/>
              </a:tabLst>
            </a:pPr>
            <a:r>
              <a:rPr sz="2400" spc="-5" dirty="0">
                <a:latin typeface="Arial"/>
                <a:cs typeface="Arial"/>
              </a:rPr>
              <a:t>An </a:t>
            </a:r>
            <a:r>
              <a:rPr sz="2400" dirty="0">
                <a:latin typeface="Arial"/>
                <a:cs typeface="Arial"/>
              </a:rPr>
              <a:t>instance </a:t>
            </a:r>
            <a:r>
              <a:rPr sz="2400" spc="-5" dirty="0">
                <a:latin typeface="Arial"/>
                <a:cs typeface="Arial"/>
              </a:rPr>
              <a:t>or object cannot belong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an </a:t>
            </a:r>
            <a:r>
              <a:rPr sz="2400" dirty="0">
                <a:latin typeface="Arial"/>
                <a:cs typeface="Arial"/>
              </a:rPr>
              <a:t>abstract</a:t>
            </a:r>
            <a:r>
              <a:rPr sz="2400" spc="4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class.</a:t>
            </a:r>
            <a:endParaRPr sz="2400">
              <a:latin typeface="Arial"/>
              <a:cs typeface="Arial"/>
            </a:endParaRPr>
          </a:p>
          <a:p>
            <a:pPr marR="62865" algn="r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However a variable can belong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an </a:t>
            </a:r>
            <a:r>
              <a:rPr sz="2400" dirty="0">
                <a:latin typeface="Arial"/>
                <a:cs typeface="Arial"/>
              </a:rPr>
              <a:t>abstract </a:t>
            </a:r>
            <a:r>
              <a:rPr sz="2400" spc="-5" dirty="0">
                <a:latin typeface="Arial"/>
                <a:cs typeface="Arial"/>
              </a:rPr>
              <a:t>class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type.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F1141"/>
              </a:buClr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Example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5160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Abstract</a:t>
            </a:r>
            <a:r>
              <a:rPr sz="3600" i="0" spc="-2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Classes</a:t>
            </a:r>
            <a:r>
              <a:rPr sz="3600" i="0" spc="-3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3600" i="0" spc="-3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Fact</a:t>
            </a:r>
            <a:r>
              <a:rPr sz="3600" i="0" spc="-3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85" dirty="0">
                <a:solidFill>
                  <a:srgbClr val="000000"/>
                </a:solidFill>
                <a:latin typeface="Arial"/>
                <a:cs typeface="Arial"/>
              </a:rPr>
              <a:t>IV</a:t>
            </a:r>
            <a:endParaRPr sz="3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8267" y="2869514"/>
            <a:ext cx="176720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0000"/>
                </a:solidFill>
                <a:latin typeface="Carlito"/>
                <a:cs typeface="Carlito"/>
              </a:rPr>
              <a:t>abstract 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class A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{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}// End </a:t>
            </a:r>
            <a:r>
              <a:rPr sz="2000" spc="-5" dirty="0">
                <a:solidFill>
                  <a:srgbClr val="FF000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class</a:t>
            </a:r>
            <a:r>
              <a:rPr sz="2000" spc="-12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A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8267" y="4088968"/>
            <a:ext cx="1783080" cy="941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class B </a:t>
            </a:r>
            <a:r>
              <a:rPr sz="2000" spc="-10" dirty="0">
                <a:solidFill>
                  <a:srgbClr val="FF0000"/>
                </a:solidFill>
                <a:latin typeface="Carlito"/>
                <a:cs typeface="Carlito"/>
              </a:rPr>
              <a:t>extends</a:t>
            </a:r>
            <a:r>
              <a:rPr sz="2000" spc="-6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A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{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}// End </a:t>
            </a:r>
            <a:r>
              <a:rPr sz="2000" spc="-5" dirty="0">
                <a:solidFill>
                  <a:srgbClr val="FF000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class</a:t>
            </a:r>
            <a:r>
              <a:rPr sz="2000" spc="-11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B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8267" y="5308549"/>
            <a:ext cx="177863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class C </a:t>
            </a:r>
            <a:r>
              <a:rPr sz="2000" spc="-10" dirty="0">
                <a:solidFill>
                  <a:srgbClr val="FF0000"/>
                </a:solidFill>
                <a:latin typeface="Carlito"/>
                <a:cs typeface="Carlito"/>
              </a:rPr>
              <a:t>extends</a:t>
            </a:r>
            <a:r>
              <a:rPr sz="2000" spc="-7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A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{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}// End </a:t>
            </a:r>
            <a:r>
              <a:rPr sz="2000" spc="-5" dirty="0">
                <a:solidFill>
                  <a:srgbClr val="FF000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class</a:t>
            </a:r>
            <a:r>
              <a:rPr sz="2000" spc="-12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C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464814" y="3187445"/>
            <a:ext cx="4154804" cy="433070"/>
          </a:xfrm>
          <a:custGeom>
            <a:avLst/>
            <a:gdLst/>
            <a:ahLst/>
            <a:cxnLst/>
            <a:rect l="l" t="t" r="r" b="b"/>
            <a:pathLst>
              <a:path w="4154804" h="433070">
                <a:moveTo>
                  <a:pt x="4154424" y="0"/>
                </a:moveTo>
                <a:lnTo>
                  <a:pt x="4148730" y="49616"/>
                </a:lnTo>
                <a:lnTo>
                  <a:pt x="4132513" y="95165"/>
                </a:lnTo>
                <a:lnTo>
                  <a:pt x="4107067" y="135347"/>
                </a:lnTo>
                <a:lnTo>
                  <a:pt x="4073689" y="168861"/>
                </a:lnTo>
                <a:lnTo>
                  <a:pt x="4033672" y="194409"/>
                </a:lnTo>
                <a:lnTo>
                  <a:pt x="3988312" y="210691"/>
                </a:lnTo>
                <a:lnTo>
                  <a:pt x="3938905" y="216407"/>
                </a:lnTo>
                <a:lnTo>
                  <a:pt x="2292731" y="216407"/>
                </a:lnTo>
                <a:lnTo>
                  <a:pt x="2243323" y="222124"/>
                </a:lnTo>
                <a:lnTo>
                  <a:pt x="2197963" y="238406"/>
                </a:lnTo>
                <a:lnTo>
                  <a:pt x="2157946" y="263954"/>
                </a:lnTo>
                <a:lnTo>
                  <a:pt x="2124568" y="297468"/>
                </a:lnTo>
                <a:lnTo>
                  <a:pt x="2099122" y="337650"/>
                </a:lnTo>
                <a:lnTo>
                  <a:pt x="2082905" y="383199"/>
                </a:lnTo>
                <a:lnTo>
                  <a:pt x="2077212" y="432815"/>
                </a:lnTo>
                <a:lnTo>
                  <a:pt x="2071518" y="383199"/>
                </a:lnTo>
                <a:lnTo>
                  <a:pt x="2055301" y="337650"/>
                </a:lnTo>
                <a:lnTo>
                  <a:pt x="2029855" y="297468"/>
                </a:lnTo>
                <a:lnTo>
                  <a:pt x="1996477" y="263954"/>
                </a:lnTo>
                <a:lnTo>
                  <a:pt x="1956460" y="238406"/>
                </a:lnTo>
                <a:lnTo>
                  <a:pt x="1911100" y="222124"/>
                </a:lnTo>
                <a:lnTo>
                  <a:pt x="1861693" y="216407"/>
                </a:lnTo>
                <a:lnTo>
                  <a:pt x="215519" y="216407"/>
                </a:lnTo>
                <a:lnTo>
                  <a:pt x="166111" y="210691"/>
                </a:lnTo>
                <a:lnTo>
                  <a:pt x="120751" y="194409"/>
                </a:lnTo>
                <a:lnTo>
                  <a:pt x="80734" y="168861"/>
                </a:lnTo>
                <a:lnTo>
                  <a:pt x="47356" y="135347"/>
                </a:lnTo>
                <a:lnTo>
                  <a:pt x="21910" y="95165"/>
                </a:lnTo>
                <a:lnTo>
                  <a:pt x="5693" y="49616"/>
                </a:lnTo>
                <a:lnTo>
                  <a:pt x="0" y="0"/>
                </a:lnTo>
              </a:path>
            </a:pathLst>
          </a:custGeom>
          <a:ln w="25908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81578" y="4365497"/>
            <a:ext cx="4154804" cy="433070"/>
          </a:xfrm>
          <a:custGeom>
            <a:avLst/>
            <a:gdLst/>
            <a:ahLst/>
            <a:cxnLst/>
            <a:rect l="l" t="t" r="r" b="b"/>
            <a:pathLst>
              <a:path w="4154804" h="433070">
                <a:moveTo>
                  <a:pt x="4154424" y="0"/>
                </a:moveTo>
                <a:lnTo>
                  <a:pt x="4148730" y="49616"/>
                </a:lnTo>
                <a:lnTo>
                  <a:pt x="4132513" y="95165"/>
                </a:lnTo>
                <a:lnTo>
                  <a:pt x="4107067" y="135347"/>
                </a:lnTo>
                <a:lnTo>
                  <a:pt x="4073689" y="168861"/>
                </a:lnTo>
                <a:lnTo>
                  <a:pt x="4033672" y="194409"/>
                </a:lnTo>
                <a:lnTo>
                  <a:pt x="3988312" y="210691"/>
                </a:lnTo>
                <a:lnTo>
                  <a:pt x="3938904" y="216407"/>
                </a:lnTo>
                <a:lnTo>
                  <a:pt x="2292731" y="216407"/>
                </a:lnTo>
                <a:lnTo>
                  <a:pt x="2243323" y="222124"/>
                </a:lnTo>
                <a:lnTo>
                  <a:pt x="2197963" y="238406"/>
                </a:lnTo>
                <a:lnTo>
                  <a:pt x="2157946" y="263954"/>
                </a:lnTo>
                <a:lnTo>
                  <a:pt x="2124568" y="297468"/>
                </a:lnTo>
                <a:lnTo>
                  <a:pt x="2099122" y="337650"/>
                </a:lnTo>
                <a:lnTo>
                  <a:pt x="2082905" y="383199"/>
                </a:lnTo>
                <a:lnTo>
                  <a:pt x="2077212" y="432815"/>
                </a:lnTo>
                <a:lnTo>
                  <a:pt x="2071518" y="383199"/>
                </a:lnTo>
                <a:lnTo>
                  <a:pt x="2055301" y="337650"/>
                </a:lnTo>
                <a:lnTo>
                  <a:pt x="2029855" y="297468"/>
                </a:lnTo>
                <a:lnTo>
                  <a:pt x="1996477" y="263954"/>
                </a:lnTo>
                <a:lnTo>
                  <a:pt x="1956460" y="238406"/>
                </a:lnTo>
                <a:lnTo>
                  <a:pt x="1911100" y="222124"/>
                </a:lnTo>
                <a:lnTo>
                  <a:pt x="1861693" y="216407"/>
                </a:lnTo>
                <a:lnTo>
                  <a:pt x="215519" y="216407"/>
                </a:lnTo>
                <a:lnTo>
                  <a:pt x="166111" y="210691"/>
                </a:lnTo>
                <a:lnTo>
                  <a:pt x="120751" y="194409"/>
                </a:lnTo>
                <a:lnTo>
                  <a:pt x="80734" y="168861"/>
                </a:lnTo>
                <a:lnTo>
                  <a:pt x="47356" y="135347"/>
                </a:lnTo>
                <a:lnTo>
                  <a:pt x="21910" y="95165"/>
                </a:lnTo>
                <a:lnTo>
                  <a:pt x="5693" y="49616"/>
                </a:lnTo>
                <a:lnTo>
                  <a:pt x="0" y="0"/>
                </a:lnTo>
              </a:path>
            </a:pathLst>
          </a:custGeom>
          <a:ln w="25907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366898" y="2869514"/>
            <a:ext cx="6153785" cy="3075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924560" algn="r">
              <a:lnSpc>
                <a:spcPct val="100000"/>
              </a:lnSpc>
              <a:spcBef>
                <a:spcPts val="105"/>
              </a:spcBef>
              <a:tabLst>
                <a:tab pos="913765" algn="l"/>
                <a:tab pos="1828800" algn="l"/>
                <a:tab pos="2743200" algn="l"/>
                <a:tab pos="3657600" algn="l"/>
              </a:tabLst>
            </a:pP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A	a1	=	</a:t>
            </a:r>
            <a:r>
              <a:rPr sz="2000" spc="-5" dirty="0">
                <a:solidFill>
                  <a:srgbClr val="FF0000"/>
                </a:solidFill>
                <a:latin typeface="Carlito"/>
                <a:cs typeface="Carlito"/>
              </a:rPr>
              <a:t>n</a:t>
            </a:r>
            <a:r>
              <a:rPr sz="2000" spc="-15" dirty="0">
                <a:solidFill>
                  <a:srgbClr val="FF0000"/>
                </a:solidFill>
                <a:latin typeface="Carlito"/>
                <a:cs typeface="Carlito"/>
              </a:rPr>
              <a:t>e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w	A(</a:t>
            </a:r>
            <a:r>
              <a:rPr sz="2000" spc="-5" dirty="0">
                <a:solidFill>
                  <a:srgbClr val="FF0000"/>
                </a:solidFill>
                <a:latin typeface="Carlito"/>
                <a:cs typeface="Carlito"/>
              </a:rPr>
              <a:t>);</a:t>
            </a:r>
            <a:endParaRPr sz="2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95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Compile-Time </a:t>
            </a:r>
            <a:r>
              <a:rPr sz="1800" b="1" spc="-10" dirty="0">
                <a:solidFill>
                  <a:srgbClr val="FF0000"/>
                </a:solidFill>
                <a:latin typeface="Carlito"/>
                <a:cs typeface="Carlito"/>
              </a:rPr>
              <a:t>Error: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Object Cannot belong </a:t>
            </a:r>
            <a:r>
              <a:rPr sz="1800" b="1" spc="-10" dirty="0">
                <a:solidFill>
                  <a:srgbClr val="FF0000"/>
                </a:solidFill>
                <a:latin typeface="Carlito"/>
                <a:cs typeface="Carlito"/>
              </a:rPr>
              <a:t>to Abstract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Class</a:t>
            </a:r>
            <a:r>
              <a:rPr sz="1800" b="1" spc="-7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rlito"/>
                <a:cs typeface="Carlito"/>
              </a:rPr>
              <a:t>Type</a:t>
            </a:r>
            <a:endParaRPr sz="1800">
              <a:latin typeface="Carlito"/>
              <a:cs typeface="Carlito"/>
            </a:endParaRPr>
          </a:p>
          <a:p>
            <a:pPr marR="932815" algn="r">
              <a:lnSpc>
                <a:spcPct val="100000"/>
              </a:lnSpc>
              <a:spcBef>
                <a:spcPts val="1395"/>
              </a:spcBef>
              <a:tabLst>
                <a:tab pos="913765" algn="l"/>
                <a:tab pos="1828800" algn="l"/>
                <a:tab pos="2743200" algn="l"/>
                <a:tab pos="3657600" algn="l"/>
              </a:tabLst>
            </a:pP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A	a1	=	</a:t>
            </a:r>
            <a:r>
              <a:rPr sz="2000" spc="-5" dirty="0">
                <a:solidFill>
                  <a:srgbClr val="FF0000"/>
                </a:solidFill>
                <a:latin typeface="Carlito"/>
                <a:cs typeface="Carlito"/>
              </a:rPr>
              <a:t>n</a:t>
            </a:r>
            <a:r>
              <a:rPr sz="2000" spc="-15" dirty="0">
                <a:solidFill>
                  <a:srgbClr val="FF0000"/>
                </a:solidFill>
                <a:latin typeface="Carlito"/>
                <a:cs typeface="Carlito"/>
              </a:rPr>
              <a:t>e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w	B(</a:t>
            </a:r>
            <a:r>
              <a:rPr sz="2000" spc="5" dirty="0">
                <a:solidFill>
                  <a:srgbClr val="FF0000"/>
                </a:solidFill>
                <a:latin typeface="Carlito"/>
                <a:cs typeface="Carlito"/>
              </a:rPr>
              <a:t>)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;</a:t>
            </a:r>
            <a:endParaRPr sz="2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700">
              <a:latin typeface="Carlito"/>
              <a:cs typeface="Carlito"/>
            </a:endParaRPr>
          </a:p>
          <a:p>
            <a:pPr marL="2319020" marR="7620" indent="-2153920">
              <a:lnSpc>
                <a:spcPct val="100000"/>
              </a:lnSpc>
            </a:pPr>
            <a:r>
              <a:rPr sz="1800" b="1" spc="-10" dirty="0">
                <a:solidFill>
                  <a:srgbClr val="FF0000"/>
                </a:solidFill>
                <a:latin typeface="Carlito"/>
                <a:cs typeface="Carlito"/>
              </a:rPr>
              <a:t>Correct: Abstract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Class </a:t>
            </a:r>
            <a:r>
              <a:rPr sz="1800" b="1" spc="-20" dirty="0">
                <a:solidFill>
                  <a:srgbClr val="FF0000"/>
                </a:solidFill>
                <a:latin typeface="Carlito"/>
                <a:cs typeface="Carlito"/>
              </a:rPr>
              <a:t>Type </a:t>
            </a:r>
            <a:r>
              <a:rPr sz="1800" b="1" spc="-15" dirty="0">
                <a:solidFill>
                  <a:srgbClr val="FF0000"/>
                </a:solidFill>
                <a:latin typeface="Carlito"/>
                <a:cs typeface="Carlito"/>
              </a:rPr>
              <a:t>Variable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Can Point </a:t>
            </a:r>
            <a:r>
              <a:rPr sz="1800" b="1" spc="-10" dirty="0">
                <a:solidFill>
                  <a:srgbClr val="FF0000"/>
                </a:solidFill>
                <a:latin typeface="Carlito"/>
                <a:cs typeface="Carlito"/>
              </a:rPr>
              <a:t>to Any Concrete 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Sub-class</a:t>
            </a:r>
            <a:r>
              <a:rPr sz="1800" b="1" spc="-4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Instance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>
              <a:latin typeface="Carlito"/>
              <a:cs typeface="Carlito"/>
            </a:endParaRPr>
          </a:p>
          <a:p>
            <a:pPr marR="935990" algn="r">
              <a:lnSpc>
                <a:spcPct val="100000"/>
              </a:lnSpc>
              <a:tabLst>
                <a:tab pos="914400" algn="l"/>
                <a:tab pos="1828800" algn="l"/>
                <a:tab pos="2743200" algn="l"/>
              </a:tabLst>
            </a:pP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a1	=	</a:t>
            </a:r>
            <a:r>
              <a:rPr sz="2000" spc="-5" dirty="0">
                <a:solidFill>
                  <a:srgbClr val="FF0000"/>
                </a:solidFill>
                <a:latin typeface="Carlito"/>
                <a:cs typeface="Carlito"/>
              </a:rPr>
              <a:t>n</a:t>
            </a:r>
            <a:r>
              <a:rPr sz="2000" spc="-15" dirty="0">
                <a:solidFill>
                  <a:srgbClr val="FF0000"/>
                </a:solidFill>
                <a:latin typeface="Carlito"/>
                <a:cs typeface="Carlito"/>
              </a:rPr>
              <a:t>e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w	</a:t>
            </a:r>
            <a:r>
              <a:rPr sz="2000" spc="-5" dirty="0">
                <a:solidFill>
                  <a:srgbClr val="FF0000"/>
                </a:solidFill>
                <a:latin typeface="Carlito"/>
                <a:cs typeface="Carlito"/>
              </a:rPr>
              <a:t>C(</a:t>
            </a:r>
            <a:r>
              <a:rPr sz="2000" spc="5" dirty="0">
                <a:solidFill>
                  <a:srgbClr val="FF0000"/>
                </a:solidFill>
                <a:latin typeface="Carlito"/>
                <a:cs typeface="Carlito"/>
              </a:rPr>
              <a:t>)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;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397502" y="5898641"/>
            <a:ext cx="3279775" cy="433070"/>
          </a:xfrm>
          <a:custGeom>
            <a:avLst/>
            <a:gdLst/>
            <a:ahLst/>
            <a:cxnLst/>
            <a:rect l="l" t="t" r="r" b="b"/>
            <a:pathLst>
              <a:path w="3279775" h="433070">
                <a:moveTo>
                  <a:pt x="3279648" y="0"/>
                </a:moveTo>
                <a:lnTo>
                  <a:pt x="3273954" y="49620"/>
                </a:lnTo>
                <a:lnTo>
                  <a:pt x="3257737" y="95171"/>
                </a:lnTo>
                <a:lnTo>
                  <a:pt x="3232291" y="135352"/>
                </a:lnTo>
                <a:lnTo>
                  <a:pt x="3198913" y="168865"/>
                </a:lnTo>
                <a:lnTo>
                  <a:pt x="3158896" y="194412"/>
                </a:lnTo>
                <a:lnTo>
                  <a:pt x="3113536" y="210692"/>
                </a:lnTo>
                <a:lnTo>
                  <a:pt x="3064129" y="216408"/>
                </a:lnTo>
                <a:lnTo>
                  <a:pt x="1855343" y="216408"/>
                </a:lnTo>
                <a:lnTo>
                  <a:pt x="1805935" y="222123"/>
                </a:lnTo>
                <a:lnTo>
                  <a:pt x="1760575" y="238403"/>
                </a:lnTo>
                <a:lnTo>
                  <a:pt x="1720558" y="263950"/>
                </a:lnTo>
                <a:lnTo>
                  <a:pt x="1687180" y="297463"/>
                </a:lnTo>
                <a:lnTo>
                  <a:pt x="1661734" y="337644"/>
                </a:lnTo>
                <a:lnTo>
                  <a:pt x="1645517" y="383195"/>
                </a:lnTo>
                <a:lnTo>
                  <a:pt x="1639824" y="432816"/>
                </a:lnTo>
                <a:lnTo>
                  <a:pt x="1634130" y="383195"/>
                </a:lnTo>
                <a:lnTo>
                  <a:pt x="1617913" y="337644"/>
                </a:lnTo>
                <a:lnTo>
                  <a:pt x="1592467" y="297463"/>
                </a:lnTo>
                <a:lnTo>
                  <a:pt x="1559089" y="263950"/>
                </a:lnTo>
                <a:lnTo>
                  <a:pt x="1519072" y="238403"/>
                </a:lnTo>
                <a:lnTo>
                  <a:pt x="1473712" y="222123"/>
                </a:lnTo>
                <a:lnTo>
                  <a:pt x="1424305" y="216408"/>
                </a:lnTo>
                <a:lnTo>
                  <a:pt x="215519" y="216408"/>
                </a:lnTo>
                <a:lnTo>
                  <a:pt x="166111" y="210692"/>
                </a:lnTo>
                <a:lnTo>
                  <a:pt x="120751" y="194412"/>
                </a:lnTo>
                <a:lnTo>
                  <a:pt x="80734" y="168865"/>
                </a:lnTo>
                <a:lnTo>
                  <a:pt x="47356" y="135352"/>
                </a:lnTo>
                <a:lnTo>
                  <a:pt x="21910" y="95171"/>
                </a:lnTo>
                <a:lnTo>
                  <a:pt x="5693" y="49620"/>
                </a:lnTo>
                <a:lnTo>
                  <a:pt x="0" y="0"/>
                </a:lnTo>
              </a:path>
            </a:pathLst>
          </a:custGeom>
          <a:ln w="25908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070607" y="6281115"/>
            <a:ext cx="6927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1069" algn="l"/>
              </a:tabLst>
            </a:pPr>
            <a:r>
              <a:rPr sz="1800" b="1" u="heavy" dirty="0">
                <a:solidFill>
                  <a:srgbClr val="FF0000"/>
                </a:solidFill>
                <a:uFill>
                  <a:solidFill>
                    <a:srgbClr val="FBAF17"/>
                  </a:solidFill>
                </a:uFill>
                <a:latin typeface="Carlito"/>
                <a:cs typeface="Carlito"/>
              </a:rPr>
              <a:t> 	</a:t>
            </a:r>
            <a:r>
              <a:rPr sz="1800" b="1" u="heavy" spc="-10" dirty="0">
                <a:solidFill>
                  <a:srgbClr val="FF0000"/>
                </a:solidFill>
                <a:uFill>
                  <a:solidFill>
                    <a:srgbClr val="FBAF17"/>
                  </a:solidFill>
                </a:uFill>
                <a:latin typeface="Carlito"/>
                <a:cs typeface="Carlito"/>
              </a:rPr>
              <a:t>Correct: Abstract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Class </a:t>
            </a:r>
            <a:r>
              <a:rPr sz="1800" b="1" spc="-20" dirty="0">
                <a:solidFill>
                  <a:srgbClr val="FF0000"/>
                </a:solidFill>
                <a:latin typeface="Carlito"/>
                <a:cs typeface="Carlito"/>
              </a:rPr>
              <a:t>Type </a:t>
            </a:r>
            <a:r>
              <a:rPr sz="1800" b="1" spc="-15" dirty="0">
                <a:solidFill>
                  <a:srgbClr val="FF0000"/>
                </a:solidFill>
                <a:latin typeface="Carlito"/>
                <a:cs typeface="Carlito"/>
              </a:rPr>
              <a:t>Variable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Can Point </a:t>
            </a:r>
            <a:r>
              <a:rPr sz="1800" b="1" spc="-10" dirty="0">
                <a:solidFill>
                  <a:srgbClr val="FF0000"/>
                </a:solidFill>
                <a:latin typeface="Carlito"/>
                <a:cs typeface="Carlito"/>
              </a:rPr>
              <a:t>to Any</a:t>
            </a:r>
            <a:r>
              <a:rPr sz="1800" b="1" spc="-8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rlito"/>
                <a:cs typeface="Carlito"/>
              </a:rPr>
              <a:t>Concrete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53025" y="6555130"/>
            <a:ext cx="17418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Sub-class</a:t>
            </a:r>
            <a:r>
              <a:rPr sz="1800" b="1" spc="-8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Instance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519250"/>
            <a:ext cx="8081645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Clr>
                <a:srgbClr val="0F1141"/>
              </a:buClr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When </a:t>
            </a:r>
            <a:r>
              <a:rPr sz="2400" spc="-5" dirty="0">
                <a:latin typeface="Arial"/>
                <a:cs typeface="Arial"/>
              </a:rPr>
              <a:t>any class </a:t>
            </a:r>
            <a:r>
              <a:rPr sz="2400" dirty="0">
                <a:latin typeface="Arial"/>
                <a:cs typeface="Arial"/>
              </a:rPr>
              <a:t>say </a:t>
            </a:r>
            <a:r>
              <a:rPr sz="2400" spc="-5" dirty="0">
                <a:latin typeface="Arial"/>
                <a:cs typeface="Arial"/>
              </a:rPr>
              <a:t>‘X’ extends an abstract class </a:t>
            </a:r>
            <a:r>
              <a:rPr sz="2400" dirty="0">
                <a:latin typeface="Arial"/>
                <a:cs typeface="Arial"/>
              </a:rPr>
              <a:t>say </a:t>
            </a:r>
            <a:r>
              <a:rPr sz="2400" spc="-5" dirty="0">
                <a:latin typeface="Arial"/>
                <a:cs typeface="Arial"/>
              </a:rPr>
              <a:t>‘Y’  then in </a:t>
            </a:r>
            <a:r>
              <a:rPr sz="2400" dirty="0">
                <a:latin typeface="Arial"/>
                <a:cs typeface="Arial"/>
              </a:rPr>
              <a:t>order for </a:t>
            </a:r>
            <a:r>
              <a:rPr sz="2400" spc="-5" dirty="0">
                <a:latin typeface="Arial"/>
                <a:cs typeface="Arial"/>
              </a:rPr>
              <a:t>class </a:t>
            </a:r>
            <a:r>
              <a:rPr sz="2400" spc="-10" dirty="0">
                <a:latin typeface="Arial"/>
                <a:cs typeface="Arial"/>
              </a:rPr>
              <a:t>‘X’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be a complete or concrete  class,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class </a:t>
            </a:r>
            <a:r>
              <a:rPr sz="2400" dirty="0">
                <a:latin typeface="Arial"/>
                <a:cs typeface="Arial"/>
              </a:rPr>
              <a:t>‘X’ must </a:t>
            </a:r>
            <a:r>
              <a:rPr sz="2400" spc="-5" dirty="0">
                <a:latin typeface="Arial"/>
                <a:cs typeface="Arial"/>
              </a:rPr>
              <a:t>implement all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abstract  </a:t>
            </a:r>
            <a:r>
              <a:rPr sz="2400" dirty="0">
                <a:latin typeface="Arial"/>
                <a:cs typeface="Arial"/>
              </a:rPr>
              <a:t>methods </a:t>
            </a:r>
            <a:r>
              <a:rPr sz="2400" spc="-5" dirty="0">
                <a:latin typeface="Arial"/>
                <a:cs typeface="Arial"/>
              </a:rPr>
              <a:t>of class </a:t>
            </a:r>
            <a:r>
              <a:rPr sz="2400" spc="-10" dirty="0">
                <a:latin typeface="Arial"/>
                <a:cs typeface="Arial"/>
              </a:rPr>
              <a:t>‘Y’ </a:t>
            </a:r>
            <a:r>
              <a:rPr sz="2400" spc="-5" dirty="0">
                <a:latin typeface="Arial"/>
                <a:cs typeface="Arial"/>
              </a:rPr>
              <a:t>otherwise class ‘X’ has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20" dirty="0">
                <a:latin typeface="Arial"/>
                <a:cs typeface="Arial"/>
              </a:rPr>
              <a:t>be  </a:t>
            </a:r>
            <a:r>
              <a:rPr sz="2400" spc="-5" dirty="0">
                <a:latin typeface="Arial"/>
                <a:cs typeface="Arial"/>
              </a:rPr>
              <a:t>declared as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abstract.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5053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0" spc="-140" dirty="0">
                <a:solidFill>
                  <a:srgbClr val="000000"/>
                </a:solidFill>
                <a:latin typeface="Arial"/>
                <a:cs typeface="Arial"/>
              </a:rPr>
              <a:t>Abstract</a:t>
            </a:r>
            <a:r>
              <a:rPr sz="3600" i="0" spc="-2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35" dirty="0">
                <a:solidFill>
                  <a:srgbClr val="000000"/>
                </a:solidFill>
                <a:latin typeface="Arial"/>
                <a:cs typeface="Arial"/>
              </a:rPr>
              <a:t>Classes</a:t>
            </a:r>
            <a:r>
              <a:rPr sz="3600" i="0" spc="-3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3600" i="0" spc="-3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spc="-120" dirty="0">
                <a:solidFill>
                  <a:srgbClr val="000000"/>
                </a:solidFill>
                <a:latin typeface="Arial"/>
                <a:cs typeface="Arial"/>
              </a:rPr>
              <a:t>Fact</a:t>
            </a:r>
            <a:r>
              <a:rPr sz="3600" i="0" spc="-3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600" i="0" dirty="0">
                <a:solidFill>
                  <a:srgbClr val="000000"/>
                </a:solidFill>
                <a:latin typeface="Arial"/>
                <a:cs typeface="Arial"/>
              </a:rPr>
              <a:t>V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2B19E-432E-1E5F-9565-56DA6377F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8770" y="228600"/>
            <a:ext cx="8506460" cy="6186309"/>
          </a:xfrm>
        </p:spPr>
        <p:txBody>
          <a:bodyPr/>
          <a:lstStyle/>
          <a:p>
            <a:pPr marL="180340"/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abstract class Shape {</a:t>
            </a:r>
            <a:endParaRPr lang="en-IN" sz="18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80340"/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 String color;</a:t>
            </a:r>
            <a:endParaRPr lang="en-IN" sz="18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80340"/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 Shape(String color) {</a:t>
            </a:r>
            <a:endParaRPr lang="en-IN" sz="18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80340"/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this.color</a:t>
            </a:r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= color;</a:t>
            </a:r>
            <a:endParaRPr lang="en-IN" sz="18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80340"/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 }</a:t>
            </a:r>
            <a:endParaRPr lang="en-IN" sz="18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80340"/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 abstract double area();</a:t>
            </a:r>
            <a:endParaRPr lang="en-IN" sz="18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80340"/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 void display() {</a:t>
            </a:r>
            <a:endParaRPr lang="en-IN" sz="18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80340"/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System.out.println</a:t>
            </a:r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("Color: " + color);</a:t>
            </a:r>
            <a:endParaRPr lang="en-IN" sz="18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80340"/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 }</a:t>
            </a:r>
            <a:endParaRPr lang="en-IN" sz="18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80340"/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}</a:t>
            </a:r>
            <a:endParaRPr lang="en-IN" sz="18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80340"/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class Rectangle extends Shape {</a:t>
            </a:r>
            <a:endParaRPr lang="en-IN" sz="18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80340"/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 double width, height;</a:t>
            </a:r>
            <a:endParaRPr lang="en-IN" sz="18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80340"/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 Rectangle(String color, double width, double height) {</a:t>
            </a:r>
            <a:endParaRPr lang="en-IN" sz="18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80340"/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super(color);</a:t>
            </a:r>
            <a:endParaRPr lang="en-IN" sz="18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80340"/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this.width</a:t>
            </a:r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= width;</a:t>
            </a:r>
            <a:endParaRPr lang="en-IN" sz="18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80340"/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this.height</a:t>
            </a:r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= height;</a:t>
            </a:r>
            <a:endParaRPr lang="en-IN" sz="18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80340"/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 }</a:t>
            </a:r>
            <a:endParaRPr lang="en-IN" sz="18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80340"/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 double area() {</a:t>
            </a:r>
            <a:endParaRPr lang="en-IN" sz="18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80340"/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return width * height;</a:t>
            </a:r>
            <a:endParaRPr lang="en-IN" sz="18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80340"/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   }</a:t>
            </a:r>
            <a:endParaRPr lang="en-IN" sz="18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80340"/>
            <a:r>
              <a:rPr lang="en-US" sz="180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}</a:t>
            </a:r>
            <a:endParaRPr lang="en-IN" sz="18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Century Gothic" panose="020B0502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35752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64940E-5A93-4FA6-B251-11A4A7DED1FA}"/>
              </a:ext>
            </a:extLst>
          </p:cNvPr>
          <p:cNvSpPr txBox="1"/>
          <p:nvPr/>
        </p:nvSpPr>
        <p:spPr>
          <a:xfrm>
            <a:off x="990600" y="2136338"/>
            <a:ext cx="6858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444542"/>
                </a:solidFill>
                <a:effectLst/>
                <a:latin typeface="PT Sans"/>
              </a:rPr>
              <a:t>Rules of Abstract Method</a:t>
            </a:r>
          </a:p>
          <a:p>
            <a:pPr algn="l"/>
            <a:r>
              <a:rPr lang="en-US" b="0" i="0" dirty="0">
                <a:solidFill>
                  <a:srgbClr val="222426"/>
                </a:solidFill>
                <a:effectLst/>
                <a:latin typeface="PT Sans"/>
              </a:rPr>
              <a:t>1. Abstract methods don’t have body, they just have method signature as shown above.</a:t>
            </a:r>
            <a:br>
              <a:rPr lang="en-US" b="0" i="0" dirty="0">
                <a:solidFill>
                  <a:srgbClr val="222426"/>
                </a:solidFill>
                <a:effectLst/>
                <a:latin typeface="PT Sans"/>
              </a:rPr>
            </a:br>
            <a:r>
              <a:rPr lang="en-US" b="0" i="0" dirty="0">
                <a:solidFill>
                  <a:srgbClr val="222426"/>
                </a:solidFill>
                <a:effectLst/>
                <a:latin typeface="PT Sans"/>
              </a:rPr>
              <a:t>2. If a class has an abstract method it should be declared abstract, the vice versa is not true, which means an abstract class doesn’t need to have an abstract method compulsory.</a:t>
            </a:r>
            <a:br>
              <a:rPr lang="en-US" b="0" i="0" dirty="0">
                <a:solidFill>
                  <a:srgbClr val="222426"/>
                </a:solidFill>
                <a:effectLst/>
                <a:latin typeface="PT Sans"/>
              </a:rPr>
            </a:br>
            <a:r>
              <a:rPr lang="en-US" b="0" i="0" dirty="0">
                <a:solidFill>
                  <a:srgbClr val="222426"/>
                </a:solidFill>
                <a:effectLst/>
                <a:latin typeface="PT Sans"/>
              </a:rPr>
              <a:t>3. If a regular class extends an abstract class, then the class must have to implement all the abstract methods of abstract parent class or it has to be declared abstract as well.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8FF01A-CA46-459E-A88C-83BC274AF8F2}"/>
              </a:ext>
            </a:extLst>
          </p:cNvPr>
          <p:cNvSpPr txBox="1"/>
          <p:nvPr/>
        </p:nvSpPr>
        <p:spPr>
          <a:xfrm>
            <a:off x="1066800" y="38100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i="0" spc="-140" dirty="0">
                <a:solidFill>
                  <a:srgbClr val="000000"/>
                </a:solidFill>
                <a:latin typeface="Arial"/>
                <a:cs typeface="Arial"/>
              </a:rPr>
              <a:t>Abstract</a:t>
            </a:r>
            <a:r>
              <a:rPr lang="en-IN" sz="3600" i="0" spc="-285" dirty="0">
                <a:solidFill>
                  <a:srgbClr val="000000"/>
                </a:solidFill>
                <a:latin typeface="Arial"/>
                <a:cs typeface="Arial"/>
              </a:rPr>
              <a:t>  </a:t>
            </a:r>
            <a:r>
              <a:rPr lang="en-IN" sz="3600" i="0" spc="-135" dirty="0">
                <a:solidFill>
                  <a:srgbClr val="000000"/>
                </a:solidFill>
                <a:latin typeface="Arial"/>
                <a:cs typeface="Arial"/>
              </a:rPr>
              <a:t>Method 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0276748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6788" y="3027882"/>
            <a:ext cx="5118100" cy="13119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60" dirty="0"/>
              <a:t>Thank</a:t>
            </a:r>
            <a:r>
              <a:rPr spc="-470" dirty="0"/>
              <a:t> </a:t>
            </a:r>
            <a:r>
              <a:rPr spc="-560"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ilani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ilaniTemplate" id="{8F0D2DFD-EC7F-4D0A-98D1-F33F22B163D3}" vid="{99A2A52D-FDB1-488E-9133-A1A0B416DB4C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</TotalTime>
  <Words>5163</Words>
  <Application>Microsoft Office PowerPoint</Application>
  <PresentationFormat>On-screen Show (4:3)</PresentationFormat>
  <Paragraphs>1027</Paragraphs>
  <Slides>64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64</vt:i4>
      </vt:variant>
    </vt:vector>
  </HeadingPairs>
  <TitlesOfParts>
    <vt:vector size="79" baseType="lpstr">
      <vt:lpstr>Arial</vt:lpstr>
      <vt:lpstr>Arial Black</vt:lpstr>
      <vt:lpstr>Arial Rounded MT Bold</vt:lpstr>
      <vt:lpstr>Calibri</vt:lpstr>
      <vt:lpstr>Carlito</vt:lpstr>
      <vt:lpstr>Century Gothic</vt:lpstr>
      <vt:lpstr>PT Sans</vt:lpstr>
      <vt:lpstr>Rockwell</vt:lpstr>
      <vt:lpstr>Times New Roman</vt:lpstr>
      <vt:lpstr>verdana</vt:lpstr>
      <vt:lpstr>Wingdings</vt:lpstr>
      <vt:lpstr>Office Theme</vt:lpstr>
      <vt:lpstr>1_Office Theme</vt:lpstr>
      <vt:lpstr>PilaniTemplate</vt:lpstr>
      <vt:lpstr>2_Office Theme</vt:lpstr>
      <vt:lpstr>Object Oriented Programming  and Design</vt:lpstr>
      <vt:lpstr>  IMP Note to Self</vt:lpstr>
      <vt:lpstr>PowerPoint Presentation</vt:lpstr>
      <vt:lpstr>PowerPoint Presentation</vt:lpstr>
      <vt:lpstr>Topics</vt:lpstr>
      <vt:lpstr>Inheritance Basics</vt:lpstr>
      <vt:lpstr>Java’s Support For Inheritance</vt:lpstr>
      <vt:lpstr>Java’s Support For Inheritance</vt:lpstr>
      <vt:lpstr>Forms of Inheritance</vt:lpstr>
      <vt:lpstr>PowerPoint Presentation</vt:lpstr>
      <vt:lpstr>PowerPoint Presentation</vt:lpstr>
      <vt:lpstr>PowerPoint Presentation</vt:lpstr>
      <vt:lpstr>Multiple Inheritance in Java</vt:lpstr>
      <vt:lpstr>Multiple Inheritance in Java ….</vt:lpstr>
      <vt:lpstr>Interface in Java ….</vt:lpstr>
      <vt:lpstr>PowerPoint Presentation</vt:lpstr>
      <vt:lpstr>PowerPoint Presentation</vt:lpstr>
      <vt:lpstr>Topics</vt:lpstr>
      <vt:lpstr>Inheritance Basics</vt:lpstr>
      <vt:lpstr>Inheritance Basics ….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Extending Classes : Example 1</vt:lpstr>
      <vt:lpstr>Extending Classes : Example 2</vt:lpstr>
      <vt:lpstr>Extending Classes : Example 3</vt:lpstr>
      <vt:lpstr>Role of super Keyword</vt:lpstr>
      <vt:lpstr>Role of super : Example 1</vt:lpstr>
      <vt:lpstr>Role of super : Example 2</vt:lpstr>
      <vt:lpstr>Role of super : Example 3</vt:lpstr>
      <vt:lpstr>PowerPoint Presentation</vt:lpstr>
      <vt:lpstr>Topics</vt:lpstr>
      <vt:lpstr>Method Overriding in Java</vt:lpstr>
      <vt:lpstr>Method Overriding : Example</vt:lpstr>
      <vt:lpstr>Basic Facts About Method  Overriding : Fact I</vt:lpstr>
      <vt:lpstr>Basic Facts About Method  Overriding : Fact II</vt:lpstr>
      <vt:lpstr>Basic Facts About Method  Overriding : Fact III</vt:lpstr>
      <vt:lpstr>Basic Facts About Method  Over iding : Fact I I …</vt:lpstr>
      <vt:lpstr>Basic Facts About Method  Over iding : Fact I I …</vt:lpstr>
      <vt:lpstr>Basic Facts About Method  Overriding : Fact IV</vt:lpstr>
      <vt:lpstr>Find the Error ?</vt:lpstr>
      <vt:lpstr>Find the Error ?</vt:lpstr>
      <vt:lpstr>Does the Following Code Snippet  Represent Method Overriding?</vt:lpstr>
      <vt:lpstr>Method Hiding</vt:lpstr>
      <vt:lpstr>Method Hiding: Example 1</vt:lpstr>
      <vt:lpstr>Method Hiding: Example 2</vt:lpstr>
      <vt:lpstr>Method Hiding: Example 3</vt:lpstr>
      <vt:lpstr>Method Hiding: Example 3</vt:lpstr>
      <vt:lpstr>PowerPoint Presentation</vt:lpstr>
      <vt:lpstr>Topics</vt:lpstr>
      <vt:lpstr>Abstract Methods and Abstract Classes</vt:lpstr>
      <vt:lpstr>Abstract Classes</vt:lpstr>
      <vt:lpstr>Abstract Classes : Syntax</vt:lpstr>
      <vt:lpstr>Abstract Classes : Fact I</vt:lpstr>
      <vt:lpstr>Abstract Classes : Fact II</vt:lpstr>
      <vt:lpstr>Abstract Classes : Fact III</vt:lpstr>
      <vt:lpstr>Abstract Classes : Fact IV</vt:lpstr>
      <vt:lpstr>Abstract Classes : Fact V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 ZG 552 Software Testing Methodologies</dc:title>
  <dc:creator>Prashant Joshi</dc:creator>
  <cp:lastModifiedBy>Ramya M</cp:lastModifiedBy>
  <cp:revision>30</cp:revision>
  <dcterms:created xsi:type="dcterms:W3CDTF">2020-11-28T16:17:48Z</dcterms:created>
  <dcterms:modified xsi:type="dcterms:W3CDTF">2025-11-28T09:57:19Z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2017-11-27T00:00:00Z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2020-11-28T00:00:00Z</vt:filetime>
  </property>
</Properties>
</file>