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s/slide3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3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tags/tag1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2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7"/>
  </p:notesMasterIdLst>
  <p:sldIdLst>
    <p:sldId id="260" r:id="rId3"/>
    <p:sldId id="495" r:id="rId4"/>
    <p:sldId id="406" r:id="rId5"/>
    <p:sldId id="405" r:id="rId6"/>
    <p:sldId id="401" r:id="rId7"/>
    <p:sldId id="496" r:id="rId8"/>
    <p:sldId id="407" r:id="rId9"/>
    <p:sldId id="409" r:id="rId10"/>
    <p:sldId id="408" r:id="rId11"/>
    <p:sldId id="411" r:id="rId12"/>
    <p:sldId id="468" r:id="rId13"/>
    <p:sldId id="410" r:id="rId14"/>
    <p:sldId id="413" r:id="rId15"/>
    <p:sldId id="412" r:id="rId16"/>
    <p:sldId id="416" r:id="rId17"/>
    <p:sldId id="396" r:id="rId18"/>
    <p:sldId id="465" r:id="rId19"/>
    <p:sldId id="484" r:id="rId20"/>
    <p:sldId id="464" r:id="rId21"/>
    <p:sldId id="397" r:id="rId22"/>
    <p:sldId id="398" r:id="rId23"/>
    <p:sldId id="400" r:id="rId24"/>
    <p:sldId id="485" r:id="rId25"/>
    <p:sldId id="486" r:id="rId26"/>
    <p:sldId id="487" r:id="rId27"/>
    <p:sldId id="488" r:id="rId28"/>
    <p:sldId id="489" r:id="rId29"/>
    <p:sldId id="490" r:id="rId30"/>
    <p:sldId id="399" r:id="rId31"/>
    <p:sldId id="491" r:id="rId32"/>
    <p:sldId id="404" r:id="rId33"/>
    <p:sldId id="492" r:id="rId34"/>
    <p:sldId id="493" r:id="rId35"/>
    <p:sldId id="494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4" autoAdjust="0"/>
    <p:restoredTop sz="94660"/>
  </p:normalViewPr>
  <p:slideViewPr>
    <p:cSldViewPr>
      <p:cViewPr varScale="1">
        <p:scale>
          <a:sx n="68" d="100"/>
          <a:sy n="68" d="100"/>
        </p:scale>
        <p:origin x="146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9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customXml" Target="../customXml/item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ustomXml" Target="../customXml/item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ustomXml" Target="../customXml/item2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01F8D8-4EAB-496A-BD63-42E204356A3F}" type="datetimeFigureOut">
              <a:rPr lang="en-IN" smtClean="0"/>
              <a:t>16-05-2024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203A0-AC46-4632-B465-BE23427422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065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1203A0-AC46-4632-B465-BE2342742270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7032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tags" Target="../tags/tag10.xml"/><Relationship Id="rId7" Type="http://schemas.openxmlformats.org/officeDocument/2006/relationships/oleObject" Target="../embeddings/oleObject2.bin"/><Relationship Id="rId2" Type="http://schemas.openxmlformats.org/officeDocument/2006/relationships/tags" Target="../tags/tag9.xml"/><Relationship Id="rId1" Type="http://schemas.openxmlformats.org/officeDocument/2006/relationships/vmlDrawing" Target="../drawings/vmlDrawing2.vml"/><Relationship Id="rId6" Type="http://schemas.openxmlformats.org/officeDocument/2006/relationships/slideMaster" Target="../slideMasters/slideMaster2.xml"/><Relationship Id="rId11" Type="http://schemas.openxmlformats.org/officeDocument/2006/relationships/image" Target="../media/image2.png"/><Relationship Id="rId5" Type="http://schemas.openxmlformats.org/officeDocument/2006/relationships/tags" Target="../tags/tag12.xml"/><Relationship Id="rId10" Type="http://schemas.openxmlformats.org/officeDocument/2006/relationships/image" Target="../media/image7.emf"/><Relationship Id="rId4" Type="http://schemas.openxmlformats.org/officeDocument/2006/relationships/tags" Target="../tags/tag11.xml"/><Relationship Id="rId9" Type="http://schemas.openxmlformats.org/officeDocument/2006/relationships/image" Target="../media/image1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l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2" name="Group 31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30" name="TextBox 29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31" name="TextBox 30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pPr marL="285750" indent="-285750"/>
            <a:r>
              <a:rPr lang="en-US" altLang="zh-CN" sz="2800" dirty="0">
                <a:solidFill>
                  <a:schemeClr val="hlink"/>
                </a:solidFill>
                <a:ea typeface="宋体" pitchFamily="2" charset="-122"/>
              </a:rPr>
              <a:t>MIPS: Case Study of </a:t>
            </a:r>
            <a:br>
              <a:rPr lang="en-US" altLang="zh-CN" sz="2800" dirty="0">
                <a:solidFill>
                  <a:schemeClr val="hlink"/>
                </a:solidFill>
                <a:ea typeface="宋体" pitchFamily="2" charset="-122"/>
              </a:rPr>
            </a:br>
            <a:r>
              <a:rPr lang="en-US" altLang="zh-CN" sz="2800" dirty="0">
                <a:solidFill>
                  <a:schemeClr val="hlink"/>
                </a:solidFill>
                <a:ea typeface="宋体" pitchFamily="2" charset="-122"/>
              </a:rPr>
              <a:t>Instruction Set Architecture</a:t>
            </a:r>
            <a:br>
              <a:rPr lang="en-US" altLang="zh-CN" sz="2800" dirty="0">
                <a:solidFill>
                  <a:schemeClr val="hlink"/>
                </a:solidFill>
                <a:ea typeface="宋体" pitchFamily="2" charset="-122"/>
              </a:rPr>
            </a:b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err="1"/>
              <a:t>R.K.Tiwary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pPr marL="285750" indent="-285750"/>
            <a:r>
              <a:rPr lang="en-US" altLang="zh-CN" sz="2800" dirty="0">
                <a:solidFill>
                  <a:schemeClr val="hlink"/>
                </a:solidFill>
                <a:ea typeface="宋体" pitchFamily="2" charset="-122"/>
              </a:rPr>
              <a:t>MIPS: Case Study of </a:t>
            </a:r>
            <a:br>
              <a:rPr lang="en-US" altLang="zh-CN" sz="2800" dirty="0">
                <a:solidFill>
                  <a:schemeClr val="hlink"/>
                </a:solidFill>
                <a:ea typeface="宋体" pitchFamily="2" charset="-122"/>
              </a:rPr>
            </a:br>
            <a:r>
              <a:rPr lang="en-US" altLang="zh-CN" sz="2800" dirty="0">
                <a:solidFill>
                  <a:schemeClr val="hlink"/>
                </a:solidFill>
                <a:ea typeface="宋体" pitchFamily="2" charset="-122"/>
              </a:rPr>
              <a:t>Instruction Set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3624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headings here </a:t>
            </a:r>
          </a:p>
          <a:p>
            <a:pPr lvl="0"/>
            <a:r>
              <a:rPr lang="en-US" dirty="0"/>
              <a:t>(separator - can run in two lines)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/>
              <a:t>Second level</a:t>
            </a:r>
            <a:endParaRPr kumimoji="0" lang="en-GB" sz="2400" u="none" strike="noStrike" kern="1200" cap="none" spc="0" normalizeH="0" noProof="0" dirty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900" baseline="0" dirty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900" dirty="0">
              <a:solidFill>
                <a:srgbClr val="10114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0" y="0"/>
          <a:ext cx="1619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3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4" name="Object 2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25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 descr="\\Server\D\jyoti\FI023_BITS_v1\styleguide img\IMG_5627_b.jpg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66" b="5637"/>
          <a:stretch>
            <a:fillRect/>
          </a:stretch>
        </p:blipFill>
        <p:spPr bwMode="auto">
          <a:xfrm>
            <a:off x="0" y="0"/>
            <a:ext cx="9144000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Title Elements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0" y="0"/>
            <a:ext cx="9140825" cy="6859588"/>
            <a:chOff x="0" y="0"/>
            <a:chExt cx="5643" cy="4235"/>
          </a:xfrm>
        </p:grpSpPr>
        <p:sp>
          <p:nvSpPr>
            <p:cNvPr id="7" name="TitleBottomPlaceholder" hidden="1"/>
            <p:cNvSpPr>
              <a:spLocks noChangeArrowheads="1"/>
            </p:cNvSpPr>
            <p:nvPr/>
          </p:nvSpPr>
          <p:spPr bwMode="auto">
            <a:xfrm>
              <a:off x="0" y="1410"/>
              <a:ext cx="1382" cy="2825"/>
            </a:xfrm>
            <a:prstGeom prst="rect">
              <a:avLst/>
            </a:prstGeom>
            <a:solidFill>
              <a:srgbClr val="0065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8" name="TitleTopPlaceholder" hidden="1"/>
            <p:cNvSpPr>
              <a:spLocks noChangeArrowheads="1"/>
            </p:cNvSpPr>
            <p:nvPr/>
          </p:nvSpPr>
          <p:spPr bwMode="auto">
            <a:xfrm>
              <a:off x="0" y="0"/>
              <a:ext cx="1382" cy="1410"/>
            </a:xfrm>
            <a:prstGeom prst="rect">
              <a:avLst/>
            </a:prstGeom>
            <a:solidFill>
              <a:srgbClr val="91A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1600">
                <a:solidFill>
                  <a:srgbClr val="000000"/>
                </a:solidFill>
              </a:endParaRPr>
            </a:p>
          </p:txBody>
        </p:sp>
        <p:sp>
          <p:nvSpPr>
            <p:cNvPr id="9" name="Rectangle 1189" hidden="1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 sz="1600">
                <a:solidFill>
                  <a:srgbClr val="000000"/>
                </a:solidFill>
              </a:endParaRPr>
            </a:p>
          </p:txBody>
        </p:sp>
      </p:grpSp>
      <p:pic>
        <p:nvPicPr>
          <p:cNvPr id="10" name="TitleBottomBarBW" hidden="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63" y="6573838"/>
            <a:ext cx="1670050" cy="19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0" y="3440113"/>
            <a:ext cx="8863013" cy="2798762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anchor="ctr"/>
          <a:lstStyle/>
          <a:p>
            <a:pPr algn="ctr" defTabSz="914012" eaLnBrk="1" hangingPunct="1">
              <a:defRPr/>
            </a:pPr>
            <a:endParaRPr lang="en-US" sz="1600" dirty="0">
              <a:solidFill>
                <a:srgbClr val="FFFFFF"/>
              </a:solidFill>
              <a:cs typeface="Arial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2954338" y="6238875"/>
            <a:ext cx="2954337" cy="77788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anchor="ctr"/>
          <a:lstStyle/>
          <a:p>
            <a:pPr algn="ctr" defTabSz="914012" eaLnBrk="1" hangingPunct="1"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0" y="6238875"/>
            <a:ext cx="2954338" cy="77788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anchor="ctr"/>
          <a:lstStyle/>
          <a:p>
            <a:pPr algn="ctr" defTabSz="914012" eaLnBrk="1" hangingPunct="1"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5908675" y="6238875"/>
            <a:ext cx="2954338" cy="7778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anchor="ctr"/>
          <a:lstStyle/>
          <a:p>
            <a:pPr algn="ctr" defTabSz="914012" eaLnBrk="1" hangingPunct="1"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15" name="Picture 41" descr="BITS_university_logo_whitevert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7788" y="3440113"/>
            <a:ext cx="2098675" cy="202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35"/>
          <p:cNvGrpSpPr>
            <a:grpSpLocks/>
          </p:cNvGrpSpPr>
          <p:nvPr userDrawn="1"/>
        </p:nvGrpSpPr>
        <p:grpSpPr bwMode="auto">
          <a:xfrm>
            <a:off x="-77788" y="5384800"/>
            <a:ext cx="2254251" cy="698500"/>
            <a:chOff x="76200" y="2209800"/>
            <a:chExt cx="2209800" cy="685800"/>
          </a:xfrm>
        </p:grpSpPr>
        <p:sp>
          <p:nvSpPr>
            <p:cNvPr id="17" name="TextBox 16"/>
            <p:cNvSpPr txBox="1"/>
            <p:nvPr userDrawn="1"/>
          </p:nvSpPr>
          <p:spPr>
            <a:xfrm>
              <a:off x="76200" y="2209800"/>
              <a:ext cx="2209800" cy="55331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914012" eaLnBrk="1" hangingPunct="1">
                <a:defRPr/>
              </a:pPr>
              <a:r>
                <a:rPr lang="en-US" sz="3000" b="1" spc="-153" dirty="0">
                  <a:solidFill>
                    <a:srgbClr val="FFFFFF"/>
                  </a:solidFill>
                  <a:latin typeface="Arial"/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228708" y="2664922"/>
              <a:ext cx="1904785" cy="23067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914012" eaLnBrk="1" hangingPunct="1">
                <a:defRPr/>
              </a:pPr>
              <a:r>
                <a:rPr lang="en-US" sz="900" spc="-153" dirty="0">
                  <a:solidFill>
                    <a:srgbClr val="FFFFFF"/>
                  </a:solidFill>
                  <a:latin typeface="Arial"/>
                  <a:cs typeface="Arial"/>
                </a:rPr>
                <a:t>Pilani | Dubai | Goa | Hyderabad</a:t>
              </a:r>
            </a:p>
          </p:txBody>
        </p:sp>
      </p:grpSp>
      <p:sp>
        <p:nvSpPr>
          <p:cNvPr id="41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565827" y="3683300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500" b="1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42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65827" y="5431840"/>
            <a:ext cx="6199129" cy="282625"/>
          </a:xfrm>
        </p:spPr>
        <p:txBody>
          <a:bodyPr/>
          <a:lstStyle>
            <a:lvl1pPr algn="r">
              <a:defRPr sz="1800" baseline="0">
                <a:solidFill>
                  <a:schemeClr val="bg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27266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6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2413" cy="688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 userDrawn="1"/>
        </p:nvSpPr>
        <p:spPr>
          <a:xfrm>
            <a:off x="0" y="4254500"/>
            <a:ext cx="9144000" cy="2627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anchor="ctr"/>
          <a:lstStyle/>
          <a:p>
            <a:pPr algn="ctr" defTabSz="914012" eaLnBrk="1" hangingPunct="1"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  <p:pic>
        <p:nvPicPr>
          <p:cNvPr id="5" name="Picture 29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764338" y="0"/>
            <a:ext cx="223837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941638" y="6805613"/>
            <a:ext cx="2954337" cy="77787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anchor="ctr"/>
          <a:lstStyle/>
          <a:p>
            <a:pPr algn="ctr" defTabSz="914012" eaLnBrk="1" hangingPunct="1"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-12700" y="6805613"/>
            <a:ext cx="2954338" cy="77787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anchor="ctr"/>
          <a:lstStyle/>
          <a:p>
            <a:pPr algn="ctr" defTabSz="914012" eaLnBrk="1" hangingPunct="1"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895975" y="6805613"/>
            <a:ext cx="2954338" cy="77787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anchor="ctr"/>
          <a:lstStyle/>
          <a:p>
            <a:pPr algn="ctr" defTabSz="914012" eaLnBrk="1" hangingPunct="1"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  <p:grpSp>
        <p:nvGrpSpPr>
          <p:cNvPr id="9" name="Group 9"/>
          <p:cNvGrpSpPr>
            <a:grpSpLocks/>
          </p:cNvGrpSpPr>
          <p:nvPr userDrawn="1"/>
        </p:nvGrpSpPr>
        <p:grpSpPr bwMode="auto">
          <a:xfrm>
            <a:off x="6997700" y="777875"/>
            <a:ext cx="2254250" cy="700088"/>
            <a:chOff x="76200" y="2209800"/>
            <a:chExt cx="2209800" cy="685800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76200" y="2209800"/>
              <a:ext cx="2209800" cy="55361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defTabSz="914012" eaLnBrk="1" hangingPunct="1">
                <a:defRPr/>
              </a:pPr>
              <a:r>
                <a:rPr lang="en-US" sz="3000" b="1" spc="-153" dirty="0">
                  <a:solidFill>
                    <a:srgbClr val="FFFFFF"/>
                  </a:solidFill>
                  <a:latin typeface="Arial"/>
                  <a:cs typeface="Arial"/>
                </a:rPr>
                <a:t>BITS</a:t>
              </a:r>
              <a:r>
                <a:rPr lang="en-US" sz="3000" spc="-153" dirty="0">
                  <a:solidFill>
                    <a:srgbClr val="FFFFFF"/>
                  </a:solidFill>
                  <a:latin typeface="Arial"/>
                  <a:cs typeface="Arial"/>
                </a:rPr>
                <a:t> Pilani</a:t>
              </a:r>
            </a:p>
          </p:txBody>
        </p:sp>
        <p:sp>
          <p:nvSpPr>
            <p:cNvPr id="11" name="TextBox 38"/>
            <p:cNvSpPr txBox="1">
              <a:spLocks noChangeArrowheads="1"/>
            </p:cNvSpPr>
            <p:nvPr userDrawn="1"/>
          </p:nvSpPr>
          <p:spPr bwMode="auto">
            <a:xfrm>
              <a:off x="228707" y="2665445"/>
              <a:ext cx="1904785" cy="230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r>
                <a:rPr lang="en-US" altLang="en-US" sz="900">
                  <a:solidFill>
                    <a:srgbClr val="FFFFFF"/>
                  </a:solidFill>
                </a:rPr>
                <a:t>Pilani | Dubai | Goa | Hyderabad</a:t>
              </a:r>
            </a:p>
          </p:txBody>
        </p:sp>
      </p:grpSp>
      <p:sp>
        <p:nvSpPr>
          <p:cNvPr id="13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320728" y="4616273"/>
            <a:ext cx="6199129" cy="1567913"/>
          </a:xfrm>
          <a:prstGeom prst="rect">
            <a:avLst/>
          </a:prstGeom>
        </p:spPr>
        <p:txBody>
          <a:bodyPr/>
          <a:lstStyle>
            <a:lvl1pPr>
              <a:defRPr sz="4100" b="1" baseline="0">
                <a:solidFill>
                  <a:schemeClr val="tx1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9192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73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13" Type="http://schemas.openxmlformats.org/officeDocument/2006/relationships/tags" Target="../tags/tag8.xml"/><Relationship Id="rId3" Type="http://schemas.openxmlformats.org/officeDocument/2006/relationships/slideLayout" Target="../slideLayouts/slideLayout14.xml"/><Relationship Id="rId7" Type="http://schemas.openxmlformats.org/officeDocument/2006/relationships/tags" Target="../tags/tag2.xml"/><Relationship Id="rId12" Type="http://schemas.openxmlformats.org/officeDocument/2006/relationships/tags" Target="../tags/tag7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tags" Target="../tags/tag1.xml"/><Relationship Id="rId11" Type="http://schemas.openxmlformats.org/officeDocument/2006/relationships/tags" Target="../tags/tag6.xml"/><Relationship Id="rId5" Type="http://schemas.openxmlformats.org/officeDocument/2006/relationships/vmlDrawing" Target="../drawings/vmlDrawing1.vml"/><Relationship Id="rId15" Type="http://schemas.openxmlformats.org/officeDocument/2006/relationships/image" Target="../media/image5.emf"/><Relationship Id="rId10" Type="http://schemas.openxmlformats.org/officeDocument/2006/relationships/tags" Target="../tags/tag5.xml"/><Relationship Id="rId4" Type="http://schemas.openxmlformats.org/officeDocument/2006/relationships/theme" Target="../theme/theme2.xml"/><Relationship Id="rId9" Type="http://schemas.openxmlformats.org/officeDocument/2006/relationships/tags" Target="../tags/tag4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D03DC603-C5F6-4A82-B252-8D9BD6F91242}" type="datetimeFigureOut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 err="1"/>
              <a:t>coa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1" hidden="1"/>
          <p:cNvGraphicFramePr>
            <a:graphicFrameLocks noChangeAspect="1"/>
          </p:cNvGraphicFramePr>
          <p:nvPr>
            <p:custDataLst>
              <p:tags r:id="rId6"/>
            </p:custDataLst>
          </p:nvPr>
        </p:nvGraphicFramePr>
        <p:xfrm>
          <a:off x="0" y="0"/>
          <a:ext cx="161925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9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2050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1925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doc id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247063" y="36513"/>
            <a:ext cx="669925" cy="125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endParaRPr lang="en-US" altLang="en-US" sz="800">
              <a:solidFill>
                <a:srgbClr val="000000"/>
              </a:solidFill>
            </a:endParaRPr>
          </a:p>
        </p:txBody>
      </p:sp>
      <p:sp>
        <p:nvSpPr>
          <p:cNvPr id="2052" name="Rectangle 286"/>
          <p:cNvSpPr>
            <a:spLocks noGrp="1" noChangeArrowheads="1"/>
          </p:cNvSpPr>
          <p:nvPr>
            <p:ph type="body" idx="1"/>
            <p:custDataLst>
              <p:tags r:id="rId8"/>
            </p:custDataLst>
          </p:nvPr>
        </p:nvSpPr>
        <p:spPr bwMode="auto">
          <a:xfrm>
            <a:off x="1482725" y="1990725"/>
            <a:ext cx="4389438" cy="1255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3" name="Title Placeholder 2"/>
          <p:cNvSpPr>
            <a:spLocks noGrp="1" noChangeArrowheads="1"/>
          </p:cNvSpPr>
          <p:nvPr>
            <p:ph type="title"/>
            <p:custDataLst>
              <p:tags r:id="rId9"/>
            </p:custDataLst>
          </p:nvPr>
        </p:nvSpPr>
        <p:spPr bwMode="auto">
          <a:xfrm>
            <a:off x="122238" y="260350"/>
            <a:ext cx="6526212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</a:t>
            </a:r>
          </a:p>
        </p:txBody>
      </p:sp>
      <p:sp>
        <p:nvSpPr>
          <p:cNvPr id="2054" name="McK 1. On-page tracker" hidden="1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22238" y="26988"/>
            <a:ext cx="876300" cy="22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400">
                <a:solidFill>
                  <a:srgbClr val="808080"/>
                </a:solidFill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122238" y="542925"/>
            <a:ext cx="8793162" cy="25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600" dirty="0">
                <a:solidFill>
                  <a:srgbClr val="808080"/>
                </a:solidFill>
                <a:latin typeface="Arial"/>
                <a:cs typeface="+mn-cs"/>
              </a:rPr>
              <a:t>Unit of measure</a:t>
            </a:r>
          </a:p>
        </p:txBody>
      </p:sp>
      <p:grpSp>
        <p:nvGrpSpPr>
          <p:cNvPr id="2056" name="McK Slide Elements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74613" y="6292850"/>
            <a:ext cx="4071937" cy="517525"/>
            <a:chOff x="75" y="3830"/>
            <a:chExt cx="5385" cy="32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30"/>
              <a:ext cx="5385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r>
                <a:rPr lang="en-US" sz="1000" dirty="0">
                  <a:solidFill>
                    <a:srgbClr val="000000"/>
                  </a:solidFill>
                  <a:latin typeface="Arial"/>
                  <a:cs typeface="+mn-cs"/>
                </a:rPr>
                <a:t>1 Footnote</a:t>
              </a:r>
            </a:p>
          </p:txBody>
        </p:sp>
        <p:sp>
          <p:nvSpPr>
            <p:cNvPr id="2070" name="McK 5. Source"/>
            <p:cNvSpPr>
              <a:spLocks noChangeArrowheads="1"/>
            </p:cNvSpPr>
            <p:nvPr/>
          </p:nvSpPr>
          <p:spPr bwMode="auto">
            <a:xfrm>
              <a:off x="75" y="4054"/>
              <a:ext cx="4323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marL="620713" indent="-620713" defTabSz="912813">
                <a:tabLst>
                  <a:tab pos="6238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12813">
                <a:tabLst>
                  <a:tab pos="6238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12813">
                <a:tabLst>
                  <a:tab pos="6238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12813">
                <a:tabLst>
                  <a:tab pos="6238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12813">
                <a:tabLst>
                  <a:tab pos="6238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238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238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238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23888" algn="l"/>
                </a:tabLs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1000">
                  <a:solidFill>
                    <a:srgbClr val="000000"/>
                  </a:solidFill>
                </a:rPr>
                <a:t>SOURCE: Source</a:t>
              </a:r>
            </a:p>
          </p:txBody>
        </p:sp>
      </p:grpSp>
      <p:grpSp>
        <p:nvGrpSpPr>
          <p:cNvPr id="2057" name="ACET" hidden="1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1482725" y="1149350"/>
            <a:ext cx="4349750" cy="519113"/>
            <a:chOff x="915" y="710"/>
            <a:chExt cx="2686" cy="320"/>
          </a:xfrm>
        </p:grpSpPr>
        <p:cxnSp>
          <p:nvCxnSpPr>
            <p:cNvPr id="2067" name="AutoShape 249"/>
            <p:cNvCxnSpPr>
              <a:cxnSpLocks noChangeShapeType="1"/>
              <a:stCxn id="2068" idx="4"/>
              <a:endCxn id="2068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68" name="AutoShape 250"/>
            <p:cNvSpPr>
              <a:spLocks noChangeArrowheads="1"/>
            </p:cNvSpPr>
            <p:nvPr/>
          </p:nvSpPr>
          <p:spPr bwMode="auto">
            <a:xfrm>
              <a:off x="915" y="710"/>
              <a:ext cx="2686" cy="320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>
              <a:lvl1pPr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defTabSz="912813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9128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en-US" altLang="en-US" sz="1600" b="1">
                  <a:solidFill>
                    <a:srgbClr val="000000"/>
                  </a:solidFill>
                </a:rPr>
                <a:t>Title</a:t>
              </a:r>
            </a:p>
            <a:p>
              <a:pPr eaLnBrk="1" hangingPunct="1">
                <a:defRPr/>
              </a:pPr>
              <a:r>
                <a:rPr lang="en-US" altLang="en-US" sz="1600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grpSp>
        <p:nvGrpSpPr>
          <p:cNvPr id="2058" name="Group 21"/>
          <p:cNvGrpSpPr>
            <a:grpSpLocks/>
          </p:cNvGrpSpPr>
          <p:nvPr/>
        </p:nvGrpSpPr>
        <p:grpSpPr bwMode="auto">
          <a:xfrm>
            <a:off x="0" y="890588"/>
            <a:ext cx="7153275" cy="46037"/>
            <a:chOff x="1905000" y="6553200"/>
            <a:chExt cx="7010400" cy="45719"/>
          </a:xfrm>
        </p:grpSpPr>
        <p:sp>
          <p:nvSpPr>
            <p:cNvPr id="23" name="Rectangle 22"/>
            <p:cNvSpPr/>
            <p:nvPr/>
          </p:nvSpPr>
          <p:spPr>
            <a:xfrm>
              <a:off x="4266693" y="6553200"/>
              <a:ext cx="2329022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12" eaLnBrk="1" hangingPunct="1">
                <a:defRPr/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905000" y="6553200"/>
              <a:ext cx="2361693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12" eaLnBrk="1" hangingPunct="1">
                <a:defRPr/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586379" y="6553200"/>
              <a:ext cx="232902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012" eaLnBrk="1" hangingPunct="1">
                <a:defRPr/>
              </a:pPr>
              <a:endParaRPr lang="en-US" sz="1600" dirty="0">
                <a:solidFill>
                  <a:srgbClr val="FFFFFF"/>
                </a:solidFill>
              </a:endParaRPr>
            </a:p>
          </p:txBody>
        </p:sp>
      </p:grpSp>
      <p:pic>
        <p:nvPicPr>
          <p:cNvPr id="2059" name="Picture 25" descr="Picture 7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764338" y="0"/>
            <a:ext cx="223837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0" name="TextBox 27"/>
          <p:cNvSpPr txBox="1">
            <a:spLocks noChangeArrowheads="1"/>
          </p:cNvSpPr>
          <p:nvPr/>
        </p:nvSpPr>
        <p:spPr bwMode="auto">
          <a:xfrm>
            <a:off x="3163888" y="6583363"/>
            <a:ext cx="598805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256" tIns="46628" rIns="93256" bIns="46628">
            <a:spAutoFit/>
          </a:bodyPr>
          <a:lstStyle>
            <a:lvl1pPr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8488" y="6500813"/>
            <a:ext cx="2376487" cy="47625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anchor="ctr"/>
          <a:lstStyle/>
          <a:p>
            <a:pPr algn="ctr" defTabSz="914012" eaLnBrk="1" hangingPunct="1"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1998663" y="6500813"/>
            <a:ext cx="2409825" cy="47625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anchor="ctr"/>
          <a:lstStyle/>
          <a:p>
            <a:pPr algn="ctr" defTabSz="914012" eaLnBrk="1" hangingPunct="1"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775450" y="6500813"/>
            <a:ext cx="2376488" cy="47625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3256" tIns="46628" rIns="93256" bIns="46628" anchor="ctr"/>
          <a:lstStyle/>
          <a:p>
            <a:pPr algn="ctr" defTabSz="914012" eaLnBrk="1" hangingPunct="1">
              <a:defRPr/>
            </a:pPr>
            <a:endParaRPr lang="en-US" sz="1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7432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p:hf hdr="0"/>
  <p:txStyles>
    <p:titleStyle>
      <a:lvl1pPr algn="l" defTabSz="912813" rtl="0" eaLnBrk="0" fontAlgn="base" hangingPunct="0">
        <a:spcBef>
          <a:spcPct val="0"/>
        </a:spcBef>
        <a:spcAft>
          <a:spcPct val="0"/>
        </a:spcAft>
        <a:tabLst>
          <a:tab pos="274638" algn="l"/>
        </a:tabLst>
        <a:defRPr sz="19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912813" rtl="0" eaLnBrk="0" fontAlgn="base" hangingPunct="0">
        <a:spcBef>
          <a:spcPct val="0"/>
        </a:spcBef>
        <a:spcAft>
          <a:spcPct val="0"/>
        </a:spcAft>
        <a:tabLst>
          <a:tab pos="274638" algn="l"/>
        </a:tabLst>
        <a:defRPr sz="1900" b="1">
          <a:solidFill>
            <a:schemeClr val="tx1"/>
          </a:solidFill>
          <a:latin typeface="Arial" charset="0"/>
          <a:ea typeface="ＭＳ Ｐゴシック" panose="020B0600070205080204" pitchFamily="34" charset="-128"/>
        </a:defRPr>
      </a:lvl2pPr>
      <a:lvl3pPr algn="l" defTabSz="912813" rtl="0" eaLnBrk="0" fontAlgn="base" hangingPunct="0">
        <a:spcBef>
          <a:spcPct val="0"/>
        </a:spcBef>
        <a:spcAft>
          <a:spcPct val="0"/>
        </a:spcAft>
        <a:tabLst>
          <a:tab pos="274638" algn="l"/>
        </a:tabLst>
        <a:defRPr sz="1900" b="1">
          <a:solidFill>
            <a:schemeClr val="tx1"/>
          </a:solidFill>
          <a:latin typeface="Arial" charset="0"/>
          <a:ea typeface="ＭＳ Ｐゴシック" panose="020B0600070205080204" pitchFamily="34" charset="-128"/>
        </a:defRPr>
      </a:lvl3pPr>
      <a:lvl4pPr algn="l" defTabSz="912813" rtl="0" eaLnBrk="0" fontAlgn="base" hangingPunct="0">
        <a:spcBef>
          <a:spcPct val="0"/>
        </a:spcBef>
        <a:spcAft>
          <a:spcPct val="0"/>
        </a:spcAft>
        <a:tabLst>
          <a:tab pos="274638" algn="l"/>
        </a:tabLst>
        <a:defRPr sz="1900" b="1">
          <a:solidFill>
            <a:schemeClr val="tx1"/>
          </a:solidFill>
          <a:latin typeface="Arial" charset="0"/>
          <a:ea typeface="ＭＳ Ｐゴシック" panose="020B0600070205080204" pitchFamily="34" charset="-128"/>
        </a:defRPr>
      </a:lvl4pPr>
      <a:lvl5pPr algn="l" defTabSz="912813" rtl="0" eaLnBrk="0" fontAlgn="base" hangingPunct="0">
        <a:spcBef>
          <a:spcPct val="0"/>
        </a:spcBef>
        <a:spcAft>
          <a:spcPct val="0"/>
        </a:spcAft>
        <a:tabLst>
          <a:tab pos="274638" algn="l"/>
        </a:tabLst>
        <a:defRPr sz="1900" b="1">
          <a:solidFill>
            <a:schemeClr val="tx1"/>
          </a:solidFill>
          <a:latin typeface="Arial" charset="0"/>
          <a:ea typeface="ＭＳ Ｐゴシック" panose="020B0600070205080204" pitchFamily="34" charset="-128"/>
        </a:defRPr>
      </a:lvl5pPr>
      <a:lvl6pPr marL="46628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6pPr>
      <a:lvl7pPr marL="932566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7pPr>
      <a:lvl8pPr marL="1398851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8pPr>
      <a:lvl9pPr marL="1865134" algn="l" defTabSz="913138" rtl="0" eaLnBrk="1" fontAlgn="base" hangingPunct="1">
        <a:spcBef>
          <a:spcPct val="0"/>
        </a:spcBef>
        <a:spcAft>
          <a:spcPct val="0"/>
        </a:spcAft>
        <a:defRPr sz="1900" b="1">
          <a:solidFill>
            <a:schemeClr val="tx2"/>
          </a:solidFill>
          <a:latin typeface="Arial" charset="0"/>
        </a:defRPr>
      </a:lvl9pPr>
    </p:titleStyle>
    <p:bodyStyle>
      <a:lvl1pPr algn="l" defTabSz="912813" rtl="0" eaLnBrk="0" fontAlgn="base" hangingPunct="0">
        <a:spcBef>
          <a:spcPct val="0"/>
        </a:spcBef>
        <a:spcAft>
          <a:spcPct val="0"/>
        </a:spcAft>
        <a:buClr>
          <a:schemeClr val="tx2"/>
        </a:buClr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196850" indent="-195263" algn="l" defTabSz="91281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panose="020B0604020202020204" pitchFamily="34" charset="0"/>
        <a:buChar char="▪"/>
        <a:defRPr sz="1600">
          <a:solidFill>
            <a:schemeClr val="tx1"/>
          </a:solidFill>
          <a:latin typeface="+mn-lt"/>
          <a:ea typeface="ＭＳ Ｐゴシック" panose="020B0600070205080204" pitchFamily="34" charset="-128"/>
        </a:defRPr>
      </a:lvl2pPr>
      <a:lvl3pPr marL="465138" indent="-266700" algn="l" defTabSz="91281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anose="020B0604020202020204" pitchFamily="34" charset="0"/>
        <a:buChar char="–"/>
        <a:defRPr sz="1600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625475" indent="-157163" algn="l" defTabSz="91281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panose="020B0604020202020204" pitchFamily="34" charset="0"/>
        <a:buChar char="▫"/>
        <a:defRPr sz="1600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763588" indent="-131763" algn="l" defTabSz="912813" rtl="0" eaLnBrk="0" fontAlgn="base" hangingPunct="0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panose="020B0604020202020204" pitchFamily="34" charset="0"/>
        <a:buChar char="-"/>
        <a:defRPr sz="1600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6pPr>
      <a:lvl7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7pPr>
      <a:lvl8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8pPr>
      <a:lvl9pPr marL="764704" indent="-132761" algn="l" defTabSz="913138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00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6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51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34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1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99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83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68" algn="l" defTabSz="93256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R.K.Tiwary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6447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617C-BB1F-4E74-AE4F-2E1571817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6526212" cy="596900"/>
          </a:xfrm>
        </p:spPr>
        <p:txBody>
          <a:bodyPr/>
          <a:lstStyle/>
          <a:p>
            <a:r>
              <a:rPr lang="en-GB" sz="2400" dirty="0"/>
              <a:t>What is Superscalar?</a:t>
            </a:r>
            <a:endParaRPr lang="en-IN" sz="2400" b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3100C3-E192-4382-9279-6BB4F245FC5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836712"/>
            <a:ext cx="8178800" cy="56388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285750" marR="0" lvl="0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Common instructions (arithmetic, load/store, conditional branch) can be initiated and executed independently</a:t>
            </a:r>
          </a:p>
          <a:p>
            <a:pPr marL="285750" marR="0" lvl="0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Equally applicable to RISC &amp; CISC</a:t>
            </a:r>
          </a:p>
          <a:p>
            <a:pPr marL="285750" marR="0" lvl="0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In practice usually RISC</a:t>
            </a:r>
          </a:p>
          <a:p>
            <a:pPr marL="0" marR="0" lvl="0" indent="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Tx/>
              <a:buNone/>
              <a:tabLst/>
              <a:defRPr/>
            </a:pPr>
            <a:endParaRPr kumimoji="0" lang="en-GB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DF8FEA-E311-4EE3-9993-FCCEB1C89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b="30780"/>
          <a:stretch>
            <a:fillRect/>
          </a:stretch>
        </p:blipFill>
        <p:spPr bwMode="auto">
          <a:xfrm>
            <a:off x="445049" y="2852936"/>
            <a:ext cx="8001000" cy="279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D6F5A2-B32C-479D-A6D2-0B972675871D}"/>
              </a:ext>
            </a:extLst>
          </p:cNvPr>
          <p:cNvSpPr/>
          <p:nvPr/>
        </p:nvSpPr>
        <p:spPr>
          <a:xfrm>
            <a:off x="251520" y="5554393"/>
            <a:ext cx="8970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In this example, two integer, two floating-point, and one memory (either load or store) operations can be executing at the same time.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593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B65F-C00A-44C8-8D23-AB201F8C8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0" dirty="0"/>
              <a:t>Superscalar v </a:t>
            </a:r>
            <a:r>
              <a:rPr lang="en-GB" sz="2400" b="0" dirty="0" err="1"/>
              <a:t>Superpipelined</a:t>
            </a:r>
            <a:endParaRPr lang="en-IN" sz="2400" b="0" dirty="0"/>
          </a:p>
        </p:txBody>
      </p:sp>
      <p:pic>
        <p:nvPicPr>
          <p:cNvPr id="4" name="Picture 54">
            <a:extLst>
              <a:ext uri="{FF2B5EF4-FFF2-40B4-BE49-F238E27FC236}">
                <a16:creationId xmlns:a16="http://schemas.microsoft.com/office/drawing/2014/main" id="{6D00AC90-54BE-4523-9920-B540E0CD5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5107" t="1021" r="10544" b="5374"/>
          <a:stretch>
            <a:fillRect/>
          </a:stretch>
        </p:blipFill>
        <p:spPr bwMode="auto">
          <a:xfrm>
            <a:off x="4191000" y="0"/>
            <a:ext cx="4876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63E2D88-EF27-4D9C-A905-9FFE3933738D}"/>
              </a:ext>
            </a:extLst>
          </p:cNvPr>
          <p:cNvSpPr/>
          <p:nvPr/>
        </p:nvSpPr>
        <p:spPr>
          <a:xfrm>
            <a:off x="6300192" y="476672"/>
            <a:ext cx="27676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Simple 4-stage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7A031A-C4C0-449E-80A7-96467FF05AE8}"/>
              </a:ext>
            </a:extLst>
          </p:cNvPr>
          <p:cNvSpPr txBox="1"/>
          <p:nvPr/>
        </p:nvSpPr>
        <p:spPr>
          <a:xfrm>
            <a:off x="4499992" y="40466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FI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5CFBDA-921C-41EB-AF05-F3279C22EAF6}"/>
              </a:ext>
            </a:extLst>
          </p:cNvPr>
          <p:cNvSpPr txBox="1"/>
          <p:nvPr/>
        </p:nvSpPr>
        <p:spPr>
          <a:xfrm>
            <a:off x="5004048" y="3953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DI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28C1CF-9D9A-4459-A64C-12E70DAC70CA}"/>
              </a:ext>
            </a:extLst>
          </p:cNvPr>
          <p:cNvSpPr txBox="1"/>
          <p:nvPr/>
        </p:nvSpPr>
        <p:spPr>
          <a:xfrm>
            <a:off x="5580112" y="404664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EI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0B2758-943A-4062-844B-0A7182E64B1E}"/>
              </a:ext>
            </a:extLst>
          </p:cNvPr>
          <p:cNvSpPr txBox="1"/>
          <p:nvPr/>
        </p:nvSpPr>
        <p:spPr>
          <a:xfrm>
            <a:off x="5940152" y="404664"/>
            <a:ext cx="636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WB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0C5FF4-1E56-494B-8D36-4CCFDA4ABD46}"/>
              </a:ext>
            </a:extLst>
          </p:cNvPr>
          <p:cNvSpPr txBox="1"/>
          <p:nvPr/>
        </p:nvSpPr>
        <p:spPr>
          <a:xfrm>
            <a:off x="7812360" y="357301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Degree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9A6BB3-FF1D-4820-9120-AF18905BADE1}"/>
              </a:ext>
            </a:extLst>
          </p:cNvPr>
          <p:cNvSpPr/>
          <p:nvPr/>
        </p:nvSpPr>
        <p:spPr>
          <a:xfrm>
            <a:off x="301587" y="1254558"/>
            <a:ext cx="3679518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Superpipelined</a:t>
            </a: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Many pipeline stages need less than half a clock cycle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Double internal clock speed gets two tasks per external clock cycle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Superscalar allows parallel fetch execute</a:t>
            </a:r>
          </a:p>
        </p:txBody>
      </p:sp>
    </p:spTree>
    <p:extLst>
      <p:ext uri="{BB962C8B-B14F-4D97-AF65-F5344CB8AC3E}">
        <p14:creationId xmlns:p14="http://schemas.microsoft.com/office/powerpoint/2010/main" val="623509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CF1E-4944-43F0-81A3-4DB11515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0" dirty="0"/>
              <a:t>Superscalar approach</a:t>
            </a:r>
            <a:endParaRPr lang="en-IN" sz="2400" b="0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7742C23-763C-4965-BA52-BA640CA55400}"/>
              </a:ext>
            </a:extLst>
          </p:cNvPr>
          <p:cNvSpPr txBox="1">
            <a:spLocks noChangeArrowheads="1"/>
          </p:cNvSpPr>
          <p:nvPr/>
        </p:nvSpPr>
        <p:spPr>
          <a:xfrm>
            <a:off x="713680" y="1066800"/>
            <a:ext cx="8178800" cy="56388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Instruction level parallelism</a:t>
            </a:r>
          </a:p>
          <a:p>
            <a:pPr marL="0" marR="0" lvl="0" indent="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Compiler based optimisation</a:t>
            </a:r>
          </a:p>
          <a:p>
            <a:pPr marL="0" marR="0" lvl="0" indent="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Hardware techniques</a:t>
            </a:r>
          </a:p>
          <a:p>
            <a:pPr marL="0" marR="0" lvl="0" indent="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Limited by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True data dependency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Procedural dependency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Resource conflicts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Output dependency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Antidependency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759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CF1E-4944-43F0-81A3-4DB115156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39" y="-20706"/>
            <a:ext cx="6526212" cy="596900"/>
          </a:xfrm>
        </p:spPr>
        <p:txBody>
          <a:bodyPr/>
          <a:lstStyle/>
          <a:p>
            <a:r>
              <a:rPr lang="en-GB" sz="2400" b="0" dirty="0"/>
              <a:t>Effect of  Dependencies</a:t>
            </a:r>
            <a:endParaRPr lang="en-IN" sz="2400" b="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E1FAFCC-B6A0-45DC-8BFF-8B0B6BDC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685" t="5109" r="7535" b="9712"/>
          <a:stretch>
            <a:fillRect/>
          </a:stretch>
        </p:blipFill>
        <p:spPr bwMode="auto">
          <a:xfrm>
            <a:off x="4427984" y="0"/>
            <a:ext cx="471601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0B56692-D737-4FBD-8E7D-34D92ACDC3E3}"/>
              </a:ext>
            </a:extLst>
          </p:cNvPr>
          <p:cNvSpPr/>
          <p:nvPr/>
        </p:nvSpPr>
        <p:spPr>
          <a:xfrm>
            <a:off x="144828" y="476672"/>
            <a:ext cx="4365355" cy="71045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True Data Dependency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ADD r1, r2 (r1 := r1+r2;)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MOVE r3,r1 (r3 := r1;)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Can fetch and decode second instruction in parallel with first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Can NOT execute second instruction until  first is finished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Procedural Dependency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Can not execute instructions after a branch in parallel with instructions before a branch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Also, if instruction length is not fixed, instructions have to be decoded to find out how many fetches are needed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This prevents simultaneous fetches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160D7-08D1-4B9D-8BA0-3CC7A0568E28}"/>
              </a:ext>
            </a:extLst>
          </p:cNvPr>
          <p:cNvSpPr txBox="1"/>
          <p:nvPr/>
        </p:nvSpPr>
        <p:spPr>
          <a:xfrm>
            <a:off x="6948264" y="1478406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Degree 2</a:t>
            </a:r>
          </a:p>
        </p:txBody>
      </p:sp>
    </p:spTree>
    <p:extLst>
      <p:ext uri="{BB962C8B-B14F-4D97-AF65-F5344CB8AC3E}">
        <p14:creationId xmlns:p14="http://schemas.microsoft.com/office/powerpoint/2010/main" val="2303194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CF1E-4944-43F0-81A3-4DB115156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39" y="-20706"/>
            <a:ext cx="6526212" cy="596900"/>
          </a:xfrm>
        </p:spPr>
        <p:txBody>
          <a:bodyPr/>
          <a:lstStyle/>
          <a:p>
            <a:r>
              <a:rPr lang="en-GB" sz="2400" b="0" dirty="0"/>
              <a:t>Effect of  Dependencies</a:t>
            </a:r>
            <a:endParaRPr lang="en-IN" sz="2400" b="0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E1FAFCC-B6A0-45DC-8BFF-8B0B6BDC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685" t="5109" r="7535" b="9712"/>
          <a:stretch>
            <a:fillRect/>
          </a:stretch>
        </p:blipFill>
        <p:spPr bwMode="auto">
          <a:xfrm>
            <a:off x="4427984" y="0"/>
            <a:ext cx="471601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0B56692-D737-4FBD-8E7D-34D92ACDC3E3}"/>
              </a:ext>
            </a:extLst>
          </p:cNvPr>
          <p:cNvSpPr/>
          <p:nvPr/>
        </p:nvSpPr>
        <p:spPr>
          <a:xfrm>
            <a:off x="144828" y="860995"/>
            <a:ext cx="4365355" cy="4190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Resource Conflict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Two or more instructions requiring access to the same resource at the same time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e.g. two arithmetic instructions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Can duplicate resources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 e.g. have two arithmetic units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GB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E160D7-08D1-4B9D-8BA0-3CC7A0568E28}"/>
              </a:ext>
            </a:extLst>
          </p:cNvPr>
          <p:cNvSpPr txBox="1"/>
          <p:nvPr/>
        </p:nvSpPr>
        <p:spPr>
          <a:xfrm>
            <a:off x="6948264" y="1478406"/>
            <a:ext cx="1296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Degree 2</a:t>
            </a:r>
          </a:p>
        </p:txBody>
      </p:sp>
    </p:spTree>
    <p:extLst>
      <p:ext uri="{BB962C8B-B14F-4D97-AF65-F5344CB8AC3E}">
        <p14:creationId xmlns:p14="http://schemas.microsoft.com/office/powerpoint/2010/main" val="3516064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A6E3-A180-43C1-821C-A5A5ECA8B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/>
              <a:t>Dependency due to memory Cycle </a:t>
            </a:r>
            <a:endParaRPr lang="en-IN" sz="2800" b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9AD077-5767-4824-A5AF-72AC44AE5DBE}"/>
              </a:ext>
            </a:extLst>
          </p:cNvPr>
          <p:cNvSpPr/>
          <p:nvPr/>
        </p:nvSpPr>
        <p:spPr>
          <a:xfrm>
            <a:off x="323528" y="1124744"/>
            <a:ext cx="8568952" cy="4611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MOV EAX, eff          ; load register EAX with the contents of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                                     effective memory address eff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MOV EBX, EAX         ;load EBX with the contents of EAX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For RISC processor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two or more cycles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when the load is a cache hit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tens or even hundreds of cycles for a cache miss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sol: for the compiler to reorder instructions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This scheme is less effective in the case of a superscalar pipeline: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The independent instructions executed during the load are likely to be executed on the first cycle of the load, leaving the processor with nothing to do until the load completes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724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4FB6-8788-4BDD-8930-DC01F684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0" dirty="0"/>
              <a:t>Design Issues:</a:t>
            </a:r>
            <a:r>
              <a:rPr lang="en-US" sz="2400" b="0" dirty="0"/>
              <a:t>Instruction-Level Parallelism and Machine Parallelism</a:t>
            </a:r>
            <a:endParaRPr lang="en-IN" sz="2400" b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63C521-CCF7-4478-8299-35663719A1FF}"/>
              </a:ext>
            </a:extLst>
          </p:cNvPr>
          <p:cNvSpPr/>
          <p:nvPr/>
        </p:nvSpPr>
        <p:spPr>
          <a:xfrm>
            <a:off x="395536" y="980728"/>
            <a:ext cx="7920880" cy="5442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Instruction level parallelism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Instructions in a sequence are independent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Execution can be overlapped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Governed by data and procedural dependency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Example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Independent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Load R1 ← R2 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Add R3 ← R3, “1” 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Add R3 ← R3, “1” 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Machine Parallelism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Ability to take advantage of instruction level parallelism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Governed by number of parallel pipelines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78A19C-C1F5-44AD-B3A4-2161A5483DC2}"/>
              </a:ext>
            </a:extLst>
          </p:cNvPr>
          <p:cNvSpPr txBox="1"/>
          <p:nvPr/>
        </p:nvSpPr>
        <p:spPr>
          <a:xfrm>
            <a:off x="5123050" y="3501008"/>
            <a:ext cx="3600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Showing Dependency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Add R4 ← R3, R2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Add R4 ← R4, R2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Store [R4] ← R0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521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4FB6-8788-4BDD-8930-DC01F684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0" dirty="0"/>
              <a:t>Instruction Issue Policy</a:t>
            </a:r>
            <a:endParaRPr lang="en-IN" sz="2400" b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CE7B80-E24A-4C33-BC25-3D37F302F699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066800"/>
            <a:ext cx="8178800" cy="56388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285750" marR="0" lvl="0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Instruction issue policy to refer to the protocol used to issue instructions</a:t>
            </a:r>
          </a:p>
          <a:p>
            <a:pPr marL="285750" marR="0" lvl="0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Three types of orderings are important</a:t>
            </a:r>
          </a:p>
          <a:p>
            <a:pPr marL="482600" marR="0" lvl="1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Order in which instructions are fetched</a:t>
            </a:r>
          </a:p>
          <a:p>
            <a:pPr marL="482600" marR="0" lvl="1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 Order in which instructions are executed</a:t>
            </a:r>
          </a:p>
          <a:p>
            <a:pPr marL="482600" marR="0" lvl="1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 Order in which instructions change registers and memory</a:t>
            </a:r>
          </a:p>
          <a:p>
            <a:pPr marL="482600" marR="0" lvl="1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the processor must accommodate the various dependencies and conflicts.</a:t>
            </a: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138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4FB6-8788-4BDD-8930-DC01F684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b="0" i="1" dirty="0"/>
              <a:t>superscalar instruction issue policies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D8607C-837E-424E-A118-F47DD7F9C3E8}"/>
              </a:ext>
            </a:extLst>
          </p:cNvPr>
          <p:cNvSpPr/>
          <p:nvPr/>
        </p:nvSpPr>
        <p:spPr>
          <a:xfrm>
            <a:off x="251520" y="980728"/>
            <a:ext cx="6192688" cy="1420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In-order issue with in-order completion 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In-order issue with out-of-order completion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Out-of-order issue with out-of-order completion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72BD5F-78B8-456A-BEA3-D6051BDB0609}"/>
              </a:ext>
            </a:extLst>
          </p:cNvPr>
          <p:cNvSpPr/>
          <p:nvPr/>
        </p:nvSpPr>
        <p:spPr>
          <a:xfrm>
            <a:off x="395536" y="2852936"/>
            <a:ext cx="7128792" cy="2805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In-Order Issue  In-Order Completion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Issue instructions in the order they occur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Not very efficient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May fetch &gt;1 instruction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Instructions must stall if necessary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337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4FB6-8788-4BDD-8930-DC01F6844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0" dirty="0"/>
              <a:t>In-Order Issue In-Order Completion (Diagram)</a:t>
            </a:r>
            <a:endParaRPr lang="en-IN" sz="2400" b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568811-1734-4AB1-80DE-95B182E45B1B}"/>
              </a:ext>
            </a:extLst>
          </p:cNvPr>
          <p:cNvSpPr txBox="1"/>
          <p:nvPr/>
        </p:nvSpPr>
        <p:spPr>
          <a:xfrm>
            <a:off x="129381" y="1052736"/>
            <a:ext cx="8501090" cy="1703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I1 requires two cycles two execute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I3 &amp; I4 conflict for the same functional unit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I5 depends on the value produced by I4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q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I5 and I6 conflict for a functional unit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683674BB-3CA9-436C-9762-FC9339A87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r="23492" b="75000"/>
          <a:stretch>
            <a:fillRect/>
          </a:stretch>
        </p:blipFill>
        <p:spPr bwMode="auto">
          <a:xfrm>
            <a:off x="303226" y="2755766"/>
            <a:ext cx="8153400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FCE099-80C1-4ED4-9C25-CA15A86F7E9C}"/>
              </a:ext>
            </a:extLst>
          </p:cNvPr>
          <p:cNvSpPr/>
          <p:nvPr/>
        </p:nvSpPr>
        <p:spPr>
          <a:xfrm>
            <a:off x="1337361" y="6093296"/>
            <a:ext cx="7293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Superscalar Instruction Issue and Completion Policies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5543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4FB6-8788-4BDD-8930-DC01F6844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6" y="260350"/>
            <a:ext cx="7186066" cy="596900"/>
          </a:xfrm>
        </p:spPr>
        <p:txBody>
          <a:bodyPr/>
          <a:lstStyle/>
          <a:p>
            <a:r>
              <a:rPr lang="en-GB" sz="2400" b="0" dirty="0"/>
              <a:t>In-Order Issue Out-of-Order Completion (Diagram)</a:t>
            </a:r>
            <a:endParaRPr lang="en-IN" sz="2400" b="0" dirty="0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6358FAE4-F71C-4061-8C0A-9BD0ECE969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29890" r="25052" b="43056"/>
          <a:stretch>
            <a:fillRect/>
          </a:stretch>
        </p:blipFill>
        <p:spPr bwMode="auto">
          <a:xfrm>
            <a:off x="251520" y="1124744"/>
            <a:ext cx="7696200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9110EE-C882-4B19-89CE-BC49015C5ECF}"/>
              </a:ext>
            </a:extLst>
          </p:cNvPr>
          <p:cNvSpPr/>
          <p:nvPr/>
        </p:nvSpPr>
        <p:spPr>
          <a:xfrm>
            <a:off x="1342528" y="4737578"/>
            <a:ext cx="60377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Superscalar Instruction Issue and Completion Policies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43362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6F3A-3088-4A53-87F0-EBA3B2600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38" y="-27384"/>
            <a:ext cx="7186066" cy="596900"/>
          </a:xfrm>
        </p:spPr>
        <p:txBody>
          <a:bodyPr/>
          <a:lstStyle/>
          <a:p>
            <a:r>
              <a:rPr lang="en-GB" sz="2400" b="0" dirty="0"/>
              <a:t>In-Order Issue Out-of-Order Completion</a:t>
            </a:r>
            <a:endParaRPr lang="en-IN" sz="2400" b="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BC83285-12CC-42DC-980B-1AF9282AA40D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476672"/>
            <a:ext cx="8564562" cy="56388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Tx/>
              <a:buNone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Output dependency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I1: R3 ← R3 op R5 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I2: R4 ← R3 + 1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 I3: R3 ← R5 + 1 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I4: R7 ← R3 op R4</a:t>
            </a:r>
          </a:p>
          <a:p>
            <a:pPr marL="196850" marR="0" lvl="1" indent="-195263" algn="l" defTabSz="91281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I2 depends on result of I1 – True data dependency: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Instruction I2 cannot execute before instruction I1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anose="020B0600070205080204" pitchFamily="34" charset="-128"/>
              <a:cs typeface="+mn-cs"/>
            </a:endParaRP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If I3 completes before I1, the result from I1 will be wrong - output (read-write) dependency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I4 must wait for I3, because it uses a result pro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duced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 by I3.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I3 must complete after I1 to produce the correct output values in I4</a:t>
            </a: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anose="020B0600070205080204" pitchFamily="34" charset="-128"/>
              <a:cs typeface="+mn-cs"/>
            </a:endParaRP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en-GB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Eg.</a:t>
            </a:r>
            <a:r>
              <a: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 Of a </a:t>
            </a: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Write after write (WAW) dependency.</a:t>
            </a: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n-cs"/>
              </a:rPr>
              <a:t>Here more difficult to deal with instruction interrupts and exceptions as at the time of interruption, instructions ahead of the instruction that caused the interrupt must have completed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anose="020B0600070205080204" pitchFamily="34" charset="-128"/>
              <a:cs typeface="+mn-cs"/>
            </a:endParaRPr>
          </a:p>
          <a:p>
            <a:pPr marL="196850" marR="0" lvl="1" indent="-195263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Pct val="125000"/>
              <a:buFont typeface="Arial" panose="020B0604020202020204" pitchFamily="34" charset="0"/>
              <a:buChar char="▪"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697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0C477-1253-484E-9FD6-346526082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0" dirty="0"/>
              <a:t>Out-of-Order Issue Out-of-Order Completion</a:t>
            </a:r>
            <a:endParaRPr lang="en-IN" sz="2400" b="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95D8CF00-364C-429B-B574-584C93260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66667" r="6195" b="11111"/>
          <a:stretch>
            <a:fillRect/>
          </a:stretch>
        </p:blipFill>
        <p:spPr bwMode="auto">
          <a:xfrm>
            <a:off x="122238" y="889011"/>
            <a:ext cx="8610600" cy="244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A2F640E2-5E35-4B14-A297-8D762F462E93}"/>
              </a:ext>
            </a:extLst>
          </p:cNvPr>
          <p:cNvSpPr txBox="1">
            <a:spLocks noChangeArrowheads="1"/>
          </p:cNvSpPr>
          <p:nvPr/>
        </p:nvSpPr>
        <p:spPr>
          <a:xfrm>
            <a:off x="338138" y="3314177"/>
            <a:ext cx="8178800" cy="56388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285750" marR="0" lvl="0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Decouple decode pipeline from execution pipeline</a:t>
            </a:r>
          </a:p>
          <a:p>
            <a:pPr marL="285750" marR="0" lvl="0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Can continue to fetch and decode until this pipeline is full</a:t>
            </a:r>
          </a:p>
          <a:p>
            <a:pPr marL="285750" marR="0" lvl="0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When a functional unit becomes available an instruction can be executed</a:t>
            </a:r>
          </a:p>
          <a:p>
            <a:pPr marL="285750" marR="0" lvl="0" indent="-285750" algn="l" defTabSz="912813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2960"/>
              </a:buClr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Since instructions have been decoded, processor can look ahead</a:t>
            </a:r>
          </a:p>
        </p:txBody>
      </p:sp>
    </p:spTree>
    <p:extLst>
      <p:ext uri="{BB962C8B-B14F-4D97-AF65-F5344CB8AC3E}">
        <p14:creationId xmlns:p14="http://schemas.microsoft.com/office/powerpoint/2010/main" val="1789987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0FF37-4337-4B71-B898-6A6BAC9C0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0" dirty="0" err="1"/>
              <a:t>Antidependency</a:t>
            </a:r>
            <a:endParaRPr lang="en-IN" sz="2400" b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3541FB-D41B-4B44-B8E4-B4B5C0543CA2}"/>
              </a:ext>
            </a:extLst>
          </p:cNvPr>
          <p:cNvSpPr/>
          <p:nvPr/>
        </p:nvSpPr>
        <p:spPr>
          <a:xfrm>
            <a:off x="323528" y="980728"/>
            <a:ext cx="8424936" cy="465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Read after-write(RAW) dependency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I1: R3 ← R3 op R5 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I2: R4 ← R3 + 1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I3: R3 ← R5 + 1 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I4: R7 ← R3 op R4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Instruction I3 cannot complete execution before instruction I2 begins execution and has fetched its operands. This is so because I3 updates register R3, which is a source operand for I2.</a:t>
            </a: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The term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antidependency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 is used because the constraint is similar to that of a true data dependency, but reversed: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807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1555-4EF4-466D-96C6-B0B2B6ED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0" dirty="0"/>
              <a:t>Reduced Instruction Set Computer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76D402-15F2-42ED-BA5B-9CA79BD75147}"/>
              </a:ext>
            </a:extLst>
          </p:cNvPr>
          <p:cNvSpPr/>
          <p:nvPr/>
        </p:nvSpPr>
        <p:spPr>
          <a:xfrm>
            <a:off x="151796" y="836712"/>
            <a:ext cx="8740684" cy="6036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dirty="0"/>
              <a:t>  </a:t>
            </a:r>
            <a:r>
              <a:rPr lang="en-GB" sz="2000" dirty="0"/>
              <a:t>Key features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Large number of general purpose registers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 or use of compiler technology to optimize register use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 Limited and simple instruction set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 Emphasis on optimising the instruction pipeline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sz="2000" dirty="0"/>
              <a:t> </a:t>
            </a:r>
            <a:r>
              <a:rPr kumimoji="1" lang="en-US" altLang="zh-CN" sz="2000" dirty="0"/>
              <a:t>All operations on data apply to data in registers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2000" dirty="0"/>
              <a:t> The only operations that affect memory are load and store operations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1" lang="en-US" altLang="zh-CN" sz="2000" dirty="0"/>
              <a:t> The instruction formats are few in number, with all instructions typically being one size.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GB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000" dirty="0"/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77664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1555-4EF4-466D-96C6-B0B2B6ED8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0" dirty="0"/>
              <a:t>Basic Pipelining: A "Typical" RISC ISA</a:t>
            </a:r>
            <a:endParaRPr lang="en-IN" sz="2400" b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CDA87F-4CB8-4A5F-BA92-39862C6C9A17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1124744"/>
            <a:ext cx="7981950" cy="4953000"/>
          </a:xfrm>
          <a:prstGeom prst="rect">
            <a:avLst/>
          </a:prstGeom>
          <a:noFill/>
        </p:spPr>
        <p:txBody>
          <a:bodyPr lIns="90488" tIns="44450" rIns="90488" bIns="44450"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kern="0" dirty="0"/>
              <a:t>32-bit fixed format instruction (3 formats)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kern="0" dirty="0"/>
              <a:t>ALU instructions, Load/Store, Branches and Jumps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kern="0" dirty="0"/>
              <a:t>32 32-bit GPR (R0 contains zero, DP take pair)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kern="0" dirty="0"/>
              <a:t> 3-address, reg-reg arithmetic instruction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kern="0" dirty="0"/>
              <a:t> Single address mode for load/store: </a:t>
            </a:r>
            <a:br>
              <a:rPr lang="en-US" sz="2400" kern="0" dirty="0"/>
            </a:br>
            <a:r>
              <a:rPr lang="en-US" sz="2400" kern="0" dirty="0"/>
              <a:t>base + displacement</a:t>
            </a:r>
          </a:p>
          <a:p>
            <a:pPr lvl="2">
              <a:lnSpc>
                <a:spcPct val="150000"/>
              </a:lnSpc>
            </a:pPr>
            <a:r>
              <a:rPr lang="en-US" sz="2400" kern="0" dirty="0"/>
              <a:t>no indirection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kern="0" dirty="0"/>
              <a:t>Simple branch conditions /Jump</a:t>
            </a:r>
          </a:p>
        </p:txBody>
      </p:sp>
    </p:spTree>
    <p:extLst>
      <p:ext uri="{BB962C8B-B14F-4D97-AF65-F5344CB8AC3E}">
        <p14:creationId xmlns:p14="http://schemas.microsoft.com/office/powerpoint/2010/main" val="1485601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6E7B9-FAAF-44D2-B0CC-39A6F9D9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38" y="44624"/>
            <a:ext cx="7186066" cy="596900"/>
          </a:xfrm>
        </p:spPr>
        <p:txBody>
          <a:bodyPr/>
          <a:lstStyle/>
          <a:p>
            <a:r>
              <a:rPr kumimoji="1" lang="en-US" altLang="zh-CN" sz="2400" b="0" dirty="0"/>
              <a:t>A simple implementation of a RISC Instruction Set</a:t>
            </a:r>
            <a:endParaRPr lang="en-IN" sz="2400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FF0266-1C1E-40E4-B224-B71C5F27AAED}"/>
              </a:ext>
            </a:extLst>
          </p:cNvPr>
          <p:cNvSpPr txBox="1">
            <a:spLocks/>
          </p:cNvSpPr>
          <p:nvPr/>
        </p:nvSpPr>
        <p:spPr>
          <a:xfrm>
            <a:off x="122238" y="476672"/>
            <a:ext cx="884225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1800" kern="0" dirty="0"/>
              <a:t>Every instruction can be implemented in at most 5 cycles.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1800" kern="0" dirty="0"/>
              <a:t>Instruction fetch cycle (</a:t>
            </a:r>
            <a:r>
              <a:rPr kumimoji="1" lang="en-US" altLang="zh-CN" sz="1800" kern="0" dirty="0">
                <a:solidFill>
                  <a:srgbClr val="FF0000"/>
                </a:solidFill>
              </a:rPr>
              <a:t>IF</a:t>
            </a:r>
            <a:r>
              <a:rPr kumimoji="1" lang="en-US" altLang="zh-CN" sz="1800" kern="0" dirty="0"/>
              <a:t>): send PC to memory and fetch the current instruction; Update the PC to the next PC by adding 4.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1800" kern="0" dirty="0"/>
              <a:t>Instruction decode/register fetch cycle (</a:t>
            </a:r>
            <a:r>
              <a:rPr kumimoji="1" lang="en-US" altLang="zh-CN" sz="1800" kern="0" dirty="0">
                <a:solidFill>
                  <a:srgbClr val="FF0000"/>
                </a:solidFill>
              </a:rPr>
              <a:t>ID</a:t>
            </a:r>
            <a:r>
              <a:rPr kumimoji="1" lang="en-US" altLang="zh-CN" sz="1800" kern="0" dirty="0"/>
              <a:t>): decode the instruction and read the registers. For a branch, do the equality test on the registers, and compute the target address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1800" kern="0" dirty="0"/>
              <a:t>Execution/effective address cycle (</a:t>
            </a:r>
            <a:r>
              <a:rPr kumimoji="1" lang="en-US" altLang="zh-CN" sz="1800" kern="0" dirty="0">
                <a:solidFill>
                  <a:srgbClr val="FF0000"/>
                </a:solidFill>
              </a:rPr>
              <a:t>EX</a:t>
            </a:r>
            <a:r>
              <a:rPr kumimoji="1" lang="en-US" altLang="zh-CN" sz="1800" kern="0" dirty="0"/>
              <a:t>): The ALU operates on the operands prepared in the prior cycle, performing:</a:t>
            </a:r>
          </a:p>
          <a:p>
            <a:pPr lvl="2">
              <a:lnSpc>
                <a:spcPct val="150000"/>
              </a:lnSpc>
            </a:pPr>
            <a:r>
              <a:rPr kumimoji="1" lang="en-US" altLang="zh-CN" sz="1800" kern="0" dirty="0"/>
              <a:t>Memory reference: ALU adds the base register and the offset.   </a:t>
            </a:r>
          </a:p>
          <a:p>
            <a:pPr marL="198438" lvl="2" indent="0">
              <a:lnSpc>
                <a:spcPct val="150000"/>
              </a:lnSpc>
              <a:buNone/>
            </a:pPr>
            <a:r>
              <a:rPr kumimoji="1" lang="en-US" altLang="zh-CN" sz="1800" kern="0" dirty="0"/>
              <a:t>      LW 100(R1)    =&gt; 100 + R1</a:t>
            </a:r>
          </a:p>
          <a:p>
            <a:pPr lvl="2">
              <a:lnSpc>
                <a:spcPct val="150000"/>
              </a:lnSpc>
            </a:pPr>
            <a:r>
              <a:rPr kumimoji="1" lang="en-US" altLang="zh-CN" sz="1800" kern="0" dirty="0"/>
              <a:t>Register-Register ALU instruction: ALU performs the operation specified by the opcode on the values read from the register file.  ADD R1,R2,R3 =&gt; R1 + R2</a:t>
            </a:r>
          </a:p>
          <a:p>
            <a:pPr lvl="2">
              <a:lnSpc>
                <a:spcPct val="150000"/>
              </a:lnSpc>
            </a:pPr>
            <a:r>
              <a:rPr kumimoji="1" lang="en-US" altLang="zh-CN" sz="1800" kern="0" dirty="0"/>
              <a:t>Register-Immediate ALU instruction: ALU performs the operation specified by the opcode on the first values read from the register file and the immediate. ADD R1,3,R2 =&gt; R1 + 3 </a:t>
            </a:r>
          </a:p>
          <a:p>
            <a:pPr lvl="2">
              <a:lnSpc>
                <a:spcPct val="150000"/>
              </a:lnSpc>
            </a:pPr>
            <a:endParaRPr kumimoji="1" lang="en-US" altLang="zh-CN" sz="1800" kern="0" dirty="0"/>
          </a:p>
          <a:p>
            <a:pPr lvl="2">
              <a:lnSpc>
                <a:spcPct val="150000"/>
              </a:lnSpc>
            </a:pPr>
            <a:endParaRPr kumimoji="1" lang="en-US" altLang="zh-CN" sz="1800" kern="0" dirty="0"/>
          </a:p>
          <a:p>
            <a:pPr lvl="1">
              <a:lnSpc>
                <a:spcPct val="150000"/>
              </a:lnSpc>
            </a:pPr>
            <a:endParaRPr kumimoji="1" lang="zh-CN" alt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2010349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578E6-2C42-4ED9-97BE-336C5FAF9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38" y="260350"/>
            <a:ext cx="6970042" cy="596900"/>
          </a:xfrm>
        </p:spPr>
        <p:txBody>
          <a:bodyPr/>
          <a:lstStyle/>
          <a:p>
            <a:r>
              <a:rPr kumimoji="1" lang="en-US" altLang="zh-CN" sz="2400" b="0" dirty="0"/>
              <a:t>A simple implementation of a RISC Instruction Set</a:t>
            </a:r>
            <a:endParaRPr lang="en-IN" sz="2400" b="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2698BB7-512A-4FD1-ADB7-CE142EB2026F}"/>
              </a:ext>
            </a:extLst>
          </p:cNvPr>
          <p:cNvSpPr txBox="1">
            <a:spLocks/>
          </p:cNvSpPr>
          <p:nvPr/>
        </p:nvSpPr>
        <p:spPr>
          <a:xfrm>
            <a:off x="698500" y="90872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</a:pPr>
            <a:r>
              <a:rPr kumimoji="1" lang="en-US" altLang="zh-CN" sz="2000" kern="0"/>
              <a:t>Every instruction can be implemented in at most 5 cycles.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kern="0"/>
              <a:t>Memory access (</a:t>
            </a:r>
            <a:r>
              <a:rPr kumimoji="1" lang="en-US" altLang="zh-CN" sz="2000" kern="0">
                <a:solidFill>
                  <a:srgbClr val="FF0000"/>
                </a:solidFill>
              </a:rPr>
              <a:t>MEM</a:t>
            </a:r>
            <a:r>
              <a:rPr kumimoji="1" lang="en-US" altLang="zh-CN" sz="2000" kern="0"/>
              <a:t>). Read the memory using the effective address computed in the previous cycle if the instruction is a load; If it is a store, write the data to the memory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2000" kern="0"/>
              <a:t>Write-back cycle (</a:t>
            </a:r>
            <a:r>
              <a:rPr kumimoji="1" lang="en-US" altLang="zh-CN" sz="2000" kern="0">
                <a:solidFill>
                  <a:srgbClr val="FF0000"/>
                </a:solidFill>
              </a:rPr>
              <a:t>WB</a:t>
            </a:r>
            <a:r>
              <a:rPr kumimoji="1" lang="en-US" altLang="zh-CN" sz="2000" kern="0"/>
              <a:t>). For Register-Register ALU instruction or load instruction, write the result into the register file, whether it comes from the memory (for a load) or from the ALU (for an ALU instruction)</a:t>
            </a:r>
          </a:p>
          <a:p>
            <a:pPr>
              <a:lnSpc>
                <a:spcPct val="150000"/>
              </a:lnSpc>
            </a:pPr>
            <a:r>
              <a:rPr kumimoji="1" lang="en-US" altLang="zh-CN" sz="2000" kern="0"/>
              <a:t>Branch instructions require 2 cycles, store instructions require 4 cycles, others require 5 cycles.</a:t>
            </a:r>
          </a:p>
          <a:p>
            <a:pPr lvl="1">
              <a:lnSpc>
                <a:spcPct val="150000"/>
              </a:lnSpc>
            </a:pPr>
            <a:endParaRPr kumimoji="1" lang="en-US" altLang="zh-CN" sz="2000" kern="0"/>
          </a:p>
          <a:p>
            <a:pPr lvl="2">
              <a:lnSpc>
                <a:spcPct val="150000"/>
              </a:lnSpc>
            </a:pPr>
            <a:endParaRPr kumimoji="1" lang="en-US" altLang="zh-CN" sz="2000" kern="0"/>
          </a:p>
          <a:p>
            <a:pPr lvl="2">
              <a:lnSpc>
                <a:spcPct val="150000"/>
              </a:lnSpc>
            </a:pPr>
            <a:endParaRPr kumimoji="1" lang="en-US" altLang="zh-CN" sz="2000" kern="0"/>
          </a:p>
          <a:p>
            <a:pPr lvl="1">
              <a:lnSpc>
                <a:spcPct val="150000"/>
              </a:lnSpc>
            </a:pPr>
            <a:endParaRPr kumimoji="1" lang="zh-CN" alt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439251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C69B-97D7-4190-AD38-7D2035EB9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238" y="260350"/>
            <a:ext cx="6526212" cy="596900"/>
          </a:xfrm>
        </p:spPr>
        <p:txBody>
          <a:bodyPr/>
          <a:lstStyle/>
          <a:p>
            <a:r>
              <a:rPr kumimoji="1" lang="en-US" altLang="zh-CN" sz="2400" b="0" dirty="0"/>
              <a:t>An example of an instruction execution</a:t>
            </a:r>
            <a:endParaRPr lang="en-IN" sz="2400" b="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99C2A4-CFCD-470A-B2DA-EBE26DA3D304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1D8B9AE8-ADC6-4447-8FE2-06F8641AC8E7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593C3DDD-53BF-4EBE-8A35-7AA8B674C8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9" name="AutoShape 13">
                <a:extLst>
                  <a:ext uri="{FF2B5EF4-FFF2-40B4-BE49-F238E27FC236}">
                    <a16:creationId xmlns:a16="http://schemas.microsoft.com/office/drawing/2014/main" id="{606BB688-58F9-4B15-BF92-C1A1FB6CE3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10" name="AutoShape 14">
                <a:extLst>
                  <a:ext uri="{FF2B5EF4-FFF2-40B4-BE49-F238E27FC236}">
                    <a16:creationId xmlns:a16="http://schemas.microsoft.com/office/drawing/2014/main" id="{E8FF9840-34CD-40F9-B830-EC7AC8645B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1" name="Text Box 15">
                <a:extLst>
                  <a:ext uri="{FF2B5EF4-FFF2-40B4-BE49-F238E27FC236}">
                    <a16:creationId xmlns:a16="http://schemas.microsoft.com/office/drawing/2014/main" id="{69690A74-2117-4666-A59D-05E6008972A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998085A4-1724-4F9D-905E-76C3D59A81F5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2" name="Line 37">
            <a:extLst>
              <a:ext uri="{FF2B5EF4-FFF2-40B4-BE49-F238E27FC236}">
                <a16:creationId xmlns:a16="http://schemas.microsoft.com/office/drawing/2014/main" id="{AE865575-43AC-4F10-8CE0-EB91CE88A9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3" name="Line 38">
            <a:extLst>
              <a:ext uri="{FF2B5EF4-FFF2-40B4-BE49-F238E27FC236}">
                <a16:creationId xmlns:a16="http://schemas.microsoft.com/office/drawing/2014/main" id="{74E4119C-E296-46C4-B949-441F703F32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5B55527C-A266-4228-9D7C-3CBA83B1F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808" y="3861048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5A973FE8-618E-4C4A-A044-B4B5786B3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594" y="3464793"/>
            <a:ext cx="590550" cy="14763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 File</a:t>
            </a:r>
          </a:p>
        </p:txBody>
      </p:sp>
      <p:sp>
        <p:nvSpPr>
          <p:cNvPr id="16" name="Line 37">
            <a:extLst>
              <a:ext uri="{FF2B5EF4-FFF2-40B4-BE49-F238E27FC236}">
                <a16:creationId xmlns:a16="http://schemas.microsoft.com/office/drawing/2014/main" id="{FACD9943-CEDA-454A-9D3C-BAEFAEDEA72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7" name="右箭头 19">
            <a:extLst>
              <a:ext uri="{FF2B5EF4-FFF2-40B4-BE49-F238E27FC236}">
                <a16:creationId xmlns:a16="http://schemas.microsoft.com/office/drawing/2014/main" id="{1965EF78-A6AD-4B15-95DD-A8FC8E2D7F98}"/>
              </a:ext>
            </a:extLst>
          </p:cNvPr>
          <p:cNvSpPr/>
          <p:nvPr/>
        </p:nvSpPr>
        <p:spPr bwMode="auto">
          <a:xfrm>
            <a:off x="251520" y="3212976"/>
            <a:ext cx="792088" cy="216024"/>
          </a:xfrm>
          <a:prstGeom prst="rightArrow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18" name="Text Box 65">
            <a:extLst>
              <a:ext uri="{FF2B5EF4-FFF2-40B4-BE49-F238E27FC236}">
                <a16:creationId xmlns:a16="http://schemas.microsoft.com/office/drawing/2014/main" id="{15A6A040-61A3-4DD4-ABFB-10D2D3132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852936"/>
            <a:ext cx="4439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PC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A3ADEFC2-9B12-4796-A75F-90B5680B5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1988840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US" sz="1800" dirty="0">
              <a:solidFill>
                <a:srgbClr val="000000"/>
              </a:solidFill>
              <a:latin typeface="Comic Sans MS" charset="0"/>
              <a:ea typeface="ＭＳ Ｐゴシック" charset="-128"/>
            </a:endParaRPr>
          </a:p>
        </p:txBody>
      </p:sp>
      <p:sp>
        <p:nvSpPr>
          <p:cNvPr id="20" name="Text Box 65">
            <a:extLst>
              <a:ext uri="{FF2B5EF4-FFF2-40B4-BE49-F238E27FC236}">
                <a16:creationId xmlns:a16="http://schemas.microsoft.com/office/drawing/2014/main" id="{CAAAF631-2361-495F-AD9E-8892AA159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193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</p:spTree>
    <p:extLst>
      <p:ext uri="{BB962C8B-B14F-4D97-AF65-F5344CB8AC3E}">
        <p14:creationId xmlns:p14="http://schemas.microsoft.com/office/powerpoint/2010/main" val="2016120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CB85-282B-43A1-8079-76CC7AC8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800" dirty="0"/>
              <a:t>Instruction Fetch (IF)</a:t>
            </a:r>
            <a:endParaRPr lang="en-IN" sz="2800" b="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375DE74-0BAB-4811-8903-77037080D0A8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89077CDC-66A3-4F23-8822-EA135943EA02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17F4964C-9D3C-4F62-857C-0B5523CD61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9" name="AutoShape 13">
                <a:extLst>
                  <a:ext uri="{FF2B5EF4-FFF2-40B4-BE49-F238E27FC236}">
                    <a16:creationId xmlns:a16="http://schemas.microsoft.com/office/drawing/2014/main" id="{B5C0236C-AA26-494E-B3EC-1EB8195B67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10" name="AutoShape 14">
                <a:extLst>
                  <a:ext uri="{FF2B5EF4-FFF2-40B4-BE49-F238E27FC236}">
                    <a16:creationId xmlns:a16="http://schemas.microsoft.com/office/drawing/2014/main" id="{48B32BB4-1737-481C-9327-FC7C4865B7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1" name="Text Box 15">
                <a:extLst>
                  <a:ext uri="{FF2B5EF4-FFF2-40B4-BE49-F238E27FC236}">
                    <a16:creationId xmlns:a16="http://schemas.microsoft.com/office/drawing/2014/main" id="{B2E6850C-B34A-4192-8142-4A8EFEA232E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2DC23B1C-94BA-45BE-9E19-39D73A0256F5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2" name="Line 37">
            <a:extLst>
              <a:ext uri="{FF2B5EF4-FFF2-40B4-BE49-F238E27FC236}">
                <a16:creationId xmlns:a16="http://schemas.microsoft.com/office/drawing/2014/main" id="{78A227B4-55EA-42A5-A0AF-E4C45E15D3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3" name="Line 38">
            <a:extLst>
              <a:ext uri="{FF2B5EF4-FFF2-40B4-BE49-F238E27FC236}">
                <a16:creationId xmlns:a16="http://schemas.microsoft.com/office/drawing/2014/main" id="{3105F59C-319C-4267-A7FA-5D2EC10EB8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F92F5936-08B1-4CE4-98F1-55CB34518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594" y="3464793"/>
            <a:ext cx="590550" cy="14763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 File</a:t>
            </a: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9E83CF55-2F25-40C3-B4CC-601C3C4C2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2852936"/>
            <a:ext cx="3456384" cy="3384376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6" name="Rectangle 36">
            <a:extLst>
              <a:ext uri="{FF2B5EF4-FFF2-40B4-BE49-F238E27FC236}">
                <a16:creationId xmlns:a16="http://schemas.microsoft.com/office/drawing/2014/main" id="{A6AB33B3-0C2F-45DF-B93A-BD5D31A0E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3624064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000011000111111100000…</a:t>
            </a:r>
          </a:p>
        </p:txBody>
      </p:sp>
      <p:sp>
        <p:nvSpPr>
          <p:cNvPr id="17" name="右箭头 22">
            <a:extLst>
              <a:ext uri="{FF2B5EF4-FFF2-40B4-BE49-F238E27FC236}">
                <a16:creationId xmlns:a16="http://schemas.microsoft.com/office/drawing/2014/main" id="{1B40C19A-98B4-4B36-A165-EE7C4E34763F}"/>
              </a:ext>
            </a:extLst>
          </p:cNvPr>
          <p:cNvSpPr/>
          <p:nvPr/>
        </p:nvSpPr>
        <p:spPr bwMode="auto">
          <a:xfrm>
            <a:off x="251520" y="3212976"/>
            <a:ext cx="792088" cy="216024"/>
          </a:xfrm>
          <a:prstGeom prst="rightArrow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18" name="Text Box 65">
            <a:extLst>
              <a:ext uri="{FF2B5EF4-FFF2-40B4-BE49-F238E27FC236}">
                <a16:creationId xmlns:a16="http://schemas.microsoft.com/office/drawing/2014/main" id="{B3E7422B-3BC4-40D5-A419-631E35D9F1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852936"/>
            <a:ext cx="4439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PC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F5003017-EF96-4AA3-B7BF-8FE789D35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1988840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US" sz="1800" dirty="0">
              <a:solidFill>
                <a:srgbClr val="000000"/>
              </a:solidFill>
              <a:latin typeface="Comic Sans MS" charset="0"/>
              <a:ea typeface="ＭＳ Ｐゴシック" charset="-128"/>
            </a:endParaRPr>
          </a:p>
        </p:txBody>
      </p:sp>
      <p:sp>
        <p:nvSpPr>
          <p:cNvPr id="20" name="Text Box 65">
            <a:extLst>
              <a:ext uri="{FF2B5EF4-FFF2-40B4-BE49-F238E27FC236}">
                <a16:creationId xmlns:a16="http://schemas.microsoft.com/office/drawing/2014/main" id="{502D1583-0C7E-451D-9D32-7C3962E938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193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21" name="Line 37">
            <a:extLst>
              <a:ext uri="{FF2B5EF4-FFF2-40B4-BE49-F238E27FC236}">
                <a16:creationId xmlns:a16="http://schemas.microsoft.com/office/drawing/2014/main" id="{28DC36D3-98D1-4B9F-B641-75EDBF83C99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2" name="Rectangle 36">
            <a:extLst>
              <a:ext uri="{FF2B5EF4-FFF2-40B4-BE49-F238E27FC236}">
                <a16:creationId xmlns:a16="http://schemas.microsoft.com/office/drawing/2014/main" id="{5309F74A-8DBA-433D-8E24-8DEF0E8CF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314096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</p:spTree>
    <p:extLst>
      <p:ext uri="{BB962C8B-B14F-4D97-AF65-F5344CB8AC3E}">
        <p14:creationId xmlns:p14="http://schemas.microsoft.com/office/powerpoint/2010/main" val="3892100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CB85-282B-43A1-8079-76CC7AC8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400" b="0" dirty="0"/>
              <a:t>Instruction Fetch (IF)</a:t>
            </a:r>
            <a:endParaRPr lang="en-IN" sz="2400" b="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C9A7E38-18CC-4F94-BA46-2F2B10E39F71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85AA6748-D557-4D7C-BFF8-5C5A5D7D0B61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9B86E664-928D-4146-A18F-B6347CFA92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9" name="AutoShape 13">
                <a:extLst>
                  <a:ext uri="{FF2B5EF4-FFF2-40B4-BE49-F238E27FC236}">
                    <a16:creationId xmlns:a16="http://schemas.microsoft.com/office/drawing/2014/main" id="{44A7913F-7462-4E47-A703-FDF7951F7E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10" name="AutoShape 14">
                <a:extLst>
                  <a:ext uri="{FF2B5EF4-FFF2-40B4-BE49-F238E27FC236}">
                    <a16:creationId xmlns:a16="http://schemas.microsoft.com/office/drawing/2014/main" id="{AD206A61-C0A1-4A8C-843D-EAF1D0E68E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1" name="Text Box 15">
                <a:extLst>
                  <a:ext uri="{FF2B5EF4-FFF2-40B4-BE49-F238E27FC236}">
                    <a16:creationId xmlns:a16="http://schemas.microsoft.com/office/drawing/2014/main" id="{84CA9E41-32B9-43F7-9108-A4D2F216A27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AC32FD3A-2E68-4F73-AFEA-21B1E06BF47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2" name="Line 37">
            <a:extLst>
              <a:ext uri="{FF2B5EF4-FFF2-40B4-BE49-F238E27FC236}">
                <a16:creationId xmlns:a16="http://schemas.microsoft.com/office/drawing/2014/main" id="{9FFC7F1D-28D2-4088-954B-B77549EE0F5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3" name="Line 38">
            <a:extLst>
              <a:ext uri="{FF2B5EF4-FFF2-40B4-BE49-F238E27FC236}">
                <a16:creationId xmlns:a16="http://schemas.microsoft.com/office/drawing/2014/main" id="{0464959C-392C-4EF6-904F-0DE8D7F585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4A44613F-6CF2-4492-8EBB-BB221E98E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594" y="3464793"/>
            <a:ext cx="590550" cy="14763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 File</a:t>
            </a: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461942FC-7B55-409F-86F8-ABA0CA21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2852936"/>
            <a:ext cx="3456384" cy="3384376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6" name="右箭头 22">
            <a:extLst>
              <a:ext uri="{FF2B5EF4-FFF2-40B4-BE49-F238E27FC236}">
                <a16:creationId xmlns:a16="http://schemas.microsoft.com/office/drawing/2014/main" id="{61DE6179-8FB6-4E74-A558-1815660846C0}"/>
              </a:ext>
            </a:extLst>
          </p:cNvPr>
          <p:cNvSpPr/>
          <p:nvPr/>
        </p:nvSpPr>
        <p:spPr bwMode="auto">
          <a:xfrm>
            <a:off x="251520" y="3212976"/>
            <a:ext cx="792088" cy="216024"/>
          </a:xfrm>
          <a:prstGeom prst="rightArrow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17" name="Text Box 65">
            <a:extLst>
              <a:ext uri="{FF2B5EF4-FFF2-40B4-BE49-F238E27FC236}">
                <a16:creationId xmlns:a16="http://schemas.microsoft.com/office/drawing/2014/main" id="{9AA85F6F-92F2-48A6-9BF2-59BC0DB63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852936"/>
            <a:ext cx="4439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PC</a:t>
            </a:r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AA2AE76A-9321-4F72-AA08-FFF74178A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1988840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endParaRPr lang="en-US" sz="1800" dirty="0">
              <a:solidFill>
                <a:srgbClr val="000000"/>
              </a:solidFill>
              <a:latin typeface="Comic Sans MS" charset="0"/>
              <a:ea typeface="ＭＳ Ｐゴシック" charset="-128"/>
            </a:endParaRPr>
          </a:p>
        </p:txBody>
      </p:sp>
      <p:sp>
        <p:nvSpPr>
          <p:cNvPr id="19" name="Text Box 65">
            <a:extLst>
              <a:ext uri="{FF2B5EF4-FFF2-40B4-BE49-F238E27FC236}">
                <a16:creationId xmlns:a16="http://schemas.microsoft.com/office/drawing/2014/main" id="{751B3DA8-F852-48B5-9DEC-17C7A67E0C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193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20" name="圆角右箭头 14">
            <a:extLst>
              <a:ext uri="{FF2B5EF4-FFF2-40B4-BE49-F238E27FC236}">
                <a16:creationId xmlns:a16="http://schemas.microsoft.com/office/drawing/2014/main" id="{EDC51F8B-9E19-4533-87F6-77D78DFEE0A6}"/>
              </a:ext>
            </a:extLst>
          </p:cNvPr>
          <p:cNvSpPr/>
          <p:nvPr/>
        </p:nvSpPr>
        <p:spPr bwMode="auto">
          <a:xfrm>
            <a:off x="1619672" y="2060848"/>
            <a:ext cx="576064" cy="936104"/>
          </a:xfrm>
          <a:prstGeom prst="ben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21" name="Rectangle 36">
            <a:extLst>
              <a:ext uri="{FF2B5EF4-FFF2-40B4-BE49-F238E27FC236}">
                <a16:creationId xmlns:a16="http://schemas.microsoft.com/office/drawing/2014/main" id="{AF40BDCC-9045-44A0-8B57-66B22D16F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3624064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000011000111111100000…</a:t>
            </a:r>
          </a:p>
        </p:txBody>
      </p:sp>
      <p:sp>
        <p:nvSpPr>
          <p:cNvPr id="22" name="Line 37">
            <a:extLst>
              <a:ext uri="{FF2B5EF4-FFF2-40B4-BE49-F238E27FC236}">
                <a16:creationId xmlns:a16="http://schemas.microsoft.com/office/drawing/2014/main" id="{FB230643-E19A-4934-92FF-C71B23E90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3" name="Rectangle 36">
            <a:extLst>
              <a:ext uri="{FF2B5EF4-FFF2-40B4-BE49-F238E27FC236}">
                <a16:creationId xmlns:a16="http://schemas.microsoft.com/office/drawing/2014/main" id="{B8E863A5-B34D-4057-9BA0-1AC4C4F39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3068960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</p:spTree>
    <p:extLst>
      <p:ext uri="{BB962C8B-B14F-4D97-AF65-F5344CB8AC3E}">
        <p14:creationId xmlns:p14="http://schemas.microsoft.com/office/powerpoint/2010/main" val="3991917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CB85-282B-43A1-8079-76CC7AC8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400" b="0" dirty="0"/>
              <a:t>Instruction Fetch (IF)</a:t>
            </a:r>
            <a:endParaRPr lang="en-IN" sz="2400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22570-A8D3-45AE-9AB1-D2ABA0007004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96FF3CBB-39CE-4F9B-82F2-1CAD9AA4058B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5" name="Group 12">
              <a:extLst>
                <a:ext uri="{FF2B5EF4-FFF2-40B4-BE49-F238E27FC236}">
                  <a16:creationId xmlns:a16="http://schemas.microsoft.com/office/drawing/2014/main" id="{51CF183F-D2A0-4F9F-ABE4-359CFA5622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7" name="AutoShape 13">
                <a:extLst>
                  <a:ext uri="{FF2B5EF4-FFF2-40B4-BE49-F238E27FC236}">
                    <a16:creationId xmlns:a16="http://schemas.microsoft.com/office/drawing/2014/main" id="{EADED208-F3F6-40EC-A62A-E966586A86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8" name="AutoShape 14">
                <a:extLst>
                  <a:ext uri="{FF2B5EF4-FFF2-40B4-BE49-F238E27FC236}">
                    <a16:creationId xmlns:a16="http://schemas.microsoft.com/office/drawing/2014/main" id="{EAE903DC-6AA7-44C6-9891-881788673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" name="Text Box 15">
                <a:extLst>
                  <a:ext uri="{FF2B5EF4-FFF2-40B4-BE49-F238E27FC236}">
                    <a16:creationId xmlns:a16="http://schemas.microsoft.com/office/drawing/2014/main" id="{3EC542D3-BFD5-4F5A-ABF8-5A3FEAB28F86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D49081FD-BAF0-4B3C-93E2-63A09AAC4492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0" name="Line 37">
            <a:extLst>
              <a:ext uri="{FF2B5EF4-FFF2-40B4-BE49-F238E27FC236}">
                <a16:creationId xmlns:a16="http://schemas.microsoft.com/office/drawing/2014/main" id="{39FFC698-786E-45D0-819E-159AEC9430B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1" name="Line 38">
            <a:extLst>
              <a:ext uri="{FF2B5EF4-FFF2-40B4-BE49-F238E27FC236}">
                <a16:creationId xmlns:a16="http://schemas.microsoft.com/office/drawing/2014/main" id="{8D582BAB-B950-4E1F-931F-AD955D635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2BA756CE-1618-48AD-AFE4-5771D68DA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594" y="3464793"/>
            <a:ext cx="590550" cy="14763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 File</a:t>
            </a:r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A2B79F0E-2ABF-4239-98C1-0EE11E86D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2852936"/>
            <a:ext cx="3456384" cy="3384376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4" name="右箭头 22">
            <a:extLst>
              <a:ext uri="{FF2B5EF4-FFF2-40B4-BE49-F238E27FC236}">
                <a16:creationId xmlns:a16="http://schemas.microsoft.com/office/drawing/2014/main" id="{A18B26DF-C2EB-4CBB-9535-D97FCBFF8499}"/>
              </a:ext>
            </a:extLst>
          </p:cNvPr>
          <p:cNvSpPr/>
          <p:nvPr/>
        </p:nvSpPr>
        <p:spPr bwMode="auto">
          <a:xfrm>
            <a:off x="251520" y="3212976"/>
            <a:ext cx="792088" cy="216024"/>
          </a:xfrm>
          <a:prstGeom prst="rightArrow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15" name="Text Box 65">
            <a:extLst>
              <a:ext uri="{FF2B5EF4-FFF2-40B4-BE49-F238E27FC236}">
                <a16:creationId xmlns:a16="http://schemas.microsoft.com/office/drawing/2014/main" id="{B30D7C67-A38D-42A8-88E6-DF03018E3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852936"/>
            <a:ext cx="4439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PC</a:t>
            </a:r>
          </a:p>
        </p:txBody>
      </p:sp>
      <p:sp>
        <p:nvSpPr>
          <p:cNvPr id="16" name="Text Box 65">
            <a:extLst>
              <a:ext uri="{FF2B5EF4-FFF2-40B4-BE49-F238E27FC236}">
                <a16:creationId xmlns:a16="http://schemas.microsoft.com/office/drawing/2014/main" id="{1A362B5D-20D9-464D-938F-3F98A1961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193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17" name="圆角右箭头 14">
            <a:extLst>
              <a:ext uri="{FF2B5EF4-FFF2-40B4-BE49-F238E27FC236}">
                <a16:creationId xmlns:a16="http://schemas.microsoft.com/office/drawing/2014/main" id="{DCA8C960-90BB-46BD-8A40-39A9AA47A8CE}"/>
              </a:ext>
            </a:extLst>
          </p:cNvPr>
          <p:cNvSpPr/>
          <p:nvPr/>
        </p:nvSpPr>
        <p:spPr bwMode="auto">
          <a:xfrm>
            <a:off x="1619672" y="2060848"/>
            <a:ext cx="576064" cy="936104"/>
          </a:xfrm>
          <a:prstGeom prst="ben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18" name="Text Box 65">
            <a:extLst>
              <a:ext uri="{FF2B5EF4-FFF2-40B4-BE49-F238E27FC236}">
                <a16:creationId xmlns:a16="http://schemas.microsoft.com/office/drawing/2014/main" id="{898E094A-EB9D-4FBA-8E8A-768424643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4154597"/>
            <a:ext cx="25922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Fetch the instruction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0630B004-99C4-47EE-B2AC-E07CB962E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3624064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000011000111111100000…</a:t>
            </a:r>
          </a:p>
        </p:txBody>
      </p:sp>
      <p:sp>
        <p:nvSpPr>
          <p:cNvPr id="20" name="Line 37">
            <a:extLst>
              <a:ext uri="{FF2B5EF4-FFF2-40B4-BE49-F238E27FC236}">
                <a16:creationId xmlns:a16="http://schemas.microsoft.com/office/drawing/2014/main" id="{CF42541D-C8BF-43AC-91A6-AC561E82C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1" name="Rectangle 36">
            <a:extLst>
              <a:ext uri="{FF2B5EF4-FFF2-40B4-BE49-F238E27FC236}">
                <a16:creationId xmlns:a16="http://schemas.microsoft.com/office/drawing/2014/main" id="{68A3B0CF-5638-49B7-85C8-9499E080F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1988840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  <p:sp>
        <p:nvSpPr>
          <p:cNvPr id="22" name="Rectangle 36">
            <a:extLst>
              <a:ext uri="{FF2B5EF4-FFF2-40B4-BE49-F238E27FC236}">
                <a16:creationId xmlns:a16="http://schemas.microsoft.com/office/drawing/2014/main" id="{64C7F84B-4906-4A38-9167-FDDA66362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314096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</p:spTree>
    <p:extLst>
      <p:ext uri="{BB962C8B-B14F-4D97-AF65-F5344CB8AC3E}">
        <p14:creationId xmlns:p14="http://schemas.microsoft.com/office/powerpoint/2010/main" val="61809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CB85-282B-43A1-8079-76CC7AC8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400" b="0" dirty="0"/>
              <a:t>Instruction Fetch (IF)</a:t>
            </a:r>
            <a:endParaRPr lang="en-IN" sz="2400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E16CF8-E29B-4CD7-9744-818487764E3B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5A187A42-890B-44C6-B352-0CD3C88F83B0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5" name="Group 12">
              <a:extLst>
                <a:ext uri="{FF2B5EF4-FFF2-40B4-BE49-F238E27FC236}">
                  <a16:creationId xmlns:a16="http://schemas.microsoft.com/office/drawing/2014/main" id="{89707F88-1BBA-4BF5-B628-1D5B6B8F40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7" name="AutoShape 13">
                <a:extLst>
                  <a:ext uri="{FF2B5EF4-FFF2-40B4-BE49-F238E27FC236}">
                    <a16:creationId xmlns:a16="http://schemas.microsoft.com/office/drawing/2014/main" id="{16C68D22-1035-444D-924B-D61B194A0F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8" name="AutoShape 14">
                <a:extLst>
                  <a:ext uri="{FF2B5EF4-FFF2-40B4-BE49-F238E27FC236}">
                    <a16:creationId xmlns:a16="http://schemas.microsoft.com/office/drawing/2014/main" id="{6E771AD3-2298-49F2-B598-0923FA3376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" name="Text Box 15">
                <a:extLst>
                  <a:ext uri="{FF2B5EF4-FFF2-40B4-BE49-F238E27FC236}">
                    <a16:creationId xmlns:a16="http://schemas.microsoft.com/office/drawing/2014/main" id="{2301E01C-BCA1-44E7-92D4-72EE0E39A8CD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BD9110C0-89E8-47F8-97FA-3F74B693EDA3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0" name="Line 37">
            <a:extLst>
              <a:ext uri="{FF2B5EF4-FFF2-40B4-BE49-F238E27FC236}">
                <a16:creationId xmlns:a16="http://schemas.microsoft.com/office/drawing/2014/main" id="{9A80DDDF-6127-4BBA-B459-985D4666F0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1" name="Line 38">
            <a:extLst>
              <a:ext uri="{FF2B5EF4-FFF2-40B4-BE49-F238E27FC236}">
                <a16:creationId xmlns:a16="http://schemas.microsoft.com/office/drawing/2014/main" id="{C2DB07DD-9B66-4210-B723-39D51F6F74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86DE43D9-6C5D-4998-835A-79A460CCE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7594" y="3464793"/>
            <a:ext cx="590550" cy="14763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 File</a:t>
            </a:r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9BE1F5D6-E198-4E92-882E-5E758A1F2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2852936"/>
            <a:ext cx="3456384" cy="3384376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4" name="右箭头 22">
            <a:extLst>
              <a:ext uri="{FF2B5EF4-FFF2-40B4-BE49-F238E27FC236}">
                <a16:creationId xmlns:a16="http://schemas.microsoft.com/office/drawing/2014/main" id="{F56C67BB-09A5-49BF-8815-BDD1C6D66964}"/>
              </a:ext>
            </a:extLst>
          </p:cNvPr>
          <p:cNvSpPr/>
          <p:nvPr/>
        </p:nvSpPr>
        <p:spPr bwMode="auto">
          <a:xfrm>
            <a:off x="251520" y="3717032"/>
            <a:ext cx="792088" cy="216024"/>
          </a:xfrm>
          <a:prstGeom prst="rightArrow">
            <a:avLst/>
          </a:prstGeom>
          <a:solidFill>
            <a:schemeClr val="accent6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15" name="Text Box 65">
            <a:extLst>
              <a:ext uri="{FF2B5EF4-FFF2-40B4-BE49-F238E27FC236}">
                <a16:creationId xmlns:a16="http://schemas.microsoft.com/office/drawing/2014/main" id="{02297AB8-3A6D-4D98-8AFC-8C39C06F5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682" y="3356992"/>
            <a:ext cx="4439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PC</a:t>
            </a:r>
          </a:p>
        </p:txBody>
      </p:sp>
      <p:sp>
        <p:nvSpPr>
          <p:cNvPr id="16" name="Text Box 65">
            <a:extLst>
              <a:ext uri="{FF2B5EF4-FFF2-40B4-BE49-F238E27FC236}">
                <a16:creationId xmlns:a16="http://schemas.microsoft.com/office/drawing/2014/main" id="{0DB81ACE-A481-42F0-ADDE-80C7507C0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193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17" name="圆角右箭头 14">
            <a:extLst>
              <a:ext uri="{FF2B5EF4-FFF2-40B4-BE49-F238E27FC236}">
                <a16:creationId xmlns:a16="http://schemas.microsoft.com/office/drawing/2014/main" id="{AC2523E4-11E0-4BA7-A509-59D6ADD1CE86}"/>
              </a:ext>
            </a:extLst>
          </p:cNvPr>
          <p:cNvSpPr/>
          <p:nvPr/>
        </p:nvSpPr>
        <p:spPr bwMode="auto">
          <a:xfrm>
            <a:off x="1619672" y="2060848"/>
            <a:ext cx="576064" cy="936104"/>
          </a:xfrm>
          <a:prstGeom prst="bent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18" name="Text Box 65">
            <a:extLst>
              <a:ext uri="{FF2B5EF4-FFF2-40B4-BE49-F238E27FC236}">
                <a16:creationId xmlns:a16="http://schemas.microsoft.com/office/drawing/2014/main" id="{19D480AC-E1ED-4B2C-8D4F-1D2CE26ED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4016098"/>
            <a:ext cx="259228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Fetch the instruction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Move PC to the next instruction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12B7DBEC-2B37-44B8-B649-204E24DF1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3624064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000011000111111100000…</a:t>
            </a:r>
          </a:p>
        </p:txBody>
      </p:sp>
      <p:sp>
        <p:nvSpPr>
          <p:cNvPr id="20" name="Line 37">
            <a:extLst>
              <a:ext uri="{FF2B5EF4-FFF2-40B4-BE49-F238E27FC236}">
                <a16:creationId xmlns:a16="http://schemas.microsoft.com/office/drawing/2014/main" id="{C90F00BD-E8FF-4699-9397-20F6B86C587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08304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1" name="Rectangle 36">
            <a:extLst>
              <a:ext uri="{FF2B5EF4-FFF2-40B4-BE49-F238E27FC236}">
                <a16:creationId xmlns:a16="http://schemas.microsoft.com/office/drawing/2014/main" id="{38D617E3-5F21-4F1B-821F-78ED92BF4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8" y="3068960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  <p:sp>
        <p:nvSpPr>
          <p:cNvPr id="22" name="Rectangle 36">
            <a:extLst>
              <a:ext uri="{FF2B5EF4-FFF2-40B4-BE49-F238E27FC236}">
                <a16:creationId xmlns:a16="http://schemas.microsoft.com/office/drawing/2014/main" id="{C64AEA80-C7B3-4B79-A5C5-3393AB056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752" y="203988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</p:spTree>
    <p:extLst>
      <p:ext uri="{BB962C8B-B14F-4D97-AF65-F5344CB8AC3E}">
        <p14:creationId xmlns:p14="http://schemas.microsoft.com/office/powerpoint/2010/main" val="542020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CB85-282B-43A1-8079-76CC7AC8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400" b="0" dirty="0"/>
              <a:t>Instruction Decode (ID)</a:t>
            </a:r>
            <a:endParaRPr lang="en-IN" sz="2400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963BA9-6EAE-456E-BC4F-4EFA4D467D8C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6BC7526D-E16D-4F84-A926-75AF308F3608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5" name="Group 12">
              <a:extLst>
                <a:ext uri="{FF2B5EF4-FFF2-40B4-BE49-F238E27FC236}">
                  <a16:creationId xmlns:a16="http://schemas.microsoft.com/office/drawing/2014/main" id="{BCC8602B-5CD9-4702-ADBD-779BA086D2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7" name="AutoShape 13">
                <a:extLst>
                  <a:ext uri="{FF2B5EF4-FFF2-40B4-BE49-F238E27FC236}">
                    <a16:creationId xmlns:a16="http://schemas.microsoft.com/office/drawing/2014/main" id="{8D2AA0B1-A4B8-45AC-B80E-AAF7BAED3F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8" name="AutoShape 14">
                <a:extLst>
                  <a:ext uri="{FF2B5EF4-FFF2-40B4-BE49-F238E27FC236}">
                    <a16:creationId xmlns:a16="http://schemas.microsoft.com/office/drawing/2014/main" id="{CF742FD4-D655-4A0A-836D-CFA33A54B8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" name="Text Box 15">
                <a:extLst>
                  <a:ext uri="{FF2B5EF4-FFF2-40B4-BE49-F238E27FC236}">
                    <a16:creationId xmlns:a16="http://schemas.microsoft.com/office/drawing/2014/main" id="{992F6A0D-7327-48AD-A0D8-D3681F48201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6FBDD9E0-777E-463D-93CE-4D4E53DF7707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0" name="Line 37">
            <a:extLst>
              <a:ext uri="{FF2B5EF4-FFF2-40B4-BE49-F238E27FC236}">
                <a16:creationId xmlns:a16="http://schemas.microsoft.com/office/drawing/2014/main" id="{62F4ACE9-07AF-4C8E-AF57-1144C16B05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1" name="Line 38">
            <a:extLst>
              <a:ext uri="{FF2B5EF4-FFF2-40B4-BE49-F238E27FC236}">
                <a16:creationId xmlns:a16="http://schemas.microsoft.com/office/drawing/2014/main" id="{346CD0C1-52B9-46ED-9ECD-16C9796FC81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84BC4698-BC05-4FD2-871B-7DCCCCAC9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3140968"/>
            <a:ext cx="2664296" cy="288032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err="1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</a:t>
            </a: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 File</a:t>
            </a:r>
          </a:p>
        </p:txBody>
      </p:sp>
      <p:sp>
        <p:nvSpPr>
          <p:cNvPr id="13" name="Text Box 65">
            <a:extLst>
              <a:ext uri="{FF2B5EF4-FFF2-40B4-BE49-F238E27FC236}">
                <a16:creationId xmlns:a16="http://schemas.microsoft.com/office/drawing/2014/main" id="{C634D2D3-BDF9-4E66-A8B8-109E2550F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9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14" name="Text Box 65">
            <a:extLst>
              <a:ext uri="{FF2B5EF4-FFF2-40B4-BE49-F238E27FC236}">
                <a16:creationId xmlns:a16="http://schemas.microsoft.com/office/drawing/2014/main" id="{1512A349-F5E2-40DC-BBD0-8A6EFE3B99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708920"/>
            <a:ext cx="13681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 err="1">
                <a:solidFill>
                  <a:srgbClr val="000000"/>
                </a:solidFill>
                <a:latin typeface="Comic Sans MS" charset="0"/>
              </a:rPr>
              <a:t>Reg</a:t>
            </a: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 File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2549A15D-2951-40CC-9F55-B25D7ACC2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653136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6" name="Rectangle 36">
            <a:extLst>
              <a:ext uri="{FF2B5EF4-FFF2-40B4-BE49-F238E27FC236}">
                <a16:creationId xmlns:a16="http://schemas.microsoft.com/office/drawing/2014/main" id="{EE313F11-23A0-4438-8674-ADC5D409C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212976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</a:t>
            </a:r>
          </a:p>
        </p:txBody>
      </p:sp>
      <p:sp>
        <p:nvSpPr>
          <p:cNvPr id="17" name="Rectangle 36">
            <a:extLst>
              <a:ext uri="{FF2B5EF4-FFF2-40B4-BE49-F238E27FC236}">
                <a16:creationId xmlns:a16="http://schemas.microsoft.com/office/drawing/2014/main" id="{D11C2227-8F85-4B44-A727-5C286D8F4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645024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x</a:t>
            </a:r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BB822F2B-2293-4C16-A055-8025437DF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077072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y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98C7CE8D-3BA9-46DD-82DC-99D225B7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558924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…</a:t>
            </a: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B1299A5E-6A85-49CD-8847-E2385AD94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50912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z</a:t>
            </a:r>
          </a:p>
        </p:txBody>
      </p:sp>
      <p:sp>
        <p:nvSpPr>
          <p:cNvPr id="21" name="Text Box 65">
            <a:extLst>
              <a:ext uri="{FF2B5EF4-FFF2-40B4-BE49-F238E27FC236}">
                <a16:creationId xmlns:a16="http://schemas.microsoft.com/office/drawing/2014/main" id="{2461BF3B-84C5-4E9A-A3E7-FEE5CF185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R0</a:t>
            </a:r>
          </a:p>
        </p:txBody>
      </p:sp>
      <p:sp>
        <p:nvSpPr>
          <p:cNvPr id="22" name="Text Box 65">
            <a:extLst>
              <a:ext uri="{FF2B5EF4-FFF2-40B4-BE49-F238E27FC236}">
                <a16:creationId xmlns:a16="http://schemas.microsoft.com/office/drawing/2014/main" id="{FC7EDD5D-7128-4A1C-9DCA-69F80C258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300" y="3645024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  <p:sp>
        <p:nvSpPr>
          <p:cNvPr id="23" name="Text Box 65">
            <a:extLst>
              <a:ext uri="{FF2B5EF4-FFF2-40B4-BE49-F238E27FC236}">
                <a16:creationId xmlns:a16="http://schemas.microsoft.com/office/drawing/2014/main" id="{8B374CE7-B7E5-4001-8BF2-ED6153FDB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077072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R2</a:t>
            </a:r>
          </a:p>
        </p:txBody>
      </p:sp>
      <p:sp>
        <p:nvSpPr>
          <p:cNvPr id="24" name="Text Box 65">
            <a:extLst>
              <a:ext uri="{FF2B5EF4-FFF2-40B4-BE49-F238E27FC236}">
                <a16:creationId xmlns:a16="http://schemas.microsoft.com/office/drawing/2014/main" id="{032C68BA-6843-463B-BEF2-E110AFD7D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499828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R3</a:t>
            </a:r>
          </a:p>
        </p:txBody>
      </p:sp>
      <p:sp>
        <p:nvSpPr>
          <p:cNvPr id="25" name="Text Box 65">
            <a:extLst>
              <a:ext uri="{FF2B5EF4-FFF2-40B4-BE49-F238E27FC236}">
                <a16:creationId xmlns:a16="http://schemas.microsoft.com/office/drawing/2014/main" id="{0B9C9515-6A86-42D4-B481-712361102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848" y="5589240"/>
            <a:ext cx="5745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R31</a:t>
            </a:r>
          </a:p>
        </p:txBody>
      </p:sp>
      <p:sp>
        <p:nvSpPr>
          <p:cNvPr id="26" name="Line 37">
            <a:extLst>
              <a:ext uri="{FF2B5EF4-FFF2-40B4-BE49-F238E27FC236}">
                <a16:creationId xmlns:a16="http://schemas.microsoft.com/office/drawing/2014/main" id="{F2A07D61-0D13-4411-872D-EAE27FC115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7" name="Rectangle 36">
            <a:extLst>
              <a:ext uri="{FF2B5EF4-FFF2-40B4-BE49-F238E27FC236}">
                <a16:creationId xmlns:a16="http://schemas.microsoft.com/office/drawing/2014/main" id="{F1CA0802-EE16-4E1E-B923-3F9B19ABE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3988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</p:spTree>
    <p:extLst>
      <p:ext uri="{BB962C8B-B14F-4D97-AF65-F5344CB8AC3E}">
        <p14:creationId xmlns:p14="http://schemas.microsoft.com/office/powerpoint/2010/main" val="2076163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CB85-282B-43A1-8079-76CC7AC8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400" b="0" dirty="0"/>
              <a:t>Instruction Decode (ID)</a:t>
            </a:r>
            <a:endParaRPr lang="en-IN" sz="2400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DB8F0D-A300-47DE-AB47-82AE7EBC0254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BBEFFABF-2D2B-4000-9F6B-1CACF1087939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5" name="Group 12">
              <a:extLst>
                <a:ext uri="{FF2B5EF4-FFF2-40B4-BE49-F238E27FC236}">
                  <a16:creationId xmlns:a16="http://schemas.microsoft.com/office/drawing/2014/main" id="{2BD73F82-B90D-4020-9450-9A563354C0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7" name="AutoShape 13">
                <a:extLst>
                  <a:ext uri="{FF2B5EF4-FFF2-40B4-BE49-F238E27FC236}">
                    <a16:creationId xmlns:a16="http://schemas.microsoft.com/office/drawing/2014/main" id="{92679737-983C-4A67-A61E-2F95899190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8" name="AutoShape 14">
                <a:extLst>
                  <a:ext uri="{FF2B5EF4-FFF2-40B4-BE49-F238E27FC236}">
                    <a16:creationId xmlns:a16="http://schemas.microsoft.com/office/drawing/2014/main" id="{2CD7C369-CF0A-4714-A322-A3CA33DA16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" name="Text Box 15">
                <a:extLst>
                  <a:ext uri="{FF2B5EF4-FFF2-40B4-BE49-F238E27FC236}">
                    <a16:creationId xmlns:a16="http://schemas.microsoft.com/office/drawing/2014/main" id="{DC64A9C7-4F9C-4F7A-B6DC-D5BC1D0A0C0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176D9C3F-D11D-408F-8AFD-58E3046FA88A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0" name="Line 37">
            <a:extLst>
              <a:ext uri="{FF2B5EF4-FFF2-40B4-BE49-F238E27FC236}">
                <a16:creationId xmlns:a16="http://schemas.microsoft.com/office/drawing/2014/main" id="{61933E09-7866-42FC-B3AF-B26207FEDA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1" name="Line 38">
            <a:extLst>
              <a:ext uri="{FF2B5EF4-FFF2-40B4-BE49-F238E27FC236}">
                <a16:creationId xmlns:a16="http://schemas.microsoft.com/office/drawing/2014/main" id="{642ED1F2-6170-489C-AC78-75B09B332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6893CD64-2F7C-423B-977B-5C5D4BCD6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3140968"/>
            <a:ext cx="2664296" cy="288032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err="1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</a:t>
            </a: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 File</a:t>
            </a:r>
          </a:p>
        </p:txBody>
      </p:sp>
      <p:sp>
        <p:nvSpPr>
          <p:cNvPr id="13" name="Text Box 65">
            <a:extLst>
              <a:ext uri="{FF2B5EF4-FFF2-40B4-BE49-F238E27FC236}">
                <a16:creationId xmlns:a16="http://schemas.microsoft.com/office/drawing/2014/main" id="{181980B9-5FB9-455D-9498-A420517AC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9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14" name="Text Box 65">
            <a:extLst>
              <a:ext uri="{FF2B5EF4-FFF2-40B4-BE49-F238E27FC236}">
                <a16:creationId xmlns:a16="http://schemas.microsoft.com/office/drawing/2014/main" id="{8F11B003-BFA6-4143-9836-894C46A45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4154597"/>
            <a:ext cx="28083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decode the instruction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D04838C7-6043-400C-81AA-6BAD2E23B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653136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6" name="Rectangle 36">
            <a:extLst>
              <a:ext uri="{FF2B5EF4-FFF2-40B4-BE49-F238E27FC236}">
                <a16:creationId xmlns:a16="http://schemas.microsoft.com/office/drawing/2014/main" id="{ACE9499E-1981-43C0-8164-F48A3DE11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212976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</a:t>
            </a:r>
          </a:p>
        </p:txBody>
      </p:sp>
      <p:sp>
        <p:nvSpPr>
          <p:cNvPr id="17" name="Rectangle 36">
            <a:extLst>
              <a:ext uri="{FF2B5EF4-FFF2-40B4-BE49-F238E27FC236}">
                <a16:creationId xmlns:a16="http://schemas.microsoft.com/office/drawing/2014/main" id="{89150367-8DCC-496E-9B3F-D953F671D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645024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x</a:t>
            </a:r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C42D9EB2-813D-4D31-96CA-F9E222513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077072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y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830D214E-3B42-4115-A4E8-A02D5C92A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558924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…</a:t>
            </a: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21266BBF-B6BC-43AF-9B39-1876638BA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50912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z</a:t>
            </a:r>
          </a:p>
        </p:txBody>
      </p:sp>
      <p:sp>
        <p:nvSpPr>
          <p:cNvPr id="21" name="Text Box 65">
            <a:extLst>
              <a:ext uri="{FF2B5EF4-FFF2-40B4-BE49-F238E27FC236}">
                <a16:creationId xmlns:a16="http://schemas.microsoft.com/office/drawing/2014/main" id="{C87E4085-E037-4A4C-9E5D-446ECD7E6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R0</a:t>
            </a:r>
          </a:p>
        </p:txBody>
      </p:sp>
      <p:sp>
        <p:nvSpPr>
          <p:cNvPr id="22" name="Text Box 65">
            <a:extLst>
              <a:ext uri="{FF2B5EF4-FFF2-40B4-BE49-F238E27FC236}">
                <a16:creationId xmlns:a16="http://schemas.microsoft.com/office/drawing/2014/main" id="{BEA050A2-C9C2-44EF-9112-E3C56CC9C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300" y="3645024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  <p:sp>
        <p:nvSpPr>
          <p:cNvPr id="23" name="Text Box 65">
            <a:extLst>
              <a:ext uri="{FF2B5EF4-FFF2-40B4-BE49-F238E27FC236}">
                <a16:creationId xmlns:a16="http://schemas.microsoft.com/office/drawing/2014/main" id="{82C05808-5A75-445E-A0ED-4220B0AB50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077072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R2</a:t>
            </a:r>
          </a:p>
        </p:txBody>
      </p:sp>
      <p:sp>
        <p:nvSpPr>
          <p:cNvPr id="24" name="Text Box 65">
            <a:extLst>
              <a:ext uri="{FF2B5EF4-FFF2-40B4-BE49-F238E27FC236}">
                <a16:creationId xmlns:a16="http://schemas.microsoft.com/office/drawing/2014/main" id="{B9EDAE4D-33C7-47EF-BB9C-9FADD7076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499828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R3</a:t>
            </a:r>
          </a:p>
        </p:txBody>
      </p:sp>
      <p:sp>
        <p:nvSpPr>
          <p:cNvPr id="25" name="Text Box 65">
            <a:extLst>
              <a:ext uri="{FF2B5EF4-FFF2-40B4-BE49-F238E27FC236}">
                <a16:creationId xmlns:a16="http://schemas.microsoft.com/office/drawing/2014/main" id="{E611DD83-C244-46D4-9403-AA5E08387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848" y="5589240"/>
            <a:ext cx="5745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solidFill>
                  <a:srgbClr val="000000"/>
                </a:solidFill>
                <a:latin typeface="Comic Sans MS" charset="0"/>
              </a:rPr>
              <a:t>R31</a:t>
            </a: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6" name="Text Box 65">
            <a:extLst>
              <a:ext uri="{FF2B5EF4-FFF2-40B4-BE49-F238E27FC236}">
                <a16:creationId xmlns:a16="http://schemas.microsoft.com/office/drawing/2014/main" id="{1ABE7FA2-37E9-47C6-9517-F08788C5C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708920"/>
            <a:ext cx="13681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 err="1">
                <a:solidFill>
                  <a:srgbClr val="000000"/>
                </a:solidFill>
                <a:latin typeface="Comic Sans MS" charset="0"/>
              </a:rPr>
              <a:t>Reg</a:t>
            </a: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 File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7" name="下箭头 15">
            <a:extLst>
              <a:ext uri="{FF2B5EF4-FFF2-40B4-BE49-F238E27FC236}">
                <a16:creationId xmlns:a16="http://schemas.microsoft.com/office/drawing/2014/main" id="{A8EB0549-AC86-4442-89B7-EC46BDCD15B2}"/>
              </a:ext>
            </a:extLst>
          </p:cNvPr>
          <p:cNvSpPr/>
          <p:nvPr/>
        </p:nvSpPr>
        <p:spPr bwMode="auto">
          <a:xfrm>
            <a:off x="611560" y="2636912"/>
            <a:ext cx="216024" cy="432048"/>
          </a:xfrm>
          <a:prstGeom prst="down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28" name="Text Box 65">
            <a:extLst>
              <a:ext uri="{FF2B5EF4-FFF2-40B4-BE49-F238E27FC236}">
                <a16:creationId xmlns:a16="http://schemas.microsoft.com/office/drawing/2014/main" id="{78ADCA3C-95BB-478A-8C1C-28EF439F2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129" y="3212976"/>
            <a:ext cx="6866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ADD</a:t>
            </a:r>
          </a:p>
        </p:txBody>
      </p:sp>
      <p:sp>
        <p:nvSpPr>
          <p:cNvPr id="29" name="Line 37">
            <a:extLst>
              <a:ext uri="{FF2B5EF4-FFF2-40B4-BE49-F238E27FC236}">
                <a16:creationId xmlns:a16="http://schemas.microsoft.com/office/drawing/2014/main" id="{C041BC5C-B515-45A8-B607-DCB111791C0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30" name="Rectangle 36">
            <a:extLst>
              <a:ext uri="{FF2B5EF4-FFF2-40B4-BE49-F238E27FC236}">
                <a16:creationId xmlns:a16="http://schemas.microsoft.com/office/drawing/2014/main" id="{CE3DA7A5-E5DC-4783-B583-D54841F2E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3988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  <p:sp>
        <p:nvSpPr>
          <p:cNvPr id="31" name="圆角矩形 14">
            <a:extLst>
              <a:ext uri="{FF2B5EF4-FFF2-40B4-BE49-F238E27FC236}">
                <a16:creationId xmlns:a16="http://schemas.microsoft.com/office/drawing/2014/main" id="{20A8D58E-D028-4DFC-9791-3C7B26B9FDA5}"/>
              </a:ext>
            </a:extLst>
          </p:cNvPr>
          <p:cNvSpPr/>
          <p:nvPr/>
        </p:nvSpPr>
        <p:spPr bwMode="auto">
          <a:xfrm>
            <a:off x="107504" y="1988840"/>
            <a:ext cx="1008112" cy="504056"/>
          </a:xfrm>
          <a:prstGeom prst="roundRect">
            <a:avLst/>
          </a:prstGeom>
          <a:noFill/>
          <a:ln w="381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291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CB85-282B-43A1-8079-76CC7AC8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400" b="0" dirty="0"/>
              <a:t>Instruction Decode (ID)</a:t>
            </a:r>
            <a:endParaRPr lang="en-IN" sz="2400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87CDAC-199B-451E-BD6B-8BDEA835A2F2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5471B02D-C0CF-4F4B-9AED-335E17FA7F8B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5" name="Group 12">
              <a:extLst>
                <a:ext uri="{FF2B5EF4-FFF2-40B4-BE49-F238E27FC236}">
                  <a16:creationId xmlns:a16="http://schemas.microsoft.com/office/drawing/2014/main" id="{F2784397-EE29-4D18-96F1-358ED70EDE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7" name="AutoShape 13">
                <a:extLst>
                  <a:ext uri="{FF2B5EF4-FFF2-40B4-BE49-F238E27FC236}">
                    <a16:creationId xmlns:a16="http://schemas.microsoft.com/office/drawing/2014/main" id="{54D112D3-A43E-4338-A04E-43425F1CA9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8" name="AutoShape 14">
                <a:extLst>
                  <a:ext uri="{FF2B5EF4-FFF2-40B4-BE49-F238E27FC236}">
                    <a16:creationId xmlns:a16="http://schemas.microsoft.com/office/drawing/2014/main" id="{5D81F14E-6288-44B9-841B-1FD38413D7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" name="Text Box 15">
                <a:extLst>
                  <a:ext uri="{FF2B5EF4-FFF2-40B4-BE49-F238E27FC236}">
                    <a16:creationId xmlns:a16="http://schemas.microsoft.com/office/drawing/2014/main" id="{95BD6F7F-531D-4A66-8B87-D1306C98F6B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EB0711A9-6CE4-4181-A019-EB2EB5B26096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0" name="Line 37">
            <a:extLst>
              <a:ext uri="{FF2B5EF4-FFF2-40B4-BE49-F238E27FC236}">
                <a16:creationId xmlns:a16="http://schemas.microsoft.com/office/drawing/2014/main" id="{2E05F2FC-FEAA-43A2-A7DA-58754E0814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1" name="Line 38">
            <a:extLst>
              <a:ext uri="{FF2B5EF4-FFF2-40B4-BE49-F238E27FC236}">
                <a16:creationId xmlns:a16="http://schemas.microsoft.com/office/drawing/2014/main" id="{67DB9FF3-0341-436D-BC18-3A877B7D16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B2015358-AB18-4009-BFAB-AC2A7B0F4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3140968"/>
            <a:ext cx="2664296" cy="288032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err="1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</a:t>
            </a: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 File</a:t>
            </a:r>
          </a:p>
        </p:txBody>
      </p:sp>
      <p:sp>
        <p:nvSpPr>
          <p:cNvPr id="13" name="Text Box 65">
            <a:extLst>
              <a:ext uri="{FF2B5EF4-FFF2-40B4-BE49-F238E27FC236}">
                <a16:creationId xmlns:a16="http://schemas.microsoft.com/office/drawing/2014/main" id="{468A8E9A-5287-41B4-B74C-044A1957F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9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14" name="Text Box 65">
            <a:extLst>
              <a:ext uri="{FF2B5EF4-FFF2-40B4-BE49-F238E27FC236}">
                <a16:creationId xmlns:a16="http://schemas.microsoft.com/office/drawing/2014/main" id="{1266F02B-E80F-4539-8880-2287BCB13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4154597"/>
            <a:ext cx="28083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decode the instruction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5" name="Rectangle 36">
            <a:extLst>
              <a:ext uri="{FF2B5EF4-FFF2-40B4-BE49-F238E27FC236}">
                <a16:creationId xmlns:a16="http://schemas.microsoft.com/office/drawing/2014/main" id="{878F9A87-0F4C-4FDA-A017-A680F90E6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3988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D5EB01A7-C270-414E-895B-297292A6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653136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7" name="Rectangle 36">
            <a:extLst>
              <a:ext uri="{FF2B5EF4-FFF2-40B4-BE49-F238E27FC236}">
                <a16:creationId xmlns:a16="http://schemas.microsoft.com/office/drawing/2014/main" id="{CD419984-0BA9-4764-8160-996FA6215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212976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</a:t>
            </a:r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A5B3DA96-CECC-4633-B194-E7EFDB5F4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645024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x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C74C87E8-41FE-4112-8EBA-2E00D0B54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077072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y</a:t>
            </a: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A9D7F594-B84A-4AC0-9E62-859C8668D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558924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…</a:t>
            </a:r>
          </a:p>
        </p:txBody>
      </p:sp>
      <p:sp>
        <p:nvSpPr>
          <p:cNvPr id="21" name="Rectangle 36">
            <a:extLst>
              <a:ext uri="{FF2B5EF4-FFF2-40B4-BE49-F238E27FC236}">
                <a16:creationId xmlns:a16="http://schemas.microsoft.com/office/drawing/2014/main" id="{BFCFCFB4-5B5B-4FDE-85C9-87773B1DE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50912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z</a:t>
            </a:r>
          </a:p>
        </p:txBody>
      </p:sp>
      <p:sp>
        <p:nvSpPr>
          <p:cNvPr id="22" name="Text Box 65">
            <a:extLst>
              <a:ext uri="{FF2B5EF4-FFF2-40B4-BE49-F238E27FC236}">
                <a16:creationId xmlns:a16="http://schemas.microsoft.com/office/drawing/2014/main" id="{3C668612-DCC1-4D0E-95A2-3FDD4E126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R0</a:t>
            </a:r>
          </a:p>
        </p:txBody>
      </p:sp>
      <p:sp>
        <p:nvSpPr>
          <p:cNvPr id="23" name="Text Box 65">
            <a:extLst>
              <a:ext uri="{FF2B5EF4-FFF2-40B4-BE49-F238E27FC236}">
                <a16:creationId xmlns:a16="http://schemas.microsoft.com/office/drawing/2014/main" id="{4ACA081E-A05A-4316-8118-3C0303C2A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300" y="3645024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  <p:sp>
        <p:nvSpPr>
          <p:cNvPr id="24" name="Text Box 65">
            <a:extLst>
              <a:ext uri="{FF2B5EF4-FFF2-40B4-BE49-F238E27FC236}">
                <a16:creationId xmlns:a16="http://schemas.microsoft.com/office/drawing/2014/main" id="{8DE62017-B92D-46BF-A39F-263690BAE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077072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R2</a:t>
            </a:r>
          </a:p>
        </p:txBody>
      </p:sp>
      <p:sp>
        <p:nvSpPr>
          <p:cNvPr id="25" name="Text Box 65">
            <a:extLst>
              <a:ext uri="{FF2B5EF4-FFF2-40B4-BE49-F238E27FC236}">
                <a16:creationId xmlns:a16="http://schemas.microsoft.com/office/drawing/2014/main" id="{0883F5EE-B118-4DF4-9022-7AB1CC3B0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499828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R3</a:t>
            </a:r>
          </a:p>
        </p:txBody>
      </p:sp>
      <p:sp>
        <p:nvSpPr>
          <p:cNvPr id="26" name="Text Box 65">
            <a:extLst>
              <a:ext uri="{FF2B5EF4-FFF2-40B4-BE49-F238E27FC236}">
                <a16:creationId xmlns:a16="http://schemas.microsoft.com/office/drawing/2014/main" id="{17376A3C-7B23-4DCF-8256-CD49757AD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848" y="5589240"/>
            <a:ext cx="5745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solidFill>
                  <a:srgbClr val="000000"/>
                </a:solidFill>
                <a:latin typeface="Comic Sans MS" charset="0"/>
              </a:rPr>
              <a:t>R31</a:t>
            </a: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7" name="Text Box 65">
            <a:extLst>
              <a:ext uri="{FF2B5EF4-FFF2-40B4-BE49-F238E27FC236}">
                <a16:creationId xmlns:a16="http://schemas.microsoft.com/office/drawing/2014/main" id="{3C86BDEF-B8D7-435A-BD9F-559170B16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708920"/>
            <a:ext cx="13681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 err="1">
                <a:solidFill>
                  <a:srgbClr val="000000"/>
                </a:solidFill>
                <a:latin typeface="Comic Sans MS" charset="0"/>
              </a:rPr>
              <a:t>Reg</a:t>
            </a: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 File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8" name="圆角矩形 14">
            <a:extLst>
              <a:ext uri="{FF2B5EF4-FFF2-40B4-BE49-F238E27FC236}">
                <a16:creationId xmlns:a16="http://schemas.microsoft.com/office/drawing/2014/main" id="{96CFA2A4-3500-4800-B487-E41A2C7F0D8A}"/>
              </a:ext>
            </a:extLst>
          </p:cNvPr>
          <p:cNvSpPr/>
          <p:nvPr/>
        </p:nvSpPr>
        <p:spPr bwMode="auto">
          <a:xfrm>
            <a:off x="1115616" y="1988840"/>
            <a:ext cx="648072" cy="504056"/>
          </a:xfrm>
          <a:prstGeom prst="roundRect">
            <a:avLst/>
          </a:prstGeom>
          <a:noFill/>
          <a:ln w="381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29" name="下箭头 15">
            <a:extLst>
              <a:ext uri="{FF2B5EF4-FFF2-40B4-BE49-F238E27FC236}">
                <a16:creationId xmlns:a16="http://schemas.microsoft.com/office/drawing/2014/main" id="{23BC2ED8-ED46-49B0-BF15-2513F1F65367}"/>
              </a:ext>
            </a:extLst>
          </p:cNvPr>
          <p:cNvSpPr/>
          <p:nvPr/>
        </p:nvSpPr>
        <p:spPr bwMode="auto">
          <a:xfrm>
            <a:off x="1331640" y="2636912"/>
            <a:ext cx="216024" cy="432048"/>
          </a:xfrm>
          <a:prstGeom prst="down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30" name="Text Box 65">
            <a:extLst>
              <a:ext uri="{FF2B5EF4-FFF2-40B4-BE49-F238E27FC236}">
                <a16:creationId xmlns:a16="http://schemas.microsoft.com/office/drawing/2014/main" id="{9DFDB710-5863-461A-A6AD-6D6B4E67D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129" y="3212976"/>
            <a:ext cx="6866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ADD</a:t>
            </a:r>
          </a:p>
        </p:txBody>
      </p:sp>
      <p:sp>
        <p:nvSpPr>
          <p:cNvPr id="31" name="Line 37">
            <a:extLst>
              <a:ext uri="{FF2B5EF4-FFF2-40B4-BE49-F238E27FC236}">
                <a16:creationId xmlns:a16="http://schemas.microsoft.com/office/drawing/2014/main" id="{068A8EF7-0A05-4F2E-B1B2-2F70FAB037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32" name="Text Box 65">
            <a:extLst>
              <a:ext uri="{FF2B5EF4-FFF2-40B4-BE49-F238E27FC236}">
                <a16:creationId xmlns:a16="http://schemas.microsoft.com/office/drawing/2014/main" id="{EF0F17A6-5C1A-493C-887F-56FCFD2B7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035" y="3212976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</p:spTree>
    <p:extLst>
      <p:ext uri="{BB962C8B-B14F-4D97-AF65-F5344CB8AC3E}">
        <p14:creationId xmlns:p14="http://schemas.microsoft.com/office/powerpoint/2010/main" val="2906398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CB85-282B-43A1-8079-76CC7AC8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400" b="0" dirty="0"/>
              <a:t>Instruction Decode (ID)</a:t>
            </a:r>
            <a:endParaRPr lang="en-IN" sz="2400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41162E-C32D-4CDD-BF3F-4A7799FDF5AF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2276CCC1-3A9B-4F66-828B-02071F244F6F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5" name="Group 12">
              <a:extLst>
                <a:ext uri="{FF2B5EF4-FFF2-40B4-BE49-F238E27FC236}">
                  <a16:creationId xmlns:a16="http://schemas.microsoft.com/office/drawing/2014/main" id="{B463C9D7-8FFA-4BC9-94F7-401CE4DCC1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7" name="AutoShape 13">
                <a:extLst>
                  <a:ext uri="{FF2B5EF4-FFF2-40B4-BE49-F238E27FC236}">
                    <a16:creationId xmlns:a16="http://schemas.microsoft.com/office/drawing/2014/main" id="{E821B3DB-46D0-4A0C-BC13-8F4244A2D9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8" name="AutoShape 14">
                <a:extLst>
                  <a:ext uri="{FF2B5EF4-FFF2-40B4-BE49-F238E27FC236}">
                    <a16:creationId xmlns:a16="http://schemas.microsoft.com/office/drawing/2014/main" id="{150CA1D2-BFF9-48E6-8BD4-B8A9B03762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" name="Text Box 15">
                <a:extLst>
                  <a:ext uri="{FF2B5EF4-FFF2-40B4-BE49-F238E27FC236}">
                    <a16:creationId xmlns:a16="http://schemas.microsoft.com/office/drawing/2014/main" id="{46B7E65F-AF59-4B3E-A099-BC7B17B0068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F0004DAD-3821-48E3-8D0B-E01E88711E95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0" name="Line 37">
            <a:extLst>
              <a:ext uri="{FF2B5EF4-FFF2-40B4-BE49-F238E27FC236}">
                <a16:creationId xmlns:a16="http://schemas.microsoft.com/office/drawing/2014/main" id="{C79BDCC7-42DB-4F65-839F-D0112F1D9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1" name="Line 38">
            <a:extLst>
              <a:ext uri="{FF2B5EF4-FFF2-40B4-BE49-F238E27FC236}">
                <a16:creationId xmlns:a16="http://schemas.microsoft.com/office/drawing/2014/main" id="{9E7F9150-AB88-4A20-A93A-92B6061C22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51532117-F8BC-4D84-B651-8F847D5EF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3140968"/>
            <a:ext cx="2664296" cy="288032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err="1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</a:t>
            </a: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 File</a:t>
            </a:r>
          </a:p>
        </p:txBody>
      </p:sp>
      <p:sp>
        <p:nvSpPr>
          <p:cNvPr id="13" name="Text Box 65">
            <a:extLst>
              <a:ext uri="{FF2B5EF4-FFF2-40B4-BE49-F238E27FC236}">
                <a16:creationId xmlns:a16="http://schemas.microsoft.com/office/drawing/2014/main" id="{331766F8-06F4-4D89-9A86-4CDC6AC86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9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14" name="Text Box 65">
            <a:extLst>
              <a:ext uri="{FF2B5EF4-FFF2-40B4-BE49-F238E27FC236}">
                <a16:creationId xmlns:a16="http://schemas.microsoft.com/office/drawing/2014/main" id="{DE133A9A-1FE9-4E23-B7F5-1244C1E50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4154597"/>
            <a:ext cx="28083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decode the instruction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5" name="Rectangle 36">
            <a:extLst>
              <a:ext uri="{FF2B5EF4-FFF2-40B4-BE49-F238E27FC236}">
                <a16:creationId xmlns:a16="http://schemas.microsoft.com/office/drawing/2014/main" id="{E3DCD724-A416-4FB7-AC2A-923C980CA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3988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5495856A-3B0C-46BD-B766-C71E79928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653136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7" name="Rectangle 36">
            <a:extLst>
              <a:ext uri="{FF2B5EF4-FFF2-40B4-BE49-F238E27FC236}">
                <a16:creationId xmlns:a16="http://schemas.microsoft.com/office/drawing/2014/main" id="{564F2C58-F24C-4539-AA25-6AFDA6177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212976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</a:t>
            </a:r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424E8F35-AEC3-46B2-B47F-B3909E1C3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645024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x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FCBCEA2B-171C-42A2-BAE0-1373A87A6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077072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y</a:t>
            </a: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085EB717-A37A-463F-84C8-C32B96B61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558924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…</a:t>
            </a:r>
          </a:p>
        </p:txBody>
      </p:sp>
      <p:sp>
        <p:nvSpPr>
          <p:cNvPr id="21" name="Rectangle 36">
            <a:extLst>
              <a:ext uri="{FF2B5EF4-FFF2-40B4-BE49-F238E27FC236}">
                <a16:creationId xmlns:a16="http://schemas.microsoft.com/office/drawing/2014/main" id="{4E879D46-89B6-4D80-9716-D74FAC440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50912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z</a:t>
            </a:r>
          </a:p>
        </p:txBody>
      </p:sp>
      <p:sp>
        <p:nvSpPr>
          <p:cNvPr id="22" name="Text Box 65">
            <a:extLst>
              <a:ext uri="{FF2B5EF4-FFF2-40B4-BE49-F238E27FC236}">
                <a16:creationId xmlns:a16="http://schemas.microsoft.com/office/drawing/2014/main" id="{FB609458-585C-4DEA-AD30-ADF82A993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R0</a:t>
            </a:r>
          </a:p>
        </p:txBody>
      </p:sp>
      <p:sp>
        <p:nvSpPr>
          <p:cNvPr id="23" name="Text Box 65">
            <a:extLst>
              <a:ext uri="{FF2B5EF4-FFF2-40B4-BE49-F238E27FC236}">
                <a16:creationId xmlns:a16="http://schemas.microsoft.com/office/drawing/2014/main" id="{F147CC85-9599-4A80-8EFF-678D36376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300" y="3645024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  <p:sp>
        <p:nvSpPr>
          <p:cNvPr id="24" name="Text Box 65">
            <a:extLst>
              <a:ext uri="{FF2B5EF4-FFF2-40B4-BE49-F238E27FC236}">
                <a16:creationId xmlns:a16="http://schemas.microsoft.com/office/drawing/2014/main" id="{D7D7D4D6-AADA-4076-90FB-A1B3A5DDA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077072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R2</a:t>
            </a:r>
          </a:p>
        </p:txBody>
      </p:sp>
      <p:sp>
        <p:nvSpPr>
          <p:cNvPr id="25" name="Text Box 65">
            <a:extLst>
              <a:ext uri="{FF2B5EF4-FFF2-40B4-BE49-F238E27FC236}">
                <a16:creationId xmlns:a16="http://schemas.microsoft.com/office/drawing/2014/main" id="{6433E5DF-0329-4EB4-A195-38E89A8D5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499828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R3</a:t>
            </a:r>
          </a:p>
        </p:txBody>
      </p:sp>
      <p:sp>
        <p:nvSpPr>
          <p:cNvPr id="26" name="Text Box 65">
            <a:extLst>
              <a:ext uri="{FF2B5EF4-FFF2-40B4-BE49-F238E27FC236}">
                <a16:creationId xmlns:a16="http://schemas.microsoft.com/office/drawing/2014/main" id="{38D085AD-6E62-4C8B-841D-582A8ACE7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848" y="5589240"/>
            <a:ext cx="5745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solidFill>
                  <a:srgbClr val="000000"/>
                </a:solidFill>
                <a:latin typeface="Comic Sans MS" charset="0"/>
              </a:rPr>
              <a:t>R31</a:t>
            </a: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7" name="Text Box 65">
            <a:extLst>
              <a:ext uri="{FF2B5EF4-FFF2-40B4-BE49-F238E27FC236}">
                <a16:creationId xmlns:a16="http://schemas.microsoft.com/office/drawing/2014/main" id="{40F84A39-F6E7-4F41-B26F-9D95C9799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708920"/>
            <a:ext cx="13681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 err="1">
                <a:solidFill>
                  <a:srgbClr val="000000"/>
                </a:solidFill>
                <a:latin typeface="Comic Sans MS" charset="0"/>
              </a:rPr>
              <a:t>Reg</a:t>
            </a: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 File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8" name="圆角矩形 14">
            <a:extLst>
              <a:ext uri="{FF2B5EF4-FFF2-40B4-BE49-F238E27FC236}">
                <a16:creationId xmlns:a16="http://schemas.microsoft.com/office/drawing/2014/main" id="{7494F1EB-DFCD-43C4-A664-EBCE3FC2CC4F}"/>
              </a:ext>
            </a:extLst>
          </p:cNvPr>
          <p:cNvSpPr/>
          <p:nvPr/>
        </p:nvSpPr>
        <p:spPr bwMode="auto">
          <a:xfrm>
            <a:off x="1763688" y="1988840"/>
            <a:ext cx="648072" cy="504056"/>
          </a:xfrm>
          <a:prstGeom prst="roundRect">
            <a:avLst/>
          </a:prstGeom>
          <a:noFill/>
          <a:ln w="381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29" name="下箭头 15">
            <a:extLst>
              <a:ext uri="{FF2B5EF4-FFF2-40B4-BE49-F238E27FC236}">
                <a16:creationId xmlns:a16="http://schemas.microsoft.com/office/drawing/2014/main" id="{F74C331D-4DD0-4C50-B3D4-1987E103C50E}"/>
              </a:ext>
            </a:extLst>
          </p:cNvPr>
          <p:cNvSpPr/>
          <p:nvPr/>
        </p:nvSpPr>
        <p:spPr bwMode="auto">
          <a:xfrm>
            <a:off x="1979712" y="2636912"/>
            <a:ext cx="216024" cy="432048"/>
          </a:xfrm>
          <a:prstGeom prst="down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30" name="Text Box 65">
            <a:extLst>
              <a:ext uri="{FF2B5EF4-FFF2-40B4-BE49-F238E27FC236}">
                <a16:creationId xmlns:a16="http://schemas.microsoft.com/office/drawing/2014/main" id="{E4998EED-0B80-466D-962F-B929FA6C10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129" y="3212976"/>
            <a:ext cx="6866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ADD</a:t>
            </a:r>
          </a:p>
        </p:txBody>
      </p:sp>
      <p:sp>
        <p:nvSpPr>
          <p:cNvPr id="31" name="Line 37">
            <a:extLst>
              <a:ext uri="{FF2B5EF4-FFF2-40B4-BE49-F238E27FC236}">
                <a16:creationId xmlns:a16="http://schemas.microsoft.com/office/drawing/2014/main" id="{38CAB189-31A7-4FED-804F-96E7B96515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32" name="Text Box 65">
            <a:extLst>
              <a:ext uri="{FF2B5EF4-FFF2-40B4-BE49-F238E27FC236}">
                <a16:creationId xmlns:a16="http://schemas.microsoft.com/office/drawing/2014/main" id="{9E1179EA-2187-4D41-BD7F-5600F1BC3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7623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R2</a:t>
            </a:r>
          </a:p>
        </p:txBody>
      </p:sp>
      <p:sp>
        <p:nvSpPr>
          <p:cNvPr id="33" name="Text Box 65">
            <a:extLst>
              <a:ext uri="{FF2B5EF4-FFF2-40B4-BE49-F238E27FC236}">
                <a16:creationId xmlns:a16="http://schemas.microsoft.com/office/drawing/2014/main" id="{F78F34A1-1D98-45DE-B54A-F787EDB521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035" y="3212976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</p:spTree>
    <p:extLst>
      <p:ext uri="{BB962C8B-B14F-4D97-AF65-F5344CB8AC3E}">
        <p14:creationId xmlns:p14="http://schemas.microsoft.com/office/powerpoint/2010/main" val="1215844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826E71-9974-4CC2-854A-D0C5FC51AE33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3BD2C4CE-3DAF-426F-8AF4-0BEA551BED49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5" name="Group 12">
              <a:extLst>
                <a:ext uri="{FF2B5EF4-FFF2-40B4-BE49-F238E27FC236}">
                  <a16:creationId xmlns:a16="http://schemas.microsoft.com/office/drawing/2014/main" id="{ACAB5DDC-7701-49E7-A9FE-74C277B18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7" name="AutoShape 13">
                <a:extLst>
                  <a:ext uri="{FF2B5EF4-FFF2-40B4-BE49-F238E27FC236}">
                    <a16:creationId xmlns:a16="http://schemas.microsoft.com/office/drawing/2014/main" id="{D0831FF7-A639-4BF1-9488-52EA075BB4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8" name="AutoShape 14">
                <a:extLst>
                  <a:ext uri="{FF2B5EF4-FFF2-40B4-BE49-F238E27FC236}">
                    <a16:creationId xmlns:a16="http://schemas.microsoft.com/office/drawing/2014/main" id="{2286F8F1-6332-4211-A44C-E9B648D87F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" name="Text Box 15">
                <a:extLst>
                  <a:ext uri="{FF2B5EF4-FFF2-40B4-BE49-F238E27FC236}">
                    <a16:creationId xmlns:a16="http://schemas.microsoft.com/office/drawing/2014/main" id="{E58D6404-7014-4095-A18D-E6B7931C1233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E4370916-AAEF-4FF5-8209-1897823DACA2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1" name="Line 37">
            <a:extLst>
              <a:ext uri="{FF2B5EF4-FFF2-40B4-BE49-F238E27FC236}">
                <a16:creationId xmlns:a16="http://schemas.microsoft.com/office/drawing/2014/main" id="{F0583049-466B-40AE-8F46-E7D44F3C307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2" name="Line 38">
            <a:extLst>
              <a:ext uri="{FF2B5EF4-FFF2-40B4-BE49-F238E27FC236}">
                <a16:creationId xmlns:a16="http://schemas.microsoft.com/office/drawing/2014/main" id="{951D9313-3014-446A-BF3C-32F05D36B69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FE251620-FBBD-4869-87EB-4DE103FA1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3140968"/>
            <a:ext cx="2664296" cy="288032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err="1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</a:t>
            </a: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 File</a:t>
            </a:r>
          </a:p>
        </p:txBody>
      </p:sp>
      <p:sp>
        <p:nvSpPr>
          <p:cNvPr id="14" name="Text Box 65">
            <a:extLst>
              <a:ext uri="{FF2B5EF4-FFF2-40B4-BE49-F238E27FC236}">
                <a16:creationId xmlns:a16="http://schemas.microsoft.com/office/drawing/2014/main" id="{0D362E0A-CFD4-403E-A8CD-FA07619DA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9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15" name="Rectangle 36">
            <a:extLst>
              <a:ext uri="{FF2B5EF4-FFF2-40B4-BE49-F238E27FC236}">
                <a16:creationId xmlns:a16="http://schemas.microsoft.com/office/drawing/2014/main" id="{9212F834-6C20-4878-8C42-9B222FED9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3988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AD32196E-5CDA-4E72-A1AB-22BE15D42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653136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7" name="Rectangle 36">
            <a:extLst>
              <a:ext uri="{FF2B5EF4-FFF2-40B4-BE49-F238E27FC236}">
                <a16:creationId xmlns:a16="http://schemas.microsoft.com/office/drawing/2014/main" id="{26D16106-2B0A-4C28-80B3-080EDAF25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212976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</a:t>
            </a:r>
          </a:p>
        </p:txBody>
      </p:sp>
      <p:sp>
        <p:nvSpPr>
          <p:cNvPr id="18" name="Rectangle 36">
            <a:extLst>
              <a:ext uri="{FF2B5EF4-FFF2-40B4-BE49-F238E27FC236}">
                <a16:creationId xmlns:a16="http://schemas.microsoft.com/office/drawing/2014/main" id="{0A3E75A3-3889-4DAD-8F63-96405E977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645024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x</a:t>
            </a:r>
          </a:p>
        </p:txBody>
      </p:sp>
      <p:sp>
        <p:nvSpPr>
          <p:cNvPr id="19" name="Rectangle 36">
            <a:extLst>
              <a:ext uri="{FF2B5EF4-FFF2-40B4-BE49-F238E27FC236}">
                <a16:creationId xmlns:a16="http://schemas.microsoft.com/office/drawing/2014/main" id="{6371B307-EBB5-4D7B-9DA6-46C20EAF3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077072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y</a:t>
            </a:r>
          </a:p>
        </p:txBody>
      </p:sp>
      <p:sp>
        <p:nvSpPr>
          <p:cNvPr id="20" name="Rectangle 36">
            <a:extLst>
              <a:ext uri="{FF2B5EF4-FFF2-40B4-BE49-F238E27FC236}">
                <a16:creationId xmlns:a16="http://schemas.microsoft.com/office/drawing/2014/main" id="{DFA94613-500E-40D4-85D9-DEC55573D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558924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…</a:t>
            </a:r>
          </a:p>
        </p:txBody>
      </p:sp>
      <p:sp>
        <p:nvSpPr>
          <p:cNvPr id="21" name="Rectangle 36">
            <a:extLst>
              <a:ext uri="{FF2B5EF4-FFF2-40B4-BE49-F238E27FC236}">
                <a16:creationId xmlns:a16="http://schemas.microsoft.com/office/drawing/2014/main" id="{6680081E-EFCE-4208-BD26-A86910E61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50912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z</a:t>
            </a:r>
          </a:p>
        </p:txBody>
      </p:sp>
      <p:sp>
        <p:nvSpPr>
          <p:cNvPr id="22" name="Text Box 65">
            <a:extLst>
              <a:ext uri="{FF2B5EF4-FFF2-40B4-BE49-F238E27FC236}">
                <a16:creationId xmlns:a16="http://schemas.microsoft.com/office/drawing/2014/main" id="{DAC10633-E8CD-40B3-8B0D-D5D77406F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R0</a:t>
            </a:r>
          </a:p>
        </p:txBody>
      </p:sp>
      <p:sp>
        <p:nvSpPr>
          <p:cNvPr id="23" name="Text Box 65">
            <a:extLst>
              <a:ext uri="{FF2B5EF4-FFF2-40B4-BE49-F238E27FC236}">
                <a16:creationId xmlns:a16="http://schemas.microsoft.com/office/drawing/2014/main" id="{8D1B6702-9275-4D30-A617-EB1A63ACE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300" y="3645024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  <p:sp>
        <p:nvSpPr>
          <p:cNvPr id="24" name="Text Box 65">
            <a:extLst>
              <a:ext uri="{FF2B5EF4-FFF2-40B4-BE49-F238E27FC236}">
                <a16:creationId xmlns:a16="http://schemas.microsoft.com/office/drawing/2014/main" id="{376821BC-5788-4450-A9FE-42E9BE77F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077072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R2</a:t>
            </a:r>
          </a:p>
        </p:txBody>
      </p:sp>
      <p:sp>
        <p:nvSpPr>
          <p:cNvPr id="25" name="Text Box 65">
            <a:extLst>
              <a:ext uri="{FF2B5EF4-FFF2-40B4-BE49-F238E27FC236}">
                <a16:creationId xmlns:a16="http://schemas.microsoft.com/office/drawing/2014/main" id="{B8F861A6-5123-4234-83BD-DCE72F462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499828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R3</a:t>
            </a:r>
          </a:p>
        </p:txBody>
      </p:sp>
      <p:sp>
        <p:nvSpPr>
          <p:cNvPr id="26" name="Text Box 65">
            <a:extLst>
              <a:ext uri="{FF2B5EF4-FFF2-40B4-BE49-F238E27FC236}">
                <a16:creationId xmlns:a16="http://schemas.microsoft.com/office/drawing/2014/main" id="{577FB1CD-554D-4746-8B26-12B708D0A2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848" y="5589240"/>
            <a:ext cx="5745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solidFill>
                  <a:srgbClr val="000000"/>
                </a:solidFill>
                <a:latin typeface="Comic Sans MS" charset="0"/>
              </a:rPr>
              <a:t>R31</a:t>
            </a: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7" name="Text Box 65">
            <a:extLst>
              <a:ext uri="{FF2B5EF4-FFF2-40B4-BE49-F238E27FC236}">
                <a16:creationId xmlns:a16="http://schemas.microsoft.com/office/drawing/2014/main" id="{2A26DAAC-BA2D-4F3B-B176-5B56D3771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708920"/>
            <a:ext cx="13681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 err="1">
                <a:solidFill>
                  <a:srgbClr val="000000"/>
                </a:solidFill>
                <a:latin typeface="Comic Sans MS" charset="0"/>
              </a:rPr>
              <a:t>Reg</a:t>
            </a: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 File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28" name="圆角矩形 14">
            <a:extLst>
              <a:ext uri="{FF2B5EF4-FFF2-40B4-BE49-F238E27FC236}">
                <a16:creationId xmlns:a16="http://schemas.microsoft.com/office/drawing/2014/main" id="{9242A4D8-9957-40A8-8344-DD16858C7106}"/>
              </a:ext>
            </a:extLst>
          </p:cNvPr>
          <p:cNvSpPr/>
          <p:nvPr/>
        </p:nvSpPr>
        <p:spPr bwMode="auto">
          <a:xfrm>
            <a:off x="2411760" y="1988840"/>
            <a:ext cx="648072" cy="504056"/>
          </a:xfrm>
          <a:prstGeom prst="roundRect">
            <a:avLst/>
          </a:prstGeom>
          <a:noFill/>
          <a:ln w="381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29" name="下箭头 15">
            <a:extLst>
              <a:ext uri="{FF2B5EF4-FFF2-40B4-BE49-F238E27FC236}">
                <a16:creationId xmlns:a16="http://schemas.microsoft.com/office/drawing/2014/main" id="{D74E1EE8-1310-4816-BCBC-3B53B6B699C0}"/>
              </a:ext>
            </a:extLst>
          </p:cNvPr>
          <p:cNvSpPr/>
          <p:nvPr/>
        </p:nvSpPr>
        <p:spPr bwMode="auto">
          <a:xfrm>
            <a:off x="2627784" y="2636912"/>
            <a:ext cx="216024" cy="432048"/>
          </a:xfrm>
          <a:prstGeom prst="downArrow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600" b="1" i="0" u="none" strike="noStrike" cap="none" normalizeH="0" baseline="0">
              <a:ln>
                <a:noFill/>
              </a:ln>
              <a:solidFill>
                <a:schemeClr val="hlink"/>
              </a:solidFill>
              <a:effectLst/>
              <a:latin typeface="Arial" charset="0"/>
            </a:endParaRPr>
          </a:p>
        </p:txBody>
      </p:sp>
      <p:sp>
        <p:nvSpPr>
          <p:cNvPr id="30" name="Text Box 65">
            <a:extLst>
              <a:ext uri="{FF2B5EF4-FFF2-40B4-BE49-F238E27FC236}">
                <a16:creationId xmlns:a16="http://schemas.microsoft.com/office/drawing/2014/main" id="{02301BC3-5A40-48F7-AF7C-F82681934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129" y="3212976"/>
            <a:ext cx="6866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ADD</a:t>
            </a:r>
          </a:p>
        </p:txBody>
      </p:sp>
      <p:sp>
        <p:nvSpPr>
          <p:cNvPr id="31" name="Line 37">
            <a:extLst>
              <a:ext uri="{FF2B5EF4-FFF2-40B4-BE49-F238E27FC236}">
                <a16:creationId xmlns:a16="http://schemas.microsoft.com/office/drawing/2014/main" id="{B1175FC4-D030-4989-B677-1DAF9CD84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32" name="Text Box 65">
            <a:extLst>
              <a:ext uri="{FF2B5EF4-FFF2-40B4-BE49-F238E27FC236}">
                <a16:creationId xmlns:a16="http://schemas.microsoft.com/office/drawing/2014/main" id="{932063F0-D474-443E-883E-ABDC72E18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5695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R3</a:t>
            </a:r>
          </a:p>
        </p:txBody>
      </p:sp>
      <p:sp>
        <p:nvSpPr>
          <p:cNvPr id="33" name="Text Box 65">
            <a:extLst>
              <a:ext uri="{FF2B5EF4-FFF2-40B4-BE49-F238E27FC236}">
                <a16:creationId xmlns:a16="http://schemas.microsoft.com/office/drawing/2014/main" id="{340951DB-D464-4039-9671-98E6DCEE74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7623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R2</a:t>
            </a:r>
          </a:p>
        </p:txBody>
      </p:sp>
      <p:sp>
        <p:nvSpPr>
          <p:cNvPr id="34" name="Text Box 65">
            <a:extLst>
              <a:ext uri="{FF2B5EF4-FFF2-40B4-BE49-F238E27FC236}">
                <a16:creationId xmlns:a16="http://schemas.microsoft.com/office/drawing/2014/main" id="{193FDF09-D650-409E-B34C-5CF62B7ED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035" y="3212976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2C7BD6-1688-409F-B317-7C74B9B14398}"/>
              </a:ext>
            </a:extLst>
          </p:cNvPr>
          <p:cNvSpPr/>
          <p:nvPr/>
        </p:nvSpPr>
        <p:spPr>
          <a:xfrm>
            <a:off x="611560" y="332656"/>
            <a:ext cx="2557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Instruction Decode (ID)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157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CB85-282B-43A1-8079-76CC7AC8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2400" b="0" dirty="0"/>
              <a:t>Instruction Decode (ID)</a:t>
            </a:r>
            <a:endParaRPr lang="en-IN" sz="2400" b="0" dirty="0"/>
          </a:p>
        </p:txBody>
      </p:sp>
      <p:sp>
        <p:nvSpPr>
          <p:cNvPr id="34" name="内容占位符 2">
            <a:extLst>
              <a:ext uri="{FF2B5EF4-FFF2-40B4-BE49-F238E27FC236}">
                <a16:creationId xmlns:a16="http://schemas.microsoft.com/office/drawing/2014/main" id="{ABE01693-ADD2-49F2-B9D1-0A915AFAB3FB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35" name="Group 11">
            <a:extLst>
              <a:ext uri="{FF2B5EF4-FFF2-40B4-BE49-F238E27FC236}">
                <a16:creationId xmlns:a16="http://schemas.microsoft.com/office/drawing/2014/main" id="{CCF775BE-ED5D-4F44-86EA-F8E1AE5DBB1B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36" name="Group 12">
              <a:extLst>
                <a:ext uri="{FF2B5EF4-FFF2-40B4-BE49-F238E27FC236}">
                  <a16:creationId xmlns:a16="http://schemas.microsoft.com/office/drawing/2014/main" id="{6FF672D4-BF4F-4888-B701-DCCD1D8960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38" name="AutoShape 13">
                <a:extLst>
                  <a:ext uri="{FF2B5EF4-FFF2-40B4-BE49-F238E27FC236}">
                    <a16:creationId xmlns:a16="http://schemas.microsoft.com/office/drawing/2014/main" id="{636E8140-205A-4E00-802A-065F22161A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39" name="AutoShape 14">
                <a:extLst>
                  <a:ext uri="{FF2B5EF4-FFF2-40B4-BE49-F238E27FC236}">
                    <a16:creationId xmlns:a16="http://schemas.microsoft.com/office/drawing/2014/main" id="{AEE190DA-285A-4E1A-B2DF-59202DCFF4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40" name="Text Box 15">
                <a:extLst>
                  <a:ext uri="{FF2B5EF4-FFF2-40B4-BE49-F238E27FC236}">
                    <a16:creationId xmlns:a16="http://schemas.microsoft.com/office/drawing/2014/main" id="{3A493E89-778B-4F65-9C42-3859E8934D62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EF990DA8-B30C-4231-8402-E61AE80AE0D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41" name="Line 37">
            <a:extLst>
              <a:ext uri="{FF2B5EF4-FFF2-40B4-BE49-F238E27FC236}">
                <a16:creationId xmlns:a16="http://schemas.microsoft.com/office/drawing/2014/main" id="{443C5669-19B7-40AC-AF79-C8CC019F99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42" name="Line 38">
            <a:extLst>
              <a:ext uri="{FF2B5EF4-FFF2-40B4-BE49-F238E27FC236}">
                <a16:creationId xmlns:a16="http://schemas.microsoft.com/office/drawing/2014/main" id="{18523E25-FC84-4BF9-92EB-2DB9666FFF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43" name="Rectangle 19">
            <a:extLst>
              <a:ext uri="{FF2B5EF4-FFF2-40B4-BE49-F238E27FC236}">
                <a16:creationId xmlns:a16="http://schemas.microsoft.com/office/drawing/2014/main" id="{B5477D2B-1FEC-4B14-8949-AF9C76592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3140968"/>
            <a:ext cx="2664296" cy="288032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err="1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</a:t>
            </a: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 File</a:t>
            </a:r>
          </a:p>
        </p:txBody>
      </p:sp>
      <p:sp>
        <p:nvSpPr>
          <p:cNvPr id="44" name="Text Box 65">
            <a:extLst>
              <a:ext uri="{FF2B5EF4-FFF2-40B4-BE49-F238E27FC236}">
                <a16:creationId xmlns:a16="http://schemas.microsoft.com/office/drawing/2014/main" id="{94180A03-D765-4025-95D6-0A3AC201F2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9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45" name="Rectangle 36">
            <a:extLst>
              <a:ext uri="{FF2B5EF4-FFF2-40B4-BE49-F238E27FC236}">
                <a16:creationId xmlns:a16="http://schemas.microsoft.com/office/drawing/2014/main" id="{440C2857-49C1-4BA4-9EBC-B279F2150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3988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  <p:sp>
        <p:nvSpPr>
          <p:cNvPr id="46" name="Rectangle 17">
            <a:extLst>
              <a:ext uri="{FF2B5EF4-FFF2-40B4-BE49-F238E27FC236}">
                <a16:creationId xmlns:a16="http://schemas.microsoft.com/office/drawing/2014/main" id="{81DF3331-9643-408C-BB25-1A96991C4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653136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47" name="Rectangle 36">
            <a:extLst>
              <a:ext uri="{FF2B5EF4-FFF2-40B4-BE49-F238E27FC236}">
                <a16:creationId xmlns:a16="http://schemas.microsoft.com/office/drawing/2014/main" id="{E64A8C12-AA8E-4520-9F71-29C2F90FB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212976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</a:t>
            </a:r>
          </a:p>
        </p:txBody>
      </p:sp>
      <p:sp>
        <p:nvSpPr>
          <p:cNvPr id="48" name="Rectangle 36">
            <a:extLst>
              <a:ext uri="{FF2B5EF4-FFF2-40B4-BE49-F238E27FC236}">
                <a16:creationId xmlns:a16="http://schemas.microsoft.com/office/drawing/2014/main" id="{FC43C57A-0F6A-473D-B3CC-41FA987B0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645024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x</a:t>
            </a:r>
          </a:p>
        </p:txBody>
      </p:sp>
      <p:sp>
        <p:nvSpPr>
          <p:cNvPr id="49" name="Rectangle 36">
            <a:extLst>
              <a:ext uri="{FF2B5EF4-FFF2-40B4-BE49-F238E27FC236}">
                <a16:creationId xmlns:a16="http://schemas.microsoft.com/office/drawing/2014/main" id="{80099EFC-7037-458F-9A4B-83D8FFE08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077072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y</a:t>
            </a:r>
          </a:p>
        </p:txBody>
      </p:sp>
      <p:sp>
        <p:nvSpPr>
          <p:cNvPr id="50" name="Rectangle 36">
            <a:extLst>
              <a:ext uri="{FF2B5EF4-FFF2-40B4-BE49-F238E27FC236}">
                <a16:creationId xmlns:a16="http://schemas.microsoft.com/office/drawing/2014/main" id="{99A096DA-4A65-4C48-9B6D-F443D2370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558924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…</a:t>
            </a:r>
          </a:p>
        </p:txBody>
      </p:sp>
      <p:sp>
        <p:nvSpPr>
          <p:cNvPr id="51" name="Rectangle 36">
            <a:extLst>
              <a:ext uri="{FF2B5EF4-FFF2-40B4-BE49-F238E27FC236}">
                <a16:creationId xmlns:a16="http://schemas.microsoft.com/office/drawing/2014/main" id="{2A334D1B-2A44-404C-8301-737DE5AD0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50912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z</a:t>
            </a:r>
          </a:p>
        </p:txBody>
      </p:sp>
      <p:sp>
        <p:nvSpPr>
          <p:cNvPr id="52" name="Text Box 65">
            <a:extLst>
              <a:ext uri="{FF2B5EF4-FFF2-40B4-BE49-F238E27FC236}">
                <a16:creationId xmlns:a16="http://schemas.microsoft.com/office/drawing/2014/main" id="{71271C55-BD29-457D-BB67-AC361B894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R0</a:t>
            </a:r>
          </a:p>
        </p:txBody>
      </p:sp>
      <p:sp>
        <p:nvSpPr>
          <p:cNvPr id="53" name="Text Box 65">
            <a:extLst>
              <a:ext uri="{FF2B5EF4-FFF2-40B4-BE49-F238E27FC236}">
                <a16:creationId xmlns:a16="http://schemas.microsoft.com/office/drawing/2014/main" id="{8575814D-9533-4292-AF49-1C44C3C79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300" y="3645024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  <p:sp>
        <p:nvSpPr>
          <p:cNvPr id="54" name="Text Box 65">
            <a:extLst>
              <a:ext uri="{FF2B5EF4-FFF2-40B4-BE49-F238E27FC236}">
                <a16:creationId xmlns:a16="http://schemas.microsoft.com/office/drawing/2014/main" id="{B693BCD3-F74C-49DD-98E8-970F80D7F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077072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R2</a:t>
            </a:r>
          </a:p>
        </p:txBody>
      </p:sp>
      <p:sp>
        <p:nvSpPr>
          <p:cNvPr id="55" name="Text Box 65">
            <a:extLst>
              <a:ext uri="{FF2B5EF4-FFF2-40B4-BE49-F238E27FC236}">
                <a16:creationId xmlns:a16="http://schemas.microsoft.com/office/drawing/2014/main" id="{89D90763-B549-4D3F-B94E-385C73425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499828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R3</a:t>
            </a:r>
          </a:p>
        </p:txBody>
      </p:sp>
      <p:sp>
        <p:nvSpPr>
          <p:cNvPr id="56" name="Text Box 65">
            <a:extLst>
              <a:ext uri="{FF2B5EF4-FFF2-40B4-BE49-F238E27FC236}">
                <a16:creationId xmlns:a16="http://schemas.microsoft.com/office/drawing/2014/main" id="{7BC3A0A5-E730-4260-B5FD-E398D648A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848" y="5589240"/>
            <a:ext cx="5745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solidFill>
                  <a:srgbClr val="000000"/>
                </a:solidFill>
                <a:latin typeface="Comic Sans MS" charset="0"/>
              </a:rPr>
              <a:t>R31</a:t>
            </a: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57" name="Text Box 65">
            <a:extLst>
              <a:ext uri="{FF2B5EF4-FFF2-40B4-BE49-F238E27FC236}">
                <a16:creationId xmlns:a16="http://schemas.microsoft.com/office/drawing/2014/main" id="{7A144894-D92F-4143-A7DC-45BD23BD9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708920"/>
            <a:ext cx="13681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 err="1">
                <a:solidFill>
                  <a:srgbClr val="000000"/>
                </a:solidFill>
                <a:latin typeface="Comic Sans MS" charset="0"/>
              </a:rPr>
              <a:t>Reg</a:t>
            </a: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 File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58" name="Text Box 65">
            <a:extLst>
              <a:ext uri="{FF2B5EF4-FFF2-40B4-BE49-F238E27FC236}">
                <a16:creationId xmlns:a16="http://schemas.microsoft.com/office/drawing/2014/main" id="{9EC5FA1B-44FD-4F8B-BBB0-DDD418BEC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129" y="3212976"/>
            <a:ext cx="6866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ADD</a:t>
            </a:r>
          </a:p>
        </p:txBody>
      </p:sp>
      <p:sp>
        <p:nvSpPr>
          <p:cNvPr id="59" name="Line 37">
            <a:extLst>
              <a:ext uri="{FF2B5EF4-FFF2-40B4-BE49-F238E27FC236}">
                <a16:creationId xmlns:a16="http://schemas.microsoft.com/office/drawing/2014/main" id="{913B04DB-EF36-4D3B-BB88-2214E2DC26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60" name="Text Box 65">
            <a:extLst>
              <a:ext uri="{FF2B5EF4-FFF2-40B4-BE49-F238E27FC236}">
                <a16:creationId xmlns:a16="http://schemas.microsoft.com/office/drawing/2014/main" id="{881CBEC6-24F8-43B3-BF19-D511734E4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5695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R3</a:t>
            </a:r>
          </a:p>
        </p:txBody>
      </p:sp>
      <p:sp>
        <p:nvSpPr>
          <p:cNvPr id="61" name="Text Box 65">
            <a:extLst>
              <a:ext uri="{FF2B5EF4-FFF2-40B4-BE49-F238E27FC236}">
                <a16:creationId xmlns:a16="http://schemas.microsoft.com/office/drawing/2014/main" id="{AFD4FF13-B8C0-4DB2-8630-CD3350B71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7623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R2</a:t>
            </a:r>
          </a:p>
        </p:txBody>
      </p:sp>
      <p:sp>
        <p:nvSpPr>
          <p:cNvPr id="62" name="Text Box 65">
            <a:extLst>
              <a:ext uri="{FF2B5EF4-FFF2-40B4-BE49-F238E27FC236}">
                <a16:creationId xmlns:a16="http://schemas.microsoft.com/office/drawing/2014/main" id="{D20E7663-94CD-48CC-80F1-64092F6EA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035" y="3212976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  <p:cxnSp>
        <p:nvCxnSpPr>
          <p:cNvPr id="63" name="直线箭头连接符 18">
            <a:extLst>
              <a:ext uri="{FF2B5EF4-FFF2-40B4-BE49-F238E27FC236}">
                <a16:creationId xmlns:a16="http://schemas.microsoft.com/office/drawing/2014/main" id="{AC2B78A7-DF47-4C58-8046-E511DBFFABA4}"/>
              </a:ext>
            </a:extLst>
          </p:cNvPr>
          <p:cNvCxnSpPr/>
          <p:nvPr/>
        </p:nvCxnSpPr>
        <p:spPr bwMode="auto">
          <a:xfrm flipV="1">
            <a:off x="5148064" y="1988840"/>
            <a:ext cx="1440160" cy="18002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4" name="直线箭头连接符 46">
            <a:extLst>
              <a:ext uri="{FF2B5EF4-FFF2-40B4-BE49-F238E27FC236}">
                <a16:creationId xmlns:a16="http://schemas.microsoft.com/office/drawing/2014/main" id="{EA90C7A7-2251-42CD-B942-C43842C7E154}"/>
              </a:ext>
            </a:extLst>
          </p:cNvPr>
          <p:cNvCxnSpPr/>
          <p:nvPr/>
        </p:nvCxnSpPr>
        <p:spPr bwMode="auto">
          <a:xfrm flipV="1">
            <a:off x="5148064" y="2564904"/>
            <a:ext cx="1440160" cy="1800200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65" name="Text Box 65">
            <a:extLst>
              <a:ext uri="{FF2B5EF4-FFF2-40B4-BE49-F238E27FC236}">
                <a16:creationId xmlns:a16="http://schemas.microsoft.com/office/drawing/2014/main" id="{0C16E64D-1259-4CA9-9096-FDB28B533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3314" y="1556792"/>
            <a:ext cx="3209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x</a:t>
            </a:r>
          </a:p>
        </p:txBody>
      </p:sp>
      <p:sp>
        <p:nvSpPr>
          <p:cNvPr id="66" name="Text Box 65">
            <a:extLst>
              <a:ext uri="{FF2B5EF4-FFF2-40B4-BE49-F238E27FC236}">
                <a16:creationId xmlns:a16="http://schemas.microsoft.com/office/drawing/2014/main" id="{E31BECB4-C99A-4ED7-8E04-D6AD45E5B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283" y="2564904"/>
            <a:ext cx="30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0492817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617C-BB1F-4E74-AE4F-2E1571817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6526212" cy="596900"/>
          </a:xfrm>
        </p:spPr>
        <p:txBody>
          <a:bodyPr/>
          <a:lstStyle/>
          <a:p>
            <a:r>
              <a:rPr kumimoji="1" lang="en-US" altLang="zh-CN" sz="2400" b="0" dirty="0"/>
              <a:t>Execution (EX)</a:t>
            </a:r>
            <a:endParaRPr lang="en-IN" sz="2400" b="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597DEEA-ADE7-4AD1-B1BE-07CFDD2FF64E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6" name="Group 11">
            <a:extLst>
              <a:ext uri="{FF2B5EF4-FFF2-40B4-BE49-F238E27FC236}">
                <a16:creationId xmlns:a16="http://schemas.microsoft.com/office/drawing/2014/main" id="{B25735E2-86E1-4CFC-8746-1791B374E981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7" name="Group 12">
              <a:extLst>
                <a:ext uri="{FF2B5EF4-FFF2-40B4-BE49-F238E27FC236}">
                  <a16:creationId xmlns:a16="http://schemas.microsoft.com/office/drawing/2014/main" id="{51F01CD7-7C1E-4A17-BC56-4380CDC770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9" name="AutoShape 13">
                <a:extLst>
                  <a:ext uri="{FF2B5EF4-FFF2-40B4-BE49-F238E27FC236}">
                    <a16:creationId xmlns:a16="http://schemas.microsoft.com/office/drawing/2014/main" id="{7A4C90A9-2719-43B9-99BE-0681E56B32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10" name="AutoShape 14">
                <a:extLst>
                  <a:ext uri="{FF2B5EF4-FFF2-40B4-BE49-F238E27FC236}">
                    <a16:creationId xmlns:a16="http://schemas.microsoft.com/office/drawing/2014/main" id="{2133A495-2962-4D36-A283-00243B9A2A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11" name="Text Box 15">
                <a:extLst>
                  <a:ext uri="{FF2B5EF4-FFF2-40B4-BE49-F238E27FC236}">
                    <a16:creationId xmlns:a16="http://schemas.microsoft.com/office/drawing/2014/main" id="{742E9E5F-AB76-47BE-B4E4-A89A30416A69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8" name="Freeform 16">
              <a:extLst>
                <a:ext uri="{FF2B5EF4-FFF2-40B4-BE49-F238E27FC236}">
                  <a16:creationId xmlns:a16="http://schemas.microsoft.com/office/drawing/2014/main" id="{A40B9F86-A1A7-4565-8DDB-653793F43875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2" name="Line 37">
            <a:extLst>
              <a:ext uri="{FF2B5EF4-FFF2-40B4-BE49-F238E27FC236}">
                <a16:creationId xmlns:a16="http://schemas.microsoft.com/office/drawing/2014/main" id="{004ACA53-60FA-49AE-88A7-EA0D324261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3" name="Line 38">
            <a:extLst>
              <a:ext uri="{FF2B5EF4-FFF2-40B4-BE49-F238E27FC236}">
                <a16:creationId xmlns:a16="http://schemas.microsoft.com/office/drawing/2014/main" id="{71502F4B-9BF1-45E0-BA59-C452D80E2E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4" name="Text Box 65">
            <a:extLst>
              <a:ext uri="{FF2B5EF4-FFF2-40B4-BE49-F238E27FC236}">
                <a16:creationId xmlns:a16="http://schemas.microsoft.com/office/drawing/2014/main" id="{8EE03BDD-A9C5-4923-AEF5-653D80640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9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15" name="Rectangle 36">
            <a:extLst>
              <a:ext uri="{FF2B5EF4-FFF2-40B4-BE49-F238E27FC236}">
                <a16:creationId xmlns:a16="http://schemas.microsoft.com/office/drawing/2014/main" id="{F742E4E4-8EA1-477D-B25F-F40CCC3F0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3988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5A8C0E08-6F44-417B-AFF2-F198D2C1F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653136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7" name="Line 37">
            <a:extLst>
              <a:ext uri="{FF2B5EF4-FFF2-40B4-BE49-F238E27FC236}">
                <a16:creationId xmlns:a16="http://schemas.microsoft.com/office/drawing/2014/main" id="{FA78C8D0-0BC1-4F10-BC36-CEB607522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8" name="Text Box 65">
            <a:extLst>
              <a:ext uri="{FF2B5EF4-FFF2-40B4-BE49-F238E27FC236}">
                <a16:creationId xmlns:a16="http://schemas.microsoft.com/office/drawing/2014/main" id="{A6C7B1E7-8011-4722-B647-F7ECCE219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3314" y="1556792"/>
            <a:ext cx="3209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x</a:t>
            </a:r>
          </a:p>
        </p:txBody>
      </p:sp>
      <p:sp>
        <p:nvSpPr>
          <p:cNvPr id="19" name="Text Box 65">
            <a:extLst>
              <a:ext uri="{FF2B5EF4-FFF2-40B4-BE49-F238E27FC236}">
                <a16:creationId xmlns:a16="http://schemas.microsoft.com/office/drawing/2014/main" id="{2895193B-6194-4F53-A46E-F83888B3F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283" y="2564904"/>
            <a:ext cx="30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821C04-A1FF-40AB-B91B-137415E6D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6" y="4293096"/>
            <a:ext cx="590550" cy="14763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 File</a:t>
            </a:r>
          </a:p>
        </p:txBody>
      </p:sp>
    </p:spTree>
    <p:extLst>
      <p:ext uri="{BB962C8B-B14F-4D97-AF65-F5344CB8AC3E}">
        <p14:creationId xmlns:p14="http://schemas.microsoft.com/office/powerpoint/2010/main" val="3913964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617C-BB1F-4E74-AE4F-2E1571817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6526212" cy="596900"/>
          </a:xfrm>
        </p:spPr>
        <p:txBody>
          <a:bodyPr/>
          <a:lstStyle/>
          <a:p>
            <a:r>
              <a:rPr kumimoji="1" lang="en-US" altLang="zh-CN" sz="2400" b="0" dirty="0"/>
              <a:t>Execution (EX)</a:t>
            </a:r>
            <a:endParaRPr lang="en-IN" sz="2400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EC8AD0-402D-4E9A-8447-21E46101ABBF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F88F403-C4CA-49C3-80F0-9862A5C0BCC3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5" name="Group 12">
              <a:extLst>
                <a:ext uri="{FF2B5EF4-FFF2-40B4-BE49-F238E27FC236}">
                  <a16:creationId xmlns:a16="http://schemas.microsoft.com/office/drawing/2014/main" id="{E2807619-28B2-4819-94EF-D7F189E87D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7" name="AutoShape 13">
                <a:extLst>
                  <a:ext uri="{FF2B5EF4-FFF2-40B4-BE49-F238E27FC236}">
                    <a16:creationId xmlns:a16="http://schemas.microsoft.com/office/drawing/2014/main" id="{7D645FE8-734C-47DE-B06E-758FAA3864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8" name="AutoShape 14">
                <a:extLst>
                  <a:ext uri="{FF2B5EF4-FFF2-40B4-BE49-F238E27FC236}">
                    <a16:creationId xmlns:a16="http://schemas.microsoft.com/office/drawing/2014/main" id="{5E738BFF-FB30-4298-972C-03A40AB7C9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9" name="Text Box 15">
                <a:extLst>
                  <a:ext uri="{FF2B5EF4-FFF2-40B4-BE49-F238E27FC236}">
                    <a16:creationId xmlns:a16="http://schemas.microsoft.com/office/drawing/2014/main" id="{C9930387-0412-490D-927F-385E7F5B9BF0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6" name="Freeform 16">
              <a:extLst>
                <a:ext uri="{FF2B5EF4-FFF2-40B4-BE49-F238E27FC236}">
                  <a16:creationId xmlns:a16="http://schemas.microsoft.com/office/drawing/2014/main" id="{A55A9E77-898D-482F-A3D6-50FEA1347645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10" name="Line 37">
            <a:extLst>
              <a:ext uri="{FF2B5EF4-FFF2-40B4-BE49-F238E27FC236}">
                <a16:creationId xmlns:a16="http://schemas.microsoft.com/office/drawing/2014/main" id="{F79ED51F-D99E-4BD6-BC1F-98CEA61DD6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1" name="Line 38">
            <a:extLst>
              <a:ext uri="{FF2B5EF4-FFF2-40B4-BE49-F238E27FC236}">
                <a16:creationId xmlns:a16="http://schemas.microsoft.com/office/drawing/2014/main" id="{47BFE37E-9218-42A7-BADE-7D48760F2C0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2" name="Text Box 65">
            <a:extLst>
              <a:ext uri="{FF2B5EF4-FFF2-40B4-BE49-F238E27FC236}">
                <a16:creationId xmlns:a16="http://schemas.microsoft.com/office/drawing/2014/main" id="{F394941B-42E3-4EF0-9955-AA14177A7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9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13" name="Text Box 65">
            <a:extLst>
              <a:ext uri="{FF2B5EF4-FFF2-40B4-BE49-F238E27FC236}">
                <a16:creationId xmlns:a16="http://schemas.microsoft.com/office/drawing/2014/main" id="{DE135DE5-55EB-4A63-B66B-6BF258007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4293096"/>
            <a:ext cx="28083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altLang="zh-CN" sz="1800" b="0" dirty="0">
                <a:solidFill>
                  <a:srgbClr val="000000"/>
                </a:solidFill>
                <a:latin typeface="Comic Sans MS" charset="0"/>
              </a:rPr>
              <a:t>Execute the operation</a:t>
            </a:r>
          </a:p>
        </p:txBody>
      </p:sp>
      <p:sp>
        <p:nvSpPr>
          <p:cNvPr id="14" name="Rectangle 36">
            <a:extLst>
              <a:ext uri="{FF2B5EF4-FFF2-40B4-BE49-F238E27FC236}">
                <a16:creationId xmlns:a16="http://schemas.microsoft.com/office/drawing/2014/main" id="{FE040FFB-F7A7-448E-A6D9-AEFCB4415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3988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316AFE47-C06C-420E-887D-FA2EDF2D6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653136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16" name="Line 37">
            <a:extLst>
              <a:ext uri="{FF2B5EF4-FFF2-40B4-BE49-F238E27FC236}">
                <a16:creationId xmlns:a16="http://schemas.microsoft.com/office/drawing/2014/main" id="{E8E1FA8F-8879-41CA-91D5-E98687CFE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17" name="Text Box 65">
            <a:extLst>
              <a:ext uri="{FF2B5EF4-FFF2-40B4-BE49-F238E27FC236}">
                <a16:creationId xmlns:a16="http://schemas.microsoft.com/office/drawing/2014/main" id="{D7E4A43A-8715-4C21-87FB-0C489835D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3314" y="1556792"/>
            <a:ext cx="3209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x</a:t>
            </a:r>
          </a:p>
        </p:txBody>
      </p:sp>
      <p:sp>
        <p:nvSpPr>
          <p:cNvPr id="18" name="Text Box 65">
            <a:extLst>
              <a:ext uri="{FF2B5EF4-FFF2-40B4-BE49-F238E27FC236}">
                <a16:creationId xmlns:a16="http://schemas.microsoft.com/office/drawing/2014/main" id="{44E1E513-70B4-499E-B618-8B91C732E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283" y="2564904"/>
            <a:ext cx="30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y</a:t>
            </a: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F98C6B01-0201-49A5-8998-0370F9E4F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6" y="4293096"/>
            <a:ext cx="590550" cy="14763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 File</a:t>
            </a:r>
          </a:p>
        </p:txBody>
      </p:sp>
      <p:sp>
        <p:nvSpPr>
          <p:cNvPr id="20" name="Text Box 65">
            <a:extLst>
              <a:ext uri="{FF2B5EF4-FFF2-40B4-BE49-F238E27FC236}">
                <a16:creationId xmlns:a16="http://schemas.microsoft.com/office/drawing/2014/main" id="{C89596F2-D8D3-4BD3-A23E-695CB5B08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312" y="2060848"/>
            <a:ext cx="1152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x + y</a:t>
            </a:r>
          </a:p>
        </p:txBody>
      </p:sp>
    </p:spTree>
    <p:extLst>
      <p:ext uri="{BB962C8B-B14F-4D97-AF65-F5344CB8AC3E}">
        <p14:creationId xmlns:p14="http://schemas.microsoft.com/office/powerpoint/2010/main" val="31715465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617C-BB1F-4E74-AE4F-2E1571817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6526212" cy="596900"/>
          </a:xfrm>
        </p:spPr>
        <p:txBody>
          <a:bodyPr/>
          <a:lstStyle/>
          <a:p>
            <a:r>
              <a:rPr kumimoji="1" lang="en-US" altLang="zh-CN" sz="2400" b="0" dirty="0"/>
              <a:t>Writeback (WB)</a:t>
            </a:r>
            <a:endParaRPr lang="en-IN" sz="2400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3F5AB4-1C54-44CA-82CB-C1AA9CFADF33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54058BB4-3EF2-4B87-A675-12FEDD878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3140968"/>
            <a:ext cx="2664296" cy="288032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err="1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</a:t>
            </a: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 File</a:t>
            </a:r>
          </a:p>
        </p:txBody>
      </p:sp>
      <p:sp>
        <p:nvSpPr>
          <p:cNvPr id="5" name="Text Box 65">
            <a:extLst>
              <a:ext uri="{FF2B5EF4-FFF2-40B4-BE49-F238E27FC236}">
                <a16:creationId xmlns:a16="http://schemas.microsoft.com/office/drawing/2014/main" id="{EFC99390-A09E-412D-805C-D86ED0FBF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9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6" name="Text Box 65">
            <a:extLst>
              <a:ext uri="{FF2B5EF4-FFF2-40B4-BE49-F238E27FC236}">
                <a16:creationId xmlns:a16="http://schemas.microsoft.com/office/drawing/2014/main" id="{61C01B69-03BD-4A7B-96E9-A7C0505C1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4016098"/>
            <a:ext cx="280831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Write the result to the register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7" name="Rectangle 36">
            <a:extLst>
              <a:ext uri="{FF2B5EF4-FFF2-40B4-BE49-F238E27FC236}">
                <a16:creationId xmlns:a16="http://schemas.microsoft.com/office/drawing/2014/main" id="{ED9336A3-7C00-42D4-A7E0-7D254D107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3988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31BE95F3-8455-4AB3-BD86-C1F38E925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653136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9" name="Rectangle 36">
            <a:extLst>
              <a:ext uri="{FF2B5EF4-FFF2-40B4-BE49-F238E27FC236}">
                <a16:creationId xmlns:a16="http://schemas.microsoft.com/office/drawing/2014/main" id="{B49C2328-F5FF-4D84-A1B3-45B81D972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212976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</a:t>
            </a:r>
          </a:p>
        </p:txBody>
      </p:sp>
      <p:sp>
        <p:nvSpPr>
          <p:cNvPr id="10" name="Rectangle 36">
            <a:extLst>
              <a:ext uri="{FF2B5EF4-FFF2-40B4-BE49-F238E27FC236}">
                <a16:creationId xmlns:a16="http://schemas.microsoft.com/office/drawing/2014/main" id="{C6A70DD8-A37A-4853-ACC7-69693DDBF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645024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x</a:t>
            </a: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2247A242-4A5C-41CB-B51C-2BE9F05BD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077072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y</a:t>
            </a:r>
          </a:p>
        </p:txBody>
      </p:sp>
      <p:sp>
        <p:nvSpPr>
          <p:cNvPr id="12" name="Rectangle 36">
            <a:extLst>
              <a:ext uri="{FF2B5EF4-FFF2-40B4-BE49-F238E27FC236}">
                <a16:creationId xmlns:a16="http://schemas.microsoft.com/office/drawing/2014/main" id="{B8640CDF-EFE9-4838-925D-AEBA11388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558924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…</a:t>
            </a: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E2B9CF45-7A5A-40A5-A0A0-F0A8109AC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50912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z</a:t>
            </a:r>
          </a:p>
        </p:txBody>
      </p:sp>
      <p:sp>
        <p:nvSpPr>
          <p:cNvPr id="14" name="Text Box 65">
            <a:extLst>
              <a:ext uri="{FF2B5EF4-FFF2-40B4-BE49-F238E27FC236}">
                <a16:creationId xmlns:a16="http://schemas.microsoft.com/office/drawing/2014/main" id="{DF5C2211-6C8A-4AD6-90FE-E35AFD8C2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R0</a:t>
            </a:r>
          </a:p>
        </p:txBody>
      </p:sp>
      <p:sp>
        <p:nvSpPr>
          <p:cNvPr id="15" name="Text Box 65">
            <a:extLst>
              <a:ext uri="{FF2B5EF4-FFF2-40B4-BE49-F238E27FC236}">
                <a16:creationId xmlns:a16="http://schemas.microsoft.com/office/drawing/2014/main" id="{803CA1B9-4D7E-43A6-894C-0EF4F3292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300" y="3645024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  <p:sp>
        <p:nvSpPr>
          <p:cNvPr id="16" name="Text Box 65">
            <a:extLst>
              <a:ext uri="{FF2B5EF4-FFF2-40B4-BE49-F238E27FC236}">
                <a16:creationId xmlns:a16="http://schemas.microsoft.com/office/drawing/2014/main" id="{85D2BB51-33F8-4601-AF78-E32F31235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077072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R2</a:t>
            </a:r>
          </a:p>
        </p:txBody>
      </p:sp>
      <p:sp>
        <p:nvSpPr>
          <p:cNvPr id="17" name="Text Box 65">
            <a:extLst>
              <a:ext uri="{FF2B5EF4-FFF2-40B4-BE49-F238E27FC236}">
                <a16:creationId xmlns:a16="http://schemas.microsoft.com/office/drawing/2014/main" id="{147CA295-66B3-457A-BBCE-3682D4413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499828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R3</a:t>
            </a:r>
          </a:p>
        </p:txBody>
      </p:sp>
      <p:sp>
        <p:nvSpPr>
          <p:cNvPr id="18" name="Text Box 65">
            <a:extLst>
              <a:ext uri="{FF2B5EF4-FFF2-40B4-BE49-F238E27FC236}">
                <a16:creationId xmlns:a16="http://schemas.microsoft.com/office/drawing/2014/main" id="{03023A62-F3E6-4DD8-88F3-70678F359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848" y="5589240"/>
            <a:ext cx="5745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solidFill>
                  <a:srgbClr val="000000"/>
                </a:solidFill>
                <a:latin typeface="Comic Sans MS" charset="0"/>
              </a:rPr>
              <a:t>R31</a:t>
            </a: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9" name="Text Box 65">
            <a:extLst>
              <a:ext uri="{FF2B5EF4-FFF2-40B4-BE49-F238E27FC236}">
                <a16:creationId xmlns:a16="http://schemas.microsoft.com/office/drawing/2014/main" id="{DC11E989-81A0-4437-AA6C-6AF2E50A7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708920"/>
            <a:ext cx="13681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 err="1">
                <a:solidFill>
                  <a:srgbClr val="000000"/>
                </a:solidFill>
                <a:latin typeface="Comic Sans MS" charset="0"/>
              </a:rPr>
              <a:t>Reg</a:t>
            </a: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 File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grpSp>
        <p:nvGrpSpPr>
          <p:cNvPr id="20" name="Group 11">
            <a:extLst>
              <a:ext uri="{FF2B5EF4-FFF2-40B4-BE49-F238E27FC236}">
                <a16:creationId xmlns:a16="http://schemas.microsoft.com/office/drawing/2014/main" id="{51DF6B73-050A-43D0-93A6-EDB53C787700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21" name="Group 12">
              <a:extLst>
                <a:ext uri="{FF2B5EF4-FFF2-40B4-BE49-F238E27FC236}">
                  <a16:creationId xmlns:a16="http://schemas.microsoft.com/office/drawing/2014/main" id="{1B2C235A-A426-4D92-B06E-2A868981B9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23" name="AutoShape 13">
                <a:extLst>
                  <a:ext uri="{FF2B5EF4-FFF2-40B4-BE49-F238E27FC236}">
                    <a16:creationId xmlns:a16="http://schemas.microsoft.com/office/drawing/2014/main" id="{4AC15372-FE37-4CF5-94F4-9349FE04BC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24" name="AutoShape 14">
                <a:extLst>
                  <a:ext uri="{FF2B5EF4-FFF2-40B4-BE49-F238E27FC236}">
                    <a16:creationId xmlns:a16="http://schemas.microsoft.com/office/drawing/2014/main" id="{58455DDC-2C84-41D7-80C8-23ED5F1BE8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" name="Text Box 15">
                <a:extLst>
                  <a:ext uri="{FF2B5EF4-FFF2-40B4-BE49-F238E27FC236}">
                    <a16:creationId xmlns:a16="http://schemas.microsoft.com/office/drawing/2014/main" id="{33F9CCE9-0B59-4DBB-A4EA-F93BF3F1D9FA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784FCAAA-6A68-459A-ACA8-23FE710FDF6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26" name="Line 37">
            <a:extLst>
              <a:ext uri="{FF2B5EF4-FFF2-40B4-BE49-F238E27FC236}">
                <a16:creationId xmlns:a16="http://schemas.microsoft.com/office/drawing/2014/main" id="{2E42AF39-A790-4F8D-9A2F-F1BEDEA4E4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7" name="Line 38">
            <a:extLst>
              <a:ext uri="{FF2B5EF4-FFF2-40B4-BE49-F238E27FC236}">
                <a16:creationId xmlns:a16="http://schemas.microsoft.com/office/drawing/2014/main" id="{923C3F3C-5FAE-45D7-99FC-DF3EB2D709D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8" name="Line 37">
            <a:extLst>
              <a:ext uri="{FF2B5EF4-FFF2-40B4-BE49-F238E27FC236}">
                <a16:creationId xmlns:a16="http://schemas.microsoft.com/office/drawing/2014/main" id="{EEA77636-51A2-499A-8586-80826485F99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9" name="Text Box 65">
            <a:extLst>
              <a:ext uri="{FF2B5EF4-FFF2-40B4-BE49-F238E27FC236}">
                <a16:creationId xmlns:a16="http://schemas.microsoft.com/office/drawing/2014/main" id="{E3302079-D872-44B8-9584-5FD2C54A0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3314" y="1556792"/>
            <a:ext cx="3209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x</a:t>
            </a:r>
          </a:p>
        </p:txBody>
      </p:sp>
      <p:sp>
        <p:nvSpPr>
          <p:cNvPr id="30" name="Text Box 65">
            <a:extLst>
              <a:ext uri="{FF2B5EF4-FFF2-40B4-BE49-F238E27FC236}">
                <a16:creationId xmlns:a16="http://schemas.microsoft.com/office/drawing/2014/main" id="{EED415F3-F416-4389-A2C4-27D5017B2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283" y="2564904"/>
            <a:ext cx="30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y</a:t>
            </a:r>
          </a:p>
        </p:txBody>
      </p:sp>
      <p:sp>
        <p:nvSpPr>
          <p:cNvPr id="31" name="Text Box 65">
            <a:extLst>
              <a:ext uri="{FF2B5EF4-FFF2-40B4-BE49-F238E27FC236}">
                <a16:creationId xmlns:a16="http://schemas.microsoft.com/office/drawing/2014/main" id="{D06ACC05-D542-4822-A236-28A6D6D0D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312" y="2060848"/>
            <a:ext cx="1152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x + y</a:t>
            </a:r>
          </a:p>
        </p:txBody>
      </p:sp>
      <p:cxnSp>
        <p:nvCxnSpPr>
          <p:cNvPr id="32" name="直线箭头连接符 57">
            <a:extLst>
              <a:ext uri="{FF2B5EF4-FFF2-40B4-BE49-F238E27FC236}">
                <a16:creationId xmlns:a16="http://schemas.microsoft.com/office/drawing/2014/main" id="{C33E8D50-7EBD-4F4C-8BFF-A4837D680E2E}"/>
              </a:ext>
            </a:extLst>
          </p:cNvPr>
          <p:cNvCxnSpPr/>
          <p:nvPr/>
        </p:nvCxnSpPr>
        <p:spPr bwMode="auto">
          <a:xfrm flipH="1">
            <a:off x="4860032" y="2492896"/>
            <a:ext cx="2880320" cy="2304256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40272026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617C-BB1F-4E74-AE4F-2E1571817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0"/>
            <a:ext cx="6526212" cy="596900"/>
          </a:xfrm>
        </p:spPr>
        <p:txBody>
          <a:bodyPr/>
          <a:lstStyle/>
          <a:p>
            <a:r>
              <a:rPr kumimoji="1" lang="en-US" altLang="zh-CN" sz="2400" b="0" dirty="0"/>
              <a:t>Writeback (WB)</a:t>
            </a:r>
            <a:endParaRPr lang="en-IN" sz="2400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B3DAD3-F538-471D-B0A8-7557791CD62D}"/>
              </a:ext>
            </a:extLst>
          </p:cNvPr>
          <p:cNvSpPr txBox="1">
            <a:spLocks/>
          </p:cNvSpPr>
          <p:nvPr/>
        </p:nvSpPr>
        <p:spPr>
          <a:xfrm>
            <a:off x="698500" y="1193800"/>
            <a:ext cx="7683500" cy="4927600"/>
          </a:xfrm>
          <a:prstGeom prst="rect">
            <a:avLst/>
          </a:prstGeom>
        </p:spPr>
        <p:txBody>
          <a:bodyPr/>
          <a:lstStyle>
            <a:lvl1pPr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6850" indent="-1952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2pPr>
            <a:lvl3pPr marL="465138" indent="-266700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3pPr>
            <a:lvl4pPr marL="625475" indent="-1571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4pPr>
            <a:lvl5pPr marL="763588" indent="-131763" algn="l" defTabSz="912813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sz="16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</a:defRPr>
            </a:lvl5pPr>
            <a:lvl6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6pPr>
            <a:lvl7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7pPr>
            <a:lvl8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8pPr>
            <a:lvl9pPr marL="764704" indent="-132761" algn="l" defTabSz="913138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600" baseline="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kumimoji="1" lang="en-US" altLang="zh-CN" kern="0"/>
              <a:t>ADD R3, R1, R2   =&gt;     R3 = R1 + R2;</a:t>
            </a:r>
            <a:endParaRPr kumimoji="1" lang="zh-CN" altLang="en-US" kern="0" dirty="0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D518CE6D-058F-4C2A-8BB1-D936CCA5F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872" y="3140968"/>
            <a:ext cx="2664296" cy="288032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 err="1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Reg</a:t>
            </a: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 File</a:t>
            </a:r>
          </a:p>
        </p:txBody>
      </p:sp>
      <p:sp>
        <p:nvSpPr>
          <p:cNvPr id="5" name="Text Box 65">
            <a:extLst>
              <a:ext uri="{FF2B5EF4-FFF2-40B4-BE49-F238E27FC236}">
                <a16:creationId xmlns:a16="http://schemas.microsoft.com/office/drawing/2014/main" id="{4F8AB295-A8FB-4497-960C-3A8FFB985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691" y="1628800"/>
            <a:ext cx="4558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IR</a:t>
            </a:r>
          </a:p>
        </p:txBody>
      </p:sp>
      <p:sp>
        <p:nvSpPr>
          <p:cNvPr id="6" name="Text Box 65">
            <a:extLst>
              <a:ext uri="{FF2B5EF4-FFF2-40B4-BE49-F238E27FC236}">
                <a16:creationId xmlns:a16="http://schemas.microsoft.com/office/drawing/2014/main" id="{8078FD3B-2AFE-4B8C-9059-E235867C8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4016098"/>
            <a:ext cx="280831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Write the result to the register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7" name="Rectangle 36">
            <a:extLst>
              <a:ext uri="{FF2B5EF4-FFF2-40B4-BE49-F238E27FC236}">
                <a16:creationId xmlns:a16="http://schemas.microsoft.com/office/drawing/2014/main" id="{E1DF8D44-471C-4028-9AB8-4740953C9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039888"/>
            <a:ext cx="3168352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000001000010001000011…</a:t>
            </a: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D3D5FDDB-76B9-4CDD-B7C1-A9BD911B1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616" y="4653136"/>
            <a:ext cx="762000" cy="9144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Memory</a:t>
            </a:r>
          </a:p>
        </p:txBody>
      </p:sp>
      <p:sp>
        <p:nvSpPr>
          <p:cNvPr id="9" name="Rectangle 36">
            <a:extLst>
              <a:ext uri="{FF2B5EF4-FFF2-40B4-BE49-F238E27FC236}">
                <a16:creationId xmlns:a16="http://schemas.microsoft.com/office/drawing/2014/main" id="{6F9F4140-2E39-4E90-BB99-CC1546A12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212976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0</a:t>
            </a:r>
          </a:p>
        </p:txBody>
      </p:sp>
      <p:sp>
        <p:nvSpPr>
          <p:cNvPr id="10" name="Rectangle 36">
            <a:extLst>
              <a:ext uri="{FF2B5EF4-FFF2-40B4-BE49-F238E27FC236}">
                <a16:creationId xmlns:a16="http://schemas.microsoft.com/office/drawing/2014/main" id="{BD579ECB-F5AC-49B5-AA75-88BD1D2BC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3645024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x</a:t>
            </a:r>
          </a:p>
        </p:txBody>
      </p:sp>
      <p:sp>
        <p:nvSpPr>
          <p:cNvPr id="11" name="Rectangle 36">
            <a:extLst>
              <a:ext uri="{FF2B5EF4-FFF2-40B4-BE49-F238E27FC236}">
                <a16:creationId xmlns:a16="http://schemas.microsoft.com/office/drawing/2014/main" id="{60557795-DE47-46D9-AAAC-04752AC25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077072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y</a:t>
            </a:r>
          </a:p>
        </p:txBody>
      </p:sp>
      <p:sp>
        <p:nvSpPr>
          <p:cNvPr id="12" name="Rectangle 36">
            <a:extLst>
              <a:ext uri="{FF2B5EF4-FFF2-40B4-BE49-F238E27FC236}">
                <a16:creationId xmlns:a16="http://schemas.microsoft.com/office/drawing/2014/main" id="{3DDEAEF9-9AC3-4EA9-81D0-A885546DE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558924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…</a:t>
            </a: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22817C99-02BE-4553-9640-0DA543B42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1880" y="4509120"/>
            <a:ext cx="2520280" cy="3810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xtLst/>
        </p:spPr>
        <p:txBody>
          <a:bodyPr wrap="none" anchor="ctr"/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dirty="0">
                <a:solidFill>
                  <a:srgbClr val="000000"/>
                </a:solidFill>
                <a:latin typeface="Comic Sans MS" charset="0"/>
                <a:ea typeface="ＭＳ Ｐゴシック" charset="-128"/>
              </a:rPr>
              <a:t>x + y</a:t>
            </a:r>
          </a:p>
        </p:txBody>
      </p:sp>
      <p:sp>
        <p:nvSpPr>
          <p:cNvPr id="14" name="Text Box 65">
            <a:extLst>
              <a:ext uri="{FF2B5EF4-FFF2-40B4-BE49-F238E27FC236}">
                <a16:creationId xmlns:a16="http://schemas.microsoft.com/office/drawing/2014/main" id="{AF18EC18-29A1-4B79-BB8F-FB46FC0BE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3212976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R0</a:t>
            </a:r>
          </a:p>
        </p:txBody>
      </p:sp>
      <p:sp>
        <p:nvSpPr>
          <p:cNvPr id="15" name="Text Box 65">
            <a:extLst>
              <a:ext uri="{FF2B5EF4-FFF2-40B4-BE49-F238E27FC236}">
                <a16:creationId xmlns:a16="http://schemas.microsoft.com/office/drawing/2014/main" id="{E3D17057-19C4-4130-B557-BD2653545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4300" y="3645024"/>
            <a:ext cx="433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R1</a:t>
            </a:r>
          </a:p>
        </p:txBody>
      </p:sp>
      <p:sp>
        <p:nvSpPr>
          <p:cNvPr id="16" name="Text Box 65">
            <a:extLst>
              <a:ext uri="{FF2B5EF4-FFF2-40B4-BE49-F238E27FC236}">
                <a16:creationId xmlns:a16="http://schemas.microsoft.com/office/drawing/2014/main" id="{2BC28E44-BA71-42B2-BF08-5A08E4218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077072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R2</a:t>
            </a:r>
          </a:p>
        </p:txBody>
      </p:sp>
      <p:sp>
        <p:nvSpPr>
          <p:cNvPr id="17" name="Text Box 65">
            <a:extLst>
              <a:ext uri="{FF2B5EF4-FFF2-40B4-BE49-F238E27FC236}">
                <a16:creationId xmlns:a16="http://schemas.microsoft.com/office/drawing/2014/main" id="{28BC1EBD-259E-4B23-BF85-13920F1EC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816" y="4499828"/>
            <a:ext cx="4706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R3</a:t>
            </a:r>
          </a:p>
        </p:txBody>
      </p:sp>
      <p:sp>
        <p:nvSpPr>
          <p:cNvPr id="18" name="Text Box 65">
            <a:extLst>
              <a:ext uri="{FF2B5EF4-FFF2-40B4-BE49-F238E27FC236}">
                <a16:creationId xmlns:a16="http://schemas.microsoft.com/office/drawing/2014/main" id="{9E925B22-A251-47A2-A88D-8CDD4FB05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848" y="5589240"/>
            <a:ext cx="5745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>
                <a:solidFill>
                  <a:srgbClr val="000000"/>
                </a:solidFill>
                <a:latin typeface="Comic Sans MS" charset="0"/>
              </a:rPr>
              <a:t>R31</a:t>
            </a: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sp>
        <p:nvSpPr>
          <p:cNvPr id="19" name="Text Box 65">
            <a:extLst>
              <a:ext uri="{FF2B5EF4-FFF2-40B4-BE49-F238E27FC236}">
                <a16:creationId xmlns:a16="http://schemas.microsoft.com/office/drawing/2014/main" id="{64097F64-CF6F-4792-8444-6C0611687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708920"/>
            <a:ext cx="136815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0" hangingPunct="0">
              <a:spcBef>
                <a:spcPct val="0"/>
              </a:spcBef>
              <a:buClrTx/>
              <a:buSzTx/>
            </a:pPr>
            <a:r>
              <a:rPr lang="en-US" sz="1800" b="0" dirty="0" err="1">
                <a:solidFill>
                  <a:srgbClr val="000000"/>
                </a:solidFill>
                <a:latin typeface="Comic Sans MS" charset="0"/>
              </a:rPr>
              <a:t>Reg</a:t>
            </a: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 File</a:t>
            </a:r>
          </a:p>
          <a:p>
            <a:pPr eaLnBrk="0" hangingPunct="0">
              <a:spcBef>
                <a:spcPct val="0"/>
              </a:spcBef>
              <a:buClrTx/>
              <a:buSzTx/>
            </a:pPr>
            <a:endParaRPr lang="en-US" sz="1800" b="0" dirty="0">
              <a:solidFill>
                <a:srgbClr val="000000"/>
              </a:solidFill>
              <a:latin typeface="Comic Sans MS" charset="0"/>
            </a:endParaRPr>
          </a:p>
        </p:txBody>
      </p:sp>
      <p:grpSp>
        <p:nvGrpSpPr>
          <p:cNvPr id="20" name="Group 11">
            <a:extLst>
              <a:ext uri="{FF2B5EF4-FFF2-40B4-BE49-F238E27FC236}">
                <a16:creationId xmlns:a16="http://schemas.microsoft.com/office/drawing/2014/main" id="{B0C4C507-23FB-4C46-BE51-E4AC0E962F9B}"/>
              </a:ext>
            </a:extLst>
          </p:cNvPr>
          <p:cNvGrpSpPr>
            <a:grpSpLocks/>
          </p:cNvGrpSpPr>
          <p:nvPr/>
        </p:nvGrpSpPr>
        <p:grpSpPr bwMode="auto">
          <a:xfrm>
            <a:off x="6859041" y="1757561"/>
            <a:ext cx="449263" cy="1095375"/>
            <a:chOff x="3360" y="2112"/>
            <a:chExt cx="283" cy="816"/>
          </a:xfrm>
        </p:grpSpPr>
        <p:grpSp>
          <p:nvGrpSpPr>
            <p:cNvPr id="21" name="Group 12">
              <a:extLst>
                <a:ext uri="{FF2B5EF4-FFF2-40B4-BE49-F238E27FC236}">
                  <a16:creationId xmlns:a16="http://schemas.microsoft.com/office/drawing/2014/main" id="{AECD832A-50F4-418A-81C4-75396A6835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2112"/>
              <a:ext cx="283" cy="816"/>
              <a:chOff x="3360" y="2112"/>
              <a:chExt cx="283" cy="816"/>
            </a:xfrm>
          </p:grpSpPr>
          <p:sp>
            <p:nvSpPr>
              <p:cNvPr id="23" name="AutoShape 13">
                <a:extLst>
                  <a:ext uri="{FF2B5EF4-FFF2-40B4-BE49-F238E27FC236}">
                    <a16:creationId xmlns:a16="http://schemas.microsoft.com/office/drawing/2014/main" id="{24A43511-25F4-4766-9325-C1636E4887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-5400000">
                <a:off x="3101" y="2386"/>
                <a:ext cx="816" cy="268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500 w 21600"/>
                  <a:gd name="T13" fmla="*/ 4513 h 21600"/>
                  <a:gd name="T14" fmla="*/ 17100 w 21600"/>
                  <a:gd name="T15" fmla="*/ 17087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sz="1000" b="1">
                  <a:solidFill>
                    <a:srgbClr val="000000"/>
                  </a:solidFill>
                  <a:latin typeface="Comic Sans MS" charset="0"/>
                  <a:ea typeface="ＭＳ Ｐゴシック" charset="-128"/>
                </a:endParaRPr>
              </a:p>
            </p:txBody>
          </p:sp>
          <p:sp>
            <p:nvSpPr>
              <p:cNvPr id="24" name="AutoShape 14">
                <a:extLst>
                  <a:ext uri="{FF2B5EF4-FFF2-40B4-BE49-F238E27FC236}">
                    <a16:creationId xmlns:a16="http://schemas.microsoft.com/office/drawing/2014/main" id="{AC2EA16C-70EC-4744-AF7F-4132F0200F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rot="5400000">
                <a:off x="3301" y="2419"/>
                <a:ext cx="247" cy="129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eaLnBrk="0" hangingPunct="0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sz="1600" b="1">
                  <a:solidFill>
                    <a:srgbClr val="FC0128"/>
                  </a:solidFill>
                  <a:latin typeface="Arial" charset="0"/>
                  <a:ea typeface="ＭＳ Ｐゴシック" charset="-128"/>
                </a:endParaRPr>
              </a:p>
            </p:txBody>
          </p:sp>
          <p:sp>
            <p:nvSpPr>
              <p:cNvPr id="25" name="Text Box 15">
                <a:extLst>
                  <a:ext uri="{FF2B5EF4-FFF2-40B4-BE49-F238E27FC236}">
                    <a16:creationId xmlns:a16="http://schemas.microsoft.com/office/drawing/2014/main" id="{8FAB77AE-767B-44FC-A067-B8A18B452FFB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 rot="5400000">
                <a:off x="3280" y="2416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1pPr>
                <a:lvl2pPr marL="37931725" indent="-37474525"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2pPr>
                <a:lvl3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3pPr>
                <a:lvl4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4pPr>
                <a:lvl5pPr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5pPr>
                <a:lvl6pPr marL="4572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6pPr>
                <a:lvl7pPr marL="9144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7pPr>
                <a:lvl8pPr marL="13716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8pPr>
                <a:lvl9pPr marL="1828800" eaLnBrk="0" fontAlgn="base" hangingPunct="0">
                  <a:spcBef>
                    <a:spcPct val="50000"/>
                  </a:spcBef>
                  <a:spcAft>
                    <a:spcPct val="0"/>
                  </a:spcAft>
                  <a:defRPr sz="1600" b="1">
                    <a:solidFill>
                      <a:schemeClr val="hlink"/>
                    </a:solidFill>
                    <a:latin typeface="Arial" charset="0"/>
                    <a:ea typeface="ＭＳ Ｐゴシック" charset="-128"/>
                  </a:defRPr>
                </a:lvl9pPr>
              </a:lstStyle>
              <a:p>
                <a:pPr algn="ctr" eaLnBrk="0" hangingPunct="0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sz="1800" dirty="0">
                    <a:solidFill>
                      <a:srgbClr val="000000"/>
                    </a:solidFill>
                    <a:latin typeface="Comic Sans MS" charset="0"/>
                  </a:rPr>
                  <a:t>ALU</a:t>
                </a:r>
                <a:endParaRPr lang="en-US" sz="1000" dirty="0">
                  <a:solidFill>
                    <a:srgbClr val="000000"/>
                  </a:solidFill>
                  <a:latin typeface="Comic Sans MS" charset="0"/>
                </a:endParaRPr>
              </a:p>
            </p:txBody>
          </p:sp>
        </p:grp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FA63508C-8604-4315-B575-95A551FB75A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07" y="2425"/>
              <a:ext cx="245" cy="115"/>
            </a:xfrm>
            <a:custGeom>
              <a:avLst/>
              <a:gdLst>
                <a:gd name="T0" fmla="*/ 0 w 384"/>
                <a:gd name="T1" fmla="*/ 3 h 288"/>
                <a:gd name="T2" fmla="*/ 20 w 384"/>
                <a:gd name="T3" fmla="*/ 0 h 288"/>
                <a:gd name="T4" fmla="*/ 41 w 384"/>
                <a:gd name="T5" fmla="*/ 3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0" hangingPunct="0">
                <a:spcBef>
                  <a:spcPct val="50000"/>
                </a:spcBef>
                <a:buClrTx/>
                <a:buSzTx/>
                <a:buFontTx/>
                <a:buNone/>
              </a:pPr>
              <a:endParaRPr lang="en-US" sz="1600" b="1">
                <a:solidFill>
                  <a:srgbClr val="FC0128"/>
                </a:solidFill>
                <a:latin typeface="Arial" charset="0"/>
                <a:ea typeface="ＭＳ Ｐゴシック" charset="-128"/>
              </a:endParaRPr>
            </a:p>
          </p:txBody>
        </p:sp>
      </p:grpSp>
      <p:sp>
        <p:nvSpPr>
          <p:cNvPr id="26" name="Line 37">
            <a:extLst>
              <a:ext uri="{FF2B5EF4-FFF2-40B4-BE49-F238E27FC236}">
                <a16:creationId xmlns:a16="http://schemas.microsoft.com/office/drawing/2014/main" id="{AB6849B5-3C2C-4C6F-A888-75E74F7539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19735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7" name="Line 38">
            <a:extLst>
              <a:ext uri="{FF2B5EF4-FFF2-40B4-BE49-F238E27FC236}">
                <a16:creationId xmlns:a16="http://schemas.microsoft.com/office/drawing/2014/main" id="{2BCFA9F0-0F8E-466D-9A76-E6BEF1AE9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0441" y="258318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8" name="Line 37">
            <a:extLst>
              <a:ext uri="{FF2B5EF4-FFF2-40B4-BE49-F238E27FC236}">
                <a16:creationId xmlns:a16="http://schemas.microsoft.com/office/drawing/2014/main" id="{365E692D-CB9B-4889-BCAE-D819E40D2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312" y="2276872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hangingPunct="0">
              <a:spcBef>
                <a:spcPct val="50000"/>
              </a:spcBef>
              <a:buClrTx/>
              <a:buSzTx/>
              <a:buFontTx/>
              <a:buNone/>
            </a:pPr>
            <a:endParaRPr lang="en-US" sz="1600" b="1">
              <a:solidFill>
                <a:srgbClr val="FC0128"/>
              </a:solidFill>
              <a:latin typeface="Arial" charset="0"/>
              <a:ea typeface="ＭＳ Ｐゴシック" charset="-128"/>
            </a:endParaRPr>
          </a:p>
        </p:txBody>
      </p:sp>
      <p:sp>
        <p:nvSpPr>
          <p:cNvPr id="29" name="Text Box 65">
            <a:extLst>
              <a:ext uri="{FF2B5EF4-FFF2-40B4-BE49-F238E27FC236}">
                <a16:creationId xmlns:a16="http://schemas.microsoft.com/office/drawing/2014/main" id="{1A2A6230-51A1-49B0-812B-793BCB3E8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3314" y="1556792"/>
            <a:ext cx="3209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x</a:t>
            </a:r>
          </a:p>
        </p:txBody>
      </p:sp>
      <p:sp>
        <p:nvSpPr>
          <p:cNvPr id="30" name="Text Box 65">
            <a:extLst>
              <a:ext uri="{FF2B5EF4-FFF2-40B4-BE49-F238E27FC236}">
                <a16:creationId xmlns:a16="http://schemas.microsoft.com/office/drawing/2014/main" id="{CDFDA891-409C-4303-BE3E-715C894D6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283" y="2564904"/>
            <a:ext cx="30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y</a:t>
            </a:r>
          </a:p>
        </p:txBody>
      </p:sp>
      <p:sp>
        <p:nvSpPr>
          <p:cNvPr id="31" name="Text Box 65">
            <a:extLst>
              <a:ext uri="{FF2B5EF4-FFF2-40B4-BE49-F238E27FC236}">
                <a16:creationId xmlns:a16="http://schemas.microsoft.com/office/drawing/2014/main" id="{FA4739E4-E604-4591-AF7C-0C4E5CF56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312" y="2060848"/>
            <a:ext cx="11521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1pPr>
            <a:lvl2pPr marL="37931725" indent="-37474525"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2pPr>
            <a:lvl3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3pPr>
            <a:lvl4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4pPr>
            <a:lvl5pPr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50000"/>
              </a:spcBef>
              <a:spcAft>
                <a:spcPct val="0"/>
              </a:spcAft>
              <a:defRPr sz="1600" b="1">
                <a:solidFill>
                  <a:schemeClr val="hlink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sz="1800" b="0" dirty="0">
                <a:solidFill>
                  <a:srgbClr val="000000"/>
                </a:solidFill>
                <a:latin typeface="Comic Sans MS" charset="0"/>
              </a:rPr>
              <a:t>x + y</a:t>
            </a:r>
          </a:p>
        </p:txBody>
      </p:sp>
    </p:spTree>
    <p:extLst>
      <p:ext uri="{BB962C8B-B14F-4D97-AF65-F5344CB8AC3E}">
        <p14:creationId xmlns:p14="http://schemas.microsoft.com/office/powerpoint/2010/main" val="30364657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dZkZuRo4kO5KlulchSHL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jr9yLR6dESp92i.jUae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JP.NxCAIkODDeGTX6hk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j6J5YpVpUWcXirqsVerr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zLF0WJW5EyJOICodr4e_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AqiBjI2F0qmvARk_Plqv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ank">
  <a:themeElements>
    <a:clrScheme name="Bits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FCB017"/>
      </a:accent1>
      <a:accent2>
        <a:srgbClr val="76C2E5"/>
      </a:accent2>
      <a:accent3>
        <a:srgbClr val="FF0000"/>
      </a:accent3>
      <a:accent4>
        <a:srgbClr val="002960"/>
      </a:accent4>
      <a:accent5>
        <a:srgbClr val="FF6600"/>
      </a:accent5>
      <a:accent6>
        <a:srgbClr val="808080"/>
      </a:accent6>
      <a:hlink>
        <a:srgbClr val="FF0000"/>
      </a:hlink>
      <a:folHlink>
        <a:srgbClr val="002960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BCBCBC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839FE7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FFFFFF"/>
        </a:accent3>
        <a:accent4>
          <a:srgbClr val="000000"/>
        </a:accent4>
        <a:accent5>
          <a:srgbClr val="E0EDFD"/>
        </a:accent5>
        <a:accent6>
          <a:srgbClr val="B4B085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e4c5d55882585bd6271afc1eaa94dc05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b28abb879d7b9fc593b7f3af627667ed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200E16-354E-4BFC-AF9F-218E01ADE1C1}"/>
</file>

<file path=customXml/itemProps2.xml><?xml version="1.0" encoding="utf-8"?>
<ds:datastoreItem xmlns:ds="http://schemas.openxmlformats.org/officeDocument/2006/customXml" ds:itemID="{44752176-919C-4D92-A778-0DB90636B543}"/>
</file>

<file path=customXml/itemProps3.xml><?xml version="1.0" encoding="utf-8"?>
<ds:datastoreItem xmlns:ds="http://schemas.openxmlformats.org/officeDocument/2006/customXml" ds:itemID="{95211123-B4DD-4558-81C0-1D93D8242F2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4776</TotalTime>
  <Words>1914</Words>
  <Application>Microsoft Office PowerPoint</Application>
  <PresentationFormat>On-screen Show (4:3)</PresentationFormat>
  <Paragraphs>397</Paragraphs>
  <Slides>34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ＭＳ Ｐゴシック</vt:lpstr>
      <vt:lpstr>宋体</vt:lpstr>
      <vt:lpstr>Arial</vt:lpstr>
      <vt:lpstr>Arial Unicode MS</vt:lpstr>
      <vt:lpstr>Calibri</vt:lpstr>
      <vt:lpstr>Comic Sans MS</vt:lpstr>
      <vt:lpstr>Wingdings</vt:lpstr>
      <vt:lpstr>Office Theme</vt:lpstr>
      <vt:lpstr>Blank</vt:lpstr>
      <vt:lpstr>think-cell Slide</vt:lpstr>
      <vt:lpstr>PowerPoint Presentation</vt:lpstr>
      <vt:lpstr>What is Superscalar?</vt:lpstr>
      <vt:lpstr>Superscalar v Superpipelined</vt:lpstr>
      <vt:lpstr>Superscalar approach</vt:lpstr>
      <vt:lpstr>Effect of  Dependencies</vt:lpstr>
      <vt:lpstr>Effect of  Dependencies</vt:lpstr>
      <vt:lpstr>Dependency due to memory Cycle </vt:lpstr>
      <vt:lpstr>Design Issues:Instruction-Level Parallelism and Machine Parallelism</vt:lpstr>
      <vt:lpstr>Instruction Issue Policy</vt:lpstr>
      <vt:lpstr>superscalar instruction issue policies</vt:lpstr>
      <vt:lpstr>In-Order Issue In-Order Completion (Diagram)</vt:lpstr>
      <vt:lpstr>In-Order Issue Out-of-Order Completion (Diagram)</vt:lpstr>
      <vt:lpstr>In-Order Issue Out-of-Order Completion</vt:lpstr>
      <vt:lpstr>Out-of-Order Issue Out-of-Order Completion</vt:lpstr>
      <vt:lpstr>Antidependency</vt:lpstr>
      <vt:lpstr>Reduced Instruction Set Computer</vt:lpstr>
      <vt:lpstr>Basic Pipelining: A "Typical" RISC ISA</vt:lpstr>
      <vt:lpstr>A simple implementation of a RISC Instruction Set</vt:lpstr>
      <vt:lpstr>A simple implementation of a RISC Instruction Set</vt:lpstr>
      <vt:lpstr>An example of an instruction execution</vt:lpstr>
      <vt:lpstr>Instruction Fetch (IF)</vt:lpstr>
      <vt:lpstr>Instruction Fetch (IF)</vt:lpstr>
      <vt:lpstr>Instruction Fetch (IF)</vt:lpstr>
      <vt:lpstr>Instruction Fetch (IF)</vt:lpstr>
      <vt:lpstr>Instruction Decode (ID)</vt:lpstr>
      <vt:lpstr>Instruction Decode (ID)</vt:lpstr>
      <vt:lpstr>Instruction Decode (ID)</vt:lpstr>
      <vt:lpstr>Instruction Decode (ID)</vt:lpstr>
      <vt:lpstr>PowerPoint Presentation</vt:lpstr>
      <vt:lpstr>Instruction Decode (ID)</vt:lpstr>
      <vt:lpstr>Execution (EX)</vt:lpstr>
      <vt:lpstr>Execution (EX)</vt:lpstr>
      <vt:lpstr>Writeback (WB)</vt:lpstr>
      <vt:lpstr>Writeback (WB)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RAJESH KUMAR TIWARY .</cp:lastModifiedBy>
  <cp:revision>319</cp:revision>
  <dcterms:created xsi:type="dcterms:W3CDTF">2011-09-14T09:42:05Z</dcterms:created>
  <dcterms:modified xsi:type="dcterms:W3CDTF">2024-05-17T12:00:55Z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