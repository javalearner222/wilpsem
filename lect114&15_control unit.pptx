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ppt/tags/tag10.xml" ContentType="application/vnd.openxmlformats-officedocument.presentationml.tags+xml"/>
  <Override PartName="/ppt/tags/tag9.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11.xml" ContentType="application/vnd.openxmlformats-officedocument.presentationml.tags+xml"/>
  <Override PartName="/ppt/tags/tag6.xml" ContentType="application/vnd.openxmlformats-officedocument.presentationml.tags+xml"/>
  <Override PartName="/ppt/tags/tag5.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8"/>
  </p:notesMasterIdLst>
  <p:sldIdLst>
    <p:sldId id="260" r:id="rId3"/>
    <p:sldId id="396" r:id="rId4"/>
    <p:sldId id="465" r:id="rId5"/>
    <p:sldId id="464" r:id="rId6"/>
    <p:sldId id="397" r:id="rId7"/>
    <p:sldId id="398" r:id="rId8"/>
    <p:sldId id="400" r:id="rId9"/>
    <p:sldId id="466" r:id="rId10"/>
    <p:sldId id="467" r:id="rId11"/>
    <p:sldId id="399" r:id="rId12"/>
    <p:sldId id="402" r:id="rId13"/>
    <p:sldId id="403" r:id="rId14"/>
    <p:sldId id="404" r:id="rId15"/>
    <p:sldId id="406" r:id="rId16"/>
    <p:sldId id="401" r:id="rId17"/>
    <p:sldId id="405" r:id="rId18"/>
    <p:sldId id="407" r:id="rId19"/>
    <p:sldId id="409" r:id="rId20"/>
    <p:sldId id="408" r:id="rId21"/>
    <p:sldId id="411" r:id="rId22"/>
    <p:sldId id="468" r:id="rId23"/>
    <p:sldId id="410" r:id="rId24"/>
    <p:sldId id="413" r:id="rId25"/>
    <p:sldId id="426" r:id="rId26"/>
    <p:sldId id="427" r:id="rId27"/>
    <p:sldId id="428" r:id="rId28"/>
    <p:sldId id="421" r:id="rId29"/>
    <p:sldId id="422" r:id="rId30"/>
    <p:sldId id="458" r:id="rId31"/>
    <p:sldId id="261" r:id="rId32"/>
    <p:sldId id="470" r:id="rId33"/>
    <p:sldId id="485" r:id="rId34"/>
    <p:sldId id="332" r:id="rId35"/>
    <p:sldId id="469" r:id="rId36"/>
    <p:sldId id="333" r:id="rId37"/>
    <p:sldId id="424" r:id="rId38"/>
    <p:sldId id="474" r:id="rId39"/>
    <p:sldId id="483" r:id="rId40"/>
    <p:sldId id="475" r:id="rId41"/>
    <p:sldId id="482" r:id="rId42"/>
    <p:sldId id="476" r:id="rId43"/>
    <p:sldId id="477" r:id="rId44"/>
    <p:sldId id="478" r:id="rId45"/>
    <p:sldId id="479" r:id="rId46"/>
    <p:sldId id="480" r:id="rId47"/>
    <p:sldId id="481" r:id="rId48"/>
    <p:sldId id="412" r:id="rId49"/>
    <p:sldId id="416" r:id="rId50"/>
    <p:sldId id="417" r:id="rId51"/>
    <p:sldId id="473" r:id="rId52"/>
    <p:sldId id="472" r:id="rId53"/>
    <p:sldId id="418" r:id="rId54"/>
    <p:sldId id="415" r:id="rId55"/>
    <p:sldId id="471" r:id="rId56"/>
    <p:sldId id="484"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94660"/>
  </p:normalViewPr>
  <p:slideViewPr>
    <p:cSldViewPr>
      <p:cViewPr>
        <p:scale>
          <a:sx n="81" d="100"/>
          <a:sy n="81" d="100"/>
        </p:scale>
        <p:origin x="360" y="-115"/>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97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customXml" Target="../customXml/item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customXml" Target="../customXml/item2.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65"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3-18T05:21:16.052"/>
    </inkml:context>
    <inkml:brush xml:id="br0">
      <inkml:brushProperty name="width" value="0.05292" units="cm"/>
      <inkml:brushProperty name="height" value="0.05292" units="cm"/>
      <inkml:brushProperty name="color" value="#FF0000"/>
    </inkml:brush>
  </inkml:definitions>
  <inkml:trace contextRef="#ctx0" brushRef="#br0">9176 8703 162 0,'0'0'274'0,"0"0"-195"16,0 0 8-16,0 0-7 15,0 0-31-15,0 0-33 16,0 0 1-16,0 0 2 16,7-3-6-16,-7 3 2 15,0 0-15-15,0 0 0 16,0 0-78-16,2 3-194 15,1 9 131-15,1-5-87 16</inkml:trace>
  <inkml:trace contextRef="#ctx0" brushRef="#br0" timeOffset="804.35">5915 11064 43 0,'0'0'80'16,"0"0"-2"-16,0 0-3 15,0 0-17-15,0 0-24 16,0 0-14-16,-2 0-1 16,2 0 8-16,0 0-11 0,0 0-16 15,-2 0-10-15,0 0-183 16</inkml:trace>
  <inkml:trace contextRef="#ctx0" brushRef="#br0" timeOffset="6534.99">6034 11136 200 0,'0'0'68'16,"0"0"-62"-16,0 0-5 15,0 0-1-15,0 0-4 16,0 0-3-16,0 0-6 16,10 11-30-16,8-5-31 15</inkml:trace>
  <inkml:trace contextRef="#ctx0" brushRef="#br0" timeOffset="7500.47">10759 11321 300 0,'0'0'62'0,"0"0"-60"15,0 0 3-15,0 0 3 16,0 0-8-16,0 0-94 15,13 0 4-15,-5 7 15 16</inkml:trace>
  <inkml:trace contextRef="#ctx0" brushRef="#br0" timeOffset="15738.74">4575 10805 45 0,'0'0'53'16,"0"0"-2"-16,0 0-14 16,0 0 54-16,0 0-30 15,0 0-31-15,0 0-11 0,-10-9-2 16,10 9 3 0,0 0-5-16,0 0-8 0,0 0-5 15,0 0-1-15,0 0-1 16,0 0 0-16,0 0 0 15,0 0 3-15,0 0-2 16,0 0 5-16,0 0 11 16,0 0 3-16,0 0 10 15,0 0-1-15,0 0-5 16,0 0-9-16,0 0-15 16,0 0-5-16,10 0-56 15,22-3-15-15,5-2-16 16,10-9-162-16</inkml:trace>
  <inkml:trace contextRef="#ctx0" brushRef="#br0" timeOffset="17752.57">2202 15061 462 0,'0'0'0'16,"0"0"-160"-16,0 0-31 15,0 0 167-15,0 0-4 16</inkml:trace>
  <inkml:trace contextRef="#ctx0" brushRef="#br0" timeOffset="28743.68">8768 11825 220 0,'0'0'201'0,"0"0"-147"16,0 0-44-16,0 0-7 0,0 0 20 16,0 0-22-1,0 0-1-15,7 15-89 0,0 0-84 16,0 2 109-16,-3 2-121 15</inkml:trace>
  <inkml:trace contextRef="#ctx0" brushRef="#br0" timeOffset="29274.02">8405 13922 159 0,'0'0'0'15,"0"0"-22"-15,0 0-47 0,0 0 60 16,0 0 6-16,0 0-8 16</inkml:trace>
  <inkml:trace contextRef="#ctx0" brushRef="#br0" timeOffset="31639.02">4899 15825 360 0,'0'0'96'16,"0"0"-91"-16,0 0-5 15,0 0 0-15,0 0 2 16,0 0 11-16,-4 8-6 15,4-8 1-15,0 0 8 0,0 0 13 16,0 3-3 0,0-2-18-16,0 1 9 0,0-2-1 15,0 2-11-15,0-2 10 16,0 0 8-16,0 0 3 16,0 0-12-16,0 0-4 15,0 0 4-15,19 0-9 16,33 0 6-16,28-4-11 15,20-22-75-15,15-18-261 16</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3-04T05:23:17.907"/>
    </inkml:context>
    <inkml:brush xml:id="br0">
      <inkml:brushProperty name="width" value="0.05292" units="cm"/>
      <inkml:brushProperty name="height" value="0.05292" units="cm"/>
      <inkml:brushProperty name="color" value="#FF0000"/>
    </inkml:brush>
    <inkml:context xml:id="ctx1">
      <inkml:inkSource xml:id="inkSrc3">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1" timeString="2023-03-04T05:23:24.380"/>
    </inkml:context>
  </inkml:definitions>
  <inkml:trace contextRef="#ctx0" brushRef="#br0">17041 9971 0</inkml:trace>
  <inkml:trace contextRef="#ctx0" brushRef="#br0" timeOffset="312.14">13668 8682 0</inkml:trace>
  <inkml:trace contextRef="#ctx0" brushRef="#br0" timeOffset="493.75">12552 7962 0</inkml:trace>
  <inkml:trace contextRef="#ctx1" brushRef="#br0">3433 7939 5 0,'0'0'68'0,"0"0"-23"0,0 0 18 15,0 0-41-15,0 0-19 16,0 0 2-16,0 0 4 16,8-26-6-16,-6 26-3 15,5 0-61-15,-5 0-52 16</inkml:trace>
  <inkml:trace contextRef="#ctx1" brushRef="#br0" timeOffset="2323.11">4914 14395 49 0,'0'0'651'0,"0"0"-563"16,0 0-65-16,0 0-3 15,0 0 11-15,0 0 6 16,0 5-9-16,0-5-19 16,0 1-4-16,0-1-3 15,0 0 5-15,0 0 1 16,0 0-2-16,0 0 4 16,0 0-2-16,0 0 2 15,0 0 0-15,0 0-4 16,0 0 0-16,0 0-6 15,12-10 2-15,30-34-2 16,24-22-1-16,38-24-2 16,18-10-37-16,7-9-59 15,-8-9-526-15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3-25T05:16:52.799"/>
    </inkml:context>
    <inkml:brush xml:id="br0">
      <inkml:brushProperty name="width" value="0.05292" units="cm"/>
      <inkml:brushProperty name="height" value="0.05292" units="cm"/>
      <inkml:brushProperty name="color" value="#FF0000"/>
    </inkml:brush>
  </inkml:definitions>
  <inkml:trace contextRef="#ctx0" brushRef="#br0">6191 3778 79 0,'0'0'120'0,"0"0"-25"15,0 0-87-15,0 0 47 16,0 0-6-16,0 0-3 15,0 0-35-15,-21-29-9 16,19 29-1-16,2 0 0 16,0 0-1-16,0 0-4 15,-3 3-72-15,-2 12 17 16,-4 6 55-16,2-4-77 16,2-5-74-16</inkml:trace>
  <inkml:trace contextRef="#ctx0" brushRef="#br0" timeOffset="796.3">7331 5659 483 0,'0'0'118'16,"0"0"-55"-16,0 0-63 16,0 0-2-16,0 0-38 15,0 0-23-15,-12 26 11 0,12-2 6 16,0 0-44-16,0-8-139 15</inkml:trace>
  <inkml:trace contextRef="#ctx0" brushRef="#br0" timeOffset="1282.34">10774 5496 365 0,'0'0'54'0,"0"0"20"0,0 0-52 16,0 0 15-16,0 0-1 15,0 0-24-15,-23-6-12 16,23 6-4-16,0 14 0 16,0 7-8-16,0 8-21 15,0-2-45-15,0-8-45 16,0-13-222-16</inkml:trace>
  <inkml:trace contextRef="#ctx0" brushRef="#br0" timeOffset="1566.05">12780 5538 544 0,'0'0'18'0,"0"0"-18"15,0 0-57-15,0 0-91 16,0 0-36-16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3-25T05:24:31.719"/>
    </inkml:context>
    <inkml:brush xml:id="br0">
      <inkml:brushProperty name="width" value="0.05292" units="cm"/>
      <inkml:brushProperty name="height" value="0.05292" units="cm"/>
      <inkml:brushProperty name="color" value="#FF0000"/>
    </inkml:brush>
  </inkml:definitions>
  <inkml:trace contextRef="#ctx0" brushRef="#br0">6901 12154 587 0,'0'0'171'15,"0"0"-107"-15,0 0-22 0,0 0-25 16,0 0 8-16,0 0 21 16,0 0-29-16,0-21-17 15,0 21-17-15,0 17-111 16,0 9-151-16,0-2-81 15</inkml:trace>
  <inkml:trace contextRef="#ctx0" brushRef="#br0" timeOffset="753.8">8010 15633 151 0,'0'0'522'16,"0"0"-491"-16,0 0 18 15,0 0-7-15,0 0 20 16,0 0-27-16,-35 0-25 16,35 0-2-16,0 0-6 0,0 0-2 15,0 0 3-15,0 0-2 16,0 0 0-16,0 0 0 15,0 0 0-15,0 0 0 16,0 0 0-16,0 0-1 16,0 0 0-16,0 0 3 15,0 0-3-15,0 0 0 16,0 0 0-16,0 0 0 16,0 0 0-16,0 0 0 15,0 0-2-15,0 0 6 16,0 0-4-16,0 0 1 15,0 0-2-15,0 0 2 16,0 0 0-16,0 0 0 16,0 0-1-16,0 0 0 15,0 0 1-15,0 0-1 0,0 0-1 16,0 0-10-16,0 0-33 16,0 0-30-16,0 0-47 15,0 0-10-15,0 0 11 16,8 0 49-16,1 0 33 15,-1-4-197-15</inkml:trace>
  <inkml:trace contextRef="#ctx0" brushRef="#br0" timeOffset="1817.13">14099 8168 442 0,'0'0'0'0</inkml:trace>
  <inkml:trace contextRef="#ctx0" brushRef="#br0" timeOffset="2199.32">13679 10714 724 0,'0'0'0'15,"0"0"-45"-15,0 0-174 0,0 0 99 16,0 0-48-16</inkml:trace>
  <inkml:trace contextRef="#ctx0" brushRef="#br0" timeOffset="2854.43">16317 7710 588 0,'0'0'0'0,"0"0"-558"16</inkml:trace>
  <inkml:trace contextRef="#ctx0" brushRef="#br0" timeOffset="3241.78">15382 10120 476 0,'0'0'0'0,"0"0"-76"16,0 0-265-16</inkml:trace>
  <inkml:trace contextRef="#ctx0" brushRef="#br0" timeOffset="4241.84">12433 17183 118 0,'0'0'161'16,"0"0"-119"-16,0 0-11 16,0 0-15-16,0 0-16 15,0 0-9-15,-39 3-71 16,39 6 23-16,0-4-40 0</inkml:trace>
  <inkml:trace contextRef="#ctx0" brushRef="#br0" timeOffset="7385.83">11680 17888 244 0,'0'0'351'0,"0"0"-332"16,0 0-6-16,0 0-1 16,0 0-12-16,0 0-1 15,20 18 1-15,-9-1 7 16,4 1-6-16,3 8-1 15,-2 1 0-15,2 4 2 16,2 1-1-16,2 0-1 16,3-2-1-16,2 2 1 15,2 0-2-15,-1 2-1 16,3-6 2-16,6-1 0 16,-4-5-2-16,3-5 1 0,1-3 2 15,1 1 0 1,3-7 1-16,1 0-1 0,3-4-2 15,1-4 1-15,3 0 1 16,5 0 0-16,3 0 3 16,1 0-1-16,3 0 4 15,-6 0-3-15,-4 0-1 16,2 0 1-16,-6 0-1 16,1 2-4-16,3 5 0 15,-2 2 2-15,1-4 2 16,-2 0-2-16,2 2 0 15,1-4 0-15,6 1 0 16,11 0 0-16,1 0 0 16,6 6 18-16,1-3-14 15,0 7-4-15,0 1-16 0,-3-3 5 16,-1 2 7 0,-1-6 4-16,-2 1 0 0,-2 0-5 15,-4-5-13-15,-3-4-8 16,-4 0 6-16,1 0 17 15,-1-14 1-15,-2-6 1 16,-3 2 2-16,0-1 8 16,0 2-1-16,-1-1 1 15,-2 4-5-15,6 2 10 16,0 1-12-16,-2 8 3 16,3 3-5-16,2 0 0 15,6 0 0-15,11 0-4 0,3 3 4 16,10 11-1-1,5-5-14-15,0 1 4 0,5-2 11 16,0-3 0-16,-2-5 0 16,-2 0 0-16,-3 0 2 15,-10 0-2-15,-4 0-3 16,-7 0 3-16,0-9-1 16,-5 4 1-16,-1-8 1 15,2 3-1-15,-12-2 10 16,3 4 12-16,-5 2-21 15,-1 6 1-15,-3 0-2 16,3-4 3-16,6 0-2 16,5-3-1-16,5 0 0 0,5-1-4 15,7 2-4-15,1-2 6 16,7 0 1-16,3-2 1 16,-2 10 0-16,-4 0-2 15,-7 4 2-15,-12 13-2 16,-8 6-10-16,-2-1 5 15,-3-9 4-15,2 6 3 16,1-5 1-16,4-6-1 16,8-3 1-16,4-5 2 15,3 0 1-15,6 0 0 16,-8-5-1-16,0-7-2 16,-1 2 1-16,-4 2-4 0,-1 2 2 15,2-2-2-15,-1 2-13 16,4-2 0-16,1 4 5 15,0 0 4-15,1 0-1 16,1 4 5-16,6 0 2 16,-1 0 0-16,10 0 0 15,-1 0 0-15,-1 0-1 16,0 0-3-16,-6-6-37 16,-6-3 3-16,-5 0 15 15,-9-5 23-15,-14-7 1 16,-9-2 16-16,-13-4 21 15,-4-2 18-15,-4-4 5 16,-1 1-17-16,-1 2-14 16,1-2 5-16,6 2-18 15,3 2-6-15,7-8-3 0,5 2-2 16,2-2-5-16,1 3-1 16,2 1 0-16,-10-2 0 15,1 6-4-15,-8 2 0 16,-4-6 4-16,-4 6 1 15,-5-4-1-15,-1 2 2 16,0-2 1-16,1 2-1 16,-5-2-2-16,4 2 2 15,-4-3 0-15,1 7 4 16,-1-2 11-16,1 1 1 0,0 6-7 16,-3 1 10-16,1 9-2 15,-1-8-3-15,0 8-11 16,1-6-1-16,0-2-1 15,1 3-3-15,-3 2-1 16,-1-3-19-16,-2-2 16 16,0-4-15-16,0 1 7 15,0-2 7-15,-11 0 1 16,-7 3 0-16,-7 2 3 16,-6 4-1-16,-5 0 2 15,-3-2 1-15,-4 3 0 16,1-2 1-16,2 6-1 15,1-2 4-15,4 3-2 16,4-4 0-16,2 3 7 16,-3-2-7-16,3 2-3 0,-4-1 0 15,-5 4 0-15,-8 1-10 16,-9 4 3-16,-2-3 0 16,-5-4 6-16,-1 0-6 15,-2-2 7-15,1 3 0 16,-7 2-1-16,2 0 1 15,-3-5 0-15,1 4 5 16,4-2-2-16,3-2 6 16,-2 4 13-16,6-4-6 15,-3-2 0-15,3 11-9 16,0-3 0-16,-2 3 0 16,2 0-6-16,-4 0 2 0,7 0-3 15,-3 0 0-15,0 0 0 16,5 0 0-16,-8 0 2 15,1 0-2-15,-3 0 2 16,-6 0-2-16,-5 0 0 16,-7 3-1-16,1 2 2 15,-3 1-1-15,2-2 0 16,-1 1-1-16,-1-2 1 16,-4 3-3-16,-2-1 3 15,1-2 1-15,-1 1 2 16,4-4 3-16,5 5 0 15,2-5 1-15,3 0-1 16,4 0-4-16,2 0 0 16,-1 0-2-16,-1 5 0 15,-5-5 1-15,-4 0 1 0,-3 0-1 16,0 0 0-16,-2 0 0 16,4 0-2-16,-1 0 2 15,4 0 1-15,1 0 5 16,2-5 6-16,8 0-12 15,1 1 6-15,6 1 4 16,2-2-9-16,-1 5 0 16,3 0-2-16,-2 0 0 15,-4 0 0-15,-1 0 0 16,-1 0-1-16,-3 0 2 16,4 0-1-16,3 0 0 0,4 0 0 15,4 0 0-15,0 0 0 16,5 0 4-16,3 0-3 15,0 0-1-15,2-6-1 16,0-2 1-16,-5-7 0 16,-3 8 0-16,-2-7-4 15,0 6 4-15,-4 2 1 16,-7-2 0-16,-3 0-1 16,-5 1-3-16,-3-5 3 15,3 3 1-15,4 1 1 16,7-2-1-16,4 2 6 15,4-3-6-15,4 4 0 16,6 2-1-16,4-4 1 16,4 4-1-16,2 1 1 0,1-1 0 15,0 1-1-15,-3 0 0 16,-2-1 0-16,-2 5 0 16,0 0 0-16,0 0 0 15,-1 0 0-15,1 0 0 16,5 0 0-16,0 0 1 15,-1 0-1-15,0 0 0 16,-3 0 0-16,0 0 3 16,2 0-3-16,0 0 0 15,4 0 0-15,-1 0 2 16,3 0-3-16,5 0 1 16,-3 0-5-16,2 0 5 0,5 0 0 15,-5 0 1 1,5 0-1-16,-5 0 0 0,4 0 1 15,0 9-1-15,-4 0 2 16,-7 9-1-16,-6-1 0 16,-5 3-1-16,0-2 0 15,1 2 1-15,7-10-1 16,8 0-1-16,8-3 1 16,10-2 1-16,5 9-1 15,-4 4-5-15,2 17-1 16,-3 6-40-16,-1 8-73 15,6-23-209-15</inkml:trace>
  <inkml:trace contextRef="#ctx0" brushRef="#br0" timeOffset="11097.15">18229 4110 427 0,'0'0'80'0,"0"0"42"0,0 0-40 16,0 0-29-1,0 0-6-15,0 0-18 0,0 0-14 16,-4-19 1-16,4 19 3 16,0 0 3-16,0 0-2 15,0 0-12-15,0 0-8 16,0 0 0-16,0 0-39 16,0 0-117-16,0 8-161 15,0 7 124-15</inkml:trace>
  <inkml:trace contextRef="#ctx0" brushRef="#br0" timeOffset="11669.35">16987 6559 381 0,'0'0'36'0,"0"0"0"15,0 0-26-15,0 0-10 16,0 0 0-16,0 0-14 16,9-4-32-16,1 4-87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01F8D8-4EAB-496A-BD63-42E204356A3F}" type="datetimeFigureOut">
              <a:rPr lang="en-IN" smtClean="0"/>
              <a:t>25-10-2025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203A0-AC46-4632-B465-BE2342742270}" type="slidenum">
              <a:rPr lang="en-IN" smtClean="0"/>
              <a:t>‹#›</a:t>
            </a:fld>
            <a:endParaRPr lang="en-IN"/>
          </a:p>
        </p:txBody>
      </p:sp>
    </p:spTree>
    <p:extLst>
      <p:ext uri="{BB962C8B-B14F-4D97-AF65-F5344CB8AC3E}">
        <p14:creationId xmlns:p14="http://schemas.microsoft.com/office/powerpoint/2010/main" val="1894065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11.xml"/><Relationship Id="rId7" Type="http://schemas.openxmlformats.org/officeDocument/2006/relationships/image" Target="../media/image6.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oleObject" Target="../embeddings/oleObject2.bin"/><Relationship Id="rId5" Type="http://schemas.openxmlformats.org/officeDocument/2006/relationships/slideMaster" Target="../slideMasters/slideMaster2.xml"/><Relationship Id="rId10" Type="http://schemas.openxmlformats.org/officeDocument/2006/relationships/image" Target="../media/image2.png"/><Relationship Id="rId4" Type="http://schemas.openxmlformats.org/officeDocument/2006/relationships/tags" Target="../tags/tag12.xml"/><Relationship Id="rId9" Type="http://schemas.openxmlformats.org/officeDocument/2006/relationships/image" Target="../media/image7.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pPr marL="285750" indent="-285750"/>
            <a:r>
              <a:rPr lang="en-US" altLang="zh-CN" sz="2800" dirty="0">
                <a:solidFill>
                  <a:schemeClr val="hlink"/>
                </a:solidFill>
                <a:ea typeface="宋体" pitchFamily="2" charset="-122"/>
              </a:rPr>
              <a:t>MIPS: Case Study of </a:t>
            </a:r>
            <a:br>
              <a:rPr lang="en-US" altLang="zh-CN" sz="2800" dirty="0">
                <a:solidFill>
                  <a:schemeClr val="hlink"/>
                </a:solidFill>
                <a:ea typeface="宋体" pitchFamily="2" charset="-122"/>
              </a:rPr>
            </a:br>
            <a:r>
              <a:rPr lang="en-US" altLang="zh-CN" sz="2800" dirty="0">
                <a:solidFill>
                  <a:schemeClr val="hlink"/>
                </a:solidFill>
                <a:ea typeface="宋体" pitchFamily="2" charset="-122"/>
              </a:rPr>
              <a:t>Instruction Set Architecture</a:t>
            </a:r>
            <a:br>
              <a:rPr lang="en-US" altLang="zh-CN" sz="2800" dirty="0">
                <a:solidFill>
                  <a:schemeClr val="hlink"/>
                </a:solidFill>
                <a:ea typeface="宋体" pitchFamily="2" charset="-122"/>
              </a:rPr>
            </a:b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err="1"/>
              <a:t>R.K.Tiwary</a:t>
            </a:r>
            <a:endParaRPr lang="en-GB" dirty="0"/>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pPr marL="285750" indent="-285750"/>
            <a:r>
              <a:rPr lang="en-US" altLang="zh-CN" sz="2800" dirty="0">
                <a:solidFill>
                  <a:schemeClr val="hlink"/>
                </a:solidFill>
                <a:ea typeface="宋体" pitchFamily="2" charset="-122"/>
              </a:rPr>
              <a:t>MIPS: Case Study of </a:t>
            </a:r>
            <a:br>
              <a:rPr lang="en-US" altLang="zh-CN" sz="2800" dirty="0">
                <a:solidFill>
                  <a:schemeClr val="hlink"/>
                </a:solidFill>
                <a:ea typeface="宋体" pitchFamily="2" charset="-122"/>
              </a:rPr>
            </a:br>
            <a:r>
              <a:rPr lang="en-US" altLang="zh-CN" sz="2800" dirty="0">
                <a:solidFill>
                  <a:schemeClr val="hlink"/>
                </a:solidFill>
                <a:ea typeface="宋体" pitchFamily="2" charset="-122"/>
              </a:rPr>
              <a:t>Instruction Set Architecture</a:t>
            </a:r>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26" hidden="1"/>
          <p:cNvGraphicFramePr>
            <a:graphicFrameLocks noChangeAspect="1"/>
          </p:cNvGraphicFramePr>
          <p:nvPr userDrawn="1">
            <p:custDataLst>
              <p:tags r:id="rId1"/>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4" name="Object 26"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2" descr="\\Server\D\jyoti\FI023_BITS_v1\styleguide img\IMG_5627_b.jpg"/>
          <p:cNvPicPr>
            <a:picLocks noChangeAspect="1" noChangeArrowheads="1"/>
          </p:cNvPicPr>
          <p:nvPr userDrawn="1">
            <p:custDataLst>
              <p:tags r:id="rId2"/>
            </p:custDataLst>
          </p:nvPr>
        </p:nvPicPr>
        <p:blipFill>
          <a:blip r:embed="rId8">
            <a:extLst>
              <a:ext uri="{28A0092B-C50C-407E-A947-70E740481C1C}">
                <a14:useLocalDpi xmlns:a14="http://schemas.microsoft.com/office/drawing/2010/main" val="0"/>
              </a:ext>
            </a:extLst>
          </a:blip>
          <a:srcRect r="5666" b="5637"/>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Title Elements"/>
          <p:cNvGrpSpPr>
            <a:grpSpLocks/>
          </p:cNvGrpSpPr>
          <p:nvPr>
            <p:custDataLst>
              <p:tags r:id="rId3"/>
            </p:custDataLst>
          </p:nvPr>
        </p:nvGrpSpPr>
        <p:grpSpPr bwMode="auto">
          <a:xfrm>
            <a:off x="0" y="0"/>
            <a:ext cx="9140825" cy="6859588"/>
            <a:chOff x="0" y="0"/>
            <a:chExt cx="5643" cy="4235"/>
          </a:xfrm>
        </p:grpSpPr>
        <p:sp>
          <p:nvSpPr>
            <p:cNvPr id="7"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sp>
          <p:nvSpPr>
            <p:cNvPr id="8"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sp>
          <p:nvSpPr>
            <p:cNvPr id="9"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sz="1600">
                <a:solidFill>
                  <a:srgbClr val="000000"/>
                </a:solidFill>
              </a:endParaRPr>
            </a:p>
          </p:txBody>
        </p:sp>
      </p:grpSp>
      <p:pic>
        <p:nvPicPr>
          <p:cNvPr id="10"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19963" y="6573838"/>
            <a:ext cx="167005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userDrawn="1"/>
        </p:nvSpPr>
        <p:spPr>
          <a:xfrm>
            <a:off x="0" y="3440113"/>
            <a:ext cx="8863013" cy="2798762"/>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cs typeface="Arial" pitchFamily="34" charset="0"/>
            </a:endParaRPr>
          </a:p>
        </p:txBody>
      </p:sp>
      <p:sp>
        <p:nvSpPr>
          <p:cNvPr id="12" name="Rectangle 11"/>
          <p:cNvSpPr/>
          <p:nvPr userDrawn="1"/>
        </p:nvSpPr>
        <p:spPr>
          <a:xfrm>
            <a:off x="2954338" y="6238875"/>
            <a:ext cx="2954337" cy="7778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13" name="Rectangle 12"/>
          <p:cNvSpPr/>
          <p:nvPr userDrawn="1"/>
        </p:nvSpPr>
        <p:spPr>
          <a:xfrm>
            <a:off x="0" y="6238875"/>
            <a:ext cx="2954338" cy="7778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14" name="Rectangle 13"/>
          <p:cNvSpPr/>
          <p:nvPr userDrawn="1"/>
        </p:nvSpPr>
        <p:spPr>
          <a:xfrm>
            <a:off x="5908675" y="6238875"/>
            <a:ext cx="2954338" cy="7778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pic>
        <p:nvPicPr>
          <p:cNvPr id="15" name="Picture 41" descr="BITS_university_logo_whitevert.png"/>
          <p:cNvPicPr>
            <a:picLocks noChangeAspect="1"/>
          </p:cNvPicPr>
          <p:nvPr userDrawn="1"/>
        </p:nvPicPr>
        <p:blipFill>
          <a:blip r:embed="rId10">
            <a:extLst>
              <a:ext uri="{28A0092B-C50C-407E-A947-70E740481C1C}">
                <a14:useLocalDpi xmlns:a14="http://schemas.microsoft.com/office/drawing/2010/main" val="0"/>
              </a:ext>
            </a:extLst>
          </a:blip>
          <a:srcRect t="2" b="28592"/>
          <a:stretch>
            <a:fillRect/>
          </a:stretch>
        </p:blipFill>
        <p:spPr bwMode="auto">
          <a:xfrm>
            <a:off x="77788" y="3440113"/>
            <a:ext cx="2098675"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35"/>
          <p:cNvGrpSpPr>
            <a:grpSpLocks/>
          </p:cNvGrpSpPr>
          <p:nvPr userDrawn="1"/>
        </p:nvGrpSpPr>
        <p:grpSpPr bwMode="auto">
          <a:xfrm>
            <a:off x="-77788" y="5384800"/>
            <a:ext cx="2254251" cy="698500"/>
            <a:chOff x="76200" y="2209800"/>
            <a:chExt cx="2209800" cy="685800"/>
          </a:xfrm>
        </p:grpSpPr>
        <p:sp>
          <p:nvSpPr>
            <p:cNvPr id="17" name="TextBox 16"/>
            <p:cNvSpPr txBox="1"/>
            <p:nvPr userDrawn="1"/>
          </p:nvSpPr>
          <p:spPr>
            <a:xfrm>
              <a:off x="76200" y="2209800"/>
              <a:ext cx="2209800" cy="553316"/>
            </a:xfrm>
            <a:prstGeom prst="rect">
              <a:avLst/>
            </a:prstGeom>
            <a:noFill/>
          </p:spPr>
          <p:txBody>
            <a:bodyPr>
              <a:spAutoFit/>
            </a:bodyPr>
            <a:lstStyle/>
            <a:p>
              <a:pPr algn="ctr" defTabSz="914012" eaLnBrk="1" hangingPunct="1">
                <a:defRPr/>
              </a:pPr>
              <a:r>
                <a:rPr lang="en-US" sz="3000" b="1" spc="-153" dirty="0">
                  <a:solidFill>
                    <a:srgbClr val="FFFFFF"/>
                  </a:solidFill>
                  <a:latin typeface="Arial"/>
                  <a:cs typeface="Arial"/>
                </a:rPr>
                <a:t>BITS</a:t>
              </a:r>
              <a:r>
                <a:rPr lang="en-US" sz="3000" spc="-153" dirty="0">
                  <a:solidFill>
                    <a:srgbClr val="FFFFFF"/>
                  </a:solidFill>
                  <a:latin typeface="Arial"/>
                  <a:cs typeface="Arial"/>
                </a:rPr>
                <a:t> Pilani</a:t>
              </a:r>
            </a:p>
          </p:txBody>
        </p:sp>
        <p:sp>
          <p:nvSpPr>
            <p:cNvPr id="18" name="TextBox 17"/>
            <p:cNvSpPr txBox="1"/>
            <p:nvPr userDrawn="1"/>
          </p:nvSpPr>
          <p:spPr>
            <a:xfrm>
              <a:off x="228708" y="2664922"/>
              <a:ext cx="1904785" cy="230678"/>
            </a:xfrm>
            <a:prstGeom prst="rect">
              <a:avLst/>
            </a:prstGeom>
            <a:noFill/>
          </p:spPr>
          <p:txBody>
            <a:bodyPr>
              <a:spAutoFit/>
            </a:bodyPr>
            <a:lstStyle/>
            <a:p>
              <a:pPr algn="ctr" defTabSz="914012" eaLnBrk="1" hangingPunct="1">
                <a:defRPr/>
              </a:pPr>
              <a:r>
                <a:rPr lang="en-US" sz="900" spc="-153" dirty="0">
                  <a:solidFill>
                    <a:srgbClr val="FFFFFF"/>
                  </a:solidFill>
                  <a:latin typeface="Arial"/>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3027266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2413" cy="688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254500"/>
            <a:ext cx="9144000" cy="2627313"/>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pic>
        <p:nvPicPr>
          <p:cNvPr id="5" name="Picture 29" descr="Picture 7.png"/>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764338" y="0"/>
            <a:ext cx="223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2941638" y="6805613"/>
            <a:ext cx="2954337" cy="77787"/>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7" name="Rectangle 6"/>
          <p:cNvSpPr/>
          <p:nvPr userDrawn="1"/>
        </p:nvSpPr>
        <p:spPr>
          <a:xfrm>
            <a:off x="-12700" y="6805613"/>
            <a:ext cx="2954338" cy="77787"/>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8" name="Rectangle 7"/>
          <p:cNvSpPr/>
          <p:nvPr userDrawn="1"/>
        </p:nvSpPr>
        <p:spPr>
          <a:xfrm>
            <a:off x="5895975" y="6805613"/>
            <a:ext cx="2954338" cy="77787"/>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grpSp>
        <p:nvGrpSpPr>
          <p:cNvPr id="9" name="Group 9"/>
          <p:cNvGrpSpPr>
            <a:grpSpLocks/>
          </p:cNvGrpSpPr>
          <p:nvPr userDrawn="1"/>
        </p:nvGrpSpPr>
        <p:grpSpPr bwMode="auto">
          <a:xfrm>
            <a:off x="6997700" y="777875"/>
            <a:ext cx="2254250" cy="700088"/>
            <a:chOff x="76200" y="2209800"/>
            <a:chExt cx="2209800" cy="685800"/>
          </a:xfrm>
        </p:grpSpPr>
        <p:sp>
          <p:nvSpPr>
            <p:cNvPr id="10" name="TextBox 9"/>
            <p:cNvSpPr txBox="1"/>
            <p:nvPr userDrawn="1"/>
          </p:nvSpPr>
          <p:spPr>
            <a:xfrm>
              <a:off x="76200" y="2209800"/>
              <a:ext cx="2209800" cy="553616"/>
            </a:xfrm>
            <a:prstGeom prst="rect">
              <a:avLst/>
            </a:prstGeom>
            <a:noFill/>
          </p:spPr>
          <p:txBody>
            <a:bodyPr>
              <a:spAutoFit/>
            </a:bodyPr>
            <a:lstStyle/>
            <a:p>
              <a:pPr algn="ctr" defTabSz="914012" eaLnBrk="1" hangingPunct="1">
                <a:defRPr/>
              </a:pPr>
              <a:r>
                <a:rPr lang="en-US" sz="3000" b="1" spc="-153" dirty="0">
                  <a:solidFill>
                    <a:srgbClr val="FFFFFF"/>
                  </a:solidFill>
                  <a:latin typeface="Arial"/>
                  <a:cs typeface="Arial"/>
                </a:rPr>
                <a:t>BITS</a:t>
              </a:r>
              <a:r>
                <a:rPr lang="en-US" sz="3000" spc="-153" dirty="0">
                  <a:solidFill>
                    <a:srgbClr val="FFFFFF"/>
                  </a:solidFill>
                  <a:latin typeface="Arial"/>
                  <a:cs typeface="Arial"/>
                </a:rPr>
                <a:t> Pilani</a:t>
              </a:r>
            </a:p>
          </p:txBody>
        </p:sp>
        <p:sp>
          <p:nvSpPr>
            <p:cNvPr id="11" name="TextBox 38"/>
            <p:cNvSpPr txBox="1">
              <a:spLocks noChangeArrowheads="1"/>
            </p:cNvSpPr>
            <p:nvPr userDrawn="1"/>
          </p:nvSpPr>
          <p:spPr bwMode="auto">
            <a:xfrm>
              <a:off x="228707" y="2665445"/>
              <a:ext cx="1904785" cy="230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r>
                <a:rPr lang="en-US" altLang="en-US" sz="900">
                  <a:solidFill>
                    <a:srgbClr val="FFFFFF"/>
                  </a:solidFil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3439192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92735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Tree>
    <p:extLst>
      <p:ext uri="{BB962C8B-B14F-4D97-AF65-F5344CB8AC3E}">
        <p14:creationId xmlns:p14="http://schemas.microsoft.com/office/powerpoint/2010/main" val="2683921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xml"/><Relationship Id="rId13" Type="http://schemas.openxmlformats.org/officeDocument/2006/relationships/tags" Target="../tags/tag8.xml"/><Relationship Id="rId3" Type="http://schemas.openxmlformats.org/officeDocument/2006/relationships/slideLayout" Target="../slideLayouts/slideLayout14.xml"/><Relationship Id="rId7" Type="http://schemas.openxmlformats.org/officeDocument/2006/relationships/tags" Target="../tags/tag2.xml"/><Relationship Id="rId12" Type="http://schemas.openxmlformats.org/officeDocument/2006/relationships/tags" Target="../tags/tag7.xml"/><Relationship Id="rId2" Type="http://schemas.openxmlformats.org/officeDocument/2006/relationships/slideLayout" Target="../slideLayouts/slideLayout13.xml"/><Relationship Id="rId16"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tags" Target="../tags/tag1.xml"/><Relationship Id="rId11" Type="http://schemas.openxmlformats.org/officeDocument/2006/relationships/tags" Target="../tags/tag6.xml"/><Relationship Id="rId5" Type="http://schemas.openxmlformats.org/officeDocument/2006/relationships/theme" Target="../theme/theme2.xml"/><Relationship Id="rId15" Type="http://schemas.openxmlformats.org/officeDocument/2006/relationships/image" Target="../media/image5.emf"/><Relationship Id="rId10" Type="http://schemas.openxmlformats.org/officeDocument/2006/relationships/tags" Target="../tags/tag5.xml"/><Relationship Id="rId4" Type="http://schemas.openxmlformats.org/officeDocument/2006/relationships/slideLayout" Target="../slideLayouts/slideLayout15.xml"/><Relationship Id="rId9" Type="http://schemas.openxmlformats.org/officeDocument/2006/relationships/tags" Target="../tags/tag4.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fld id="{D03DC603-C5F6-4A82-B252-8D9BD6F91242}" type="datetimeFigureOut">
              <a:rPr lang="en-US" smtClean="0"/>
              <a:pPr/>
              <a:t>10/25/2025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dirty="0" err="1"/>
              <a:t>coa</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r>
              <a:rPr lang="en-US"/>
              <a:t>1</a:t>
            </a:r>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050" name="Object 1" hidden="1"/>
          <p:cNvGraphicFramePr>
            <a:graphicFrameLocks noChangeAspect="1"/>
          </p:cNvGraphicFramePr>
          <p:nvPr>
            <p:custDataLst>
              <p:tags r:id="rId6"/>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14" imgW="360" imgH="360" progId="">
                  <p:embed/>
                </p:oleObj>
              </mc:Choice>
              <mc:Fallback>
                <p:oleObj name="think-cell Slide" r:id="rId14" imgW="360" imgH="360" progId="">
                  <p:embed/>
                  <p:pic>
                    <p:nvPicPr>
                      <p:cNvPr id="2050" name="Object 1"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1" name="doc id"/>
          <p:cNvSpPr>
            <a:spLocks noChangeArrowheads="1"/>
          </p:cNvSpPr>
          <p:nvPr>
            <p:custDataLst>
              <p:tags r:id="rId7"/>
            </p:custDataLst>
          </p:nvPr>
        </p:nvSpPr>
        <p:spPr bwMode="auto">
          <a:xfrm>
            <a:off x="8247063" y="36513"/>
            <a:ext cx="669925" cy="12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endParaRPr lang="en-US" altLang="en-US" sz="800">
              <a:solidFill>
                <a:srgbClr val="000000"/>
              </a:solidFill>
            </a:endParaRPr>
          </a:p>
        </p:txBody>
      </p:sp>
      <p:sp>
        <p:nvSpPr>
          <p:cNvPr id="2052" name="Rectangle 286"/>
          <p:cNvSpPr>
            <a:spLocks noGrp="1" noChangeArrowheads="1"/>
          </p:cNvSpPr>
          <p:nvPr>
            <p:ph type="body" idx="1"/>
            <p:custDataLst>
              <p:tags r:id="rId8"/>
            </p:custDataLst>
          </p:nvPr>
        </p:nvSpPr>
        <p:spPr bwMode="auto">
          <a:xfrm>
            <a:off x="1482725" y="1990725"/>
            <a:ext cx="4389438"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3" name="Title Placeholder 2"/>
          <p:cNvSpPr>
            <a:spLocks noGrp="1" noChangeArrowheads="1"/>
          </p:cNvSpPr>
          <p:nvPr>
            <p:ph type="title"/>
            <p:custDataLst>
              <p:tags r:id="rId9"/>
            </p:custDataLst>
          </p:nvPr>
        </p:nvSpPr>
        <p:spPr bwMode="auto">
          <a:xfrm>
            <a:off x="122238" y="260350"/>
            <a:ext cx="65262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altLang="en-US"/>
              <a:t>Click to edit Master title</a:t>
            </a:r>
          </a:p>
        </p:txBody>
      </p:sp>
      <p:sp>
        <p:nvSpPr>
          <p:cNvPr id="2054" name="McK 1. On-page tracker" hidden="1"/>
          <p:cNvSpPr>
            <a:spLocks noChangeArrowheads="1"/>
          </p:cNvSpPr>
          <p:nvPr>
            <p:custDataLst>
              <p:tags r:id="rId10"/>
            </p:custDataLst>
          </p:nvPr>
        </p:nvSpPr>
        <p:spPr bwMode="auto">
          <a:xfrm>
            <a:off x="122238" y="26988"/>
            <a:ext cx="876300"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400">
                <a:solidFill>
                  <a:srgbClr val="808080"/>
                </a:solidFill>
              </a:rPr>
              <a:t>TRACKER</a:t>
            </a:r>
          </a:p>
        </p:txBody>
      </p:sp>
      <p:sp>
        <p:nvSpPr>
          <p:cNvPr id="11" name="McK 3. Unit of measure" hidden="1"/>
          <p:cNvSpPr txBox="1">
            <a:spLocks noChangeArrowheads="1"/>
          </p:cNvSpPr>
          <p:nvPr>
            <p:custDataLst>
              <p:tags r:id="rId11"/>
            </p:custDataLst>
          </p:nvPr>
        </p:nvSpPr>
        <p:spPr bwMode="auto">
          <a:xfrm>
            <a:off x="122238" y="542925"/>
            <a:ext cx="8793162"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eaLnBrk="1" hangingPunct="1">
              <a:defRPr/>
            </a:pPr>
            <a:r>
              <a:rPr lang="en-US" sz="1600" dirty="0">
                <a:solidFill>
                  <a:srgbClr val="808080"/>
                </a:solidFill>
                <a:latin typeface="Arial"/>
                <a:cs typeface="+mn-cs"/>
              </a:rPr>
              <a:t>Unit of measure</a:t>
            </a:r>
          </a:p>
        </p:txBody>
      </p:sp>
      <p:grpSp>
        <p:nvGrpSpPr>
          <p:cNvPr id="2056" name="McK Slide Elements" hidden="1"/>
          <p:cNvGrpSpPr>
            <a:grpSpLocks/>
          </p:cNvGrpSpPr>
          <p:nvPr>
            <p:custDataLst>
              <p:tags r:id="rId12"/>
            </p:custDataLst>
          </p:nvPr>
        </p:nvGrpSpPr>
        <p:grpSpPr bwMode="auto">
          <a:xfrm>
            <a:off x="74613" y="6292850"/>
            <a:ext cx="4071937" cy="517525"/>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eaLnBrk="1" hangingPunct="1">
                <a:defRPr/>
              </a:pPr>
              <a:r>
                <a:rPr lang="en-US" sz="1000" dirty="0">
                  <a:solidFill>
                    <a:srgbClr val="000000"/>
                  </a:solidFill>
                  <a:latin typeface="Arial"/>
                  <a:cs typeface="+mn-cs"/>
                </a:rPr>
                <a:t>1 Footnote</a:t>
              </a:r>
            </a:p>
          </p:txBody>
        </p:sp>
        <p:sp>
          <p:nvSpPr>
            <p:cNvPr id="2070"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620713" indent="-620713" defTabSz="912813">
                <a:tabLst>
                  <a:tab pos="623888" algn="l"/>
                </a:tabLst>
                <a:defRPr>
                  <a:solidFill>
                    <a:schemeClr val="tx1"/>
                  </a:solidFill>
                  <a:latin typeface="Arial" panose="020B0604020202020204" pitchFamily="34" charset="0"/>
                  <a:cs typeface="Arial" panose="020B0604020202020204" pitchFamily="34" charset="0"/>
                </a:defRPr>
              </a:lvl1pPr>
              <a:lvl2pPr marL="742950" indent="-285750" defTabSz="912813">
                <a:tabLst>
                  <a:tab pos="623888" algn="l"/>
                </a:tabLst>
                <a:defRPr>
                  <a:solidFill>
                    <a:schemeClr val="tx1"/>
                  </a:solidFill>
                  <a:latin typeface="Arial" panose="020B0604020202020204" pitchFamily="34" charset="0"/>
                  <a:cs typeface="Arial" panose="020B0604020202020204" pitchFamily="34" charset="0"/>
                </a:defRPr>
              </a:lvl2pPr>
              <a:lvl3pPr marL="1143000" indent="-228600" defTabSz="912813">
                <a:tabLst>
                  <a:tab pos="623888" algn="l"/>
                </a:tabLst>
                <a:defRPr>
                  <a:solidFill>
                    <a:schemeClr val="tx1"/>
                  </a:solidFill>
                  <a:latin typeface="Arial" panose="020B0604020202020204" pitchFamily="34" charset="0"/>
                  <a:cs typeface="Arial" panose="020B0604020202020204" pitchFamily="34" charset="0"/>
                </a:defRPr>
              </a:lvl3pPr>
              <a:lvl4pPr marL="1600200" indent="-228600" defTabSz="912813">
                <a:tabLst>
                  <a:tab pos="623888" algn="l"/>
                </a:tabLst>
                <a:defRPr>
                  <a:solidFill>
                    <a:schemeClr val="tx1"/>
                  </a:solidFill>
                  <a:latin typeface="Arial" panose="020B0604020202020204" pitchFamily="34" charset="0"/>
                  <a:cs typeface="Arial" panose="020B0604020202020204" pitchFamily="34" charset="0"/>
                </a:defRPr>
              </a:lvl4pPr>
              <a:lvl5pPr marL="2057400" indent="-228600" defTabSz="912813">
                <a:tabLst>
                  <a:tab pos="623888" algn="l"/>
                </a:tabLst>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000">
                  <a:solidFill>
                    <a:srgbClr val="000000"/>
                  </a:solidFill>
                </a:rPr>
                <a:t>SOURCE: Source</a:t>
              </a:r>
            </a:p>
          </p:txBody>
        </p:sp>
      </p:grpSp>
      <p:grpSp>
        <p:nvGrpSpPr>
          <p:cNvPr id="2057" name="ACET" hidden="1"/>
          <p:cNvGrpSpPr>
            <a:grpSpLocks/>
          </p:cNvGrpSpPr>
          <p:nvPr>
            <p:custDataLst>
              <p:tags r:id="rId13"/>
            </p:custDataLst>
          </p:nvPr>
        </p:nvGrpSpPr>
        <p:grpSpPr bwMode="auto">
          <a:xfrm>
            <a:off x="1482725" y="1149350"/>
            <a:ext cx="4349750" cy="519113"/>
            <a:chOff x="915" y="710"/>
            <a:chExt cx="2686" cy="320"/>
          </a:xfrm>
        </p:grpSpPr>
        <p:cxnSp>
          <p:nvCxnSpPr>
            <p:cNvPr id="2067" name="AutoShape 249"/>
            <p:cNvCxnSpPr>
              <a:cxnSpLocks noChangeShapeType="1"/>
              <a:stCxn id="2068" idx="4"/>
              <a:endCxn id="2068"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68"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600" b="1">
                  <a:solidFill>
                    <a:srgbClr val="000000"/>
                  </a:solidFill>
                </a:rPr>
                <a:t>Title</a:t>
              </a:r>
            </a:p>
            <a:p>
              <a:pPr eaLnBrk="1" hangingPunct="1">
                <a:defRPr/>
              </a:pPr>
              <a:r>
                <a:rPr lang="en-US" altLang="en-US" sz="1600">
                  <a:solidFill>
                    <a:srgbClr val="808080"/>
                  </a:solidFill>
                </a:rPr>
                <a:t>Unit of measure</a:t>
              </a:r>
            </a:p>
          </p:txBody>
        </p:sp>
      </p:grpSp>
      <p:grpSp>
        <p:nvGrpSpPr>
          <p:cNvPr id="2058" name="Group 21"/>
          <p:cNvGrpSpPr>
            <a:grpSpLocks/>
          </p:cNvGrpSpPr>
          <p:nvPr/>
        </p:nvGrpSpPr>
        <p:grpSpPr bwMode="auto">
          <a:xfrm>
            <a:off x="0" y="890588"/>
            <a:ext cx="7153275" cy="46037"/>
            <a:chOff x="1905000" y="6553200"/>
            <a:chExt cx="7010400" cy="45719"/>
          </a:xfrm>
        </p:grpSpPr>
        <p:sp>
          <p:nvSpPr>
            <p:cNvPr id="23" name="Rectangle 22"/>
            <p:cNvSpPr/>
            <p:nvPr/>
          </p:nvSpPr>
          <p:spPr>
            <a:xfrm>
              <a:off x="4266693" y="6553200"/>
              <a:ext cx="2329022"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sp>
          <p:nvSpPr>
            <p:cNvPr id="24" name="Rectangle 23"/>
            <p:cNvSpPr/>
            <p:nvPr/>
          </p:nvSpPr>
          <p:spPr>
            <a:xfrm>
              <a:off x="1905000" y="6553200"/>
              <a:ext cx="2361693"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sp>
          <p:nvSpPr>
            <p:cNvPr id="25" name="Rectangle 24"/>
            <p:cNvSpPr/>
            <p:nvPr userDrawn="1"/>
          </p:nvSpPr>
          <p:spPr>
            <a:xfrm>
              <a:off x="6586379" y="6553200"/>
              <a:ext cx="232902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914012" eaLnBrk="1" hangingPunct="1">
                <a:defRPr/>
              </a:pPr>
              <a:endParaRPr lang="en-US" sz="1600" dirty="0">
                <a:solidFill>
                  <a:srgbClr val="FFFFFF"/>
                </a:solidFill>
              </a:endParaRPr>
            </a:p>
          </p:txBody>
        </p:sp>
      </p:grpSp>
      <p:pic>
        <p:nvPicPr>
          <p:cNvPr id="2059" name="Picture 25" descr="Picture 7.png"/>
          <p:cNvPicPr>
            <a:picLocks noChangeAspect="1"/>
          </p:cNvPicPr>
          <p:nvPr/>
        </p:nvPicPr>
        <p:blipFill>
          <a:blip r:embed="rId16">
            <a:extLst>
              <a:ext uri="{28A0092B-C50C-407E-A947-70E740481C1C}">
                <a14:useLocalDpi xmlns:a14="http://schemas.microsoft.com/office/drawing/2010/main" val="0"/>
              </a:ext>
            </a:extLst>
          </a:blip>
          <a:srcRect l="1923" b="5336"/>
          <a:stretch>
            <a:fillRect/>
          </a:stretch>
        </p:blipFill>
        <p:spPr bwMode="auto">
          <a:xfrm>
            <a:off x="6764338" y="0"/>
            <a:ext cx="223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0" name="TextBox 27"/>
          <p:cNvSpPr txBox="1">
            <a:spLocks noChangeArrowheads="1"/>
          </p:cNvSpPr>
          <p:nvPr/>
        </p:nvSpPr>
        <p:spPr bwMode="auto">
          <a:xfrm>
            <a:off x="3163888" y="6583363"/>
            <a:ext cx="59880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56" tIns="46628" rIns="93256" bIns="46628">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4" name="Rectangle 33"/>
          <p:cNvSpPr/>
          <p:nvPr/>
        </p:nvSpPr>
        <p:spPr>
          <a:xfrm>
            <a:off x="4408488" y="6500813"/>
            <a:ext cx="2376487" cy="4762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35" name="Rectangle 34"/>
          <p:cNvSpPr/>
          <p:nvPr/>
        </p:nvSpPr>
        <p:spPr>
          <a:xfrm>
            <a:off x="1998663" y="6500813"/>
            <a:ext cx="2409825" cy="4762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
        <p:nvSpPr>
          <p:cNvPr id="36" name="Rectangle 35"/>
          <p:cNvSpPr/>
          <p:nvPr/>
        </p:nvSpPr>
        <p:spPr>
          <a:xfrm>
            <a:off x="6775450" y="6500813"/>
            <a:ext cx="2376488" cy="47625"/>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algn="ctr" defTabSz="914012" eaLnBrk="1" hangingPunct="1">
              <a:defRPr/>
            </a:pPr>
            <a:endParaRPr lang="en-US" sz="1600" dirty="0">
              <a:solidFill>
                <a:srgbClr val="FFFFFF"/>
              </a:solidFill>
            </a:endParaRPr>
          </a:p>
        </p:txBody>
      </p:sp>
    </p:spTree>
    <p:extLst>
      <p:ext uri="{BB962C8B-B14F-4D97-AF65-F5344CB8AC3E}">
        <p14:creationId xmlns:p14="http://schemas.microsoft.com/office/powerpoint/2010/main" val="419743222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hdr="0"/>
  <p:txStyles>
    <p:titleStyle>
      <a:lvl1pPr algn="l" defTabSz="912813" rtl="0" eaLnBrk="0" fontAlgn="base" hangingPunct="0">
        <a:spcBef>
          <a:spcPct val="0"/>
        </a:spcBef>
        <a:spcAft>
          <a:spcPct val="0"/>
        </a:spcAft>
        <a:tabLst>
          <a:tab pos="274638" algn="l"/>
        </a:tabLst>
        <a:defRPr sz="1900" b="1">
          <a:solidFill>
            <a:schemeClr val="tx1"/>
          </a:solidFill>
          <a:latin typeface="+mj-lt"/>
          <a:ea typeface="+mj-ea"/>
          <a:cs typeface="+mj-cs"/>
        </a:defRPr>
      </a:lvl1pPr>
      <a:lvl2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2pPr>
      <a:lvl3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3pPr>
      <a:lvl4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4pPr>
      <a:lvl5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customXml" Target="../ink/ink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customXml" Target="../ink/ink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9.png"/><Relationship Id="rId1" Type="http://schemas.openxmlformats.org/officeDocument/2006/relationships/slideLayout" Target="../slideLayouts/slideLayout15.xml"/><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p:txBody>
          <a:bodyPr/>
          <a:lstStyle/>
          <a:p>
            <a:r>
              <a:rPr lang="en-US" dirty="0" err="1"/>
              <a:t>R.K.Tiwary</a:t>
            </a:r>
            <a:endParaRPr lang="en-US" dirty="0"/>
          </a:p>
        </p:txBody>
      </p:sp>
    </p:spTree>
    <p:extLst>
      <p:ext uri="{BB962C8B-B14F-4D97-AF65-F5344CB8AC3E}">
        <p14:creationId xmlns:p14="http://schemas.microsoft.com/office/powerpoint/2010/main" val="144564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1555-4EF4-466D-96C6-B0B2B6ED8FED}"/>
              </a:ext>
            </a:extLst>
          </p:cNvPr>
          <p:cNvSpPr>
            <a:spLocks noGrp="1"/>
          </p:cNvSpPr>
          <p:nvPr>
            <p:ph type="title"/>
          </p:nvPr>
        </p:nvSpPr>
        <p:spPr/>
        <p:txBody>
          <a:bodyPr/>
          <a:lstStyle/>
          <a:p>
            <a:r>
              <a:rPr lang="en-IN" sz="2400" dirty="0"/>
              <a:t>CONTROL UNIT OPERATION</a:t>
            </a:r>
            <a:endParaRPr lang="en-IN" sz="2400" b="0" dirty="0"/>
          </a:p>
        </p:txBody>
      </p:sp>
      <p:sp>
        <p:nvSpPr>
          <p:cNvPr id="6" name="Rectangle 5">
            <a:extLst>
              <a:ext uri="{FF2B5EF4-FFF2-40B4-BE49-F238E27FC236}">
                <a16:creationId xmlns:a16="http://schemas.microsoft.com/office/drawing/2014/main" id="{DE76D402-15F2-42ED-BA5B-9CA79BD75147}"/>
              </a:ext>
            </a:extLst>
          </p:cNvPr>
          <p:cNvSpPr/>
          <p:nvPr/>
        </p:nvSpPr>
        <p:spPr>
          <a:xfrm>
            <a:off x="151796" y="836712"/>
            <a:ext cx="8740684" cy="5113644"/>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dirty="0"/>
              <a:t>The execution of an instruction involves the execution of a sequence of </a:t>
            </a:r>
            <a:r>
              <a:rPr lang="en-US" sz="2000" dirty="0" err="1"/>
              <a:t>substeps</a:t>
            </a:r>
            <a:r>
              <a:rPr lang="en-US" sz="2000" dirty="0"/>
              <a:t>, generally called cycles </a:t>
            </a:r>
          </a:p>
          <a:p>
            <a:pPr marL="800100" lvl="1" indent="-342900">
              <a:lnSpc>
                <a:spcPct val="150000"/>
              </a:lnSpc>
              <a:buFont typeface="Wingdings" panose="05000000000000000000" pitchFamily="2" charset="2"/>
              <a:buChar char="ü"/>
            </a:pPr>
            <a:r>
              <a:rPr lang="en-US" sz="2000" dirty="0"/>
              <a:t>The Fetch Cycle </a:t>
            </a:r>
          </a:p>
          <a:p>
            <a:pPr marL="800100" lvl="1" indent="-342900">
              <a:lnSpc>
                <a:spcPct val="150000"/>
              </a:lnSpc>
              <a:buFont typeface="Wingdings" panose="05000000000000000000" pitchFamily="2" charset="2"/>
              <a:buChar char="ü"/>
            </a:pPr>
            <a:r>
              <a:rPr lang="en-US" sz="2000" dirty="0"/>
              <a:t>The Indirect Cycle </a:t>
            </a:r>
          </a:p>
          <a:p>
            <a:pPr marL="800100" lvl="1" indent="-342900">
              <a:lnSpc>
                <a:spcPct val="150000"/>
              </a:lnSpc>
              <a:buFont typeface="Wingdings" panose="05000000000000000000" pitchFamily="2" charset="2"/>
              <a:buChar char="ü"/>
            </a:pPr>
            <a:r>
              <a:rPr lang="en-US" sz="2000" dirty="0"/>
              <a:t>The Interrupt Cycle </a:t>
            </a:r>
          </a:p>
          <a:p>
            <a:pPr marL="800100" lvl="1" indent="-342900">
              <a:lnSpc>
                <a:spcPct val="150000"/>
              </a:lnSpc>
              <a:buFont typeface="Wingdings" panose="05000000000000000000" pitchFamily="2" charset="2"/>
              <a:buChar char="ü"/>
            </a:pPr>
            <a:r>
              <a:rPr lang="en-US" sz="2000" dirty="0"/>
              <a:t>The Execute Cycle </a:t>
            </a:r>
          </a:p>
          <a:p>
            <a:pPr marL="800100" lvl="1" indent="-342900">
              <a:lnSpc>
                <a:spcPct val="150000"/>
              </a:lnSpc>
              <a:buFont typeface="Wingdings" panose="05000000000000000000" pitchFamily="2" charset="2"/>
              <a:buChar char="ü"/>
            </a:pPr>
            <a:r>
              <a:rPr lang="en-US" sz="2000" dirty="0"/>
              <a:t>The Instruction Cycle</a:t>
            </a:r>
          </a:p>
          <a:p>
            <a:pPr marL="342900" indent="-342900">
              <a:lnSpc>
                <a:spcPct val="150000"/>
              </a:lnSpc>
              <a:buFont typeface="Wingdings" panose="05000000000000000000" pitchFamily="2" charset="2"/>
              <a:buChar char="q"/>
            </a:pPr>
            <a:r>
              <a:rPr lang="en-US" sz="2000" dirty="0"/>
              <a:t> control unit of a processor performs two tasks:</a:t>
            </a:r>
          </a:p>
          <a:p>
            <a:pPr marL="800100" lvl="1" indent="-342900">
              <a:lnSpc>
                <a:spcPct val="150000"/>
              </a:lnSpc>
              <a:buFont typeface="Wingdings" panose="05000000000000000000" pitchFamily="2" charset="2"/>
              <a:buChar char="ü"/>
            </a:pPr>
            <a:r>
              <a:rPr lang="en-US" sz="2000" dirty="0"/>
              <a:t> step through a series of micro-operations in the proper sequence</a:t>
            </a:r>
          </a:p>
          <a:p>
            <a:pPr marL="800100" lvl="1" indent="-342900">
              <a:lnSpc>
                <a:spcPct val="150000"/>
              </a:lnSpc>
              <a:buFont typeface="Wingdings" panose="05000000000000000000" pitchFamily="2" charset="2"/>
              <a:buChar char="ü"/>
            </a:pPr>
            <a:r>
              <a:rPr lang="en-US" sz="2000" dirty="0"/>
              <a:t> </a:t>
            </a:r>
            <a:r>
              <a:rPr lang="en-IN" sz="2000" dirty="0"/>
              <a:t>generates the control signals </a:t>
            </a:r>
          </a:p>
          <a:p>
            <a:pPr>
              <a:lnSpc>
                <a:spcPct val="150000"/>
              </a:lnSpc>
            </a:pPr>
            <a:endParaRPr lang="en-IN" sz="2000" dirty="0"/>
          </a:p>
        </p:txBody>
      </p:sp>
    </p:spTree>
    <p:extLst>
      <p:ext uri="{BB962C8B-B14F-4D97-AF65-F5344CB8AC3E}">
        <p14:creationId xmlns:p14="http://schemas.microsoft.com/office/powerpoint/2010/main" val="397766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 calcmode="lin" valueType="num">
                                      <p:cBhvr additive="base">
                                        <p:cTn id="2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 calcmode="lin" valueType="num">
                                      <p:cBhvr additive="base">
                                        <p:cTn id="3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 calcmode="lin" valueType="num">
                                      <p:cBhvr additive="base">
                                        <p:cTn id="3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 calcmode="lin" valueType="num">
                                      <p:cBhvr additive="base">
                                        <p:cTn id="43"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1555-4EF4-466D-96C6-B0B2B6ED8FED}"/>
              </a:ext>
            </a:extLst>
          </p:cNvPr>
          <p:cNvSpPr>
            <a:spLocks noGrp="1"/>
          </p:cNvSpPr>
          <p:nvPr>
            <p:ph type="title"/>
          </p:nvPr>
        </p:nvSpPr>
        <p:spPr/>
        <p:txBody>
          <a:bodyPr/>
          <a:lstStyle/>
          <a:p>
            <a:r>
              <a:rPr lang="en-IN" sz="2400" dirty="0"/>
              <a:t>CONTROL UNIT OPERATION</a:t>
            </a:r>
            <a:endParaRPr lang="en-IN" sz="2400" b="0" dirty="0"/>
          </a:p>
        </p:txBody>
      </p:sp>
      <p:sp>
        <p:nvSpPr>
          <p:cNvPr id="6" name="Rectangle 5">
            <a:extLst>
              <a:ext uri="{FF2B5EF4-FFF2-40B4-BE49-F238E27FC236}">
                <a16:creationId xmlns:a16="http://schemas.microsoft.com/office/drawing/2014/main" id="{DE76D402-15F2-42ED-BA5B-9CA79BD75147}"/>
              </a:ext>
            </a:extLst>
          </p:cNvPr>
          <p:cNvSpPr/>
          <p:nvPr/>
        </p:nvSpPr>
        <p:spPr>
          <a:xfrm>
            <a:off x="151796" y="836712"/>
            <a:ext cx="8740684" cy="5113644"/>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2000" dirty="0"/>
              <a:t>The control signals generated by the control unit cause the opening and closing of logic gates, resulting in the transfer of data to and from registers and the operation of the ALU</a:t>
            </a:r>
          </a:p>
          <a:p>
            <a:pPr marL="285750" indent="-285750">
              <a:lnSpc>
                <a:spcPct val="150000"/>
              </a:lnSpc>
              <a:buFont typeface="Wingdings" panose="05000000000000000000" pitchFamily="2" charset="2"/>
              <a:buChar char="q"/>
            </a:pPr>
            <a:r>
              <a:rPr lang="en-US" sz="2000" dirty="0"/>
              <a:t> </a:t>
            </a:r>
            <a:r>
              <a:rPr lang="en-IN" sz="2000" dirty="0"/>
              <a:t>technique for implementing a control unit</a:t>
            </a:r>
          </a:p>
          <a:p>
            <a:pPr marL="800100" lvl="1" indent="-342900">
              <a:lnSpc>
                <a:spcPct val="150000"/>
              </a:lnSpc>
              <a:buFont typeface="Wingdings" panose="05000000000000000000" pitchFamily="2" charset="2"/>
              <a:buChar char="ü"/>
            </a:pPr>
            <a:r>
              <a:rPr lang="en-IN" sz="2000" dirty="0"/>
              <a:t> hardwired implementation</a:t>
            </a:r>
          </a:p>
          <a:p>
            <a:pPr marL="800100" lvl="1" indent="-342900">
              <a:lnSpc>
                <a:spcPct val="150000"/>
              </a:lnSpc>
              <a:buFont typeface="Wingdings" panose="05000000000000000000" pitchFamily="2" charset="2"/>
              <a:buChar char="ü"/>
            </a:pPr>
            <a:r>
              <a:rPr lang="en-IN" sz="2000" dirty="0"/>
              <a:t> Microprogrammed control</a:t>
            </a:r>
          </a:p>
          <a:p>
            <a:pPr marL="342900" indent="-342900">
              <a:lnSpc>
                <a:spcPct val="150000"/>
              </a:lnSpc>
              <a:buFont typeface="Wingdings" panose="05000000000000000000" pitchFamily="2" charset="2"/>
              <a:buChar char="q"/>
            </a:pPr>
            <a:r>
              <a:rPr lang="en-IN" sz="2000" dirty="0"/>
              <a:t> Micro-operations are </a:t>
            </a:r>
            <a:r>
              <a:rPr lang="en-US" sz="2000" dirty="0"/>
              <a:t> a sequence of more fundamental operations which constitute the operation cycle.</a:t>
            </a:r>
          </a:p>
          <a:p>
            <a:pPr marL="342900" indent="-342900">
              <a:lnSpc>
                <a:spcPct val="150000"/>
              </a:lnSpc>
              <a:buFont typeface="Wingdings" panose="05000000000000000000" pitchFamily="2" charset="2"/>
              <a:buChar char="q"/>
            </a:pPr>
            <a:r>
              <a:rPr lang="en-US" sz="2000" dirty="0"/>
              <a:t> A single micro-operation generally involves a transfer between registers, a transfer between a register and an external bus, or a simple ALU operation</a:t>
            </a:r>
            <a:endParaRPr lang="en-IN" sz="2000" dirty="0"/>
          </a:p>
        </p:txBody>
      </p:sp>
    </p:spTree>
    <p:extLst>
      <p:ext uri="{BB962C8B-B14F-4D97-AF65-F5344CB8AC3E}">
        <p14:creationId xmlns:p14="http://schemas.microsoft.com/office/powerpoint/2010/main" val="148560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 calcmode="lin" valueType="num">
                                      <p:cBhvr additive="base">
                                        <p:cTn id="2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 calcmode="lin" valueType="num">
                                      <p:cBhvr additive="base">
                                        <p:cTn id="3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578E6-2C42-4ED9-97BE-336C5FAF9A83}"/>
              </a:ext>
            </a:extLst>
          </p:cNvPr>
          <p:cNvSpPr>
            <a:spLocks noGrp="1"/>
          </p:cNvSpPr>
          <p:nvPr>
            <p:ph type="title"/>
          </p:nvPr>
        </p:nvSpPr>
        <p:spPr/>
        <p:txBody>
          <a:bodyPr/>
          <a:lstStyle/>
          <a:p>
            <a:r>
              <a:rPr lang="en-GB" altLang="en-US" sz="2400" b="0" dirty="0"/>
              <a:t>Micro-Operations</a:t>
            </a:r>
            <a:endParaRPr lang="en-IN" sz="2400" b="0" dirty="0"/>
          </a:p>
        </p:txBody>
      </p:sp>
      <p:sp>
        <p:nvSpPr>
          <p:cNvPr id="3" name="Rectangle 3">
            <a:extLst>
              <a:ext uri="{FF2B5EF4-FFF2-40B4-BE49-F238E27FC236}">
                <a16:creationId xmlns:a16="http://schemas.microsoft.com/office/drawing/2014/main" id="{7E1E4121-3824-46C0-A706-CCA0DF4F8697}"/>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400" kern="0" dirty="0"/>
              <a:t>A computer executes a program</a:t>
            </a:r>
          </a:p>
          <a:p>
            <a:pPr>
              <a:lnSpc>
                <a:spcPct val="150000"/>
              </a:lnSpc>
            </a:pPr>
            <a:r>
              <a:rPr lang="en-GB" altLang="en-US" sz="2400" kern="0" dirty="0"/>
              <a:t>Fetch/execute cycle</a:t>
            </a:r>
          </a:p>
          <a:p>
            <a:pPr>
              <a:lnSpc>
                <a:spcPct val="150000"/>
              </a:lnSpc>
            </a:pPr>
            <a:r>
              <a:rPr lang="en-GB" altLang="en-US" sz="2400" kern="0" dirty="0"/>
              <a:t>Each cycle has a number of steps : Called micro-operations</a:t>
            </a:r>
          </a:p>
          <a:p>
            <a:pPr>
              <a:lnSpc>
                <a:spcPct val="150000"/>
              </a:lnSpc>
            </a:pPr>
            <a:r>
              <a:rPr lang="en-GB" altLang="en-US" sz="2400" kern="0" dirty="0"/>
              <a:t>Each step does very little: Atomic operation of CPU</a:t>
            </a:r>
          </a:p>
          <a:p>
            <a:pPr>
              <a:lnSpc>
                <a:spcPct val="150000"/>
              </a:lnSpc>
            </a:pPr>
            <a:r>
              <a:rPr lang="en-US" sz="2400" dirty="0"/>
              <a:t>micro-operations needed to perform the </a:t>
            </a:r>
            <a:r>
              <a:rPr lang="en-US" sz="2400" dirty="0" err="1"/>
              <a:t>subcycles</a:t>
            </a:r>
            <a:r>
              <a:rPr lang="en-US" sz="2400" dirty="0"/>
              <a:t> of the instruction cycle.</a:t>
            </a:r>
            <a:endParaRPr lang="en-GB" altLang="en-US" sz="2400" kern="0" dirty="0"/>
          </a:p>
        </p:txBody>
      </p:sp>
    </p:spTree>
    <p:extLst>
      <p:ext uri="{BB962C8B-B14F-4D97-AF65-F5344CB8AC3E}">
        <p14:creationId xmlns:p14="http://schemas.microsoft.com/office/powerpoint/2010/main" val="43925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3C69B-97D7-4190-AD38-7D2035EB9D50}"/>
              </a:ext>
            </a:extLst>
          </p:cNvPr>
          <p:cNvSpPr>
            <a:spLocks noGrp="1"/>
          </p:cNvSpPr>
          <p:nvPr>
            <p:ph type="title"/>
          </p:nvPr>
        </p:nvSpPr>
        <p:spPr>
          <a:xfrm>
            <a:off x="122238" y="260350"/>
            <a:ext cx="6526212" cy="596900"/>
          </a:xfrm>
        </p:spPr>
        <p:txBody>
          <a:bodyPr/>
          <a:lstStyle/>
          <a:p>
            <a:r>
              <a:rPr lang="en-GB" altLang="en-US" sz="2400" b="0" dirty="0"/>
              <a:t>Constituent Elements of Program Execution </a:t>
            </a:r>
            <a:endParaRPr lang="en-IN" sz="2400" b="0" dirty="0"/>
          </a:p>
        </p:txBody>
      </p:sp>
      <p:pic>
        <p:nvPicPr>
          <p:cNvPr id="8" name="Picture 4">
            <a:extLst>
              <a:ext uri="{FF2B5EF4-FFF2-40B4-BE49-F238E27FC236}">
                <a16:creationId xmlns:a16="http://schemas.microsoft.com/office/drawing/2014/main" id="{80BAFEDD-7DCF-481E-B338-6EBE107ABA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8791"/>
          <a:stretch>
            <a:fillRect/>
          </a:stretch>
        </p:blipFill>
        <p:spPr bwMode="auto">
          <a:xfrm>
            <a:off x="323528" y="1301750"/>
            <a:ext cx="8001000"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E90015F-CB20-49F6-9051-2C8DCE0C0C2C}"/>
                  </a:ext>
                </a:extLst>
              </p14:cNvPr>
              <p14:cNvContentPartPr/>
              <p14:nvPr/>
            </p14:nvContentPartPr>
            <p14:xfrm>
              <a:off x="792720" y="3132000"/>
              <a:ext cx="3088440" cy="2571120"/>
            </p14:xfrm>
          </p:contentPart>
        </mc:Choice>
        <mc:Fallback xmlns="">
          <p:pic>
            <p:nvPicPr>
              <p:cNvPr id="3" name="Ink 2">
                <a:extLst>
                  <a:ext uri="{FF2B5EF4-FFF2-40B4-BE49-F238E27FC236}">
                    <a16:creationId xmlns:a16="http://schemas.microsoft.com/office/drawing/2014/main" id="{6E90015F-CB20-49F6-9051-2C8DCE0C0C2C}"/>
                  </a:ext>
                </a:extLst>
              </p:cNvPr>
              <p:cNvPicPr/>
              <p:nvPr/>
            </p:nvPicPr>
            <p:blipFill>
              <a:blip r:embed="rId4"/>
              <a:stretch>
                <a:fillRect/>
              </a:stretch>
            </p:blipFill>
            <p:spPr>
              <a:xfrm>
                <a:off x="783360" y="3122640"/>
                <a:ext cx="3107160" cy="2589840"/>
              </a:xfrm>
              <a:prstGeom prst="rect">
                <a:avLst/>
              </a:prstGeom>
            </p:spPr>
          </p:pic>
        </mc:Fallback>
      </mc:AlternateContent>
    </p:spTree>
    <p:extLst>
      <p:ext uri="{BB962C8B-B14F-4D97-AF65-F5344CB8AC3E}">
        <p14:creationId xmlns:p14="http://schemas.microsoft.com/office/powerpoint/2010/main" val="2016120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B85-282B-43A1-8079-76CC7AC8CAE3}"/>
              </a:ext>
            </a:extLst>
          </p:cNvPr>
          <p:cNvSpPr>
            <a:spLocks noGrp="1"/>
          </p:cNvSpPr>
          <p:nvPr>
            <p:ph type="title"/>
          </p:nvPr>
        </p:nvSpPr>
        <p:spPr/>
        <p:txBody>
          <a:bodyPr/>
          <a:lstStyle/>
          <a:p>
            <a:r>
              <a:rPr lang="en-IN" sz="2800" b="0" dirty="0"/>
              <a:t>The Fetch Cycle </a:t>
            </a:r>
          </a:p>
        </p:txBody>
      </p:sp>
      <p:sp>
        <p:nvSpPr>
          <p:cNvPr id="6" name="Rectangle 5">
            <a:extLst>
              <a:ext uri="{FF2B5EF4-FFF2-40B4-BE49-F238E27FC236}">
                <a16:creationId xmlns:a16="http://schemas.microsoft.com/office/drawing/2014/main" id="{6C9B24C1-F5F7-4AD2-B7DD-5445D1C48D18}"/>
              </a:ext>
            </a:extLst>
          </p:cNvPr>
          <p:cNvSpPr txBox="1">
            <a:spLocks noChangeArrowheads="1"/>
          </p:cNvSpPr>
          <p:nvPr/>
        </p:nvSpPr>
        <p:spPr>
          <a:xfrm>
            <a:off x="137234" y="956509"/>
            <a:ext cx="8539221"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150000"/>
              </a:lnSpc>
              <a:buFont typeface="Wingdings" panose="05000000000000000000" pitchFamily="2" charset="2"/>
              <a:buChar char="q"/>
            </a:pPr>
            <a:r>
              <a:rPr lang="en-GB" altLang="en-US" sz="2400" kern="0" dirty="0"/>
              <a:t>Memory Address Register (MAR) </a:t>
            </a:r>
          </a:p>
          <a:p>
            <a:pPr lvl="1">
              <a:lnSpc>
                <a:spcPct val="150000"/>
              </a:lnSpc>
            </a:pPr>
            <a:r>
              <a:rPr lang="en-GB" altLang="en-US" sz="2400" kern="0" dirty="0"/>
              <a:t>Connected to address bus</a:t>
            </a:r>
          </a:p>
          <a:p>
            <a:pPr lvl="1">
              <a:lnSpc>
                <a:spcPct val="150000"/>
              </a:lnSpc>
            </a:pPr>
            <a:r>
              <a:rPr lang="en-GB" altLang="en-US" sz="2400" kern="0" dirty="0"/>
              <a:t>Specifies address for read or write op </a:t>
            </a:r>
          </a:p>
          <a:p>
            <a:pPr marL="342900" indent="-342900">
              <a:lnSpc>
                <a:spcPct val="150000"/>
              </a:lnSpc>
              <a:buFont typeface="Wingdings" panose="05000000000000000000" pitchFamily="2" charset="2"/>
              <a:buChar char="q"/>
            </a:pPr>
            <a:r>
              <a:rPr lang="en-GB" altLang="en-US" sz="2400" kern="0" dirty="0"/>
              <a:t>Memory Buffer Register (MBR) </a:t>
            </a:r>
          </a:p>
          <a:p>
            <a:pPr lvl="1">
              <a:lnSpc>
                <a:spcPct val="150000"/>
              </a:lnSpc>
            </a:pPr>
            <a:r>
              <a:rPr lang="en-GB" altLang="en-US" sz="2400" kern="0" dirty="0"/>
              <a:t>Connected to data bus</a:t>
            </a:r>
          </a:p>
          <a:p>
            <a:pPr lvl="1">
              <a:lnSpc>
                <a:spcPct val="150000"/>
              </a:lnSpc>
            </a:pPr>
            <a:r>
              <a:rPr lang="en-GB" altLang="en-US" sz="2400" kern="0" dirty="0"/>
              <a:t>Holds data to write or last data read </a:t>
            </a:r>
          </a:p>
          <a:p>
            <a:pPr lvl="1">
              <a:lnSpc>
                <a:spcPct val="150000"/>
              </a:lnSpc>
              <a:buFont typeface="Wingdings" panose="05000000000000000000" pitchFamily="2" charset="2"/>
              <a:buChar char="q"/>
            </a:pPr>
            <a:r>
              <a:rPr lang="en-GB" altLang="en-US" sz="2400" kern="0" dirty="0"/>
              <a:t>Program Counter (PC) </a:t>
            </a:r>
          </a:p>
          <a:p>
            <a:pPr lvl="1">
              <a:lnSpc>
                <a:spcPct val="150000"/>
              </a:lnSpc>
            </a:pPr>
            <a:r>
              <a:rPr lang="en-GB" altLang="en-US" sz="2400" kern="0" dirty="0"/>
              <a:t>Holds address of next instruction to be fetched</a:t>
            </a:r>
          </a:p>
          <a:p>
            <a:pPr marL="342900" indent="-342900">
              <a:lnSpc>
                <a:spcPct val="150000"/>
              </a:lnSpc>
              <a:buFont typeface="Wingdings" panose="05000000000000000000" pitchFamily="2" charset="2"/>
              <a:buChar char="q"/>
            </a:pPr>
            <a:r>
              <a:rPr lang="en-GB" altLang="en-US" sz="2400" kern="0" dirty="0"/>
              <a:t>Instruction Register (IR) </a:t>
            </a:r>
          </a:p>
          <a:p>
            <a:pPr lvl="1">
              <a:lnSpc>
                <a:spcPct val="150000"/>
              </a:lnSpc>
            </a:pPr>
            <a:r>
              <a:rPr lang="en-GB" altLang="en-US" sz="2400" kern="0" dirty="0"/>
              <a:t>Holds last instruction fetched</a:t>
            </a:r>
          </a:p>
        </p:txBody>
      </p:sp>
    </p:spTree>
    <p:extLst>
      <p:ext uri="{BB962C8B-B14F-4D97-AF65-F5344CB8AC3E}">
        <p14:creationId xmlns:p14="http://schemas.microsoft.com/office/powerpoint/2010/main" val="389210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 calcmode="lin" valueType="num">
                                      <p:cBhvr additive="base">
                                        <p:cTn id="1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 calcmode="lin" valueType="num">
                                      <p:cBhvr additive="base">
                                        <p:cTn id="2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 calcmode="lin" valueType="num">
                                      <p:cBhvr additive="base">
                                        <p:cTn id="2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 calcmode="lin" valueType="num">
                                      <p:cBhvr additive="base">
                                        <p:cTn id="3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 calcmode="lin" valueType="num">
                                      <p:cBhvr additive="base">
                                        <p:cTn id="3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
                                            <p:txEl>
                                              <p:pRg st="8" end="8"/>
                                            </p:txEl>
                                          </p:spTgt>
                                        </p:tgtEl>
                                        <p:attrNameLst>
                                          <p:attrName>style.visibility</p:attrName>
                                        </p:attrNameLst>
                                      </p:cBhvr>
                                      <p:to>
                                        <p:strVal val="visible"/>
                                      </p:to>
                                    </p:set>
                                    <p:anim calcmode="lin" valueType="num">
                                      <p:cBhvr additive="base">
                                        <p:cTn id="45"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6">
                                            <p:txEl>
                                              <p:pRg st="9" end="9"/>
                                            </p:txEl>
                                          </p:spTgt>
                                        </p:tgtEl>
                                        <p:attrNameLst>
                                          <p:attrName>style.visibility</p:attrName>
                                        </p:attrNameLst>
                                      </p:cBhvr>
                                      <p:to>
                                        <p:strVal val="visible"/>
                                      </p:to>
                                    </p:set>
                                    <p:anim calcmode="lin" valueType="num">
                                      <p:cBhvr additive="base">
                                        <p:cTn id="49"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B85-282B-43A1-8079-76CC7AC8CAE3}"/>
              </a:ext>
            </a:extLst>
          </p:cNvPr>
          <p:cNvSpPr>
            <a:spLocks noGrp="1"/>
          </p:cNvSpPr>
          <p:nvPr>
            <p:ph type="title"/>
          </p:nvPr>
        </p:nvSpPr>
        <p:spPr/>
        <p:txBody>
          <a:bodyPr/>
          <a:lstStyle/>
          <a:p>
            <a:r>
              <a:rPr lang="en-US" altLang="en-US" sz="2400" b="0" dirty="0"/>
              <a:t>Executing an Instruction</a:t>
            </a:r>
            <a:endParaRPr lang="en-IN" sz="2400" b="0" dirty="0"/>
          </a:p>
        </p:txBody>
      </p:sp>
      <p:sp>
        <p:nvSpPr>
          <p:cNvPr id="6" name="Rectangle 3">
            <a:extLst>
              <a:ext uri="{FF2B5EF4-FFF2-40B4-BE49-F238E27FC236}">
                <a16:creationId xmlns:a16="http://schemas.microsoft.com/office/drawing/2014/main" id="{5F710C82-9C8B-46A2-A3B9-F59CC590143C}"/>
              </a:ext>
            </a:extLst>
          </p:cNvPr>
          <p:cNvSpPr txBox="1">
            <a:spLocks noChangeArrowheads="1"/>
          </p:cNvSpPr>
          <p:nvPr/>
        </p:nvSpPr>
        <p:spPr>
          <a:xfrm>
            <a:off x="323528" y="1223169"/>
            <a:ext cx="8229600" cy="44116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eaLnBrk="1" hangingPunct="1">
              <a:buFont typeface="Wingdings" panose="05000000000000000000" pitchFamily="2" charset="2"/>
              <a:buChar char="q"/>
            </a:pPr>
            <a:r>
              <a:rPr lang="en-US" altLang="en-US" sz="2600" kern="0" dirty="0"/>
              <a:t>Fetch the contents of the memory location pointed to by the PC. The contents of this location are loaded into the IR (fetch phase).</a:t>
            </a:r>
          </a:p>
          <a:p>
            <a:pPr eaLnBrk="1" hangingPunct="1"/>
            <a:endParaRPr lang="en-US" altLang="en-US" sz="2600" kern="0" dirty="0"/>
          </a:p>
          <a:p>
            <a:pPr eaLnBrk="1" hangingPunct="1">
              <a:buFont typeface="Wingdings" panose="05000000000000000000" pitchFamily="2" charset="2"/>
              <a:buNone/>
            </a:pPr>
            <a:r>
              <a:rPr lang="en-US" altLang="en-US" sz="2600" kern="0" dirty="0"/>
              <a:t>				IR </a:t>
            </a:r>
            <a:r>
              <a:rPr lang="en-US" altLang="en-US" sz="2600" kern="0" dirty="0">
                <a:cs typeface="Arial" panose="020B0604020202020204" pitchFamily="34" charset="0"/>
              </a:rPr>
              <a:t>← [[PC]]</a:t>
            </a:r>
          </a:p>
          <a:p>
            <a:pPr eaLnBrk="1" hangingPunct="1">
              <a:buFont typeface="Wingdings" panose="05000000000000000000" pitchFamily="2" charset="2"/>
              <a:buNone/>
            </a:pPr>
            <a:endParaRPr lang="en-US" altLang="en-US" sz="2600" kern="0" dirty="0">
              <a:cs typeface="Arial" panose="020B0604020202020204" pitchFamily="34" charset="0"/>
            </a:endParaRPr>
          </a:p>
          <a:p>
            <a:pPr marL="457200" indent="-457200" eaLnBrk="1" hangingPunct="1">
              <a:buFont typeface="Wingdings" panose="05000000000000000000" pitchFamily="2" charset="2"/>
              <a:buChar char="q"/>
            </a:pPr>
            <a:r>
              <a:rPr lang="en-US" altLang="en-US" sz="2600" kern="0" dirty="0"/>
              <a:t>Assuming that the memory is byte addressable, increment the contents of the PC by 4 (Assume 4 Byte instruction).</a:t>
            </a:r>
          </a:p>
          <a:p>
            <a:pPr eaLnBrk="1" hangingPunct="1">
              <a:buFont typeface="Wingdings" panose="05000000000000000000" pitchFamily="2" charset="2"/>
              <a:buNone/>
            </a:pPr>
            <a:r>
              <a:rPr lang="en-US" altLang="en-US" sz="2600" kern="0" dirty="0"/>
              <a:t>				PC </a:t>
            </a:r>
            <a:r>
              <a:rPr lang="en-US" altLang="en-US" sz="2600" kern="0" dirty="0">
                <a:cs typeface="Arial" panose="020B0604020202020204" pitchFamily="34" charset="0"/>
              </a:rPr>
              <a:t>← [PC] + 4</a:t>
            </a:r>
          </a:p>
          <a:p>
            <a:pPr eaLnBrk="1" hangingPunct="1">
              <a:buFont typeface="Wingdings" panose="05000000000000000000" pitchFamily="2" charset="2"/>
              <a:buNone/>
            </a:pPr>
            <a:endParaRPr lang="en-US" altLang="en-US" sz="2600" kern="0" dirty="0"/>
          </a:p>
          <a:p>
            <a:pPr marL="457200" indent="-457200" eaLnBrk="1" hangingPunct="1">
              <a:buFont typeface="Wingdings" panose="05000000000000000000" pitchFamily="2" charset="2"/>
              <a:buChar char="q"/>
            </a:pPr>
            <a:r>
              <a:rPr lang="en-US" altLang="en-US" sz="2600" kern="0" dirty="0"/>
              <a:t>Carry out the actions specified by the instruction in the IR (execution phase).</a:t>
            </a:r>
          </a:p>
        </p:txBody>
      </p:sp>
    </p:spTree>
    <p:extLst>
      <p:ext uri="{BB962C8B-B14F-4D97-AF65-F5344CB8AC3E}">
        <p14:creationId xmlns:p14="http://schemas.microsoft.com/office/powerpoint/2010/main" val="3991917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D25F-6BE0-4EB9-9DE6-0DF5289ED958}"/>
              </a:ext>
            </a:extLst>
          </p:cNvPr>
          <p:cNvSpPr>
            <a:spLocks noGrp="1"/>
          </p:cNvSpPr>
          <p:nvPr>
            <p:ph type="title"/>
          </p:nvPr>
        </p:nvSpPr>
        <p:spPr/>
        <p:txBody>
          <a:bodyPr/>
          <a:lstStyle/>
          <a:p>
            <a:r>
              <a:rPr lang="en-US" altLang="en-US" sz="2400" b="0" dirty="0"/>
              <a:t>Processor Organization</a:t>
            </a:r>
            <a:endParaRPr lang="en-IN" sz="2400" b="0" dirty="0"/>
          </a:p>
        </p:txBody>
      </p:sp>
      <p:pic>
        <p:nvPicPr>
          <p:cNvPr id="4" name="Picture 3">
            <a:extLst>
              <a:ext uri="{FF2B5EF4-FFF2-40B4-BE49-F238E27FC236}">
                <a16:creationId xmlns:a16="http://schemas.microsoft.com/office/drawing/2014/main" id="{D1EFA1CD-9F23-4C06-B1CB-8069467963CA}"/>
              </a:ext>
            </a:extLst>
          </p:cNvPr>
          <p:cNvPicPr>
            <a:picLocks noChangeAspect="1"/>
          </p:cNvPicPr>
          <p:nvPr/>
        </p:nvPicPr>
        <p:blipFill>
          <a:blip r:embed="rId2"/>
          <a:stretch>
            <a:fillRect/>
          </a:stretch>
        </p:blipFill>
        <p:spPr>
          <a:xfrm>
            <a:off x="539552" y="764704"/>
            <a:ext cx="7709842" cy="4503645"/>
          </a:xfrm>
          <a:prstGeom prst="rect">
            <a:avLst/>
          </a:prstGeom>
        </p:spPr>
      </p:pic>
    </p:spTree>
    <p:extLst>
      <p:ext uri="{BB962C8B-B14F-4D97-AF65-F5344CB8AC3E}">
        <p14:creationId xmlns:p14="http://schemas.microsoft.com/office/powerpoint/2010/main" val="2745528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B4B75-0DC3-4770-8516-0002EBF834B2}"/>
              </a:ext>
            </a:extLst>
          </p:cNvPr>
          <p:cNvSpPr>
            <a:spLocks noGrp="1"/>
          </p:cNvSpPr>
          <p:nvPr>
            <p:ph type="title"/>
          </p:nvPr>
        </p:nvSpPr>
        <p:spPr/>
        <p:txBody>
          <a:bodyPr/>
          <a:lstStyle/>
          <a:p>
            <a:r>
              <a:rPr lang="en-US" altLang="en-US" sz="2400" b="0" dirty="0"/>
              <a:t>Internal organization of the processor</a:t>
            </a:r>
            <a:endParaRPr lang="en-IN" sz="2400" b="0" dirty="0"/>
          </a:p>
        </p:txBody>
      </p:sp>
      <p:sp>
        <p:nvSpPr>
          <p:cNvPr id="3" name="Rectangle 3">
            <a:extLst>
              <a:ext uri="{FF2B5EF4-FFF2-40B4-BE49-F238E27FC236}">
                <a16:creationId xmlns:a16="http://schemas.microsoft.com/office/drawing/2014/main" id="{3C7B6B79-A0A9-4FE8-9101-014ED3D174DC}"/>
              </a:ext>
            </a:extLst>
          </p:cNvPr>
          <p:cNvSpPr txBox="1">
            <a:spLocks noChangeArrowheads="1"/>
          </p:cNvSpPr>
          <p:nvPr/>
        </p:nvSpPr>
        <p:spPr>
          <a:xfrm>
            <a:off x="457200" y="1052736"/>
            <a:ext cx="8686800" cy="4411663"/>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eaLnBrk="1" hangingPunct="1">
              <a:lnSpc>
                <a:spcPct val="150000"/>
              </a:lnSpc>
              <a:buFont typeface="Courier New" panose="02070309020205020404" pitchFamily="49" charset="0"/>
              <a:buChar char="o"/>
            </a:pPr>
            <a:r>
              <a:rPr lang="en-US" altLang="en-US" sz="2600" kern="0" dirty="0"/>
              <a:t>ALU</a:t>
            </a:r>
          </a:p>
          <a:p>
            <a:pPr marL="457200" indent="-457200" eaLnBrk="1" hangingPunct="1">
              <a:lnSpc>
                <a:spcPct val="150000"/>
              </a:lnSpc>
              <a:buFont typeface="Courier New" panose="02070309020205020404" pitchFamily="49" charset="0"/>
              <a:buChar char="o"/>
            </a:pPr>
            <a:r>
              <a:rPr lang="en-US" altLang="en-US" sz="2600" kern="0" dirty="0"/>
              <a:t> Registers for temporary storage</a:t>
            </a:r>
          </a:p>
          <a:p>
            <a:pPr marL="457200" indent="-457200" eaLnBrk="1" hangingPunct="1">
              <a:lnSpc>
                <a:spcPct val="150000"/>
              </a:lnSpc>
              <a:buFont typeface="Courier New" panose="02070309020205020404" pitchFamily="49" charset="0"/>
              <a:buChar char="o"/>
            </a:pPr>
            <a:r>
              <a:rPr lang="en-US" altLang="en-US" sz="2600" kern="0" dirty="0"/>
              <a:t> Various digital circuits for executing different micro </a:t>
            </a:r>
          </a:p>
          <a:p>
            <a:pPr eaLnBrk="1" hangingPunct="1">
              <a:lnSpc>
                <a:spcPct val="150000"/>
              </a:lnSpc>
            </a:pPr>
            <a:r>
              <a:rPr lang="en-US" altLang="en-US" sz="2600" kern="0" dirty="0"/>
              <a:t>     operations.(gates, </a:t>
            </a:r>
            <a:r>
              <a:rPr lang="en-US" altLang="en-US" sz="2600" kern="0" err="1"/>
              <a:t>MUX</a:t>
            </a:r>
            <a:r>
              <a:rPr lang="en-US" altLang="en-US" sz="2600" kern="0"/>
              <a:t>, decoders</a:t>
            </a:r>
            <a:r>
              <a:rPr lang="en-US" altLang="en-US" sz="2600" kern="0" dirty="0" err="1"/>
              <a:t>,counters</a:t>
            </a:r>
            <a:r>
              <a:rPr lang="en-US" altLang="en-US" sz="2600" kern="0" dirty="0"/>
              <a:t>).</a:t>
            </a:r>
          </a:p>
          <a:p>
            <a:pPr marL="457200" indent="-457200" eaLnBrk="1" hangingPunct="1">
              <a:lnSpc>
                <a:spcPct val="150000"/>
              </a:lnSpc>
              <a:buFont typeface="Courier New" panose="02070309020205020404" pitchFamily="49" charset="0"/>
              <a:buChar char="o"/>
            </a:pPr>
            <a:r>
              <a:rPr lang="en-US" altLang="en-US" sz="2600" kern="0" dirty="0"/>
              <a:t> Internal path for movement of data between ALU and registers.</a:t>
            </a:r>
          </a:p>
          <a:p>
            <a:pPr marL="457200" indent="-457200" eaLnBrk="1" hangingPunct="1">
              <a:lnSpc>
                <a:spcPct val="150000"/>
              </a:lnSpc>
              <a:buFont typeface="Courier New" panose="02070309020205020404" pitchFamily="49" charset="0"/>
              <a:buChar char="o"/>
            </a:pPr>
            <a:r>
              <a:rPr lang="en-US" altLang="en-US" sz="2600" kern="0" dirty="0"/>
              <a:t> Driver circuits for transmitting signals to external units.</a:t>
            </a:r>
          </a:p>
          <a:p>
            <a:pPr marL="457200" indent="-457200" eaLnBrk="1" hangingPunct="1">
              <a:lnSpc>
                <a:spcPct val="150000"/>
              </a:lnSpc>
              <a:buFont typeface="Courier New" panose="02070309020205020404" pitchFamily="49" charset="0"/>
              <a:buChar char="o"/>
            </a:pPr>
            <a:r>
              <a:rPr lang="en-US" altLang="en-US" sz="2600" kern="0" dirty="0"/>
              <a:t> Receiver circuits for incoming signals from external units.</a:t>
            </a:r>
          </a:p>
          <a:p>
            <a:pPr eaLnBrk="1" hangingPunct="1">
              <a:lnSpc>
                <a:spcPct val="150000"/>
              </a:lnSpc>
              <a:buFont typeface="Wingdings" panose="05000000000000000000" pitchFamily="2" charset="2"/>
              <a:buNone/>
            </a:pPr>
            <a:endParaRPr lang="en-US" altLang="en-US" sz="2600" kern="0" dirty="0"/>
          </a:p>
          <a:p>
            <a:pPr eaLnBrk="1" hangingPunct="1">
              <a:lnSpc>
                <a:spcPct val="150000"/>
              </a:lnSpc>
            </a:pPr>
            <a:endParaRPr lang="en-US" altLang="en-US" sz="2600" kern="0" dirty="0"/>
          </a:p>
          <a:p>
            <a:pPr eaLnBrk="1" hangingPunct="1">
              <a:lnSpc>
                <a:spcPct val="150000"/>
              </a:lnSpc>
            </a:pPr>
            <a:endParaRPr lang="en-US" altLang="en-US" sz="2600" kern="0" dirty="0"/>
          </a:p>
        </p:txBody>
      </p:sp>
    </p:spTree>
    <p:extLst>
      <p:ext uri="{BB962C8B-B14F-4D97-AF65-F5344CB8AC3E}">
        <p14:creationId xmlns:p14="http://schemas.microsoft.com/office/powerpoint/2010/main" val="469433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BE53EB26-3CDD-4355-AD19-5C6A02F066E3}"/>
              </a:ext>
            </a:extLst>
          </p:cNvPr>
          <p:cNvSpPr txBox="1">
            <a:spLocks noChangeArrowheads="1"/>
          </p:cNvSpPr>
          <p:nvPr/>
        </p:nvSpPr>
        <p:spPr>
          <a:xfrm>
            <a:off x="152400" y="-155104"/>
            <a:ext cx="8991600" cy="62484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pPr>
            <a:r>
              <a:rPr lang="en-US" altLang="en-US" sz="2100" kern="0"/>
              <a:t>PC: </a:t>
            </a:r>
          </a:p>
          <a:p>
            <a:pPr eaLnBrk="1" hangingPunct="1">
              <a:lnSpc>
                <a:spcPct val="150000"/>
              </a:lnSpc>
              <a:buFont typeface="Wingdings" panose="05000000000000000000" pitchFamily="2" charset="2"/>
              <a:buChar char="v"/>
            </a:pPr>
            <a:r>
              <a:rPr lang="en-US" altLang="en-US" sz="2100" kern="0"/>
              <a:t>     Keeps track of execution of a program</a:t>
            </a:r>
          </a:p>
          <a:p>
            <a:pPr eaLnBrk="1" hangingPunct="1">
              <a:lnSpc>
                <a:spcPct val="150000"/>
              </a:lnSpc>
              <a:buFont typeface="Wingdings" panose="05000000000000000000" pitchFamily="2" charset="2"/>
              <a:buChar char="v"/>
            </a:pPr>
            <a:r>
              <a:rPr lang="en-US" altLang="en-US" sz="2100" kern="0"/>
              <a:t>     Contains the memory address of the next instruction to be fetched and executed.</a:t>
            </a:r>
          </a:p>
          <a:p>
            <a:pPr eaLnBrk="1" hangingPunct="1">
              <a:lnSpc>
                <a:spcPct val="150000"/>
              </a:lnSpc>
              <a:buFont typeface="Wingdings" panose="05000000000000000000" pitchFamily="2" charset="2"/>
              <a:buNone/>
            </a:pPr>
            <a:r>
              <a:rPr lang="en-US" altLang="en-US" sz="2100" kern="0"/>
              <a:t>MAR:</a:t>
            </a:r>
          </a:p>
          <a:p>
            <a:pPr eaLnBrk="1" hangingPunct="1">
              <a:lnSpc>
                <a:spcPct val="150000"/>
              </a:lnSpc>
              <a:buFont typeface="Wingdings" panose="05000000000000000000" pitchFamily="2" charset="2"/>
              <a:buChar char="v"/>
            </a:pPr>
            <a:r>
              <a:rPr lang="en-US" altLang="en-US" sz="2100" kern="0"/>
              <a:t>Holds the address of the location to be accessed.</a:t>
            </a:r>
          </a:p>
          <a:p>
            <a:pPr eaLnBrk="1" hangingPunct="1">
              <a:lnSpc>
                <a:spcPct val="150000"/>
              </a:lnSpc>
              <a:buFont typeface="Wingdings" panose="05000000000000000000" pitchFamily="2" charset="2"/>
              <a:buChar char="v"/>
            </a:pPr>
            <a:r>
              <a:rPr lang="en-US" altLang="en-US" sz="2100" kern="0"/>
              <a:t>I/P of MAR is connected to Internal bus and an O/p to external bus.</a:t>
            </a:r>
          </a:p>
          <a:p>
            <a:pPr eaLnBrk="1" hangingPunct="1">
              <a:lnSpc>
                <a:spcPct val="150000"/>
              </a:lnSpc>
              <a:buFont typeface="Wingdings" panose="05000000000000000000" pitchFamily="2" charset="2"/>
              <a:buNone/>
            </a:pPr>
            <a:r>
              <a:rPr lang="en-US" altLang="en-US" sz="2100" kern="0"/>
              <a:t>MDR:</a:t>
            </a:r>
          </a:p>
          <a:p>
            <a:pPr eaLnBrk="1" hangingPunct="1">
              <a:lnSpc>
                <a:spcPct val="150000"/>
              </a:lnSpc>
              <a:buFont typeface="Wingdings" panose="05000000000000000000" pitchFamily="2" charset="2"/>
              <a:buChar char="v"/>
            </a:pPr>
            <a:r>
              <a:rPr lang="en-US" altLang="en-US" sz="2100" kern="0"/>
              <a:t>Contains data to be written into or read out of the addressed location.</a:t>
            </a:r>
          </a:p>
          <a:p>
            <a:pPr eaLnBrk="1" hangingPunct="1">
              <a:lnSpc>
                <a:spcPct val="150000"/>
              </a:lnSpc>
              <a:buFont typeface="Wingdings" panose="05000000000000000000" pitchFamily="2" charset="2"/>
              <a:buChar char="v"/>
            </a:pPr>
            <a:r>
              <a:rPr lang="en-US" altLang="en-US" sz="2100" kern="0"/>
              <a:t>IT has 2 inputs and 2 Outputs.</a:t>
            </a:r>
          </a:p>
          <a:p>
            <a:pPr eaLnBrk="1" hangingPunct="1">
              <a:lnSpc>
                <a:spcPct val="150000"/>
              </a:lnSpc>
              <a:buFont typeface="Wingdings" panose="05000000000000000000" pitchFamily="2" charset="2"/>
              <a:buChar char="v"/>
            </a:pPr>
            <a:r>
              <a:rPr lang="en-US" altLang="en-US" sz="2100" kern="0"/>
              <a:t>Data can be loaded into MDR either from memory bus or from internal processor bus.</a:t>
            </a:r>
          </a:p>
          <a:p>
            <a:pPr eaLnBrk="1" hangingPunct="1">
              <a:lnSpc>
                <a:spcPct val="150000"/>
              </a:lnSpc>
              <a:buFont typeface="Wingdings" panose="05000000000000000000" pitchFamily="2" charset="2"/>
              <a:buNone/>
            </a:pPr>
            <a:r>
              <a:rPr lang="en-US" altLang="en-US" sz="2100" kern="0"/>
              <a:t>The data and address lines are connected to the internal bus via MDR and MAR </a:t>
            </a:r>
          </a:p>
          <a:p>
            <a:pPr eaLnBrk="1" hangingPunct="1">
              <a:lnSpc>
                <a:spcPct val="150000"/>
              </a:lnSpc>
              <a:buFont typeface="Wingdings" panose="05000000000000000000" pitchFamily="2" charset="2"/>
              <a:buNone/>
            </a:pPr>
            <a:endParaRPr lang="en-US" altLang="en-US" sz="2100" kern="0"/>
          </a:p>
          <a:p>
            <a:pPr eaLnBrk="1" hangingPunct="1">
              <a:lnSpc>
                <a:spcPct val="150000"/>
              </a:lnSpc>
              <a:buFont typeface="Wingdings" panose="05000000000000000000" pitchFamily="2" charset="2"/>
              <a:buNone/>
            </a:pPr>
            <a:endParaRPr lang="en-US" altLang="en-US" sz="2100" kern="0"/>
          </a:p>
          <a:p>
            <a:pPr eaLnBrk="1" hangingPunct="1">
              <a:lnSpc>
                <a:spcPct val="150000"/>
              </a:lnSpc>
              <a:buFont typeface="Wingdings" panose="05000000000000000000" pitchFamily="2" charset="2"/>
              <a:buNone/>
            </a:pPr>
            <a:r>
              <a:rPr lang="en-US" altLang="en-US" sz="2100" kern="0"/>
              <a:t>          </a:t>
            </a:r>
            <a:endParaRPr lang="en-US" altLang="en-US" sz="2100" kern="0" dirty="0"/>
          </a:p>
        </p:txBody>
      </p:sp>
    </p:spTree>
    <p:extLst>
      <p:ext uri="{BB962C8B-B14F-4D97-AF65-F5344CB8AC3E}">
        <p14:creationId xmlns:p14="http://schemas.microsoft.com/office/powerpoint/2010/main" val="339157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D6A2B786-B25C-4EBA-B6E3-E139D1B6811A}"/>
              </a:ext>
            </a:extLst>
          </p:cNvPr>
          <p:cNvSpPr txBox="1">
            <a:spLocks noChangeArrowheads="1"/>
          </p:cNvSpPr>
          <p:nvPr/>
        </p:nvSpPr>
        <p:spPr>
          <a:xfrm>
            <a:off x="107504" y="476672"/>
            <a:ext cx="9036496" cy="5673725"/>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buFont typeface="Wingdings" panose="05000000000000000000" pitchFamily="2" charset="2"/>
              <a:buNone/>
            </a:pPr>
            <a:r>
              <a:rPr lang="en-US" altLang="en-US" sz="2600" kern="0" dirty="0"/>
              <a:t>Registers:</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The processor registers R</a:t>
            </a:r>
            <a:r>
              <a:rPr lang="en-US" altLang="en-US" sz="2400" kern="0" baseline="-25000" dirty="0">
                <a:latin typeface="Times New Roman" panose="02020603050405020304" pitchFamily="18" charset="0"/>
              </a:rPr>
              <a:t>0</a:t>
            </a:r>
            <a:r>
              <a:rPr lang="en-US" altLang="en-US" sz="2400" kern="0" dirty="0">
                <a:latin typeface="Times New Roman" panose="02020603050405020304" pitchFamily="18" charset="0"/>
              </a:rPr>
              <a:t> to R</a:t>
            </a:r>
            <a:r>
              <a:rPr lang="en-US" altLang="en-US" sz="2400" kern="0" baseline="-25000" dirty="0">
                <a:latin typeface="Times New Roman" panose="02020603050405020304" pitchFamily="18" charset="0"/>
              </a:rPr>
              <a:t>n-1</a:t>
            </a:r>
            <a:r>
              <a:rPr lang="en-US" altLang="en-US" sz="2400" kern="0" dirty="0">
                <a:latin typeface="Times New Roman" panose="02020603050405020304" pitchFamily="18" charset="0"/>
              </a:rPr>
              <a:t> vary considerably from one processor to another.</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Registers are provided for general purpose  used by programmer.</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Special purpose registers-index &amp; stack registers.</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Registers Y,Z &amp;TEMP are temporary  registers :used by processor  during the execution of some instruction.</a:t>
            </a:r>
          </a:p>
          <a:p>
            <a:pPr eaLnBrk="1" hangingPunct="1">
              <a:lnSpc>
                <a:spcPct val="150000"/>
              </a:lnSpc>
              <a:buFont typeface="Wingdings" panose="05000000000000000000" pitchFamily="2" charset="2"/>
              <a:buNone/>
            </a:pPr>
            <a:r>
              <a:rPr lang="en-US" altLang="en-US" sz="2400" kern="0" dirty="0">
                <a:latin typeface="Times New Roman" panose="02020603050405020304" pitchFamily="18" charset="0"/>
              </a:rPr>
              <a:t>Multiplexer:</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Select either the output of the register Y or a constant value 4 to be provided as input A of the ALU.</a:t>
            </a:r>
          </a:p>
          <a:p>
            <a:pPr eaLnBrk="1" hangingPunct="1">
              <a:lnSpc>
                <a:spcPct val="150000"/>
              </a:lnSpc>
              <a:buFont typeface="Wingdings" panose="05000000000000000000" pitchFamily="2" charset="2"/>
              <a:buChar char="v"/>
            </a:pPr>
            <a:r>
              <a:rPr lang="en-US" altLang="en-US" sz="2400" kern="0" dirty="0">
                <a:latin typeface="Times New Roman" panose="02020603050405020304" pitchFamily="18" charset="0"/>
              </a:rPr>
              <a:t>Constant 4 is used by the processor to increment the contents of PC.</a:t>
            </a:r>
          </a:p>
          <a:p>
            <a:pPr eaLnBrk="1" hangingPunct="1">
              <a:lnSpc>
                <a:spcPct val="150000"/>
              </a:lnSpc>
              <a:buFont typeface="Wingdings" panose="05000000000000000000" pitchFamily="2" charset="2"/>
              <a:buNone/>
            </a:pPr>
            <a:endParaRPr lang="en-US" altLang="en-US" sz="2400" kern="0" dirty="0">
              <a:latin typeface="Times New Roman" panose="02020603050405020304" pitchFamily="18" charset="0"/>
            </a:endParaRPr>
          </a:p>
          <a:p>
            <a:pPr eaLnBrk="1" hangingPunct="1">
              <a:lnSpc>
                <a:spcPct val="150000"/>
              </a:lnSpc>
            </a:pPr>
            <a:endParaRPr lang="en-US" altLang="en-US" sz="2400" kern="0" dirty="0">
              <a:latin typeface="Times New Roman" panose="02020603050405020304" pitchFamily="18" charset="0"/>
            </a:endParaRPr>
          </a:p>
        </p:txBody>
      </p:sp>
    </p:spTree>
    <p:extLst>
      <p:ext uri="{BB962C8B-B14F-4D97-AF65-F5344CB8AC3E}">
        <p14:creationId xmlns:p14="http://schemas.microsoft.com/office/powerpoint/2010/main" val="2863472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BD7DC1BC-1BC0-4B9B-9CFE-118AF4B4E749}"/>
              </a:ext>
            </a:extLst>
          </p:cNvPr>
          <p:cNvSpPr txBox="1">
            <a:spLocks noChangeArrowheads="1"/>
          </p:cNvSpPr>
          <p:nvPr/>
        </p:nvSpPr>
        <p:spPr>
          <a:xfrm>
            <a:off x="107504" y="908720"/>
            <a:ext cx="8229600" cy="4411663"/>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buFont typeface="Wingdings" panose="05000000000000000000" pitchFamily="2" charset="2"/>
              <a:buNone/>
            </a:pPr>
            <a:r>
              <a:rPr lang="en-US" altLang="en-US" sz="2400" kern="0"/>
              <a:t>ALU: </a:t>
            </a:r>
          </a:p>
          <a:p>
            <a:pPr eaLnBrk="1" hangingPunct="1">
              <a:lnSpc>
                <a:spcPct val="150000"/>
              </a:lnSpc>
              <a:buFont typeface="Wingdings" panose="05000000000000000000" pitchFamily="2" charset="2"/>
              <a:buNone/>
            </a:pPr>
            <a:r>
              <a:rPr lang="en-US" altLang="en-US" sz="2400" kern="0"/>
              <a:t>Used to perform arithmetic and logical operation.</a:t>
            </a:r>
          </a:p>
          <a:p>
            <a:pPr eaLnBrk="1" hangingPunct="1">
              <a:lnSpc>
                <a:spcPct val="150000"/>
              </a:lnSpc>
              <a:buFont typeface="Wingdings" panose="05000000000000000000" pitchFamily="2" charset="2"/>
              <a:buNone/>
            </a:pPr>
            <a:r>
              <a:rPr lang="en-US" altLang="en-US" sz="2400" kern="0"/>
              <a:t>Data Path:</a:t>
            </a:r>
          </a:p>
          <a:p>
            <a:pPr eaLnBrk="1" hangingPunct="1">
              <a:lnSpc>
                <a:spcPct val="150000"/>
              </a:lnSpc>
              <a:buFont typeface="Wingdings" panose="05000000000000000000" pitchFamily="2" charset="2"/>
              <a:buNone/>
            </a:pPr>
            <a:r>
              <a:rPr lang="en-US" altLang="en-US" sz="2400" kern="0"/>
              <a:t>The registers, ALU and interconnecting bus are collectively referred to as the data path.</a:t>
            </a:r>
            <a:endParaRPr lang="en-US" altLang="en-US" sz="2400" kern="0" dirty="0"/>
          </a:p>
        </p:txBody>
      </p:sp>
    </p:spTree>
    <p:extLst>
      <p:ext uri="{BB962C8B-B14F-4D97-AF65-F5344CB8AC3E}">
        <p14:creationId xmlns:p14="http://schemas.microsoft.com/office/powerpoint/2010/main" val="3754930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2617C-BB1F-4E74-AE4F-2E1571817681}"/>
              </a:ext>
            </a:extLst>
          </p:cNvPr>
          <p:cNvSpPr>
            <a:spLocks noGrp="1"/>
          </p:cNvSpPr>
          <p:nvPr>
            <p:ph type="title"/>
          </p:nvPr>
        </p:nvSpPr>
        <p:spPr/>
        <p:txBody>
          <a:bodyPr/>
          <a:lstStyle/>
          <a:p>
            <a:r>
              <a:rPr lang="en-US" altLang="en-US" sz="2400" b="0" dirty="0"/>
              <a:t>Register Transfers</a:t>
            </a:r>
            <a:endParaRPr lang="en-IN" sz="2400" b="0" dirty="0"/>
          </a:p>
        </p:txBody>
      </p:sp>
      <p:pic>
        <p:nvPicPr>
          <p:cNvPr id="112" name="Picture 111">
            <a:extLst>
              <a:ext uri="{FF2B5EF4-FFF2-40B4-BE49-F238E27FC236}">
                <a16:creationId xmlns:a16="http://schemas.microsoft.com/office/drawing/2014/main" id="{857CA612-52C3-44E8-9F0E-F8F93A42E2AB}"/>
              </a:ext>
            </a:extLst>
          </p:cNvPr>
          <p:cNvPicPr>
            <a:picLocks noChangeAspect="1"/>
          </p:cNvPicPr>
          <p:nvPr/>
        </p:nvPicPr>
        <p:blipFill>
          <a:blip r:embed="rId2"/>
          <a:stretch>
            <a:fillRect/>
          </a:stretch>
        </p:blipFill>
        <p:spPr>
          <a:xfrm>
            <a:off x="251520" y="1196752"/>
            <a:ext cx="4220295" cy="4896544"/>
          </a:xfrm>
          <a:prstGeom prst="rect">
            <a:avLst/>
          </a:prstGeom>
        </p:spPr>
      </p:pic>
      <p:sp>
        <p:nvSpPr>
          <p:cNvPr id="113" name="Rectangle 3">
            <a:extLst>
              <a:ext uri="{FF2B5EF4-FFF2-40B4-BE49-F238E27FC236}">
                <a16:creationId xmlns:a16="http://schemas.microsoft.com/office/drawing/2014/main" id="{5E4BD26A-1391-40A9-8593-8A6071BEFFA2}"/>
              </a:ext>
            </a:extLst>
          </p:cNvPr>
          <p:cNvSpPr txBox="1">
            <a:spLocks noChangeArrowheads="1"/>
          </p:cNvSpPr>
          <p:nvPr/>
        </p:nvSpPr>
        <p:spPr>
          <a:xfrm>
            <a:off x="4932041" y="873968"/>
            <a:ext cx="3860254" cy="58674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eaLnBrk="1" hangingPunct="1">
              <a:lnSpc>
                <a:spcPct val="150000"/>
              </a:lnSpc>
              <a:buFont typeface="Wingdings" panose="05000000000000000000" pitchFamily="2" charset="2"/>
              <a:buChar char="q"/>
            </a:pPr>
            <a:r>
              <a:rPr lang="en-US" altLang="en-US" sz="2000" kern="0" dirty="0"/>
              <a:t>The input and output gates for register R</a:t>
            </a:r>
            <a:r>
              <a:rPr lang="en-US" altLang="en-US" sz="2000" kern="0" baseline="-25000" dirty="0"/>
              <a:t>i </a:t>
            </a:r>
            <a:r>
              <a:rPr lang="en-US" altLang="en-US" sz="2000" kern="0" dirty="0"/>
              <a:t>are controlled by signals in R</a:t>
            </a:r>
            <a:r>
              <a:rPr lang="en-US" altLang="en-US" sz="2000" kern="0" baseline="-25000" dirty="0"/>
              <a:t>in</a:t>
            </a:r>
            <a:r>
              <a:rPr lang="en-US" altLang="en-US" sz="2000" kern="0" dirty="0"/>
              <a:t> and </a:t>
            </a:r>
            <a:r>
              <a:rPr lang="en-US" altLang="en-US" sz="2000" kern="0" dirty="0" err="1"/>
              <a:t>R</a:t>
            </a:r>
            <a:r>
              <a:rPr lang="en-US" altLang="en-US" sz="2000" kern="0" baseline="-25000" dirty="0" err="1"/>
              <a:t>iout</a:t>
            </a:r>
            <a:r>
              <a:rPr lang="en-US" altLang="en-US" sz="2000" kern="0" baseline="-25000" dirty="0"/>
              <a:t> .</a:t>
            </a:r>
          </a:p>
          <a:p>
            <a:pPr marL="342900" indent="-342900" eaLnBrk="1" hangingPunct="1">
              <a:lnSpc>
                <a:spcPct val="150000"/>
              </a:lnSpc>
              <a:buFont typeface="Wingdings" panose="05000000000000000000" pitchFamily="2" charset="2"/>
              <a:buChar char="q"/>
            </a:pPr>
            <a:r>
              <a:rPr lang="en-US" altLang="en-US" sz="2000" kern="0" baseline="-25000" dirty="0"/>
              <a:t> </a:t>
            </a:r>
            <a:r>
              <a:rPr lang="en-US" altLang="en-US" sz="2000" kern="0" dirty="0"/>
              <a:t>R</a:t>
            </a:r>
            <a:r>
              <a:rPr lang="en-US" altLang="en-US" sz="2000" kern="0" baseline="-25000" dirty="0"/>
              <a:t>in </a:t>
            </a:r>
            <a:r>
              <a:rPr lang="en-US" altLang="en-US" sz="2000" kern="0" dirty="0"/>
              <a:t>Is set to1 – data available on common bus are loaded into R</a:t>
            </a:r>
            <a:r>
              <a:rPr lang="en-US" altLang="en-US" sz="2000" kern="0" baseline="-25000" dirty="0"/>
              <a:t>i</a:t>
            </a:r>
            <a:r>
              <a:rPr lang="en-US" altLang="en-US" sz="2000" kern="0" dirty="0"/>
              <a:t>.</a:t>
            </a:r>
          </a:p>
          <a:p>
            <a:pPr marL="342900" indent="-342900" eaLnBrk="1" hangingPunct="1">
              <a:lnSpc>
                <a:spcPct val="150000"/>
              </a:lnSpc>
              <a:buFont typeface="Wingdings" panose="05000000000000000000" pitchFamily="2" charset="2"/>
              <a:buChar char="q"/>
            </a:pPr>
            <a:r>
              <a:rPr lang="en-US" altLang="en-US" sz="2000" kern="0" dirty="0"/>
              <a:t> </a:t>
            </a:r>
            <a:r>
              <a:rPr lang="en-US" altLang="en-US" sz="2000" kern="0" dirty="0" err="1"/>
              <a:t>R</a:t>
            </a:r>
            <a:r>
              <a:rPr lang="en-US" altLang="en-US" sz="2000" kern="0" baseline="-25000" dirty="0" err="1"/>
              <a:t>iout</a:t>
            </a:r>
            <a:r>
              <a:rPr lang="en-US" altLang="en-US" sz="2000" kern="0" dirty="0"/>
              <a:t> Is set to1 – the contents of register are placed on the bus.</a:t>
            </a:r>
          </a:p>
          <a:p>
            <a:pPr marL="342900" indent="-342900" eaLnBrk="1" hangingPunct="1">
              <a:lnSpc>
                <a:spcPct val="150000"/>
              </a:lnSpc>
              <a:buFont typeface="Wingdings" panose="05000000000000000000" pitchFamily="2" charset="2"/>
              <a:buChar char="q"/>
            </a:pPr>
            <a:r>
              <a:rPr lang="en-US" altLang="en-US" sz="2000" kern="0" dirty="0"/>
              <a:t> </a:t>
            </a:r>
            <a:r>
              <a:rPr lang="en-US" altLang="en-US" sz="2000" kern="0" dirty="0" err="1"/>
              <a:t>R</a:t>
            </a:r>
            <a:r>
              <a:rPr lang="en-US" altLang="en-US" sz="2000" kern="0" baseline="-25000" dirty="0" err="1"/>
              <a:t>iout</a:t>
            </a:r>
            <a:r>
              <a:rPr lang="en-US" altLang="en-US" sz="2000" kern="0" dirty="0"/>
              <a:t> Is set to 0 – the bus can be used for transferring data from other registers .</a:t>
            </a:r>
          </a:p>
          <a:p>
            <a:pPr eaLnBrk="1" hangingPunct="1">
              <a:lnSpc>
                <a:spcPct val="150000"/>
              </a:lnSpc>
              <a:buFont typeface="Wingdings" panose="05000000000000000000" pitchFamily="2" charset="2"/>
              <a:buNone/>
            </a:pPr>
            <a:r>
              <a:rPr lang="en-US" altLang="en-US" sz="2000" kern="0" dirty="0"/>
              <a:t> </a:t>
            </a:r>
          </a:p>
        </p:txBody>
      </p:sp>
    </p:spTree>
    <p:extLst>
      <p:ext uri="{BB962C8B-B14F-4D97-AF65-F5344CB8AC3E}">
        <p14:creationId xmlns:p14="http://schemas.microsoft.com/office/powerpoint/2010/main" val="3913964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FB65F-C00A-44C8-8D23-AB201F8C870D}"/>
              </a:ext>
            </a:extLst>
          </p:cNvPr>
          <p:cNvSpPr>
            <a:spLocks noGrp="1"/>
          </p:cNvSpPr>
          <p:nvPr>
            <p:ph type="title"/>
          </p:nvPr>
        </p:nvSpPr>
        <p:spPr/>
        <p:txBody>
          <a:bodyPr/>
          <a:lstStyle/>
          <a:p>
            <a:r>
              <a:rPr lang="en-US" altLang="en-US" sz="2400" dirty="0"/>
              <a:t>Data transfer between two registers:</a:t>
            </a:r>
            <a:endParaRPr lang="en-IN" sz="2400" dirty="0"/>
          </a:p>
        </p:txBody>
      </p:sp>
      <p:sp>
        <p:nvSpPr>
          <p:cNvPr id="3" name="Rectangle 2">
            <a:extLst>
              <a:ext uri="{FF2B5EF4-FFF2-40B4-BE49-F238E27FC236}">
                <a16:creationId xmlns:a16="http://schemas.microsoft.com/office/drawing/2014/main" id="{28A2C1ED-F6B5-448D-BE30-CE9CD11911BD}"/>
              </a:ext>
            </a:extLst>
          </p:cNvPr>
          <p:cNvSpPr/>
          <p:nvPr/>
        </p:nvSpPr>
        <p:spPr>
          <a:xfrm>
            <a:off x="122238" y="932475"/>
            <a:ext cx="8806246" cy="3690177"/>
          </a:xfrm>
          <a:prstGeom prst="rect">
            <a:avLst/>
          </a:prstGeom>
        </p:spPr>
        <p:txBody>
          <a:bodyPr wrap="square">
            <a:spAutoFit/>
          </a:bodyPr>
          <a:lstStyle/>
          <a:p>
            <a:pPr marL="571500" indent="-571500">
              <a:lnSpc>
                <a:spcPct val="200000"/>
              </a:lnSpc>
            </a:pPr>
            <a:r>
              <a:rPr lang="en-US" altLang="en-US" sz="2000" dirty="0"/>
              <a:t>EX:</a:t>
            </a:r>
          </a:p>
          <a:p>
            <a:pPr marL="571500" indent="-571500">
              <a:lnSpc>
                <a:spcPct val="200000"/>
              </a:lnSpc>
            </a:pPr>
            <a:r>
              <a:rPr lang="en-US" altLang="en-US" sz="2000" dirty="0"/>
              <a:t>Transfer the contents of R1 to R4.</a:t>
            </a:r>
          </a:p>
          <a:p>
            <a:pPr marL="571500" indent="-571500">
              <a:lnSpc>
                <a:spcPct val="200000"/>
              </a:lnSpc>
              <a:buFont typeface="Wingdings" panose="05000000000000000000" pitchFamily="2" charset="2"/>
              <a:buAutoNum type="arabicPeriod"/>
            </a:pPr>
            <a:r>
              <a:rPr lang="en-US" altLang="en-US" sz="2000" dirty="0"/>
              <a:t>Enable output of register R</a:t>
            </a:r>
            <a:r>
              <a:rPr lang="en-US" altLang="en-US" sz="2000" baseline="-25000" dirty="0"/>
              <a:t>1</a:t>
            </a:r>
            <a:r>
              <a:rPr lang="en-US" altLang="en-US" sz="2000" dirty="0"/>
              <a:t> by setting R</a:t>
            </a:r>
            <a:r>
              <a:rPr lang="en-US" altLang="en-US" sz="2000" baseline="-25000" dirty="0"/>
              <a:t>1out</a:t>
            </a:r>
            <a:r>
              <a:rPr lang="en-US" altLang="en-US" sz="2000" dirty="0"/>
              <a:t>=1. This places the contents of R</a:t>
            </a:r>
            <a:r>
              <a:rPr lang="en-US" altLang="en-US" sz="2000" baseline="-25000" dirty="0"/>
              <a:t>1</a:t>
            </a:r>
            <a:r>
              <a:rPr lang="en-US" altLang="en-US" sz="2000" dirty="0"/>
              <a:t> on the processor bus.</a:t>
            </a:r>
          </a:p>
          <a:p>
            <a:pPr marL="571500" indent="-571500">
              <a:lnSpc>
                <a:spcPct val="200000"/>
              </a:lnSpc>
              <a:buFont typeface="Wingdings" panose="05000000000000000000" pitchFamily="2" charset="2"/>
              <a:buAutoNum type="arabicPeriod"/>
            </a:pPr>
            <a:r>
              <a:rPr lang="en-US" altLang="en-US" sz="2000" dirty="0"/>
              <a:t>Enable input of register R</a:t>
            </a:r>
            <a:r>
              <a:rPr lang="en-US" altLang="en-US" sz="2000" baseline="-25000" dirty="0"/>
              <a:t>4</a:t>
            </a:r>
            <a:r>
              <a:rPr lang="en-US" altLang="en-US" sz="2000" dirty="0"/>
              <a:t> by setting R</a:t>
            </a:r>
            <a:r>
              <a:rPr lang="en-US" altLang="en-US" sz="2000" baseline="-25000" dirty="0"/>
              <a:t>4in</a:t>
            </a:r>
            <a:r>
              <a:rPr lang="en-US" altLang="en-US" sz="2000" dirty="0"/>
              <a:t>=1. This loads the data from the processor bus into register R</a:t>
            </a:r>
            <a:r>
              <a:rPr lang="en-US" altLang="en-US" sz="2000" baseline="-25000" dirty="0"/>
              <a:t>4</a:t>
            </a:r>
            <a:r>
              <a:rPr lang="en-US" altLang="en-US" sz="2000" dirty="0"/>
              <a:t>.</a:t>
            </a:r>
          </a:p>
        </p:txBody>
      </p:sp>
    </p:spTree>
    <p:extLst>
      <p:ext uri="{BB962C8B-B14F-4D97-AF65-F5344CB8AC3E}">
        <p14:creationId xmlns:p14="http://schemas.microsoft.com/office/powerpoint/2010/main" val="294653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CF1E-4944-43F0-81A3-4DB115156870}"/>
              </a:ext>
            </a:extLst>
          </p:cNvPr>
          <p:cNvSpPr>
            <a:spLocks noGrp="1"/>
          </p:cNvSpPr>
          <p:nvPr>
            <p:ph type="title"/>
          </p:nvPr>
        </p:nvSpPr>
        <p:spPr/>
        <p:txBody>
          <a:bodyPr/>
          <a:lstStyle/>
          <a:p>
            <a:r>
              <a:rPr lang="en-GB" altLang="en-US" sz="2400" b="0" dirty="0"/>
              <a:t>Fetch Sequence (symbolic)</a:t>
            </a:r>
            <a:endParaRPr lang="en-IN" sz="2400" b="0" dirty="0"/>
          </a:p>
        </p:txBody>
      </p:sp>
      <p:sp>
        <p:nvSpPr>
          <p:cNvPr id="7" name="Rectangle 5">
            <a:extLst>
              <a:ext uri="{FF2B5EF4-FFF2-40B4-BE49-F238E27FC236}">
                <a16:creationId xmlns:a16="http://schemas.microsoft.com/office/drawing/2014/main" id="{9EA93F29-74EE-4859-B14A-B54B69002DA9}"/>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t1:	MAR &lt;- (PC)</a:t>
            </a:r>
          </a:p>
          <a:p>
            <a:pPr>
              <a:lnSpc>
                <a:spcPct val="150000"/>
              </a:lnSpc>
            </a:pPr>
            <a:r>
              <a:rPr lang="en-GB" altLang="en-US" sz="2000" kern="0" dirty="0"/>
              <a:t>t2:	MBR &lt;- (memory)</a:t>
            </a:r>
          </a:p>
          <a:p>
            <a:pPr>
              <a:lnSpc>
                <a:spcPct val="150000"/>
              </a:lnSpc>
            </a:pPr>
            <a:r>
              <a:rPr lang="en-GB" altLang="en-US" sz="2000" kern="0" dirty="0"/>
              <a:t> 	PC &lt;- (PC) +n</a:t>
            </a:r>
          </a:p>
          <a:p>
            <a:pPr>
              <a:lnSpc>
                <a:spcPct val="150000"/>
              </a:lnSpc>
            </a:pPr>
            <a:r>
              <a:rPr lang="en-GB" altLang="en-US" sz="2000" kern="0" dirty="0"/>
              <a:t>t3:	IR &lt;- (MBR)</a:t>
            </a:r>
          </a:p>
          <a:p>
            <a:pPr>
              <a:lnSpc>
                <a:spcPct val="150000"/>
              </a:lnSpc>
            </a:pPr>
            <a:r>
              <a:rPr lang="en-GB" altLang="en-US" sz="2000" kern="0" dirty="0"/>
              <a:t>(</a:t>
            </a:r>
            <a:r>
              <a:rPr lang="en-GB" altLang="en-US" sz="2000" kern="0" dirty="0" err="1"/>
              <a:t>tx</a:t>
            </a:r>
            <a:r>
              <a:rPr lang="en-GB" altLang="en-US" sz="2000" kern="0" dirty="0"/>
              <a:t> = time unit/clock cycle)</a:t>
            </a:r>
          </a:p>
          <a:p>
            <a:pPr>
              <a:lnSpc>
                <a:spcPct val="150000"/>
              </a:lnSpc>
            </a:pPr>
            <a:r>
              <a:rPr lang="en-GB" altLang="en-US" sz="2000" kern="0" dirty="0"/>
              <a:t>or</a:t>
            </a:r>
          </a:p>
          <a:p>
            <a:pPr>
              <a:lnSpc>
                <a:spcPct val="150000"/>
              </a:lnSpc>
            </a:pPr>
            <a:r>
              <a:rPr lang="en-GB" altLang="en-US" sz="2000" kern="0" dirty="0"/>
              <a:t>t1:	MAR &lt;- (PC)</a:t>
            </a:r>
          </a:p>
          <a:p>
            <a:pPr>
              <a:lnSpc>
                <a:spcPct val="150000"/>
              </a:lnSpc>
            </a:pPr>
            <a:r>
              <a:rPr lang="en-GB" altLang="en-US" sz="2000" kern="0" dirty="0"/>
              <a:t>t2:	MBR &lt;- (memory)</a:t>
            </a:r>
          </a:p>
          <a:p>
            <a:pPr>
              <a:lnSpc>
                <a:spcPct val="150000"/>
              </a:lnSpc>
            </a:pPr>
            <a:r>
              <a:rPr lang="en-GB" altLang="en-US" sz="2000" kern="0" dirty="0"/>
              <a:t>t3:	PC &lt;- (PC) +n </a:t>
            </a:r>
          </a:p>
          <a:p>
            <a:pPr>
              <a:lnSpc>
                <a:spcPct val="150000"/>
              </a:lnSpc>
            </a:pPr>
            <a:r>
              <a:rPr lang="en-GB" altLang="en-US" sz="2000" kern="0" dirty="0"/>
              <a:t>	IR &lt;- (MBR)</a:t>
            </a:r>
          </a:p>
          <a:p>
            <a:pPr>
              <a:lnSpc>
                <a:spcPct val="150000"/>
              </a:lnSpc>
            </a:pPr>
            <a:r>
              <a:rPr lang="en-GB" altLang="en-US" sz="2000" kern="0" dirty="0"/>
              <a:t>Assume n byte instruction</a:t>
            </a:r>
          </a:p>
        </p:txBody>
      </p:sp>
    </p:spTree>
    <p:extLst>
      <p:ext uri="{BB962C8B-B14F-4D97-AF65-F5344CB8AC3E}">
        <p14:creationId xmlns:p14="http://schemas.microsoft.com/office/powerpoint/2010/main" val="4085897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ECF1E-4944-43F0-81A3-4DB115156870}"/>
              </a:ext>
            </a:extLst>
          </p:cNvPr>
          <p:cNvSpPr>
            <a:spLocks noGrp="1"/>
          </p:cNvSpPr>
          <p:nvPr>
            <p:ph type="title"/>
          </p:nvPr>
        </p:nvSpPr>
        <p:spPr/>
        <p:txBody>
          <a:bodyPr/>
          <a:lstStyle/>
          <a:p>
            <a:r>
              <a:rPr lang="en-GB" altLang="en-US" sz="2400" b="0" dirty="0"/>
              <a:t>Rules for Clock Cycle Grouping</a:t>
            </a:r>
            <a:endParaRPr lang="en-IN" sz="2400" b="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857CB40-5E89-44D1-97C2-B1D273E09927}"/>
                  </a:ext>
                </a:extLst>
              </p14:cNvPr>
              <p14:cNvContentPartPr/>
              <p14:nvPr/>
            </p14:nvContentPartPr>
            <p14:xfrm>
              <a:off x="1235880" y="2848680"/>
              <a:ext cx="4899240" cy="2336040"/>
            </p14:xfrm>
          </p:contentPart>
        </mc:Choice>
        <mc:Fallback xmlns="">
          <p:pic>
            <p:nvPicPr>
              <p:cNvPr id="4" name="Ink 3">
                <a:extLst>
                  <a:ext uri="{FF2B5EF4-FFF2-40B4-BE49-F238E27FC236}">
                    <a16:creationId xmlns:a16="http://schemas.microsoft.com/office/drawing/2014/main" id="{4857CB40-5E89-44D1-97C2-B1D273E09927}"/>
                  </a:ext>
                </a:extLst>
              </p:cNvPr>
              <p:cNvPicPr/>
              <p:nvPr/>
            </p:nvPicPr>
            <p:blipFill>
              <a:blip r:embed="rId3"/>
              <a:stretch>
                <a:fillRect/>
              </a:stretch>
            </p:blipFill>
            <p:spPr>
              <a:xfrm>
                <a:off x="1226520" y="2839320"/>
                <a:ext cx="4917960" cy="2354760"/>
              </a:xfrm>
              <a:prstGeom prst="rect">
                <a:avLst/>
              </a:prstGeom>
            </p:spPr>
          </p:pic>
        </mc:Fallback>
      </mc:AlternateContent>
      <p:sp>
        <p:nvSpPr>
          <p:cNvPr id="5" name="Rectangle 5">
            <a:extLst>
              <a:ext uri="{FF2B5EF4-FFF2-40B4-BE49-F238E27FC236}">
                <a16:creationId xmlns:a16="http://schemas.microsoft.com/office/drawing/2014/main" id="{A7742C23-763C-4965-BA52-BA640CA55400}"/>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400" kern="0" dirty="0"/>
              <a:t>Proper sequence must be followed</a:t>
            </a:r>
          </a:p>
          <a:p>
            <a:pPr lvl="1">
              <a:lnSpc>
                <a:spcPct val="150000"/>
              </a:lnSpc>
            </a:pPr>
            <a:r>
              <a:rPr lang="en-GB" altLang="en-US" sz="2400" kern="0" dirty="0"/>
              <a:t>MAR &lt;- (PC) must precede MBR &lt;- (memory)</a:t>
            </a:r>
          </a:p>
          <a:p>
            <a:pPr>
              <a:lnSpc>
                <a:spcPct val="150000"/>
              </a:lnSpc>
            </a:pPr>
            <a:r>
              <a:rPr lang="en-GB" altLang="en-US" sz="2400" kern="0" dirty="0"/>
              <a:t>Conflicts must be avoided</a:t>
            </a:r>
          </a:p>
          <a:p>
            <a:pPr lvl="1">
              <a:lnSpc>
                <a:spcPct val="150000"/>
              </a:lnSpc>
            </a:pPr>
            <a:r>
              <a:rPr lang="en-GB" altLang="en-US" sz="2400" kern="0" dirty="0"/>
              <a:t>Must not read &amp; write same register at same time</a:t>
            </a:r>
          </a:p>
          <a:p>
            <a:pPr lvl="1">
              <a:lnSpc>
                <a:spcPct val="150000"/>
              </a:lnSpc>
            </a:pPr>
            <a:r>
              <a:rPr lang="en-GB" altLang="en-US" sz="2400" kern="0" dirty="0"/>
              <a:t>MBR &lt;- (memory) &amp; IR &lt;- (MBR) must not be in same cycle</a:t>
            </a:r>
          </a:p>
          <a:p>
            <a:pPr>
              <a:lnSpc>
                <a:spcPct val="150000"/>
              </a:lnSpc>
            </a:pPr>
            <a:r>
              <a:rPr lang="en-GB" altLang="en-US" sz="2400" kern="0" dirty="0"/>
              <a:t>Also:  PC &lt;- (PC) +n involves addition</a:t>
            </a:r>
          </a:p>
          <a:p>
            <a:pPr lvl="1">
              <a:lnSpc>
                <a:spcPct val="150000"/>
              </a:lnSpc>
            </a:pPr>
            <a:r>
              <a:rPr lang="en-GB" altLang="en-US" sz="2400" kern="0" dirty="0"/>
              <a:t>Use ALU</a:t>
            </a:r>
          </a:p>
          <a:p>
            <a:pPr lvl="1">
              <a:lnSpc>
                <a:spcPct val="150000"/>
              </a:lnSpc>
            </a:pPr>
            <a:r>
              <a:rPr lang="en-GB" altLang="en-US" sz="2400" kern="0" dirty="0"/>
              <a:t>May need additional micro-operations</a:t>
            </a:r>
          </a:p>
        </p:txBody>
      </p:sp>
    </p:spTree>
    <p:extLst>
      <p:ext uri="{BB962C8B-B14F-4D97-AF65-F5344CB8AC3E}">
        <p14:creationId xmlns:p14="http://schemas.microsoft.com/office/powerpoint/2010/main" val="3689834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EA6E3-A180-43C1-821C-A5A5ECA8B30A}"/>
              </a:ext>
            </a:extLst>
          </p:cNvPr>
          <p:cNvSpPr>
            <a:spLocks noGrp="1"/>
          </p:cNvSpPr>
          <p:nvPr>
            <p:ph type="title"/>
          </p:nvPr>
        </p:nvSpPr>
        <p:spPr/>
        <p:txBody>
          <a:bodyPr/>
          <a:lstStyle/>
          <a:p>
            <a:r>
              <a:rPr lang="en-US" sz="2800" b="0" dirty="0"/>
              <a:t>Sequence of Events, Fetch Cycle </a:t>
            </a:r>
            <a:endParaRPr lang="en-IN" sz="2800" b="0" dirty="0"/>
          </a:p>
        </p:txBody>
      </p:sp>
      <p:pic>
        <p:nvPicPr>
          <p:cNvPr id="5" name="Picture 4">
            <a:extLst>
              <a:ext uri="{FF2B5EF4-FFF2-40B4-BE49-F238E27FC236}">
                <a16:creationId xmlns:a16="http://schemas.microsoft.com/office/drawing/2014/main" id="{BE976DA0-F806-4427-B62D-BFC372F79238}"/>
              </a:ext>
            </a:extLst>
          </p:cNvPr>
          <p:cNvPicPr>
            <a:picLocks noChangeAspect="1"/>
          </p:cNvPicPr>
          <p:nvPr/>
        </p:nvPicPr>
        <p:blipFill>
          <a:blip r:embed="rId2"/>
          <a:stretch>
            <a:fillRect/>
          </a:stretch>
        </p:blipFill>
        <p:spPr>
          <a:xfrm>
            <a:off x="853475" y="1573304"/>
            <a:ext cx="6526212" cy="4325258"/>
          </a:xfrm>
          <a:prstGeom prst="rect">
            <a:avLst/>
          </a:prstGeom>
        </p:spPr>
      </p:pic>
    </p:spTree>
    <p:extLst>
      <p:ext uri="{BB962C8B-B14F-4D97-AF65-F5344CB8AC3E}">
        <p14:creationId xmlns:p14="http://schemas.microsoft.com/office/powerpoint/2010/main" val="465795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GB" altLang="en-US" sz="2800" b="0" dirty="0"/>
              <a:t>Interrupt Cycle</a:t>
            </a:r>
            <a:endParaRPr lang="en-IN" sz="2800" b="0" dirty="0"/>
          </a:p>
        </p:txBody>
      </p:sp>
      <p:sp>
        <p:nvSpPr>
          <p:cNvPr id="6" name="Rectangle 3">
            <a:extLst>
              <a:ext uri="{FF2B5EF4-FFF2-40B4-BE49-F238E27FC236}">
                <a16:creationId xmlns:a16="http://schemas.microsoft.com/office/drawing/2014/main" id="{DB121867-9142-4B71-BFD5-7B76551157A9}"/>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a:t>t1:	MBR &lt;-(PC)</a:t>
            </a:r>
          </a:p>
          <a:p>
            <a:pPr>
              <a:lnSpc>
                <a:spcPct val="150000"/>
              </a:lnSpc>
            </a:pPr>
            <a:r>
              <a:rPr lang="en-GB" altLang="en-US" sz="2000" kern="0"/>
              <a:t>t2:	MAR &lt;- save-address</a:t>
            </a:r>
          </a:p>
          <a:p>
            <a:pPr>
              <a:lnSpc>
                <a:spcPct val="150000"/>
              </a:lnSpc>
            </a:pPr>
            <a:r>
              <a:rPr lang="en-GB" altLang="en-US" sz="2000" kern="0"/>
              <a:t> 	PC &lt;- routine-address</a:t>
            </a:r>
          </a:p>
          <a:p>
            <a:pPr>
              <a:lnSpc>
                <a:spcPct val="150000"/>
              </a:lnSpc>
            </a:pPr>
            <a:r>
              <a:rPr lang="en-GB" altLang="en-US" sz="2000" kern="0"/>
              <a:t>t3:	memory &lt;- (MBR)</a:t>
            </a:r>
          </a:p>
          <a:p>
            <a:pPr>
              <a:lnSpc>
                <a:spcPct val="150000"/>
              </a:lnSpc>
            </a:pPr>
            <a:r>
              <a:rPr lang="en-GB" altLang="en-US" sz="2000" kern="0"/>
              <a:t>This is a minimum</a:t>
            </a:r>
          </a:p>
          <a:p>
            <a:pPr lvl="1">
              <a:lnSpc>
                <a:spcPct val="150000"/>
              </a:lnSpc>
            </a:pPr>
            <a:r>
              <a:rPr lang="en-GB" altLang="en-US" sz="2000" kern="0"/>
              <a:t>May be additional micro-ops to get addresses</a:t>
            </a:r>
          </a:p>
          <a:p>
            <a:pPr lvl="1">
              <a:lnSpc>
                <a:spcPct val="150000"/>
              </a:lnSpc>
            </a:pPr>
            <a:r>
              <a:rPr lang="en-GB" altLang="en-US" sz="2000" kern="0"/>
              <a:t>N.B. saving context is done by interrupt handler routine, not micro-ops</a:t>
            </a:r>
            <a:endParaRPr lang="en-GB" altLang="en-US" sz="2000" kern="0" dirty="0"/>
          </a:p>
        </p:txBody>
      </p:sp>
    </p:spTree>
    <p:extLst>
      <p:ext uri="{BB962C8B-B14F-4D97-AF65-F5344CB8AC3E}">
        <p14:creationId xmlns:p14="http://schemas.microsoft.com/office/powerpoint/2010/main" val="3374008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IN" sz="2400" b="0" dirty="0"/>
              <a:t>The Execute Cycle</a:t>
            </a:r>
          </a:p>
        </p:txBody>
      </p:sp>
      <p:sp>
        <p:nvSpPr>
          <p:cNvPr id="5" name="Rectangle 3">
            <a:extLst>
              <a:ext uri="{FF2B5EF4-FFF2-40B4-BE49-F238E27FC236}">
                <a16:creationId xmlns:a16="http://schemas.microsoft.com/office/drawing/2014/main" id="{2B7C4D9E-2802-42DB-9D7C-2C656AC8EC20}"/>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400" kern="0"/>
              <a:t>Different for each instruction</a:t>
            </a:r>
          </a:p>
          <a:p>
            <a:pPr>
              <a:lnSpc>
                <a:spcPct val="150000"/>
              </a:lnSpc>
            </a:pPr>
            <a:r>
              <a:rPr lang="en-GB" altLang="en-US" sz="2400" kern="0"/>
              <a:t>e.g. ADD R1,X - add the contents of location X to Register 1 , result in R1</a:t>
            </a:r>
          </a:p>
          <a:p>
            <a:pPr>
              <a:lnSpc>
                <a:spcPct val="150000"/>
              </a:lnSpc>
            </a:pPr>
            <a:r>
              <a:rPr lang="en-GB" altLang="en-US" sz="2400" kern="0"/>
              <a:t>t1:	MAR &lt;- (IR</a:t>
            </a:r>
            <a:r>
              <a:rPr lang="en-GB" altLang="en-US" sz="2400" kern="0" baseline="-25000"/>
              <a:t>address</a:t>
            </a:r>
            <a:r>
              <a:rPr lang="en-GB" altLang="en-US" sz="2400" kern="0"/>
              <a:t>)</a:t>
            </a:r>
          </a:p>
          <a:p>
            <a:pPr>
              <a:lnSpc>
                <a:spcPct val="150000"/>
              </a:lnSpc>
            </a:pPr>
            <a:r>
              <a:rPr lang="en-GB" altLang="en-US" sz="2400" kern="0"/>
              <a:t>t2:	MBR &lt;- (memory)</a:t>
            </a:r>
          </a:p>
          <a:p>
            <a:pPr>
              <a:lnSpc>
                <a:spcPct val="150000"/>
              </a:lnSpc>
            </a:pPr>
            <a:r>
              <a:rPr lang="en-GB" altLang="en-US" sz="2400" kern="0"/>
              <a:t>t3:	R1 &lt;- R1 + (MBR)</a:t>
            </a:r>
          </a:p>
          <a:p>
            <a:pPr>
              <a:lnSpc>
                <a:spcPct val="150000"/>
              </a:lnSpc>
            </a:pPr>
            <a:r>
              <a:rPr lang="en-GB" altLang="en-US" sz="2400" kern="0"/>
              <a:t>Note no overlap of micro-operations</a:t>
            </a:r>
            <a:endParaRPr lang="en-GB" altLang="en-US" sz="2400" kern="0" dirty="0"/>
          </a:p>
        </p:txBody>
      </p:sp>
    </p:spTree>
    <p:extLst>
      <p:ext uri="{BB962C8B-B14F-4D97-AF65-F5344CB8AC3E}">
        <p14:creationId xmlns:p14="http://schemas.microsoft.com/office/powerpoint/2010/main" val="231724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altLang="en-US" sz="2400" b="0" dirty="0"/>
              <a:t>Performing an Arithmetic or Logic Operation</a:t>
            </a:r>
            <a:endParaRPr lang="en-IN" sz="2400" b="0" dirty="0"/>
          </a:p>
        </p:txBody>
      </p:sp>
      <p:pic>
        <p:nvPicPr>
          <p:cNvPr id="4" name="Picture 3">
            <a:extLst>
              <a:ext uri="{FF2B5EF4-FFF2-40B4-BE49-F238E27FC236}">
                <a16:creationId xmlns:a16="http://schemas.microsoft.com/office/drawing/2014/main" id="{59B4EA9D-2D4B-4821-BB32-7B63F8582641}"/>
              </a:ext>
            </a:extLst>
          </p:cNvPr>
          <p:cNvPicPr>
            <a:picLocks noChangeAspect="1"/>
          </p:cNvPicPr>
          <p:nvPr/>
        </p:nvPicPr>
        <p:blipFill>
          <a:blip r:embed="rId2"/>
          <a:stretch>
            <a:fillRect/>
          </a:stretch>
        </p:blipFill>
        <p:spPr>
          <a:xfrm>
            <a:off x="0" y="1196752"/>
            <a:ext cx="4220295" cy="4896544"/>
          </a:xfrm>
          <a:prstGeom prst="rect">
            <a:avLst/>
          </a:prstGeom>
        </p:spPr>
      </p:pic>
      <p:sp>
        <p:nvSpPr>
          <p:cNvPr id="5" name="Rectangle 3">
            <a:extLst>
              <a:ext uri="{FF2B5EF4-FFF2-40B4-BE49-F238E27FC236}">
                <a16:creationId xmlns:a16="http://schemas.microsoft.com/office/drawing/2014/main" id="{39AB2D13-3B79-4D7C-B674-0EB405F906C0}"/>
              </a:ext>
            </a:extLst>
          </p:cNvPr>
          <p:cNvSpPr txBox="1">
            <a:spLocks noChangeArrowheads="1"/>
          </p:cNvSpPr>
          <p:nvPr/>
        </p:nvSpPr>
        <p:spPr>
          <a:xfrm>
            <a:off x="4355977" y="836712"/>
            <a:ext cx="4680520" cy="44116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95300" indent="-495300" eaLnBrk="1" hangingPunct="1">
              <a:lnSpc>
                <a:spcPct val="150000"/>
              </a:lnSpc>
              <a:buFont typeface="Wingdings" panose="05000000000000000000" pitchFamily="2" charset="2"/>
              <a:buChar char="q"/>
            </a:pPr>
            <a:r>
              <a:rPr lang="en-US" altLang="en-US" sz="2000" kern="0" dirty="0"/>
              <a:t>The ALU is a combinational circuit that has no internal storage.</a:t>
            </a:r>
          </a:p>
          <a:p>
            <a:pPr marL="495300" indent="-495300" eaLnBrk="1" hangingPunct="1">
              <a:lnSpc>
                <a:spcPct val="150000"/>
              </a:lnSpc>
              <a:buFont typeface="Wingdings" panose="05000000000000000000" pitchFamily="2" charset="2"/>
              <a:buChar char="q"/>
            </a:pPr>
            <a:r>
              <a:rPr lang="en-US" altLang="en-US" sz="2000" kern="0" dirty="0"/>
              <a:t> ALU gets the two operands from MUX and bus. The result is temporarily stored in register Z.</a:t>
            </a:r>
          </a:p>
          <a:p>
            <a:pPr marL="495300" indent="-495300" eaLnBrk="1" hangingPunct="1">
              <a:lnSpc>
                <a:spcPct val="150000"/>
              </a:lnSpc>
              <a:buFont typeface="Wingdings" panose="05000000000000000000" pitchFamily="2" charset="2"/>
              <a:buChar char="q"/>
            </a:pPr>
            <a:r>
              <a:rPr lang="en-US" altLang="en-US" sz="2000" kern="0" dirty="0"/>
              <a:t> What is the sequence of operations to add the contents of register R</a:t>
            </a:r>
            <a:r>
              <a:rPr lang="en-US" altLang="en-US" sz="2000" kern="0" baseline="-25000" dirty="0"/>
              <a:t>1</a:t>
            </a:r>
            <a:r>
              <a:rPr lang="en-US" altLang="en-US" sz="2000" kern="0" dirty="0"/>
              <a:t> to those of R</a:t>
            </a:r>
            <a:r>
              <a:rPr lang="en-US" altLang="en-US" sz="2000" kern="0" baseline="-25000" dirty="0"/>
              <a:t>2</a:t>
            </a:r>
            <a:r>
              <a:rPr lang="en-US" altLang="en-US" sz="2000" kern="0" dirty="0"/>
              <a:t> and store the result in R</a:t>
            </a:r>
            <a:r>
              <a:rPr lang="en-US" altLang="en-US" sz="2000" kern="0" baseline="-25000" dirty="0"/>
              <a:t>3</a:t>
            </a:r>
            <a:r>
              <a:rPr lang="en-US" altLang="en-US" sz="2000" kern="0" dirty="0"/>
              <a:t>?</a:t>
            </a:r>
          </a:p>
          <a:p>
            <a:pPr marL="763588" lvl="1" indent="-419100" eaLnBrk="1" hangingPunct="1">
              <a:lnSpc>
                <a:spcPct val="150000"/>
              </a:lnSpc>
              <a:buFont typeface="Wingdings" panose="05000000000000000000" pitchFamily="2" charset="2"/>
              <a:buAutoNum type="arabicPeriod"/>
            </a:pPr>
            <a:r>
              <a:rPr lang="en-US" altLang="en-US" sz="2000" kern="0" dirty="0"/>
              <a:t>R</a:t>
            </a:r>
            <a:r>
              <a:rPr lang="en-US" altLang="en-US" sz="2000" kern="0" baseline="-25000" dirty="0"/>
              <a:t>1out</a:t>
            </a:r>
            <a:r>
              <a:rPr lang="en-US" altLang="en-US" sz="2000" kern="0" dirty="0"/>
              <a:t>, Y</a:t>
            </a:r>
            <a:r>
              <a:rPr lang="en-US" altLang="en-US" sz="2000" kern="0" baseline="-25000" dirty="0"/>
              <a:t>in</a:t>
            </a:r>
          </a:p>
          <a:p>
            <a:pPr marL="763588" lvl="1" indent="-419100" eaLnBrk="1" hangingPunct="1">
              <a:lnSpc>
                <a:spcPct val="150000"/>
              </a:lnSpc>
              <a:buFont typeface="Wingdings" panose="05000000000000000000" pitchFamily="2" charset="2"/>
              <a:buAutoNum type="arabicPeriod"/>
            </a:pPr>
            <a:r>
              <a:rPr lang="en-US" altLang="en-US" sz="2000" kern="0" dirty="0"/>
              <a:t>R</a:t>
            </a:r>
            <a:r>
              <a:rPr lang="en-US" altLang="en-US" sz="2000" kern="0" baseline="-25000" dirty="0"/>
              <a:t>2out</a:t>
            </a:r>
            <a:r>
              <a:rPr lang="en-US" altLang="en-US" sz="2000" kern="0" dirty="0"/>
              <a:t>, </a:t>
            </a:r>
            <a:r>
              <a:rPr lang="en-US" altLang="en-US" sz="2000" kern="0" dirty="0" err="1"/>
              <a:t>SelectY</a:t>
            </a:r>
            <a:r>
              <a:rPr lang="en-US" altLang="en-US" sz="2000" kern="0" dirty="0"/>
              <a:t>, Add, Z</a:t>
            </a:r>
            <a:r>
              <a:rPr lang="en-US" altLang="en-US" sz="2000" kern="0" baseline="-25000" dirty="0"/>
              <a:t>in</a:t>
            </a:r>
          </a:p>
          <a:p>
            <a:pPr marL="763588" lvl="1" indent="-419100" eaLnBrk="1" hangingPunct="1">
              <a:lnSpc>
                <a:spcPct val="150000"/>
              </a:lnSpc>
              <a:buFont typeface="Wingdings" panose="05000000000000000000" pitchFamily="2" charset="2"/>
              <a:buAutoNum type="arabicPeriod"/>
            </a:pPr>
            <a:r>
              <a:rPr lang="en-US" altLang="en-US" sz="2000" kern="0" dirty="0" err="1"/>
              <a:t>Z</a:t>
            </a:r>
            <a:r>
              <a:rPr lang="en-US" altLang="en-US" sz="2000" kern="0" baseline="-25000" dirty="0" err="1"/>
              <a:t>out</a:t>
            </a:r>
            <a:r>
              <a:rPr lang="en-US" altLang="en-US" sz="2000" kern="0" dirty="0"/>
              <a:t>, R</a:t>
            </a:r>
            <a:r>
              <a:rPr lang="en-US" altLang="en-US" sz="2000" kern="0" baseline="-25000" dirty="0"/>
              <a:t>3in</a:t>
            </a:r>
          </a:p>
        </p:txBody>
      </p:sp>
      <p:sp>
        <p:nvSpPr>
          <p:cNvPr id="6" name="TextBox 5">
            <a:extLst>
              <a:ext uri="{FF2B5EF4-FFF2-40B4-BE49-F238E27FC236}">
                <a16:creationId xmlns:a16="http://schemas.microsoft.com/office/drawing/2014/main" id="{B78B6A5C-000A-48FC-B664-7ECDDC14AF44}"/>
              </a:ext>
            </a:extLst>
          </p:cNvPr>
          <p:cNvSpPr txBox="1"/>
          <p:nvPr/>
        </p:nvSpPr>
        <p:spPr>
          <a:xfrm>
            <a:off x="539552" y="1124744"/>
            <a:ext cx="1944216" cy="369332"/>
          </a:xfrm>
          <a:prstGeom prst="rect">
            <a:avLst/>
          </a:prstGeom>
          <a:noFill/>
        </p:spPr>
        <p:txBody>
          <a:bodyPr wrap="square" rtlCol="0">
            <a:spAutoFit/>
          </a:bodyPr>
          <a:lstStyle/>
          <a:p>
            <a:r>
              <a:rPr lang="en-IN" dirty="0"/>
              <a:t>R</a:t>
            </a:r>
            <a:r>
              <a:rPr lang="en-IN" baseline="-25000" dirty="0"/>
              <a:t>3</a:t>
            </a:r>
            <a:r>
              <a:rPr lang="en-IN" dirty="0"/>
              <a:t>= R</a:t>
            </a:r>
            <a:r>
              <a:rPr lang="en-IN" baseline="-25000" dirty="0"/>
              <a:t>1</a:t>
            </a:r>
            <a:r>
              <a:rPr lang="en-IN" dirty="0"/>
              <a:t>+R</a:t>
            </a:r>
            <a:r>
              <a:rPr lang="en-IN" baseline="-25000" dirty="0"/>
              <a:t>2</a:t>
            </a:r>
          </a:p>
        </p:txBody>
      </p:sp>
    </p:spTree>
    <p:extLst>
      <p:ext uri="{BB962C8B-B14F-4D97-AF65-F5344CB8AC3E}">
        <p14:creationId xmlns:p14="http://schemas.microsoft.com/office/powerpoint/2010/main" val="141353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additive="base">
                                        <p:cTn id="2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anim calcmode="lin" valueType="num">
                                      <p:cBhvr additive="base">
                                        <p:cTn id="3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altLang="en-US" sz="2400" b="0" dirty="0"/>
              <a:t>Performing an Arithmetic or Logic Operation</a:t>
            </a:r>
            <a:endParaRPr lang="en-IN" sz="2400" b="0" dirty="0"/>
          </a:p>
        </p:txBody>
      </p:sp>
      <p:pic>
        <p:nvPicPr>
          <p:cNvPr id="4" name="Picture 3">
            <a:extLst>
              <a:ext uri="{FF2B5EF4-FFF2-40B4-BE49-F238E27FC236}">
                <a16:creationId xmlns:a16="http://schemas.microsoft.com/office/drawing/2014/main" id="{59B4EA9D-2D4B-4821-BB32-7B63F8582641}"/>
              </a:ext>
            </a:extLst>
          </p:cNvPr>
          <p:cNvPicPr>
            <a:picLocks noChangeAspect="1"/>
          </p:cNvPicPr>
          <p:nvPr/>
        </p:nvPicPr>
        <p:blipFill>
          <a:blip r:embed="rId2"/>
          <a:stretch>
            <a:fillRect/>
          </a:stretch>
        </p:blipFill>
        <p:spPr>
          <a:xfrm>
            <a:off x="0" y="1196752"/>
            <a:ext cx="4220295" cy="4896544"/>
          </a:xfrm>
          <a:prstGeom prst="rect">
            <a:avLst/>
          </a:prstGeom>
        </p:spPr>
      </p:pic>
      <p:sp>
        <p:nvSpPr>
          <p:cNvPr id="6" name="TextBox 5">
            <a:extLst>
              <a:ext uri="{FF2B5EF4-FFF2-40B4-BE49-F238E27FC236}">
                <a16:creationId xmlns:a16="http://schemas.microsoft.com/office/drawing/2014/main" id="{B78B6A5C-000A-48FC-B664-7ECDDC14AF44}"/>
              </a:ext>
            </a:extLst>
          </p:cNvPr>
          <p:cNvSpPr txBox="1"/>
          <p:nvPr/>
        </p:nvSpPr>
        <p:spPr>
          <a:xfrm>
            <a:off x="539552" y="1124744"/>
            <a:ext cx="1944216" cy="369332"/>
          </a:xfrm>
          <a:prstGeom prst="rect">
            <a:avLst/>
          </a:prstGeom>
          <a:noFill/>
        </p:spPr>
        <p:txBody>
          <a:bodyPr wrap="square" rtlCol="0">
            <a:spAutoFit/>
          </a:bodyPr>
          <a:lstStyle/>
          <a:p>
            <a:r>
              <a:rPr lang="en-IN" dirty="0"/>
              <a:t>R</a:t>
            </a:r>
            <a:r>
              <a:rPr lang="en-IN" baseline="-25000" dirty="0"/>
              <a:t>3</a:t>
            </a:r>
            <a:r>
              <a:rPr lang="en-IN" dirty="0"/>
              <a:t>= R</a:t>
            </a:r>
            <a:r>
              <a:rPr lang="en-IN" baseline="-25000" dirty="0"/>
              <a:t>1</a:t>
            </a:r>
            <a:r>
              <a:rPr lang="en-IN" dirty="0"/>
              <a:t>+R</a:t>
            </a:r>
            <a:r>
              <a:rPr lang="en-IN" baseline="-25000" dirty="0"/>
              <a:t>2</a:t>
            </a:r>
          </a:p>
        </p:txBody>
      </p:sp>
      <p:sp>
        <p:nvSpPr>
          <p:cNvPr id="7" name="Rectangle 3">
            <a:extLst>
              <a:ext uri="{FF2B5EF4-FFF2-40B4-BE49-F238E27FC236}">
                <a16:creationId xmlns:a16="http://schemas.microsoft.com/office/drawing/2014/main" id="{DC6EF4D8-0932-4340-B8B2-26ED2347D5A9}"/>
              </a:ext>
            </a:extLst>
          </p:cNvPr>
          <p:cNvSpPr txBox="1">
            <a:spLocks noChangeArrowheads="1"/>
          </p:cNvSpPr>
          <p:nvPr/>
        </p:nvSpPr>
        <p:spPr>
          <a:xfrm>
            <a:off x="4220296" y="836712"/>
            <a:ext cx="4816200" cy="4411663"/>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buFont typeface="Wingdings" panose="05000000000000000000" pitchFamily="2" charset="2"/>
              <a:buNone/>
            </a:pPr>
            <a:r>
              <a:rPr lang="en-US" altLang="en-US" sz="2000" kern="0" dirty="0"/>
              <a:t>Step 1: Output of the register R1 and input of the register Y are enabled, causing the contents of R1 to be transferred to Y.</a:t>
            </a:r>
          </a:p>
          <a:p>
            <a:pPr eaLnBrk="1" hangingPunct="1">
              <a:lnSpc>
                <a:spcPct val="150000"/>
              </a:lnSpc>
              <a:buFont typeface="Wingdings" panose="05000000000000000000" pitchFamily="2" charset="2"/>
              <a:buNone/>
            </a:pPr>
            <a:r>
              <a:rPr lang="en-US" altLang="en-US" sz="2000" kern="0" dirty="0"/>
              <a:t>Step 2: The multiplexer’s select signal is set to select Y causing the multiplexer to gate the contents of register Y to input A of the ALU. At the same time contents of R2 are gated into the bus and hence to input B</a:t>
            </a:r>
          </a:p>
          <a:p>
            <a:pPr eaLnBrk="1" hangingPunct="1">
              <a:lnSpc>
                <a:spcPct val="150000"/>
              </a:lnSpc>
              <a:buFont typeface="Wingdings" panose="05000000000000000000" pitchFamily="2" charset="2"/>
              <a:buNone/>
            </a:pPr>
            <a:r>
              <a:rPr lang="en-US" altLang="en-US" sz="2000" kern="0" dirty="0"/>
              <a:t>Step 3: The contents of Z are transferred to the destination register R3.</a:t>
            </a:r>
            <a:br>
              <a:rPr lang="en-US" altLang="en-US" sz="2000" kern="0" dirty="0"/>
            </a:br>
            <a:endParaRPr lang="en-US" altLang="en-US" sz="2000" kern="0" dirty="0"/>
          </a:p>
          <a:p>
            <a:pPr eaLnBrk="1" hangingPunct="1">
              <a:lnSpc>
                <a:spcPct val="150000"/>
              </a:lnSpc>
            </a:pPr>
            <a:endParaRPr lang="en-US" altLang="en-US" sz="2000" kern="0" dirty="0"/>
          </a:p>
          <a:p>
            <a:pPr eaLnBrk="1" hangingPunct="1">
              <a:lnSpc>
                <a:spcPct val="150000"/>
              </a:lnSpc>
              <a:buFont typeface="Wingdings" panose="05000000000000000000" pitchFamily="2" charset="2"/>
              <a:buNone/>
            </a:pPr>
            <a:endParaRPr lang="en-US" altLang="en-US" sz="2000" kern="0" dirty="0"/>
          </a:p>
        </p:txBody>
      </p:sp>
    </p:spTree>
    <p:extLst>
      <p:ext uri="{BB962C8B-B14F-4D97-AF65-F5344CB8AC3E}">
        <p14:creationId xmlns:p14="http://schemas.microsoft.com/office/powerpoint/2010/main" val="1287236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34FB6-8788-4BDD-8930-DC01F6844758}"/>
              </a:ext>
            </a:extLst>
          </p:cNvPr>
          <p:cNvSpPr>
            <a:spLocks noGrp="1"/>
          </p:cNvSpPr>
          <p:nvPr>
            <p:ph type="title"/>
          </p:nvPr>
        </p:nvSpPr>
        <p:spPr/>
        <p:txBody>
          <a:bodyPr/>
          <a:lstStyle/>
          <a:p>
            <a:r>
              <a:rPr lang="en-US" altLang="en-US" sz="2400" b="0" dirty="0"/>
              <a:t>Register Transfers</a:t>
            </a:r>
            <a:endParaRPr lang="en-IN" sz="2400" b="0" dirty="0"/>
          </a:p>
        </p:txBody>
      </p:sp>
      <p:pic>
        <p:nvPicPr>
          <p:cNvPr id="3" name="Picture 2">
            <a:extLst>
              <a:ext uri="{FF2B5EF4-FFF2-40B4-BE49-F238E27FC236}">
                <a16:creationId xmlns:a16="http://schemas.microsoft.com/office/drawing/2014/main" id="{B85B12A8-0788-4C85-9BB2-02EE91EE7A52}"/>
              </a:ext>
            </a:extLst>
          </p:cNvPr>
          <p:cNvPicPr>
            <a:picLocks noChangeAspect="1"/>
          </p:cNvPicPr>
          <p:nvPr/>
        </p:nvPicPr>
        <p:blipFill>
          <a:blip r:embed="rId2"/>
          <a:stretch>
            <a:fillRect/>
          </a:stretch>
        </p:blipFill>
        <p:spPr>
          <a:xfrm>
            <a:off x="0" y="1412776"/>
            <a:ext cx="5112568" cy="2885953"/>
          </a:xfrm>
          <a:prstGeom prst="rect">
            <a:avLst/>
          </a:prstGeom>
        </p:spPr>
      </p:pic>
      <p:sp>
        <p:nvSpPr>
          <p:cNvPr id="5" name="Rectangle 4">
            <a:extLst>
              <a:ext uri="{FF2B5EF4-FFF2-40B4-BE49-F238E27FC236}">
                <a16:creationId xmlns:a16="http://schemas.microsoft.com/office/drawing/2014/main" id="{CAC48211-1D94-4B54-8BB1-64C0F649C42C}"/>
              </a:ext>
            </a:extLst>
          </p:cNvPr>
          <p:cNvSpPr/>
          <p:nvPr/>
        </p:nvSpPr>
        <p:spPr>
          <a:xfrm>
            <a:off x="122238" y="950347"/>
            <a:ext cx="4881810" cy="400110"/>
          </a:xfrm>
          <a:prstGeom prst="rect">
            <a:avLst/>
          </a:prstGeom>
        </p:spPr>
        <p:txBody>
          <a:bodyPr wrap="square">
            <a:spAutoFit/>
          </a:bodyPr>
          <a:lstStyle/>
          <a:p>
            <a:r>
              <a:rPr lang="en-US" altLang="en-US" sz="2000" dirty="0">
                <a:latin typeface="Times New Roman" panose="02020603050405020304" pitchFamily="18" charset="0"/>
              </a:rPr>
              <a:t>Input and output gating for one register bit.</a:t>
            </a:r>
            <a:endParaRPr lang="en-IN" sz="2000" dirty="0"/>
          </a:p>
        </p:txBody>
      </p:sp>
      <p:sp>
        <p:nvSpPr>
          <p:cNvPr id="6" name="TextBox 5">
            <a:extLst>
              <a:ext uri="{FF2B5EF4-FFF2-40B4-BE49-F238E27FC236}">
                <a16:creationId xmlns:a16="http://schemas.microsoft.com/office/drawing/2014/main" id="{1FABA617-138E-4A46-81A9-906A0BC4648D}"/>
              </a:ext>
            </a:extLst>
          </p:cNvPr>
          <p:cNvSpPr txBox="1"/>
          <p:nvPr/>
        </p:nvSpPr>
        <p:spPr>
          <a:xfrm>
            <a:off x="1907704" y="2671086"/>
            <a:ext cx="432048" cy="369332"/>
          </a:xfrm>
          <a:prstGeom prst="rect">
            <a:avLst/>
          </a:prstGeom>
          <a:noFill/>
        </p:spPr>
        <p:txBody>
          <a:bodyPr wrap="square" rtlCol="0">
            <a:spAutoFit/>
          </a:bodyPr>
          <a:lstStyle/>
          <a:p>
            <a:r>
              <a:rPr lang="en-IN" dirty="0"/>
              <a:t>I</a:t>
            </a:r>
            <a:r>
              <a:rPr lang="en-IN" baseline="-25000" dirty="0"/>
              <a:t>o</a:t>
            </a:r>
          </a:p>
        </p:txBody>
      </p:sp>
      <p:sp>
        <p:nvSpPr>
          <p:cNvPr id="7" name="TextBox 6">
            <a:extLst>
              <a:ext uri="{FF2B5EF4-FFF2-40B4-BE49-F238E27FC236}">
                <a16:creationId xmlns:a16="http://schemas.microsoft.com/office/drawing/2014/main" id="{0CEB02BB-C174-436C-898C-4428315139B8}"/>
              </a:ext>
            </a:extLst>
          </p:cNvPr>
          <p:cNvSpPr txBox="1"/>
          <p:nvPr/>
        </p:nvSpPr>
        <p:spPr>
          <a:xfrm>
            <a:off x="3635896" y="2708920"/>
            <a:ext cx="432048" cy="276999"/>
          </a:xfrm>
          <a:prstGeom prst="rect">
            <a:avLst/>
          </a:prstGeom>
          <a:noFill/>
        </p:spPr>
        <p:txBody>
          <a:bodyPr wrap="square" rtlCol="0">
            <a:spAutoFit/>
          </a:bodyPr>
          <a:lstStyle/>
          <a:p>
            <a:r>
              <a:rPr lang="en-IN" baseline="-25000" dirty="0"/>
              <a:t>Q</a:t>
            </a:r>
          </a:p>
        </p:txBody>
      </p:sp>
      <p:sp>
        <p:nvSpPr>
          <p:cNvPr id="8" name="TextBox 7">
            <a:extLst>
              <a:ext uri="{FF2B5EF4-FFF2-40B4-BE49-F238E27FC236}">
                <a16:creationId xmlns:a16="http://schemas.microsoft.com/office/drawing/2014/main" id="{7A2EE449-C58C-4E35-9406-125C748BE7AD}"/>
              </a:ext>
            </a:extLst>
          </p:cNvPr>
          <p:cNvSpPr txBox="1"/>
          <p:nvPr/>
        </p:nvSpPr>
        <p:spPr>
          <a:xfrm>
            <a:off x="899592" y="3212976"/>
            <a:ext cx="432048" cy="369332"/>
          </a:xfrm>
          <a:prstGeom prst="rect">
            <a:avLst/>
          </a:prstGeom>
          <a:noFill/>
        </p:spPr>
        <p:txBody>
          <a:bodyPr wrap="square" rtlCol="0">
            <a:spAutoFit/>
          </a:bodyPr>
          <a:lstStyle/>
          <a:p>
            <a:r>
              <a:rPr lang="en-IN" dirty="0"/>
              <a:t>B</a:t>
            </a:r>
          </a:p>
        </p:txBody>
      </p:sp>
      <p:graphicFrame>
        <p:nvGraphicFramePr>
          <p:cNvPr id="9" name="Table 8">
            <a:extLst>
              <a:ext uri="{FF2B5EF4-FFF2-40B4-BE49-F238E27FC236}">
                <a16:creationId xmlns:a16="http://schemas.microsoft.com/office/drawing/2014/main" id="{52BAE3FE-FAB2-495C-AC90-FD6769FF28E6}"/>
              </a:ext>
            </a:extLst>
          </p:cNvPr>
          <p:cNvGraphicFramePr>
            <a:graphicFrameLocks noGrp="1"/>
          </p:cNvGraphicFramePr>
          <p:nvPr>
            <p:extLst>
              <p:ext uri="{D42A27DB-BD31-4B8C-83A1-F6EECF244321}">
                <p14:modId xmlns:p14="http://schemas.microsoft.com/office/powerpoint/2010/main" val="2609893754"/>
              </p:ext>
            </p:extLst>
          </p:nvPr>
        </p:nvGraphicFramePr>
        <p:xfrm>
          <a:off x="6084168" y="1719449"/>
          <a:ext cx="2808312" cy="1631329"/>
        </p:xfrm>
        <a:graphic>
          <a:graphicData uri="http://schemas.openxmlformats.org/drawingml/2006/table">
            <a:tbl>
              <a:tblPr firstRow="1" bandRow="1">
                <a:tableStyleId>{5C22544A-7EE6-4342-B048-85BDC9FD1C3A}</a:tableStyleId>
              </a:tblPr>
              <a:tblGrid>
                <a:gridCol w="855335">
                  <a:extLst>
                    <a:ext uri="{9D8B030D-6E8A-4147-A177-3AD203B41FA5}">
                      <a16:colId xmlns:a16="http://schemas.microsoft.com/office/drawing/2014/main" val="1129818003"/>
                    </a:ext>
                  </a:extLst>
                </a:gridCol>
                <a:gridCol w="944865">
                  <a:extLst>
                    <a:ext uri="{9D8B030D-6E8A-4147-A177-3AD203B41FA5}">
                      <a16:colId xmlns:a16="http://schemas.microsoft.com/office/drawing/2014/main" val="1854554896"/>
                    </a:ext>
                  </a:extLst>
                </a:gridCol>
                <a:gridCol w="1008112">
                  <a:extLst>
                    <a:ext uri="{9D8B030D-6E8A-4147-A177-3AD203B41FA5}">
                      <a16:colId xmlns:a16="http://schemas.microsoft.com/office/drawing/2014/main" val="4088773903"/>
                    </a:ext>
                  </a:extLst>
                </a:gridCol>
              </a:tblGrid>
              <a:tr h="497842">
                <a:tc>
                  <a:txBody>
                    <a:bodyPr/>
                    <a:lstStyle/>
                    <a:p>
                      <a:pPr algn="ctr"/>
                      <a:r>
                        <a:rPr lang="en-IN" dirty="0"/>
                        <a:t>Rin</a:t>
                      </a:r>
                    </a:p>
                  </a:txBody>
                  <a:tcPr/>
                </a:tc>
                <a:tc>
                  <a:txBody>
                    <a:bodyPr/>
                    <a:lstStyle/>
                    <a:p>
                      <a:pPr algn="ctr"/>
                      <a:r>
                        <a:rPr lang="en-IN" dirty="0" err="1"/>
                        <a:t>clk</a:t>
                      </a:r>
                      <a:endParaRPr lang="en-IN" dirty="0"/>
                    </a:p>
                  </a:txBody>
                  <a:tcPr/>
                </a:tc>
                <a:tc>
                  <a:txBody>
                    <a:bodyPr/>
                    <a:lstStyle/>
                    <a:p>
                      <a:pPr algn="ctr"/>
                      <a:r>
                        <a:rPr lang="en-IN" dirty="0"/>
                        <a:t>Q</a:t>
                      </a:r>
                    </a:p>
                  </a:txBody>
                  <a:tcPr/>
                </a:tc>
                <a:extLst>
                  <a:ext uri="{0D108BD9-81ED-4DB2-BD59-A6C34878D82A}">
                    <a16:rowId xmlns:a16="http://schemas.microsoft.com/office/drawing/2014/main" val="3932296575"/>
                  </a:ext>
                </a:extLst>
              </a:tr>
              <a:tr h="635645">
                <a:tc>
                  <a:txBody>
                    <a:bodyPr/>
                    <a:lstStyle/>
                    <a:p>
                      <a:pPr algn="ctr"/>
                      <a:r>
                        <a:rPr lang="en-IN" dirty="0"/>
                        <a:t>0</a:t>
                      </a:r>
                    </a:p>
                  </a:txBody>
                  <a:tcPr/>
                </a:tc>
                <a:tc>
                  <a:txBody>
                    <a:bodyPr/>
                    <a:lstStyle/>
                    <a:p>
                      <a:pPr algn="ctr"/>
                      <a:endParaRPr lang="en-IN" dirty="0"/>
                    </a:p>
                  </a:txBody>
                  <a:tcPr/>
                </a:tc>
                <a:tc>
                  <a:txBody>
                    <a:bodyPr/>
                    <a:lstStyle/>
                    <a:p>
                      <a:pPr algn="ctr"/>
                      <a:r>
                        <a:rPr lang="en-IN" dirty="0"/>
                        <a:t>Q</a:t>
                      </a:r>
                    </a:p>
                  </a:txBody>
                  <a:tcPr/>
                </a:tc>
                <a:extLst>
                  <a:ext uri="{0D108BD9-81ED-4DB2-BD59-A6C34878D82A}">
                    <a16:rowId xmlns:a16="http://schemas.microsoft.com/office/drawing/2014/main" val="4074318636"/>
                  </a:ext>
                </a:extLst>
              </a:tr>
              <a:tr h="497842">
                <a:tc>
                  <a:txBody>
                    <a:bodyPr/>
                    <a:lstStyle/>
                    <a:p>
                      <a:pPr algn="ctr"/>
                      <a:r>
                        <a:rPr lang="en-IN" dirty="0"/>
                        <a:t>1</a:t>
                      </a:r>
                    </a:p>
                  </a:txBody>
                  <a:tcPr/>
                </a:tc>
                <a:tc>
                  <a:txBody>
                    <a:bodyPr/>
                    <a:lstStyle/>
                    <a:p>
                      <a:pPr algn="ctr"/>
                      <a:endParaRPr lang="en-IN" dirty="0"/>
                    </a:p>
                  </a:txBody>
                  <a:tcPr/>
                </a:tc>
                <a:tc>
                  <a:txBody>
                    <a:bodyPr/>
                    <a:lstStyle/>
                    <a:p>
                      <a:pPr algn="ctr"/>
                      <a:r>
                        <a:rPr lang="en-IN" dirty="0"/>
                        <a:t>B</a:t>
                      </a:r>
                    </a:p>
                  </a:txBody>
                  <a:tcPr/>
                </a:tc>
                <a:extLst>
                  <a:ext uri="{0D108BD9-81ED-4DB2-BD59-A6C34878D82A}">
                    <a16:rowId xmlns:a16="http://schemas.microsoft.com/office/drawing/2014/main" val="1090468085"/>
                  </a:ext>
                </a:extLst>
              </a:tr>
            </a:tbl>
          </a:graphicData>
        </a:graphic>
      </p:graphicFrame>
      <p:cxnSp>
        <p:nvCxnSpPr>
          <p:cNvPr id="13" name="Straight Arrow Connector 12">
            <a:extLst>
              <a:ext uri="{FF2B5EF4-FFF2-40B4-BE49-F238E27FC236}">
                <a16:creationId xmlns:a16="http://schemas.microsoft.com/office/drawing/2014/main" id="{31BBCB76-7F5C-4433-92ED-2F582A7D7D8B}"/>
              </a:ext>
            </a:extLst>
          </p:cNvPr>
          <p:cNvCxnSpPr/>
          <p:nvPr/>
        </p:nvCxnSpPr>
        <p:spPr>
          <a:xfrm flipV="1">
            <a:off x="7452320" y="2316349"/>
            <a:ext cx="0" cy="437529"/>
          </a:xfrm>
          <a:prstGeom prst="straightConnector1">
            <a:avLst/>
          </a:prstGeom>
          <a:ln w="571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F9A9CDD1-7C73-4BB7-885B-6174CBA89A6A}"/>
              </a:ext>
            </a:extLst>
          </p:cNvPr>
          <p:cNvCxnSpPr/>
          <p:nvPr/>
        </p:nvCxnSpPr>
        <p:spPr>
          <a:xfrm flipV="1">
            <a:off x="7452320" y="2847455"/>
            <a:ext cx="0" cy="437529"/>
          </a:xfrm>
          <a:prstGeom prst="straightConnector1">
            <a:avLst/>
          </a:prstGeom>
          <a:ln w="571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B3FF20A5-C806-4D5B-B5AB-4EFD757ACE58}"/>
              </a:ext>
            </a:extLst>
          </p:cNvPr>
          <p:cNvSpPr txBox="1"/>
          <p:nvPr/>
        </p:nvSpPr>
        <p:spPr>
          <a:xfrm>
            <a:off x="4572000" y="4249298"/>
            <a:ext cx="3960440" cy="958660"/>
          </a:xfrm>
          <a:prstGeom prst="rect">
            <a:avLst/>
          </a:prstGeom>
          <a:noFill/>
        </p:spPr>
        <p:txBody>
          <a:bodyPr wrap="square" rtlCol="0">
            <a:spAutoFit/>
          </a:bodyPr>
          <a:lstStyle/>
          <a:p>
            <a:pPr>
              <a:lnSpc>
                <a:spcPct val="150000"/>
              </a:lnSpc>
            </a:pPr>
            <a:r>
              <a:rPr lang="en-IN" sz="2000" dirty="0"/>
              <a:t>When R</a:t>
            </a:r>
            <a:r>
              <a:rPr lang="en-IN" sz="2000" baseline="-25000" dirty="0"/>
              <a:t>out</a:t>
            </a:r>
            <a:r>
              <a:rPr lang="en-IN" sz="2000" dirty="0"/>
              <a:t>=1 B=Q. otherwise in high impedance state</a:t>
            </a:r>
          </a:p>
        </p:txBody>
      </p:sp>
    </p:spTree>
    <p:extLst>
      <p:ext uri="{BB962C8B-B14F-4D97-AF65-F5344CB8AC3E}">
        <p14:creationId xmlns:p14="http://schemas.microsoft.com/office/powerpoint/2010/main" val="723553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6F3A-3088-4A53-87F0-EBA3B2600E5E}"/>
              </a:ext>
            </a:extLst>
          </p:cNvPr>
          <p:cNvSpPr>
            <a:spLocks noGrp="1"/>
          </p:cNvSpPr>
          <p:nvPr>
            <p:ph type="title"/>
          </p:nvPr>
        </p:nvSpPr>
        <p:spPr/>
        <p:txBody>
          <a:bodyPr/>
          <a:lstStyle/>
          <a:p>
            <a:r>
              <a:rPr lang="en-US" altLang="en-US" sz="2400" b="0" dirty="0"/>
              <a:t>Fetching a Word from Memory</a:t>
            </a:r>
            <a:endParaRPr lang="en-IN" sz="2400" b="0" dirty="0"/>
          </a:p>
        </p:txBody>
      </p:sp>
      <p:pic>
        <p:nvPicPr>
          <p:cNvPr id="5" name="Picture 4">
            <a:extLst>
              <a:ext uri="{FF2B5EF4-FFF2-40B4-BE49-F238E27FC236}">
                <a16:creationId xmlns:a16="http://schemas.microsoft.com/office/drawing/2014/main" id="{EF6A9797-19EE-46ED-95D5-1E160647A864}"/>
              </a:ext>
            </a:extLst>
          </p:cNvPr>
          <p:cNvPicPr>
            <a:picLocks noChangeAspect="1"/>
          </p:cNvPicPr>
          <p:nvPr/>
        </p:nvPicPr>
        <p:blipFill>
          <a:blip r:embed="rId2"/>
          <a:stretch>
            <a:fillRect/>
          </a:stretch>
        </p:blipFill>
        <p:spPr>
          <a:xfrm>
            <a:off x="0" y="1700808"/>
            <a:ext cx="5280960" cy="2736304"/>
          </a:xfrm>
          <a:prstGeom prst="rect">
            <a:avLst/>
          </a:prstGeom>
        </p:spPr>
      </p:pic>
      <p:sp>
        <p:nvSpPr>
          <p:cNvPr id="6" name="Rectangle 5">
            <a:extLst>
              <a:ext uri="{FF2B5EF4-FFF2-40B4-BE49-F238E27FC236}">
                <a16:creationId xmlns:a16="http://schemas.microsoft.com/office/drawing/2014/main" id="{F49F5B8D-753B-4EA3-B514-A32A3D0887F9}"/>
              </a:ext>
            </a:extLst>
          </p:cNvPr>
          <p:cNvSpPr/>
          <p:nvPr/>
        </p:nvSpPr>
        <p:spPr>
          <a:xfrm>
            <a:off x="0" y="1054477"/>
            <a:ext cx="5148064" cy="369332"/>
          </a:xfrm>
          <a:prstGeom prst="rect">
            <a:avLst/>
          </a:prstGeom>
        </p:spPr>
        <p:txBody>
          <a:bodyPr wrap="square">
            <a:spAutoFit/>
          </a:bodyPr>
          <a:lstStyle/>
          <a:p>
            <a:r>
              <a:rPr lang="en-US" altLang="en-US" dirty="0">
                <a:latin typeface="Times New Roman" panose="02020603050405020304" pitchFamily="18" charset="0"/>
              </a:rPr>
              <a:t>.  Connection and control signals for register MDR</a:t>
            </a:r>
            <a:endParaRPr lang="en-IN" dirty="0"/>
          </a:p>
        </p:txBody>
      </p:sp>
    </p:spTree>
    <p:extLst>
      <p:ext uri="{BB962C8B-B14F-4D97-AF65-F5344CB8AC3E}">
        <p14:creationId xmlns:p14="http://schemas.microsoft.com/office/powerpoint/2010/main" val="3059072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B8D94-AFED-4E8A-BDC9-1D3441989101}"/>
              </a:ext>
            </a:extLst>
          </p:cNvPr>
          <p:cNvSpPr>
            <a:spLocks noGrp="1"/>
          </p:cNvSpPr>
          <p:nvPr>
            <p:ph type="title"/>
          </p:nvPr>
        </p:nvSpPr>
        <p:spPr/>
        <p:txBody>
          <a:bodyPr/>
          <a:lstStyle/>
          <a:p>
            <a:r>
              <a:rPr lang="en-GB" altLang="en-US" sz="2400" b="0" dirty="0"/>
              <a:t>Instruction Cycle</a:t>
            </a:r>
            <a:endParaRPr lang="en-IN" sz="2400" b="0" dirty="0"/>
          </a:p>
        </p:txBody>
      </p:sp>
      <p:sp>
        <p:nvSpPr>
          <p:cNvPr id="4" name="Rectangle 5">
            <a:extLst>
              <a:ext uri="{FF2B5EF4-FFF2-40B4-BE49-F238E27FC236}">
                <a16:creationId xmlns:a16="http://schemas.microsoft.com/office/drawing/2014/main" id="{4E3C9DFE-7816-4EB0-96C8-D9138699647F}"/>
              </a:ext>
            </a:extLst>
          </p:cNvPr>
          <p:cNvSpPr txBox="1">
            <a:spLocks noChangeArrowheads="1"/>
          </p:cNvSpPr>
          <p:nvPr/>
        </p:nvSpPr>
        <p:spPr>
          <a:xfrm>
            <a:off x="251520" y="1066800"/>
            <a:ext cx="8496944"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Each phase decomposed into sequence of elementary micro-operations</a:t>
            </a:r>
          </a:p>
          <a:p>
            <a:pPr>
              <a:lnSpc>
                <a:spcPct val="150000"/>
              </a:lnSpc>
            </a:pPr>
            <a:r>
              <a:rPr lang="en-GB" altLang="en-US" sz="2000" kern="0" dirty="0"/>
              <a:t>E.g. fetch, indirect, and interrupt cycles Execute cycle</a:t>
            </a:r>
          </a:p>
          <a:p>
            <a:pPr lvl="1">
              <a:lnSpc>
                <a:spcPct val="150000"/>
              </a:lnSpc>
            </a:pPr>
            <a:r>
              <a:rPr lang="en-GB" altLang="en-US" sz="2000" kern="0" dirty="0"/>
              <a:t>One sequence of micro-operations for each opcode</a:t>
            </a:r>
          </a:p>
          <a:p>
            <a:pPr>
              <a:lnSpc>
                <a:spcPct val="150000"/>
              </a:lnSpc>
            </a:pPr>
            <a:r>
              <a:rPr lang="en-GB" altLang="en-US" sz="2000" kern="0" dirty="0"/>
              <a:t>Assume new 2-bit register called ICC</a:t>
            </a:r>
          </a:p>
          <a:p>
            <a:pPr lvl="1">
              <a:lnSpc>
                <a:spcPct val="150000"/>
              </a:lnSpc>
            </a:pPr>
            <a:r>
              <a:rPr lang="en-GB" altLang="en-US" sz="2000" kern="0" dirty="0"/>
              <a:t>Instruction cycle code (ICC) designates which part of cycle processor is in</a:t>
            </a:r>
          </a:p>
          <a:p>
            <a:pPr lvl="2">
              <a:lnSpc>
                <a:spcPct val="150000"/>
              </a:lnSpc>
            </a:pPr>
            <a:r>
              <a:rPr lang="en-GB" altLang="en-US" sz="2000" kern="0" dirty="0"/>
              <a:t>00: Fetch</a:t>
            </a:r>
          </a:p>
          <a:p>
            <a:pPr lvl="2">
              <a:lnSpc>
                <a:spcPct val="150000"/>
              </a:lnSpc>
            </a:pPr>
            <a:r>
              <a:rPr lang="en-GB" altLang="en-US" sz="2000" kern="0" dirty="0"/>
              <a:t>01: Indirect</a:t>
            </a:r>
          </a:p>
          <a:p>
            <a:pPr lvl="2">
              <a:lnSpc>
                <a:spcPct val="150000"/>
              </a:lnSpc>
            </a:pPr>
            <a:r>
              <a:rPr lang="en-GB" altLang="en-US" sz="2000" kern="0" dirty="0"/>
              <a:t>10: Execute</a:t>
            </a:r>
          </a:p>
          <a:p>
            <a:pPr lvl="2">
              <a:lnSpc>
                <a:spcPct val="150000"/>
              </a:lnSpc>
            </a:pPr>
            <a:r>
              <a:rPr lang="en-GB" altLang="en-US" sz="2000" kern="0" dirty="0"/>
              <a:t>11: Interrupt</a:t>
            </a:r>
          </a:p>
        </p:txBody>
      </p:sp>
    </p:spTree>
    <p:extLst>
      <p:ext uri="{BB962C8B-B14F-4D97-AF65-F5344CB8AC3E}">
        <p14:creationId xmlns:p14="http://schemas.microsoft.com/office/powerpoint/2010/main" val="2157158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E8716-7D9D-482B-A384-3D5FC327688E}"/>
              </a:ext>
            </a:extLst>
          </p:cNvPr>
          <p:cNvSpPr>
            <a:spLocks noGrp="1"/>
          </p:cNvSpPr>
          <p:nvPr>
            <p:ph type="title"/>
          </p:nvPr>
        </p:nvSpPr>
        <p:spPr/>
        <p:txBody>
          <a:bodyPr/>
          <a:lstStyle/>
          <a:p>
            <a:r>
              <a:rPr lang="en-GB" altLang="en-US" sz="2400" b="0" dirty="0"/>
              <a:t>Flowchart for Instruction Cycle</a:t>
            </a:r>
            <a:endParaRPr lang="en-IN" sz="2400" b="0" dirty="0"/>
          </a:p>
        </p:txBody>
      </p:sp>
      <p:pic>
        <p:nvPicPr>
          <p:cNvPr id="6" name="Picture 4">
            <a:extLst>
              <a:ext uri="{FF2B5EF4-FFF2-40B4-BE49-F238E27FC236}">
                <a16:creationId xmlns:a16="http://schemas.microsoft.com/office/drawing/2014/main" id="{1FDAF909-F404-489D-AF42-AFC16343B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5596"/>
          <a:stretch>
            <a:fillRect/>
          </a:stretch>
        </p:blipFill>
        <p:spPr bwMode="auto">
          <a:xfrm>
            <a:off x="274638" y="1284288"/>
            <a:ext cx="8594725" cy="542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6069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31082-6A1F-42C8-AF2D-6BE1716361F4}"/>
              </a:ext>
            </a:extLst>
          </p:cNvPr>
          <p:cNvSpPr>
            <a:spLocks noGrp="1"/>
          </p:cNvSpPr>
          <p:nvPr>
            <p:ph type="title"/>
          </p:nvPr>
        </p:nvSpPr>
        <p:spPr/>
        <p:txBody>
          <a:bodyPr/>
          <a:lstStyle/>
          <a:p>
            <a:r>
              <a:rPr lang="en-IN" sz="2400" b="0" dirty="0"/>
              <a:t>Requirements for CONTROL OF THE PROCESSOR</a:t>
            </a:r>
          </a:p>
        </p:txBody>
      </p:sp>
      <p:sp>
        <p:nvSpPr>
          <p:cNvPr id="3" name="Rectangle 2">
            <a:extLst>
              <a:ext uri="{FF2B5EF4-FFF2-40B4-BE49-F238E27FC236}">
                <a16:creationId xmlns:a16="http://schemas.microsoft.com/office/drawing/2014/main" id="{A9D08395-8A92-4995-A312-C1C6EDE519F8}"/>
              </a:ext>
            </a:extLst>
          </p:cNvPr>
          <p:cNvSpPr/>
          <p:nvPr/>
        </p:nvSpPr>
        <p:spPr>
          <a:xfrm>
            <a:off x="323528" y="1052736"/>
            <a:ext cx="8352928" cy="5575309"/>
          </a:xfrm>
          <a:prstGeom prst="rect">
            <a:avLst/>
          </a:prstGeom>
        </p:spPr>
        <p:txBody>
          <a:bodyPr wrap="square">
            <a:spAutoFit/>
          </a:bodyPr>
          <a:lstStyle/>
          <a:p>
            <a:pPr>
              <a:lnSpc>
                <a:spcPct val="150000"/>
              </a:lnSpc>
            </a:pPr>
            <a:r>
              <a:rPr lang="en-US" sz="2000" dirty="0"/>
              <a:t>the following three-step process leads to a characterization of the control unit</a:t>
            </a:r>
          </a:p>
          <a:p>
            <a:pPr marL="342900" indent="-342900">
              <a:lnSpc>
                <a:spcPct val="150000"/>
              </a:lnSpc>
              <a:buAutoNum type="arabicPeriod"/>
            </a:pPr>
            <a:r>
              <a:rPr lang="en-US" sz="2000" dirty="0"/>
              <a:t>Define the basic elements of the processor.</a:t>
            </a:r>
          </a:p>
          <a:p>
            <a:pPr marL="342900" indent="-342900">
              <a:lnSpc>
                <a:spcPct val="150000"/>
              </a:lnSpc>
              <a:buAutoNum type="arabicPeriod"/>
            </a:pPr>
            <a:r>
              <a:rPr lang="en-US" sz="2000" dirty="0"/>
              <a:t>Describe the micro-operations that the processor performs.</a:t>
            </a:r>
          </a:p>
          <a:p>
            <a:pPr marL="342900" indent="-342900">
              <a:lnSpc>
                <a:spcPct val="150000"/>
              </a:lnSpc>
              <a:buAutoNum type="arabicPeriod"/>
            </a:pPr>
            <a:r>
              <a:rPr lang="en-US" sz="2000" dirty="0"/>
              <a:t>Determine the functions that the control unit must perform to cause the micro-operations to be performed</a:t>
            </a:r>
          </a:p>
          <a:p>
            <a:pPr>
              <a:lnSpc>
                <a:spcPct val="150000"/>
              </a:lnSpc>
            </a:pPr>
            <a:r>
              <a:rPr lang="en-US" sz="2000" dirty="0"/>
              <a:t> The control unit performs two basic tasks: </a:t>
            </a:r>
          </a:p>
          <a:p>
            <a:pPr>
              <a:lnSpc>
                <a:spcPct val="150000"/>
              </a:lnSpc>
            </a:pPr>
            <a:r>
              <a:rPr lang="en-US" sz="2000" dirty="0"/>
              <a:t>• Sequencing: The control unit causes the processor to step through a series of micro-operations in the proper sequence, based on the program being executed.</a:t>
            </a:r>
          </a:p>
          <a:p>
            <a:pPr>
              <a:lnSpc>
                <a:spcPct val="150000"/>
              </a:lnSpc>
            </a:pPr>
            <a:r>
              <a:rPr lang="en-US" sz="2000" dirty="0"/>
              <a:t> • Execution: The control unit causes each micro-operation to be performed</a:t>
            </a:r>
            <a:endParaRPr lang="en-IN" sz="2000" dirty="0"/>
          </a:p>
        </p:txBody>
      </p:sp>
    </p:spTree>
    <p:extLst>
      <p:ext uri="{BB962C8B-B14F-4D97-AF65-F5344CB8AC3E}">
        <p14:creationId xmlns:p14="http://schemas.microsoft.com/office/powerpoint/2010/main" val="3722608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4968-4B1E-43A0-A080-198010E9FA40}"/>
              </a:ext>
            </a:extLst>
          </p:cNvPr>
          <p:cNvSpPr>
            <a:spLocks noGrp="1"/>
          </p:cNvSpPr>
          <p:nvPr>
            <p:ph type="title"/>
          </p:nvPr>
        </p:nvSpPr>
        <p:spPr/>
        <p:txBody>
          <a:bodyPr/>
          <a:lstStyle/>
          <a:p>
            <a:r>
              <a:rPr lang="en-IN" sz="2800" dirty="0"/>
              <a:t>Control Unit </a:t>
            </a:r>
            <a:endParaRPr lang="en-IN" sz="2800" b="0" dirty="0"/>
          </a:p>
        </p:txBody>
      </p:sp>
      <p:pic>
        <p:nvPicPr>
          <p:cNvPr id="4" name="Picture 3">
            <a:extLst>
              <a:ext uri="{FF2B5EF4-FFF2-40B4-BE49-F238E27FC236}">
                <a16:creationId xmlns:a16="http://schemas.microsoft.com/office/drawing/2014/main" id="{4D70B1CD-6DA9-46F5-AD98-0B9E6EFEEE53}"/>
              </a:ext>
            </a:extLst>
          </p:cNvPr>
          <p:cNvPicPr>
            <a:picLocks noChangeAspect="1"/>
          </p:cNvPicPr>
          <p:nvPr/>
        </p:nvPicPr>
        <p:blipFill>
          <a:blip r:embed="rId2"/>
          <a:stretch>
            <a:fillRect/>
          </a:stretch>
        </p:blipFill>
        <p:spPr>
          <a:xfrm>
            <a:off x="0" y="1207657"/>
            <a:ext cx="4866149" cy="3507853"/>
          </a:xfrm>
          <a:prstGeom prst="rect">
            <a:avLst/>
          </a:prstGeom>
        </p:spPr>
      </p:pic>
      <p:sp>
        <p:nvSpPr>
          <p:cNvPr id="5" name="Rectangle 4">
            <a:extLst>
              <a:ext uri="{FF2B5EF4-FFF2-40B4-BE49-F238E27FC236}">
                <a16:creationId xmlns:a16="http://schemas.microsoft.com/office/drawing/2014/main" id="{DF12A4ED-75C2-4868-BCE0-BDF8B61ECD2C}"/>
              </a:ext>
            </a:extLst>
          </p:cNvPr>
          <p:cNvSpPr/>
          <p:nvPr/>
        </p:nvSpPr>
        <p:spPr>
          <a:xfrm>
            <a:off x="201466" y="1022991"/>
            <a:ext cx="4463216" cy="369332"/>
          </a:xfrm>
          <a:prstGeom prst="rect">
            <a:avLst/>
          </a:prstGeom>
        </p:spPr>
        <p:txBody>
          <a:bodyPr wrap="square">
            <a:spAutoFit/>
          </a:bodyPr>
          <a:lstStyle/>
          <a:p>
            <a:r>
              <a:rPr lang="en-US" dirty="0"/>
              <a:t>Block Diagram of the Control Unit </a:t>
            </a:r>
            <a:endParaRPr lang="en-IN" dirty="0"/>
          </a:p>
        </p:txBody>
      </p:sp>
      <p:sp>
        <p:nvSpPr>
          <p:cNvPr id="6" name="Rectangle 5">
            <a:extLst>
              <a:ext uri="{FF2B5EF4-FFF2-40B4-BE49-F238E27FC236}">
                <a16:creationId xmlns:a16="http://schemas.microsoft.com/office/drawing/2014/main" id="{53E04827-5BF6-40B2-AD57-D01BA36433F4}"/>
              </a:ext>
            </a:extLst>
          </p:cNvPr>
          <p:cNvSpPr txBox="1">
            <a:spLocks noChangeArrowheads="1"/>
          </p:cNvSpPr>
          <p:nvPr/>
        </p:nvSpPr>
        <p:spPr>
          <a:xfrm>
            <a:off x="4866148" y="742528"/>
            <a:ext cx="4277852"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1800" kern="0" dirty="0"/>
              <a:t>Clock</a:t>
            </a:r>
          </a:p>
          <a:p>
            <a:pPr lvl="1">
              <a:lnSpc>
                <a:spcPct val="150000"/>
              </a:lnSpc>
            </a:pPr>
            <a:r>
              <a:rPr lang="en-GB" altLang="en-US" sz="1800" kern="0" dirty="0"/>
              <a:t>One micro-instruction (or set of parallel micro-instructions) per clock cycle</a:t>
            </a:r>
          </a:p>
          <a:p>
            <a:pPr>
              <a:lnSpc>
                <a:spcPct val="150000"/>
              </a:lnSpc>
            </a:pPr>
            <a:r>
              <a:rPr lang="en-GB" altLang="en-US" sz="1800" kern="0" dirty="0"/>
              <a:t>Instruction register</a:t>
            </a:r>
          </a:p>
          <a:p>
            <a:pPr lvl="1">
              <a:lnSpc>
                <a:spcPct val="150000"/>
              </a:lnSpc>
            </a:pPr>
            <a:r>
              <a:rPr lang="en-GB" altLang="en-US" sz="1800" kern="0" dirty="0"/>
              <a:t>Op-code for current instruction</a:t>
            </a:r>
          </a:p>
          <a:p>
            <a:pPr lvl="1">
              <a:lnSpc>
                <a:spcPct val="150000"/>
              </a:lnSpc>
            </a:pPr>
            <a:r>
              <a:rPr lang="en-GB" altLang="en-US" sz="1800" kern="0" dirty="0"/>
              <a:t>Determines which micro-instructions are performed</a:t>
            </a:r>
          </a:p>
          <a:p>
            <a:pPr>
              <a:lnSpc>
                <a:spcPct val="150000"/>
              </a:lnSpc>
            </a:pPr>
            <a:r>
              <a:rPr lang="en-GB" altLang="en-US" sz="1800" kern="0" dirty="0"/>
              <a:t>Flags</a:t>
            </a:r>
          </a:p>
          <a:p>
            <a:pPr lvl="1">
              <a:lnSpc>
                <a:spcPct val="150000"/>
              </a:lnSpc>
            </a:pPr>
            <a:r>
              <a:rPr lang="en-GB" altLang="en-US" sz="1800" kern="0" dirty="0"/>
              <a:t>State of CPU</a:t>
            </a:r>
          </a:p>
          <a:p>
            <a:pPr lvl="1">
              <a:lnSpc>
                <a:spcPct val="150000"/>
              </a:lnSpc>
            </a:pPr>
            <a:r>
              <a:rPr lang="en-GB" altLang="en-US" sz="1800" kern="0" dirty="0"/>
              <a:t>Results of previous operations</a:t>
            </a:r>
          </a:p>
          <a:p>
            <a:pPr>
              <a:lnSpc>
                <a:spcPct val="150000"/>
              </a:lnSpc>
            </a:pPr>
            <a:r>
              <a:rPr lang="en-GB" altLang="en-US" sz="1800" kern="0" dirty="0"/>
              <a:t>From control bus</a:t>
            </a:r>
          </a:p>
          <a:p>
            <a:pPr lvl="1">
              <a:lnSpc>
                <a:spcPct val="150000"/>
              </a:lnSpc>
            </a:pPr>
            <a:r>
              <a:rPr lang="en-GB" altLang="en-US" sz="1800" kern="0" dirty="0"/>
              <a:t>Interrupts</a:t>
            </a:r>
          </a:p>
          <a:p>
            <a:pPr lvl="1">
              <a:lnSpc>
                <a:spcPct val="150000"/>
              </a:lnSpc>
            </a:pPr>
            <a:r>
              <a:rPr lang="en-GB" altLang="en-US" sz="1800" kern="0" dirty="0"/>
              <a:t>Acknowledgements</a:t>
            </a:r>
          </a:p>
        </p:txBody>
      </p:sp>
    </p:spTree>
    <p:extLst>
      <p:ext uri="{BB962C8B-B14F-4D97-AF65-F5344CB8AC3E}">
        <p14:creationId xmlns:p14="http://schemas.microsoft.com/office/powerpoint/2010/main" val="3284950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FBA6-3274-44A0-AA39-C0DBBB20B3D6}"/>
              </a:ext>
            </a:extLst>
          </p:cNvPr>
          <p:cNvSpPr>
            <a:spLocks noGrp="1"/>
          </p:cNvSpPr>
          <p:nvPr>
            <p:ph type="title"/>
          </p:nvPr>
        </p:nvSpPr>
        <p:spPr/>
        <p:txBody>
          <a:bodyPr/>
          <a:lstStyle/>
          <a:p>
            <a:r>
              <a:rPr lang="en-GB" altLang="en-US" sz="2400" dirty="0"/>
              <a:t>Example Control Signal Sequence - Fetch</a:t>
            </a:r>
            <a:endParaRPr lang="en-IN" sz="2400" b="0" dirty="0"/>
          </a:p>
        </p:txBody>
      </p:sp>
      <p:sp>
        <p:nvSpPr>
          <p:cNvPr id="6" name="Rectangle 3">
            <a:extLst>
              <a:ext uri="{FF2B5EF4-FFF2-40B4-BE49-F238E27FC236}">
                <a16:creationId xmlns:a16="http://schemas.microsoft.com/office/drawing/2014/main" id="{C04CFD58-7B3F-486C-BED9-D35FAE273AAF}"/>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MAR &lt;- (PC)</a:t>
            </a:r>
          </a:p>
          <a:p>
            <a:pPr lvl="1">
              <a:lnSpc>
                <a:spcPct val="150000"/>
              </a:lnSpc>
            </a:pPr>
            <a:r>
              <a:rPr lang="en-GB" altLang="en-US" sz="2000" kern="0" dirty="0"/>
              <a:t>Control unit activates signal to open gates between PC and MAR</a:t>
            </a:r>
          </a:p>
          <a:p>
            <a:pPr>
              <a:lnSpc>
                <a:spcPct val="150000"/>
              </a:lnSpc>
            </a:pPr>
            <a:r>
              <a:rPr lang="en-GB" altLang="en-US" sz="2000" kern="0" dirty="0"/>
              <a:t>MBR &lt;- (memory)</a:t>
            </a:r>
          </a:p>
          <a:p>
            <a:pPr lvl="1">
              <a:lnSpc>
                <a:spcPct val="150000"/>
              </a:lnSpc>
            </a:pPr>
            <a:r>
              <a:rPr lang="en-GB" altLang="en-US" sz="2000" kern="0" dirty="0"/>
              <a:t>Open gates between MAR and address bus</a:t>
            </a:r>
          </a:p>
          <a:p>
            <a:pPr lvl="1">
              <a:lnSpc>
                <a:spcPct val="150000"/>
              </a:lnSpc>
            </a:pPr>
            <a:r>
              <a:rPr lang="en-GB" altLang="en-US" sz="2000" kern="0" dirty="0"/>
              <a:t>Memory read control signal</a:t>
            </a:r>
          </a:p>
          <a:p>
            <a:pPr lvl="1">
              <a:lnSpc>
                <a:spcPct val="150000"/>
              </a:lnSpc>
            </a:pPr>
            <a:r>
              <a:rPr lang="en-GB" altLang="en-US" sz="2000" kern="0" dirty="0"/>
              <a:t>Open gates between data bus and MBR</a:t>
            </a:r>
          </a:p>
          <a:p>
            <a:pPr>
              <a:lnSpc>
                <a:spcPct val="150000"/>
              </a:lnSpc>
            </a:pPr>
            <a:endParaRPr lang="en-GB" altLang="en-US" sz="2000" kern="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7073D0C-7064-42E0-B037-2F9667545BFF}"/>
                  </a:ext>
                </a:extLst>
              </p14:cNvPr>
              <p14:cNvContentPartPr/>
              <p14:nvPr/>
            </p14:nvContentPartPr>
            <p14:xfrm>
              <a:off x="2210040" y="1349640"/>
              <a:ext cx="2391120" cy="720360"/>
            </p14:xfrm>
          </p:contentPart>
        </mc:Choice>
        <mc:Fallback xmlns="">
          <p:pic>
            <p:nvPicPr>
              <p:cNvPr id="3" name="Ink 2">
                <a:extLst>
                  <a:ext uri="{FF2B5EF4-FFF2-40B4-BE49-F238E27FC236}">
                    <a16:creationId xmlns:a16="http://schemas.microsoft.com/office/drawing/2014/main" id="{67073D0C-7064-42E0-B037-2F9667545BFF}"/>
                  </a:ext>
                </a:extLst>
              </p:cNvPr>
              <p:cNvPicPr/>
              <p:nvPr/>
            </p:nvPicPr>
            <p:blipFill>
              <a:blip r:embed="rId3"/>
              <a:stretch>
                <a:fillRect/>
              </a:stretch>
            </p:blipFill>
            <p:spPr>
              <a:xfrm>
                <a:off x="2200680" y="1340280"/>
                <a:ext cx="2409840" cy="739080"/>
              </a:xfrm>
              <a:prstGeom prst="rect">
                <a:avLst/>
              </a:prstGeom>
            </p:spPr>
          </p:pic>
        </mc:Fallback>
      </mc:AlternateContent>
    </p:spTree>
    <p:extLst>
      <p:ext uri="{BB962C8B-B14F-4D97-AF65-F5344CB8AC3E}">
        <p14:creationId xmlns:p14="http://schemas.microsoft.com/office/powerpoint/2010/main" val="3495780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2522F-6DAD-455F-9C52-31153B0A6A78}"/>
              </a:ext>
            </a:extLst>
          </p:cNvPr>
          <p:cNvSpPr>
            <a:spLocks noGrp="1"/>
          </p:cNvSpPr>
          <p:nvPr>
            <p:ph type="title"/>
          </p:nvPr>
        </p:nvSpPr>
        <p:spPr/>
        <p:txBody>
          <a:bodyPr/>
          <a:lstStyle/>
          <a:p>
            <a:r>
              <a:rPr lang="en-GB" sz="2400" dirty="0"/>
              <a:t>Data Paths and Control Signals</a:t>
            </a:r>
            <a:endParaRPr lang="en-IN" sz="2400" b="0" dirty="0"/>
          </a:p>
        </p:txBody>
      </p:sp>
      <p:pic>
        <p:nvPicPr>
          <p:cNvPr id="101" name="Picture 5">
            <a:extLst>
              <a:ext uri="{FF2B5EF4-FFF2-40B4-BE49-F238E27FC236}">
                <a16:creationId xmlns:a16="http://schemas.microsoft.com/office/drawing/2014/main" id="{B1711468-91E1-43C8-9C7E-1A238F0335C1}"/>
              </a:ext>
            </a:extLst>
          </p:cNvPr>
          <p:cNvPicPr>
            <a:picLocks noChangeAspect="1" noChangeArrowheads="1"/>
          </p:cNvPicPr>
          <p:nvPr/>
        </p:nvPicPr>
        <p:blipFill>
          <a:blip r:embed="rId2"/>
          <a:srcRect/>
          <a:stretch>
            <a:fillRect/>
          </a:stretch>
        </p:blipFill>
        <p:spPr bwMode="auto">
          <a:xfrm>
            <a:off x="381000" y="1073150"/>
            <a:ext cx="8223448" cy="5574078"/>
          </a:xfrm>
          <a:prstGeom prst="rect">
            <a:avLst/>
          </a:prstGeom>
          <a:noFill/>
          <a:ln w="9525">
            <a:noFill/>
            <a:miter lim="800000"/>
            <a:headEnd/>
            <a:tailEnd/>
          </a:ln>
          <a:effectLst/>
        </p:spPr>
      </p:pic>
    </p:spTree>
    <p:extLst>
      <p:ext uri="{BB962C8B-B14F-4D97-AF65-F5344CB8AC3E}">
        <p14:creationId xmlns:p14="http://schemas.microsoft.com/office/powerpoint/2010/main" val="1369132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8A69F159-C924-4011-9C05-FFA1C4CF2150}"/>
              </a:ext>
            </a:extLst>
          </p:cNvPr>
          <p:cNvPicPr>
            <a:picLocks noChangeAspect="1" noChangeArrowheads="1"/>
          </p:cNvPicPr>
          <p:nvPr/>
        </p:nvPicPr>
        <p:blipFill>
          <a:blip r:embed="rId2"/>
          <a:srcRect/>
          <a:stretch>
            <a:fillRect/>
          </a:stretch>
        </p:blipFill>
        <p:spPr bwMode="auto">
          <a:xfrm>
            <a:off x="400050" y="965439"/>
            <a:ext cx="7412310" cy="5635386"/>
          </a:xfrm>
          <a:prstGeom prst="rect">
            <a:avLst/>
          </a:prstGeom>
          <a:noFill/>
          <a:ln w="9525">
            <a:noFill/>
            <a:miter lim="800000"/>
            <a:headEnd/>
            <a:tailEnd/>
          </a:ln>
          <a:effectLst/>
        </p:spPr>
      </p:pic>
    </p:spTree>
    <p:extLst>
      <p:ext uri="{BB962C8B-B14F-4D97-AF65-F5344CB8AC3E}">
        <p14:creationId xmlns:p14="http://schemas.microsoft.com/office/powerpoint/2010/main" val="38326369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8424936" cy="523220"/>
          </a:xfrm>
          <a:prstGeom prst="rect">
            <a:avLst/>
          </a:prstGeom>
          <a:noFill/>
        </p:spPr>
        <p:txBody>
          <a:bodyPr wrap="square" rtlCol="0">
            <a:spAutoFit/>
          </a:bodyPr>
          <a:lstStyle/>
          <a:p>
            <a:pPr lvl="0">
              <a:defRPr/>
            </a:pPr>
            <a:r>
              <a:rPr lang="en-GB" sz="2800" dirty="0"/>
              <a:t>Control Unit with Decoded Inputs</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3" name="Picture 4">
            <a:extLst>
              <a:ext uri="{FF2B5EF4-FFF2-40B4-BE49-F238E27FC236}">
                <a16:creationId xmlns:a16="http://schemas.microsoft.com/office/drawing/2014/main" id="{02CBCE4B-2439-4B30-9E71-86FB245280A1}"/>
              </a:ext>
            </a:extLst>
          </p:cNvPr>
          <p:cNvPicPr>
            <a:picLocks noChangeAspect="1" noChangeArrowheads="1"/>
          </p:cNvPicPr>
          <p:nvPr/>
        </p:nvPicPr>
        <p:blipFill>
          <a:blip r:embed="rId2"/>
          <a:srcRect/>
          <a:stretch>
            <a:fillRect/>
          </a:stretch>
        </p:blipFill>
        <p:spPr bwMode="auto">
          <a:xfrm>
            <a:off x="246063" y="1252538"/>
            <a:ext cx="8651875" cy="5376862"/>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18D6CEF-7514-4CBE-8735-35EBE92730C7}"/>
                  </a:ext>
                </a:extLst>
              </p14:cNvPr>
              <p14:cNvContentPartPr/>
              <p14:nvPr/>
            </p14:nvContentPartPr>
            <p14:xfrm>
              <a:off x="2484360" y="1472760"/>
              <a:ext cx="4865040" cy="5191920"/>
            </p14:xfrm>
          </p:contentPart>
        </mc:Choice>
        <mc:Fallback xmlns="">
          <p:pic>
            <p:nvPicPr>
              <p:cNvPr id="4" name="Ink 3">
                <a:extLst>
                  <a:ext uri="{FF2B5EF4-FFF2-40B4-BE49-F238E27FC236}">
                    <a16:creationId xmlns:a16="http://schemas.microsoft.com/office/drawing/2014/main" id="{418D6CEF-7514-4CBE-8735-35EBE92730C7}"/>
                  </a:ext>
                </a:extLst>
              </p:cNvPr>
              <p:cNvPicPr/>
              <p:nvPr/>
            </p:nvPicPr>
            <p:blipFill>
              <a:blip r:embed="rId4"/>
              <a:stretch>
                <a:fillRect/>
              </a:stretch>
            </p:blipFill>
            <p:spPr>
              <a:xfrm>
                <a:off x="2475000" y="1463400"/>
                <a:ext cx="4883760" cy="5210640"/>
              </a:xfrm>
              <a:prstGeom prst="rect">
                <a:avLst/>
              </a:prstGeom>
            </p:spPr>
          </p:pic>
        </mc:Fallback>
      </mc:AlternateContent>
    </p:spTree>
    <p:extLst>
      <p:ext uri="{BB962C8B-B14F-4D97-AF65-F5344CB8AC3E}">
        <p14:creationId xmlns:p14="http://schemas.microsoft.com/office/powerpoint/2010/main" val="1291699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48EA-0990-467A-AF69-35382D45104A}"/>
              </a:ext>
            </a:extLst>
          </p:cNvPr>
          <p:cNvSpPr>
            <a:spLocks noGrp="1"/>
          </p:cNvSpPr>
          <p:nvPr>
            <p:ph type="title"/>
          </p:nvPr>
        </p:nvSpPr>
        <p:spPr/>
        <p:txBody>
          <a:bodyPr/>
          <a:lstStyle/>
          <a:p>
            <a:r>
              <a:rPr lang="en-IN" sz="2000" b="0" dirty="0"/>
              <a:t>Hardwired control Signal</a:t>
            </a:r>
          </a:p>
        </p:txBody>
      </p:sp>
      <p:sp>
        <p:nvSpPr>
          <p:cNvPr id="3" name="Rectangle 2">
            <a:extLst>
              <a:ext uri="{FF2B5EF4-FFF2-40B4-BE49-F238E27FC236}">
                <a16:creationId xmlns:a16="http://schemas.microsoft.com/office/drawing/2014/main" id="{9F8D3594-F704-4876-93C7-DE835980B544}"/>
              </a:ext>
            </a:extLst>
          </p:cNvPr>
          <p:cNvSpPr/>
          <p:nvPr/>
        </p:nvSpPr>
        <p:spPr>
          <a:xfrm>
            <a:off x="174429" y="836712"/>
            <a:ext cx="8741395" cy="872034"/>
          </a:xfrm>
          <a:prstGeom prst="rect">
            <a:avLst/>
          </a:prstGeom>
        </p:spPr>
        <p:txBody>
          <a:bodyPr wrap="square">
            <a:spAutoFit/>
          </a:bodyPr>
          <a:lstStyle/>
          <a:p>
            <a:pPr>
              <a:lnSpc>
                <a:spcPct val="150000"/>
              </a:lnSpc>
            </a:pPr>
            <a:r>
              <a:rPr lang="en-US" dirty="0"/>
              <a:t>Let us consider a single control signal, C5. This signal causes data to be read from the external data bus into the MBR</a:t>
            </a:r>
            <a:endParaRPr lang="en-IN" dirty="0"/>
          </a:p>
        </p:txBody>
      </p:sp>
      <p:sp>
        <p:nvSpPr>
          <p:cNvPr id="4" name="Rectangle 3">
            <a:extLst>
              <a:ext uri="{FF2B5EF4-FFF2-40B4-BE49-F238E27FC236}">
                <a16:creationId xmlns:a16="http://schemas.microsoft.com/office/drawing/2014/main" id="{32E2BE75-C080-4E76-AA05-CA73DDD560BD}"/>
              </a:ext>
            </a:extLst>
          </p:cNvPr>
          <p:cNvSpPr/>
          <p:nvPr/>
        </p:nvSpPr>
        <p:spPr>
          <a:xfrm>
            <a:off x="122238" y="1708746"/>
            <a:ext cx="8764740" cy="400110"/>
          </a:xfrm>
          <a:prstGeom prst="rect">
            <a:avLst/>
          </a:prstGeom>
        </p:spPr>
        <p:txBody>
          <a:bodyPr wrap="square">
            <a:spAutoFit/>
          </a:bodyPr>
          <a:lstStyle/>
          <a:p>
            <a:r>
              <a:rPr lang="fr-FR" sz="2000" dirty="0"/>
              <a:t>PQ = 11 Instruction C; PQ = 10 EC ;PQ = 01 Indirect Cycle; </a:t>
            </a:r>
            <a:r>
              <a:rPr lang="en-IN" sz="2000" dirty="0"/>
              <a:t>PQ = 00 FC</a:t>
            </a:r>
          </a:p>
        </p:txBody>
      </p:sp>
      <p:sp>
        <p:nvSpPr>
          <p:cNvPr id="5" name="Rectangle 4">
            <a:extLst>
              <a:ext uri="{FF2B5EF4-FFF2-40B4-BE49-F238E27FC236}">
                <a16:creationId xmlns:a16="http://schemas.microsoft.com/office/drawing/2014/main" id="{44EC76FB-842F-48A5-9058-AE22DFA7E2F6}"/>
              </a:ext>
            </a:extLst>
          </p:cNvPr>
          <p:cNvSpPr/>
          <p:nvPr/>
        </p:nvSpPr>
        <p:spPr>
          <a:xfrm>
            <a:off x="323528" y="2314021"/>
            <a:ext cx="7632848" cy="369332"/>
          </a:xfrm>
          <a:prstGeom prst="rect">
            <a:avLst/>
          </a:prstGeom>
        </p:spPr>
        <p:txBody>
          <a:bodyPr wrap="square">
            <a:spAutoFit/>
          </a:bodyPr>
          <a:lstStyle/>
          <a:p>
            <a:r>
              <a:rPr lang="en-US" dirty="0"/>
              <a:t>Then the following Boolean expression defines C5</a:t>
            </a:r>
            <a:endParaRPr lang="en-IN" dirty="0"/>
          </a:p>
        </p:txBody>
      </p:sp>
      <p:pic>
        <p:nvPicPr>
          <p:cNvPr id="7" name="Picture 6">
            <a:extLst>
              <a:ext uri="{FF2B5EF4-FFF2-40B4-BE49-F238E27FC236}">
                <a16:creationId xmlns:a16="http://schemas.microsoft.com/office/drawing/2014/main" id="{76DDE508-F0F9-4476-A7AF-91CC53158F81}"/>
              </a:ext>
            </a:extLst>
          </p:cNvPr>
          <p:cNvPicPr>
            <a:picLocks noChangeAspect="1"/>
          </p:cNvPicPr>
          <p:nvPr/>
        </p:nvPicPr>
        <p:blipFill>
          <a:blip r:embed="rId2"/>
          <a:stretch>
            <a:fillRect/>
          </a:stretch>
        </p:blipFill>
        <p:spPr>
          <a:xfrm>
            <a:off x="5940152" y="2369028"/>
            <a:ext cx="2333625" cy="314325"/>
          </a:xfrm>
          <a:prstGeom prst="rect">
            <a:avLst/>
          </a:prstGeom>
        </p:spPr>
      </p:pic>
      <p:sp>
        <p:nvSpPr>
          <p:cNvPr id="8" name="Rectangle 7">
            <a:extLst>
              <a:ext uri="{FF2B5EF4-FFF2-40B4-BE49-F238E27FC236}">
                <a16:creationId xmlns:a16="http://schemas.microsoft.com/office/drawing/2014/main" id="{207DC273-4F86-4D33-988C-2BB5A3D8DE78}"/>
              </a:ext>
            </a:extLst>
          </p:cNvPr>
          <p:cNvSpPr/>
          <p:nvPr/>
        </p:nvSpPr>
        <p:spPr>
          <a:xfrm>
            <a:off x="323528" y="2924944"/>
            <a:ext cx="8136904" cy="1287532"/>
          </a:xfrm>
          <a:prstGeom prst="rect">
            <a:avLst/>
          </a:prstGeom>
        </p:spPr>
        <p:txBody>
          <a:bodyPr wrap="square">
            <a:spAutoFit/>
          </a:bodyPr>
          <a:lstStyle/>
          <a:p>
            <a:pPr>
              <a:lnSpc>
                <a:spcPct val="150000"/>
              </a:lnSpc>
            </a:pPr>
            <a:r>
              <a:rPr lang="en-US" dirty="0"/>
              <a:t>This expression is not complete. C5 is also needed during the execute cycle. For our simple example, let us assume that there are only three instructions that read from memory: LDA, ADD, and </a:t>
            </a:r>
            <a:r>
              <a:rPr lang="en-US" dirty="0" err="1"/>
              <a:t>AND</a:t>
            </a:r>
            <a:r>
              <a:rPr lang="en-US" dirty="0"/>
              <a:t>. Now we can define C5</a:t>
            </a:r>
            <a:endParaRPr lang="en-IN" dirty="0"/>
          </a:p>
        </p:txBody>
      </p:sp>
      <p:pic>
        <p:nvPicPr>
          <p:cNvPr id="9" name="Picture 8">
            <a:extLst>
              <a:ext uri="{FF2B5EF4-FFF2-40B4-BE49-F238E27FC236}">
                <a16:creationId xmlns:a16="http://schemas.microsoft.com/office/drawing/2014/main" id="{B5C5F910-2F3E-45D8-8E14-31DB707277D1}"/>
              </a:ext>
            </a:extLst>
          </p:cNvPr>
          <p:cNvPicPr>
            <a:picLocks noChangeAspect="1"/>
          </p:cNvPicPr>
          <p:nvPr/>
        </p:nvPicPr>
        <p:blipFill>
          <a:blip r:embed="rId3"/>
          <a:stretch>
            <a:fillRect/>
          </a:stretch>
        </p:blipFill>
        <p:spPr>
          <a:xfrm>
            <a:off x="1095375" y="4658140"/>
            <a:ext cx="6817116" cy="491113"/>
          </a:xfrm>
          <a:prstGeom prst="rect">
            <a:avLst/>
          </a:prstGeom>
        </p:spPr>
      </p:pic>
      <p:sp>
        <p:nvSpPr>
          <p:cNvPr id="10" name="Rectangle 9">
            <a:extLst>
              <a:ext uri="{FF2B5EF4-FFF2-40B4-BE49-F238E27FC236}">
                <a16:creationId xmlns:a16="http://schemas.microsoft.com/office/drawing/2014/main" id="{C41C64B2-9152-4F72-A368-B7FDE35CF7BD}"/>
              </a:ext>
            </a:extLst>
          </p:cNvPr>
          <p:cNvSpPr/>
          <p:nvPr/>
        </p:nvSpPr>
        <p:spPr>
          <a:xfrm>
            <a:off x="0" y="5445224"/>
            <a:ext cx="8460432" cy="646331"/>
          </a:xfrm>
          <a:prstGeom prst="rect">
            <a:avLst/>
          </a:prstGeom>
        </p:spPr>
        <p:txBody>
          <a:bodyPr wrap="square">
            <a:spAutoFit/>
          </a:bodyPr>
          <a:lstStyle/>
          <a:p>
            <a:r>
              <a:rPr lang="en-US" dirty="0"/>
              <a:t>This same process could be repeated for every control signal generated by the processor</a:t>
            </a:r>
            <a:endParaRPr lang="en-IN" dirty="0"/>
          </a:p>
        </p:txBody>
      </p:sp>
    </p:spTree>
    <p:extLst>
      <p:ext uri="{BB962C8B-B14F-4D97-AF65-F5344CB8AC3E}">
        <p14:creationId xmlns:p14="http://schemas.microsoft.com/office/powerpoint/2010/main" val="69940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8424936" cy="523220"/>
          </a:xfrm>
          <a:prstGeom prst="rect">
            <a:avLst/>
          </a:prstGeom>
          <a:noFill/>
        </p:spPr>
        <p:txBody>
          <a:bodyPr wrap="square" rtlCol="0">
            <a:spAutoFit/>
          </a:bodyPr>
          <a:lstStyle/>
          <a:p>
            <a:pPr lvl="0">
              <a:defRPr/>
            </a:pPr>
            <a:r>
              <a:rPr lang="en-GB" sz="2800" dirty="0"/>
              <a:t>Hardwired Implementation (1)</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Rectangle 3">
            <a:extLst>
              <a:ext uri="{FF2B5EF4-FFF2-40B4-BE49-F238E27FC236}">
                <a16:creationId xmlns:a16="http://schemas.microsoft.com/office/drawing/2014/main" id="{33470131-4B78-4056-B38B-5BBF7B6816EE}"/>
              </a:ext>
            </a:extLst>
          </p:cNvPr>
          <p:cNvSpPr txBox="1">
            <a:spLocks noChangeArrowheads="1"/>
          </p:cNvSpPr>
          <p:nvPr/>
        </p:nvSpPr>
        <p:spPr>
          <a:xfrm>
            <a:off x="457200" y="1426840"/>
            <a:ext cx="7859216" cy="517051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GB" sz="2000"/>
              <a:t>Control unit inputs</a:t>
            </a:r>
          </a:p>
          <a:p>
            <a:pPr>
              <a:lnSpc>
                <a:spcPct val="150000"/>
              </a:lnSpc>
            </a:pPr>
            <a:r>
              <a:rPr lang="en-GB" sz="2000"/>
              <a:t>Flags and control bus</a:t>
            </a:r>
          </a:p>
          <a:p>
            <a:pPr lvl="1">
              <a:lnSpc>
                <a:spcPct val="150000"/>
              </a:lnSpc>
            </a:pPr>
            <a:r>
              <a:rPr lang="en-GB" sz="2000"/>
              <a:t>Each bit means something</a:t>
            </a:r>
          </a:p>
          <a:p>
            <a:pPr>
              <a:lnSpc>
                <a:spcPct val="150000"/>
              </a:lnSpc>
            </a:pPr>
            <a:r>
              <a:rPr lang="en-GB" sz="2000"/>
              <a:t>Instruction register</a:t>
            </a:r>
          </a:p>
          <a:p>
            <a:pPr lvl="1">
              <a:lnSpc>
                <a:spcPct val="150000"/>
              </a:lnSpc>
            </a:pPr>
            <a:r>
              <a:rPr lang="en-GB" sz="2000"/>
              <a:t>Op-code causes different control signals for each different instruction</a:t>
            </a:r>
          </a:p>
          <a:p>
            <a:pPr lvl="1">
              <a:lnSpc>
                <a:spcPct val="150000"/>
              </a:lnSpc>
            </a:pPr>
            <a:r>
              <a:rPr lang="en-GB" sz="2000"/>
              <a:t>Unique logic for each op-code</a:t>
            </a:r>
          </a:p>
          <a:p>
            <a:pPr lvl="1">
              <a:lnSpc>
                <a:spcPct val="150000"/>
              </a:lnSpc>
            </a:pPr>
            <a:r>
              <a:rPr lang="en-GB" sz="2000"/>
              <a:t>Decoder takes encoded input and produces single output</a:t>
            </a:r>
          </a:p>
          <a:p>
            <a:pPr lvl="1">
              <a:lnSpc>
                <a:spcPct val="150000"/>
              </a:lnSpc>
            </a:pPr>
            <a:r>
              <a:rPr lang="en-GB" sz="2000" i="1"/>
              <a:t>n</a:t>
            </a:r>
            <a:r>
              <a:rPr lang="en-GB" sz="2000"/>
              <a:t> binary inputs and 2</a:t>
            </a:r>
            <a:r>
              <a:rPr lang="en-GB" sz="2000" i="1" baseline="30000"/>
              <a:t>n </a:t>
            </a:r>
            <a:r>
              <a:rPr lang="en-GB" sz="2000"/>
              <a:t>outputs</a:t>
            </a:r>
          </a:p>
          <a:p>
            <a:pPr>
              <a:lnSpc>
                <a:spcPct val="150000"/>
              </a:lnSpc>
            </a:pPr>
            <a:endParaRPr lang="en-GB" sz="2000" dirty="0"/>
          </a:p>
        </p:txBody>
      </p:sp>
    </p:spTree>
    <p:extLst>
      <p:ext uri="{BB962C8B-B14F-4D97-AF65-F5344CB8AC3E}">
        <p14:creationId xmlns:p14="http://schemas.microsoft.com/office/powerpoint/2010/main" val="2599454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260648"/>
            <a:ext cx="8424936" cy="523220"/>
          </a:xfrm>
          <a:prstGeom prst="rect">
            <a:avLst/>
          </a:prstGeom>
          <a:noFill/>
        </p:spPr>
        <p:txBody>
          <a:bodyPr wrap="square" rtlCol="0">
            <a:spAutoFit/>
          </a:bodyPr>
          <a:lstStyle/>
          <a:p>
            <a:pPr lvl="0">
              <a:defRPr/>
            </a:pPr>
            <a:r>
              <a:rPr lang="en-GB" sz="2800" dirty="0"/>
              <a:t>Hardwired Implementation (2)</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Rectangle 3">
            <a:extLst>
              <a:ext uri="{FF2B5EF4-FFF2-40B4-BE49-F238E27FC236}">
                <a16:creationId xmlns:a16="http://schemas.microsoft.com/office/drawing/2014/main" id="{42184926-9A62-4B81-AF95-B39EB208ED7D}"/>
              </a:ext>
            </a:extLst>
          </p:cNvPr>
          <p:cNvSpPr txBox="1">
            <a:spLocks noChangeArrowheads="1"/>
          </p:cNvSpPr>
          <p:nvPr/>
        </p:nvSpPr>
        <p:spPr>
          <a:xfrm>
            <a:off x="457200" y="1174576"/>
            <a:ext cx="8178800" cy="563880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GB" sz="2000"/>
              <a:t>Clock</a:t>
            </a:r>
          </a:p>
          <a:p>
            <a:pPr lvl="1">
              <a:lnSpc>
                <a:spcPct val="150000"/>
              </a:lnSpc>
            </a:pPr>
            <a:r>
              <a:rPr lang="en-GB" sz="2000"/>
              <a:t>Repetitive sequence of pulses</a:t>
            </a:r>
          </a:p>
          <a:p>
            <a:pPr lvl="1">
              <a:lnSpc>
                <a:spcPct val="150000"/>
              </a:lnSpc>
            </a:pPr>
            <a:r>
              <a:rPr lang="en-GB" sz="2000"/>
              <a:t>Useful for measuring duration of micro-ops</a:t>
            </a:r>
          </a:p>
          <a:p>
            <a:pPr lvl="1">
              <a:lnSpc>
                <a:spcPct val="150000"/>
              </a:lnSpc>
            </a:pPr>
            <a:r>
              <a:rPr lang="en-GB" sz="2000"/>
              <a:t>Must be long enough to allow signal propagation</a:t>
            </a:r>
          </a:p>
          <a:p>
            <a:pPr lvl="1">
              <a:lnSpc>
                <a:spcPct val="150000"/>
              </a:lnSpc>
            </a:pPr>
            <a:r>
              <a:rPr lang="en-GB" sz="2000"/>
              <a:t>Different control signals at different times within instruction cycle</a:t>
            </a:r>
          </a:p>
          <a:p>
            <a:pPr lvl="1">
              <a:lnSpc>
                <a:spcPct val="150000"/>
              </a:lnSpc>
            </a:pPr>
            <a:r>
              <a:rPr lang="en-GB" sz="2000"/>
              <a:t>Need a counter with different control signals for t1, t2 etc.</a:t>
            </a:r>
            <a:endParaRPr lang="en-GB" sz="2000" dirty="0"/>
          </a:p>
        </p:txBody>
      </p:sp>
    </p:spTree>
    <p:extLst>
      <p:ext uri="{BB962C8B-B14F-4D97-AF65-F5344CB8AC3E}">
        <p14:creationId xmlns:p14="http://schemas.microsoft.com/office/powerpoint/2010/main" val="33409444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8964488" cy="523220"/>
          </a:xfrm>
          <a:prstGeom prst="rect">
            <a:avLst/>
          </a:prstGeom>
          <a:noFill/>
        </p:spPr>
        <p:txBody>
          <a:bodyPr wrap="square" rtlCol="0">
            <a:spAutoFit/>
          </a:bodyPr>
          <a:lstStyle/>
          <a:p>
            <a:r>
              <a:rPr lang="en-US" altLang="en-US" sz="2800" dirty="0"/>
              <a:t>Detailed Block Description</a:t>
            </a:r>
            <a:endParaRPr lang="en-IN" sz="2800" dirty="0"/>
          </a:p>
        </p:txBody>
      </p:sp>
      <p:pic>
        <p:nvPicPr>
          <p:cNvPr id="5" name="Picture 4">
            <a:extLst>
              <a:ext uri="{FF2B5EF4-FFF2-40B4-BE49-F238E27FC236}">
                <a16:creationId xmlns:a16="http://schemas.microsoft.com/office/drawing/2014/main" id="{892A9F46-4197-43A2-8AFE-5D1DA2763035}"/>
              </a:ext>
            </a:extLst>
          </p:cNvPr>
          <p:cNvPicPr>
            <a:picLocks noChangeAspect="1"/>
          </p:cNvPicPr>
          <p:nvPr/>
        </p:nvPicPr>
        <p:blipFill>
          <a:blip r:embed="rId2"/>
          <a:stretch>
            <a:fillRect/>
          </a:stretch>
        </p:blipFill>
        <p:spPr>
          <a:xfrm>
            <a:off x="251520" y="1484784"/>
            <a:ext cx="6120680" cy="4366427"/>
          </a:xfrm>
          <a:prstGeom prst="rect">
            <a:avLst/>
          </a:prstGeom>
        </p:spPr>
      </p:pic>
    </p:spTree>
    <p:extLst>
      <p:ext uri="{BB962C8B-B14F-4D97-AF65-F5344CB8AC3E}">
        <p14:creationId xmlns:p14="http://schemas.microsoft.com/office/powerpoint/2010/main" val="7664337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C4E3-2DCB-433E-B390-B5CEE24DE62A}"/>
              </a:ext>
            </a:extLst>
          </p:cNvPr>
          <p:cNvSpPr>
            <a:spLocks noGrp="1"/>
          </p:cNvSpPr>
          <p:nvPr>
            <p:ph type="title"/>
          </p:nvPr>
        </p:nvSpPr>
        <p:spPr/>
        <p:txBody>
          <a:bodyPr/>
          <a:lstStyle/>
          <a:p>
            <a:r>
              <a:rPr lang="en-US" altLang="en-US" sz="2800" b="0" dirty="0"/>
              <a:t>Generating Z</a:t>
            </a:r>
            <a:r>
              <a:rPr lang="en-US" altLang="en-US" sz="2800" b="0" baseline="-25000" dirty="0"/>
              <a:t>in</a:t>
            </a:r>
            <a:endParaRPr lang="en-IN" sz="2800" b="0" dirty="0"/>
          </a:p>
        </p:txBody>
      </p:sp>
      <p:sp>
        <p:nvSpPr>
          <p:cNvPr id="99" name="Rectangle 4">
            <a:extLst>
              <a:ext uri="{FF2B5EF4-FFF2-40B4-BE49-F238E27FC236}">
                <a16:creationId xmlns:a16="http://schemas.microsoft.com/office/drawing/2014/main" id="{AC85C8D1-151E-432A-AA87-F1220BD77528}"/>
              </a:ext>
            </a:extLst>
          </p:cNvPr>
          <p:cNvSpPr>
            <a:spLocks noChangeArrowheads="1"/>
          </p:cNvSpPr>
          <p:nvPr/>
        </p:nvSpPr>
        <p:spPr bwMode="auto">
          <a:xfrm>
            <a:off x="251520" y="1812925"/>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0" name="Rectangle 5">
            <a:extLst>
              <a:ext uri="{FF2B5EF4-FFF2-40B4-BE49-F238E27FC236}">
                <a16:creationId xmlns:a16="http://schemas.microsoft.com/office/drawing/2014/main" id="{417387EA-85CE-4ED4-B37A-7B374C09C0A6}"/>
              </a:ext>
            </a:extLst>
          </p:cNvPr>
          <p:cNvSpPr>
            <a:spLocks noChangeArrowheads="1"/>
          </p:cNvSpPr>
          <p:nvPr/>
        </p:nvSpPr>
        <p:spPr bwMode="auto">
          <a:xfrm>
            <a:off x="251520" y="2027238"/>
            <a:ext cx="5238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101" name="Rectangle 6">
            <a:extLst>
              <a:ext uri="{FF2B5EF4-FFF2-40B4-BE49-F238E27FC236}">
                <a16:creationId xmlns:a16="http://schemas.microsoft.com/office/drawing/2014/main" id="{E4EB6541-0291-4B43-817E-3E850A4CBA90}"/>
              </a:ext>
            </a:extLst>
          </p:cNvPr>
          <p:cNvSpPr>
            <a:spLocks noChangeArrowheads="1"/>
          </p:cNvSpPr>
          <p:nvPr/>
        </p:nvSpPr>
        <p:spPr bwMode="auto">
          <a:xfrm>
            <a:off x="829370" y="2027238"/>
            <a:ext cx="752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102" name="Rectangle 7">
            <a:extLst>
              <a:ext uri="{FF2B5EF4-FFF2-40B4-BE49-F238E27FC236}">
                <a16:creationId xmlns:a16="http://schemas.microsoft.com/office/drawing/2014/main" id="{B0DC3FEA-EE5A-4DE9-B277-3A69A3B72102}"/>
              </a:ext>
            </a:extLst>
          </p:cNvPr>
          <p:cNvSpPr>
            <a:spLocks noChangeArrowheads="1"/>
          </p:cNvSpPr>
          <p:nvPr/>
        </p:nvSpPr>
        <p:spPr bwMode="auto">
          <a:xfrm>
            <a:off x="251520" y="2571750"/>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3" name="Rectangle 8">
            <a:extLst>
              <a:ext uri="{FF2B5EF4-FFF2-40B4-BE49-F238E27FC236}">
                <a16:creationId xmlns:a16="http://schemas.microsoft.com/office/drawing/2014/main" id="{4B41AC7E-46D4-4A16-80A2-E0A63FED0290}"/>
              </a:ext>
            </a:extLst>
          </p:cNvPr>
          <p:cNvSpPr>
            <a:spLocks noChangeArrowheads="1"/>
          </p:cNvSpPr>
          <p:nvPr/>
        </p:nvSpPr>
        <p:spPr bwMode="auto">
          <a:xfrm>
            <a:off x="251520" y="26670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104" name="Rectangle 9">
            <a:extLst>
              <a:ext uri="{FF2B5EF4-FFF2-40B4-BE49-F238E27FC236}">
                <a16:creationId xmlns:a16="http://schemas.microsoft.com/office/drawing/2014/main" id="{51B497E3-F578-46DE-861F-CF4EE904C159}"/>
              </a:ext>
            </a:extLst>
          </p:cNvPr>
          <p:cNvSpPr>
            <a:spLocks noChangeArrowheads="1"/>
          </p:cNvSpPr>
          <p:nvPr/>
        </p:nvSpPr>
        <p:spPr bwMode="auto">
          <a:xfrm>
            <a:off x="1057970" y="2667000"/>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105" name="Rectangle 10">
            <a:extLst>
              <a:ext uri="{FF2B5EF4-FFF2-40B4-BE49-F238E27FC236}">
                <a16:creationId xmlns:a16="http://schemas.microsoft.com/office/drawing/2014/main" id="{03DEA9BB-DCDB-4F19-9D78-F0102E74279F}"/>
              </a:ext>
            </a:extLst>
          </p:cNvPr>
          <p:cNvSpPr>
            <a:spLocks noChangeArrowheads="1"/>
          </p:cNvSpPr>
          <p:nvPr/>
        </p:nvSpPr>
        <p:spPr bwMode="auto">
          <a:xfrm>
            <a:off x="1348483" y="2782888"/>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06" name="Rectangle 11">
            <a:extLst>
              <a:ext uri="{FF2B5EF4-FFF2-40B4-BE49-F238E27FC236}">
                <a16:creationId xmlns:a16="http://schemas.microsoft.com/office/drawing/2014/main" id="{8F449031-DF74-454A-839E-F30B2936BAD1}"/>
              </a:ext>
            </a:extLst>
          </p:cNvPr>
          <p:cNvSpPr>
            <a:spLocks noChangeArrowheads="1"/>
          </p:cNvSpPr>
          <p:nvPr/>
        </p:nvSpPr>
        <p:spPr bwMode="auto">
          <a:xfrm>
            <a:off x="1616770" y="26670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07" name="Rectangle 12">
            <a:extLst>
              <a:ext uri="{FF2B5EF4-FFF2-40B4-BE49-F238E27FC236}">
                <a16:creationId xmlns:a16="http://schemas.microsoft.com/office/drawing/2014/main" id="{C422149E-7389-4292-B68D-8D57B9202815}"/>
              </a:ext>
            </a:extLst>
          </p:cNvPr>
          <p:cNvSpPr>
            <a:spLocks noChangeArrowheads="1"/>
          </p:cNvSpPr>
          <p:nvPr/>
        </p:nvSpPr>
        <p:spPr bwMode="auto">
          <a:xfrm>
            <a:off x="1816795" y="2667000"/>
            <a:ext cx="536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MAR</a:t>
            </a:r>
            <a:endParaRPr lang="en-CA" altLang="en-US" sz="2400">
              <a:latin typeface="Times New Roman" panose="02020603050405020304" pitchFamily="18" charset="0"/>
            </a:endParaRPr>
          </a:p>
        </p:txBody>
      </p:sp>
      <p:sp>
        <p:nvSpPr>
          <p:cNvPr id="108" name="Rectangle 13">
            <a:extLst>
              <a:ext uri="{FF2B5EF4-FFF2-40B4-BE49-F238E27FC236}">
                <a16:creationId xmlns:a16="http://schemas.microsoft.com/office/drawing/2014/main" id="{8FAF82BA-5FB3-48F5-81EF-69CA26CE2954}"/>
              </a:ext>
            </a:extLst>
          </p:cNvPr>
          <p:cNvSpPr>
            <a:spLocks noChangeArrowheads="1"/>
          </p:cNvSpPr>
          <p:nvPr/>
        </p:nvSpPr>
        <p:spPr bwMode="auto">
          <a:xfrm>
            <a:off x="2404170" y="2774950"/>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09" name="Rectangle 14">
            <a:extLst>
              <a:ext uri="{FF2B5EF4-FFF2-40B4-BE49-F238E27FC236}">
                <a16:creationId xmlns:a16="http://schemas.microsoft.com/office/drawing/2014/main" id="{F23B0239-FD52-4FB0-81C2-EF6AFB8DE7BB}"/>
              </a:ext>
            </a:extLst>
          </p:cNvPr>
          <p:cNvSpPr>
            <a:spLocks noChangeArrowheads="1"/>
          </p:cNvSpPr>
          <p:nvPr/>
        </p:nvSpPr>
        <p:spPr bwMode="auto">
          <a:xfrm>
            <a:off x="2574033" y="26670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10" name="Rectangle 15">
            <a:extLst>
              <a:ext uri="{FF2B5EF4-FFF2-40B4-BE49-F238E27FC236}">
                <a16:creationId xmlns:a16="http://schemas.microsoft.com/office/drawing/2014/main" id="{7C94EB3A-58D7-49F3-A82C-7799D8D0D107}"/>
              </a:ext>
            </a:extLst>
          </p:cNvPr>
          <p:cNvSpPr>
            <a:spLocks noChangeArrowheads="1"/>
          </p:cNvSpPr>
          <p:nvPr/>
        </p:nvSpPr>
        <p:spPr bwMode="auto">
          <a:xfrm>
            <a:off x="2716908" y="2667000"/>
            <a:ext cx="6461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Read,</a:t>
            </a:r>
            <a:endParaRPr lang="en-CA" altLang="en-US" sz="2400">
              <a:latin typeface="Times New Roman" panose="02020603050405020304" pitchFamily="18" charset="0"/>
            </a:endParaRPr>
          </a:p>
        </p:txBody>
      </p:sp>
      <p:sp>
        <p:nvSpPr>
          <p:cNvPr id="111" name="Rectangle 16">
            <a:extLst>
              <a:ext uri="{FF2B5EF4-FFF2-40B4-BE49-F238E27FC236}">
                <a16:creationId xmlns:a16="http://schemas.microsoft.com/office/drawing/2014/main" id="{4ACA6F89-104B-4174-9425-FFBEDF38FFA9}"/>
              </a:ext>
            </a:extLst>
          </p:cNvPr>
          <p:cNvSpPr>
            <a:spLocks noChangeArrowheads="1"/>
          </p:cNvSpPr>
          <p:nvPr/>
        </p:nvSpPr>
        <p:spPr bwMode="auto">
          <a:xfrm>
            <a:off x="3404295" y="2667000"/>
            <a:ext cx="8731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Select4,</a:t>
            </a:r>
            <a:endParaRPr lang="en-CA" altLang="en-US" sz="2400">
              <a:latin typeface="Times New Roman" panose="02020603050405020304" pitchFamily="18" charset="0"/>
            </a:endParaRPr>
          </a:p>
        </p:txBody>
      </p:sp>
      <p:sp>
        <p:nvSpPr>
          <p:cNvPr id="112" name="Rectangle 17">
            <a:extLst>
              <a:ext uri="{FF2B5EF4-FFF2-40B4-BE49-F238E27FC236}">
                <a16:creationId xmlns:a16="http://schemas.microsoft.com/office/drawing/2014/main" id="{C31BF344-48BB-472E-A99F-D82DEEA42588}"/>
              </a:ext>
            </a:extLst>
          </p:cNvPr>
          <p:cNvSpPr>
            <a:spLocks noChangeArrowheads="1"/>
          </p:cNvSpPr>
          <p:nvPr/>
        </p:nvSpPr>
        <p:spPr bwMode="auto">
          <a:xfrm>
            <a:off x="4258370" y="2667000"/>
            <a:ext cx="4968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113" name="Rectangle 18">
            <a:extLst>
              <a:ext uri="{FF2B5EF4-FFF2-40B4-BE49-F238E27FC236}">
                <a16:creationId xmlns:a16="http://schemas.microsoft.com/office/drawing/2014/main" id="{881C4244-D089-4044-BADE-9AAE8E97840A}"/>
              </a:ext>
            </a:extLst>
          </p:cNvPr>
          <p:cNvSpPr>
            <a:spLocks noChangeArrowheads="1"/>
          </p:cNvSpPr>
          <p:nvPr/>
        </p:nvSpPr>
        <p:spPr bwMode="auto">
          <a:xfrm>
            <a:off x="4850508" y="2667000"/>
            <a:ext cx="1476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14" name="Rectangle 19">
            <a:extLst>
              <a:ext uri="{FF2B5EF4-FFF2-40B4-BE49-F238E27FC236}">
                <a16:creationId xmlns:a16="http://schemas.microsoft.com/office/drawing/2014/main" id="{55D36217-0FDE-4C60-984A-A2CE914C539A}"/>
              </a:ext>
            </a:extLst>
          </p:cNvPr>
          <p:cNvSpPr>
            <a:spLocks noChangeArrowheads="1"/>
          </p:cNvSpPr>
          <p:nvPr/>
        </p:nvSpPr>
        <p:spPr bwMode="auto">
          <a:xfrm>
            <a:off x="5012433" y="2763838"/>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15" name="Rectangle 20">
            <a:extLst>
              <a:ext uri="{FF2B5EF4-FFF2-40B4-BE49-F238E27FC236}">
                <a16:creationId xmlns:a16="http://schemas.microsoft.com/office/drawing/2014/main" id="{7395CDB7-B533-4F05-A8F3-59C8DFA6615C}"/>
              </a:ext>
            </a:extLst>
          </p:cNvPr>
          <p:cNvSpPr>
            <a:spLocks noChangeArrowheads="1"/>
          </p:cNvSpPr>
          <p:nvPr/>
        </p:nvSpPr>
        <p:spPr bwMode="auto">
          <a:xfrm>
            <a:off x="251520" y="3094038"/>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116" name="Rectangle 21">
            <a:extLst>
              <a:ext uri="{FF2B5EF4-FFF2-40B4-BE49-F238E27FC236}">
                <a16:creationId xmlns:a16="http://schemas.microsoft.com/office/drawing/2014/main" id="{6C84B57B-8463-4114-9283-6194CFBE047E}"/>
              </a:ext>
            </a:extLst>
          </p:cNvPr>
          <p:cNvSpPr>
            <a:spLocks noChangeArrowheads="1"/>
          </p:cNvSpPr>
          <p:nvPr/>
        </p:nvSpPr>
        <p:spPr bwMode="auto">
          <a:xfrm>
            <a:off x="1057970" y="3094038"/>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17" name="Rectangle 22">
            <a:extLst>
              <a:ext uri="{FF2B5EF4-FFF2-40B4-BE49-F238E27FC236}">
                <a16:creationId xmlns:a16="http://schemas.microsoft.com/office/drawing/2014/main" id="{B9C6BCA6-5AC5-401C-AAA1-B93976E13C05}"/>
              </a:ext>
            </a:extLst>
          </p:cNvPr>
          <p:cNvSpPr>
            <a:spLocks noChangeArrowheads="1"/>
          </p:cNvSpPr>
          <p:nvPr/>
        </p:nvSpPr>
        <p:spPr bwMode="auto">
          <a:xfrm>
            <a:off x="1199258" y="3205163"/>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18" name="Rectangle 23">
            <a:extLst>
              <a:ext uri="{FF2B5EF4-FFF2-40B4-BE49-F238E27FC236}">
                <a16:creationId xmlns:a16="http://schemas.microsoft.com/office/drawing/2014/main" id="{56E854C4-ADED-4EF6-9ADB-525A567CB07B}"/>
              </a:ext>
            </a:extLst>
          </p:cNvPr>
          <p:cNvSpPr>
            <a:spLocks noChangeArrowheads="1"/>
          </p:cNvSpPr>
          <p:nvPr/>
        </p:nvSpPr>
        <p:spPr bwMode="auto">
          <a:xfrm>
            <a:off x="1440558"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19" name="Rectangle 24">
            <a:extLst>
              <a:ext uri="{FF2B5EF4-FFF2-40B4-BE49-F238E27FC236}">
                <a16:creationId xmlns:a16="http://schemas.microsoft.com/office/drawing/2014/main" id="{CE8D5F69-2306-4EB1-8B11-6254787EA102}"/>
              </a:ext>
            </a:extLst>
          </p:cNvPr>
          <p:cNvSpPr>
            <a:spLocks noChangeArrowheads="1"/>
          </p:cNvSpPr>
          <p:nvPr/>
        </p:nvSpPr>
        <p:spPr bwMode="auto">
          <a:xfrm>
            <a:off x="1626295" y="3094038"/>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120" name="Rectangle 25">
            <a:extLst>
              <a:ext uri="{FF2B5EF4-FFF2-40B4-BE49-F238E27FC236}">
                <a16:creationId xmlns:a16="http://schemas.microsoft.com/office/drawing/2014/main" id="{269BF7DB-D584-4593-9AB5-890437A3FA09}"/>
              </a:ext>
            </a:extLst>
          </p:cNvPr>
          <p:cNvSpPr>
            <a:spLocks noChangeArrowheads="1"/>
          </p:cNvSpPr>
          <p:nvPr/>
        </p:nvSpPr>
        <p:spPr bwMode="auto">
          <a:xfrm>
            <a:off x="1958083" y="320516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1" name="Rectangle 26">
            <a:extLst>
              <a:ext uri="{FF2B5EF4-FFF2-40B4-BE49-F238E27FC236}">
                <a16:creationId xmlns:a16="http://schemas.microsoft.com/office/drawing/2014/main" id="{95F12732-E5B0-4D4D-AD67-0B350EDC3D79}"/>
              </a:ext>
            </a:extLst>
          </p:cNvPr>
          <p:cNvSpPr>
            <a:spLocks noChangeArrowheads="1"/>
          </p:cNvSpPr>
          <p:nvPr/>
        </p:nvSpPr>
        <p:spPr bwMode="auto">
          <a:xfrm>
            <a:off x="2129533"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22" name="Rectangle 27">
            <a:extLst>
              <a:ext uri="{FF2B5EF4-FFF2-40B4-BE49-F238E27FC236}">
                <a16:creationId xmlns:a16="http://schemas.microsoft.com/office/drawing/2014/main" id="{A48CDD5E-EADA-488D-85D7-8E6E9669672A}"/>
              </a:ext>
            </a:extLst>
          </p:cNvPr>
          <p:cNvSpPr>
            <a:spLocks noChangeArrowheads="1"/>
          </p:cNvSpPr>
          <p:nvPr/>
        </p:nvSpPr>
        <p:spPr bwMode="auto">
          <a:xfrm>
            <a:off x="2313683" y="3094038"/>
            <a:ext cx="1603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Y</a:t>
            </a:r>
            <a:endParaRPr lang="en-CA" altLang="en-US" sz="2400">
              <a:latin typeface="Times New Roman" panose="02020603050405020304" pitchFamily="18" charset="0"/>
            </a:endParaRPr>
          </a:p>
        </p:txBody>
      </p:sp>
      <p:sp>
        <p:nvSpPr>
          <p:cNvPr id="123" name="Rectangle 28">
            <a:extLst>
              <a:ext uri="{FF2B5EF4-FFF2-40B4-BE49-F238E27FC236}">
                <a16:creationId xmlns:a16="http://schemas.microsoft.com/office/drawing/2014/main" id="{5C8C2236-D008-424C-8BF5-BDF186EAA571}"/>
              </a:ext>
            </a:extLst>
          </p:cNvPr>
          <p:cNvSpPr>
            <a:spLocks noChangeArrowheads="1"/>
          </p:cNvSpPr>
          <p:nvPr/>
        </p:nvSpPr>
        <p:spPr bwMode="auto">
          <a:xfrm>
            <a:off x="2480370" y="3205163"/>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4" name="Rectangle 29">
            <a:extLst>
              <a:ext uri="{FF2B5EF4-FFF2-40B4-BE49-F238E27FC236}">
                <a16:creationId xmlns:a16="http://schemas.microsoft.com/office/drawing/2014/main" id="{EF616AA7-8FF3-440B-9EBA-C8D6FD926684}"/>
              </a:ext>
            </a:extLst>
          </p:cNvPr>
          <p:cNvSpPr>
            <a:spLocks noChangeArrowheads="1"/>
          </p:cNvSpPr>
          <p:nvPr/>
        </p:nvSpPr>
        <p:spPr bwMode="auto">
          <a:xfrm>
            <a:off x="2626420" y="3094038"/>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25" name="Rectangle 30">
            <a:extLst>
              <a:ext uri="{FF2B5EF4-FFF2-40B4-BE49-F238E27FC236}">
                <a16:creationId xmlns:a16="http://schemas.microsoft.com/office/drawing/2014/main" id="{70831ACD-A316-43E6-A5AF-7C9804CFA053}"/>
              </a:ext>
            </a:extLst>
          </p:cNvPr>
          <p:cNvSpPr>
            <a:spLocks noChangeArrowheads="1"/>
          </p:cNvSpPr>
          <p:nvPr/>
        </p:nvSpPr>
        <p:spPr bwMode="auto">
          <a:xfrm>
            <a:off x="2812158" y="3094038"/>
            <a:ext cx="5762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WMF</a:t>
            </a:r>
            <a:endParaRPr lang="en-CA" altLang="en-US" sz="2400">
              <a:latin typeface="Times New Roman" panose="02020603050405020304" pitchFamily="18" charset="0"/>
            </a:endParaRPr>
          </a:p>
        </p:txBody>
      </p:sp>
      <p:sp>
        <p:nvSpPr>
          <p:cNvPr id="126" name="Rectangle 31">
            <a:extLst>
              <a:ext uri="{FF2B5EF4-FFF2-40B4-BE49-F238E27FC236}">
                <a16:creationId xmlns:a16="http://schemas.microsoft.com/office/drawing/2014/main" id="{1ED7E6DC-C4CA-4A56-AF06-457CC41E67E2}"/>
              </a:ext>
            </a:extLst>
          </p:cNvPr>
          <p:cNvSpPr>
            <a:spLocks noChangeArrowheads="1"/>
          </p:cNvSpPr>
          <p:nvPr/>
        </p:nvSpPr>
        <p:spPr bwMode="auto">
          <a:xfrm>
            <a:off x="3428108" y="3094038"/>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C</a:t>
            </a:r>
            <a:endParaRPr lang="en-CA" altLang="en-US" sz="2400">
              <a:latin typeface="Times New Roman" panose="02020603050405020304" pitchFamily="18" charset="0"/>
            </a:endParaRPr>
          </a:p>
        </p:txBody>
      </p:sp>
      <p:sp>
        <p:nvSpPr>
          <p:cNvPr id="127" name="Rectangle 32">
            <a:extLst>
              <a:ext uri="{FF2B5EF4-FFF2-40B4-BE49-F238E27FC236}">
                <a16:creationId xmlns:a16="http://schemas.microsoft.com/office/drawing/2014/main" id="{5036F048-57E8-4B6E-B1EC-54ACD532A4C3}"/>
              </a:ext>
            </a:extLst>
          </p:cNvPr>
          <p:cNvSpPr>
            <a:spLocks noChangeArrowheads="1"/>
          </p:cNvSpPr>
          <p:nvPr/>
        </p:nvSpPr>
        <p:spPr bwMode="auto">
          <a:xfrm>
            <a:off x="251520" y="3497263"/>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128" name="Rectangle 33">
            <a:extLst>
              <a:ext uri="{FF2B5EF4-FFF2-40B4-BE49-F238E27FC236}">
                <a16:creationId xmlns:a16="http://schemas.microsoft.com/office/drawing/2014/main" id="{60CCC27F-BE35-421D-B6A2-96A94D5E443F}"/>
              </a:ext>
            </a:extLst>
          </p:cNvPr>
          <p:cNvSpPr>
            <a:spLocks noChangeArrowheads="1"/>
          </p:cNvSpPr>
          <p:nvPr/>
        </p:nvSpPr>
        <p:spPr bwMode="auto">
          <a:xfrm>
            <a:off x="1057970" y="3497263"/>
            <a:ext cx="5508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MDR</a:t>
            </a:r>
            <a:endParaRPr lang="en-CA" altLang="en-US" sz="2400">
              <a:latin typeface="Times New Roman" panose="02020603050405020304" pitchFamily="18" charset="0"/>
            </a:endParaRPr>
          </a:p>
        </p:txBody>
      </p:sp>
      <p:sp>
        <p:nvSpPr>
          <p:cNvPr id="129" name="Rectangle 34">
            <a:extLst>
              <a:ext uri="{FF2B5EF4-FFF2-40B4-BE49-F238E27FC236}">
                <a16:creationId xmlns:a16="http://schemas.microsoft.com/office/drawing/2014/main" id="{4221A0F1-F2A5-4A7B-9560-5B1AA022264E}"/>
              </a:ext>
            </a:extLst>
          </p:cNvPr>
          <p:cNvSpPr>
            <a:spLocks noChangeArrowheads="1"/>
          </p:cNvSpPr>
          <p:nvPr/>
        </p:nvSpPr>
        <p:spPr bwMode="auto">
          <a:xfrm>
            <a:off x="1626295" y="3624263"/>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30" name="Rectangle 35">
            <a:extLst>
              <a:ext uri="{FF2B5EF4-FFF2-40B4-BE49-F238E27FC236}">
                <a16:creationId xmlns:a16="http://schemas.microsoft.com/office/drawing/2014/main" id="{0B5C893A-F452-4D5F-9A75-C5C0D6798E5A}"/>
              </a:ext>
            </a:extLst>
          </p:cNvPr>
          <p:cNvSpPr>
            <a:spLocks noChangeArrowheads="1"/>
          </p:cNvSpPr>
          <p:nvPr/>
        </p:nvSpPr>
        <p:spPr bwMode="auto">
          <a:xfrm>
            <a:off x="1910458" y="3497263"/>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1" name="Rectangle 36">
            <a:extLst>
              <a:ext uri="{FF2B5EF4-FFF2-40B4-BE49-F238E27FC236}">
                <a16:creationId xmlns:a16="http://schemas.microsoft.com/office/drawing/2014/main" id="{24ED0B0D-99BD-4493-A223-46854DCE7EB5}"/>
              </a:ext>
            </a:extLst>
          </p:cNvPr>
          <p:cNvSpPr>
            <a:spLocks noChangeArrowheads="1"/>
          </p:cNvSpPr>
          <p:nvPr/>
        </p:nvSpPr>
        <p:spPr bwMode="auto">
          <a:xfrm>
            <a:off x="2053333" y="3497263"/>
            <a:ext cx="2413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IR</a:t>
            </a:r>
            <a:endParaRPr lang="en-CA" altLang="en-US" sz="2400">
              <a:latin typeface="Times New Roman" panose="02020603050405020304" pitchFamily="18" charset="0"/>
            </a:endParaRPr>
          </a:p>
        </p:txBody>
      </p:sp>
      <p:sp>
        <p:nvSpPr>
          <p:cNvPr id="132" name="Rectangle 37">
            <a:extLst>
              <a:ext uri="{FF2B5EF4-FFF2-40B4-BE49-F238E27FC236}">
                <a16:creationId xmlns:a16="http://schemas.microsoft.com/office/drawing/2014/main" id="{59B3DAAA-7925-4813-B96B-0692CD0F9AC0}"/>
              </a:ext>
            </a:extLst>
          </p:cNvPr>
          <p:cNvSpPr>
            <a:spLocks noChangeArrowheads="1"/>
          </p:cNvSpPr>
          <p:nvPr/>
        </p:nvSpPr>
        <p:spPr bwMode="auto">
          <a:xfrm>
            <a:off x="2313683" y="362426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33" name="Rectangle 38">
            <a:extLst>
              <a:ext uri="{FF2B5EF4-FFF2-40B4-BE49-F238E27FC236}">
                <a16:creationId xmlns:a16="http://schemas.microsoft.com/office/drawing/2014/main" id="{EB636E56-9646-4148-BDE6-BD337D0B44F9}"/>
              </a:ext>
            </a:extLst>
          </p:cNvPr>
          <p:cNvSpPr>
            <a:spLocks noChangeArrowheads="1"/>
          </p:cNvSpPr>
          <p:nvPr/>
        </p:nvSpPr>
        <p:spPr bwMode="auto">
          <a:xfrm>
            <a:off x="251520" y="392430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134" name="Rectangle 39">
            <a:extLst>
              <a:ext uri="{FF2B5EF4-FFF2-40B4-BE49-F238E27FC236}">
                <a16:creationId xmlns:a16="http://schemas.microsoft.com/office/drawing/2014/main" id="{2EC614FE-39C3-452F-B635-337E512836CF}"/>
              </a:ext>
            </a:extLst>
          </p:cNvPr>
          <p:cNvSpPr>
            <a:spLocks noChangeArrowheads="1"/>
          </p:cNvSpPr>
          <p:nvPr/>
        </p:nvSpPr>
        <p:spPr bwMode="auto">
          <a:xfrm>
            <a:off x="1057970" y="3924300"/>
            <a:ext cx="177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Offset-field-of-IR</a:t>
            </a:r>
            <a:endParaRPr lang="en-CA" altLang="en-US" sz="2400">
              <a:latin typeface="Times New Roman" panose="02020603050405020304" pitchFamily="18" charset="0"/>
            </a:endParaRPr>
          </a:p>
        </p:txBody>
      </p:sp>
      <p:sp>
        <p:nvSpPr>
          <p:cNvPr id="135" name="Rectangle 40">
            <a:extLst>
              <a:ext uri="{FF2B5EF4-FFF2-40B4-BE49-F238E27FC236}">
                <a16:creationId xmlns:a16="http://schemas.microsoft.com/office/drawing/2014/main" id="{13E595E9-2BF0-4407-8880-5A02C4ACDED0}"/>
              </a:ext>
            </a:extLst>
          </p:cNvPr>
          <p:cNvSpPr>
            <a:spLocks noChangeArrowheads="1"/>
          </p:cNvSpPr>
          <p:nvPr/>
        </p:nvSpPr>
        <p:spPr bwMode="auto">
          <a:xfrm>
            <a:off x="2769295" y="4025900"/>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36" name="Rectangle 41">
            <a:extLst>
              <a:ext uri="{FF2B5EF4-FFF2-40B4-BE49-F238E27FC236}">
                <a16:creationId xmlns:a16="http://schemas.microsoft.com/office/drawing/2014/main" id="{1D91D594-8F94-4148-BDFD-B5111A62CAEA}"/>
              </a:ext>
            </a:extLst>
          </p:cNvPr>
          <p:cNvSpPr>
            <a:spLocks noChangeArrowheads="1"/>
          </p:cNvSpPr>
          <p:nvPr/>
        </p:nvSpPr>
        <p:spPr bwMode="auto">
          <a:xfrm>
            <a:off x="3001070" y="392430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7" name="Rectangle 42">
            <a:extLst>
              <a:ext uri="{FF2B5EF4-FFF2-40B4-BE49-F238E27FC236}">
                <a16:creationId xmlns:a16="http://schemas.microsoft.com/office/drawing/2014/main" id="{08999BE2-5B54-4A86-9AFD-22B8C518BAF0}"/>
              </a:ext>
            </a:extLst>
          </p:cNvPr>
          <p:cNvSpPr>
            <a:spLocks noChangeArrowheads="1"/>
          </p:cNvSpPr>
          <p:nvPr/>
        </p:nvSpPr>
        <p:spPr bwMode="auto">
          <a:xfrm>
            <a:off x="3215383" y="3924300"/>
            <a:ext cx="4968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138" name="Rectangle 43">
            <a:extLst>
              <a:ext uri="{FF2B5EF4-FFF2-40B4-BE49-F238E27FC236}">
                <a16:creationId xmlns:a16="http://schemas.microsoft.com/office/drawing/2014/main" id="{73C6D9B0-0856-4AEA-B974-2A26199E61D2}"/>
              </a:ext>
            </a:extLst>
          </p:cNvPr>
          <p:cNvSpPr>
            <a:spLocks noChangeArrowheads="1"/>
          </p:cNvSpPr>
          <p:nvPr/>
        </p:nvSpPr>
        <p:spPr bwMode="auto">
          <a:xfrm>
            <a:off x="3807520" y="3924300"/>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39" name="Rectangle 44">
            <a:extLst>
              <a:ext uri="{FF2B5EF4-FFF2-40B4-BE49-F238E27FC236}">
                <a16:creationId xmlns:a16="http://schemas.microsoft.com/office/drawing/2014/main" id="{B62E13A3-831C-4E7E-B164-F936600BFCE4}"/>
              </a:ext>
            </a:extLst>
          </p:cNvPr>
          <p:cNvSpPr>
            <a:spLocks noChangeArrowheads="1"/>
          </p:cNvSpPr>
          <p:nvPr/>
        </p:nvSpPr>
        <p:spPr bwMode="auto">
          <a:xfrm>
            <a:off x="3969445" y="4025900"/>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40" name="Rectangle 45">
            <a:extLst>
              <a:ext uri="{FF2B5EF4-FFF2-40B4-BE49-F238E27FC236}">
                <a16:creationId xmlns:a16="http://schemas.microsoft.com/office/drawing/2014/main" id="{6392810A-166C-49A4-B0F3-71A3BEC0BC8F}"/>
              </a:ext>
            </a:extLst>
          </p:cNvPr>
          <p:cNvSpPr>
            <a:spLocks noChangeArrowheads="1"/>
          </p:cNvSpPr>
          <p:nvPr/>
        </p:nvSpPr>
        <p:spPr bwMode="auto">
          <a:xfrm>
            <a:off x="251520" y="4349750"/>
            <a:ext cx="1349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141" name="Rectangle 46">
            <a:extLst>
              <a:ext uri="{FF2B5EF4-FFF2-40B4-BE49-F238E27FC236}">
                <a16:creationId xmlns:a16="http://schemas.microsoft.com/office/drawing/2014/main" id="{8FE223C6-6897-4F5F-ABCC-4958674A4856}"/>
              </a:ext>
            </a:extLst>
          </p:cNvPr>
          <p:cNvSpPr>
            <a:spLocks noChangeArrowheads="1"/>
          </p:cNvSpPr>
          <p:nvPr/>
        </p:nvSpPr>
        <p:spPr bwMode="auto">
          <a:xfrm>
            <a:off x="1057970" y="4349750"/>
            <a:ext cx="1476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142" name="Rectangle 47">
            <a:extLst>
              <a:ext uri="{FF2B5EF4-FFF2-40B4-BE49-F238E27FC236}">
                <a16:creationId xmlns:a16="http://schemas.microsoft.com/office/drawing/2014/main" id="{65589B68-E23E-4D4D-8FCE-DD2CD3B84425}"/>
              </a:ext>
            </a:extLst>
          </p:cNvPr>
          <p:cNvSpPr>
            <a:spLocks noChangeArrowheads="1"/>
          </p:cNvSpPr>
          <p:nvPr/>
        </p:nvSpPr>
        <p:spPr bwMode="auto">
          <a:xfrm>
            <a:off x="1218308" y="4471988"/>
            <a:ext cx="2301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43" name="Rectangle 48">
            <a:extLst>
              <a:ext uri="{FF2B5EF4-FFF2-40B4-BE49-F238E27FC236}">
                <a16:creationId xmlns:a16="http://schemas.microsoft.com/office/drawing/2014/main" id="{9A8455B5-4A16-48DE-A8FC-DD542DCD8DD2}"/>
              </a:ext>
            </a:extLst>
          </p:cNvPr>
          <p:cNvSpPr>
            <a:spLocks noChangeArrowheads="1"/>
          </p:cNvSpPr>
          <p:nvPr/>
        </p:nvSpPr>
        <p:spPr bwMode="auto">
          <a:xfrm>
            <a:off x="1454845" y="434975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44" name="Rectangle 49">
            <a:extLst>
              <a:ext uri="{FF2B5EF4-FFF2-40B4-BE49-F238E27FC236}">
                <a16:creationId xmlns:a16="http://schemas.microsoft.com/office/drawing/2014/main" id="{8D4CC963-FC0D-4693-B170-A2A74A53A355}"/>
              </a:ext>
            </a:extLst>
          </p:cNvPr>
          <p:cNvSpPr>
            <a:spLocks noChangeArrowheads="1"/>
          </p:cNvSpPr>
          <p:nvPr/>
        </p:nvSpPr>
        <p:spPr bwMode="auto">
          <a:xfrm>
            <a:off x="1626295" y="4349750"/>
            <a:ext cx="3349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145" name="Rectangle 50">
            <a:extLst>
              <a:ext uri="{FF2B5EF4-FFF2-40B4-BE49-F238E27FC236}">
                <a16:creationId xmlns:a16="http://schemas.microsoft.com/office/drawing/2014/main" id="{3760A9A2-FD5D-4880-B58F-0B5D776451CA}"/>
              </a:ext>
            </a:extLst>
          </p:cNvPr>
          <p:cNvSpPr>
            <a:spLocks noChangeArrowheads="1"/>
          </p:cNvSpPr>
          <p:nvPr/>
        </p:nvSpPr>
        <p:spPr bwMode="auto">
          <a:xfrm>
            <a:off x="1939033" y="4452938"/>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46" name="Rectangle 51">
            <a:extLst>
              <a:ext uri="{FF2B5EF4-FFF2-40B4-BE49-F238E27FC236}">
                <a16:creationId xmlns:a16="http://schemas.microsoft.com/office/drawing/2014/main" id="{BD9B6C2A-D48F-47D7-833C-608A3C3919EE}"/>
              </a:ext>
            </a:extLst>
          </p:cNvPr>
          <p:cNvSpPr>
            <a:spLocks noChangeArrowheads="1"/>
          </p:cNvSpPr>
          <p:nvPr/>
        </p:nvSpPr>
        <p:spPr bwMode="auto">
          <a:xfrm>
            <a:off x="2100958" y="4349750"/>
            <a:ext cx="666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47" name="Rectangle 52">
            <a:extLst>
              <a:ext uri="{FF2B5EF4-FFF2-40B4-BE49-F238E27FC236}">
                <a16:creationId xmlns:a16="http://schemas.microsoft.com/office/drawing/2014/main" id="{3EF16EA3-4D85-4619-91A6-6CB789C78AAA}"/>
              </a:ext>
            </a:extLst>
          </p:cNvPr>
          <p:cNvSpPr>
            <a:spLocks noChangeArrowheads="1"/>
          </p:cNvSpPr>
          <p:nvPr/>
        </p:nvSpPr>
        <p:spPr bwMode="auto">
          <a:xfrm>
            <a:off x="2313683" y="4349750"/>
            <a:ext cx="4302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900">
                <a:solidFill>
                  <a:srgbClr val="000000"/>
                </a:solidFill>
                <a:latin typeface="Computer Modern" charset="0"/>
              </a:rPr>
              <a:t>End</a:t>
            </a:r>
            <a:endParaRPr lang="en-CA" altLang="en-US" sz="2400">
              <a:latin typeface="Times New Roman" panose="02020603050405020304" pitchFamily="18" charset="0"/>
            </a:endParaRPr>
          </a:p>
        </p:txBody>
      </p:sp>
      <p:sp>
        <p:nvSpPr>
          <p:cNvPr id="148" name="Rectangle 53">
            <a:extLst>
              <a:ext uri="{FF2B5EF4-FFF2-40B4-BE49-F238E27FC236}">
                <a16:creationId xmlns:a16="http://schemas.microsoft.com/office/drawing/2014/main" id="{20635683-FDF7-40F1-8132-62BA0747CE9D}"/>
              </a:ext>
            </a:extLst>
          </p:cNvPr>
          <p:cNvSpPr>
            <a:spLocks noChangeArrowheads="1"/>
          </p:cNvSpPr>
          <p:nvPr/>
        </p:nvSpPr>
        <p:spPr bwMode="auto">
          <a:xfrm>
            <a:off x="251520" y="4895850"/>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9" name="Rectangle 148">
            <a:extLst>
              <a:ext uri="{FF2B5EF4-FFF2-40B4-BE49-F238E27FC236}">
                <a16:creationId xmlns:a16="http://schemas.microsoft.com/office/drawing/2014/main" id="{183513B9-2A97-4686-B1F9-64D5EE4E08F1}"/>
              </a:ext>
            </a:extLst>
          </p:cNvPr>
          <p:cNvSpPr/>
          <p:nvPr/>
        </p:nvSpPr>
        <p:spPr>
          <a:xfrm>
            <a:off x="122238" y="995362"/>
            <a:ext cx="6032772" cy="369332"/>
          </a:xfrm>
          <a:prstGeom prst="rect">
            <a:avLst/>
          </a:prstGeom>
        </p:spPr>
        <p:txBody>
          <a:bodyPr wrap="square">
            <a:spAutoFit/>
          </a:bodyPr>
          <a:lstStyle/>
          <a:p>
            <a:r>
              <a:rPr lang="en-US" altLang="en-US" dirty="0">
                <a:solidFill>
                  <a:srgbClr val="000000"/>
                </a:solidFill>
                <a:latin typeface="Computer Modern" charset="0"/>
              </a:rPr>
              <a:t>Control sequence for an unconditional branch instruction</a:t>
            </a:r>
            <a:endParaRPr lang="en-IN" dirty="0"/>
          </a:p>
        </p:txBody>
      </p:sp>
      <p:pic>
        <p:nvPicPr>
          <p:cNvPr id="150" name="Picture 149">
            <a:extLst>
              <a:ext uri="{FF2B5EF4-FFF2-40B4-BE49-F238E27FC236}">
                <a16:creationId xmlns:a16="http://schemas.microsoft.com/office/drawing/2014/main" id="{AB77A500-8E0E-4659-9532-D30BCAED6CB1}"/>
              </a:ext>
            </a:extLst>
          </p:cNvPr>
          <p:cNvPicPr>
            <a:picLocks noChangeAspect="1"/>
          </p:cNvPicPr>
          <p:nvPr/>
        </p:nvPicPr>
        <p:blipFill>
          <a:blip r:embed="rId2"/>
          <a:stretch>
            <a:fillRect/>
          </a:stretch>
        </p:blipFill>
        <p:spPr>
          <a:xfrm>
            <a:off x="4469507" y="3094038"/>
            <a:ext cx="4500314" cy="3228904"/>
          </a:xfrm>
          <a:prstGeom prst="rect">
            <a:avLst/>
          </a:prstGeom>
        </p:spPr>
      </p:pic>
      <p:sp>
        <p:nvSpPr>
          <p:cNvPr id="151" name="Text Box 6">
            <a:extLst>
              <a:ext uri="{FF2B5EF4-FFF2-40B4-BE49-F238E27FC236}">
                <a16:creationId xmlns:a16="http://schemas.microsoft.com/office/drawing/2014/main" id="{6E1687C0-735A-4B72-B0C7-EF0464BF8A84}"/>
              </a:ext>
            </a:extLst>
          </p:cNvPr>
          <p:cNvSpPr txBox="1">
            <a:spLocks noChangeArrowheads="1"/>
          </p:cNvSpPr>
          <p:nvPr/>
        </p:nvSpPr>
        <p:spPr bwMode="auto">
          <a:xfrm>
            <a:off x="6055340" y="2388393"/>
            <a:ext cx="2559774"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spcBef>
                <a:spcPct val="50000"/>
              </a:spcBef>
            </a:pPr>
            <a:r>
              <a:rPr lang="en-US" altLang="en-US" dirty="0"/>
              <a:t>Add (R3), R1</a:t>
            </a:r>
          </a:p>
        </p:txBody>
      </p:sp>
    </p:spTree>
    <p:extLst>
      <p:ext uri="{BB962C8B-B14F-4D97-AF65-F5344CB8AC3E}">
        <p14:creationId xmlns:p14="http://schemas.microsoft.com/office/powerpoint/2010/main" val="1194477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C4E3-2DCB-433E-B390-B5CEE24DE62A}"/>
              </a:ext>
            </a:extLst>
          </p:cNvPr>
          <p:cNvSpPr>
            <a:spLocks noGrp="1"/>
          </p:cNvSpPr>
          <p:nvPr>
            <p:ph type="title"/>
          </p:nvPr>
        </p:nvSpPr>
        <p:spPr/>
        <p:txBody>
          <a:bodyPr/>
          <a:lstStyle/>
          <a:p>
            <a:r>
              <a:rPr lang="en-US" altLang="en-US" sz="2800" b="0" dirty="0"/>
              <a:t>Generating Z</a:t>
            </a:r>
            <a:r>
              <a:rPr lang="en-US" altLang="en-US" sz="2800" b="0" baseline="-25000" dirty="0"/>
              <a:t>in</a:t>
            </a:r>
            <a:endParaRPr lang="en-IN" sz="2800" b="0" dirty="0"/>
          </a:p>
        </p:txBody>
      </p:sp>
      <p:sp>
        <p:nvSpPr>
          <p:cNvPr id="4" name="Freeform 5">
            <a:extLst>
              <a:ext uri="{FF2B5EF4-FFF2-40B4-BE49-F238E27FC236}">
                <a16:creationId xmlns:a16="http://schemas.microsoft.com/office/drawing/2014/main" id="{58ED98EF-1964-4630-B1A3-75E181D0F7CF}"/>
              </a:ext>
            </a:extLst>
          </p:cNvPr>
          <p:cNvSpPr>
            <a:spLocks/>
          </p:cNvSpPr>
          <p:nvPr/>
        </p:nvSpPr>
        <p:spPr bwMode="auto">
          <a:xfrm>
            <a:off x="2119437" y="4274145"/>
            <a:ext cx="223837" cy="354013"/>
          </a:xfrm>
          <a:custGeom>
            <a:avLst/>
            <a:gdLst>
              <a:gd name="T0" fmla="*/ 0 w 12"/>
              <a:gd name="T1" fmla="*/ 2147483647 h 19"/>
              <a:gd name="T2" fmla="*/ 2147483647 w 12"/>
              <a:gd name="T3" fmla="*/ 2147483647 h 19"/>
              <a:gd name="T4" fmla="*/ 2147483647 w 12"/>
              <a:gd name="T5" fmla="*/ 2147483647 h 19"/>
              <a:gd name="T6" fmla="*/ 2147483647 w 12"/>
              <a:gd name="T7" fmla="*/ 2147483647 h 19"/>
              <a:gd name="T8" fmla="*/ 2147483647 w 12"/>
              <a:gd name="T9" fmla="*/ 0 h 19"/>
              <a:gd name="T10" fmla="*/ 0 60000 65536"/>
              <a:gd name="T11" fmla="*/ 0 60000 65536"/>
              <a:gd name="T12" fmla="*/ 0 60000 65536"/>
              <a:gd name="T13" fmla="*/ 0 60000 65536"/>
              <a:gd name="T14" fmla="*/ 0 60000 65536"/>
              <a:gd name="T15" fmla="*/ 0 w 12"/>
              <a:gd name="T16" fmla="*/ 0 h 19"/>
              <a:gd name="T17" fmla="*/ 12 w 12"/>
              <a:gd name="T18" fmla="*/ 19 h 19"/>
            </a:gdLst>
            <a:ahLst/>
            <a:cxnLst>
              <a:cxn ang="T10">
                <a:pos x="T0" y="T1"/>
              </a:cxn>
              <a:cxn ang="T11">
                <a:pos x="T2" y="T3"/>
              </a:cxn>
              <a:cxn ang="T12">
                <a:pos x="T4" y="T5"/>
              </a:cxn>
              <a:cxn ang="T13">
                <a:pos x="T6" y="T7"/>
              </a:cxn>
              <a:cxn ang="T14">
                <a:pos x="T8" y="T9"/>
              </a:cxn>
            </a:cxnLst>
            <a:rect l="T15" t="T16" r="T17" b="T18"/>
            <a:pathLst>
              <a:path w="12" h="19">
                <a:moveTo>
                  <a:pt x="0" y="19"/>
                </a:moveTo>
                <a:lnTo>
                  <a:pt x="5" y="15"/>
                </a:lnTo>
                <a:lnTo>
                  <a:pt x="9" y="10"/>
                </a:lnTo>
                <a:lnTo>
                  <a:pt x="11" y="5"/>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Freeform 6">
            <a:extLst>
              <a:ext uri="{FF2B5EF4-FFF2-40B4-BE49-F238E27FC236}">
                <a16:creationId xmlns:a16="http://schemas.microsoft.com/office/drawing/2014/main" id="{FACE2B39-7DF5-4E2E-A1D3-D8100677B2EC}"/>
              </a:ext>
            </a:extLst>
          </p:cNvPr>
          <p:cNvSpPr>
            <a:spLocks/>
          </p:cNvSpPr>
          <p:nvPr/>
        </p:nvSpPr>
        <p:spPr bwMode="auto">
          <a:xfrm>
            <a:off x="1895599" y="4274145"/>
            <a:ext cx="223838" cy="354013"/>
          </a:xfrm>
          <a:custGeom>
            <a:avLst/>
            <a:gdLst>
              <a:gd name="T0" fmla="*/ 0 w 12"/>
              <a:gd name="T1" fmla="*/ 0 h 19"/>
              <a:gd name="T2" fmla="*/ 2147483647 w 12"/>
              <a:gd name="T3" fmla="*/ 2147483647 h 19"/>
              <a:gd name="T4" fmla="*/ 2147483647 w 12"/>
              <a:gd name="T5" fmla="*/ 2147483647 h 19"/>
              <a:gd name="T6" fmla="*/ 2147483647 w 12"/>
              <a:gd name="T7" fmla="*/ 2147483647 h 19"/>
              <a:gd name="T8" fmla="*/ 2147483647 w 12"/>
              <a:gd name="T9" fmla="*/ 2147483647 h 19"/>
              <a:gd name="T10" fmla="*/ 0 60000 65536"/>
              <a:gd name="T11" fmla="*/ 0 60000 65536"/>
              <a:gd name="T12" fmla="*/ 0 60000 65536"/>
              <a:gd name="T13" fmla="*/ 0 60000 65536"/>
              <a:gd name="T14" fmla="*/ 0 60000 65536"/>
              <a:gd name="T15" fmla="*/ 0 w 12"/>
              <a:gd name="T16" fmla="*/ 0 h 19"/>
              <a:gd name="T17" fmla="*/ 12 w 12"/>
              <a:gd name="T18" fmla="*/ 19 h 19"/>
            </a:gdLst>
            <a:ahLst/>
            <a:cxnLst>
              <a:cxn ang="T10">
                <a:pos x="T0" y="T1"/>
              </a:cxn>
              <a:cxn ang="T11">
                <a:pos x="T2" y="T3"/>
              </a:cxn>
              <a:cxn ang="T12">
                <a:pos x="T4" y="T5"/>
              </a:cxn>
              <a:cxn ang="T13">
                <a:pos x="T6" y="T7"/>
              </a:cxn>
              <a:cxn ang="T14">
                <a:pos x="T8" y="T9"/>
              </a:cxn>
            </a:cxnLst>
            <a:rect l="T15" t="T16" r="T17" b="T18"/>
            <a:pathLst>
              <a:path w="12" h="19">
                <a:moveTo>
                  <a:pt x="0" y="0"/>
                </a:moveTo>
                <a:lnTo>
                  <a:pt x="1" y="5"/>
                </a:lnTo>
                <a:lnTo>
                  <a:pt x="3" y="10"/>
                </a:lnTo>
                <a:lnTo>
                  <a:pt x="7" y="15"/>
                </a:lnTo>
                <a:lnTo>
                  <a:pt x="12" y="19"/>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Freeform 7">
            <a:extLst>
              <a:ext uri="{FF2B5EF4-FFF2-40B4-BE49-F238E27FC236}">
                <a16:creationId xmlns:a16="http://schemas.microsoft.com/office/drawing/2014/main" id="{9413DF29-76AA-4508-A8E2-378750BC08D2}"/>
              </a:ext>
            </a:extLst>
          </p:cNvPr>
          <p:cNvSpPr>
            <a:spLocks/>
          </p:cNvSpPr>
          <p:nvPr/>
        </p:nvSpPr>
        <p:spPr bwMode="auto">
          <a:xfrm>
            <a:off x="2100387" y="4105870"/>
            <a:ext cx="223837" cy="57150"/>
          </a:xfrm>
          <a:custGeom>
            <a:avLst/>
            <a:gdLst>
              <a:gd name="T0" fmla="*/ 0 w 12"/>
              <a:gd name="T1" fmla="*/ 2147483647 h 3"/>
              <a:gd name="T2" fmla="*/ 2147483647 w 12"/>
              <a:gd name="T3" fmla="*/ 2147483647 h 3"/>
              <a:gd name="T4" fmla="*/ 2147483647 w 12"/>
              <a:gd name="T5" fmla="*/ 0 h 3"/>
              <a:gd name="T6" fmla="*/ 0 60000 65536"/>
              <a:gd name="T7" fmla="*/ 0 60000 65536"/>
              <a:gd name="T8" fmla="*/ 0 60000 65536"/>
              <a:gd name="T9" fmla="*/ 0 w 12"/>
              <a:gd name="T10" fmla="*/ 0 h 3"/>
              <a:gd name="T11" fmla="*/ 12 w 12"/>
              <a:gd name="T12" fmla="*/ 3 h 3"/>
            </a:gdLst>
            <a:ahLst/>
            <a:cxnLst>
              <a:cxn ang="T6">
                <a:pos x="T0" y="T1"/>
              </a:cxn>
              <a:cxn ang="T7">
                <a:pos x="T2" y="T3"/>
              </a:cxn>
              <a:cxn ang="T8">
                <a:pos x="T4" y="T5"/>
              </a:cxn>
            </a:cxnLst>
            <a:rect l="T9" t="T10" r="T11" b="T12"/>
            <a:pathLst>
              <a:path w="12" h="3">
                <a:moveTo>
                  <a:pt x="0" y="3"/>
                </a:moveTo>
                <a:lnTo>
                  <a:pt x="7" y="2"/>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 name="Freeform 8">
            <a:extLst>
              <a:ext uri="{FF2B5EF4-FFF2-40B4-BE49-F238E27FC236}">
                <a16:creationId xmlns:a16="http://schemas.microsoft.com/office/drawing/2014/main" id="{F23536E3-9F22-4C1E-8454-ED1B28408101}"/>
              </a:ext>
            </a:extLst>
          </p:cNvPr>
          <p:cNvSpPr>
            <a:spLocks/>
          </p:cNvSpPr>
          <p:nvPr/>
        </p:nvSpPr>
        <p:spPr bwMode="auto">
          <a:xfrm>
            <a:off x="1895599" y="4105870"/>
            <a:ext cx="204788" cy="57150"/>
          </a:xfrm>
          <a:custGeom>
            <a:avLst/>
            <a:gdLst>
              <a:gd name="T0" fmla="*/ 0 w 11"/>
              <a:gd name="T1" fmla="*/ 0 h 3"/>
              <a:gd name="T2" fmla="*/ 2147483647 w 11"/>
              <a:gd name="T3" fmla="*/ 2147483647 h 3"/>
              <a:gd name="T4" fmla="*/ 2147483647 w 11"/>
              <a:gd name="T5" fmla="*/ 2147483647 h 3"/>
              <a:gd name="T6" fmla="*/ 0 60000 65536"/>
              <a:gd name="T7" fmla="*/ 0 60000 65536"/>
              <a:gd name="T8" fmla="*/ 0 60000 65536"/>
              <a:gd name="T9" fmla="*/ 0 w 11"/>
              <a:gd name="T10" fmla="*/ 0 h 3"/>
              <a:gd name="T11" fmla="*/ 11 w 11"/>
              <a:gd name="T12" fmla="*/ 3 h 3"/>
            </a:gdLst>
            <a:ahLst/>
            <a:cxnLst>
              <a:cxn ang="T6">
                <a:pos x="T0" y="T1"/>
              </a:cxn>
              <a:cxn ang="T7">
                <a:pos x="T2" y="T3"/>
              </a:cxn>
              <a:cxn ang="T8">
                <a:pos x="T4" y="T5"/>
              </a:cxn>
            </a:cxnLst>
            <a:rect l="T9" t="T10" r="T11" b="T12"/>
            <a:pathLst>
              <a:path w="11" h="3">
                <a:moveTo>
                  <a:pt x="0" y="0"/>
                </a:moveTo>
                <a:lnTo>
                  <a:pt x="5" y="2"/>
                </a:lnTo>
                <a:lnTo>
                  <a:pt x="11" y="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Line 9">
            <a:extLst>
              <a:ext uri="{FF2B5EF4-FFF2-40B4-BE49-F238E27FC236}">
                <a16:creationId xmlns:a16="http://schemas.microsoft.com/office/drawing/2014/main" id="{C416B4D9-C741-4DD7-A73D-9009DA0E80ED}"/>
              </a:ext>
            </a:extLst>
          </p:cNvPr>
          <p:cNvSpPr>
            <a:spLocks noChangeShapeType="1"/>
          </p:cNvSpPr>
          <p:nvPr/>
        </p:nvSpPr>
        <p:spPr bwMode="auto">
          <a:xfrm>
            <a:off x="2333749" y="4105870"/>
            <a:ext cx="1588" cy="1682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 name="Line 10">
            <a:extLst>
              <a:ext uri="{FF2B5EF4-FFF2-40B4-BE49-F238E27FC236}">
                <a16:creationId xmlns:a16="http://schemas.microsoft.com/office/drawing/2014/main" id="{4CED5E3A-D1E6-439F-88CD-AA1955D2EADB}"/>
              </a:ext>
            </a:extLst>
          </p:cNvPr>
          <p:cNvSpPr>
            <a:spLocks noChangeShapeType="1"/>
          </p:cNvSpPr>
          <p:nvPr/>
        </p:nvSpPr>
        <p:spPr bwMode="auto">
          <a:xfrm>
            <a:off x="1895599" y="4105870"/>
            <a:ext cx="1588" cy="1682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Freeform 11">
            <a:extLst>
              <a:ext uri="{FF2B5EF4-FFF2-40B4-BE49-F238E27FC236}">
                <a16:creationId xmlns:a16="http://schemas.microsoft.com/office/drawing/2014/main" id="{35B27C9B-BF74-4B7A-8DB7-47C373918ECE}"/>
              </a:ext>
            </a:extLst>
          </p:cNvPr>
          <p:cNvSpPr>
            <a:spLocks/>
          </p:cNvSpPr>
          <p:nvPr/>
        </p:nvSpPr>
        <p:spPr bwMode="auto">
          <a:xfrm>
            <a:off x="3219574" y="2856508"/>
            <a:ext cx="446088" cy="447675"/>
          </a:xfrm>
          <a:custGeom>
            <a:avLst/>
            <a:gdLst>
              <a:gd name="T0" fmla="*/ 2147483647 w 281"/>
              <a:gd name="T1" fmla="*/ 2147483647 h 282"/>
              <a:gd name="T2" fmla="*/ 2147483647 w 281"/>
              <a:gd name="T3" fmla="*/ 2147483647 h 282"/>
              <a:gd name="T4" fmla="*/ 2147483647 w 281"/>
              <a:gd name="T5" fmla="*/ 2147483647 h 282"/>
              <a:gd name="T6" fmla="*/ 2147483647 w 281"/>
              <a:gd name="T7" fmla="*/ 2147483647 h 282"/>
              <a:gd name="T8" fmla="*/ 2147483647 w 281"/>
              <a:gd name="T9" fmla="*/ 2147483647 h 282"/>
              <a:gd name="T10" fmla="*/ 2147483647 w 281"/>
              <a:gd name="T11" fmla="*/ 2147483647 h 282"/>
              <a:gd name="T12" fmla="*/ 2147483647 w 281"/>
              <a:gd name="T13" fmla="*/ 2147483647 h 282"/>
              <a:gd name="T14" fmla="*/ 2147483647 w 281"/>
              <a:gd name="T15" fmla="*/ 2147483647 h 282"/>
              <a:gd name="T16" fmla="*/ 2147483647 w 281"/>
              <a:gd name="T17" fmla="*/ 0 h 282"/>
              <a:gd name="T18" fmla="*/ 2147483647 w 281"/>
              <a:gd name="T19" fmla="*/ 0 h 282"/>
              <a:gd name="T20" fmla="*/ 2147483647 w 281"/>
              <a:gd name="T21" fmla="*/ 0 h 282"/>
              <a:gd name="T22" fmla="*/ 2147483647 w 281"/>
              <a:gd name="T23" fmla="*/ 2147483647 h 282"/>
              <a:gd name="T24" fmla="*/ 2147483647 w 281"/>
              <a:gd name="T25" fmla="*/ 2147483647 h 282"/>
              <a:gd name="T26" fmla="*/ 2147483647 w 281"/>
              <a:gd name="T27" fmla="*/ 2147483647 h 282"/>
              <a:gd name="T28" fmla="*/ 2147483647 w 281"/>
              <a:gd name="T29" fmla="*/ 2147483647 h 282"/>
              <a:gd name="T30" fmla="*/ 2147483647 w 281"/>
              <a:gd name="T31" fmla="*/ 2147483647 h 282"/>
              <a:gd name="T32" fmla="*/ 0 w 281"/>
              <a:gd name="T33" fmla="*/ 2147483647 h 282"/>
              <a:gd name="T34" fmla="*/ 0 w 281"/>
              <a:gd name="T35" fmla="*/ 2147483647 h 282"/>
              <a:gd name="T36" fmla="*/ 0 w 281"/>
              <a:gd name="T37" fmla="*/ 2147483647 h 282"/>
              <a:gd name="T38" fmla="*/ 2147483647 w 281"/>
              <a:gd name="T39" fmla="*/ 2147483647 h 282"/>
              <a:gd name="T40" fmla="*/ 2147483647 w 281"/>
              <a:gd name="T41" fmla="*/ 2147483647 h 282"/>
              <a:gd name="T42" fmla="*/ 2147483647 w 281"/>
              <a:gd name="T43" fmla="*/ 2147483647 h 282"/>
              <a:gd name="T44" fmla="*/ 2147483647 w 281"/>
              <a:gd name="T45" fmla="*/ 2147483647 h 282"/>
              <a:gd name="T46" fmla="*/ 2147483647 w 281"/>
              <a:gd name="T47" fmla="*/ 2147483647 h 282"/>
              <a:gd name="T48" fmla="*/ 2147483647 w 281"/>
              <a:gd name="T49" fmla="*/ 2147483647 h 282"/>
              <a:gd name="T50" fmla="*/ 2147483647 w 281"/>
              <a:gd name="T51" fmla="*/ 2147483647 h 282"/>
              <a:gd name="T52" fmla="*/ 2147483647 w 281"/>
              <a:gd name="T53" fmla="*/ 2147483647 h 282"/>
              <a:gd name="T54" fmla="*/ 2147483647 w 281"/>
              <a:gd name="T55" fmla="*/ 2147483647 h 282"/>
              <a:gd name="T56" fmla="*/ 2147483647 w 281"/>
              <a:gd name="T57" fmla="*/ 2147483647 h 282"/>
              <a:gd name="T58" fmla="*/ 2147483647 w 281"/>
              <a:gd name="T59" fmla="*/ 2147483647 h 282"/>
              <a:gd name="T60" fmla="*/ 2147483647 w 281"/>
              <a:gd name="T61" fmla="*/ 2147483647 h 282"/>
              <a:gd name="T62" fmla="*/ 2147483647 w 281"/>
              <a:gd name="T63" fmla="*/ 2147483647 h 282"/>
              <a:gd name="T64" fmla="*/ 2147483647 w 281"/>
              <a:gd name="T65" fmla="*/ 2147483647 h 282"/>
              <a:gd name="T66" fmla="*/ 2147483647 w 281"/>
              <a:gd name="T67" fmla="*/ 2147483647 h 282"/>
              <a:gd name="T68" fmla="*/ 2147483647 w 281"/>
              <a:gd name="T69" fmla="*/ 2147483647 h 28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1"/>
              <a:gd name="T106" fmla="*/ 0 h 282"/>
              <a:gd name="T107" fmla="*/ 281 w 281"/>
              <a:gd name="T108" fmla="*/ 282 h 28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1" h="282">
                <a:moveTo>
                  <a:pt x="140" y="141"/>
                </a:moveTo>
                <a:lnTo>
                  <a:pt x="281" y="141"/>
                </a:lnTo>
                <a:lnTo>
                  <a:pt x="281" y="118"/>
                </a:lnTo>
                <a:lnTo>
                  <a:pt x="270" y="83"/>
                </a:lnTo>
                <a:lnTo>
                  <a:pt x="258" y="59"/>
                </a:lnTo>
                <a:lnTo>
                  <a:pt x="234" y="47"/>
                </a:lnTo>
                <a:lnTo>
                  <a:pt x="223" y="24"/>
                </a:lnTo>
                <a:lnTo>
                  <a:pt x="199" y="12"/>
                </a:lnTo>
                <a:lnTo>
                  <a:pt x="164" y="0"/>
                </a:lnTo>
                <a:lnTo>
                  <a:pt x="140" y="0"/>
                </a:lnTo>
                <a:lnTo>
                  <a:pt x="117" y="0"/>
                </a:lnTo>
                <a:lnTo>
                  <a:pt x="82" y="12"/>
                </a:lnTo>
                <a:lnTo>
                  <a:pt x="58" y="24"/>
                </a:lnTo>
                <a:lnTo>
                  <a:pt x="47" y="47"/>
                </a:lnTo>
                <a:lnTo>
                  <a:pt x="23" y="59"/>
                </a:lnTo>
                <a:lnTo>
                  <a:pt x="11" y="83"/>
                </a:lnTo>
                <a:lnTo>
                  <a:pt x="0" y="118"/>
                </a:lnTo>
                <a:lnTo>
                  <a:pt x="0" y="141"/>
                </a:lnTo>
                <a:lnTo>
                  <a:pt x="0" y="165"/>
                </a:lnTo>
                <a:lnTo>
                  <a:pt x="11" y="200"/>
                </a:lnTo>
                <a:lnTo>
                  <a:pt x="23" y="224"/>
                </a:lnTo>
                <a:lnTo>
                  <a:pt x="47" y="235"/>
                </a:lnTo>
                <a:lnTo>
                  <a:pt x="58" y="259"/>
                </a:lnTo>
                <a:lnTo>
                  <a:pt x="82" y="270"/>
                </a:lnTo>
                <a:lnTo>
                  <a:pt x="117" y="282"/>
                </a:lnTo>
                <a:lnTo>
                  <a:pt x="140" y="282"/>
                </a:lnTo>
                <a:lnTo>
                  <a:pt x="164" y="282"/>
                </a:lnTo>
                <a:lnTo>
                  <a:pt x="199" y="270"/>
                </a:lnTo>
                <a:lnTo>
                  <a:pt x="223" y="259"/>
                </a:lnTo>
                <a:lnTo>
                  <a:pt x="234" y="235"/>
                </a:lnTo>
                <a:lnTo>
                  <a:pt x="258" y="224"/>
                </a:lnTo>
                <a:lnTo>
                  <a:pt x="270" y="200"/>
                </a:lnTo>
                <a:lnTo>
                  <a:pt x="281" y="165"/>
                </a:lnTo>
                <a:lnTo>
                  <a:pt x="281" y="141"/>
                </a:lnTo>
                <a:lnTo>
                  <a:pt x="140" y="141"/>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1" name="Freeform 12">
            <a:extLst>
              <a:ext uri="{FF2B5EF4-FFF2-40B4-BE49-F238E27FC236}">
                <a16:creationId xmlns:a16="http://schemas.microsoft.com/office/drawing/2014/main" id="{88D92671-7463-446F-B819-775EB7989B6E}"/>
              </a:ext>
            </a:extLst>
          </p:cNvPr>
          <p:cNvSpPr>
            <a:spLocks/>
          </p:cNvSpPr>
          <p:nvPr/>
        </p:nvSpPr>
        <p:spPr bwMode="auto">
          <a:xfrm>
            <a:off x="3222749" y="2856508"/>
            <a:ext cx="428625" cy="428625"/>
          </a:xfrm>
          <a:custGeom>
            <a:avLst/>
            <a:gdLst>
              <a:gd name="T0" fmla="*/ 2147483647 w 23"/>
              <a:gd name="T1" fmla="*/ 2147483647 h 23"/>
              <a:gd name="T2" fmla="*/ 2147483647 w 23"/>
              <a:gd name="T3" fmla="*/ 2147483647 h 23"/>
              <a:gd name="T4" fmla="*/ 2147483647 w 23"/>
              <a:gd name="T5" fmla="*/ 2147483647 h 23"/>
              <a:gd name="T6" fmla="*/ 2147483647 w 23"/>
              <a:gd name="T7" fmla="*/ 2147483647 h 23"/>
              <a:gd name="T8" fmla="*/ 2147483647 w 23"/>
              <a:gd name="T9" fmla="*/ 0 h 23"/>
              <a:gd name="T10" fmla="*/ 2147483647 w 23"/>
              <a:gd name="T11" fmla="*/ 2147483647 h 23"/>
              <a:gd name="T12" fmla="*/ 2147483647 w 23"/>
              <a:gd name="T13" fmla="*/ 2147483647 h 23"/>
              <a:gd name="T14" fmla="*/ 2147483647 w 23"/>
              <a:gd name="T15" fmla="*/ 2147483647 h 23"/>
              <a:gd name="T16" fmla="*/ 0 w 23"/>
              <a:gd name="T17" fmla="*/ 2147483647 h 23"/>
              <a:gd name="T18" fmla="*/ 2147483647 w 23"/>
              <a:gd name="T19" fmla="*/ 2147483647 h 23"/>
              <a:gd name="T20" fmla="*/ 2147483647 w 23"/>
              <a:gd name="T21" fmla="*/ 2147483647 h 23"/>
              <a:gd name="T22" fmla="*/ 2147483647 w 23"/>
              <a:gd name="T23" fmla="*/ 2147483647 h 23"/>
              <a:gd name="T24" fmla="*/ 2147483647 w 23"/>
              <a:gd name="T25" fmla="*/ 2147483647 h 23"/>
              <a:gd name="T26" fmla="*/ 2147483647 w 23"/>
              <a:gd name="T27" fmla="*/ 2147483647 h 23"/>
              <a:gd name="T28" fmla="*/ 2147483647 w 23"/>
              <a:gd name="T29" fmla="*/ 2147483647 h 23"/>
              <a:gd name="T30" fmla="*/ 2147483647 w 23"/>
              <a:gd name="T31" fmla="*/ 2147483647 h 23"/>
              <a:gd name="T32" fmla="*/ 2147483647 w 23"/>
              <a:gd name="T33" fmla="*/ 2147483647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23"/>
              <a:gd name="T53" fmla="*/ 23 w 23"/>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23">
                <a:moveTo>
                  <a:pt x="23" y="12"/>
                </a:moveTo>
                <a:lnTo>
                  <a:pt x="22" y="7"/>
                </a:lnTo>
                <a:lnTo>
                  <a:pt x="20" y="4"/>
                </a:lnTo>
                <a:lnTo>
                  <a:pt x="16" y="1"/>
                </a:lnTo>
                <a:lnTo>
                  <a:pt x="12" y="0"/>
                </a:lnTo>
                <a:lnTo>
                  <a:pt x="7" y="1"/>
                </a:lnTo>
                <a:lnTo>
                  <a:pt x="4" y="4"/>
                </a:lnTo>
                <a:lnTo>
                  <a:pt x="1" y="7"/>
                </a:lnTo>
                <a:lnTo>
                  <a:pt x="0" y="12"/>
                </a:lnTo>
                <a:lnTo>
                  <a:pt x="1" y="16"/>
                </a:lnTo>
                <a:lnTo>
                  <a:pt x="4" y="20"/>
                </a:lnTo>
                <a:lnTo>
                  <a:pt x="7" y="22"/>
                </a:lnTo>
                <a:lnTo>
                  <a:pt x="12" y="23"/>
                </a:lnTo>
                <a:lnTo>
                  <a:pt x="16" y="22"/>
                </a:lnTo>
                <a:lnTo>
                  <a:pt x="20" y="20"/>
                </a:lnTo>
                <a:lnTo>
                  <a:pt x="22" y="16"/>
                </a:lnTo>
                <a:lnTo>
                  <a:pt x="23" y="12"/>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 name="Rectangle 13">
            <a:extLst>
              <a:ext uri="{FF2B5EF4-FFF2-40B4-BE49-F238E27FC236}">
                <a16:creationId xmlns:a16="http://schemas.microsoft.com/office/drawing/2014/main" id="{D241E530-7C32-4F3E-9B62-2D6CCA75CAE6}"/>
              </a:ext>
            </a:extLst>
          </p:cNvPr>
          <p:cNvSpPr>
            <a:spLocks noChangeArrowheads="1"/>
          </p:cNvSpPr>
          <p:nvPr/>
        </p:nvSpPr>
        <p:spPr bwMode="auto">
          <a:xfrm>
            <a:off x="3219574" y="2781895"/>
            <a:ext cx="446088" cy="29845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 name="Rectangle 14">
            <a:extLst>
              <a:ext uri="{FF2B5EF4-FFF2-40B4-BE49-F238E27FC236}">
                <a16:creationId xmlns:a16="http://schemas.microsoft.com/office/drawing/2014/main" id="{4D5BB232-37A9-40E1-8C0A-6DA876192F64}"/>
              </a:ext>
            </a:extLst>
          </p:cNvPr>
          <p:cNvSpPr>
            <a:spLocks noChangeArrowheads="1"/>
          </p:cNvSpPr>
          <p:nvPr/>
        </p:nvSpPr>
        <p:spPr bwMode="auto">
          <a:xfrm>
            <a:off x="3219574" y="2781895"/>
            <a:ext cx="446088" cy="287338"/>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 name="Freeform 15">
            <a:extLst>
              <a:ext uri="{FF2B5EF4-FFF2-40B4-BE49-F238E27FC236}">
                <a16:creationId xmlns:a16="http://schemas.microsoft.com/office/drawing/2014/main" id="{DAE039CE-00B5-4F4D-99FD-BA7A17FBF83F}"/>
              </a:ext>
            </a:extLst>
          </p:cNvPr>
          <p:cNvSpPr>
            <a:spLocks/>
          </p:cNvSpPr>
          <p:nvPr/>
        </p:nvSpPr>
        <p:spPr bwMode="auto">
          <a:xfrm>
            <a:off x="3219574" y="2781895"/>
            <a:ext cx="425450" cy="298450"/>
          </a:xfrm>
          <a:custGeom>
            <a:avLst/>
            <a:gdLst>
              <a:gd name="T0" fmla="*/ 0 w 24"/>
              <a:gd name="T1" fmla="*/ 2147483647 h 16"/>
              <a:gd name="T2" fmla="*/ 0 w 24"/>
              <a:gd name="T3" fmla="*/ 0 h 16"/>
              <a:gd name="T4" fmla="*/ 2147483647 w 24"/>
              <a:gd name="T5" fmla="*/ 0 h 16"/>
              <a:gd name="T6" fmla="*/ 2147483647 w 24"/>
              <a:gd name="T7" fmla="*/ 2147483647 h 16"/>
              <a:gd name="T8" fmla="*/ 0 60000 65536"/>
              <a:gd name="T9" fmla="*/ 0 60000 65536"/>
              <a:gd name="T10" fmla="*/ 0 60000 65536"/>
              <a:gd name="T11" fmla="*/ 0 60000 65536"/>
              <a:gd name="T12" fmla="*/ 0 w 24"/>
              <a:gd name="T13" fmla="*/ 0 h 16"/>
              <a:gd name="T14" fmla="*/ 24 w 24"/>
              <a:gd name="T15" fmla="*/ 16 h 16"/>
            </a:gdLst>
            <a:ahLst/>
            <a:cxnLst>
              <a:cxn ang="T8">
                <a:pos x="T0" y="T1"/>
              </a:cxn>
              <a:cxn ang="T9">
                <a:pos x="T2" y="T3"/>
              </a:cxn>
              <a:cxn ang="T10">
                <a:pos x="T4" y="T5"/>
              </a:cxn>
              <a:cxn ang="T11">
                <a:pos x="T6" y="T7"/>
              </a:cxn>
            </a:cxnLst>
            <a:rect l="T12" t="T13" r="T14" b="T15"/>
            <a:pathLst>
              <a:path w="24" h="16">
                <a:moveTo>
                  <a:pt x="0" y="16"/>
                </a:moveTo>
                <a:lnTo>
                  <a:pt x="0" y="0"/>
                </a:lnTo>
                <a:lnTo>
                  <a:pt x="24" y="0"/>
                </a:lnTo>
                <a:lnTo>
                  <a:pt x="24" y="16"/>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Freeform 16">
            <a:extLst>
              <a:ext uri="{FF2B5EF4-FFF2-40B4-BE49-F238E27FC236}">
                <a16:creationId xmlns:a16="http://schemas.microsoft.com/office/drawing/2014/main" id="{DB87793B-A118-4B30-9C9B-58E5FEEF25D3}"/>
              </a:ext>
            </a:extLst>
          </p:cNvPr>
          <p:cNvSpPr>
            <a:spLocks/>
          </p:cNvSpPr>
          <p:nvPr/>
        </p:nvSpPr>
        <p:spPr bwMode="auto">
          <a:xfrm>
            <a:off x="2548062" y="4105870"/>
            <a:ext cx="223837" cy="57150"/>
          </a:xfrm>
          <a:custGeom>
            <a:avLst/>
            <a:gdLst>
              <a:gd name="T0" fmla="*/ 0 w 12"/>
              <a:gd name="T1" fmla="*/ 2147483647 h 3"/>
              <a:gd name="T2" fmla="*/ 2147483647 w 12"/>
              <a:gd name="T3" fmla="*/ 2147483647 h 3"/>
              <a:gd name="T4" fmla="*/ 2147483647 w 12"/>
              <a:gd name="T5" fmla="*/ 0 h 3"/>
              <a:gd name="T6" fmla="*/ 0 60000 65536"/>
              <a:gd name="T7" fmla="*/ 0 60000 65536"/>
              <a:gd name="T8" fmla="*/ 0 60000 65536"/>
              <a:gd name="T9" fmla="*/ 0 w 12"/>
              <a:gd name="T10" fmla="*/ 0 h 3"/>
              <a:gd name="T11" fmla="*/ 12 w 12"/>
              <a:gd name="T12" fmla="*/ 3 h 3"/>
            </a:gdLst>
            <a:ahLst/>
            <a:cxnLst>
              <a:cxn ang="T6">
                <a:pos x="T0" y="T1"/>
              </a:cxn>
              <a:cxn ang="T7">
                <a:pos x="T2" y="T3"/>
              </a:cxn>
              <a:cxn ang="T8">
                <a:pos x="T4" y="T5"/>
              </a:cxn>
            </a:cxnLst>
            <a:rect l="T9" t="T10" r="T11" b="T12"/>
            <a:pathLst>
              <a:path w="12" h="3">
                <a:moveTo>
                  <a:pt x="0" y="3"/>
                </a:moveTo>
                <a:lnTo>
                  <a:pt x="7" y="2"/>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Freeform 17">
            <a:extLst>
              <a:ext uri="{FF2B5EF4-FFF2-40B4-BE49-F238E27FC236}">
                <a16:creationId xmlns:a16="http://schemas.microsoft.com/office/drawing/2014/main" id="{5A3F05BE-5D41-4EAB-AFC7-FC2387FA3533}"/>
              </a:ext>
            </a:extLst>
          </p:cNvPr>
          <p:cNvSpPr>
            <a:spLocks/>
          </p:cNvSpPr>
          <p:nvPr/>
        </p:nvSpPr>
        <p:spPr bwMode="auto">
          <a:xfrm>
            <a:off x="2343274" y="4105870"/>
            <a:ext cx="204788" cy="57150"/>
          </a:xfrm>
          <a:custGeom>
            <a:avLst/>
            <a:gdLst>
              <a:gd name="T0" fmla="*/ 0 w 11"/>
              <a:gd name="T1" fmla="*/ 0 h 3"/>
              <a:gd name="T2" fmla="*/ 2147483647 w 11"/>
              <a:gd name="T3" fmla="*/ 2147483647 h 3"/>
              <a:gd name="T4" fmla="*/ 2147483647 w 11"/>
              <a:gd name="T5" fmla="*/ 2147483647 h 3"/>
              <a:gd name="T6" fmla="*/ 0 60000 65536"/>
              <a:gd name="T7" fmla="*/ 0 60000 65536"/>
              <a:gd name="T8" fmla="*/ 0 60000 65536"/>
              <a:gd name="T9" fmla="*/ 0 w 11"/>
              <a:gd name="T10" fmla="*/ 0 h 3"/>
              <a:gd name="T11" fmla="*/ 11 w 11"/>
              <a:gd name="T12" fmla="*/ 3 h 3"/>
            </a:gdLst>
            <a:ahLst/>
            <a:cxnLst>
              <a:cxn ang="T6">
                <a:pos x="T0" y="T1"/>
              </a:cxn>
              <a:cxn ang="T7">
                <a:pos x="T2" y="T3"/>
              </a:cxn>
              <a:cxn ang="T8">
                <a:pos x="T4" y="T5"/>
              </a:cxn>
            </a:cxnLst>
            <a:rect l="T9" t="T10" r="T11" b="T12"/>
            <a:pathLst>
              <a:path w="11" h="3">
                <a:moveTo>
                  <a:pt x="0" y="0"/>
                </a:moveTo>
                <a:lnTo>
                  <a:pt x="5" y="2"/>
                </a:lnTo>
                <a:lnTo>
                  <a:pt x="11" y="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 name="Freeform 18">
            <a:extLst>
              <a:ext uri="{FF2B5EF4-FFF2-40B4-BE49-F238E27FC236}">
                <a16:creationId xmlns:a16="http://schemas.microsoft.com/office/drawing/2014/main" id="{E13C0AB8-3FDD-483F-8C7A-9F2B197C1400}"/>
              </a:ext>
            </a:extLst>
          </p:cNvPr>
          <p:cNvSpPr>
            <a:spLocks/>
          </p:cNvSpPr>
          <p:nvPr/>
        </p:nvSpPr>
        <p:spPr bwMode="auto">
          <a:xfrm>
            <a:off x="1666999" y="4105870"/>
            <a:ext cx="223838" cy="57150"/>
          </a:xfrm>
          <a:custGeom>
            <a:avLst/>
            <a:gdLst>
              <a:gd name="T0" fmla="*/ 0 w 12"/>
              <a:gd name="T1" fmla="*/ 2147483647 h 3"/>
              <a:gd name="T2" fmla="*/ 2147483647 w 12"/>
              <a:gd name="T3" fmla="*/ 2147483647 h 3"/>
              <a:gd name="T4" fmla="*/ 2147483647 w 12"/>
              <a:gd name="T5" fmla="*/ 0 h 3"/>
              <a:gd name="T6" fmla="*/ 0 60000 65536"/>
              <a:gd name="T7" fmla="*/ 0 60000 65536"/>
              <a:gd name="T8" fmla="*/ 0 60000 65536"/>
              <a:gd name="T9" fmla="*/ 0 w 12"/>
              <a:gd name="T10" fmla="*/ 0 h 3"/>
              <a:gd name="T11" fmla="*/ 12 w 12"/>
              <a:gd name="T12" fmla="*/ 3 h 3"/>
            </a:gdLst>
            <a:ahLst/>
            <a:cxnLst>
              <a:cxn ang="T6">
                <a:pos x="T0" y="T1"/>
              </a:cxn>
              <a:cxn ang="T7">
                <a:pos x="T2" y="T3"/>
              </a:cxn>
              <a:cxn ang="T8">
                <a:pos x="T4" y="T5"/>
              </a:cxn>
            </a:cxnLst>
            <a:rect l="T9" t="T10" r="T11" b="T12"/>
            <a:pathLst>
              <a:path w="12" h="3">
                <a:moveTo>
                  <a:pt x="0" y="3"/>
                </a:moveTo>
                <a:lnTo>
                  <a:pt x="7" y="2"/>
                </a:lnTo>
                <a:lnTo>
                  <a:pt x="12"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 name="Freeform 19">
            <a:extLst>
              <a:ext uri="{FF2B5EF4-FFF2-40B4-BE49-F238E27FC236}">
                <a16:creationId xmlns:a16="http://schemas.microsoft.com/office/drawing/2014/main" id="{73AA1E6D-61DB-483B-869C-7F1B4769D539}"/>
              </a:ext>
            </a:extLst>
          </p:cNvPr>
          <p:cNvSpPr>
            <a:spLocks/>
          </p:cNvSpPr>
          <p:nvPr/>
        </p:nvSpPr>
        <p:spPr bwMode="auto">
          <a:xfrm>
            <a:off x="1443162" y="4105870"/>
            <a:ext cx="227012" cy="57150"/>
          </a:xfrm>
          <a:custGeom>
            <a:avLst/>
            <a:gdLst>
              <a:gd name="T0" fmla="*/ 0 w 11"/>
              <a:gd name="T1" fmla="*/ 0 h 3"/>
              <a:gd name="T2" fmla="*/ 2147483647 w 11"/>
              <a:gd name="T3" fmla="*/ 2147483647 h 3"/>
              <a:gd name="T4" fmla="*/ 2147483647 w 11"/>
              <a:gd name="T5" fmla="*/ 2147483647 h 3"/>
              <a:gd name="T6" fmla="*/ 0 60000 65536"/>
              <a:gd name="T7" fmla="*/ 0 60000 65536"/>
              <a:gd name="T8" fmla="*/ 0 60000 65536"/>
              <a:gd name="T9" fmla="*/ 0 w 11"/>
              <a:gd name="T10" fmla="*/ 0 h 3"/>
              <a:gd name="T11" fmla="*/ 11 w 11"/>
              <a:gd name="T12" fmla="*/ 3 h 3"/>
            </a:gdLst>
            <a:ahLst/>
            <a:cxnLst>
              <a:cxn ang="T6">
                <a:pos x="T0" y="T1"/>
              </a:cxn>
              <a:cxn ang="T7">
                <a:pos x="T2" y="T3"/>
              </a:cxn>
              <a:cxn ang="T8">
                <a:pos x="T4" y="T5"/>
              </a:cxn>
            </a:cxnLst>
            <a:rect l="T9" t="T10" r="T11" b="T12"/>
            <a:pathLst>
              <a:path w="11" h="3">
                <a:moveTo>
                  <a:pt x="0" y="0"/>
                </a:moveTo>
                <a:lnTo>
                  <a:pt x="5" y="2"/>
                </a:lnTo>
                <a:lnTo>
                  <a:pt x="11" y="3"/>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 name="Freeform 20">
            <a:extLst>
              <a:ext uri="{FF2B5EF4-FFF2-40B4-BE49-F238E27FC236}">
                <a16:creationId xmlns:a16="http://schemas.microsoft.com/office/drawing/2014/main" id="{4DC82202-0731-4245-8177-F58B41582A3D}"/>
              </a:ext>
            </a:extLst>
          </p:cNvPr>
          <p:cNvSpPr>
            <a:spLocks/>
          </p:cNvSpPr>
          <p:nvPr/>
        </p:nvSpPr>
        <p:spPr bwMode="auto">
          <a:xfrm>
            <a:off x="1932112" y="2839045"/>
            <a:ext cx="447675" cy="446088"/>
          </a:xfrm>
          <a:custGeom>
            <a:avLst/>
            <a:gdLst>
              <a:gd name="T0" fmla="*/ 2147483647 w 282"/>
              <a:gd name="T1" fmla="*/ 2147483647 h 281"/>
              <a:gd name="T2" fmla="*/ 2147483647 w 282"/>
              <a:gd name="T3" fmla="*/ 2147483647 h 281"/>
              <a:gd name="T4" fmla="*/ 2147483647 w 282"/>
              <a:gd name="T5" fmla="*/ 2147483647 h 281"/>
              <a:gd name="T6" fmla="*/ 2147483647 w 282"/>
              <a:gd name="T7" fmla="*/ 2147483647 h 281"/>
              <a:gd name="T8" fmla="*/ 2147483647 w 282"/>
              <a:gd name="T9" fmla="*/ 2147483647 h 281"/>
              <a:gd name="T10" fmla="*/ 2147483647 w 282"/>
              <a:gd name="T11" fmla="*/ 2147483647 h 281"/>
              <a:gd name="T12" fmla="*/ 2147483647 w 282"/>
              <a:gd name="T13" fmla="*/ 2147483647 h 281"/>
              <a:gd name="T14" fmla="*/ 2147483647 w 282"/>
              <a:gd name="T15" fmla="*/ 2147483647 h 281"/>
              <a:gd name="T16" fmla="*/ 2147483647 w 282"/>
              <a:gd name="T17" fmla="*/ 0 h 281"/>
              <a:gd name="T18" fmla="*/ 2147483647 w 282"/>
              <a:gd name="T19" fmla="*/ 0 h 281"/>
              <a:gd name="T20" fmla="*/ 2147483647 w 282"/>
              <a:gd name="T21" fmla="*/ 0 h 281"/>
              <a:gd name="T22" fmla="*/ 2147483647 w 282"/>
              <a:gd name="T23" fmla="*/ 2147483647 h 281"/>
              <a:gd name="T24" fmla="*/ 2147483647 w 282"/>
              <a:gd name="T25" fmla="*/ 2147483647 h 281"/>
              <a:gd name="T26" fmla="*/ 2147483647 w 282"/>
              <a:gd name="T27" fmla="*/ 2147483647 h 281"/>
              <a:gd name="T28" fmla="*/ 2147483647 w 282"/>
              <a:gd name="T29" fmla="*/ 2147483647 h 281"/>
              <a:gd name="T30" fmla="*/ 2147483647 w 282"/>
              <a:gd name="T31" fmla="*/ 2147483647 h 281"/>
              <a:gd name="T32" fmla="*/ 0 w 282"/>
              <a:gd name="T33" fmla="*/ 2147483647 h 281"/>
              <a:gd name="T34" fmla="*/ 0 w 282"/>
              <a:gd name="T35" fmla="*/ 2147483647 h 281"/>
              <a:gd name="T36" fmla="*/ 0 w 282"/>
              <a:gd name="T37" fmla="*/ 2147483647 h 281"/>
              <a:gd name="T38" fmla="*/ 2147483647 w 282"/>
              <a:gd name="T39" fmla="*/ 2147483647 h 281"/>
              <a:gd name="T40" fmla="*/ 2147483647 w 282"/>
              <a:gd name="T41" fmla="*/ 2147483647 h 281"/>
              <a:gd name="T42" fmla="*/ 2147483647 w 282"/>
              <a:gd name="T43" fmla="*/ 2147483647 h 281"/>
              <a:gd name="T44" fmla="*/ 2147483647 w 282"/>
              <a:gd name="T45" fmla="*/ 2147483647 h 281"/>
              <a:gd name="T46" fmla="*/ 2147483647 w 282"/>
              <a:gd name="T47" fmla="*/ 2147483647 h 281"/>
              <a:gd name="T48" fmla="*/ 2147483647 w 282"/>
              <a:gd name="T49" fmla="*/ 2147483647 h 281"/>
              <a:gd name="T50" fmla="*/ 2147483647 w 282"/>
              <a:gd name="T51" fmla="*/ 2147483647 h 281"/>
              <a:gd name="T52" fmla="*/ 2147483647 w 282"/>
              <a:gd name="T53" fmla="*/ 2147483647 h 281"/>
              <a:gd name="T54" fmla="*/ 2147483647 w 282"/>
              <a:gd name="T55" fmla="*/ 2147483647 h 281"/>
              <a:gd name="T56" fmla="*/ 2147483647 w 282"/>
              <a:gd name="T57" fmla="*/ 2147483647 h 281"/>
              <a:gd name="T58" fmla="*/ 2147483647 w 282"/>
              <a:gd name="T59" fmla="*/ 2147483647 h 281"/>
              <a:gd name="T60" fmla="*/ 2147483647 w 282"/>
              <a:gd name="T61" fmla="*/ 2147483647 h 281"/>
              <a:gd name="T62" fmla="*/ 2147483647 w 282"/>
              <a:gd name="T63" fmla="*/ 2147483647 h 281"/>
              <a:gd name="T64" fmla="*/ 2147483647 w 282"/>
              <a:gd name="T65" fmla="*/ 2147483647 h 281"/>
              <a:gd name="T66" fmla="*/ 2147483647 w 282"/>
              <a:gd name="T67" fmla="*/ 2147483647 h 281"/>
              <a:gd name="T68" fmla="*/ 2147483647 w 282"/>
              <a:gd name="T69" fmla="*/ 2147483647 h 28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2"/>
              <a:gd name="T106" fmla="*/ 0 h 281"/>
              <a:gd name="T107" fmla="*/ 282 w 282"/>
              <a:gd name="T108" fmla="*/ 281 h 28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2" h="281">
                <a:moveTo>
                  <a:pt x="141" y="141"/>
                </a:moveTo>
                <a:lnTo>
                  <a:pt x="282" y="141"/>
                </a:lnTo>
                <a:lnTo>
                  <a:pt x="282" y="117"/>
                </a:lnTo>
                <a:lnTo>
                  <a:pt x="270" y="82"/>
                </a:lnTo>
                <a:lnTo>
                  <a:pt x="259" y="58"/>
                </a:lnTo>
                <a:lnTo>
                  <a:pt x="235" y="47"/>
                </a:lnTo>
                <a:lnTo>
                  <a:pt x="223" y="23"/>
                </a:lnTo>
                <a:lnTo>
                  <a:pt x="200" y="11"/>
                </a:lnTo>
                <a:lnTo>
                  <a:pt x="165" y="0"/>
                </a:lnTo>
                <a:lnTo>
                  <a:pt x="141" y="0"/>
                </a:lnTo>
                <a:lnTo>
                  <a:pt x="118" y="0"/>
                </a:lnTo>
                <a:lnTo>
                  <a:pt x="82" y="11"/>
                </a:lnTo>
                <a:lnTo>
                  <a:pt x="59" y="23"/>
                </a:lnTo>
                <a:lnTo>
                  <a:pt x="47" y="47"/>
                </a:lnTo>
                <a:lnTo>
                  <a:pt x="24" y="58"/>
                </a:lnTo>
                <a:lnTo>
                  <a:pt x="12" y="82"/>
                </a:lnTo>
                <a:lnTo>
                  <a:pt x="0" y="117"/>
                </a:lnTo>
                <a:lnTo>
                  <a:pt x="0" y="141"/>
                </a:lnTo>
                <a:lnTo>
                  <a:pt x="0" y="164"/>
                </a:lnTo>
                <a:lnTo>
                  <a:pt x="12" y="199"/>
                </a:lnTo>
                <a:lnTo>
                  <a:pt x="24" y="223"/>
                </a:lnTo>
                <a:lnTo>
                  <a:pt x="47" y="235"/>
                </a:lnTo>
                <a:lnTo>
                  <a:pt x="59" y="258"/>
                </a:lnTo>
                <a:lnTo>
                  <a:pt x="82" y="270"/>
                </a:lnTo>
                <a:lnTo>
                  <a:pt x="118" y="281"/>
                </a:lnTo>
                <a:lnTo>
                  <a:pt x="141" y="281"/>
                </a:lnTo>
                <a:lnTo>
                  <a:pt x="165" y="281"/>
                </a:lnTo>
                <a:lnTo>
                  <a:pt x="200" y="270"/>
                </a:lnTo>
                <a:lnTo>
                  <a:pt x="223" y="258"/>
                </a:lnTo>
                <a:lnTo>
                  <a:pt x="235" y="235"/>
                </a:lnTo>
                <a:lnTo>
                  <a:pt x="259" y="223"/>
                </a:lnTo>
                <a:lnTo>
                  <a:pt x="270" y="199"/>
                </a:lnTo>
                <a:lnTo>
                  <a:pt x="282" y="164"/>
                </a:lnTo>
                <a:lnTo>
                  <a:pt x="282" y="141"/>
                </a:lnTo>
                <a:lnTo>
                  <a:pt x="141" y="141"/>
                </a:lnTo>
                <a:close/>
              </a:path>
            </a:pathLst>
          </a:custGeom>
          <a:solidFill>
            <a:srgbClr val="FFFFFF"/>
          </a:solidFill>
          <a:ln w="0">
            <a:solidFill>
              <a:srgbClr val="FFFFFF"/>
            </a:solidFill>
            <a:round/>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 name="Freeform 21">
            <a:extLst>
              <a:ext uri="{FF2B5EF4-FFF2-40B4-BE49-F238E27FC236}">
                <a16:creationId xmlns:a16="http://schemas.microsoft.com/office/drawing/2014/main" id="{2E2343BF-DA74-44D5-8699-2083FD1DDF91}"/>
              </a:ext>
            </a:extLst>
          </p:cNvPr>
          <p:cNvSpPr>
            <a:spLocks/>
          </p:cNvSpPr>
          <p:nvPr/>
        </p:nvSpPr>
        <p:spPr bwMode="auto">
          <a:xfrm>
            <a:off x="1935287" y="2856508"/>
            <a:ext cx="428625" cy="428625"/>
          </a:xfrm>
          <a:custGeom>
            <a:avLst/>
            <a:gdLst>
              <a:gd name="T0" fmla="*/ 2147483647 w 23"/>
              <a:gd name="T1" fmla="*/ 2147483647 h 23"/>
              <a:gd name="T2" fmla="*/ 2147483647 w 23"/>
              <a:gd name="T3" fmla="*/ 2147483647 h 23"/>
              <a:gd name="T4" fmla="*/ 2147483647 w 23"/>
              <a:gd name="T5" fmla="*/ 2147483647 h 23"/>
              <a:gd name="T6" fmla="*/ 2147483647 w 23"/>
              <a:gd name="T7" fmla="*/ 2147483647 h 23"/>
              <a:gd name="T8" fmla="*/ 2147483647 w 23"/>
              <a:gd name="T9" fmla="*/ 0 h 23"/>
              <a:gd name="T10" fmla="*/ 2147483647 w 23"/>
              <a:gd name="T11" fmla="*/ 2147483647 h 23"/>
              <a:gd name="T12" fmla="*/ 2147483647 w 23"/>
              <a:gd name="T13" fmla="*/ 2147483647 h 23"/>
              <a:gd name="T14" fmla="*/ 2147483647 w 23"/>
              <a:gd name="T15" fmla="*/ 2147483647 h 23"/>
              <a:gd name="T16" fmla="*/ 0 w 23"/>
              <a:gd name="T17" fmla="*/ 2147483647 h 23"/>
              <a:gd name="T18" fmla="*/ 2147483647 w 23"/>
              <a:gd name="T19" fmla="*/ 2147483647 h 23"/>
              <a:gd name="T20" fmla="*/ 2147483647 w 23"/>
              <a:gd name="T21" fmla="*/ 2147483647 h 23"/>
              <a:gd name="T22" fmla="*/ 2147483647 w 23"/>
              <a:gd name="T23" fmla="*/ 2147483647 h 23"/>
              <a:gd name="T24" fmla="*/ 2147483647 w 23"/>
              <a:gd name="T25" fmla="*/ 2147483647 h 23"/>
              <a:gd name="T26" fmla="*/ 2147483647 w 23"/>
              <a:gd name="T27" fmla="*/ 2147483647 h 23"/>
              <a:gd name="T28" fmla="*/ 2147483647 w 23"/>
              <a:gd name="T29" fmla="*/ 2147483647 h 23"/>
              <a:gd name="T30" fmla="*/ 2147483647 w 23"/>
              <a:gd name="T31" fmla="*/ 2147483647 h 23"/>
              <a:gd name="T32" fmla="*/ 2147483647 w 23"/>
              <a:gd name="T33" fmla="*/ 2147483647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23"/>
              <a:gd name="T53" fmla="*/ 23 w 23"/>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23">
                <a:moveTo>
                  <a:pt x="23" y="12"/>
                </a:moveTo>
                <a:lnTo>
                  <a:pt x="22" y="7"/>
                </a:lnTo>
                <a:lnTo>
                  <a:pt x="20" y="4"/>
                </a:lnTo>
                <a:lnTo>
                  <a:pt x="16" y="1"/>
                </a:lnTo>
                <a:lnTo>
                  <a:pt x="12" y="0"/>
                </a:lnTo>
                <a:lnTo>
                  <a:pt x="7" y="1"/>
                </a:lnTo>
                <a:lnTo>
                  <a:pt x="4" y="4"/>
                </a:lnTo>
                <a:lnTo>
                  <a:pt x="1" y="7"/>
                </a:lnTo>
                <a:lnTo>
                  <a:pt x="0" y="12"/>
                </a:lnTo>
                <a:lnTo>
                  <a:pt x="1" y="16"/>
                </a:lnTo>
                <a:lnTo>
                  <a:pt x="4" y="20"/>
                </a:lnTo>
                <a:lnTo>
                  <a:pt x="7" y="22"/>
                </a:lnTo>
                <a:lnTo>
                  <a:pt x="12" y="23"/>
                </a:lnTo>
                <a:lnTo>
                  <a:pt x="16" y="22"/>
                </a:lnTo>
                <a:lnTo>
                  <a:pt x="20" y="20"/>
                </a:lnTo>
                <a:lnTo>
                  <a:pt x="22" y="16"/>
                </a:lnTo>
                <a:lnTo>
                  <a:pt x="23" y="12"/>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 name="Rectangle 22">
            <a:extLst>
              <a:ext uri="{FF2B5EF4-FFF2-40B4-BE49-F238E27FC236}">
                <a16:creationId xmlns:a16="http://schemas.microsoft.com/office/drawing/2014/main" id="{314D83F4-D4F0-4EA0-A234-615095EF4016}"/>
              </a:ext>
            </a:extLst>
          </p:cNvPr>
          <p:cNvSpPr>
            <a:spLocks noChangeArrowheads="1"/>
          </p:cNvSpPr>
          <p:nvPr/>
        </p:nvSpPr>
        <p:spPr bwMode="auto">
          <a:xfrm>
            <a:off x="1932112" y="2764433"/>
            <a:ext cx="447675" cy="298450"/>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 name="Rectangle 23">
            <a:extLst>
              <a:ext uri="{FF2B5EF4-FFF2-40B4-BE49-F238E27FC236}">
                <a16:creationId xmlns:a16="http://schemas.microsoft.com/office/drawing/2014/main" id="{019FFCA0-DDE8-4607-8DE0-5A2D23BFA002}"/>
              </a:ext>
            </a:extLst>
          </p:cNvPr>
          <p:cNvSpPr>
            <a:spLocks noChangeArrowheads="1"/>
          </p:cNvSpPr>
          <p:nvPr/>
        </p:nvSpPr>
        <p:spPr bwMode="auto">
          <a:xfrm>
            <a:off x="1932112" y="2764433"/>
            <a:ext cx="447675" cy="277812"/>
          </a:xfrm>
          <a:prstGeom prst="rect">
            <a:avLst/>
          </a:prstGeom>
          <a:solidFill>
            <a:srgbClr val="FFFFFF"/>
          </a:solidFill>
          <a:ln w="0">
            <a:solidFill>
              <a:srgbClr val="FFFFFF"/>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 name="Freeform 24">
            <a:extLst>
              <a:ext uri="{FF2B5EF4-FFF2-40B4-BE49-F238E27FC236}">
                <a16:creationId xmlns:a16="http://schemas.microsoft.com/office/drawing/2014/main" id="{E96C9D53-8AED-43C2-8517-2E33F7FD51C5}"/>
              </a:ext>
            </a:extLst>
          </p:cNvPr>
          <p:cNvSpPr>
            <a:spLocks/>
          </p:cNvSpPr>
          <p:nvPr/>
        </p:nvSpPr>
        <p:spPr bwMode="auto">
          <a:xfrm>
            <a:off x="1932112" y="2764433"/>
            <a:ext cx="438150" cy="298450"/>
          </a:xfrm>
          <a:custGeom>
            <a:avLst/>
            <a:gdLst>
              <a:gd name="T0" fmla="*/ 0 w 24"/>
              <a:gd name="T1" fmla="*/ 2147483647 h 16"/>
              <a:gd name="T2" fmla="*/ 0 w 24"/>
              <a:gd name="T3" fmla="*/ 0 h 16"/>
              <a:gd name="T4" fmla="*/ 2147483647 w 24"/>
              <a:gd name="T5" fmla="*/ 0 h 16"/>
              <a:gd name="T6" fmla="*/ 2147483647 w 24"/>
              <a:gd name="T7" fmla="*/ 2147483647 h 16"/>
              <a:gd name="T8" fmla="*/ 0 60000 65536"/>
              <a:gd name="T9" fmla="*/ 0 60000 65536"/>
              <a:gd name="T10" fmla="*/ 0 60000 65536"/>
              <a:gd name="T11" fmla="*/ 0 60000 65536"/>
              <a:gd name="T12" fmla="*/ 0 w 24"/>
              <a:gd name="T13" fmla="*/ 0 h 16"/>
              <a:gd name="T14" fmla="*/ 24 w 24"/>
              <a:gd name="T15" fmla="*/ 16 h 16"/>
            </a:gdLst>
            <a:ahLst/>
            <a:cxnLst>
              <a:cxn ang="T8">
                <a:pos x="T0" y="T1"/>
              </a:cxn>
              <a:cxn ang="T9">
                <a:pos x="T2" y="T3"/>
              </a:cxn>
              <a:cxn ang="T10">
                <a:pos x="T4" y="T5"/>
              </a:cxn>
              <a:cxn ang="T11">
                <a:pos x="T6" y="T7"/>
              </a:cxn>
            </a:cxnLst>
            <a:rect l="T12" t="T13" r="T14" b="T15"/>
            <a:pathLst>
              <a:path w="24" h="16">
                <a:moveTo>
                  <a:pt x="0" y="16"/>
                </a:moveTo>
                <a:lnTo>
                  <a:pt x="0" y="0"/>
                </a:lnTo>
                <a:lnTo>
                  <a:pt x="24" y="0"/>
                </a:lnTo>
                <a:lnTo>
                  <a:pt x="24" y="16"/>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 name="Line 25">
            <a:extLst>
              <a:ext uri="{FF2B5EF4-FFF2-40B4-BE49-F238E27FC236}">
                <a16:creationId xmlns:a16="http://schemas.microsoft.com/office/drawing/2014/main" id="{330381C5-C851-4291-BDB1-4262C9226DD5}"/>
              </a:ext>
            </a:extLst>
          </p:cNvPr>
          <p:cNvSpPr>
            <a:spLocks noChangeShapeType="1"/>
          </p:cNvSpPr>
          <p:nvPr/>
        </p:nvSpPr>
        <p:spPr bwMode="auto">
          <a:xfrm flipV="1">
            <a:off x="3441824" y="3285133"/>
            <a:ext cx="1588" cy="3365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5" name="Line 26">
            <a:extLst>
              <a:ext uri="{FF2B5EF4-FFF2-40B4-BE49-F238E27FC236}">
                <a16:creationId xmlns:a16="http://schemas.microsoft.com/office/drawing/2014/main" id="{D01270C5-4F9C-4458-8AE3-C1366605FBCD}"/>
              </a:ext>
            </a:extLst>
          </p:cNvPr>
          <p:cNvSpPr>
            <a:spLocks noChangeShapeType="1"/>
          </p:cNvSpPr>
          <p:nvPr/>
        </p:nvSpPr>
        <p:spPr bwMode="auto">
          <a:xfrm flipV="1">
            <a:off x="2155949" y="3285133"/>
            <a:ext cx="1588" cy="8778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6" name="Freeform 27">
            <a:extLst>
              <a:ext uri="{FF2B5EF4-FFF2-40B4-BE49-F238E27FC236}">
                <a16:creationId xmlns:a16="http://schemas.microsoft.com/office/drawing/2014/main" id="{6751719B-644F-43D4-B722-010D48A5CDF3}"/>
              </a:ext>
            </a:extLst>
          </p:cNvPr>
          <p:cNvSpPr>
            <a:spLocks/>
          </p:cNvSpPr>
          <p:nvPr/>
        </p:nvSpPr>
        <p:spPr bwMode="auto">
          <a:xfrm>
            <a:off x="2603624" y="3621683"/>
            <a:ext cx="838200" cy="541337"/>
          </a:xfrm>
          <a:custGeom>
            <a:avLst/>
            <a:gdLst>
              <a:gd name="T0" fmla="*/ 0 w 45"/>
              <a:gd name="T1" fmla="*/ 2147483647 h 29"/>
              <a:gd name="T2" fmla="*/ 0 w 45"/>
              <a:gd name="T3" fmla="*/ 0 h 29"/>
              <a:gd name="T4" fmla="*/ 2147483647 w 45"/>
              <a:gd name="T5" fmla="*/ 0 h 29"/>
              <a:gd name="T6" fmla="*/ 0 60000 65536"/>
              <a:gd name="T7" fmla="*/ 0 60000 65536"/>
              <a:gd name="T8" fmla="*/ 0 60000 65536"/>
              <a:gd name="T9" fmla="*/ 0 w 45"/>
              <a:gd name="T10" fmla="*/ 0 h 29"/>
              <a:gd name="T11" fmla="*/ 45 w 45"/>
              <a:gd name="T12" fmla="*/ 29 h 29"/>
            </a:gdLst>
            <a:ahLst/>
            <a:cxnLst>
              <a:cxn ang="T6">
                <a:pos x="T0" y="T1"/>
              </a:cxn>
              <a:cxn ang="T7">
                <a:pos x="T2" y="T3"/>
              </a:cxn>
              <a:cxn ang="T8">
                <a:pos x="T4" y="T5"/>
              </a:cxn>
            </a:cxnLst>
            <a:rect l="T9" t="T10" r="T11" b="T12"/>
            <a:pathLst>
              <a:path w="45" h="29">
                <a:moveTo>
                  <a:pt x="0" y="29"/>
                </a:moveTo>
                <a:lnTo>
                  <a:pt x="0" y="0"/>
                </a:lnTo>
                <a:lnTo>
                  <a:pt x="45"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7" name="Freeform 28">
            <a:extLst>
              <a:ext uri="{FF2B5EF4-FFF2-40B4-BE49-F238E27FC236}">
                <a16:creationId xmlns:a16="http://schemas.microsoft.com/office/drawing/2014/main" id="{C0125ADB-26FB-4248-A7D8-4E7FBB68C9AF}"/>
              </a:ext>
            </a:extLst>
          </p:cNvPr>
          <p:cNvSpPr>
            <a:spLocks/>
          </p:cNvSpPr>
          <p:nvPr/>
        </p:nvSpPr>
        <p:spPr bwMode="auto">
          <a:xfrm>
            <a:off x="422399" y="3621683"/>
            <a:ext cx="1174750" cy="541337"/>
          </a:xfrm>
          <a:custGeom>
            <a:avLst/>
            <a:gdLst>
              <a:gd name="T0" fmla="*/ 2147483647 w 63"/>
              <a:gd name="T1" fmla="*/ 2147483647 h 29"/>
              <a:gd name="T2" fmla="*/ 2147483647 w 63"/>
              <a:gd name="T3" fmla="*/ 0 h 29"/>
              <a:gd name="T4" fmla="*/ 0 w 63"/>
              <a:gd name="T5" fmla="*/ 0 h 29"/>
              <a:gd name="T6" fmla="*/ 0 60000 65536"/>
              <a:gd name="T7" fmla="*/ 0 60000 65536"/>
              <a:gd name="T8" fmla="*/ 0 60000 65536"/>
              <a:gd name="T9" fmla="*/ 0 w 63"/>
              <a:gd name="T10" fmla="*/ 0 h 29"/>
              <a:gd name="T11" fmla="*/ 63 w 63"/>
              <a:gd name="T12" fmla="*/ 29 h 29"/>
            </a:gdLst>
            <a:ahLst/>
            <a:cxnLst>
              <a:cxn ang="T6">
                <a:pos x="T0" y="T1"/>
              </a:cxn>
              <a:cxn ang="T7">
                <a:pos x="T2" y="T3"/>
              </a:cxn>
              <a:cxn ang="T8">
                <a:pos x="T4" y="T5"/>
              </a:cxn>
            </a:cxnLst>
            <a:rect l="T9" t="T10" r="T11" b="T12"/>
            <a:pathLst>
              <a:path w="63" h="29">
                <a:moveTo>
                  <a:pt x="63" y="29"/>
                </a:moveTo>
                <a:lnTo>
                  <a:pt x="63"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8" name="Rectangle 29">
            <a:extLst>
              <a:ext uri="{FF2B5EF4-FFF2-40B4-BE49-F238E27FC236}">
                <a16:creationId xmlns:a16="http://schemas.microsoft.com/office/drawing/2014/main" id="{F6A90048-B52B-4D68-B53B-D95581CBCA53}"/>
              </a:ext>
            </a:extLst>
          </p:cNvPr>
          <p:cNvSpPr>
            <a:spLocks noChangeArrowheads="1"/>
          </p:cNvSpPr>
          <p:nvPr/>
        </p:nvSpPr>
        <p:spPr bwMode="auto">
          <a:xfrm>
            <a:off x="179512" y="3489920"/>
            <a:ext cx="101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T</a:t>
            </a:r>
            <a:endParaRPr lang="en-US" altLang="en-US" sz="2400">
              <a:latin typeface="Times New Roman" panose="02020603050405020304" pitchFamily="18" charset="0"/>
            </a:endParaRPr>
          </a:p>
        </p:txBody>
      </p:sp>
      <p:sp>
        <p:nvSpPr>
          <p:cNvPr id="29" name="Rectangle 30">
            <a:extLst>
              <a:ext uri="{FF2B5EF4-FFF2-40B4-BE49-F238E27FC236}">
                <a16:creationId xmlns:a16="http://schemas.microsoft.com/office/drawing/2014/main" id="{5C6694F6-B543-4405-A034-B7574C4588BB}"/>
              </a:ext>
            </a:extLst>
          </p:cNvPr>
          <p:cNvSpPr>
            <a:spLocks noChangeArrowheads="1"/>
          </p:cNvSpPr>
          <p:nvPr/>
        </p:nvSpPr>
        <p:spPr bwMode="auto">
          <a:xfrm>
            <a:off x="292224" y="358517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000">
                <a:solidFill>
                  <a:srgbClr val="000000"/>
                </a:solidFill>
                <a:latin typeface="Nimbus Roman No9 L" charset="0"/>
              </a:rPr>
              <a:t>1</a:t>
            </a:r>
            <a:endParaRPr lang="en-US" altLang="en-US" sz="2400">
              <a:latin typeface="Times New Roman" panose="02020603050405020304" pitchFamily="18" charset="0"/>
            </a:endParaRPr>
          </a:p>
        </p:txBody>
      </p:sp>
      <p:sp>
        <p:nvSpPr>
          <p:cNvPr id="30" name="Line 31">
            <a:extLst>
              <a:ext uri="{FF2B5EF4-FFF2-40B4-BE49-F238E27FC236}">
                <a16:creationId xmlns:a16="http://schemas.microsoft.com/office/drawing/2014/main" id="{A4B588F9-A565-4F74-94FA-90A2395D6E69}"/>
              </a:ext>
            </a:extLst>
          </p:cNvPr>
          <p:cNvSpPr>
            <a:spLocks noChangeShapeType="1"/>
          </p:cNvSpPr>
          <p:nvPr/>
        </p:nvSpPr>
        <p:spPr bwMode="auto">
          <a:xfrm>
            <a:off x="3311649" y="2110383"/>
            <a:ext cx="1588" cy="6715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1" name="Line 32">
            <a:extLst>
              <a:ext uri="{FF2B5EF4-FFF2-40B4-BE49-F238E27FC236}">
                <a16:creationId xmlns:a16="http://schemas.microsoft.com/office/drawing/2014/main" id="{86AE0A11-993B-49E2-A0E3-9BEFD1B213B8}"/>
              </a:ext>
            </a:extLst>
          </p:cNvPr>
          <p:cNvSpPr>
            <a:spLocks noChangeShapeType="1"/>
          </p:cNvSpPr>
          <p:nvPr/>
        </p:nvSpPr>
        <p:spPr bwMode="auto">
          <a:xfrm flipV="1">
            <a:off x="3573587" y="2446933"/>
            <a:ext cx="1587" cy="33496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2" name="Line 33">
            <a:extLst>
              <a:ext uri="{FF2B5EF4-FFF2-40B4-BE49-F238E27FC236}">
                <a16:creationId xmlns:a16="http://schemas.microsoft.com/office/drawing/2014/main" id="{6D7B3404-9ECE-4EE3-B7A3-256418FFACF5}"/>
              </a:ext>
            </a:extLst>
          </p:cNvPr>
          <p:cNvSpPr>
            <a:spLocks noChangeShapeType="1"/>
          </p:cNvSpPr>
          <p:nvPr/>
        </p:nvSpPr>
        <p:spPr bwMode="auto">
          <a:xfrm flipH="1">
            <a:off x="1439987" y="2427883"/>
            <a:ext cx="59690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3" name="Line 34">
            <a:extLst>
              <a:ext uri="{FF2B5EF4-FFF2-40B4-BE49-F238E27FC236}">
                <a16:creationId xmlns:a16="http://schemas.microsoft.com/office/drawing/2014/main" id="{0154F9AC-BB5D-47A3-8121-85455F866A91}"/>
              </a:ext>
            </a:extLst>
          </p:cNvPr>
          <p:cNvSpPr>
            <a:spLocks noChangeShapeType="1"/>
          </p:cNvSpPr>
          <p:nvPr/>
        </p:nvSpPr>
        <p:spPr bwMode="auto">
          <a:xfrm>
            <a:off x="2044824" y="2427883"/>
            <a:ext cx="1588" cy="3365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4" name="Line 35">
            <a:extLst>
              <a:ext uri="{FF2B5EF4-FFF2-40B4-BE49-F238E27FC236}">
                <a16:creationId xmlns:a16="http://schemas.microsoft.com/office/drawing/2014/main" id="{8A718A4B-1019-455A-8AE4-7614B807C11B}"/>
              </a:ext>
            </a:extLst>
          </p:cNvPr>
          <p:cNvSpPr>
            <a:spLocks noChangeShapeType="1"/>
          </p:cNvSpPr>
          <p:nvPr/>
        </p:nvSpPr>
        <p:spPr bwMode="auto">
          <a:xfrm flipV="1">
            <a:off x="2249612" y="2092920"/>
            <a:ext cx="1587" cy="6715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5" name="Rectangle 36">
            <a:extLst>
              <a:ext uri="{FF2B5EF4-FFF2-40B4-BE49-F238E27FC236}">
                <a16:creationId xmlns:a16="http://schemas.microsoft.com/office/drawing/2014/main" id="{DDBA9F64-768F-44FC-A6A2-E428EB63CF8F}"/>
              </a:ext>
            </a:extLst>
          </p:cNvPr>
          <p:cNvSpPr>
            <a:spLocks noChangeArrowheads="1"/>
          </p:cNvSpPr>
          <p:nvPr/>
        </p:nvSpPr>
        <p:spPr bwMode="auto">
          <a:xfrm>
            <a:off x="3162424" y="1718270"/>
            <a:ext cx="2936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Add</a:t>
            </a:r>
            <a:endParaRPr lang="en-US" altLang="en-US" sz="2400">
              <a:latin typeface="Times New Roman" panose="02020603050405020304" pitchFamily="18" charset="0"/>
            </a:endParaRPr>
          </a:p>
        </p:txBody>
      </p:sp>
      <p:sp>
        <p:nvSpPr>
          <p:cNvPr id="36" name="Rectangle 37">
            <a:extLst>
              <a:ext uri="{FF2B5EF4-FFF2-40B4-BE49-F238E27FC236}">
                <a16:creationId xmlns:a16="http://schemas.microsoft.com/office/drawing/2014/main" id="{CC5C6D95-5E06-4E72-978B-2032FC23944F}"/>
              </a:ext>
            </a:extLst>
          </p:cNvPr>
          <p:cNvSpPr>
            <a:spLocks noChangeArrowheads="1"/>
          </p:cNvSpPr>
          <p:nvPr/>
        </p:nvSpPr>
        <p:spPr bwMode="auto">
          <a:xfrm>
            <a:off x="2006724" y="1700808"/>
            <a:ext cx="523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Branch</a:t>
            </a:r>
            <a:endParaRPr lang="en-US" altLang="en-US" sz="2400">
              <a:latin typeface="Times New Roman" panose="02020603050405020304" pitchFamily="18" charset="0"/>
            </a:endParaRPr>
          </a:p>
        </p:txBody>
      </p:sp>
      <p:sp>
        <p:nvSpPr>
          <p:cNvPr id="37" name="Rectangle 38">
            <a:extLst>
              <a:ext uri="{FF2B5EF4-FFF2-40B4-BE49-F238E27FC236}">
                <a16:creationId xmlns:a16="http://schemas.microsoft.com/office/drawing/2014/main" id="{8E0B607F-471E-445A-BC6C-4765F7B16F42}"/>
              </a:ext>
            </a:extLst>
          </p:cNvPr>
          <p:cNvSpPr>
            <a:spLocks noChangeArrowheads="1"/>
          </p:cNvSpPr>
          <p:nvPr/>
        </p:nvSpPr>
        <p:spPr bwMode="auto">
          <a:xfrm>
            <a:off x="1093912" y="2259608"/>
            <a:ext cx="1016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T</a:t>
            </a:r>
            <a:endParaRPr lang="en-US" altLang="en-US" sz="2400">
              <a:latin typeface="Times New Roman" panose="02020603050405020304" pitchFamily="18" charset="0"/>
            </a:endParaRPr>
          </a:p>
        </p:txBody>
      </p:sp>
      <p:sp>
        <p:nvSpPr>
          <p:cNvPr id="38" name="Rectangle 39">
            <a:extLst>
              <a:ext uri="{FF2B5EF4-FFF2-40B4-BE49-F238E27FC236}">
                <a16:creationId xmlns:a16="http://schemas.microsoft.com/office/drawing/2014/main" id="{B1E864C8-6AC9-48D9-B6A2-C2F237784527}"/>
              </a:ext>
            </a:extLst>
          </p:cNvPr>
          <p:cNvSpPr>
            <a:spLocks noChangeArrowheads="1"/>
          </p:cNvSpPr>
          <p:nvPr/>
        </p:nvSpPr>
        <p:spPr bwMode="auto">
          <a:xfrm>
            <a:off x="1187574" y="235485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000">
                <a:solidFill>
                  <a:srgbClr val="000000"/>
                </a:solidFill>
                <a:latin typeface="Nimbus Roman No9 L" charset="0"/>
              </a:rPr>
              <a:t>4</a:t>
            </a:r>
            <a:endParaRPr lang="en-US" altLang="en-US" sz="2400">
              <a:latin typeface="Times New Roman" panose="02020603050405020304" pitchFamily="18" charset="0"/>
            </a:endParaRPr>
          </a:p>
        </p:txBody>
      </p:sp>
      <p:sp>
        <p:nvSpPr>
          <p:cNvPr id="39" name="Rectangle 40">
            <a:extLst>
              <a:ext uri="{FF2B5EF4-FFF2-40B4-BE49-F238E27FC236}">
                <a16:creationId xmlns:a16="http://schemas.microsoft.com/office/drawing/2014/main" id="{4E09D263-E7B5-4A44-898D-8F9CF61372BB}"/>
              </a:ext>
            </a:extLst>
          </p:cNvPr>
          <p:cNvSpPr>
            <a:spLocks noChangeArrowheads="1"/>
          </p:cNvSpPr>
          <p:nvPr/>
        </p:nvSpPr>
        <p:spPr bwMode="auto">
          <a:xfrm>
            <a:off x="4281612" y="2259608"/>
            <a:ext cx="1016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300">
                <a:solidFill>
                  <a:srgbClr val="000000"/>
                </a:solidFill>
                <a:latin typeface="Nimbus Roman No9 L" charset="0"/>
              </a:rPr>
              <a:t>T</a:t>
            </a:r>
            <a:endParaRPr lang="en-US" altLang="en-US" sz="2400">
              <a:latin typeface="Times New Roman" panose="02020603050405020304" pitchFamily="18" charset="0"/>
            </a:endParaRPr>
          </a:p>
        </p:txBody>
      </p:sp>
      <p:sp>
        <p:nvSpPr>
          <p:cNvPr id="40" name="Rectangle 41">
            <a:extLst>
              <a:ext uri="{FF2B5EF4-FFF2-40B4-BE49-F238E27FC236}">
                <a16:creationId xmlns:a16="http://schemas.microsoft.com/office/drawing/2014/main" id="{71552F17-FBE1-491A-9B50-C35780680108}"/>
              </a:ext>
            </a:extLst>
          </p:cNvPr>
          <p:cNvSpPr>
            <a:spLocks noChangeArrowheads="1"/>
          </p:cNvSpPr>
          <p:nvPr/>
        </p:nvSpPr>
        <p:spPr bwMode="auto">
          <a:xfrm>
            <a:off x="4392737" y="2372320"/>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sz="1000">
                <a:solidFill>
                  <a:srgbClr val="000000"/>
                </a:solidFill>
                <a:latin typeface="Nimbus Roman No9 L" charset="0"/>
              </a:rPr>
              <a:t>6</a:t>
            </a:r>
            <a:endParaRPr lang="en-US" altLang="en-US" sz="2400">
              <a:latin typeface="Times New Roman" panose="02020603050405020304" pitchFamily="18" charset="0"/>
            </a:endParaRPr>
          </a:p>
        </p:txBody>
      </p:sp>
      <p:sp>
        <p:nvSpPr>
          <p:cNvPr id="41" name="Line 42">
            <a:extLst>
              <a:ext uri="{FF2B5EF4-FFF2-40B4-BE49-F238E27FC236}">
                <a16:creationId xmlns:a16="http://schemas.microsoft.com/office/drawing/2014/main" id="{9C3293F7-19B9-44B1-A21A-3C9E8DEAA1EC}"/>
              </a:ext>
            </a:extLst>
          </p:cNvPr>
          <p:cNvSpPr>
            <a:spLocks noChangeShapeType="1"/>
          </p:cNvSpPr>
          <p:nvPr/>
        </p:nvSpPr>
        <p:spPr bwMode="auto">
          <a:xfrm flipV="1">
            <a:off x="2111499" y="4628158"/>
            <a:ext cx="1588" cy="503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2" name="Freeform 43">
            <a:extLst>
              <a:ext uri="{FF2B5EF4-FFF2-40B4-BE49-F238E27FC236}">
                <a16:creationId xmlns:a16="http://schemas.microsoft.com/office/drawing/2014/main" id="{2CAA8A7F-9681-4D74-B4FB-5A1392F2C981}"/>
              </a:ext>
            </a:extLst>
          </p:cNvPr>
          <p:cNvSpPr>
            <a:spLocks/>
          </p:cNvSpPr>
          <p:nvPr/>
        </p:nvSpPr>
        <p:spPr bwMode="auto">
          <a:xfrm>
            <a:off x="2305174"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3" name="Freeform 44">
            <a:extLst>
              <a:ext uri="{FF2B5EF4-FFF2-40B4-BE49-F238E27FC236}">
                <a16:creationId xmlns:a16="http://schemas.microsoft.com/office/drawing/2014/main" id="{A7D185CA-F54B-4DA6-AA3B-270531DE7F46}"/>
              </a:ext>
            </a:extLst>
          </p:cNvPr>
          <p:cNvSpPr>
            <a:spLocks/>
          </p:cNvSpPr>
          <p:nvPr/>
        </p:nvSpPr>
        <p:spPr bwMode="auto">
          <a:xfrm>
            <a:off x="2379787"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4" name="Freeform 45">
            <a:extLst>
              <a:ext uri="{FF2B5EF4-FFF2-40B4-BE49-F238E27FC236}">
                <a16:creationId xmlns:a16="http://schemas.microsoft.com/office/drawing/2014/main" id="{321A9CA7-CE05-4F6A-8E6D-135165DF5FBD}"/>
              </a:ext>
            </a:extLst>
          </p:cNvPr>
          <p:cNvSpPr>
            <a:spLocks/>
          </p:cNvSpPr>
          <p:nvPr/>
        </p:nvSpPr>
        <p:spPr bwMode="auto">
          <a:xfrm>
            <a:off x="2454399"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5" name="Freeform 46">
            <a:extLst>
              <a:ext uri="{FF2B5EF4-FFF2-40B4-BE49-F238E27FC236}">
                <a16:creationId xmlns:a16="http://schemas.microsoft.com/office/drawing/2014/main" id="{9F35340C-343F-4B2F-9E8C-FEC545F5926E}"/>
              </a:ext>
            </a:extLst>
          </p:cNvPr>
          <p:cNvSpPr>
            <a:spLocks/>
          </p:cNvSpPr>
          <p:nvPr/>
        </p:nvSpPr>
        <p:spPr bwMode="auto">
          <a:xfrm>
            <a:off x="1746374"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6" name="Freeform 47">
            <a:extLst>
              <a:ext uri="{FF2B5EF4-FFF2-40B4-BE49-F238E27FC236}">
                <a16:creationId xmlns:a16="http://schemas.microsoft.com/office/drawing/2014/main" id="{4F061999-4605-47FD-B9F2-51789AEA33DC}"/>
              </a:ext>
            </a:extLst>
          </p:cNvPr>
          <p:cNvSpPr>
            <a:spLocks/>
          </p:cNvSpPr>
          <p:nvPr/>
        </p:nvSpPr>
        <p:spPr bwMode="auto">
          <a:xfrm>
            <a:off x="1820987"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7" name="Freeform 48">
            <a:extLst>
              <a:ext uri="{FF2B5EF4-FFF2-40B4-BE49-F238E27FC236}">
                <a16:creationId xmlns:a16="http://schemas.microsoft.com/office/drawing/2014/main" id="{8631D3D4-DBE6-41AA-AB05-5A4524EF508D}"/>
              </a:ext>
            </a:extLst>
          </p:cNvPr>
          <p:cNvSpPr>
            <a:spLocks/>
          </p:cNvSpPr>
          <p:nvPr/>
        </p:nvSpPr>
        <p:spPr bwMode="auto">
          <a:xfrm>
            <a:off x="1895599" y="3994745"/>
            <a:ext cx="19050" cy="19050"/>
          </a:xfrm>
          <a:custGeom>
            <a:avLst/>
            <a:gdLst>
              <a:gd name="T0" fmla="*/ 0 w 1"/>
              <a:gd name="T1" fmla="*/ 0 h 1"/>
              <a:gd name="T2" fmla="*/ 0 w 1"/>
              <a:gd name="T3" fmla="*/ 0 h 1"/>
              <a:gd name="T4" fmla="*/ 0 w 1"/>
              <a:gd name="T5" fmla="*/ 2147483647 h 1"/>
              <a:gd name="T6" fmla="*/ 2147483647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8" name="Line 49">
            <a:extLst>
              <a:ext uri="{FF2B5EF4-FFF2-40B4-BE49-F238E27FC236}">
                <a16:creationId xmlns:a16="http://schemas.microsoft.com/office/drawing/2014/main" id="{909CF97A-09EE-4869-A471-2C13A0A32F1C}"/>
              </a:ext>
            </a:extLst>
          </p:cNvPr>
          <p:cNvSpPr>
            <a:spLocks noChangeShapeType="1"/>
          </p:cNvSpPr>
          <p:nvPr/>
        </p:nvSpPr>
        <p:spPr bwMode="auto">
          <a:xfrm flipH="1">
            <a:off x="3568824" y="2446933"/>
            <a:ext cx="541338"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9" name="Rectangle 3">
            <a:extLst>
              <a:ext uri="{FF2B5EF4-FFF2-40B4-BE49-F238E27FC236}">
                <a16:creationId xmlns:a16="http://schemas.microsoft.com/office/drawing/2014/main" id="{A698D311-351D-46F7-AB08-AF14098C2C22}"/>
              </a:ext>
            </a:extLst>
          </p:cNvPr>
          <p:cNvSpPr txBox="1">
            <a:spLocks noChangeArrowheads="1"/>
          </p:cNvSpPr>
          <p:nvPr/>
        </p:nvSpPr>
        <p:spPr>
          <a:xfrm>
            <a:off x="755576" y="5380633"/>
            <a:ext cx="8229600" cy="490537"/>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r>
              <a:rPr lang="en-US" altLang="en-US" sz="2600" kern="0"/>
              <a:t>Z</a:t>
            </a:r>
            <a:r>
              <a:rPr lang="en-US" altLang="en-US" sz="2600" kern="0" baseline="-25000"/>
              <a:t>in</a:t>
            </a:r>
            <a:r>
              <a:rPr lang="en-US" altLang="en-US" sz="2600" kern="0"/>
              <a:t> = T</a:t>
            </a:r>
            <a:r>
              <a:rPr lang="en-US" altLang="en-US" sz="2600" kern="0" baseline="-25000"/>
              <a:t>1</a:t>
            </a:r>
            <a:r>
              <a:rPr lang="en-US" altLang="en-US" sz="2600" kern="0"/>
              <a:t> + T</a:t>
            </a:r>
            <a:r>
              <a:rPr lang="en-US" altLang="en-US" sz="2600" kern="0" baseline="-25000"/>
              <a:t>6</a:t>
            </a:r>
            <a:r>
              <a:rPr lang="en-US" altLang="en-US" sz="2600" kern="0"/>
              <a:t> </a:t>
            </a:r>
            <a:r>
              <a:rPr lang="en-US" altLang="en-US" sz="2600" kern="0">
                <a:cs typeface="Arial" panose="020B0604020202020204" pitchFamily="34" charset="0"/>
              </a:rPr>
              <a:t>• ADD + T</a:t>
            </a:r>
            <a:r>
              <a:rPr lang="en-US" altLang="en-US" sz="2600" kern="0" baseline="-25000">
                <a:cs typeface="Arial" panose="020B0604020202020204" pitchFamily="34" charset="0"/>
              </a:rPr>
              <a:t>4</a:t>
            </a:r>
            <a:r>
              <a:rPr lang="en-US" altLang="en-US" sz="2600" kern="0"/>
              <a:t> </a:t>
            </a:r>
            <a:r>
              <a:rPr lang="en-US" altLang="en-US" sz="2600" kern="0">
                <a:cs typeface="Arial" panose="020B0604020202020204" pitchFamily="34" charset="0"/>
              </a:rPr>
              <a:t>• BR + …</a:t>
            </a:r>
            <a:endParaRPr lang="en-US" altLang="en-US" sz="2600" kern="0" dirty="0">
              <a:cs typeface="Arial" panose="020B0604020202020204" pitchFamily="34" charset="0"/>
            </a:endParaRPr>
          </a:p>
        </p:txBody>
      </p:sp>
    </p:spTree>
    <p:extLst>
      <p:ext uri="{BB962C8B-B14F-4D97-AF65-F5344CB8AC3E}">
        <p14:creationId xmlns:p14="http://schemas.microsoft.com/office/powerpoint/2010/main" val="10179662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B3568-CA2E-4DDF-B507-9E7DB6A4A437}"/>
              </a:ext>
            </a:extLst>
          </p:cNvPr>
          <p:cNvSpPr>
            <a:spLocks noGrp="1"/>
          </p:cNvSpPr>
          <p:nvPr>
            <p:ph type="title"/>
          </p:nvPr>
        </p:nvSpPr>
        <p:spPr/>
        <p:txBody>
          <a:bodyPr/>
          <a:lstStyle/>
          <a:p>
            <a:r>
              <a:rPr lang="en-GB" sz="2400" b="0" dirty="0"/>
              <a:t>Problems With Hard Wired Designs</a:t>
            </a:r>
            <a:endParaRPr lang="en-IN" sz="2400" b="0" dirty="0"/>
          </a:p>
        </p:txBody>
      </p:sp>
      <p:sp>
        <p:nvSpPr>
          <p:cNvPr id="3" name="Rectangle 3">
            <a:extLst>
              <a:ext uri="{FF2B5EF4-FFF2-40B4-BE49-F238E27FC236}">
                <a16:creationId xmlns:a16="http://schemas.microsoft.com/office/drawing/2014/main" id="{B8E3934F-85CF-4770-BFA9-40C99A606BA4}"/>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a:lnSpc>
                <a:spcPct val="150000"/>
              </a:lnSpc>
              <a:buFont typeface="Wingdings" panose="05000000000000000000" pitchFamily="2" charset="2"/>
              <a:buChar char="q"/>
            </a:pPr>
            <a:r>
              <a:rPr lang="en-GB" sz="2800" kern="0" dirty="0"/>
              <a:t>Complex sequencing &amp; micro-operation logic</a:t>
            </a:r>
          </a:p>
          <a:p>
            <a:pPr marL="457200" indent="-457200">
              <a:lnSpc>
                <a:spcPct val="150000"/>
              </a:lnSpc>
              <a:buFont typeface="Wingdings" panose="05000000000000000000" pitchFamily="2" charset="2"/>
              <a:buChar char="q"/>
            </a:pPr>
            <a:r>
              <a:rPr lang="en-GB" sz="2800" kern="0" dirty="0"/>
              <a:t> Difficult to design and test</a:t>
            </a:r>
          </a:p>
          <a:p>
            <a:pPr marL="457200" indent="-457200">
              <a:lnSpc>
                <a:spcPct val="150000"/>
              </a:lnSpc>
              <a:buFont typeface="Wingdings" panose="05000000000000000000" pitchFamily="2" charset="2"/>
              <a:buChar char="q"/>
            </a:pPr>
            <a:r>
              <a:rPr lang="en-GB" sz="2800" kern="0" dirty="0"/>
              <a:t> Inflexible design</a:t>
            </a:r>
          </a:p>
          <a:p>
            <a:pPr marL="457200" indent="-457200">
              <a:lnSpc>
                <a:spcPct val="150000"/>
              </a:lnSpc>
              <a:buFont typeface="Wingdings" panose="05000000000000000000" pitchFamily="2" charset="2"/>
              <a:buChar char="q"/>
            </a:pPr>
            <a:r>
              <a:rPr lang="en-GB" sz="2800" kern="0" dirty="0"/>
              <a:t> Difficult to add new instructions</a:t>
            </a:r>
          </a:p>
        </p:txBody>
      </p:sp>
    </p:spTree>
    <p:extLst>
      <p:ext uri="{BB962C8B-B14F-4D97-AF65-F5344CB8AC3E}">
        <p14:creationId xmlns:p14="http://schemas.microsoft.com/office/powerpoint/2010/main" val="2566580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CBD28-94FF-458E-BF38-E0DF1DDBD512}"/>
              </a:ext>
            </a:extLst>
          </p:cNvPr>
          <p:cNvSpPr>
            <a:spLocks noGrp="1"/>
          </p:cNvSpPr>
          <p:nvPr>
            <p:ph type="title"/>
          </p:nvPr>
        </p:nvSpPr>
        <p:spPr/>
        <p:txBody>
          <a:bodyPr/>
          <a:lstStyle/>
          <a:p>
            <a:r>
              <a:rPr lang="en-US" altLang="en-US" sz="2800" b="0" dirty="0"/>
              <a:t>Generating End</a:t>
            </a:r>
            <a:endParaRPr lang="en-IN" sz="2800" dirty="0"/>
          </a:p>
        </p:txBody>
      </p:sp>
      <p:sp>
        <p:nvSpPr>
          <p:cNvPr id="4" name="Rectangle 3">
            <a:extLst>
              <a:ext uri="{FF2B5EF4-FFF2-40B4-BE49-F238E27FC236}">
                <a16:creationId xmlns:a16="http://schemas.microsoft.com/office/drawing/2014/main" id="{E8E9F7F7-D7AA-45DE-8058-898CA0F13342}"/>
              </a:ext>
            </a:extLst>
          </p:cNvPr>
          <p:cNvSpPr txBox="1">
            <a:spLocks noChangeArrowheads="1"/>
          </p:cNvSpPr>
          <p:nvPr/>
        </p:nvSpPr>
        <p:spPr>
          <a:xfrm>
            <a:off x="457200" y="1417638"/>
            <a:ext cx="8229600" cy="414337"/>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90000"/>
              </a:lnSpc>
            </a:pPr>
            <a:r>
              <a:rPr lang="en-US" altLang="en-US" sz="2100" kern="0"/>
              <a:t>End = T</a:t>
            </a:r>
            <a:r>
              <a:rPr lang="en-US" altLang="en-US" sz="2100" kern="0" baseline="-25000"/>
              <a:t>7</a:t>
            </a:r>
            <a:r>
              <a:rPr lang="en-US" altLang="en-US" sz="2100" kern="0"/>
              <a:t> </a:t>
            </a:r>
            <a:r>
              <a:rPr lang="en-US" altLang="en-US" sz="2100" kern="0">
                <a:cs typeface="Arial" panose="020B0604020202020204" pitchFamily="34" charset="0"/>
              </a:rPr>
              <a:t>• ADD + T</a:t>
            </a:r>
            <a:r>
              <a:rPr lang="en-US" altLang="en-US" sz="2100" kern="0" baseline="-25000">
                <a:cs typeface="Arial" panose="020B0604020202020204" pitchFamily="34" charset="0"/>
              </a:rPr>
              <a:t>5</a:t>
            </a:r>
            <a:r>
              <a:rPr lang="en-US" altLang="en-US" sz="2100" kern="0">
                <a:cs typeface="Arial" panose="020B0604020202020204" pitchFamily="34" charset="0"/>
              </a:rPr>
              <a:t> • BR + (T</a:t>
            </a:r>
            <a:r>
              <a:rPr lang="en-US" altLang="en-US" sz="2100" kern="0" baseline="-25000">
                <a:cs typeface="Arial" panose="020B0604020202020204" pitchFamily="34" charset="0"/>
              </a:rPr>
              <a:t>5</a:t>
            </a:r>
            <a:r>
              <a:rPr lang="en-US" altLang="en-US" sz="2100" kern="0">
                <a:cs typeface="Arial" panose="020B0604020202020204" pitchFamily="34" charset="0"/>
              </a:rPr>
              <a:t> • N + T</a:t>
            </a:r>
            <a:r>
              <a:rPr lang="en-US" altLang="en-US" sz="2100" kern="0" baseline="-25000">
                <a:cs typeface="Arial" panose="020B0604020202020204" pitchFamily="34" charset="0"/>
              </a:rPr>
              <a:t>4</a:t>
            </a:r>
            <a:r>
              <a:rPr lang="en-US" altLang="en-US" sz="2100" kern="0">
                <a:cs typeface="Arial" panose="020B0604020202020204" pitchFamily="34" charset="0"/>
              </a:rPr>
              <a:t> • N) • BRN +…</a:t>
            </a:r>
            <a:endParaRPr lang="en-US" altLang="en-US" sz="2100" kern="0" dirty="0">
              <a:cs typeface="Arial" panose="020B0604020202020204" pitchFamily="34" charset="0"/>
            </a:endParaRPr>
          </a:p>
        </p:txBody>
      </p:sp>
      <p:sp>
        <p:nvSpPr>
          <p:cNvPr id="5" name="TextBox 4">
            <a:extLst>
              <a:ext uri="{FF2B5EF4-FFF2-40B4-BE49-F238E27FC236}">
                <a16:creationId xmlns:a16="http://schemas.microsoft.com/office/drawing/2014/main" id="{854B4ABD-3A6B-4B60-A08A-A0856F7F2CBF}"/>
              </a:ext>
            </a:extLst>
          </p:cNvPr>
          <p:cNvSpPr txBox="1"/>
          <p:nvPr/>
        </p:nvSpPr>
        <p:spPr>
          <a:xfrm>
            <a:off x="457200" y="1988840"/>
            <a:ext cx="5122912" cy="369332"/>
          </a:xfrm>
          <a:prstGeom prst="rect">
            <a:avLst/>
          </a:prstGeom>
          <a:noFill/>
        </p:spPr>
        <p:txBody>
          <a:bodyPr wrap="square" rtlCol="0">
            <a:spAutoFit/>
          </a:bodyPr>
          <a:lstStyle/>
          <a:p>
            <a:r>
              <a:rPr lang="en-IN" dirty="0"/>
              <a:t>Control Step counter to its starting value</a:t>
            </a:r>
          </a:p>
        </p:txBody>
      </p:sp>
      <p:pic>
        <p:nvPicPr>
          <p:cNvPr id="6" name="Picture 5">
            <a:extLst>
              <a:ext uri="{FF2B5EF4-FFF2-40B4-BE49-F238E27FC236}">
                <a16:creationId xmlns:a16="http://schemas.microsoft.com/office/drawing/2014/main" id="{B6ACD2DD-BB88-4B0C-B531-4F5CF153A76E}"/>
              </a:ext>
            </a:extLst>
          </p:cNvPr>
          <p:cNvPicPr>
            <a:picLocks noChangeAspect="1"/>
          </p:cNvPicPr>
          <p:nvPr/>
        </p:nvPicPr>
        <p:blipFill>
          <a:blip r:embed="rId2"/>
          <a:stretch>
            <a:fillRect/>
          </a:stretch>
        </p:blipFill>
        <p:spPr>
          <a:xfrm>
            <a:off x="611560" y="2552750"/>
            <a:ext cx="4534293" cy="3894157"/>
          </a:xfrm>
          <a:prstGeom prst="rect">
            <a:avLst/>
          </a:prstGeom>
        </p:spPr>
      </p:pic>
    </p:spTree>
    <p:extLst>
      <p:ext uri="{BB962C8B-B14F-4D97-AF65-F5344CB8AC3E}">
        <p14:creationId xmlns:p14="http://schemas.microsoft.com/office/powerpoint/2010/main" val="2490226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842BB-D86E-4D07-903D-2B47E0DCA70F}"/>
              </a:ext>
            </a:extLst>
          </p:cNvPr>
          <p:cNvSpPr>
            <a:spLocks noGrp="1"/>
          </p:cNvSpPr>
          <p:nvPr>
            <p:ph type="title"/>
          </p:nvPr>
        </p:nvSpPr>
        <p:spPr/>
        <p:txBody>
          <a:bodyPr/>
          <a:lstStyle/>
          <a:p>
            <a:r>
              <a:rPr lang="en-US" altLang="en-US" dirty="0"/>
              <a:t>Microprogrammed Control</a:t>
            </a:r>
            <a:endParaRPr lang="en-IN" dirty="0"/>
          </a:p>
        </p:txBody>
      </p:sp>
      <p:sp>
        <p:nvSpPr>
          <p:cNvPr id="3" name="Rectangle 3">
            <a:extLst>
              <a:ext uri="{FF2B5EF4-FFF2-40B4-BE49-F238E27FC236}">
                <a16:creationId xmlns:a16="http://schemas.microsoft.com/office/drawing/2014/main" id="{6142B8D4-FA22-4AB8-803C-03E5594A4F07}"/>
              </a:ext>
            </a:extLst>
          </p:cNvPr>
          <p:cNvSpPr txBox="1">
            <a:spLocks noChangeArrowheads="1"/>
          </p:cNvSpPr>
          <p:nvPr/>
        </p:nvSpPr>
        <p:spPr>
          <a:xfrm>
            <a:off x="0" y="908720"/>
            <a:ext cx="9144000" cy="871537"/>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eaLnBrk="1" hangingPunct="1">
              <a:lnSpc>
                <a:spcPct val="150000"/>
              </a:lnSpc>
            </a:pPr>
            <a:r>
              <a:rPr lang="en-US" altLang="en-US" sz="1900" kern="0" dirty="0"/>
              <a:t>Control signals are generated by a program similar to machine language programs.</a:t>
            </a:r>
          </a:p>
          <a:p>
            <a:pPr eaLnBrk="1" hangingPunct="1">
              <a:lnSpc>
                <a:spcPct val="150000"/>
              </a:lnSpc>
            </a:pPr>
            <a:r>
              <a:rPr lang="en-US" altLang="en-US" sz="1900" kern="0" dirty="0"/>
              <a:t>Control Word (CW); </a:t>
            </a:r>
            <a:r>
              <a:rPr lang="en-US" altLang="en-US" sz="1900" kern="0" dirty="0" err="1"/>
              <a:t>Microroutine</a:t>
            </a:r>
            <a:r>
              <a:rPr lang="en-US" altLang="en-US" sz="1900" kern="0" dirty="0"/>
              <a:t>; individual  microinstruction</a:t>
            </a:r>
          </a:p>
        </p:txBody>
      </p:sp>
      <p:pic>
        <p:nvPicPr>
          <p:cNvPr id="4" name="Picture 3">
            <a:extLst>
              <a:ext uri="{FF2B5EF4-FFF2-40B4-BE49-F238E27FC236}">
                <a16:creationId xmlns:a16="http://schemas.microsoft.com/office/drawing/2014/main" id="{6FD6F3D3-94FE-4F0E-9CEE-8A2852D95F71}"/>
              </a:ext>
            </a:extLst>
          </p:cNvPr>
          <p:cNvPicPr>
            <a:picLocks noChangeAspect="1"/>
          </p:cNvPicPr>
          <p:nvPr/>
        </p:nvPicPr>
        <p:blipFill>
          <a:blip r:embed="rId2"/>
          <a:stretch>
            <a:fillRect/>
          </a:stretch>
        </p:blipFill>
        <p:spPr>
          <a:xfrm>
            <a:off x="122238" y="1755082"/>
            <a:ext cx="5365818" cy="2627247"/>
          </a:xfrm>
          <a:prstGeom prst="rect">
            <a:avLst/>
          </a:prstGeom>
        </p:spPr>
      </p:pic>
      <p:pic>
        <p:nvPicPr>
          <p:cNvPr id="5" name="Picture 4">
            <a:extLst>
              <a:ext uri="{FF2B5EF4-FFF2-40B4-BE49-F238E27FC236}">
                <a16:creationId xmlns:a16="http://schemas.microsoft.com/office/drawing/2014/main" id="{7DD14688-C74F-43BB-8C0D-9E856BC9E4E1}"/>
              </a:ext>
            </a:extLst>
          </p:cNvPr>
          <p:cNvPicPr>
            <a:picLocks noChangeAspect="1"/>
          </p:cNvPicPr>
          <p:nvPr/>
        </p:nvPicPr>
        <p:blipFill>
          <a:blip r:embed="rId3"/>
          <a:stretch>
            <a:fillRect/>
          </a:stretch>
        </p:blipFill>
        <p:spPr>
          <a:xfrm>
            <a:off x="5292080" y="4231758"/>
            <a:ext cx="3729682" cy="2221578"/>
          </a:xfrm>
          <a:prstGeom prst="rect">
            <a:avLst/>
          </a:prstGeom>
        </p:spPr>
      </p:pic>
      <p:sp>
        <p:nvSpPr>
          <p:cNvPr id="6" name="Text Box 6">
            <a:extLst>
              <a:ext uri="{FF2B5EF4-FFF2-40B4-BE49-F238E27FC236}">
                <a16:creationId xmlns:a16="http://schemas.microsoft.com/office/drawing/2014/main" id="{065D38C5-0D07-4609-A073-C3ED219E985B}"/>
              </a:ext>
            </a:extLst>
          </p:cNvPr>
          <p:cNvSpPr txBox="1">
            <a:spLocks noChangeArrowheads="1"/>
          </p:cNvSpPr>
          <p:nvPr/>
        </p:nvSpPr>
        <p:spPr bwMode="auto">
          <a:xfrm>
            <a:off x="6228184" y="3245643"/>
            <a:ext cx="2559774"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Add R1,(R3)</a:t>
            </a:r>
          </a:p>
        </p:txBody>
      </p:sp>
      <p:pic>
        <p:nvPicPr>
          <p:cNvPr id="7" name="Picture 6">
            <a:extLst>
              <a:ext uri="{FF2B5EF4-FFF2-40B4-BE49-F238E27FC236}">
                <a16:creationId xmlns:a16="http://schemas.microsoft.com/office/drawing/2014/main" id="{CDE42C8D-2B3A-4BED-BB16-4E41504E87A8}"/>
              </a:ext>
            </a:extLst>
          </p:cNvPr>
          <p:cNvPicPr>
            <a:picLocks noChangeAspect="1"/>
          </p:cNvPicPr>
          <p:nvPr/>
        </p:nvPicPr>
        <p:blipFill>
          <a:blip r:embed="rId4"/>
          <a:stretch>
            <a:fillRect/>
          </a:stretch>
        </p:blipFill>
        <p:spPr>
          <a:xfrm>
            <a:off x="827584" y="4283612"/>
            <a:ext cx="2124075" cy="2476500"/>
          </a:xfrm>
          <a:prstGeom prst="rect">
            <a:avLst/>
          </a:prstGeom>
        </p:spPr>
      </p:pic>
    </p:spTree>
    <p:extLst>
      <p:ext uri="{BB962C8B-B14F-4D97-AF65-F5344CB8AC3E}">
        <p14:creationId xmlns:p14="http://schemas.microsoft.com/office/powerpoint/2010/main" val="2070872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1E77-E1A9-434F-86DF-F8C5978407FD}"/>
              </a:ext>
            </a:extLst>
          </p:cNvPr>
          <p:cNvSpPr>
            <a:spLocks noGrp="1"/>
          </p:cNvSpPr>
          <p:nvPr>
            <p:ph type="title"/>
          </p:nvPr>
        </p:nvSpPr>
        <p:spPr>
          <a:xfrm>
            <a:off x="122238" y="260350"/>
            <a:ext cx="7690122" cy="596900"/>
          </a:xfrm>
        </p:spPr>
        <p:txBody>
          <a:bodyPr/>
          <a:lstStyle/>
          <a:p>
            <a:r>
              <a:rPr lang="en-GB" sz="2400" b="0" dirty="0"/>
              <a:t>Micro-programmed Control Implementation</a:t>
            </a:r>
            <a:endParaRPr lang="en-IN" sz="2400" b="0" dirty="0"/>
          </a:p>
        </p:txBody>
      </p:sp>
      <p:sp>
        <p:nvSpPr>
          <p:cNvPr id="3" name="Rectangle 2">
            <a:extLst>
              <a:ext uri="{FF2B5EF4-FFF2-40B4-BE49-F238E27FC236}">
                <a16:creationId xmlns:a16="http://schemas.microsoft.com/office/drawing/2014/main" id="{51DF9189-6440-4F1E-9556-BE18473DE08C}"/>
              </a:ext>
            </a:extLst>
          </p:cNvPr>
          <p:cNvSpPr/>
          <p:nvPr/>
        </p:nvSpPr>
        <p:spPr>
          <a:xfrm>
            <a:off x="122238" y="955076"/>
            <a:ext cx="9021762" cy="6117829"/>
          </a:xfrm>
          <a:prstGeom prst="rect">
            <a:avLst/>
          </a:prstGeom>
        </p:spPr>
        <p:txBody>
          <a:bodyPr wrap="square">
            <a:spAutoFit/>
          </a:bodyPr>
          <a:lstStyle/>
          <a:p>
            <a:pPr marL="342900" indent="-342900">
              <a:lnSpc>
                <a:spcPct val="150000"/>
              </a:lnSpc>
              <a:buFont typeface="Wingdings" panose="05000000000000000000" pitchFamily="2" charset="2"/>
              <a:buChar char="q"/>
            </a:pPr>
            <a:r>
              <a:rPr lang="en-GB" sz="2400" dirty="0"/>
              <a:t>Use sequences of instructions to control complex operations Called micro-programming or firmware</a:t>
            </a:r>
          </a:p>
          <a:p>
            <a:pPr marL="342900" indent="-342900">
              <a:lnSpc>
                <a:spcPct val="150000"/>
              </a:lnSpc>
              <a:buFont typeface="Wingdings" panose="05000000000000000000" pitchFamily="2" charset="2"/>
              <a:buChar char="q"/>
            </a:pPr>
            <a:r>
              <a:rPr lang="en-GB" sz="2400" dirty="0"/>
              <a:t>   All the control unit does is generate a set of control signals</a:t>
            </a:r>
          </a:p>
          <a:p>
            <a:pPr marL="342900" indent="-342900">
              <a:lnSpc>
                <a:spcPct val="150000"/>
              </a:lnSpc>
              <a:buFont typeface="Wingdings" panose="05000000000000000000" pitchFamily="2" charset="2"/>
              <a:buChar char="q"/>
            </a:pPr>
            <a:r>
              <a:rPr lang="en-GB" sz="2400" dirty="0"/>
              <a:t> Each control signal is on or off</a:t>
            </a:r>
          </a:p>
          <a:p>
            <a:pPr marL="342900" indent="-342900">
              <a:lnSpc>
                <a:spcPct val="150000"/>
              </a:lnSpc>
              <a:buFont typeface="Wingdings" panose="05000000000000000000" pitchFamily="2" charset="2"/>
              <a:buChar char="q"/>
            </a:pPr>
            <a:r>
              <a:rPr lang="en-GB" sz="2400" dirty="0"/>
              <a:t> Represent each control signal by a bit</a:t>
            </a:r>
          </a:p>
          <a:p>
            <a:pPr marL="342900" indent="-342900">
              <a:lnSpc>
                <a:spcPct val="150000"/>
              </a:lnSpc>
              <a:buFont typeface="Wingdings" panose="05000000000000000000" pitchFamily="2" charset="2"/>
              <a:buChar char="q"/>
            </a:pPr>
            <a:r>
              <a:rPr lang="en-GB" sz="2400" dirty="0"/>
              <a:t> Have a control word for each micro-operation</a:t>
            </a:r>
          </a:p>
          <a:p>
            <a:pPr marL="342900" indent="-342900">
              <a:lnSpc>
                <a:spcPct val="150000"/>
              </a:lnSpc>
              <a:buFont typeface="Wingdings" panose="05000000000000000000" pitchFamily="2" charset="2"/>
              <a:buChar char="q"/>
            </a:pPr>
            <a:r>
              <a:rPr lang="en-GB" sz="2400" dirty="0"/>
              <a:t> Have a sequence of control words for each machine code instruction</a:t>
            </a:r>
          </a:p>
          <a:p>
            <a:pPr marL="342900" indent="-342900">
              <a:lnSpc>
                <a:spcPct val="150000"/>
              </a:lnSpc>
              <a:buFont typeface="Wingdings" panose="05000000000000000000" pitchFamily="2" charset="2"/>
              <a:buChar char="q"/>
            </a:pPr>
            <a:r>
              <a:rPr lang="en-GB" sz="2400" dirty="0"/>
              <a:t> Add an address to specify the next micro-instruction, depending on conditions</a:t>
            </a:r>
          </a:p>
          <a:p>
            <a:pPr marL="342900" indent="-342900">
              <a:lnSpc>
                <a:spcPct val="150000"/>
              </a:lnSpc>
              <a:buFont typeface="Wingdings" panose="05000000000000000000" pitchFamily="2" charset="2"/>
              <a:buChar char="q"/>
            </a:pPr>
            <a:endParaRPr lang="en-GB" sz="2400" dirty="0"/>
          </a:p>
        </p:txBody>
      </p:sp>
    </p:spTree>
    <p:extLst>
      <p:ext uri="{BB962C8B-B14F-4D97-AF65-F5344CB8AC3E}">
        <p14:creationId xmlns:p14="http://schemas.microsoft.com/office/powerpoint/2010/main" val="4508518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1E77-E1A9-434F-86DF-F8C5978407FD}"/>
              </a:ext>
            </a:extLst>
          </p:cNvPr>
          <p:cNvSpPr>
            <a:spLocks noGrp="1"/>
          </p:cNvSpPr>
          <p:nvPr>
            <p:ph type="title"/>
          </p:nvPr>
        </p:nvSpPr>
        <p:spPr>
          <a:xfrm>
            <a:off x="122238" y="260350"/>
            <a:ext cx="7690122" cy="596900"/>
          </a:xfrm>
        </p:spPr>
        <p:txBody>
          <a:bodyPr/>
          <a:lstStyle/>
          <a:p>
            <a:r>
              <a:rPr lang="en-GB" sz="2400" b="0" dirty="0"/>
              <a:t>Micro-programmed Control Implementation</a:t>
            </a:r>
            <a:endParaRPr lang="en-IN" sz="2400" b="0" dirty="0"/>
          </a:p>
        </p:txBody>
      </p:sp>
      <p:sp>
        <p:nvSpPr>
          <p:cNvPr id="4" name="Rectangle 5">
            <a:extLst>
              <a:ext uri="{FF2B5EF4-FFF2-40B4-BE49-F238E27FC236}">
                <a16:creationId xmlns:a16="http://schemas.microsoft.com/office/drawing/2014/main" id="{5A303007-9E44-4825-89EF-6914FB0A79BE}"/>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sz="2400" kern="0" dirty="0"/>
              <a:t>Today’s large microprocessor</a:t>
            </a:r>
          </a:p>
          <a:p>
            <a:pPr lvl="1">
              <a:lnSpc>
                <a:spcPct val="150000"/>
              </a:lnSpc>
            </a:pPr>
            <a:r>
              <a:rPr lang="en-GB" sz="2400" kern="0" dirty="0"/>
              <a:t>Many instructions and associated register-level hardware</a:t>
            </a:r>
          </a:p>
          <a:p>
            <a:pPr lvl="1">
              <a:lnSpc>
                <a:spcPct val="150000"/>
              </a:lnSpc>
            </a:pPr>
            <a:r>
              <a:rPr lang="en-GB" sz="2400" kern="0" dirty="0"/>
              <a:t>Many control points to be manipulated</a:t>
            </a:r>
          </a:p>
          <a:p>
            <a:pPr>
              <a:lnSpc>
                <a:spcPct val="150000"/>
              </a:lnSpc>
            </a:pPr>
            <a:r>
              <a:rPr lang="en-GB" sz="2400" kern="0" dirty="0"/>
              <a:t>This results in control memory that</a:t>
            </a:r>
          </a:p>
          <a:p>
            <a:pPr lvl="1">
              <a:lnSpc>
                <a:spcPct val="150000"/>
              </a:lnSpc>
            </a:pPr>
            <a:r>
              <a:rPr lang="en-GB" sz="2400" kern="0" dirty="0"/>
              <a:t>Contains a large number of words</a:t>
            </a:r>
          </a:p>
          <a:p>
            <a:pPr lvl="2">
              <a:lnSpc>
                <a:spcPct val="150000"/>
              </a:lnSpc>
            </a:pPr>
            <a:r>
              <a:rPr lang="en-GB" sz="2400" kern="0" dirty="0"/>
              <a:t>corresponding to the number of instructions to be executed</a:t>
            </a:r>
          </a:p>
          <a:p>
            <a:pPr lvl="1">
              <a:lnSpc>
                <a:spcPct val="150000"/>
              </a:lnSpc>
            </a:pPr>
            <a:r>
              <a:rPr lang="en-GB" sz="2400" kern="0" dirty="0"/>
              <a:t>Has a wide word width </a:t>
            </a:r>
          </a:p>
          <a:p>
            <a:pPr lvl="2">
              <a:lnSpc>
                <a:spcPct val="150000"/>
              </a:lnSpc>
            </a:pPr>
            <a:r>
              <a:rPr lang="en-GB" sz="2400" kern="0" dirty="0"/>
              <a:t>Due to the large number of control points to be manipulated</a:t>
            </a:r>
          </a:p>
        </p:txBody>
      </p:sp>
    </p:spTree>
    <p:extLst>
      <p:ext uri="{BB962C8B-B14F-4D97-AF65-F5344CB8AC3E}">
        <p14:creationId xmlns:p14="http://schemas.microsoft.com/office/powerpoint/2010/main" val="4276176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Micro-program</a:t>
            </a:r>
            <a:endParaRPr lang="en-IN" sz="2800" b="0" dirty="0"/>
          </a:p>
        </p:txBody>
      </p:sp>
      <p:sp>
        <p:nvSpPr>
          <p:cNvPr id="3" name="Rectangle 3">
            <a:extLst>
              <a:ext uri="{FF2B5EF4-FFF2-40B4-BE49-F238E27FC236}">
                <a16:creationId xmlns:a16="http://schemas.microsoft.com/office/drawing/2014/main" id="{B95A8074-1431-479A-B79F-92785D29EFA6}"/>
              </a:ext>
            </a:extLst>
          </p:cNvPr>
          <p:cNvSpPr txBox="1">
            <a:spLocks noChangeArrowheads="1"/>
          </p:cNvSpPr>
          <p:nvPr/>
        </p:nvSpPr>
        <p:spPr>
          <a:xfrm>
            <a:off x="457200" y="90872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150000"/>
              </a:lnSpc>
              <a:buFont typeface="Wingdings" panose="05000000000000000000" pitchFamily="2" charset="2"/>
              <a:buChar char="q"/>
            </a:pPr>
            <a:r>
              <a:rPr lang="en-GB" sz="2000" kern="0" dirty="0"/>
              <a:t>Word Length Based on 3 factors</a:t>
            </a:r>
          </a:p>
          <a:p>
            <a:pPr lvl="1">
              <a:lnSpc>
                <a:spcPct val="150000"/>
              </a:lnSpc>
            </a:pPr>
            <a:r>
              <a:rPr lang="en-GB" sz="2000" kern="0" dirty="0"/>
              <a:t>Maximum number of simultaneous micro-operations supported</a:t>
            </a:r>
          </a:p>
          <a:p>
            <a:pPr lvl="1">
              <a:lnSpc>
                <a:spcPct val="150000"/>
              </a:lnSpc>
            </a:pPr>
            <a:r>
              <a:rPr lang="en-GB" sz="2000" kern="0" dirty="0"/>
              <a:t>The way control information is represented or encoded</a:t>
            </a:r>
          </a:p>
          <a:p>
            <a:pPr lvl="1">
              <a:lnSpc>
                <a:spcPct val="150000"/>
              </a:lnSpc>
            </a:pPr>
            <a:r>
              <a:rPr lang="en-GB" sz="2000" kern="0" dirty="0"/>
              <a:t>The way in which the next micro-instruction address is specified</a:t>
            </a:r>
          </a:p>
          <a:p>
            <a:pPr marL="342900" indent="-342900">
              <a:lnSpc>
                <a:spcPct val="150000"/>
              </a:lnSpc>
              <a:buFont typeface="Wingdings" panose="05000000000000000000" pitchFamily="2" charset="2"/>
              <a:buChar char="q"/>
            </a:pPr>
            <a:r>
              <a:rPr lang="en-GB" sz="2000" dirty="0"/>
              <a:t>Types </a:t>
            </a:r>
          </a:p>
          <a:p>
            <a:pPr>
              <a:lnSpc>
                <a:spcPct val="150000"/>
              </a:lnSpc>
            </a:pPr>
            <a:r>
              <a:rPr lang="en-GB" sz="2000" dirty="0"/>
              <a:t>Each micro-instruction specifies single (or few) micro-operations to be performed</a:t>
            </a:r>
          </a:p>
          <a:p>
            <a:pPr lvl="1">
              <a:lnSpc>
                <a:spcPct val="150000"/>
              </a:lnSpc>
            </a:pPr>
            <a:r>
              <a:rPr lang="en-GB" sz="2000" dirty="0"/>
              <a:t> (</a:t>
            </a:r>
            <a:r>
              <a:rPr lang="en-GB" sz="2000" i="1" dirty="0"/>
              <a:t>vertical </a:t>
            </a:r>
            <a:r>
              <a:rPr lang="en-GB" sz="2000" dirty="0"/>
              <a:t>micro-programming)</a:t>
            </a:r>
          </a:p>
          <a:p>
            <a:pPr>
              <a:lnSpc>
                <a:spcPct val="150000"/>
              </a:lnSpc>
            </a:pPr>
            <a:r>
              <a:rPr lang="en-GB" sz="2000" dirty="0"/>
              <a:t>Each micro-instruction specifies many different micro-operations to be performed in parallel</a:t>
            </a:r>
          </a:p>
          <a:p>
            <a:pPr lvl="1">
              <a:lnSpc>
                <a:spcPct val="150000"/>
              </a:lnSpc>
            </a:pPr>
            <a:r>
              <a:rPr lang="en-GB" sz="2000" dirty="0"/>
              <a:t>(</a:t>
            </a:r>
            <a:r>
              <a:rPr lang="en-GB" sz="2000" i="1" dirty="0"/>
              <a:t>horizontal </a:t>
            </a:r>
            <a:r>
              <a:rPr lang="en-GB" sz="2000" dirty="0"/>
              <a:t>micro-programming)</a:t>
            </a:r>
          </a:p>
          <a:p>
            <a:pPr marL="1587" lvl="1" indent="0">
              <a:lnSpc>
                <a:spcPct val="150000"/>
              </a:lnSpc>
              <a:buNone/>
            </a:pPr>
            <a:endParaRPr lang="en-GB" sz="2000" kern="0" dirty="0"/>
          </a:p>
        </p:txBody>
      </p:sp>
    </p:spTree>
    <p:extLst>
      <p:ext uri="{BB962C8B-B14F-4D97-AF65-F5344CB8AC3E}">
        <p14:creationId xmlns:p14="http://schemas.microsoft.com/office/powerpoint/2010/main" val="22360405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Micro-program</a:t>
            </a:r>
            <a:endParaRPr lang="en-IN" sz="2800" b="0" dirty="0"/>
          </a:p>
        </p:txBody>
      </p:sp>
      <p:sp>
        <p:nvSpPr>
          <p:cNvPr id="3" name="Rectangle 3">
            <a:extLst>
              <a:ext uri="{FF2B5EF4-FFF2-40B4-BE49-F238E27FC236}">
                <a16:creationId xmlns:a16="http://schemas.microsoft.com/office/drawing/2014/main" id="{EA4D2CF7-1978-4FCD-B4CD-668E11F302D2}"/>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285750" indent="-285750">
              <a:lnSpc>
                <a:spcPct val="150000"/>
              </a:lnSpc>
              <a:buFont typeface="Wingdings" panose="05000000000000000000" pitchFamily="2" charset="2"/>
              <a:buChar char="q"/>
            </a:pPr>
            <a:r>
              <a:rPr lang="en-GB" sz="2000" kern="0" dirty="0"/>
              <a:t>Vertical Micro-programming</a:t>
            </a:r>
          </a:p>
          <a:p>
            <a:pPr marL="482600" lvl="1" indent="-285750">
              <a:lnSpc>
                <a:spcPct val="150000"/>
              </a:lnSpc>
              <a:buFont typeface="Wingdings" panose="05000000000000000000" pitchFamily="2" charset="2"/>
              <a:buChar char="ü"/>
            </a:pPr>
            <a:r>
              <a:rPr lang="en-GB" sz="2000" kern="0" dirty="0"/>
              <a:t> Width is narrow</a:t>
            </a:r>
          </a:p>
          <a:p>
            <a:pPr marL="482600" lvl="1" indent="-285750">
              <a:lnSpc>
                <a:spcPct val="150000"/>
              </a:lnSpc>
              <a:buFont typeface="Wingdings" panose="05000000000000000000" pitchFamily="2" charset="2"/>
              <a:buChar char="ü"/>
            </a:pPr>
            <a:r>
              <a:rPr lang="en-GB" sz="2000" kern="0" dirty="0"/>
              <a:t> n control signals encoded into log</a:t>
            </a:r>
            <a:r>
              <a:rPr lang="en-GB" sz="2000" kern="0" baseline="-25000" dirty="0"/>
              <a:t>2</a:t>
            </a:r>
            <a:r>
              <a:rPr lang="en-GB" sz="2000" kern="0" dirty="0"/>
              <a:t> n bits</a:t>
            </a:r>
          </a:p>
          <a:p>
            <a:pPr marL="482600" lvl="1" indent="-285750">
              <a:lnSpc>
                <a:spcPct val="150000"/>
              </a:lnSpc>
              <a:buFont typeface="Wingdings" panose="05000000000000000000" pitchFamily="2" charset="2"/>
              <a:buChar char="ü"/>
            </a:pPr>
            <a:r>
              <a:rPr lang="en-GB" sz="2000" kern="0" dirty="0"/>
              <a:t> Limited ability to express parallelism</a:t>
            </a:r>
          </a:p>
          <a:p>
            <a:pPr marL="482600" lvl="1" indent="-285750">
              <a:lnSpc>
                <a:spcPct val="150000"/>
              </a:lnSpc>
              <a:buFont typeface="Wingdings" panose="05000000000000000000" pitchFamily="2" charset="2"/>
              <a:buChar char="ü"/>
            </a:pPr>
            <a:r>
              <a:rPr lang="en-GB" sz="2000" kern="0" dirty="0"/>
              <a:t> Considerable encoding of control information requires external memory word decoder to identify the exact control line being manipulated</a:t>
            </a:r>
          </a:p>
          <a:p>
            <a:pPr marL="285750" indent="-285750">
              <a:lnSpc>
                <a:spcPct val="150000"/>
              </a:lnSpc>
              <a:buFont typeface="Wingdings" panose="05000000000000000000" pitchFamily="2" charset="2"/>
              <a:buChar char="q"/>
            </a:pPr>
            <a:r>
              <a:rPr lang="en-GB" sz="2000" dirty="0"/>
              <a:t>Horizontal Micro-programming</a:t>
            </a:r>
          </a:p>
          <a:p>
            <a:pPr marL="482600" lvl="1" indent="-285750">
              <a:lnSpc>
                <a:spcPct val="150000"/>
              </a:lnSpc>
              <a:buFont typeface="Wingdings" panose="05000000000000000000" pitchFamily="2" charset="2"/>
              <a:buChar char="ü"/>
            </a:pPr>
            <a:r>
              <a:rPr lang="en-GB" sz="2000" dirty="0"/>
              <a:t> Wide memory word</a:t>
            </a:r>
          </a:p>
          <a:p>
            <a:pPr marL="482600" lvl="1" indent="-285750">
              <a:lnSpc>
                <a:spcPct val="150000"/>
              </a:lnSpc>
              <a:buFont typeface="Wingdings" panose="05000000000000000000" pitchFamily="2" charset="2"/>
              <a:buChar char="ü"/>
            </a:pPr>
            <a:r>
              <a:rPr lang="en-GB" sz="2000" dirty="0"/>
              <a:t> High degree of parallel operations possible</a:t>
            </a:r>
          </a:p>
          <a:p>
            <a:pPr marL="482600" lvl="1" indent="-285750">
              <a:lnSpc>
                <a:spcPct val="150000"/>
              </a:lnSpc>
              <a:buFont typeface="Wingdings" panose="05000000000000000000" pitchFamily="2" charset="2"/>
              <a:buChar char="ü"/>
            </a:pPr>
            <a:r>
              <a:rPr lang="en-GB" sz="2000" dirty="0"/>
              <a:t> Little encoding of control information</a:t>
            </a:r>
          </a:p>
          <a:p>
            <a:pPr marL="482600" lvl="1" indent="-285750">
              <a:lnSpc>
                <a:spcPct val="150000"/>
              </a:lnSpc>
              <a:buFont typeface="Wingdings" panose="05000000000000000000" pitchFamily="2" charset="2"/>
              <a:buChar char="ü"/>
            </a:pPr>
            <a:endParaRPr lang="en-GB" sz="2000" kern="0" dirty="0"/>
          </a:p>
        </p:txBody>
      </p:sp>
    </p:spTree>
    <p:extLst>
      <p:ext uri="{BB962C8B-B14F-4D97-AF65-F5344CB8AC3E}">
        <p14:creationId xmlns:p14="http://schemas.microsoft.com/office/powerpoint/2010/main" val="1807416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Typical Microinstruction Formats</a:t>
            </a:r>
            <a:endParaRPr lang="en-IN" sz="2800" b="0" dirty="0"/>
          </a:p>
        </p:txBody>
      </p:sp>
      <p:pic>
        <p:nvPicPr>
          <p:cNvPr id="4" name="Picture 3">
            <a:extLst>
              <a:ext uri="{FF2B5EF4-FFF2-40B4-BE49-F238E27FC236}">
                <a16:creationId xmlns:a16="http://schemas.microsoft.com/office/drawing/2014/main" id="{FBA89641-B93D-4C59-8990-5A92D3DD14FA}"/>
              </a:ext>
            </a:extLst>
          </p:cNvPr>
          <p:cNvPicPr>
            <a:picLocks noChangeAspect="1"/>
          </p:cNvPicPr>
          <p:nvPr/>
        </p:nvPicPr>
        <p:blipFill>
          <a:blip r:embed="rId2"/>
          <a:stretch>
            <a:fillRect/>
          </a:stretch>
        </p:blipFill>
        <p:spPr>
          <a:xfrm>
            <a:off x="899592" y="1233487"/>
            <a:ext cx="7375459" cy="4715793"/>
          </a:xfrm>
          <a:prstGeom prst="rect">
            <a:avLst/>
          </a:prstGeom>
        </p:spPr>
      </p:pic>
    </p:spTree>
    <p:extLst>
      <p:ext uri="{BB962C8B-B14F-4D97-AF65-F5344CB8AC3E}">
        <p14:creationId xmlns:p14="http://schemas.microsoft.com/office/powerpoint/2010/main" val="2355416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7AC4-4752-4E92-823A-BAE23598220D}"/>
              </a:ext>
            </a:extLst>
          </p:cNvPr>
          <p:cNvSpPr>
            <a:spLocks noGrp="1"/>
          </p:cNvSpPr>
          <p:nvPr>
            <p:ph type="title"/>
          </p:nvPr>
        </p:nvSpPr>
        <p:spPr/>
        <p:txBody>
          <a:bodyPr/>
          <a:lstStyle/>
          <a:p>
            <a:r>
              <a:rPr lang="en-GB" sz="2800" b="0" dirty="0"/>
              <a:t>Micro-program Organization</a:t>
            </a:r>
            <a:br>
              <a:rPr lang="en-GB" sz="2800" b="0" dirty="0"/>
            </a:br>
            <a:r>
              <a:rPr lang="en-GB" sz="2800" b="0" dirty="0"/>
              <a:t> </a:t>
            </a:r>
            <a:r>
              <a:rPr lang="en-GB" sz="2800" b="0" dirty="0" err="1"/>
              <a:t>ofControl</a:t>
            </a:r>
            <a:r>
              <a:rPr lang="en-GB" sz="2800" b="0" dirty="0"/>
              <a:t> Memory</a:t>
            </a:r>
            <a:endParaRPr lang="en-IN" sz="2800" b="0" dirty="0"/>
          </a:p>
        </p:txBody>
      </p:sp>
      <p:pic>
        <p:nvPicPr>
          <p:cNvPr id="4" name="Picture 17">
            <a:extLst>
              <a:ext uri="{FF2B5EF4-FFF2-40B4-BE49-F238E27FC236}">
                <a16:creationId xmlns:a16="http://schemas.microsoft.com/office/drawing/2014/main" id="{5D478173-36A3-4906-812F-4F2AC7AB189C}"/>
              </a:ext>
            </a:extLst>
          </p:cNvPr>
          <p:cNvPicPr>
            <a:picLocks noChangeAspect="1" noChangeArrowheads="1"/>
          </p:cNvPicPr>
          <p:nvPr/>
        </p:nvPicPr>
        <p:blipFill>
          <a:blip r:embed="rId2"/>
          <a:srcRect/>
          <a:stretch>
            <a:fillRect/>
          </a:stretch>
        </p:blipFill>
        <p:spPr bwMode="auto">
          <a:xfrm>
            <a:off x="4788025" y="197352"/>
            <a:ext cx="4233738" cy="6400297"/>
          </a:xfrm>
          <a:prstGeom prst="rect">
            <a:avLst/>
          </a:prstGeom>
          <a:noFill/>
          <a:ln w="9525">
            <a:noFill/>
            <a:miter lim="800000"/>
            <a:headEnd/>
            <a:tailEnd/>
          </a:ln>
          <a:effectLst/>
        </p:spPr>
      </p:pic>
      <p:sp>
        <p:nvSpPr>
          <p:cNvPr id="6" name="Rectangle 5">
            <a:extLst>
              <a:ext uri="{FF2B5EF4-FFF2-40B4-BE49-F238E27FC236}">
                <a16:creationId xmlns:a16="http://schemas.microsoft.com/office/drawing/2014/main" id="{4FCC107E-3980-4091-9DF7-C85076258D23}"/>
              </a:ext>
            </a:extLst>
          </p:cNvPr>
          <p:cNvSpPr/>
          <p:nvPr/>
        </p:nvSpPr>
        <p:spPr>
          <a:xfrm>
            <a:off x="284846" y="1122680"/>
            <a:ext cx="2414945" cy="461665"/>
          </a:xfrm>
          <a:prstGeom prst="rect">
            <a:avLst/>
          </a:prstGeom>
        </p:spPr>
        <p:txBody>
          <a:bodyPr wrap="square">
            <a:spAutoFit/>
          </a:bodyPr>
          <a:lstStyle/>
          <a:p>
            <a:r>
              <a:rPr lang="en-GB" sz="2400" b="1" dirty="0"/>
              <a:t>Compromise</a:t>
            </a:r>
            <a:endParaRPr lang="en-IN" sz="2400" b="1" dirty="0"/>
          </a:p>
        </p:txBody>
      </p:sp>
      <p:sp>
        <p:nvSpPr>
          <p:cNvPr id="7" name="Rectangle 3">
            <a:extLst>
              <a:ext uri="{FF2B5EF4-FFF2-40B4-BE49-F238E27FC236}">
                <a16:creationId xmlns:a16="http://schemas.microsoft.com/office/drawing/2014/main" id="{5B9AECAD-D6CB-4BE1-A777-EBC9FCCC8596}"/>
              </a:ext>
            </a:extLst>
          </p:cNvPr>
          <p:cNvSpPr txBox="1">
            <a:spLocks noChangeArrowheads="1"/>
          </p:cNvSpPr>
          <p:nvPr/>
        </p:nvSpPr>
        <p:spPr>
          <a:xfrm>
            <a:off x="122238" y="1757442"/>
            <a:ext cx="3945706" cy="44078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150000"/>
              </a:lnSpc>
              <a:buFont typeface="Wingdings" panose="05000000000000000000" pitchFamily="2" charset="2"/>
              <a:buChar char="q"/>
            </a:pPr>
            <a:r>
              <a:rPr lang="en-GB" sz="2000" kern="0" dirty="0"/>
              <a:t>Divide control signals into disjoint groups</a:t>
            </a:r>
          </a:p>
          <a:p>
            <a:pPr marL="342900" indent="-342900">
              <a:lnSpc>
                <a:spcPct val="150000"/>
              </a:lnSpc>
              <a:buFont typeface="Wingdings" panose="05000000000000000000" pitchFamily="2" charset="2"/>
              <a:buChar char="q"/>
            </a:pPr>
            <a:r>
              <a:rPr lang="en-GB" sz="2000" kern="0" dirty="0"/>
              <a:t> Implement each group as separate field in memory word</a:t>
            </a:r>
          </a:p>
          <a:p>
            <a:pPr marL="342900" indent="-342900">
              <a:lnSpc>
                <a:spcPct val="150000"/>
              </a:lnSpc>
              <a:buFont typeface="Wingdings" panose="05000000000000000000" pitchFamily="2" charset="2"/>
              <a:buChar char="q"/>
            </a:pPr>
            <a:r>
              <a:rPr lang="en-GB" sz="2000" kern="0" dirty="0"/>
              <a:t> Supports reasonable levels of parallelism without too much complexity</a:t>
            </a:r>
          </a:p>
        </p:txBody>
      </p:sp>
    </p:spTree>
    <p:extLst>
      <p:ext uri="{BB962C8B-B14F-4D97-AF65-F5344CB8AC3E}">
        <p14:creationId xmlns:p14="http://schemas.microsoft.com/office/powerpoint/2010/main" val="8611184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0C477-1253-484E-9FD6-3465260828F7}"/>
              </a:ext>
            </a:extLst>
          </p:cNvPr>
          <p:cNvSpPr>
            <a:spLocks noGrp="1"/>
          </p:cNvSpPr>
          <p:nvPr>
            <p:ph type="title"/>
          </p:nvPr>
        </p:nvSpPr>
        <p:spPr/>
        <p:txBody>
          <a:bodyPr/>
          <a:lstStyle/>
          <a:p>
            <a:r>
              <a:rPr lang="en-US" altLang="en-US" sz="2400" b="0" dirty="0"/>
              <a:t>Execution of a Complete Instruction </a:t>
            </a:r>
            <a:r>
              <a:rPr lang="en-US" altLang="en-US" sz="2400" b="0" dirty="0">
                <a:solidFill>
                  <a:srgbClr val="FF0000"/>
                </a:solidFill>
              </a:rPr>
              <a:t>(self study)</a:t>
            </a:r>
            <a:endParaRPr lang="en-IN" sz="2400" b="0" dirty="0">
              <a:solidFill>
                <a:srgbClr val="FF0000"/>
              </a:solidFill>
            </a:endParaRPr>
          </a:p>
        </p:txBody>
      </p:sp>
      <p:sp>
        <p:nvSpPr>
          <p:cNvPr id="5" name="Rectangle 3">
            <a:extLst>
              <a:ext uri="{FF2B5EF4-FFF2-40B4-BE49-F238E27FC236}">
                <a16:creationId xmlns:a16="http://schemas.microsoft.com/office/drawing/2014/main" id="{5C19CD28-998B-4D50-853F-982BE0D664BB}"/>
              </a:ext>
            </a:extLst>
          </p:cNvPr>
          <p:cNvSpPr txBox="1">
            <a:spLocks noChangeArrowheads="1"/>
          </p:cNvSpPr>
          <p:nvPr/>
        </p:nvSpPr>
        <p:spPr>
          <a:xfrm>
            <a:off x="122238" y="980728"/>
            <a:ext cx="8914258" cy="4411662"/>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eaLnBrk="1" hangingPunct="1">
              <a:lnSpc>
                <a:spcPct val="150000"/>
              </a:lnSpc>
              <a:buFont typeface="Wingdings" panose="05000000000000000000" pitchFamily="2" charset="2"/>
              <a:buChar char="q"/>
            </a:pPr>
            <a:r>
              <a:rPr lang="en-US" altLang="en-US" sz="2400" kern="0" dirty="0"/>
              <a:t> Add  R1, (R3)</a:t>
            </a:r>
          </a:p>
          <a:p>
            <a:pPr marL="342900" indent="-342900" eaLnBrk="1" hangingPunct="1">
              <a:lnSpc>
                <a:spcPct val="150000"/>
              </a:lnSpc>
              <a:buFont typeface="Wingdings" panose="05000000000000000000" pitchFamily="2" charset="2"/>
              <a:buChar char="q"/>
            </a:pPr>
            <a:r>
              <a:rPr lang="en-US" altLang="en-US" sz="2400" kern="0" dirty="0"/>
              <a:t> Fetch the instruction</a:t>
            </a:r>
          </a:p>
          <a:p>
            <a:pPr marL="342900" indent="-342900" eaLnBrk="1" hangingPunct="1">
              <a:lnSpc>
                <a:spcPct val="150000"/>
              </a:lnSpc>
              <a:buFont typeface="Wingdings" panose="05000000000000000000" pitchFamily="2" charset="2"/>
              <a:buChar char="q"/>
            </a:pPr>
            <a:r>
              <a:rPr lang="en-US" altLang="en-US" sz="2400" kern="0" dirty="0"/>
              <a:t> Fetch the first operand (the contents of the memory location pointed to by R3)</a:t>
            </a:r>
          </a:p>
          <a:p>
            <a:pPr marL="342900" indent="-342900" eaLnBrk="1" hangingPunct="1">
              <a:lnSpc>
                <a:spcPct val="150000"/>
              </a:lnSpc>
              <a:buFont typeface="Wingdings" panose="05000000000000000000" pitchFamily="2" charset="2"/>
              <a:buChar char="q"/>
            </a:pPr>
            <a:r>
              <a:rPr lang="en-US" altLang="en-US" sz="2400" kern="0" dirty="0"/>
              <a:t> Perform the addition</a:t>
            </a:r>
          </a:p>
          <a:p>
            <a:pPr marL="342900" indent="-342900" eaLnBrk="1" hangingPunct="1">
              <a:lnSpc>
                <a:spcPct val="150000"/>
              </a:lnSpc>
              <a:buFont typeface="Wingdings" panose="05000000000000000000" pitchFamily="2" charset="2"/>
              <a:buChar char="q"/>
            </a:pPr>
            <a:r>
              <a:rPr lang="en-US" altLang="en-US" sz="2400" kern="0" dirty="0"/>
              <a:t> Load the result into R1</a:t>
            </a:r>
          </a:p>
        </p:txBody>
      </p:sp>
    </p:spTree>
    <p:extLst>
      <p:ext uri="{BB962C8B-B14F-4D97-AF65-F5344CB8AC3E}">
        <p14:creationId xmlns:p14="http://schemas.microsoft.com/office/powerpoint/2010/main" val="36557501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US" altLang="en-US" sz="2400" b="0" dirty="0"/>
              <a:t>Execution of a Complete Instruction</a:t>
            </a:r>
            <a:endParaRPr lang="en-IN" sz="2400" b="0" dirty="0"/>
          </a:p>
        </p:txBody>
      </p:sp>
      <p:pic>
        <p:nvPicPr>
          <p:cNvPr id="5" name="Picture 4">
            <a:extLst>
              <a:ext uri="{FF2B5EF4-FFF2-40B4-BE49-F238E27FC236}">
                <a16:creationId xmlns:a16="http://schemas.microsoft.com/office/drawing/2014/main" id="{AD694C40-855C-49CF-9D88-DA15D1CABE06}"/>
              </a:ext>
            </a:extLst>
          </p:cNvPr>
          <p:cNvPicPr>
            <a:picLocks noChangeAspect="1"/>
          </p:cNvPicPr>
          <p:nvPr/>
        </p:nvPicPr>
        <p:blipFill>
          <a:blip r:embed="rId2"/>
          <a:stretch>
            <a:fillRect/>
          </a:stretch>
        </p:blipFill>
        <p:spPr>
          <a:xfrm>
            <a:off x="5057" y="980728"/>
            <a:ext cx="4644008" cy="5328591"/>
          </a:xfrm>
          <a:prstGeom prst="rect">
            <a:avLst/>
          </a:prstGeom>
        </p:spPr>
      </p:pic>
      <p:sp>
        <p:nvSpPr>
          <p:cNvPr id="7" name="Text Box 6">
            <a:extLst>
              <a:ext uri="{FF2B5EF4-FFF2-40B4-BE49-F238E27FC236}">
                <a16:creationId xmlns:a16="http://schemas.microsoft.com/office/drawing/2014/main" id="{C238D5BD-A5CC-4C0F-BB67-E850F165F790}"/>
              </a:ext>
            </a:extLst>
          </p:cNvPr>
          <p:cNvSpPr txBox="1">
            <a:spLocks noChangeArrowheads="1"/>
          </p:cNvSpPr>
          <p:nvPr/>
        </p:nvSpPr>
        <p:spPr bwMode="auto">
          <a:xfrm>
            <a:off x="5148064" y="980728"/>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Add R1, (R3)</a:t>
            </a:r>
          </a:p>
        </p:txBody>
      </p:sp>
      <p:pic>
        <p:nvPicPr>
          <p:cNvPr id="9" name="Picture 8">
            <a:extLst>
              <a:ext uri="{FF2B5EF4-FFF2-40B4-BE49-F238E27FC236}">
                <a16:creationId xmlns:a16="http://schemas.microsoft.com/office/drawing/2014/main" id="{52DE0569-7405-4C00-B482-0FF3667F8AD8}"/>
              </a:ext>
            </a:extLst>
          </p:cNvPr>
          <p:cNvPicPr>
            <a:picLocks noChangeAspect="1"/>
          </p:cNvPicPr>
          <p:nvPr/>
        </p:nvPicPr>
        <p:blipFill>
          <a:blip r:embed="rId3"/>
          <a:stretch>
            <a:fillRect/>
          </a:stretch>
        </p:blipFill>
        <p:spPr>
          <a:xfrm>
            <a:off x="5004048" y="1337808"/>
            <a:ext cx="3581400" cy="4896544"/>
          </a:xfrm>
          <a:prstGeom prst="rect">
            <a:avLst/>
          </a:prstGeom>
        </p:spPr>
      </p:pic>
    </p:spTree>
    <p:extLst>
      <p:ext uri="{BB962C8B-B14F-4D97-AF65-F5344CB8AC3E}">
        <p14:creationId xmlns:p14="http://schemas.microsoft.com/office/powerpoint/2010/main" val="5477278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IN" sz="2400" dirty="0"/>
              <a:t>Data Flow, Fetch Cycle</a:t>
            </a:r>
            <a:endParaRPr lang="en-IN" sz="2400" b="0" dirty="0"/>
          </a:p>
        </p:txBody>
      </p:sp>
      <p:pic>
        <p:nvPicPr>
          <p:cNvPr id="6" name="Picture 5">
            <a:extLst>
              <a:ext uri="{FF2B5EF4-FFF2-40B4-BE49-F238E27FC236}">
                <a16:creationId xmlns:a16="http://schemas.microsoft.com/office/drawing/2014/main" id="{678E1434-0BEE-4B01-B209-0872DB1C36FD}"/>
              </a:ext>
            </a:extLst>
          </p:cNvPr>
          <p:cNvPicPr>
            <a:picLocks noChangeAspect="1"/>
          </p:cNvPicPr>
          <p:nvPr/>
        </p:nvPicPr>
        <p:blipFill>
          <a:blip r:embed="rId2"/>
          <a:stretch>
            <a:fillRect/>
          </a:stretch>
        </p:blipFill>
        <p:spPr>
          <a:xfrm>
            <a:off x="1619672" y="1484784"/>
            <a:ext cx="4668738" cy="3228904"/>
          </a:xfrm>
          <a:prstGeom prst="rect">
            <a:avLst/>
          </a:prstGeom>
        </p:spPr>
      </p:pic>
      <p:sp>
        <p:nvSpPr>
          <p:cNvPr id="3" name="TextBox 2">
            <a:extLst>
              <a:ext uri="{FF2B5EF4-FFF2-40B4-BE49-F238E27FC236}">
                <a16:creationId xmlns:a16="http://schemas.microsoft.com/office/drawing/2014/main" id="{A98660B2-5981-4A98-8BF1-0E0CFB8DDB38}"/>
              </a:ext>
            </a:extLst>
          </p:cNvPr>
          <p:cNvSpPr txBox="1"/>
          <p:nvPr/>
        </p:nvSpPr>
        <p:spPr>
          <a:xfrm>
            <a:off x="467544" y="5013176"/>
            <a:ext cx="8208912" cy="1287532"/>
          </a:xfrm>
          <a:prstGeom prst="rect">
            <a:avLst/>
          </a:prstGeom>
          <a:noFill/>
        </p:spPr>
        <p:txBody>
          <a:bodyPr wrap="square" rtlCol="0">
            <a:spAutoFit/>
          </a:bodyPr>
          <a:lstStyle/>
          <a:p>
            <a:pPr>
              <a:lnSpc>
                <a:spcPct val="150000"/>
              </a:lnSpc>
            </a:pPr>
            <a:r>
              <a:rPr lang="en-IN" dirty="0">
                <a:solidFill>
                  <a:srgbClr val="7030A0"/>
                </a:solidFill>
              </a:rPr>
              <a:t>WMFC: Wait for  memory function check to accommodate the variability in response time, The addressed device sets this signal to 1 to indicate that contents of the specified location has been read</a:t>
            </a:r>
          </a:p>
        </p:txBody>
      </p:sp>
      <p:sp>
        <p:nvSpPr>
          <p:cNvPr id="8" name="Text Box 6">
            <a:extLst>
              <a:ext uri="{FF2B5EF4-FFF2-40B4-BE49-F238E27FC236}">
                <a16:creationId xmlns:a16="http://schemas.microsoft.com/office/drawing/2014/main" id="{EFDD0CA8-5537-4FFB-A6DF-3EC1FD39EB6B}"/>
              </a:ext>
            </a:extLst>
          </p:cNvPr>
          <p:cNvSpPr txBox="1">
            <a:spLocks noChangeArrowheads="1"/>
          </p:cNvSpPr>
          <p:nvPr/>
        </p:nvSpPr>
        <p:spPr bwMode="auto">
          <a:xfrm>
            <a:off x="5148064" y="980728"/>
            <a:ext cx="3581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Add R1, (R3)</a:t>
            </a:r>
          </a:p>
        </p:txBody>
      </p:sp>
    </p:spTree>
    <p:extLst>
      <p:ext uri="{BB962C8B-B14F-4D97-AF65-F5344CB8AC3E}">
        <p14:creationId xmlns:p14="http://schemas.microsoft.com/office/powerpoint/2010/main" val="20309665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6EA5-2CEA-4978-AE58-789239AF91AC}"/>
              </a:ext>
            </a:extLst>
          </p:cNvPr>
          <p:cNvSpPr>
            <a:spLocks noGrp="1"/>
          </p:cNvSpPr>
          <p:nvPr>
            <p:ph type="title"/>
          </p:nvPr>
        </p:nvSpPr>
        <p:spPr/>
        <p:txBody>
          <a:bodyPr/>
          <a:lstStyle/>
          <a:p>
            <a:r>
              <a:rPr lang="en-IN" dirty="0"/>
              <a:t>Example</a:t>
            </a:r>
          </a:p>
        </p:txBody>
      </p:sp>
      <p:pic>
        <p:nvPicPr>
          <p:cNvPr id="4" name="Picture 3">
            <a:extLst>
              <a:ext uri="{FF2B5EF4-FFF2-40B4-BE49-F238E27FC236}">
                <a16:creationId xmlns:a16="http://schemas.microsoft.com/office/drawing/2014/main" id="{98887D30-E37D-474F-A3E0-297E87FC05C2}"/>
              </a:ext>
            </a:extLst>
          </p:cNvPr>
          <p:cNvPicPr>
            <a:picLocks noChangeAspect="1"/>
          </p:cNvPicPr>
          <p:nvPr/>
        </p:nvPicPr>
        <p:blipFill>
          <a:blip r:embed="rId2"/>
          <a:stretch>
            <a:fillRect/>
          </a:stretch>
        </p:blipFill>
        <p:spPr>
          <a:xfrm>
            <a:off x="122238" y="1323338"/>
            <a:ext cx="4305746" cy="4940465"/>
          </a:xfrm>
          <a:prstGeom prst="rect">
            <a:avLst/>
          </a:prstGeom>
        </p:spPr>
      </p:pic>
      <p:pic>
        <p:nvPicPr>
          <p:cNvPr id="6" name="Picture 5">
            <a:extLst>
              <a:ext uri="{FF2B5EF4-FFF2-40B4-BE49-F238E27FC236}">
                <a16:creationId xmlns:a16="http://schemas.microsoft.com/office/drawing/2014/main" id="{B85A99E5-9DE6-43CD-B526-4F4B920E673C}"/>
              </a:ext>
            </a:extLst>
          </p:cNvPr>
          <p:cNvPicPr>
            <a:picLocks noChangeAspect="1"/>
          </p:cNvPicPr>
          <p:nvPr/>
        </p:nvPicPr>
        <p:blipFill>
          <a:blip r:embed="rId3"/>
          <a:stretch>
            <a:fillRect/>
          </a:stretch>
        </p:blipFill>
        <p:spPr>
          <a:xfrm>
            <a:off x="5064274" y="1700808"/>
            <a:ext cx="3168352" cy="4331819"/>
          </a:xfrm>
          <a:prstGeom prst="rect">
            <a:avLst/>
          </a:prstGeom>
        </p:spPr>
      </p:pic>
      <p:sp>
        <p:nvSpPr>
          <p:cNvPr id="7" name="TextBox 6">
            <a:extLst>
              <a:ext uri="{FF2B5EF4-FFF2-40B4-BE49-F238E27FC236}">
                <a16:creationId xmlns:a16="http://schemas.microsoft.com/office/drawing/2014/main" id="{0566AA22-52E2-48D5-A5B7-EA72A8E1F056}"/>
              </a:ext>
            </a:extLst>
          </p:cNvPr>
          <p:cNvSpPr txBox="1"/>
          <p:nvPr/>
        </p:nvSpPr>
        <p:spPr>
          <a:xfrm>
            <a:off x="122238" y="908720"/>
            <a:ext cx="8899524" cy="707886"/>
          </a:xfrm>
          <a:prstGeom prst="rect">
            <a:avLst/>
          </a:prstGeom>
          <a:noFill/>
        </p:spPr>
        <p:txBody>
          <a:bodyPr wrap="square" rtlCol="0">
            <a:spAutoFit/>
          </a:bodyPr>
          <a:lstStyle/>
          <a:p>
            <a:r>
              <a:rPr lang="en-IN" sz="2000" dirty="0"/>
              <a:t>Write the sequence of control steps needed to add the immediate number to R1 as per the bus structure shown</a:t>
            </a:r>
          </a:p>
        </p:txBody>
      </p:sp>
    </p:spTree>
    <p:extLst>
      <p:ext uri="{BB962C8B-B14F-4D97-AF65-F5344CB8AC3E}">
        <p14:creationId xmlns:p14="http://schemas.microsoft.com/office/powerpoint/2010/main" val="36204714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6EA5-2CEA-4978-AE58-789239AF91AC}"/>
              </a:ext>
            </a:extLst>
          </p:cNvPr>
          <p:cNvSpPr>
            <a:spLocks noGrp="1"/>
          </p:cNvSpPr>
          <p:nvPr>
            <p:ph type="title"/>
          </p:nvPr>
        </p:nvSpPr>
        <p:spPr/>
        <p:txBody>
          <a:bodyPr/>
          <a:lstStyle/>
          <a:p>
            <a:r>
              <a:rPr lang="en-IN" dirty="0"/>
              <a:t>Example</a:t>
            </a:r>
          </a:p>
        </p:txBody>
      </p:sp>
      <p:sp>
        <p:nvSpPr>
          <p:cNvPr id="3" name="Rectangle 2">
            <a:extLst>
              <a:ext uri="{FF2B5EF4-FFF2-40B4-BE49-F238E27FC236}">
                <a16:creationId xmlns:a16="http://schemas.microsoft.com/office/drawing/2014/main" id="{124B41A5-AFCA-43E0-8992-4558D7553334}"/>
              </a:ext>
            </a:extLst>
          </p:cNvPr>
          <p:cNvSpPr/>
          <p:nvPr/>
        </p:nvSpPr>
        <p:spPr>
          <a:xfrm>
            <a:off x="1907704" y="1340768"/>
            <a:ext cx="4572000" cy="3365024"/>
          </a:xfrm>
          <a:prstGeom prst="rect">
            <a:avLst/>
          </a:prstGeom>
        </p:spPr>
        <p:txBody>
          <a:bodyPr>
            <a:spAutoFit/>
          </a:bodyPr>
          <a:lstStyle/>
          <a:p>
            <a:pPr marL="342900" indent="-342900">
              <a:lnSpc>
                <a:spcPct val="150000"/>
              </a:lnSpc>
              <a:buAutoNum type="arabicPeriod"/>
            </a:pPr>
            <a:r>
              <a:rPr lang="en-IN" dirty="0" err="1"/>
              <a:t>PC</a:t>
            </a:r>
            <a:r>
              <a:rPr lang="en-IN" baseline="-25000" dirty="0" err="1"/>
              <a:t>out</a:t>
            </a:r>
            <a:r>
              <a:rPr lang="en-IN" dirty="0"/>
              <a:t>, </a:t>
            </a:r>
            <a:r>
              <a:rPr lang="en-IN" dirty="0" err="1"/>
              <a:t>MAR</a:t>
            </a:r>
            <a:r>
              <a:rPr lang="en-IN" baseline="-25000" dirty="0" err="1"/>
              <a:t>in</a:t>
            </a:r>
            <a:r>
              <a:rPr lang="en-IN" dirty="0"/>
              <a:t>, Read, Select4, Add, Z</a:t>
            </a:r>
            <a:r>
              <a:rPr lang="en-IN" baseline="-25000" dirty="0"/>
              <a:t>in</a:t>
            </a:r>
          </a:p>
          <a:p>
            <a:pPr marL="342900" indent="-342900">
              <a:lnSpc>
                <a:spcPct val="150000"/>
              </a:lnSpc>
              <a:buAutoNum type="arabicPeriod"/>
            </a:pP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r>
              <a:rPr lang="en-IN" dirty="0"/>
              <a:t>, WMFC </a:t>
            </a:r>
          </a:p>
          <a:p>
            <a:pPr marL="342900" indent="-342900">
              <a:lnSpc>
                <a:spcPct val="150000"/>
              </a:lnSpc>
              <a:buAutoNum type="arabicPeriod"/>
            </a:pPr>
            <a:r>
              <a:rPr lang="en-IN" dirty="0" err="1"/>
              <a:t>MDR</a:t>
            </a:r>
            <a:r>
              <a:rPr lang="en-IN" baseline="-25000" dirty="0" err="1"/>
              <a:t>out</a:t>
            </a:r>
            <a:r>
              <a:rPr lang="en-IN" dirty="0"/>
              <a:t>, </a:t>
            </a:r>
            <a:r>
              <a:rPr lang="en-IN" dirty="0" err="1"/>
              <a:t>IR</a:t>
            </a:r>
            <a:r>
              <a:rPr lang="en-IN" baseline="-25000" dirty="0" err="1"/>
              <a:t>in</a:t>
            </a:r>
            <a:r>
              <a:rPr lang="en-IN" dirty="0"/>
              <a:t> </a:t>
            </a:r>
          </a:p>
          <a:p>
            <a:pPr marL="342900" indent="-342900">
              <a:lnSpc>
                <a:spcPct val="150000"/>
              </a:lnSpc>
              <a:buAutoNum type="arabicPeriod"/>
            </a:pPr>
            <a:r>
              <a:rPr lang="en-IN" dirty="0" err="1"/>
              <a:t>P</a:t>
            </a:r>
            <a:r>
              <a:rPr lang="en-IN" baseline="-25000" dirty="0" err="1"/>
              <a:t>Cout</a:t>
            </a:r>
            <a:r>
              <a:rPr lang="en-IN" dirty="0"/>
              <a:t>, </a:t>
            </a:r>
            <a:r>
              <a:rPr lang="en-IN" dirty="0" err="1"/>
              <a:t>MAR</a:t>
            </a:r>
            <a:r>
              <a:rPr lang="en-IN" baseline="-25000" dirty="0" err="1"/>
              <a:t>in</a:t>
            </a:r>
            <a:r>
              <a:rPr lang="en-IN" dirty="0"/>
              <a:t>, Read, Select4, Add, Z</a:t>
            </a:r>
            <a:r>
              <a:rPr lang="en-IN" baseline="-25000" dirty="0"/>
              <a:t>in</a:t>
            </a:r>
          </a:p>
          <a:p>
            <a:pPr marL="342900" indent="-342900">
              <a:lnSpc>
                <a:spcPct val="150000"/>
              </a:lnSpc>
              <a:buAutoNum type="arabicPeriod"/>
            </a:pPr>
            <a:r>
              <a:rPr lang="en-IN" dirty="0" err="1"/>
              <a:t>Z</a:t>
            </a:r>
            <a:r>
              <a:rPr lang="en-IN" baseline="-25000" dirty="0" err="1"/>
              <a:t>out</a:t>
            </a:r>
            <a:r>
              <a:rPr lang="en-IN" dirty="0"/>
              <a:t>, </a:t>
            </a:r>
            <a:r>
              <a:rPr lang="en-IN" dirty="0" err="1"/>
              <a:t>PC</a:t>
            </a:r>
            <a:r>
              <a:rPr lang="en-IN" baseline="-25000" dirty="0" err="1"/>
              <a:t>in</a:t>
            </a:r>
            <a:r>
              <a:rPr lang="en-IN" dirty="0"/>
              <a:t>, Y</a:t>
            </a:r>
            <a:r>
              <a:rPr lang="en-IN" baseline="-25000" dirty="0"/>
              <a:t>in</a:t>
            </a:r>
          </a:p>
          <a:p>
            <a:pPr marL="342900" indent="-342900">
              <a:lnSpc>
                <a:spcPct val="150000"/>
              </a:lnSpc>
              <a:buAutoNum type="arabicPeriod"/>
            </a:pPr>
            <a:r>
              <a:rPr lang="en-IN" dirty="0"/>
              <a:t>R1</a:t>
            </a:r>
            <a:r>
              <a:rPr lang="en-IN" baseline="-25000" dirty="0"/>
              <a:t>out</a:t>
            </a:r>
            <a:r>
              <a:rPr lang="en-IN" dirty="0"/>
              <a:t>, Y</a:t>
            </a:r>
            <a:r>
              <a:rPr lang="en-IN" baseline="-25000" dirty="0"/>
              <a:t>in</a:t>
            </a:r>
            <a:r>
              <a:rPr lang="en-IN" dirty="0"/>
              <a:t>, WMFC</a:t>
            </a:r>
          </a:p>
          <a:p>
            <a:pPr marL="342900" indent="-342900">
              <a:lnSpc>
                <a:spcPct val="150000"/>
              </a:lnSpc>
              <a:buAutoNum type="arabicPeriod"/>
            </a:pPr>
            <a:r>
              <a:rPr lang="en-IN" dirty="0" err="1"/>
              <a:t>MDR</a:t>
            </a:r>
            <a:r>
              <a:rPr lang="en-IN" baseline="-25000" dirty="0" err="1"/>
              <a:t>out</a:t>
            </a:r>
            <a:r>
              <a:rPr lang="en-IN" dirty="0"/>
              <a:t>, </a:t>
            </a:r>
            <a:r>
              <a:rPr lang="en-IN" dirty="0" err="1"/>
              <a:t>SelectY</a:t>
            </a:r>
            <a:r>
              <a:rPr lang="en-IN" dirty="0"/>
              <a:t>, Add, Z</a:t>
            </a:r>
            <a:r>
              <a:rPr lang="en-IN" baseline="-25000" dirty="0"/>
              <a:t>in</a:t>
            </a:r>
          </a:p>
          <a:p>
            <a:pPr marL="342900" indent="-342900">
              <a:lnSpc>
                <a:spcPct val="150000"/>
              </a:lnSpc>
              <a:buAutoNum type="arabicPeriod"/>
            </a:pPr>
            <a:r>
              <a:rPr lang="en-IN" dirty="0" err="1"/>
              <a:t>Z</a:t>
            </a:r>
            <a:r>
              <a:rPr lang="en-IN" baseline="-25000" dirty="0" err="1"/>
              <a:t>out</a:t>
            </a:r>
            <a:r>
              <a:rPr lang="en-IN" dirty="0"/>
              <a:t>, R1</a:t>
            </a:r>
            <a:r>
              <a:rPr lang="en-IN" baseline="-25000" dirty="0"/>
              <a:t>in</a:t>
            </a:r>
            <a:r>
              <a:rPr lang="en-IN" dirty="0"/>
              <a:t>, End</a:t>
            </a:r>
          </a:p>
        </p:txBody>
      </p:sp>
    </p:spTree>
    <p:extLst>
      <p:ext uri="{BB962C8B-B14F-4D97-AF65-F5344CB8AC3E}">
        <p14:creationId xmlns:p14="http://schemas.microsoft.com/office/powerpoint/2010/main" val="4182862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p:txBody>
          <a:bodyPr/>
          <a:lstStyle/>
          <a:p>
            <a:r>
              <a:rPr lang="en-GB" altLang="en-US" sz="2400" dirty="0"/>
              <a:t>Execute Cycle (ISZ)</a:t>
            </a:r>
            <a:endParaRPr lang="en-IN" sz="2400" b="0" dirty="0"/>
          </a:p>
        </p:txBody>
      </p:sp>
      <p:sp>
        <p:nvSpPr>
          <p:cNvPr id="6" name="Rectangle 3">
            <a:extLst>
              <a:ext uri="{FF2B5EF4-FFF2-40B4-BE49-F238E27FC236}">
                <a16:creationId xmlns:a16="http://schemas.microsoft.com/office/drawing/2014/main" id="{1BB5C256-96EF-4929-AC48-47A89C17723F}"/>
              </a:ext>
            </a:extLst>
          </p:cNvPr>
          <p:cNvSpPr txBox="1">
            <a:spLocks noChangeArrowheads="1"/>
          </p:cNvSpPr>
          <p:nvPr/>
        </p:nvSpPr>
        <p:spPr>
          <a:xfrm>
            <a:off x="457200" y="106680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ISZ X - increment and skip if zero</a:t>
            </a:r>
          </a:p>
          <a:p>
            <a:pPr>
              <a:lnSpc>
                <a:spcPct val="150000"/>
              </a:lnSpc>
            </a:pPr>
            <a:r>
              <a:rPr lang="en-US" sz="2000" dirty="0"/>
              <a:t>The content of location X is incremented by 1. If the result is 0, the next instruction is skipped. A possible sequence of micro-operations is</a:t>
            </a:r>
            <a:endParaRPr lang="en-GB" altLang="en-US" sz="2000" kern="0" dirty="0"/>
          </a:p>
          <a:p>
            <a:pPr lvl="1">
              <a:lnSpc>
                <a:spcPct val="150000"/>
              </a:lnSpc>
            </a:pPr>
            <a:r>
              <a:rPr lang="en-GB" altLang="en-US" sz="2000" kern="0" dirty="0"/>
              <a:t>t1:	MAR &lt;- (</a:t>
            </a:r>
            <a:r>
              <a:rPr lang="en-GB" altLang="en-US" sz="2000" kern="0" dirty="0" err="1"/>
              <a:t>IR</a:t>
            </a:r>
            <a:r>
              <a:rPr lang="en-GB" altLang="en-US" sz="2000" kern="0" baseline="-25000" dirty="0" err="1"/>
              <a:t>address</a:t>
            </a:r>
            <a:r>
              <a:rPr lang="en-GB" altLang="en-US" sz="2000" kern="0" dirty="0"/>
              <a:t>)</a:t>
            </a:r>
          </a:p>
          <a:p>
            <a:pPr lvl="1">
              <a:lnSpc>
                <a:spcPct val="150000"/>
              </a:lnSpc>
            </a:pPr>
            <a:r>
              <a:rPr lang="en-GB" altLang="en-US" sz="2000" kern="0" dirty="0"/>
              <a:t>t2:	MBR &lt;- (memory)</a:t>
            </a:r>
          </a:p>
          <a:p>
            <a:pPr lvl="1">
              <a:lnSpc>
                <a:spcPct val="150000"/>
              </a:lnSpc>
            </a:pPr>
            <a:r>
              <a:rPr lang="en-GB" altLang="en-US" sz="2000" kern="0" dirty="0"/>
              <a:t>t3:	MBR &lt;- (MBR) + 1</a:t>
            </a:r>
          </a:p>
          <a:p>
            <a:pPr lvl="1">
              <a:lnSpc>
                <a:spcPct val="150000"/>
              </a:lnSpc>
            </a:pPr>
            <a:r>
              <a:rPr lang="en-GB" altLang="en-US" sz="2000" kern="0" dirty="0"/>
              <a:t>t4:	memory &lt;- (MBR)</a:t>
            </a:r>
          </a:p>
          <a:p>
            <a:pPr lvl="1">
              <a:lnSpc>
                <a:spcPct val="150000"/>
              </a:lnSpc>
            </a:pPr>
            <a:r>
              <a:rPr lang="en-GB" altLang="en-US" sz="2000" kern="0" dirty="0"/>
              <a:t> 		if (MBR) == 0 then PC &lt;- (PC) + 1</a:t>
            </a:r>
          </a:p>
          <a:p>
            <a:pPr>
              <a:lnSpc>
                <a:spcPct val="150000"/>
              </a:lnSpc>
            </a:pPr>
            <a:r>
              <a:rPr lang="en-GB" altLang="en-US" sz="2000" kern="0" dirty="0"/>
              <a:t>Notes:</a:t>
            </a:r>
          </a:p>
          <a:p>
            <a:pPr lvl="1">
              <a:lnSpc>
                <a:spcPct val="150000"/>
              </a:lnSpc>
            </a:pPr>
            <a:r>
              <a:rPr lang="en-GB" altLang="en-US" sz="2000" kern="0" dirty="0"/>
              <a:t>if is a single micro-operation</a:t>
            </a:r>
          </a:p>
          <a:p>
            <a:pPr lvl="1">
              <a:lnSpc>
                <a:spcPct val="150000"/>
              </a:lnSpc>
            </a:pPr>
            <a:r>
              <a:rPr lang="en-GB" altLang="en-US" sz="2000" kern="0" dirty="0"/>
              <a:t>Micro-operations done during t4</a:t>
            </a:r>
          </a:p>
        </p:txBody>
      </p:sp>
    </p:spTree>
    <p:extLst>
      <p:ext uri="{BB962C8B-B14F-4D97-AF65-F5344CB8AC3E}">
        <p14:creationId xmlns:p14="http://schemas.microsoft.com/office/powerpoint/2010/main" val="4218934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0FF37-4337-4B71-B898-6A6BAC9C0E80}"/>
              </a:ext>
            </a:extLst>
          </p:cNvPr>
          <p:cNvSpPr>
            <a:spLocks noGrp="1"/>
          </p:cNvSpPr>
          <p:nvPr>
            <p:ph type="title"/>
          </p:nvPr>
        </p:nvSpPr>
        <p:spPr>
          <a:xfrm>
            <a:off x="122238" y="-27384"/>
            <a:ext cx="6526212" cy="596900"/>
          </a:xfrm>
        </p:spPr>
        <p:txBody>
          <a:bodyPr/>
          <a:lstStyle/>
          <a:p>
            <a:r>
              <a:rPr lang="en-GB" altLang="en-US" sz="2400" dirty="0"/>
              <a:t>Execute Cycle (BSA)</a:t>
            </a:r>
            <a:endParaRPr lang="en-IN" sz="2400" b="0" dirty="0"/>
          </a:p>
        </p:txBody>
      </p:sp>
      <p:sp>
        <p:nvSpPr>
          <p:cNvPr id="5" name="Rectangle 3">
            <a:extLst>
              <a:ext uri="{FF2B5EF4-FFF2-40B4-BE49-F238E27FC236}">
                <a16:creationId xmlns:a16="http://schemas.microsoft.com/office/drawing/2014/main" id="{C6BB0F99-8553-443F-9421-07D302CE4EDA}"/>
              </a:ext>
            </a:extLst>
          </p:cNvPr>
          <p:cNvSpPr txBox="1">
            <a:spLocks noChangeArrowheads="1"/>
          </p:cNvSpPr>
          <p:nvPr/>
        </p:nvSpPr>
        <p:spPr>
          <a:xfrm>
            <a:off x="457200" y="908720"/>
            <a:ext cx="8178800" cy="5638800"/>
          </a:xfrm>
          <a:prstGeom prst="rect">
            <a:avLst/>
          </a:prstGeom>
        </p:spPr>
        <p:txBody>
          <a:bodyPr/>
          <a:lst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sz="2000" kern="0" dirty="0"/>
              <a:t>BSA X - Branch and save address</a:t>
            </a:r>
          </a:p>
          <a:p>
            <a:pPr lvl="1">
              <a:lnSpc>
                <a:spcPct val="150000"/>
              </a:lnSpc>
            </a:pPr>
            <a:r>
              <a:rPr lang="en-GB" altLang="en-US" sz="2000" kern="0" dirty="0"/>
              <a:t>Address of instruction following BSA is saved in X</a:t>
            </a:r>
          </a:p>
          <a:p>
            <a:pPr lvl="1">
              <a:lnSpc>
                <a:spcPct val="150000"/>
              </a:lnSpc>
            </a:pPr>
            <a:r>
              <a:rPr lang="en-GB" altLang="en-US" sz="2000" kern="0" dirty="0"/>
              <a:t>Execution continues from X+1</a:t>
            </a:r>
          </a:p>
          <a:p>
            <a:pPr lvl="1">
              <a:lnSpc>
                <a:spcPct val="150000"/>
              </a:lnSpc>
            </a:pPr>
            <a:r>
              <a:rPr lang="en-GB" altLang="en-US" sz="2000" kern="0" dirty="0"/>
              <a:t>t1:	MAR &lt;- (</a:t>
            </a:r>
            <a:r>
              <a:rPr lang="en-GB" altLang="en-US" sz="2000" kern="0" dirty="0" err="1"/>
              <a:t>IR</a:t>
            </a:r>
            <a:r>
              <a:rPr lang="en-GB" altLang="en-US" sz="2000" kern="0" baseline="-25000" dirty="0" err="1"/>
              <a:t>address</a:t>
            </a:r>
            <a:r>
              <a:rPr lang="en-GB" altLang="en-US" sz="2000" kern="0" dirty="0"/>
              <a:t>)</a:t>
            </a:r>
          </a:p>
          <a:p>
            <a:pPr lvl="1">
              <a:lnSpc>
                <a:spcPct val="150000"/>
              </a:lnSpc>
            </a:pPr>
            <a:r>
              <a:rPr lang="en-GB" altLang="en-US" sz="2000" kern="0" dirty="0"/>
              <a:t> 		MBR &lt;- (PC)</a:t>
            </a:r>
          </a:p>
          <a:p>
            <a:pPr lvl="1">
              <a:lnSpc>
                <a:spcPct val="150000"/>
              </a:lnSpc>
            </a:pPr>
            <a:r>
              <a:rPr lang="en-GB" altLang="en-US" sz="2000" kern="0" dirty="0"/>
              <a:t>t2:	PC &lt;- (</a:t>
            </a:r>
            <a:r>
              <a:rPr lang="en-GB" altLang="en-US" sz="2000" kern="0" dirty="0" err="1"/>
              <a:t>IR</a:t>
            </a:r>
            <a:r>
              <a:rPr lang="en-GB" altLang="en-US" sz="2000" kern="0" baseline="-25000" dirty="0" err="1"/>
              <a:t>address</a:t>
            </a:r>
            <a:r>
              <a:rPr lang="en-GB" altLang="en-US" sz="2000" kern="0" dirty="0"/>
              <a:t>)</a:t>
            </a:r>
          </a:p>
          <a:p>
            <a:pPr lvl="1">
              <a:lnSpc>
                <a:spcPct val="150000"/>
              </a:lnSpc>
            </a:pPr>
            <a:r>
              <a:rPr lang="en-GB" altLang="en-US" sz="2000" kern="0" dirty="0"/>
              <a:t> 		memory &lt;- (MBR)</a:t>
            </a:r>
          </a:p>
          <a:p>
            <a:pPr lvl="1">
              <a:lnSpc>
                <a:spcPct val="150000"/>
              </a:lnSpc>
            </a:pPr>
            <a:r>
              <a:rPr lang="en-GB" altLang="en-US" sz="2000" kern="0" dirty="0"/>
              <a:t>t3:	PC &lt;- (PC) + 1</a:t>
            </a:r>
          </a:p>
        </p:txBody>
      </p:sp>
      <p:sp>
        <p:nvSpPr>
          <p:cNvPr id="3" name="Rectangle 2">
            <a:extLst>
              <a:ext uri="{FF2B5EF4-FFF2-40B4-BE49-F238E27FC236}">
                <a16:creationId xmlns:a16="http://schemas.microsoft.com/office/drawing/2014/main" id="{4959B1D5-354C-4158-81CC-94684E40B57B}"/>
              </a:ext>
            </a:extLst>
          </p:cNvPr>
          <p:cNvSpPr/>
          <p:nvPr/>
        </p:nvSpPr>
        <p:spPr>
          <a:xfrm>
            <a:off x="122238" y="4827920"/>
            <a:ext cx="9202290" cy="1287532"/>
          </a:xfrm>
          <a:prstGeom prst="rect">
            <a:avLst/>
          </a:prstGeom>
        </p:spPr>
        <p:txBody>
          <a:bodyPr wrap="square">
            <a:spAutoFit/>
          </a:bodyPr>
          <a:lstStyle/>
          <a:p>
            <a:pPr>
              <a:lnSpc>
                <a:spcPct val="150000"/>
              </a:lnSpc>
            </a:pPr>
            <a:r>
              <a:rPr lang="en-US" dirty="0"/>
              <a:t>The address in the PC at the start of the instruction is the address of the next instruction in sequence. This is saved at the address designated in the IR. The latter address is also incremented to provide the address of the instruction for the next instruction cycle</a:t>
            </a:r>
            <a:endParaRPr lang="en-IN" dirty="0"/>
          </a:p>
        </p:txBody>
      </p:sp>
    </p:spTree>
    <p:extLst>
      <p:ext uri="{BB962C8B-B14F-4D97-AF65-F5344CB8AC3E}">
        <p14:creationId xmlns:p14="http://schemas.microsoft.com/office/powerpoint/2010/main" val="3431503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0788E-EB7F-4411-9B75-5DB7CE3B7067}"/>
              </a:ext>
            </a:extLst>
          </p:cNvPr>
          <p:cNvSpPr>
            <a:spLocks noGrp="1"/>
          </p:cNvSpPr>
          <p:nvPr>
            <p:ph type="title"/>
          </p:nvPr>
        </p:nvSpPr>
        <p:spPr/>
        <p:txBody>
          <a:bodyPr/>
          <a:lstStyle/>
          <a:p>
            <a:r>
              <a:rPr lang="en-US" altLang="en-US" sz="2800" b="0" dirty="0"/>
              <a:t>Multiple-Bus Organization</a:t>
            </a:r>
            <a:endParaRPr lang="en-IN" sz="2800" b="0" dirty="0"/>
          </a:p>
        </p:txBody>
      </p:sp>
      <p:pic>
        <p:nvPicPr>
          <p:cNvPr id="3" name="Picture 2">
            <a:extLst>
              <a:ext uri="{FF2B5EF4-FFF2-40B4-BE49-F238E27FC236}">
                <a16:creationId xmlns:a16="http://schemas.microsoft.com/office/drawing/2014/main" id="{456F6F31-332A-45DC-9BD1-84F3DF1B362B}"/>
              </a:ext>
            </a:extLst>
          </p:cNvPr>
          <p:cNvPicPr>
            <a:picLocks noChangeAspect="1"/>
          </p:cNvPicPr>
          <p:nvPr/>
        </p:nvPicPr>
        <p:blipFill>
          <a:blip r:embed="rId2"/>
          <a:stretch>
            <a:fillRect/>
          </a:stretch>
        </p:blipFill>
        <p:spPr>
          <a:xfrm>
            <a:off x="122238" y="908720"/>
            <a:ext cx="4737794" cy="5661249"/>
          </a:xfrm>
          <a:prstGeom prst="rect">
            <a:avLst/>
          </a:prstGeom>
        </p:spPr>
      </p:pic>
      <p:sp>
        <p:nvSpPr>
          <p:cNvPr id="4" name="Text Box 6">
            <a:extLst>
              <a:ext uri="{FF2B5EF4-FFF2-40B4-BE49-F238E27FC236}">
                <a16:creationId xmlns:a16="http://schemas.microsoft.com/office/drawing/2014/main" id="{3B598948-E2B1-4B15-93D3-9D3F1261558F}"/>
              </a:ext>
            </a:extLst>
          </p:cNvPr>
          <p:cNvSpPr txBox="1">
            <a:spLocks noChangeArrowheads="1"/>
          </p:cNvSpPr>
          <p:nvPr/>
        </p:nvSpPr>
        <p:spPr bwMode="auto">
          <a:xfrm>
            <a:off x="5148064" y="908720"/>
            <a:ext cx="3888432" cy="516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lnSpc>
                <a:spcPct val="150000"/>
              </a:lnSpc>
              <a:spcBef>
                <a:spcPct val="50000"/>
              </a:spcBef>
              <a:buFontTx/>
              <a:buChar char="•"/>
            </a:pPr>
            <a:r>
              <a:rPr lang="en-US" altLang="en-US" dirty="0"/>
              <a:t> Allow the contents of two different registers to be accessed simultaneously and have their contents placed on buses A and B.</a:t>
            </a:r>
          </a:p>
          <a:p>
            <a:pPr algn="l" eaLnBrk="1" hangingPunct="1">
              <a:lnSpc>
                <a:spcPct val="150000"/>
              </a:lnSpc>
              <a:spcBef>
                <a:spcPct val="50000"/>
              </a:spcBef>
              <a:buFontTx/>
              <a:buChar char="•"/>
            </a:pPr>
            <a:r>
              <a:rPr lang="en-US" altLang="en-US" dirty="0"/>
              <a:t> Allow the data on bus C to be loaded into a third register during the same clock cycle.</a:t>
            </a:r>
          </a:p>
          <a:p>
            <a:pPr algn="l" eaLnBrk="1" hangingPunct="1">
              <a:lnSpc>
                <a:spcPct val="150000"/>
              </a:lnSpc>
              <a:spcBef>
                <a:spcPct val="50000"/>
              </a:spcBef>
              <a:buFontTx/>
              <a:buChar char="•"/>
            </a:pPr>
            <a:r>
              <a:rPr lang="en-US" altLang="en-US" dirty="0"/>
              <a:t> </a:t>
            </a:r>
            <a:r>
              <a:rPr lang="en-US" altLang="en-US" dirty="0" err="1"/>
              <a:t>Incrementer</a:t>
            </a:r>
            <a:r>
              <a:rPr lang="en-US" altLang="en-US" dirty="0"/>
              <a:t> unit.</a:t>
            </a:r>
          </a:p>
          <a:p>
            <a:pPr algn="l" eaLnBrk="1" hangingPunct="1">
              <a:lnSpc>
                <a:spcPct val="150000"/>
              </a:lnSpc>
              <a:spcBef>
                <a:spcPct val="50000"/>
              </a:spcBef>
              <a:buFontTx/>
              <a:buChar char="•"/>
            </a:pPr>
            <a:r>
              <a:rPr lang="en-US" altLang="en-US" dirty="0"/>
              <a:t> ALU simply passes one of its two input operands unmodified to bus C</a:t>
            </a:r>
          </a:p>
          <a:p>
            <a:pPr algn="l" eaLnBrk="1" hangingPunct="1">
              <a:lnSpc>
                <a:spcPct val="150000"/>
              </a:lnSpc>
              <a:spcBef>
                <a:spcPct val="50000"/>
              </a:spcBef>
            </a:pPr>
            <a:r>
              <a:rPr lang="en-US" altLang="en-US" dirty="0">
                <a:sym typeface="Wingdings" panose="05000000000000000000" pitchFamily="2" charset="2"/>
              </a:rPr>
              <a:t> </a:t>
            </a:r>
            <a:r>
              <a:rPr lang="en-US" altLang="en-US" dirty="0"/>
              <a:t>control signal: R=A or R=B</a:t>
            </a:r>
          </a:p>
        </p:txBody>
      </p:sp>
    </p:spTree>
    <p:extLst>
      <p:ext uri="{BB962C8B-B14F-4D97-AF65-F5344CB8AC3E}">
        <p14:creationId xmlns:p14="http://schemas.microsoft.com/office/powerpoint/2010/main" val="9311481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38FB8-2EC5-457F-955E-AFEA1B31DD05}"/>
              </a:ext>
            </a:extLst>
          </p:cNvPr>
          <p:cNvSpPr>
            <a:spLocks noGrp="1"/>
          </p:cNvSpPr>
          <p:nvPr>
            <p:ph type="title"/>
          </p:nvPr>
        </p:nvSpPr>
        <p:spPr>
          <a:xfrm>
            <a:off x="122238" y="527844"/>
            <a:ext cx="6526212" cy="596900"/>
          </a:xfrm>
        </p:spPr>
        <p:txBody>
          <a:bodyPr/>
          <a:lstStyle/>
          <a:p>
            <a:pPr algn="ctr"/>
            <a:r>
              <a:rPr lang="en-US" altLang="en-US" sz="2400" b="0" dirty="0">
                <a:solidFill>
                  <a:srgbClr val="FF0000"/>
                </a:solidFill>
              </a:rPr>
              <a:t>Add R6, R4, R5 </a:t>
            </a:r>
            <a:br>
              <a:rPr lang="en-US" altLang="en-US" sz="2400" b="0" dirty="0">
                <a:solidFill>
                  <a:srgbClr val="FF0000"/>
                </a:solidFill>
              </a:rPr>
            </a:br>
            <a:endParaRPr lang="en-IN" sz="2400" b="0" dirty="0">
              <a:solidFill>
                <a:srgbClr val="FF0000"/>
              </a:solidFill>
            </a:endParaRPr>
          </a:p>
        </p:txBody>
      </p:sp>
      <p:sp>
        <p:nvSpPr>
          <p:cNvPr id="3" name="Rectangle 4">
            <a:extLst>
              <a:ext uri="{FF2B5EF4-FFF2-40B4-BE49-F238E27FC236}">
                <a16:creationId xmlns:a16="http://schemas.microsoft.com/office/drawing/2014/main" id="{75147BC7-6A3C-486F-BB7A-DB850EFB2459}"/>
              </a:ext>
            </a:extLst>
          </p:cNvPr>
          <p:cNvSpPr>
            <a:spLocks noChangeArrowheads="1"/>
          </p:cNvSpPr>
          <p:nvPr/>
        </p:nvSpPr>
        <p:spPr bwMode="auto">
          <a:xfrm>
            <a:off x="2013297" y="2362200"/>
            <a:ext cx="5006975" cy="1588"/>
          </a:xfrm>
          <a:prstGeom prst="rect">
            <a:avLst/>
          </a:prstGeom>
          <a:solidFill>
            <a:srgbClr val="000000"/>
          </a:solidFill>
          <a:ln w="0">
            <a:solidFill>
              <a:srgbClr val="000000"/>
            </a:solidFill>
            <a:miter lim="800000"/>
            <a:headEnd/>
            <a:tailEnd/>
          </a:ln>
        </p:spPr>
        <p:txBody>
          <a:bodyPr/>
          <a:lstStyle/>
          <a:p>
            <a:endParaRPr lang="en-IN"/>
          </a:p>
        </p:txBody>
      </p:sp>
      <p:sp>
        <p:nvSpPr>
          <p:cNvPr id="4" name="Rectangle 5">
            <a:extLst>
              <a:ext uri="{FF2B5EF4-FFF2-40B4-BE49-F238E27FC236}">
                <a16:creationId xmlns:a16="http://schemas.microsoft.com/office/drawing/2014/main" id="{704E4705-F6EE-447B-A850-BC839D56A02E}"/>
              </a:ext>
            </a:extLst>
          </p:cNvPr>
          <p:cNvSpPr>
            <a:spLocks noChangeArrowheads="1"/>
          </p:cNvSpPr>
          <p:nvPr/>
        </p:nvSpPr>
        <p:spPr bwMode="auto">
          <a:xfrm>
            <a:off x="2013297" y="2608263"/>
            <a:ext cx="495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b="1">
                <a:solidFill>
                  <a:srgbClr val="000000"/>
                </a:solidFill>
                <a:latin typeface="Computer Modern" charset="0"/>
              </a:rPr>
              <a:t>Step</a:t>
            </a:r>
            <a:endParaRPr lang="en-CA" altLang="en-US" sz="2400">
              <a:latin typeface="Times New Roman" panose="02020603050405020304" pitchFamily="18" charset="0"/>
            </a:endParaRPr>
          </a:p>
        </p:txBody>
      </p:sp>
      <p:sp>
        <p:nvSpPr>
          <p:cNvPr id="5" name="Rectangle 6">
            <a:extLst>
              <a:ext uri="{FF2B5EF4-FFF2-40B4-BE49-F238E27FC236}">
                <a16:creationId xmlns:a16="http://schemas.microsoft.com/office/drawing/2014/main" id="{96E12D54-1D4A-46BF-938A-3D4BE6A5A359}"/>
              </a:ext>
            </a:extLst>
          </p:cNvPr>
          <p:cNvSpPr>
            <a:spLocks noChangeArrowheads="1"/>
          </p:cNvSpPr>
          <p:nvPr/>
        </p:nvSpPr>
        <p:spPr bwMode="auto">
          <a:xfrm>
            <a:off x="2565747" y="2608263"/>
            <a:ext cx="711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b="1">
                <a:solidFill>
                  <a:srgbClr val="000000"/>
                </a:solidFill>
                <a:latin typeface="Computer Modern" charset="0"/>
              </a:rPr>
              <a:t>Action</a:t>
            </a:r>
            <a:endParaRPr lang="en-CA" altLang="en-US" sz="2400">
              <a:latin typeface="Times New Roman" panose="02020603050405020304" pitchFamily="18" charset="0"/>
            </a:endParaRPr>
          </a:p>
        </p:txBody>
      </p:sp>
      <p:sp>
        <p:nvSpPr>
          <p:cNvPr id="6" name="Rectangle 7">
            <a:extLst>
              <a:ext uri="{FF2B5EF4-FFF2-40B4-BE49-F238E27FC236}">
                <a16:creationId xmlns:a16="http://schemas.microsoft.com/office/drawing/2014/main" id="{064B8349-9B34-47CE-B770-19ABAC57C45A}"/>
              </a:ext>
            </a:extLst>
          </p:cNvPr>
          <p:cNvSpPr>
            <a:spLocks noChangeArrowheads="1"/>
          </p:cNvSpPr>
          <p:nvPr/>
        </p:nvSpPr>
        <p:spPr bwMode="auto">
          <a:xfrm>
            <a:off x="2013297" y="3144838"/>
            <a:ext cx="5006975" cy="1587"/>
          </a:xfrm>
          <a:prstGeom prst="rect">
            <a:avLst/>
          </a:prstGeom>
          <a:solidFill>
            <a:srgbClr val="000000"/>
          </a:solidFill>
          <a:ln w="0">
            <a:solidFill>
              <a:srgbClr val="000000"/>
            </a:solidFill>
            <a:miter lim="800000"/>
            <a:headEnd/>
            <a:tailEnd/>
          </a:ln>
        </p:spPr>
        <p:txBody>
          <a:bodyPr/>
          <a:lstStyle/>
          <a:p>
            <a:endParaRPr lang="en-IN"/>
          </a:p>
        </p:txBody>
      </p:sp>
      <p:sp>
        <p:nvSpPr>
          <p:cNvPr id="7" name="Rectangle 8">
            <a:extLst>
              <a:ext uri="{FF2B5EF4-FFF2-40B4-BE49-F238E27FC236}">
                <a16:creationId xmlns:a16="http://schemas.microsoft.com/office/drawing/2014/main" id="{B3E78D83-A8F3-454B-AB74-284C42DAF65B}"/>
              </a:ext>
            </a:extLst>
          </p:cNvPr>
          <p:cNvSpPr>
            <a:spLocks noChangeArrowheads="1"/>
          </p:cNvSpPr>
          <p:nvPr/>
        </p:nvSpPr>
        <p:spPr bwMode="auto">
          <a:xfrm>
            <a:off x="2013297" y="3238500"/>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1</a:t>
            </a:r>
            <a:endParaRPr lang="en-CA" altLang="en-US" sz="2400">
              <a:latin typeface="Times New Roman" panose="02020603050405020304" pitchFamily="18" charset="0"/>
            </a:endParaRPr>
          </a:p>
        </p:txBody>
      </p:sp>
      <p:sp>
        <p:nvSpPr>
          <p:cNvPr id="8" name="Rectangle 9">
            <a:extLst>
              <a:ext uri="{FF2B5EF4-FFF2-40B4-BE49-F238E27FC236}">
                <a16:creationId xmlns:a16="http://schemas.microsoft.com/office/drawing/2014/main" id="{640C3799-F45F-4C4E-8969-61983E4511A4}"/>
              </a:ext>
            </a:extLst>
          </p:cNvPr>
          <p:cNvSpPr>
            <a:spLocks noChangeArrowheads="1"/>
          </p:cNvSpPr>
          <p:nvPr/>
        </p:nvSpPr>
        <p:spPr bwMode="auto">
          <a:xfrm>
            <a:off x="2832447" y="3238500"/>
            <a:ext cx="317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PC</a:t>
            </a:r>
            <a:endParaRPr lang="en-CA" altLang="en-US" sz="2400">
              <a:latin typeface="Times New Roman" panose="02020603050405020304" pitchFamily="18" charset="0"/>
            </a:endParaRPr>
          </a:p>
        </p:txBody>
      </p:sp>
      <p:sp>
        <p:nvSpPr>
          <p:cNvPr id="9" name="Rectangle 10">
            <a:extLst>
              <a:ext uri="{FF2B5EF4-FFF2-40B4-BE49-F238E27FC236}">
                <a16:creationId xmlns:a16="http://schemas.microsoft.com/office/drawing/2014/main" id="{E0A2DCAC-D64B-49E6-853B-21033DF9F860}"/>
              </a:ext>
            </a:extLst>
          </p:cNvPr>
          <p:cNvSpPr>
            <a:spLocks noChangeArrowheads="1"/>
          </p:cNvSpPr>
          <p:nvPr/>
        </p:nvSpPr>
        <p:spPr bwMode="auto">
          <a:xfrm>
            <a:off x="3121372" y="3365500"/>
            <a:ext cx="2301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10" name="Rectangle 11">
            <a:extLst>
              <a:ext uri="{FF2B5EF4-FFF2-40B4-BE49-F238E27FC236}">
                <a16:creationId xmlns:a16="http://schemas.microsoft.com/office/drawing/2014/main" id="{19AB9679-2184-48E7-931E-D14871DCC275}"/>
              </a:ext>
            </a:extLst>
          </p:cNvPr>
          <p:cNvSpPr>
            <a:spLocks noChangeArrowheads="1"/>
          </p:cNvSpPr>
          <p:nvPr/>
        </p:nvSpPr>
        <p:spPr bwMode="auto">
          <a:xfrm>
            <a:off x="3354734" y="323850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11" name="Rectangle 12">
            <a:extLst>
              <a:ext uri="{FF2B5EF4-FFF2-40B4-BE49-F238E27FC236}">
                <a16:creationId xmlns:a16="http://schemas.microsoft.com/office/drawing/2014/main" id="{D45426FF-E596-465A-A73E-E98207B1C071}"/>
              </a:ext>
            </a:extLst>
          </p:cNvPr>
          <p:cNvSpPr>
            <a:spLocks noChangeArrowheads="1"/>
          </p:cNvSpPr>
          <p:nvPr/>
        </p:nvSpPr>
        <p:spPr bwMode="auto">
          <a:xfrm>
            <a:off x="3581747" y="3238500"/>
            <a:ext cx="514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R=B,</a:t>
            </a:r>
            <a:endParaRPr lang="en-CA" altLang="en-US" sz="2400">
              <a:latin typeface="Times New Roman" panose="02020603050405020304" pitchFamily="18" charset="0"/>
            </a:endParaRPr>
          </a:p>
        </p:txBody>
      </p:sp>
      <p:sp>
        <p:nvSpPr>
          <p:cNvPr id="12" name="Rectangle 13">
            <a:extLst>
              <a:ext uri="{FF2B5EF4-FFF2-40B4-BE49-F238E27FC236}">
                <a16:creationId xmlns:a16="http://schemas.microsoft.com/office/drawing/2014/main" id="{4DCBEEA2-AC32-4A8B-83FF-BE86334BDC67}"/>
              </a:ext>
            </a:extLst>
          </p:cNvPr>
          <p:cNvSpPr>
            <a:spLocks noChangeArrowheads="1"/>
          </p:cNvSpPr>
          <p:nvPr/>
        </p:nvSpPr>
        <p:spPr bwMode="auto">
          <a:xfrm>
            <a:off x="4235797" y="3238500"/>
            <a:ext cx="508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MAR</a:t>
            </a:r>
            <a:endParaRPr lang="en-CA" altLang="en-US" sz="2400">
              <a:latin typeface="Times New Roman" panose="02020603050405020304" pitchFamily="18" charset="0"/>
            </a:endParaRPr>
          </a:p>
        </p:txBody>
      </p:sp>
      <p:sp>
        <p:nvSpPr>
          <p:cNvPr id="13" name="Rectangle 14">
            <a:extLst>
              <a:ext uri="{FF2B5EF4-FFF2-40B4-BE49-F238E27FC236}">
                <a16:creationId xmlns:a16="http://schemas.microsoft.com/office/drawing/2014/main" id="{1E1A546A-282F-42D8-9949-C234EE4577A6}"/>
              </a:ext>
            </a:extLst>
          </p:cNvPr>
          <p:cNvSpPr>
            <a:spLocks noChangeArrowheads="1"/>
          </p:cNvSpPr>
          <p:nvPr/>
        </p:nvSpPr>
        <p:spPr bwMode="auto">
          <a:xfrm>
            <a:off x="4778722" y="3365500"/>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4" name="Rectangle 15">
            <a:extLst>
              <a:ext uri="{FF2B5EF4-FFF2-40B4-BE49-F238E27FC236}">
                <a16:creationId xmlns:a16="http://schemas.microsoft.com/office/drawing/2014/main" id="{6BC32CA7-D3CF-431F-BEEE-D91ABB9A6A31}"/>
              </a:ext>
            </a:extLst>
          </p:cNvPr>
          <p:cNvSpPr>
            <a:spLocks noChangeArrowheads="1"/>
          </p:cNvSpPr>
          <p:nvPr/>
        </p:nvSpPr>
        <p:spPr bwMode="auto">
          <a:xfrm>
            <a:off x="4932709" y="323850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15" name="Rectangle 16">
            <a:extLst>
              <a:ext uri="{FF2B5EF4-FFF2-40B4-BE49-F238E27FC236}">
                <a16:creationId xmlns:a16="http://schemas.microsoft.com/office/drawing/2014/main" id="{4AF879E9-D770-449D-BB3C-A46C2FD9A7B7}"/>
              </a:ext>
            </a:extLst>
          </p:cNvPr>
          <p:cNvSpPr>
            <a:spLocks noChangeArrowheads="1"/>
          </p:cNvSpPr>
          <p:nvPr/>
        </p:nvSpPr>
        <p:spPr bwMode="auto">
          <a:xfrm>
            <a:off x="5100984" y="3238500"/>
            <a:ext cx="609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Read,</a:t>
            </a:r>
            <a:endParaRPr lang="en-CA" altLang="en-US" sz="2400">
              <a:latin typeface="Times New Roman" panose="02020603050405020304" pitchFamily="18" charset="0"/>
            </a:endParaRPr>
          </a:p>
        </p:txBody>
      </p:sp>
      <p:sp>
        <p:nvSpPr>
          <p:cNvPr id="16" name="Rectangle 17">
            <a:extLst>
              <a:ext uri="{FF2B5EF4-FFF2-40B4-BE49-F238E27FC236}">
                <a16:creationId xmlns:a16="http://schemas.microsoft.com/office/drawing/2014/main" id="{0E8D5E57-2C8C-454E-B9FA-FD5491E334E9}"/>
              </a:ext>
            </a:extLst>
          </p:cNvPr>
          <p:cNvSpPr>
            <a:spLocks noChangeArrowheads="1"/>
          </p:cNvSpPr>
          <p:nvPr/>
        </p:nvSpPr>
        <p:spPr bwMode="auto">
          <a:xfrm>
            <a:off x="5780434" y="3238500"/>
            <a:ext cx="622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IncPC</a:t>
            </a:r>
            <a:endParaRPr lang="en-CA" altLang="en-US" sz="2400">
              <a:latin typeface="Times New Roman" panose="02020603050405020304" pitchFamily="18" charset="0"/>
            </a:endParaRPr>
          </a:p>
        </p:txBody>
      </p:sp>
      <p:sp>
        <p:nvSpPr>
          <p:cNvPr id="17" name="Rectangle 18">
            <a:extLst>
              <a:ext uri="{FF2B5EF4-FFF2-40B4-BE49-F238E27FC236}">
                <a16:creationId xmlns:a16="http://schemas.microsoft.com/office/drawing/2014/main" id="{51B2CE2D-7ED2-4EC2-9FF8-51230321D3D4}"/>
              </a:ext>
            </a:extLst>
          </p:cNvPr>
          <p:cNvSpPr>
            <a:spLocks noChangeArrowheads="1"/>
          </p:cNvSpPr>
          <p:nvPr/>
        </p:nvSpPr>
        <p:spPr bwMode="auto">
          <a:xfrm>
            <a:off x="2013297" y="365918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2</a:t>
            </a:r>
            <a:endParaRPr lang="en-CA" altLang="en-US" sz="2400">
              <a:latin typeface="Times New Roman" panose="02020603050405020304" pitchFamily="18" charset="0"/>
            </a:endParaRPr>
          </a:p>
        </p:txBody>
      </p:sp>
      <p:sp>
        <p:nvSpPr>
          <p:cNvPr id="18" name="Rectangle 19">
            <a:extLst>
              <a:ext uri="{FF2B5EF4-FFF2-40B4-BE49-F238E27FC236}">
                <a16:creationId xmlns:a16="http://schemas.microsoft.com/office/drawing/2014/main" id="{27651D01-06A4-428B-A64A-B7FA3EDE74E4}"/>
              </a:ext>
            </a:extLst>
          </p:cNvPr>
          <p:cNvSpPr>
            <a:spLocks noChangeArrowheads="1"/>
          </p:cNvSpPr>
          <p:nvPr/>
        </p:nvSpPr>
        <p:spPr bwMode="auto">
          <a:xfrm>
            <a:off x="2832447" y="3659188"/>
            <a:ext cx="546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dirty="0">
                <a:solidFill>
                  <a:srgbClr val="000000"/>
                </a:solidFill>
                <a:latin typeface="Computer Modern" charset="0"/>
              </a:rPr>
              <a:t>WMF</a:t>
            </a:r>
            <a:endParaRPr lang="en-CA" altLang="en-US" sz="2400" dirty="0">
              <a:latin typeface="Times New Roman" panose="02020603050405020304" pitchFamily="18" charset="0"/>
            </a:endParaRPr>
          </a:p>
        </p:txBody>
      </p:sp>
      <p:sp>
        <p:nvSpPr>
          <p:cNvPr id="19" name="Rectangle 20">
            <a:extLst>
              <a:ext uri="{FF2B5EF4-FFF2-40B4-BE49-F238E27FC236}">
                <a16:creationId xmlns:a16="http://schemas.microsoft.com/office/drawing/2014/main" id="{8C87FDF3-7254-40D7-9AAD-81CDE0CE0637}"/>
              </a:ext>
            </a:extLst>
          </p:cNvPr>
          <p:cNvSpPr>
            <a:spLocks noChangeArrowheads="1"/>
          </p:cNvSpPr>
          <p:nvPr/>
        </p:nvSpPr>
        <p:spPr bwMode="auto">
          <a:xfrm>
            <a:off x="3375372" y="3659188"/>
            <a:ext cx="165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C</a:t>
            </a:r>
            <a:endParaRPr lang="en-CA" altLang="en-US" sz="2400">
              <a:latin typeface="Times New Roman" panose="02020603050405020304" pitchFamily="18" charset="0"/>
            </a:endParaRPr>
          </a:p>
        </p:txBody>
      </p:sp>
      <p:sp>
        <p:nvSpPr>
          <p:cNvPr id="20" name="Rectangle 21">
            <a:extLst>
              <a:ext uri="{FF2B5EF4-FFF2-40B4-BE49-F238E27FC236}">
                <a16:creationId xmlns:a16="http://schemas.microsoft.com/office/drawing/2014/main" id="{32041284-21C6-42DB-87B1-C107589588FA}"/>
              </a:ext>
            </a:extLst>
          </p:cNvPr>
          <p:cNvSpPr>
            <a:spLocks noChangeArrowheads="1"/>
          </p:cNvSpPr>
          <p:nvPr/>
        </p:nvSpPr>
        <p:spPr bwMode="auto">
          <a:xfrm>
            <a:off x="2013297" y="4057650"/>
            <a:ext cx="127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3</a:t>
            </a:r>
            <a:endParaRPr lang="en-CA" altLang="en-US" sz="2400">
              <a:latin typeface="Times New Roman" panose="02020603050405020304" pitchFamily="18" charset="0"/>
            </a:endParaRPr>
          </a:p>
        </p:txBody>
      </p:sp>
      <p:sp>
        <p:nvSpPr>
          <p:cNvPr id="21" name="Rectangle 22">
            <a:extLst>
              <a:ext uri="{FF2B5EF4-FFF2-40B4-BE49-F238E27FC236}">
                <a16:creationId xmlns:a16="http://schemas.microsoft.com/office/drawing/2014/main" id="{B9C2683B-F05B-4ABF-B4D1-C80733F66B21}"/>
              </a:ext>
            </a:extLst>
          </p:cNvPr>
          <p:cNvSpPr>
            <a:spLocks noChangeArrowheads="1"/>
          </p:cNvSpPr>
          <p:nvPr/>
        </p:nvSpPr>
        <p:spPr bwMode="auto">
          <a:xfrm>
            <a:off x="2832447" y="4057650"/>
            <a:ext cx="520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MDR</a:t>
            </a:r>
            <a:endParaRPr lang="en-CA" altLang="en-US" sz="2400">
              <a:latin typeface="Times New Roman" panose="02020603050405020304" pitchFamily="18" charset="0"/>
            </a:endParaRPr>
          </a:p>
        </p:txBody>
      </p:sp>
      <p:sp>
        <p:nvSpPr>
          <p:cNvPr id="22" name="Rectangle 23">
            <a:extLst>
              <a:ext uri="{FF2B5EF4-FFF2-40B4-BE49-F238E27FC236}">
                <a16:creationId xmlns:a16="http://schemas.microsoft.com/office/drawing/2014/main" id="{AE771E33-0257-4EA5-AAF0-958AD35BF6CB}"/>
              </a:ext>
            </a:extLst>
          </p:cNvPr>
          <p:cNvSpPr>
            <a:spLocks noChangeArrowheads="1"/>
          </p:cNvSpPr>
          <p:nvPr/>
        </p:nvSpPr>
        <p:spPr bwMode="auto">
          <a:xfrm>
            <a:off x="3365847" y="4178300"/>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outB</a:t>
            </a:r>
            <a:endParaRPr lang="en-CA" altLang="en-US" sz="2400">
              <a:latin typeface="Times New Roman" panose="02020603050405020304" pitchFamily="18" charset="0"/>
            </a:endParaRPr>
          </a:p>
        </p:txBody>
      </p:sp>
      <p:sp>
        <p:nvSpPr>
          <p:cNvPr id="23" name="Rectangle 24">
            <a:extLst>
              <a:ext uri="{FF2B5EF4-FFF2-40B4-BE49-F238E27FC236}">
                <a16:creationId xmlns:a16="http://schemas.microsoft.com/office/drawing/2014/main" id="{5943E7DC-E8B7-4090-8276-22176FB2F738}"/>
              </a:ext>
            </a:extLst>
          </p:cNvPr>
          <p:cNvSpPr>
            <a:spLocks noChangeArrowheads="1"/>
          </p:cNvSpPr>
          <p:nvPr/>
        </p:nvSpPr>
        <p:spPr bwMode="auto">
          <a:xfrm>
            <a:off x="3715097" y="4057650"/>
            <a:ext cx="63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24" name="Rectangle 25">
            <a:extLst>
              <a:ext uri="{FF2B5EF4-FFF2-40B4-BE49-F238E27FC236}">
                <a16:creationId xmlns:a16="http://schemas.microsoft.com/office/drawing/2014/main" id="{F3ADA7FD-EAA7-4936-A0BF-1B14DC5BDDFD}"/>
              </a:ext>
            </a:extLst>
          </p:cNvPr>
          <p:cNvSpPr>
            <a:spLocks noChangeArrowheads="1"/>
          </p:cNvSpPr>
          <p:nvPr/>
        </p:nvSpPr>
        <p:spPr bwMode="auto">
          <a:xfrm>
            <a:off x="3897659" y="4057650"/>
            <a:ext cx="514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R=B,</a:t>
            </a:r>
            <a:endParaRPr lang="en-CA" altLang="en-US" sz="2400">
              <a:latin typeface="Times New Roman" panose="02020603050405020304" pitchFamily="18" charset="0"/>
            </a:endParaRPr>
          </a:p>
        </p:txBody>
      </p:sp>
      <p:sp>
        <p:nvSpPr>
          <p:cNvPr id="25" name="Rectangle 26">
            <a:extLst>
              <a:ext uri="{FF2B5EF4-FFF2-40B4-BE49-F238E27FC236}">
                <a16:creationId xmlns:a16="http://schemas.microsoft.com/office/drawing/2014/main" id="{481F8263-DCD1-487B-A6B5-B538F5E394F2}"/>
              </a:ext>
            </a:extLst>
          </p:cNvPr>
          <p:cNvSpPr>
            <a:spLocks noChangeArrowheads="1"/>
          </p:cNvSpPr>
          <p:nvPr/>
        </p:nvSpPr>
        <p:spPr bwMode="auto">
          <a:xfrm>
            <a:off x="4496147" y="4057650"/>
            <a:ext cx="228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IR</a:t>
            </a:r>
            <a:endParaRPr lang="en-CA" altLang="en-US" sz="2400">
              <a:latin typeface="Times New Roman" panose="02020603050405020304" pitchFamily="18" charset="0"/>
            </a:endParaRPr>
          </a:p>
        </p:txBody>
      </p:sp>
      <p:sp>
        <p:nvSpPr>
          <p:cNvPr id="26" name="Rectangle 27">
            <a:extLst>
              <a:ext uri="{FF2B5EF4-FFF2-40B4-BE49-F238E27FC236}">
                <a16:creationId xmlns:a16="http://schemas.microsoft.com/office/drawing/2014/main" id="{A7D81E1C-6478-456A-B8B2-920A2CF8307C}"/>
              </a:ext>
            </a:extLst>
          </p:cNvPr>
          <p:cNvSpPr>
            <a:spLocks noChangeArrowheads="1"/>
          </p:cNvSpPr>
          <p:nvPr/>
        </p:nvSpPr>
        <p:spPr bwMode="auto">
          <a:xfrm>
            <a:off x="4753322" y="4164013"/>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dirty="0">
                <a:solidFill>
                  <a:srgbClr val="000000"/>
                </a:solidFill>
                <a:latin typeface="Computer Modern" charset="0"/>
              </a:rPr>
              <a:t>in</a:t>
            </a:r>
            <a:endParaRPr lang="en-CA" altLang="en-US" sz="2400" dirty="0">
              <a:latin typeface="Times New Roman" panose="02020603050405020304" pitchFamily="18" charset="0"/>
            </a:endParaRPr>
          </a:p>
        </p:txBody>
      </p:sp>
      <p:sp>
        <p:nvSpPr>
          <p:cNvPr id="27" name="Rectangle 28">
            <a:extLst>
              <a:ext uri="{FF2B5EF4-FFF2-40B4-BE49-F238E27FC236}">
                <a16:creationId xmlns:a16="http://schemas.microsoft.com/office/drawing/2014/main" id="{7491774A-55DB-4C23-9548-4AA639DEF619}"/>
              </a:ext>
            </a:extLst>
          </p:cNvPr>
          <p:cNvSpPr>
            <a:spLocks noChangeArrowheads="1"/>
          </p:cNvSpPr>
          <p:nvPr/>
        </p:nvSpPr>
        <p:spPr bwMode="auto">
          <a:xfrm>
            <a:off x="2013297" y="447833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4</a:t>
            </a:r>
            <a:endParaRPr lang="en-CA" altLang="en-US" sz="2400">
              <a:latin typeface="Times New Roman" panose="02020603050405020304" pitchFamily="18" charset="0"/>
            </a:endParaRPr>
          </a:p>
        </p:txBody>
      </p:sp>
      <p:sp>
        <p:nvSpPr>
          <p:cNvPr id="28" name="Rectangle 29">
            <a:extLst>
              <a:ext uri="{FF2B5EF4-FFF2-40B4-BE49-F238E27FC236}">
                <a16:creationId xmlns:a16="http://schemas.microsoft.com/office/drawing/2014/main" id="{F397BEAA-3D73-49F6-8F88-DAEC0E691BCC}"/>
              </a:ext>
            </a:extLst>
          </p:cNvPr>
          <p:cNvSpPr>
            <a:spLocks noChangeArrowheads="1"/>
          </p:cNvSpPr>
          <p:nvPr/>
        </p:nvSpPr>
        <p:spPr bwMode="auto">
          <a:xfrm>
            <a:off x="2832447" y="4478338"/>
            <a:ext cx="292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R4</a:t>
            </a:r>
            <a:endParaRPr lang="en-CA" altLang="en-US" sz="2400">
              <a:latin typeface="Times New Roman" panose="02020603050405020304" pitchFamily="18" charset="0"/>
            </a:endParaRPr>
          </a:p>
        </p:txBody>
      </p:sp>
      <p:sp>
        <p:nvSpPr>
          <p:cNvPr id="29" name="Rectangle 30">
            <a:extLst>
              <a:ext uri="{FF2B5EF4-FFF2-40B4-BE49-F238E27FC236}">
                <a16:creationId xmlns:a16="http://schemas.microsoft.com/office/drawing/2014/main" id="{C3C10035-C565-4276-B074-EDBCD2CAF395}"/>
              </a:ext>
            </a:extLst>
          </p:cNvPr>
          <p:cNvSpPr>
            <a:spLocks noChangeArrowheads="1"/>
          </p:cNvSpPr>
          <p:nvPr/>
        </p:nvSpPr>
        <p:spPr bwMode="auto">
          <a:xfrm>
            <a:off x="3099147" y="4562475"/>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outA</a:t>
            </a:r>
            <a:endParaRPr lang="en-CA" altLang="en-US" sz="2400">
              <a:latin typeface="Times New Roman" panose="02020603050405020304" pitchFamily="18" charset="0"/>
            </a:endParaRPr>
          </a:p>
        </p:txBody>
      </p:sp>
      <p:sp>
        <p:nvSpPr>
          <p:cNvPr id="30" name="Rectangle 31">
            <a:extLst>
              <a:ext uri="{FF2B5EF4-FFF2-40B4-BE49-F238E27FC236}">
                <a16:creationId xmlns:a16="http://schemas.microsoft.com/office/drawing/2014/main" id="{63996D36-4E39-4A8F-BECB-B825CB236F59}"/>
              </a:ext>
            </a:extLst>
          </p:cNvPr>
          <p:cNvSpPr>
            <a:spLocks noChangeArrowheads="1"/>
          </p:cNvSpPr>
          <p:nvPr/>
        </p:nvSpPr>
        <p:spPr bwMode="auto">
          <a:xfrm>
            <a:off x="3448397" y="44783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1" name="Rectangle 32">
            <a:extLst>
              <a:ext uri="{FF2B5EF4-FFF2-40B4-BE49-F238E27FC236}">
                <a16:creationId xmlns:a16="http://schemas.microsoft.com/office/drawing/2014/main" id="{0A4C3547-F8D0-44D3-A6A7-9EDA1E352C14}"/>
              </a:ext>
            </a:extLst>
          </p:cNvPr>
          <p:cNvSpPr>
            <a:spLocks noChangeArrowheads="1"/>
          </p:cNvSpPr>
          <p:nvPr/>
        </p:nvSpPr>
        <p:spPr bwMode="auto">
          <a:xfrm>
            <a:off x="3675409" y="4478338"/>
            <a:ext cx="292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R5</a:t>
            </a:r>
            <a:endParaRPr lang="en-CA" altLang="en-US" sz="2400">
              <a:latin typeface="Times New Roman" panose="02020603050405020304" pitchFamily="18" charset="0"/>
            </a:endParaRPr>
          </a:p>
        </p:txBody>
      </p:sp>
      <p:sp>
        <p:nvSpPr>
          <p:cNvPr id="32" name="Rectangle 33">
            <a:extLst>
              <a:ext uri="{FF2B5EF4-FFF2-40B4-BE49-F238E27FC236}">
                <a16:creationId xmlns:a16="http://schemas.microsoft.com/office/drawing/2014/main" id="{D69BBA23-C370-461E-A868-180FC19B2B5C}"/>
              </a:ext>
            </a:extLst>
          </p:cNvPr>
          <p:cNvSpPr>
            <a:spLocks noChangeArrowheads="1"/>
          </p:cNvSpPr>
          <p:nvPr/>
        </p:nvSpPr>
        <p:spPr bwMode="auto">
          <a:xfrm>
            <a:off x="3940522" y="4562475"/>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outB</a:t>
            </a:r>
            <a:endParaRPr lang="en-CA" altLang="en-US" sz="2400">
              <a:latin typeface="Times New Roman" panose="02020603050405020304" pitchFamily="18" charset="0"/>
            </a:endParaRPr>
          </a:p>
        </p:txBody>
      </p:sp>
      <p:sp>
        <p:nvSpPr>
          <p:cNvPr id="33" name="Rectangle 34">
            <a:extLst>
              <a:ext uri="{FF2B5EF4-FFF2-40B4-BE49-F238E27FC236}">
                <a16:creationId xmlns:a16="http://schemas.microsoft.com/office/drawing/2014/main" id="{37A21B8C-294C-4680-BFA6-CAF8AAEC8859}"/>
              </a:ext>
            </a:extLst>
          </p:cNvPr>
          <p:cNvSpPr>
            <a:spLocks noChangeArrowheads="1"/>
          </p:cNvSpPr>
          <p:nvPr/>
        </p:nvSpPr>
        <p:spPr bwMode="auto">
          <a:xfrm>
            <a:off x="4291359" y="44783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4" name="Rectangle 35">
            <a:extLst>
              <a:ext uri="{FF2B5EF4-FFF2-40B4-BE49-F238E27FC236}">
                <a16:creationId xmlns:a16="http://schemas.microsoft.com/office/drawing/2014/main" id="{339AE1B7-32B6-4912-8ACD-CD55F6286E86}"/>
              </a:ext>
            </a:extLst>
          </p:cNvPr>
          <p:cNvSpPr>
            <a:spLocks noChangeArrowheads="1"/>
          </p:cNvSpPr>
          <p:nvPr/>
        </p:nvSpPr>
        <p:spPr bwMode="auto">
          <a:xfrm>
            <a:off x="4516784" y="4478338"/>
            <a:ext cx="850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SelectA,</a:t>
            </a:r>
            <a:endParaRPr lang="en-CA" altLang="en-US" sz="2400">
              <a:latin typeface="Times New Roman" panose="02020603050405020304" pitchFamily="18" charset="0"/>
            </a:endParaRPr>
          </a:p>
        </p:txBody>
      </p:sp>
      <p:sp>
        <p:nvSpPr>
          <p:cNvPr id="35" name="Rectangle 36">
            <a:extLst>
              <a:ext uri="{FF2B5EF4-FFF2-40B4-BE49-F238E27FC236}">
                <a16:creationId xmlns:a16="http://schemas.microsoft.com/office/drawing/2014/main" id="{FBBEAE7D-28D6-49CC-A69F-8B1D5859CE4B}"/>
              </a:ext>
            </a:extLst>
          </p:cNvPr>
          <p:cNvSpPr>
            <a:spLocks noChangeArrowheads="1"/>
          </p:cNvSpPr>
          <p:nvPr/>
        </p:nvSpPr>
        <p:spPr bwMode="auto">
          <a:xfrm>
            <a:off x="5429597" y="4478338"/>
            <a:ext cx="469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Add,</a:t>
            </a:r>
            <a:endParaRPr lang="en-CA" altLang="en-US" sz="2400">
              <a:latin typeface="Times New Roman" panose="02020603050405020304" pitchFamily="18" charset="0"/>
            </a:endParaRPr>
          </a:p>
        </p:txBody>
      </p:sp>
      <p:sp>
        <p:nvSpPr>
          <p:cNvPr id="36" name="Rectangle 37">
            <a:extLst>
              <a:ext uri="{FF2B5EF4-FFF2-40B4-BE49-F238E27FC236}">
                <a16:creationId xmlns:a16="http://schemas.microsoft.com/office/drawing/2014/main" id="{93A6C034-6920-4097-B562-06485BEF64E8}"/>
              </a:ext>
            </a:extLst>
          </p:cNvPr>
          <p:cNvSpPr>
            <a:spLocks noChangeArrowheads="1"/>
          </p:cNvSpPr>
          <p:nvPr/>
        </p:nvSpPr>
        <p:spPr bwMode="auto">
          <a:xfrm>
            <a:off x="5989984" y="4478338"/>
            <a:ext cx="292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R6</a:t>
            </a:r>
            <a:endParaRPr lang="en-CA" altLang="en-US" sz="2400">
              <a:latin typeface="Times New Roman" panose="02020603050405020304" pitchFamily="18" charset="0"/>
            </a:endParaRPr>
          </a:p>
        </p:txBody>
      </p:sp>
      <p:sp>
        <p:nvSpPr>
          <p:cNvPr id="37" name="Rectangle 38">
            <a:extLst>
              <a:ext uri="{FF2B5EF4-FFF2-40B4-BE49-F238E27FC236}">
                <a16:creationId xmlns:a16="http://schemas.microsoft.com/office/drawing/2014/main" id="{4A5BC95E-F3D6-48F9-A8CE-9A8EF214DF66}"/>
              </a:ext>
            </a:extLst>
          </p:cNvPr>
          <p:cNvSpPr>
            <a:spLocks noChangeArrowheads="1"/>
          </p:cNvSpPr>
          <p:nvPr/>
        </p:nvSpPr>
        <p:spPr bwMode="auto">
          <a:xfrm>
            <a:off x="6280497" y="4562475"/>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8" name="Rectangle 39">
            <a:extLst>
              <a:ext uri="{FF2B5EF4-FFF2-40B4-BE49-F238E27FC236}">
                <a16:creationId xmlns:a16="http://schemas.microsoft.com/office/drawing/2014/main" id="{312E2516-B312-452D-A972-64082960B780}"/>
              </a:ext>
            </a:extLst>
          </p:cNvPr>
          <p:cNvSpPr>
            <a:spLocks noChangeArrowheads="1"/>
          </p:cNvSpPr>
          <p:nvPr/>
        </p:nvSpPr>
        <p:spPr bwMode="auto">
          <a:xfrm>
            <a:off x="6429722" y="4478338"/>
            <a:ext cx="6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9" name="Rectangle 40">
            <a:extLst>
              <a:ext uri="{FF2B5EF4-FFF2-40B4-BE49-F238E27FC236}">
                <a16:creationId xmlns:a16="http://schemas.microsoft.com/office/drawing/2014/main" id="{CBBFFF5C-287D-4CEE-9381-59D609ABB171}"/>
              </a:ext>
            </a:extLst>
          </p:cNvPr>
          <p:cNvSpPr>
            <a:spLocks noChangeArrowheads="1"/>
          </p:cNvSpPr>
          <p:nvPr/>
        </p:nvSpPr>
        <p:spPr bwMode="auto">
          <a:xfrm>
            <a:off x="6597997" y="4478338"/>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CA" altLang="en-US">
                <a:solidFill>
                  <a:srgbClr val="000000"/>
                </a:solidFill>
                <a:latin typeface="Computer Modern" charset="0"/>
              </a:rPr>
              <a:t>End</a:t>
            </a:r>
            <a:endParaRPr lang="en-CA" altLang="en-US" sz="2400">
              <a:latin typeface="Times New Roman" panose="02020603050405020304" pitchFamily="18" charset="0"/>
            </a:endParaRPr>
          </a:p>
        </p:txBody>
      </p:sp>
      <p:sp>
        <p:nvSpPr>
          <p:cNvPr id="40" name="Rectangle 41">
            <a:extLst>
              <a:ext uri="{FF2B5EF4-FFF2-40B4-BE49-F238E27FC236}">
                <a16:creationId xmlns:a16="http://schemas.microsoft.com/office/drawing/2014/main" id="{4A87A983-5FF6-447A-B7B9-FCDAD88A4B84}"/>
              </a:ext>
            </a:extLst>
          </p:cNvPr>
          <p:cNvSpPr>
            <a:spLocks noChangeArrowheads="1"/>
          </p:cNvSpPr>
          <p:nvPr/>
        </p:nvSpPr>
        <p:spPr bwMode="auto">
          <a:xfrm>
            <a:off x="2013297" y="5040313"/>
            <a:ext cx="5006975" cy="1587"/>
          </a:xfrm>
          <a:prstGeom prst="rect">
            <a:avLst/>
          </a:prstGeom>
          <a:solidFill>
            <a:srgbClr val="000000"/>
          </a:solidFill>
          <a:ln w="0">
            <a:solidFill>
              <a:srgbClr val="000000"/>
            </a:solidFill>
            <a:miter lim="800000"/>
            <a:headEnd/>
            <a:tailEnd/>
          </a:ln>
        </p:spPr>
        <p:txBody>
          <a:bodyPr/>
          <a:lstStyle/>
          <a:p>
            <a:endParaRPr lang="en-IN"/>
          </a:p>
        </p:txBody>
      </p:sp>
    </p:spTree>
    <p:extLst>
      <p:ext uri="{BB962C8B-B14F-4D97-AF65-F5344CB8AC3E}">
        <p14:creationId xmlns:p14="http://schemas.microsoft.com/office/powerpoint/2010/main" val="4371398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Blank 1">
        <a:dk1>
          <a:srgbClr val="000000"/>
        </a:dk1>
        <a:lt1>
          <a:srgbClr val="FFFFFF"/>
        </a:lt1>
        <a:dk2>
          <a:srgbClr val="000000"/>
        </a:dk2>
        <a:lt2>
          <a:srgbClr val="FFFFFF"/>
        </a:lt2>
        <a:accent1>
          <a:srgbClr val="EAEAEA"/>
        </a:accent1>
        <a:accent2>
          <a:srgbClr val="D0D0D0"/>
        </a:accent2>
        <a:accent3>
          <a:srgbClr val="FFFFFF"/>
        </a:accent3>
        <a:accent4>
          <a:srgbClr val="000000"/>
        </a:accent4>
        <a:accent5>
          <a:srgbClr val="F3F3F3"/>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94405D97371449A1F1274BEB9B26D" ma:contentTypeVersion="7" ma:contentTypeDescription="Create a new document." ma:contentTypeScope="" ma:versionID="4d714d6f4e02b8797c18bae80915866a">
  <xsd:schema xmlns:xsd="http://www.w3.org/2001/XMLSchema" xmlns:xs="http://www.w3.org/2001/XMLSchema" xmlns:p="http://schemas.microsoft.com/office/2006/metadata/properties" xmlns:ns2="682cbc32-fee7-4912-b25f-d1e036e61d30" targetNamespace="http://schemas.microsoft.com/office/2006/metadata/properties" ma:root="true" ma:fieldsID="89d7d93295ea2ddc158f52b603a4dbe0" ns2:_="">
    <xsd:import namespace="682cbc32-fee7-4912-b25f-d1e036e61d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cbc32-fee7-4912-b25f-d1e036e61d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F88BE05-2C11-48A8-86A1-59ED03E55C54}"/>
</file>

<file path=customXml/itemProps2.xml><?xml version="1.0" encoding="utf-8"?>
<ds:datastoreItem xmlns:ds="http://schemas.openxmlformats.org/officeDocument/2006/customXml" ds:itemID="{424CB031-8EC5-466D-B405-5495152A2070}"/>
</file>

<file path=customXml/itemProps3.xml><?xml version="1.0" encoding="utf-8"?>
<ds:datastoreItem xmlns:ds="http://schemas.openxmlformats.org/officeDocument/2006/customXml" ds:itemID="{00948E8F-8C5B-4810-98B3-9175823FB941}"/>
</file>

<file path=docProps/app.xml><?xml version="1.0" encoding="utf-8"?>
<Properties xmlns="http://schemas.openxmlformats.org/officeDocument/2006/extended-properties" xmlns:vt="http://schemas.openxmlformats.org/officeDocument/2006/docPropsVTypes">
  <Template/>
  <TotalTime>3705</TotalTime>
  <Words>2749</Words>
  <Application>Microsoft Office PowerPoint</Application>
  <PresentationFormat>On-screen Show (4:3)</PresentationFormat>
  <Paragraphs>421</Paragraphs>
  <Slides>55</Slides>
  <Notes>0</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55</vt:i4>
      </vt:variant>
    </vt:vector>
  </HeadingPairs>
  <TitlesOfParts>
    <vt:vector size="66" baseType="lpstr">
      <vt:lpstr>宋体</vt:lpstr>
      <vt:lpstr>Arial</vt:lpstr>
      <vt:lpstr>Calibri</vt:lpstr>
      <vt:lpstr>Computer Modern</vt:lpstr>
      <vt:lpstr>Courier New</vt:lpstr>
      <vt:lpstr>Nimbus Roman No9 L</vt:lpstr>
      <vt:lpstr>Times New Roman</vt:lpstr>
      <vt:lpstr>Wingdings</vt:lpstr>
      <vt:lpstr>Office Theme</vt:lpstr>
      <vt:lpstr>Blank</vt:lpstr>
      <vt:lpstr>think-cell Slide</vt:lpstr>
      <vt:lpstr>PowerPoint Presentation</vt:lpstr>
      <vt:lpstr>CONTROL UNIT OPERATION</vt:lpstr>
      <vt:lpstr>CONTROL UNIT OPERATION</vt:lpstr>
      <vt:lpstr>Micro-Operations</vt:lpstr>
      <vt:lpstr>Constituent Elements of Program Execution </vt:lpstr>
      <vt:lpstr>The Fetch Cycle </vt:lpstr>
      <vt:lpstr>Executing an Instruction</vt:lpstr>
      <vt:lpstr>Processor Organization</vt:lpstr>
      <vt:lpstr>Internal organization of the processor</vt:lpstr>
      <vt:lpstr>PowerPoint Presentation</vt:lpstr>
      <vt:lpstr>PowerPoint Presentation</vt:lpstr>
      <vt:lpstr>PowerPoint Presentation</vt:lpstr>
      <vt:lpstr>Register Transfers</vt:lpstr>
      <vt:lpstr>Data transfer between two registers:</vt:lpstr>
      <vt:lpstr>Fetch Sequence (symbolic)</vt:lpstr>
      <vt:lpstr>Rules for Clock Cycle Grouping</vt:lpstr>
      <vt:lpstr>Sequence of Events, Fetch Cycle </vt:lpstr>
      <vt:lpstr>Interrupt Cycle</vt:lpstr>
      <vt:lpstr>The Execute Cycle</vt:lpstr>
      <vt:lpstr>Performing an Arithmetic or Logic Operation</vt:lpstr>
      <vt:lpstr>Performing an Arithmetic or Logic Operation</vt:lpstr>
      <vt:lpstr>Register Transfers</vt:lpstr>
      <vt:lpstr>Fetching a Word from Memory</vt:lpstr>
      <vt:lpstr>Instruction Cycle</vt:lpstr>
      <vt:lpstr>Flowchart for Instruction Cycle</vt:lpstr>
      <vt:lpstr>Requirements for CONTROL OF THE PROCESSOR</vt:lpstr>
      <vt:lpstr>Control Unit </vt:lpstr>
      <vt:lpstr>Example Control Signal Sequence - Fetch</vt:lpstr>
      <vt:lpstr>Data Paths and Control Signals</vt:lpstr>
      <vt:lpstr>PowerPoint Presentation</vt:lpstr>
      <vt:lpstr>PowerPoint Presentation</vt:lpstr>
      <vt:lpstr>Hardwired control Signal</vt:lpstr>
      <vt:lpstr>PowerPoint Presentation</vt:lpstr>
      <vt:lpstr>PowerPoint Presentation</vt:lpstr>
      <vt:lpstr>PowerPoint Presentation</vt:lpstr>
      <vt:lpstr>Generating Zin</vt:lpstr>
      <vt:lpstr>Generating Zin</vt:lpstr>
      <vt:lpstr>Problems With Hard Wired Designs</vt:lpstr>
      <vt:lpstr>Generating End</vt:lpstr>
      <vt:lpstr>Microprogrammed Control</vt:lpstr>
      <vt:lpstr>Micro-programmed Control Implementation</vt:lpstr>
      <vt:lpstr>Micro-programmed Control Implementation</vt:lpstr>
      <vt:lpstr>Micro-program</vt:lpstr>
      <vt:lpstr>Micro-program</vt:lpstr>
      <vt:lpstr>Typical Microinstruction Formats</vt:lpstr>
      <vt:lpstr>Micro-program Organization  ofControl Memory</vt:lpstr>
      <vt:lpstr>Execution of a Complete Instruction (self study)</vt:lpstr>
      <vt:lpstr>Execution of a Complete Instruction</vt:lpstr>
      <vt:lpstr>Data Flow, Fetch Cycle</vt:lpstr>
      <vt:lpstr>Example</vt:lpstr>
      <vt:lpstr>Example</vt:lpstr>
      <vt:lpstr>Execute Cycle (ISZ)</vt:lpstr>
      <vt:lpstr>Execute Cycle (BSA)</vt:lpstr>
      <vt:lpstr>Multiple-Bus Organization</vt:lpstr>
      <vt:lpstr>Add R6, R4, R5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Parthasaradhi Nayani</cp:lastModifiedBy>
  <cp:revision>319</cp:revision>
  <dcterms:created xsi:type="dcterms:W3CDTF">2011-09-14T09:42:05Z</dcterms:created>
  <dcterms:modified xsi:type="dcterms:W3CDTF">2025-10-25T04:40:30Z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0x01010028994405D97371449A1F1274BEB9B26D</vt:lpwstr>
  </property>
</Properties>
</file>