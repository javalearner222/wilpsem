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428" r:id="rId2"/>
    <p:sldId id="257" r:id="rId3"/>
    <p:sldId id="258" r:id="rId4"/>
    <p:sldId id="259" r:id="rId5"/>
    <p:sldId id="260" r:id="rId6"/>
    <p:sldId id="261" r:id="rId7"/>
    <p:sldId id="262" r:id="rId8"/>
    <p:sldId id="263" r:id="rId9"/>
    <p:sldId id="264" r:id="rId10"/>
    <p:sldId id="265" r:id="rId11"/>
    <p:sldId id="266" r:id="rId12"/>
    <p:sldId id="267" r:id="rId13"/>
    <p:sldId id="272" r:id="rId14"/>
    <p:sldId id="444" r:id="rId15"/>
    <p:sldId id="445" r:id="rId16"/>
    <p:sldId id="446" r:id="rId17"/>
    <p:sldId id="447" r:id="rId18"/>
    <p:sldId id="450" r:id="rId19"/>
    <p:sldId id="451" r:id="rId20"/>
    <p:sldId id="268" r:id="rId2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3" autoAdjust="0"/>
    <p:restoredTop sz="94660"/>
  </p:normalViewPr>
  <p:slideViewPr>
    <p:cSldViewPr snapToGrid="0">
      <p:cViewPr varScale="1">
        <p:scale>
          <a:sx n="68" d="100"/>
          <a:sy n="68" d="100"/>
        </p:scale>
        <p:origin x="73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E095A9-80B4-4FE7-9E61-C6EE1FF79106}"/>
              </a:ext>
            </a:extLst>
          </p:cNvPr>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sz="1800" dirty="0">
              <a:latin typeface="Arial" pitchFamily="34" charset="0"/>
              <a:cs typeface="Arial" pitchFamily="34" charset="0"/>
            </a:endParaRPr>
          </a:p>
        </p:txBody>
      </p:sp>
      <p:sp>
        <p:nvSpPr>
          <p:cNvPr id="4" name="Rectangle 3">
            <a:extLst>
              <a:ext uri="{FF2B5EF4-FFF2-40B4-BE49-F238E27FC236}">
                <a16:creationId xmlns:a16="http://schemas.microsoft.com/office/drawing/2014/main" id="{B242F09A-29F4-4136-BA54-3F52094931FE}"/>
              </a:ext>
            </a:extLst>
          </p:cNvPr>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5" name="Rectangle 4">
            <a:extLst>
              <a:ext uri="{FF2B5EF4-FFF2-40B4-BE49-F238E27FC236}">
                <a16:creationId xmlns:a16="http://schemas.microsoft.com/office/drawing/2014/main" id="{523E645D-696E-4271-85DC-9B442C1119FC}"/>
              </a:ext>
            </a:extLst>
          </p:cNvPr>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8CCB3FD6-873F-4A9C-B46C-7F1027DC3546}"/>
              </a:ext>
            </a:extLst>
          </p:cNvPr>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7" name="Picture 10" descr="BITS_university_logo_whitevert.png">
            <a:extLst>
              <a:ext uri="{FF2B5EF4-FFF2-40B4-BE49-F238E27FC236}">
                <a16:creationId xmlns:a16="http://schemas.microsoft.com/office/drawing/2014/main" id="{2ACA944D-1DD9-4988-B63E-4A8183BC888E}"/>
              </a:ext>
            </a:extLst>
          </p:cNvPr>
          <p:cNvPicPr>
            <a:picLocks noChangeAspect="1"/>
          </p:cNvPicPr>
          <p:nvPr/>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D3AC746F-2FB4-4259-9EE0-AC5F3D6540F9}"/>
              </a:ext>
            </a:extLst>
          </p:cNvPr>
          <p:cNvSpPr txBox="1"/>
          <p:nvPr/>
        </p:nvSpPr>
        <p:spPr>
          <a:xfrm>
            <a:off x="-101600" y="52578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463DEAFC-3E12-4A36-80AD-C15D30572DE1}"/>
              </a:ext>
            </a:extLst>
          </p:cNvPr>
          <p:cNvSpPr txBox="1">
            <a:spLocks noChangeArrowheads="1"/>
          </p:cNvSpPr>
          <p:nvPr/>
        </p:nvSpPr>
        <p:spPr bwMode="auto">
          <a:xfrm>
            <a:off x="203200" y="5667376"/>
            <a:ext cx="2540000" cy="276225"/>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200">
                <a:solidFill>
                  <a:srgbClr val="FFFFFF"/>
                </a:solidFill>
                <a:cs typeface="Arial" charset="0"/>
              </a:rPr>
              <a:t>Pilani Campus</a:t>
            </a:r>
          </a:p>
        </p:txBody>
      </p:sp>
      <p:sp>
        <p:nvSpPr>
          <p:cNvPr id="11" name="Title 1"/>
          <p:cNvSpPr>
            <a:spLocks noGrp="1"/>
          </p:cNvSpPr>
          <p:nvPr>
            <p:ph type="title"/>
          </p:nvPr>
        </p:nvSpPr>
        <p:spPr>
          <a:xfrm>
            <a:off x="3352800" y="3810000"/>
            <a:ext cx="8026400" cy="1524000"/>
          </a:xfrm>
        </p:spPr>
        <p:txBody>
          <a:bodyPr anchorCtr="0">
            <a:noAutofit/>
          </a:bodyPr>
          <a:lstStyle>
            <a:lvl1pPr algn="ctr">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848454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49FA685-348D-49D7-9443-CF21857A163E}"/>
              </a:ext>
            </a:extLst>
          </p:cNvPr>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dirty="0">
              <a:latin typeface="Arial" pitchFamily="34" charset="0"/>
              <a:cs typeface="Arial" pitchFamily="34" charset="0"/>
            </a:endParaRPr>
          </a:p>
        </p:txBody>
      </p:sp>
      <p:sp>
        <p:nvSpPr>
          <p:cNvPr id="5" name="Rectangle 4">
            <a:extLst>
              <a:ext uri="{FF2B5EF4-FFF2-40B4-BE49-F238E27FC236}">
                <a16:creationId xmlns:a16="http://schemas.microsoft.com/office/drawing/2014/main" id="{6A18A412-4A29-45F6-AC3E-39A472DD9C28}"/>
              </a:ext>
            </a:extLst>
          </p:cNvPr>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A502A174-2EDA-4C68-828F-4DE9FEB92067}"/>
              </a:ext>
            </a:extLst>
          </p:cNvPr>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6209AC46-D467-4B34-BD6B-EC694E9C319D}"/>
              </a:ext>
            </a:extLst>
          </p:cNvPr>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9" name="Picture 10" descr="BITS_university_logo_whitevert.png">
            <a:extLst>
              <a:ext uri="{FF2B5EF4-FFF2-40B4-BE49-F238E27FC236}">
                <a16:creationId xmlns:a16="http://schemas.microsoft.com/office/drawing/2014/main" id="{B0FE7FE6-E8D0-4E8A-AFFC-D0E7FCFCFF85}"/>
              </a:ext>
            </a:extLst>
          </p:cNvPr>
          <p:cNvPicPr>
            <a:picLocks noChangeAspect="1"/>
          </p:cNvPicPr>
          <p:nvPr/>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75D1DE81-2CFF-4CFE-BB52-74BAF09DB18A}"/>
              </a:ext>
            </a:extLst>
          </p:cNvPr>
          <p:cNvSpPr txBox="1"/>
          <p:nvPr/>
        </p:nvSpPr>
        <p:spPr>
          <a:xfrm>
            <a:off x="-101600" y="52578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0">
            <a:extLst>
              <a:ext uri="{FF2B5EF4-FFF2-40B4-BE49-F238E27FC236}">
                <a16:creationId xmlns:a16="http://schemas.microsoft.com/office/drawing/2014/main" id="{C04A0771-4556-4F4D-98FE-48C5C2806F3E}"/>
              </a:ext>
            </a:extLst>
          </p:cNvPr>
          <p:cNvSpPr txBox="1">
            <a:spLocks noChangeArrowheads="1"/>
          </p:cNvSpPr>
          <p:nvPr/>
        </p:nvSpPr>
        <p:spPr bwMode="auto">
          <a:xfrm>
            <a:off x="203200" y="5667376"/>
            <a:ext cx="2540000" cy="276225"/>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200">
                <a:solidFill>
                  <a:srgbClr val="FFFFFF"/>
                </a:solidFill>
                <a:cs typeface="Arial" charset="0"/>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93509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6" descr="\\Server\D\jyoti\FI023_BITS_v1\styleguide img\IMG_5627_b.jpg">
            <a:extLst>
              <a:ext uri="{FF2B5EF4-FFF2-40B4-BE49-F238E27FC236}">
                <a16:creationId xmlns:a16="http://schemas.microsoft.com/office/drawing/2014/main" id="{B0AE1769-8368-43FD-A555-4ADA093A85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9DF74E82-16ED-45F0-BF97-F624735DDFB4}"/>
              </a:ext>
            </a:extLst>
          </p:cNvPr>
          <p:cNvSpPr/>
          <p:nvPr/>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5" name="Picture 8" descr="Picture 7.png">
            <a:extLst>
              <a:ext uri="{FF2B5EF4-FFF2-40B4-BE49-F238E27FC236}">
                <a16:creationId xmlns:a16="http://schemas.microsoft.com/office/drawing/2014/main" id="{46933116-D7C8-4F5B-824C-A50BAD6B7C66}"/>
              </a:ext>
            </a:extLst>
          </p:cNvPr>
          <p:cNvPicPr>
            <a:picLocks noChangeAspect="1"/>
          </p:cNvPicPr>
          <p:nvPr/>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6C7E231C-4086-4B6B-A13C-949769C36041}"/>
              </a:ext>
            </a:extLst>
          </p:cNvPr>
          <p:cNvSpPr/>
          <p:nvPr/>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F75F3444-DD01-4772-9256-E957950BF6F4}"/>
              </a:ext>
            </a:extLst>
          </p:cNvPr>
          <p:cNvSpPr/>
          <p:nvPr/>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EC80CFF7-C6AD-4D1F-B7E4-B7CBF02FB2AF}"/>
              </a:ext>
            </a:extLst>
          </p:cNvPr>
          <p:cNvSpPr/>
          <p:nvPr/>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TextBox 8">
            <a:extLst>
              <a:ext uri="{FF2B5EF4-FFF2-40B4-BE49-F238E27FC236}">
                <a16:creationId xmlns:a16="http://schemas.microsoft.com/office/drawing/2014/main" id="{A81A7872-2C8C-40AA-BF80-3505B36BC4A4}"/>
              </a:ext>
            </a:extLst>
          </p:cNvPr>
          <p:cNvSpPr txBox="1"/>
          <p:nvPr/>
        </p:nvSpPr>
        <p:spPr>
          <a:xfrm>
            <a:off x="9144000" y="7620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32F02DE3-BEEE-4543-BA00-EFA78AA2EC9F}"/>
              </a:ext>
            </a:extLst>
          </p:cNvPr>
          <p:cNvSpPr txBox="1">
            <a:spLocks noChangeArrowheads="1"/>
          </p:cNvSpPr>
          <p:nvPr/>
        </p:nvSpPr>
        <p:spPr bwMode="auto">
          <a:xfrm>
            <a:off x="9448800" y="1171576"/>
            <a:ext cx="2540000" cy="276225"/>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200">
                <a:solidFill>
                  <a:srgbClr val="FFFFFF"/>
                </a:solidFill>
                <a:cs typeface="Arial" charset="0"/>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65220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4368800" y="6596064"/>
            <a:ext cx="78232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779184" y="6550026"/>
            <a:ext cx="9412816"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93472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3" name="Content Placeholder 2"/>
          <p:cNvSpPr>
            <a:spLocks noGrp="1"/>
          </p:cNvSpPr>
          <p:nvPr>
            <p:ph idx="1"/>
          </p:nvPr>
        </p:nvSpPr>
        <p:spPr>
          <a:xfrm>
            <a:off x="406400" y="1600201"/>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0350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a:extLst>
              <a:ext uri="{FF2B5EF4-FFF2-40B4-BE49-F238E27FC236}">
                <a16:creationId xmlns:a16="http://schemas.microsoft.com/office/drawing/2014/main" id="{2684CF1E-9052-4FF3-8F29-36C0008F6B2A}"/>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9">
            <a:extLst>
              <a:ext uri="{FF2B5EF4-FFF2-40B4-BE49-F238E27FC236}">
                <a16:creationId xmlns:a16="http://schemas.microsoft.com/office/drawing/2014/main" id="{88656BD9-E4E8-48A4-A2B6-D1968F980762}"/>
              </a:ext>
            </a:extLst>
          </p:cNvPr>
          <p:cNvGrpSpPr>
            <a:grpSpLocks/>
          </p:cNvGrpSpPr>
          <p:nvPr/>
        </p:nvGrpSpPr>
        <p:grpSpPr bwMode="auto">
          <a:xfrm>
            <a:off x="0" y="1295400"/>
            <a:ext cx="9347200" cy="46038"/>
            <a:chOff x="1905000" y="6553200"/>
            <a:chExt cx="7010400" cy="45719"/>
          </a:xfrm>
        </p:grpSpPr>
        <p:sp>
          <p:nvSpPr>
            <p:cNvPr id="7" name="Rectangle 6">
              <a:extLst>
                <a:ext uri="{FF2B5EF4-FFF2-40B4-BE49-F238E27FC236}">
                  <a16:creationId xmlns:a16="http://schemas.microsoft.com/office/drawing/2014/main" id="{A3B3D130-314C-4CF0-A2D3-957B05470C7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DB8A3A31-3102-41AF-B6CE-93BE8F39516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Rectangle 8">
              <a:extLst>
                <a:ext uri="{FF2B5EF4-FFF2-40B4-BE49-F238E27FC236}">
                  <a16:creationId xmlns:a16="http://schemas.microsoft.com/office/drawing/2014/main" id="{CEB57AE4-C902-4A8B-9FAD-D9F85D1FA856}"/>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0" name="Group 28">
            <a:extLst>
              <a:ext uri="{FF2B5EF4-FFF2-40B4-BE49-F238E27FC236}">
                <a16:creationId xmlns:a16="http://schemas.microsoft.com/office/drawing/2014/main" id="{6B0383E2-DD00-4D45-A35B-5761A3AEBD3E}"/>
              </a:ext>
            </a:extLst>
          </p:cNvPr>
          <p:cNvGrpSpPr>
            <a:grpSpLocks/>
          </p:cNvGrpSpPr>
          <p:nvPr/>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FAA32FE9-725D-4A85-9BC2-E2162C9EB7D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F0A97CF1-8E11-4DB0-B179-A3343C39B36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3" name="Rectangle 12">
              <a:extLst>
                <a:ext uri="{FF2B5EF4-FFF2-40B4-BE49-F238E27FC236}">
                  <a16:creationId xmlns:a16="http://schemas.microsoft.com/office/drawing/2014/main" id="{9C0C765E-D274-42D5-AB01-541B18D8810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14" name="TextBox 13">
            <a:extLst>
              <a:ext uri="{FF2B5EF4-FFF2-40B4-BE49-F238E27FC236}">
                <a16:creationId xmlns:a16="http://schemas.microsoft.com/office/drawing/2014/main" id="{C3052C1A-016F-449B-A856-228B84E1C53C}"/>
              </a:ext>
            </a:extLst>
          </p:cNvPr>
          <p:cNvSpPr txBox="1">
            <a:spLocks noChangeArrowheads="1"/>
          </p:cNvSpPr>
          <p:nvPr/>
        </p:nvSpPr>
        <p:spPr bwMode="auto">
          <a:xfrm>
            <a:off x="4368800" y="6596064"/>
            <a:ext cx="78232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sp>
        <p:nvSpPr>
          <p:cNvPr id="3" name="Content Placeholder 2"/>
          <p:cNvSpPr>
            <a:spLocks noGrp="1"/>
          </p:cNvSpPr>
          <p:nvPr>
            <p:ph sz="half" idx="1"/>
          </p:nvPr>
        </p:nvSpPr>
        <p:spPr>
          <a:xfrm>
            <a:off x="6096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66040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37370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a:extLst>
              <a:ext uri="{FF2B5EF4-FFF2-40B4-BE49-F238E27FC236}">
                <a16:creationId xmlns:a16="http://schemas.microsoft.com/office/drawing/2014/main" id="{B7B9A9F0-ED90-4008-9A21-F6F712834E33}"/>
              </a:ext>
            </a:extLst>
          </p:cNvPr>
          <p:cNvGrpSpPr>
            <a:grpSpLocks/>
          </p:cNvGrpSpPr>
          <p:nvPr/>
        </p:nvGrpSpPr>
        <p:grpSpPr bwMode="auto">
          <a:xfrm>
            <a:off x="0" y="1295400"/>
            <a:ext cx="9347200" cy="46038"/>
            <a:chOff x="1905000" y="6553200"/>
            <a:chExt cx="7010400" cy="45719"/>
          </a:xfrm>
        </p:grpSpPr>
        <p:sp>
          <p:nvSpPr>
            <p:cNvPr id="8" name="Rectangle 7">
              <a:extLst>
                <a:ext uri="{FF2B5EF4-FFF2-40B4-BE49-F238E27FC236}">
                  <a16:creationId xmlns:a16="http://schemas.microsoft.com/office/drawing/2014/main" id="{1B82BED9-A771-4B71-BD41-E80DDDF4207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Rectangle 8">
              <a:extLst>
                <a:ext uri="{FF2B5EF4-FFF2-40B4-BE49-F238E27FC236}">
                  <a16:creationId xmlns:a16="http://schemas.microsoft.com/office/drawing/2014/main" id="{55980D4D-05F5-4C6C-B5C9-48647B534EE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1" name="Rectangle 10">
              <a:extLst>
                <a:ext uri="{FF2B5EF4-FFF2-40B4-BE49-F238E27FC236}">
                  <a16:creationId xmlns:a16="http://schemas.microsoft.com/office/drawing/2014/main" id="{F84C7FCD-67BF-44ED-9D02-C100493977F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2" name="Group 15">
            <a:extLst>
              <a:ext uri="{FF2B5EF4-FFF2-40B4-BE49-F238E27FC236}">
                <a16:creationId xmlns:a16="http://schemas.microsoft.com/office/drawing/2014/main" id="{7412E3EF-823F-4651-B453-AF3B5AA1459E}"/>
              </a:ext>
            </a:extLst>
          </p:cNvPr>
          <p:cNvGrpSpPr>
            <a:grpSpLocks/>
          </p:cNvGrpSpPr>
          <p:nvPr/>
        </p:nvGrpSpPr>
        <p:grpSpPr bwMode="auto">
          <a:xfrm>
            <a:off x="2844800" y="6553200"/>
            <a:ext cx="9347200" cy="46038"/>
            <a:chOff x="1905000" y="6553200"/>
            <a:chExt cx="7010400" cy="45719"/>
          </a:xfrm>
        </p:grpSpPr>
        <p:sp>
          <p:nvSpPr>
            <p:cNvPr id="13" name="Rectangle 12">
              <a:extLst>
                <a:ext uri="{FF2B5EF4-FFF2-40B4-BE49-F238E27FC236}">
                  <a16:creationId xmlns:a16="http://schemas.microsoft.com/office/drawing/2014/main" id="{9F1818FA-88A0-4053-AFA6-26D8F3B92C9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4" name="Rectangle 13">
              <a:extLst>
                <a:ext uri="{FF2B5EF4-FFF2-40B4-BE49-F238E27FC236}">
                  <a16:creationId xmlns:a16="http://schemas.microsoft.com/office/drawing/2014/main" id="{52B0EA17-CA0B-4005-9EAF-60D4B8762B07}"/>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5" name="Rectangle 14">
              <a:extLst>
                <a:ext uri="{FF2B5EF4-FFF2-40B4-BE49-F238E27FC236}">
                  <a16:creationId xmlns:a16="http://schemas.microsoft.com/office/drawing/2014/main" id="{F2A70B7F-831D-44A3-9394-2D9F1F143A1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16" name="Picture 14" descr="Picture 7.png">
            <a:extLst>
              <a:ext uri="{FF2B5EF4-FFF2-40B4-BE49-F238E27FC236}">
                <a16:creationId xmlns:a16="http://schemas.microsoft.com/office/drawing/2014/main" id="{996B9B91-0E43-4776-9A2C-B6AF4B8D4A91}"/>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26CA5596-B9ED-417B-B1E0-C32698F8423B}"/>
              </a:ext>
            </a:extLst>
          </p:cNvPr>
          <p:cNvSpPr txBox="1">
            <a:spLocks noChangeArrowheads="1"/>
          </p:cNvSpPr>
          <p:nvPr/>
        </p:nvSpPr>
        <p:spPr bwMode="auto">
          <a:xfrm>
            <a:off x="4368800" y="6596064"/>
            <a:ext cx="78232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Deemed to be University under Section 3 of UGC Act, 1956</a:t>
            </a:r>
          </a:p>
        </p:txBody>
      </p:sp>
      <p:sp>
        <p:nvSpPr>
          <p:cNvPr id="3" name="Text Placeholder 2"/>
          <p:cNvSpPr>
            <a:spLocks noGrp="1"/>
          </p:cNvSpPr>
          <p:nvPr>
            <p:ph type="body" idx="1"/>
          </p:nvPr>
        </p:nvSpPr>
        <p:spPr>
          <a:xfrm>
            <a:off x="609600" y="1535112"/>
            <a:ext cx="5386917"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362200"/>
            <a:ext cx="5386917"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8" y="1535112"/>
            <a:ext cx="5389033"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362200"/>
            <a:ext cx="5389033"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081260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a:extLst>
              <a:ext uri="{FF2B5EF4-FFF2-40B4-BE49-F238E27FC236}">
                <a16:creationId xmlns:a16="http://schemas.microsoft.com/office/drawing/2014/main" id="{6921A934-B042-41FE-9C5F-9EAADCDF0CE9}"/>
              </a:ext>
            </a:extLst>
          </p:cNvPr>
          <p:cNvGrpSpPr>
            <a:grpSpLocks/>
          </p:cNvGrpSpPr>
          <p:nvPr/>
        </p:nvGrpSpPr>
        <p:grpSpPr bwMode="auto">
          <a:xfrm>
            <a:off x="0" y="1295400"/>
            <a:ext cx="9347200" cy="46038"/>
            <a:chOff x="1905000" y="6553200"/>
            <a:chExt cx="7010400" cy="45719"/>
          </a:xfrm>
        </p:grpSpPr>
        <p:sp>
          <p:nvSpPr>
            <p:cNvPr id="4" name="Rectangle 3">
              <a:extLst>
                <a:ext uri="{FF2B5EF4-FFF2-40B4-BE49-F238E27FC236}">
                  <a16:creationId xmlns:a16="http://schemas.microsoft.com/office/drawing/2014/main" id="{938613DC-B6A0-4876-AF25-8D384186B8D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62F74794-EFF5-47BA-ABCE-FA873958EC6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9C0877DF-3963-4497-8EC7-A3D8E24CB8C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8" name="Group 10">
            <a:extLst>
              <a:ext uri="{FF2B5EF4-FFF2-40B4-BE49-F238E27FC236}">
                <a16:creationId xmlns:a16="http://schemas.microsoft.com/office/drawing/2014/main" id="{FCE1F628-C90C-47D7-A501-8ED98CA575A9}"/>
              </a:ext>
            </a:extLst>
          </p:cNvPr>
          <p:cNvGrpSpPr>
            <a:grpSpLocks/>
          </p:cNvGrpSpPr>
          <p:nvPr/>
        </p:nvGrpSpPr>
        <p:grpSpPr bwMode="auto">
          <a:xfrm>
            <a:off x="2844800" y="6553200"/>
            <a:ext cx="9347200" cy="46038"/>
            <a:chOff x="1905000" y="6553200"/>
            <a:chExt cx="7010400" cy="45719"/>
          </a:xfrm>
        </p:grpSpPr>
        <p:sp>
          <p:nvSpPr>
            <p:cNvPr id="9" name="Rectangle 8">
              <a:extLst>
                <a:ext uri="{FF2B5EF4-FFF2-40B4-BE49-F238E27FC236}">
                  <a16:creationId xmlns:a16="http://schemas.microsoft.com/office/drawing/2014/main" id="{DC395C1F-6EA8-4AC8-A6A5-152F36554DC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0" name="Rectangle 9">
              <a:extLst>
                <a:ext uri="{FF2B5EF4-FFF2-40B4-BE49-F238E27FC236}">
                  <a16:creationId xmlns:a16="http://schemas.microsoft.com/office/drawing/2014/main" id="{47C73B0C-C074-4AE8-9861-A6623513B57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1" name="Rectangle 10">
              <a:extLst>
                <a:ext uri="{FF2B5EF4-FFF2-40B4-BE49-F238E27FC236}">
                  <a16:creationId xmlns:a16="http://schemas.microsoft.com/office/drawing/2014/main" id="{ED9DABC8-C4D9-42D2-BBB2-20ABABBF19C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12" name="Picture 14" descr="Picture 7.png">
            <a:extLst>
              <a:ext uri="{FF2B5EF4-FFF2-40B4-BE49-F238E27FC236}">
                <a16:creationId xmlns:a16="http://schemas.microsoft.com/office/drawing/2014/main" id="{ED21E0F8-59AE-4098-9AEB-079CF742FC5F}"/>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1039035E-6E9E-4180-B962-AB1777BB0877}"/>
              </a:ext>
            </a:extLst>
          </p:cNvPr>
          <p:cNvSpPr txBox="1">
            <a:spLocks noChangeArrowheads="1"/>
          </p:cNvSpPr>
          <p:nvPr/>
        </p:nvSpPr>
        <p:spPr bwMode="auto">
          <a:xfrm>
            <a:off x="4368800" y="6596064"/>
            <a:ext cx="78232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Deemed to be University under Section 3 of UGC Act, 1956</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526218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a:extLst>
              <a:ext uri="{FF2B5EF4-FFF2-40B4-BE49-F238E27FC236}">
                <a16:creationId xmlns:a16="http://schemas.microsoft.com/office/drawing/2014/main" id="{37DF5DB4-2B25-47FB-BEEB-360E8B4AE98B}"/>
              </a:ext>
            </a:extLst>
          </p:cNvPr>
          <p:cNvGrpSpPr>
            <a:grpSpLocks/>
          </p:cNvGrpSpPr>
          <p:nvPr/>
        </p:nvGrpSpPr>
        <p:grpSpPr bwMode="auto">
          <a:xfrm>
            <a:off x="0" y="1295400"/>
            <a:ext cx="9347200" cy="46038"/>
            <a:chOff x="1905000" y="6553200"/>
            <a:chExt cx="7010400" cy="45719"/>
          </a:xfrm>
        </p:grpSpPr>
        <p:sp>
          <p:nvSpPr>
            <p:cNvPr id="6" name="Rectangle 5">
              <a:extLst>
                <a:ext uri="{FF2B5EF4-FFF2-40B4-BE49-F238E27FC236}">
                  <a16:creationId xmlns:a16="http://schemas.microsoft.com/office/drawing/2014/main" id="{9DCF59F4-EAA6-40F6-BFC4-D106BCA3C8C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7997095B-7B10-4C94-AF02-000B368B336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Rectangle 8">
              <a:extLst>
                <a:ext uri="{FF2B5EF4-FFF2-40B4-BE49-F238E27FC236}">
                  <a16:creationId xmlns:a16="http://schemas.microsoft.com/office/drawing/2014/main" id="{F57C78FF-D919-4FFB-88F7-5BCD52945A0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0" name="Group 13">
            <a:extLst>
              <a:ext uri="{FF2B5EF4-FFF2-40B4-BE49-F238E27FC236}">
                <a16:creationId xmlns:a16="http://schemas.microsoft.com/office/drawing/2014/main" id="{75DBD920-CCE8-4A77-96B7-A77992985E05}"/>
              </a:ext>
            </a:extLst>
          </p:cNvPr>
          <p:cNvGrpSpPr>
            <a:grpSpLocks/>
          </p:cNvGrpSpPr>
          <p:nvPr/>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A0A4134A-F307-4458-873B-0555D484311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4CD0B241-DA75-4DCD-A8E8-22243D424745}"/>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3" name="Rectangle 12">
              <a:extLst>
                <a:ext uri="{FF2B5EF4-FFF2-40B4-BE49-F238E27FC236}">
                  <a16:creationId xmlns:a16="http://schemas.microsoft.com/office/drawing/2014/main" id="{D828F3B0-BBBB-4CE7-984A-3CCCA86BE8A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14" name="Picture 14" descr="Picture 7.png">
            <a:extLst>
              <a:ext uri="{FF2B5EF4-FFF2-40B4-BE49-F238E27FC236}">
                <a16:creationId xmlns:a16="http://schemas.microsoft.com/office/drawing/2014/main" id="{F15ED457-BEB5-4588-A50E-29B76CD242D2}"/>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05D660D4-6A3D-4890-98F4-E79D29F6E321}"/>
              </a:ext>
            </a:extLst>
          </p:cNvPr>
          <p:cNvSpPr txBox="1">
            <a:spLocks noChangeArrowheads="1"/>
          </p:cNvSpPr>
          <p:nvPr/>
        </p:nvSpPr>
        <p:spPr bwMode="auto">
          <a:xfrm>
            <a:off x="4368800" y="6596064"/>
            <a:ext cx="78232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sp>
        <p:nvSpPr>
          <p:cNvPr id="3" name="Content Placeholder 2"/>
          <p:cNvSpPr>
            <a:spLocks noGrp="1"/>
          </p:cNvSpPr>
          <p:nvPr>
            <p:ph idx="1"/>
          </p:nvPr>
        </p:nvSpPr>
        <p:spPr>
          <a:xfrm>
            <a:off x="4766733" y="1600201"/>
            <a:ext cx="6815667"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600201"/>
            <a:ext cx="4011084"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02424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411B6259-1CB3-416E-AB8D-3A43D4D50D3B}"/>
              </a:ext>
            </a:extLst>
          </p:cNvPr>
          <p:cNvGrpSpPr>
            <a:grpSpLocks/>
          </p:cNvGrpSpPr>
          <p:nvPr/>
        </p:nvGrpSpPr>
        <p:grpSpPr bwMode="auto">
          <a:xfrm>
            <a:off x="0" y="1295400"/>
            <a:ext cx="9347200" cy="46038"/>
            <a:chOff x="1905000" y="6553200"/>
            <a:chExt cx="7010400" cy="45719"/>
          </a:xfrm>
        </p:grpSpPr>
        <p:sp>
          <p:nvSpPr>
            <p:cNvPr id="7" name="Rectangle 6">
              <a:extLst>
                <a:ext uri="{FF2B5EF4-FFF2-40B4-BE49-F238E27FC236}">
                  <a16:creationId xmlns:a16="http://schemas.microsoft.com/office/drawing/2014/main" id="{E9624D06-7EF0-4532-8F1E-FC0126D45C7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A49E44EB-7F47-444F-815C-7D565BF5B12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Rectangle 8">
              <a:extLst>
                <a:ext uri="{FF2B5EF4-FFF2-40B4-BE49-F238E27FC236}">
                  <a16:creationId xmlns:a16="http://schemas.microsoft.com/office/drawing/2014/main" id="{4FB3B02F-3F98-4C3E-A2EC-86F4E431AB2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0" name="Group 10">
            <a:extLst>
              <a:ext uri="{FF2B5EF4-FFF2-40B4-BE49-F238E27FC236}">
                <a16:creationId xmlns:a16="http://schemas.microsoft.com/office/drawing/2014/main" id="{5031C8E8-9E3F-4891-8C47-11040A69CA30}"/>
              </a:ext>
            </a:extLst>
          </p:cNvPr>
          <p:cNvGrpSpPr>
            <a:grpSpLocks/>
          </p:cNvGrpSpPr>
          <p:nvPr/>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CBBEFEA3-24FC-4979-B444-659A975BFF8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5790A994-8FA0-48B7-8F35-A27CFFD279E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3" name="Rectangle 12">
              <a:extLst>
                <a:ext uri="{FF2B5EF4-FFF2-40B4-BE49-F238E27FC236}">
                  <a16:creationId xmlns:a16="http://schemas.microsoft.com/office/drawing/2014/main" id="{733756B5-C44C-419F-B218-FA8CE3E8E7C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14" name="Picture 14" descr="Picture 7.png">
            <a:extLst>
              <a:ext uri="{FF2B5EF4-FFF2-40B4-BE49-F238E27FC236}">
                <a16:creationId xmlns:a16="http://schemas.microsoft.com/office/drawing/2014/main" id="{70D77250-19B7-4AFE-8ACD-F7D6D0CE5B26}"/>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5930859A-AC15-41FF-BF51-4F6F8F49E339}"/>
              </a:ext>
            </a:extLst>
          </p:cNvPr>
          <p:cNvSpPr txBox="1">
            <a:spLocks noChangeArrowheads="1"/>
          </p:cNvSpPr>
          <p:nvPr/>
        </p:nvSpPr>
        <p:spPr bwMode="auto">
          <a:xfrm>
            <a:off x="4368800" y="6596064"/>
            <a:ext cx="78232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sp>
        <p:nvSpPr>
          <p:cNvPr id="2" name="Title 1"/>
          <p:cNvSpPr>
            <a:spLocks noGrp="1"/>
          </p:cNvSpPr>
          <p:nvPr>
            <p:ph type="title"/>
          </p:nvPr>
        </p:nvSpPr>
        <p:spPr>
          <a:xfrm>
            <a:off x="2389717" y="5407025"/>
            <a:ext cx="7315200" cy="304800"/>
          </a:xfrm>
        </p:spPr>
        <p:txBody>
          <a:bodyPr anchor="b"/>
          <a:lstStyle>
            <a:lvl1pPr algn="l">
              <a:defRPr sz="1800" b="1" spc="0"/>
            </a:lvl1pPr>
          </a:lstStyle>
          <a:p>
            <a:r>
              <a:rPr lang="en-US"/>
              <a:t>Click to edit Master title style</a:t>
            </a:r>
            <a:endParaRPr lang="en-US" dirty="0"/>
          </a:p>
        </p:txBody>
      </p:sp>
      <p:sp>
        <p:nvSpPr>
          <p:cNvPr id="3" name="Picture Placeholder 2"/>
          <p:cNvSpPr>
            <a:spLocks noGrp="1"/>
          </p:cNvSpPr>
          <p:nvPr>
            <p:ph type="pic" idx="1"/>
          </p:nvPr>
        </p:nvSpPr>
        <p:spPr>
          <a:xfrm>
            <a:off x="2389717" y="1828800"/>
            <a:ext cx="73152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711825"/>
            <a:ext cx="73152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038111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a:extLst>
              <a:ext uri="{FF2B5EF4-FFF2-40B4-BE49-F238E27FC236}">
                <a16:creationId xmlns:a16="http://schemas.microsoft.com/office/drawing/2014/main" id="{1E671B92-54D2-46FD-8C28-BC38563DE2B6}"/>
              </a:ext>
            </a:extLst>
          </p:cNvPr>
          <p:cNvGrpSpPr>
            <a:grpSpLocks/>
          </p:cNvGrpSpPr>
          <p:nvPr/>
        </p:nvGrpSpPr>
        <p:grpSpPr bwMode="auto">
          <a:xfrm>
            <a:off x="0" y="1295400"/>
            <a:ext cx="9347200" cy="46038"/>
            <a:chOff x="1905000" y="6553200"/>
            <a:chExt cx="7010400" cy="45719"/>
          </a:xfrm>
        </p:grpSpPr>
        <p:sp>
          <p:nvSpPr>
            <p:cNvPr id="5" name="Rectangle 4">
              <a:extLst>
                <a:ext uri="{FF2B5EF4-FFF2-40B4-BE49-F238E27FC236}">
                  <a16:creationId xmlns:a16="http://schemas.microsoft.com/office/drawing/2014/main" id="{A6F21680-303D-4944-BE4A-F1B498DE674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729E2841-229F-437C-8C87-147F7590C0B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4A140775-8697-4E34-93D3-9F82479D013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8" name="Group 24">
            <a:extLst>
              <a:ext uri="{FF2B5EF4-FFF2-40B4-BE49-F238E27FC236}">
                <a16:creationId xmlns:a16="http://schemas.microsoft.com/office/drawing/2014/main" id="{DC318521-F7A8-4895-B1EE-F36BBF47A1B7}"/>
              </a:ext>
            </a:extLst>
          </p:cNvPr>
          <p:cNvGrpSpPr>
            <a:grpSpLocks/>
          </p:cNvGrpSpPr>
          <p:nvPr/>
        </p:nvGrpSpPr>
        <p:grpSpPr bwMode="auto">
          <a:xfrm>
            <a:off x="2844800" y="6553200"/>
            <a:ext cx="9347200" cy="46038"/>
            <a:chOff x="1905000" y="6553200"/>
            <a:chExt cx="7010400" cy="45719"/>
          </a:xfrm>
        </p:grpSpPr>
        <p:sp>
          <p:nvSpPr>
            <p:cNvPr id="9" name="Rectangle 8">
              <a:extLst>
                <a:ext uri="{FF2B5EF4-FFF2-40B4-BE49-F238E27FC236}">
                  <a16:creationId xmlns:a16="http://schemas.microsoft.com/office/drawing/2014/main" id="{2EE4EB7D-0007-4396-9CAD-2B9EDFDD36AA}"/>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0" name="Rectangle 9">
              <a:extLst>
                <a:ext uri="{FF2B5EF4-FFF2-40B4-BE49-F238E27FC236}">
                  <a16:creationId xmlns:a16="http://schemas.microsoft.com/office/drawing/2014/main" id="{8ADD2DC1-5CDD-460D-9711-01619A5FFBE6}"/>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1" name="Rectangle 10">
              <a:extLst>
                <a:ext uri="{FF2B5EF4-FFF2-40B4-BE49-F238E27FC236}">
                  <a16:creationId xmlns:a16="http://schemas.microsoft.com/office/drawing/2014/main" id="{B814364F-D668-4BCE-BB8E-E9AB73F66B2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12" name="Picture 14" descr="Picture 7.png">
            <a:extLst>
              <a:ext uri="{FF2B5EF4-FFF2-40B4-BE49-F238E27FC236}">
                <a16:creationId xmlns:a16="http://schemas.microsoft.com/office/drawing/2014/main" id="{F7424A7E-E8A9-4292-BEA0-07A0FC7A94BE}"/>
              </a:ext>
            </a:extLst>
          </p:cNvPr>
          <p:cNvPicPr>
            <a:picLocks noChangeAspect="1"/>
          </p:cNvPicPr>
          <p:nvPr/>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F5C67708-1998-45A2-A5D4-40082D705453}"/>
              </a:ext>
            </a:extLst>
          </p:cNvPr>
          <p:cNvSpPr txBox="1">
            <a:spLocks noChangeArrowheads="1"/>
          </p:cNvSpPr>
          <p:nvPr/>
        </p:nvSpPr>
        <p:spPr bwMode="auto">
          <a:xfrm>
            <a:off x="4368800" y="6596064"/>
            <a:ext cx="78232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570990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a:extLst>
              <a:ext uri="{FF2B5EF4-FFF2-40B4-BE49-F238E27FC236}">
                <a16:creationId xmlns:a16="http://schemas.microsoft.com/office/drawing/2014/main" id="{2A3FA2FF-124E-418A-816A-22DCA04AD1B6}"/>
              </a:ext>
            </a:extLst>
          </p:cNvPr>
          <p:cNvGrpSpPr>
            <a:grpSpLocks/>
          </p:cNvGrpSpPr>
          <p:nvPr/>
        </p:nvGrpSpPr>
        <p:grpSpPr bwMode="auto">
          <a:xfrm rot="5400000">
            <a:off x="7538509" y="2560109"/>
            <a:ext cx="5181600" cy="61383"/>
            <a:chOff x="1905000" y="6553200"/>
            <a:chExt cx="7010400" cy="45719"/>
          </a:xfrm>
        </p:grpSpPr>
        <p:sp>
          <p:nvSpPr>
            <p:cNvPr id="5" name="Rectangle 4">
              <a:extLst>
                <a:ext uri="{FF2B5EF4-FFF2-40B4-BE49-F238E27FC236}">
                  <a16:creationId xmlns:a16="http://schemas.microsoft.com/office/drawing/2014/main" id="{A161177A-762B-4496-B8FD-263C476E2256}"/>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14D305FC-90DE-4ABC-BA7A-74C62CC15C95}"/>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D1676177-D11F-42A4-92BB-BA4E677A5309}"/>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9" name="Picture 10" descr="Picture 7.png">
            <a:extLst>
              <a:ext uri="{FF2B5EF4-FFF2-40B4-BE49-F238E27FC236}">
                <a16:creationId xmlns:a16="http://schemas.microsoft.com/office/drawing/2014/main" id="{AAEE1496-EC23-4E0A-A021-62833EBB774D}"/>
              </a:ext>
            </a:extLst>
          </p:cNvPr>
          <p:cNvPicPr>
            <a:picLocks noChangeAspect="1"/>
          </p:cNvPicPr>
          <p:nvPr/>
        </p:nvPicPr>
        <p:blipFill>
          <a:blip r:embed="rId2">
            <a:extLst>
              <a:ext uri="{28A0092B-C50C-407E-A947-70E740481C1C}">
                <a14:useLocalDpi xmlns:a14="http://schemas.microsoft.com/office/drawing/2010/main" val="0"/>
              </a:ext>
            </a:extLst>
          </a:blip>
          <a:srcRect l="5336" t="1923"/>
          <a:stretch>
            <a:fillRect/>
          </a:stretch>
        </p:blipFill>
        <p:spPr bwMode="auto">
          <a:xfrm>
            <a:off x="-10583" y="381001"/>
            <a:ext cx="922868"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72B98BE4-181B-4972-8322-5EA4ABED571C}"/>
              </a:ext>
            </a:extLst>
          </p:cNvPr>
          <p:cNvSpPr txBox="1">
            <a:spLocks noChangeArrowheads="1"/>
          </p:cNvSpPr>
          <p:nvPr/>
        </p:nvSpPr>
        <p:spPr bwMode="auto">
          <a:xfrm rot="5400000">
            <a:off x="-2748491" y="3808884"/>
            <a:ext cx="5867400" cy="230832"/>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900" b="1">
                <a:solidFill>
                  <a:srgbClr val="101141"/>
                </a:solidFill>
                <a:cs typeface="Arial" charset="0"/>
              </a:rPr>
              <a:t>BITS </a:t>
            </a:r>
            <a:r>
              <a:rPr lang="en-US" sz="900">
                <a:solidFill>
                  <a:srgbClr val="101141"/>
                </a:solidFill>
                <a:cs typeface="Arial" charset="0"/>
              </a:rPr>
              <a:t>Pilani, Pilani Campus</a:t>
            </a:r>
          </a:p>
        </p:txBody>
      </p:sp>
      <p:sp>
        <p:nvSpPr>
          <p:cNvPr id="3" name="Vertical Text Placeholder 2"/>
          <p:cNvSpPr>
            <a:spLocks noGrp="1"/>
          </p:cNvSpPr>
          <p:nvPr>
            <p:ph type="body" orient="vert" idx="1"/>
          </p:nvPr>
        </p:nvSpPr>
        <p:spPr>
          <a:xfrm>
            <a:off x="1625600" y="38100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8191500" y="2552700"/>
            <a:ext cx="5867400" cy="1524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9862543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E0CB14-39C3-4304-B029-5A4D3B5C003D}"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2945D1-D3F6-426A-8A65-30077E42CCAE}" type="slidenum">
              <a:rPr lang="en-IN" smtClean="0"/>
              <a:t>‹#›</a:t>
            </a:fld>
            <a:endParaRPr lang="en-IN"/>
          </a:p>
        </p:txBody>
      </p:sp>
    </p:spTree>
    <p:extLst>
      <p:ext uri="{BB962C8B-B14F-4D97-AF65-F5344CB8AC3E}">
        <p14:creationId xmlns:p14="http://schemas.microsoft.com/office/powerpoint/2010/main" val="28101953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E0CB14-39C3-4304-B029-5A4D3B5C003D}"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2945D1-D3F6-426A-8A65-30077E42CCAE}" type="slidenum">
              <a:rPr lang="en-IN" smtClean="0"/>
              <a:t>‹#›</a:t>
            </a:fld>
            <a:endParaRPr lang="en-IN"/>
          </a:p>
        </p:txBody>
      </p:sp>
    </p:spTree>
    <p:extLst>
      <p:ext uri="{BB962C8B-B14F-4D97-AF65-F5344CB8AC3E}">
        <p14:creationId xmlns:p14="http://schemas.microsoft.com/office/powerpoint/2010/main" val="9914354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85F58-EF71-11C8-D305-DAC32CFFCB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DBF4252-B50D-2DF7-1129-664438A7B5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C6FCB04-7284-BFA9-89C4-337239626ECD}"/>
              </a:ext>
            </a:extLst>
          </p:cNvPr>
          <p:cNvSpPr>
            <a:spLocks noGrp="1"/>
          </p:cNvSpPr>
          <p:nvPr>
            <p:ph type="dt" sz="half" idx="10"/>
          </p:nvPr>
        </p:nvSpPr>
        <p:spPr/>
        <p:txBody>
          <a:bodyPr/>
          <a:lstStyle/>
          <a:p>
            <a:fld id="{4CE0CB14-39C3-4304-B029-5A4D3B5C003D}" type="datetimeFigureOut">
              <a:rPr lang="en-IN" smtClean="0"/>
              <a:t>28-11-2025</a:t>
            </a:fld>
            <a:endParaRPr lang="en-IN"/>
          </a:p>
        </p:txBody>
      </p:sp>
      <p:sp>
        <p:nvSpPr>
          <p:cNvPr id="5" name="Footer Placeholder 4">
            <a:extLst>
              <a:ext uri="{FF2B5EF4-FFF2-40B4-BE49-F238E27FC236}">
                <a16:creationId xmlns:a16="http://schemas.microsoft.com/office/drawing/2014/main" id="{44A83E2C-C8B7-85A0-754F-7B7B90B416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E761A0-BEBF-4F26-EF13-6A221A894F78}"/>
              </a:ext>
            </a:extLst>
          </p:cNvPr>
          <p:cNvSpPr>
            <a:spLocks noGrp="1"/>
          </p:cNvSpPr>
          <p:nvPr>
            <p:ph type="sldNum" sz="quarter" idx="12"/>
          </p:nvPr>
        </p:nvSpPr>
        <p:spPr/>
        <p:txBody>
          <a:bodyPr/>
          <a:lstStyle/>
          <a:p>
            <a:fld id="{C32945D1-D3F6-426A-8A65-30077E42CCAE}" type="slidenum">
              <a:rPr lang="en-IN" smtClean="0"/>
              <a:t>‹#›</a:t>
            </a:fld>
            <a:endParaRPr lang="en-IN"/>
          </a:p>
        </p:txBody>
      </p:sp>
    </p:spTree>
    <p:extLst>
      <p:ext uri="{BB962C8B-B14F-4D97-AF65-F5344CB8AC3E}">
        <p14:creationId xmlns:p14="http://schemas.microsoft.com/office/powerpoint/2010/main" val="3613810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4D699C-CD20-4363-866C-D74A71DA2722}"/>
              </a:ext>
            </a:extLst>
          </p:cNvPr>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027" name="Text Placeholder 2">
            <a:extLst>
              <a:ext uri="{FF2B5EF4-FFF2-40B4-BE49-F238E27FC236}">
                <a16:creationId xmlns:a16="http://schemas.microsoft.com/office/drawing/2014/main" id="{2F3C7842-B578-4803-BDD3-9758CCC4B6CF}"/>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2EC608E5-2647-474F-BAE0-0699095C8F7C}"/>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fld id="{4CE0CB14-39C3-4304-B029-5A4D3B5C003D}" type="datetimeFigureOut">
              <a:rPr lang="en-IN" smtClean="0"/>
              <a:t>28-11-2025</a:t>
            </a:fld>
            <a:endParaRPr lang="en-IN"/>
          </a:p>
        </p:txBody>
      </p:sp>
      <p:sp>
        <p:nvSpPr>
          <p:cNvPr id="5" name="Footer Placeholder 4">
            <a:extLst>
              <a:ext uri="{FF2B5EF4-FFF2-40B4-BE49-F238E27FC236}">
                <a16:creationId xmlns:a16="http://schemas.microsoft.com/office/drawing/2014/main" id="{532AE654-750B-42A8-9CED-A23976FA2F24}"/>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endParaRPr lang="en-IN"/>
          </a:p>
        </p:txBody>
      </p:sp>
      <p:sp>
        <p:nvSpPr>
          <p:cNvPr id="6" name="Slide Number Placeholder 5">
            <a:extLst>
              <a:ext uri="{FF2B5EF4-FFF2-40B4-BE49-F238E27FC236}">
                <a16:creationId xmlns:a16="http://schemas.microsoft.com/office/drawing/2014/main" id="{0CCED701-BCB7-45F1-970B-10CDD37F954B}"/>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cs typeface="Arial" panose="020B0604020202020204" pitchFamily="34" charset="0"/>
              </a:defRPr>
            </a:lvl1pPr>
          </a:lstStyle>
          <a:p>
            <a:fld id="{C32945D1-D3F6-426A-8A65-30077E42CCAE}" type="slidenum">
              <a:rPr lang="en-IN" smtClean="0"/>
              <a:t>‹#›</a:t>
            </a:fld>
            <a:endParaRPr lang="en-IN"/>
          </a:p>
        </p:txBody>
      </p:sp>
    </p:spTree>
    <p:extLst>
      <p:ext uri="{BB962C8B-B14F-4D97-AF65-F5344CB8AC3E}">
        <p14:creationId xmlns:p14="http://schemas.microsoft.com/office/powerpoint/2010/main" val="8654028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rtl="0" eaLnBrk="1" fontAlgn="base" hangingPunct="1">
        <a:spcBef>
          <a:spcPct val="0"/>
        </a:spcBef>
        <a:spcAft>
          <a:spcPct val="0"/>
        </a:spcAft>
        <a:defRPr sz="4000" b="1" kern="1200" spc="-150">
          <a:solidFill>
            <a:schemeClr val="tx1"/>
          </a:solidFill>
          <a:latin typeface="Arial" pitchFamily="34" charset="0"/>
          <a:ea typeface="+mj-ea"/>
          <a:cs typeface="Arial" pitchFamily="34" charset="0"/>
        </a:defRPr>
      </a:lvl1pPr>
      <a:lvl2pPr algn="l" rtl="0" eaLnBrk="1" fontAlgn="base" hangingPunct="1">
        <a:spcBef>
          <a:spcPct val="0"/>
        </a:spcBef>
        <a:spcAft>
          <a:spcPct val="0"/>
        </a:spcAft>
        <a:defRPr sz="4000" b="1">
          <a:solidFill>
            <a:schemeClr val="tx1"/>
          </a:solidFill>
          <a:latin typeface="Arial" charset="0"/>
          <a:cs typeface="Arial" charset="0"/>
        </a:defRPr>
      </a:lvl2pPr>
      <a:lvl3pPr algn="l" rtl="0" eaLnBrk="1" fontAlgn="base" hangingPunct="1">
        <a:spcBef>
          <a:spcPct val="0"/>
        </a:spcBef>
        <a:spcAft>
          <a:spcPct val="0"/>
        </a:spcAft>
        <a:defRPr sz="4000" b="1">
          <a:solidFill>
            <a:schemeClr val="tx1"/>
          </a:solidFill>
          <a:latin typeface="Arial" charset="0"/>
          <a:cs typeface="Arial" charset="0"/>
        </a:defRPr>
      </a:lvl3pPr>
      <a:lvl4pPr algn="l" rtl="0" eaLnBrk="1" fontAlgn="base" hangingPunct="1">
        <a:spcBef>
          <a:spcPct val="0"/>
        </a:spcBef>
        <a:spcAft>
          <a:spcPct val="0"/>
        </a:spcAft>
        <a:defRPr sz="4000" b="1">
          <a:solidFill>
            <a:schemeClr val="tx1"/>
          </a:solidFill>
          <a:latin typeface="Arial" charset="0"/>
          <a:cs typeface="Arial" charset="0"/>
        </a:defRPr>
      </a:lvl4pPr>
      <a:lvl5pPr algn="l" rtl="0" eaLnBrk="1" fontAlgn="base" hangingPunct="1">
        <a:spcBef>
          <a:spcPct val="0"/>
        </a:spcBef>
        <a:spcAft>
          <a:spcPct val="0"/>
        </a:spcAft>
        <a:defRPr sz="4000" b="1">
          <a:solidFill>
            <a:schemeClr val="tx1"/>
          </a:solidFill>
          <a:latin typeface="Arial" charset="0"/>
          <a:cs typeface="Arial" charset="0"/>
        </a:defRPr>
      </a:lvl5pPr>
      <a:lvl6pPr marL="457200" algn="l" rtl="0" eaLnBrk="1" fontAlgn="base" hangingPunct="1">
        <a:spcBef>
          <a:spcPct val="0"/>
        </a:spcBef>
        <a:spcAft>
          <a:spcPct val="0"/>
        </a:spcAft>
        <a:defRPr sz="4000" b="1">
          <a:solidFill>
            <a:schemeClr val="tx1"/>
          </a:solidFill>
          <a:latin typeface="Arial" charset="0"/>
          <a:cs typeface="Arial" charset="0"/>
        </a:defRPr>
      </a:lvl6pPr>
      <a:lvl7pPr marL="914400" algn="l" rtl="0" eaLnBrk="1" fontAlgn="base" hangingPunct="1">
        <a:spcBef>
          <a:spcPct val="0"/>
        </a:spcBef>
        <a:spcAft>
          <a:spcPct val="0"/>
        </a:spcAft>
        <a:defRPr sz="4000" b="1">
          <a:solidFill>
            <a:schemeClr val="tx1"/>
          </a:solidFill>
          <a:latin typeface="Arial" charset="0"/>
          <a:cs typeface="Arial" charset="0"/>
        </a:defRPr>
      </a:lvl7pPr>
      <a:lvl8pPr marL="1371600" algn="l" rtl="0" eaLnBrk="1" fontAlgn="base" hangingPunct="1">
        <a:spcBef>
          <a:spcPct val="0"/>
        </a:spcBef>
        <a:spcAft>
          <a:spcPct val="0"/>
        </a:spcAft>
        <a:defRPr sz="4000" b="1">
          <a:solidFill>
            <a:schemeClr val="tx1"/>
          </a:solidFill>
          <a:latin typeface="Arial" charset="0"/>
          <a:cs typeface="Arial" charset="0"/>
        </a:defRPr>
      </a:lvl8pPr>
      <a:lvl9pPr marL="1828800" algn="l" rtl="0" eaLnBrk="1" fontAlgn="base" hangingPunct="1">
        <a:spcBef>
          <a:spcPct val="0"/>
        </a:spcBef>
        <a:spcAft>
          <a:spcPct val="0"/>
        </a:spcAft>
        <a:defRPr sz="4000" b="1">
          <a:solidFill>
            <a:schemeClr val="tx1"/>
          </a:solidFill>
          <a:latin typeface="Arial" charset="0"/>
          <a:cs typeface="Arial"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https://docs.oracle.com/javase/tutorial/extra/generics/index.html" TargetMode="Externa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hyperlink" Target="https://www.tutorialspoint.com/java/java_generics.htm" TargetMode="External"/><Relationship Id="rId2" Type="http://schemas.openxmlformats.org/officeDocument/2006/relationships/hyperlink" Target="https://docs.oracle.com/javase/tutorial/java/generics/index.html" TargetMode="External"/><Relationship Id="rId1" Type="http://schemas.openxmlformats.org/officeDocument/2006/relationships/slideLayout" Target="../slideLayouts/slideLayout4.xml"/><Relationship Id="rId4" Type="http://schemas.openxmlformats.org/officeDocument/2006/relationships/hyperlink" Target="https://docs.oracle.com/javase/tutorial/extra/generics/index.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0D24E64-40F3-A41A-F699-259C03D89231}"/>
              </a:ext>
            </a:extLst>
          </p:cNvPr>
          <p:cNvSpPr>
            <a:spLocks noGrp="1"/>
          </p:cNvSpPr>
          <p:nvPr>
            <p:ph type="title"/>
          </p:nvPr>
        </p:nvSpPr>
        <p:spPr>
          <a:xfrm>
            <a:off x="3581400" y="3810000"/>
            <a:ext cx="7086600" cy="1524000"/>
          </a:xfrm>
        </p:spPr>
        <p:txBody>
          <a:bodyPr/>
          <a:lstStyle/>
          <a:p>
            <a:pPr fontAlgn="auto">
              <a:spcAft>
                <a:spcPts val="0"/>
              </a:spcAft>
              <a:defRPr/>
            </a:pPr>
            <a:r>
              <a:rPr lang="en-US" sz="3600" dirty="0"/>
              <a:t>Object Oriented Programming Design</a:t>
            </a:r>
          </a:p>
        </p:txBody>
      </p:sp>
      <p:sp>
        <p:nvSpPr>
          <p:cNvPr id="15363" name="Content Placeholder 5">
            <a:extLst>
              <a:ext uri="{FF2B5EF4-FFF2-40B4-BE49-F238E27FC236}">
                <a16:creationId xmlns:a16="http://schemas.microsoft.com/office/drawing/2014/main" id="{539F2ECE-EE30-CB9E-2E9C-1E17729C39E6}"/>
              </a:ext>
            </a:extLst>
          </p:cNvPr>
          <p:cNvSpPr>
            <a:spLocks noGrp="1"/>
          </p:cNvSpPr>
          <p:nvPr>
            <p:ph sz="quarter" idx="13"/>
          </p:nvPr>
        </p:nvSpPr>
        <p:spPr>
          <a:xfrm>
            <a:off x="3352799" y="5410200"/>
            <a:ext cx="8042031" cy="533400"/>
          </a:xfrm>
        </p:spPr>
        <p:txBody>
          <a:bodyPr/>
          <a:lstStyle/>
          <a:p>
            <a:pPr algn="l" eaLnBrk="1" hangingPunct="1">
              <a:spcBef>
                <a:spcPct val="0"/>
              </a:spcBef>
            </a:pPr>
            <a:r>
              <a:rPr lang="en-US" altLang="en-US" sz="2400" b="1" dirty="0"/>
              <a:t>          SESSION 16           		Date : 25-01-2025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B1E632-18AF-3C1A-DD4B-D387DE135523}"/>
              </a:ext>
            </a:extLst>
          </p:cNvPr>
          <p:cNvSpPr>
            <a:spLocks noGrp="1"/>
          </p:cNvSpPr>
          <p:nvPr>
            <p:ph sz="quarter" idx="10"/>
          </p:nvPr>
        </p:nvSpPr>
        <p:spPr/>
        <p:txBody>
          <a:bodyPr/>
          <a:lstStyle/>
          <a:p>
            <a:r>
              <a:rPr lang="en-US" dirty="0"/>
              <a:t>Generics in Java</a:t>
            </a:r>
            <a:endParaRPr lang="en-IN" dirty="0"/>
          </a:p>
        </p:txBody>
      </p:sp>
    </p:spTree>
    <p:extLst>
      <p:ext uri="{BB962C8B-B14F-4D97-AF65-F5344CB8AC3E}">
        <p14:creationId xmlns:p14="http://schemas.microsoft.com/office/powerpoint/2010/main" val="1138918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9B142F-4797-3DC1-356A-DE3AC561E4C4}"/>
              </a:ext>
            </a:extLst>
          </p:cNvPr>
          <p:cNvSpPr>
            <a:spLocks noGrp="1"/>
          </p:cNvSpPr>
          <p:nvPr>
            <p:ph idx="1"/>
          </p:nvPr>
        </p:nvSpPr>
        <p:spPr>
          <a:xfrm>
            <a:off x="406400" y="1464212"/>
            <a:ext cx="10972800" cy="5040745"/>
          </a:xfrm>
        </p:spPr>
        <p:txBody>
          <a:bodyPr/>
          <a:lstStyle/>
          <a:p>
            <a:pPr algn="just">
              <a:buFont typeface="Wingdings" panose="05000000000000000000" pitchFamily="2" charset="2"/>
              <a:buChar char="Ø"/>
            </a:pPr>
            <a:r>
              <a:rPr lang="en-US" sz="2000" b="0" i="0" dirty="0">
                <a:solidFill>
                  <a:srgbClr val="000000"/>
                </a:solidFill>
                <a:effectLst/>
                <a:latin typeface="Rockwell" panose="02060603020205020403" pitchFamily="18" charset="0"/>
              </a:rPr>
              <a:t>In any nontrivial software project, bugs are simply a fact of life. </a:t>
            </a:r>
          </a:p>
          <a:p>
            <a:pPr algn="just">
              <a:buFont typeface="Wingdings" panose="05000000000000000000" pitchFamily="2" charset="2"/>
              <a:buChar char="Ø"/>
            </a:pPr>
            <a:r>
              <a:rPr lang="en-US" sz="2000" b="0" i="0" dirty="0">
                <a:solidFill>
                  <a:srgbClr val="000000"/>
                </a:solidFill>
                <a:effectLst/>
                <a:latin typeface="Rockwell" panose="02060603020205020403" pitchFamily="18" charset="0"/>
              </a:rPr>
              <a:t>Careful planning, programming, and testing can help reduce their pervasiveness, but somehow, somewhere, they'll always find a way to creep into your code. </a:t>
            </a:r>
          </a:p>
          <a:p>
            <a:pPr algn="just">
              <a:buFont typeface="Wingdings" panose="05000000000000000000" pitchFamily="2" charset="2"/>
              <a:buChar char="Ø"/>
            </a:pPr>
            <a:r>
              <a:rPr lang="en-US" sz="2000" b="0" i="0" dirty="0">
                <a:solidFill>
                  <a:srgbClr val="000000"/>
                </a:solidFill>
                <a:effectLst/>
                <a:latin typeface="Rockwell" panose="02060603020205020403" pitchFamily="18" charset="0"/>
              </a:rPr>
              <a:t>This becomes especially apparent as new features are introduced and your code base grows in size and complexity.</a:t>
            </a:r>
          </a:p>
          <a:p>
            <a:pPr algn="just">
              <a:buFont typeface="Wingdings" panose="05000000000000000000" pitchFamily="2" charset="2"/>
              <a:buChar char="Ø"/>
            </a:pPr>
            <a:r>
              <a:rPr lang="en-US" sz="2000" b="0" i="0" dirty="0">
                <a:solidFill>
                  <a:srgbClr val="000000"/>
                </a:solidFill>
                <a:effectLst/>
                <a:latin typeface="Rockwell" panose="02060603020205020403" pitchFamily="18" charset="0"/>
              </a:rPr>
              <a:t>Fortunately, some bugs are easier to detect than others. </a:t>
            </a:r>
          </a:p>
          <a:p>
            <a:pPr algn="just">
              <a:buFont typeface="Wingdings" panose="05000000000000000000" pitchFamily="2" charset="2"/>
              <a:buChar char="Ø"/>
            </a:pPr>
            <a:r>
              <a:rPr lang="en-US" sz="2000" b="0" i="0" dirty="0">
                <a:solidFill>
                  <a:srgbClr val="000000"/>
                </a:solidFill>
                <a:effectLst/>
                <a:latin typeface="Rockwell" panose="02060603020205020403" pitchFamily="18" charset="0"/>
              </a:rPr>
              <a:t>Compile-time bugs, for example, can be detected early on; you can use the compiler's error messages to figure out what the problem is and fix it, right then and there. </a:t>
            </a:r>
          </a:p>
          <a:p>
            <a:pPr algn="just">
              <a:buFont typeface="Wingdings" panose="05000000000000000000" pitchFamily="2" charset="2"/>
              <a:buChar char="Ø"/>
            </a:pPr>
            <a:r>
              <a:rPr lang="en-US" sz="2000" b="0" i="0" dirty="0">
                <a:solidFill>
                  <a:srgbClr val="000000"/>
                </a:solidFill>
                <a:effectLst/>
                <a:latin typeface="Rockwell" panose="02060603020205020403" pitchFamily="18" charset="0"/>
              </a:rPr>
              <a:t>Runtime bugs, however, can be much more problematic; they don't always surface immediately, and when they do, it may be at a point in the program that is far removed from the actual cause of the problem.</a:t>
            </a:r>
          </a:p>
          <a:p>
            <a:pPr algn="just">
              <a:buFont typeface="Wingdings" panose="05000000000000000000" pitchFamily="2" charset="2"/>
              <a:buChar char="Ø"/>
            </a:pPr>
            <a:r>
              <a:rPr lang="en-US" sz="2000" b="0" i="0" dirty="0">
                <a:solidFill>
                  <a:srgbClr val="000000"/>
                </a:solidFill>
                <a:effectLst/>
                <a:latin typeface="Rockwell" panose="02060603020205020403" pitchFamily="18" charset="0"/>
              </a:rPr>
              <a:t>Generics add stability to your code by making more of your bugs detectable at compile time. After completing this lesson, you may want to follow up with the </a:t>
            </a:r>
            <a:r>
              <a:rPr lang="en-US" sz="2000" b="0" i="0" u="none" strike="noStrike" dirty="0">
                <a:solidFill>
                  <a:srgbClr val="09569D"/>
                </a:solidFill>
                <a:effectLst/>
                <a:latin typeface="Rockwell" panose="02060603020205020403" pitchFamily="18" charset="0"/>
                <a:hlinkClick r:id="rId2"/>
              </a:rPr>
              <a:t>Generics</a:t>
            </a:r>
            <a:r>
              <a:rPr lang="en-US" sz="2000" b="0" i="0" dirty="0">
                <a:solidFill>
                  <a:srgbClr val="000000"/>
                </a:solidFill>
                <a:effectLst/>
                <a:latin typeface="Rockwell" panose="02060603020205020403" pitchFamily="18" charset="0"/>
              </a:rPr>
              <a:t> tutorial by Gilad </a:t>
            </a:r>
            <a:r>
              <a:rPr lang="en-US" sz="2000" b="0" i="0" dirty="0" err="1">
                <a:solidFill>
                  <a:srgbClr val="000000"/>
                </a:solidFill>
                <a:effectLst/>
                <a:latin typeface="Rockwell" panose="02060603020205020403" pitchFamily="18" charset="0"/>
              </a:rPr>
              <a:t>Bracha</a:t>
            </a:r>
            <a:r>
              <a:rPr lang="en-US" sz="2000" b="0" i="0" dirty="0">
                <a:solidFill>
                  <a:srgbClr val="000000"/>
                </a:solidFill>
                <a:effectLst/>
                <a:latin typeface="Rockwell" panose="02060603020205020403" pitchFamily="18" charset="0"/>
              </a:rPr>
              <a:t>.</a:t>
            </a:r>
          </a:p>
          <a:p>
            <a:pPr algn="just"/>
            <a:endParaRPr lang="en-IN" dirty="0"/>
          </a:p>
        </p:txBody>
      </p:sp>
      <p:sp>
        <p:nvSpPr>
          <p:cNvPr id="3" name="Content Placeholder 2">
            <a:extLst>
              <a:ext uri="{FF2B5EF4-FFF2-40B4-BE49-F238E27FC236}">
                <a16:creationId xmlns:a16="http://schemas.microsoft.com/office/drawing/2014/main" id="{3FB6437C-90DE-837D-292E-C704945DAA61}"/>
              </a:ext>
            </a:extLst>
          </p:cNvPr>
          <p:cNvSpPr>
            <a:spLocks noGrp="1"/>
          </p:cNvSpPr>
          <p:nvPr>
            <p:ph sz="quarter" idx="10"/>
          </p:nvPr>
        </p:nvSpPr>
        <p:spPr/>
        <p:txBody>
          <a:bodyPr/>
          <a:lstStyle/>
          <a:p>
            <a:r>
              <a:rPr lang="en-US" dirty="0"/>
              <a:t>Generics </a:t>
            </a:r>
            <a:endParaRPr lang="en-IN" dirty="0"/>
          </a:p>
        </p:txBody>
      </p:sp>
    </p:spTree>
    <p:extLst>
      <p:ext uri="{BB962C8B-B14F-4D97-AF65-F5344CB8AC3E}">
        <p14:creationId xmlns:p14="http://schemas.microsoft.com/office/powerpoint/2010/main" val="2614017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AD1BFE-9A84-AD35-5DDD-930BCFC9B374}"/>
              </a:ext>
            </a:extLst>
          </p:cNvPr>
          <p:cNvSpPr>
            <a:spLocks noGrp="1"/>
          </p:cNvSpPr>
          <p:nvPr>
            <p:ph idx="1"/>
          </p:nvPr>
        </p:nvSpPr>
        <p:spPr>
          <a:xfrm>
            <a:off x="406400" y="1310640"/>
            <a:ext cx="10972800" cy="5188526"/>
          </a:xfrm>
        </p:spPr>
        <p:txBody>
          <a:bodyPr/>
          <a:lstStyle/>
          <a:p>
            <a:pPr algn="l"/>
            <a:r>
              <a:rPr lang="en-US" b="1" i="0" dirty="0">
                <a:solidFill>
                  <a:srgbClr val="333333"/>
                </a:solidFill>
                <a:effectLst/>
                <a:latin typeface="Rockwell" panose="02060603020205020403" pitchFamily="18" charset="0"/>
              </a:rPr>
              <a:t>Why Use Generics?</a:t>
            </a:r>
          </a:p>
          <a:p>
            <a:pPr algn="l">
              <a:buFont typeface="Arial" panose="020B0604020202020204" pitchFamily="34" charset="0"/>
              <a:buChar char="•"/>
            </a:pPr>
            <a:r>
              <a:rPr lang="en-US" b="0" i="0" dirty="0">
                <a:solidFill>
                  <a:srgbClr val="000000"/>
                </a:solidFill>
                <a:effectLst/>
                <a:latin typeface="Rockwell" panose="02060603020205020403" pitchFamily="18" charset="0"/>
              </a:rPr>
              <a:t>In a nutshell, generics enable </a:t>
            </a:r>
            <a:r>
              <a:rPr lang="en-US" b="0" i="1" dirty="0">
                <a:solidFill>
                  <a:srgbClr val="000000"/>
                </a:solidFill>
                <a:effectLst/>
                <a:latin typeface="Rockwell" panose="02060603020205020403" pitchFamily="18" charset="0"/>
              </a:rPr>
              <a:t>types</a:t>
            </a:r>
            <a:r>
              <a:rPr lang="en-US" b="0" i="0" dirty="0">
                <a:solidFill>
                  <a:srgbClr val="000000"/>
                </a:solidFill>
                <a:effectLst/>
                <a:latin typeface="Rockwell" panose="02060603020205020403" pitchFamily="18" charset="0"/>
              </a:rPr>
              <a:t> (classes and interfaces) to be parameters when defining classes, interfaces and methods. </a:t>
            </a:r>
          </a:p>
          <a:p>
            <a:pPr algn="l">
              <a:buFont typeface="Arial" panose="020B0604020202020204" pitchFamily="34" charset="0"/>
              <a:buChar char="•"/>
            </a:pPr>
            <a:r>
              <a:rPr lang="en-US" b="0" i="0" dirty="0">
                <a:solidFill>
                  <a:srgbClr val="000000"/>
                </a:solidFill>
                <a:effectLst/>
                <a:latin typeface="Rockwell" panose="02060603020205020403" pitchFamily="18" charset="0"/>
              </a:rPr>
              <a:t>Much like the more familiar </a:t>
            </a:r>
            <a:r>
              <a:rPr lang="en-US" b="0" i="1" dirty="0">
                <a:solidFill>
                  <a:srgbClr val="000000"/>
                </a:solidFill>
                <a:effectLst/>
                <a:latin typeface="Rockwell" panose="02060603020205020403" pitchFamily="18" charset="0"/>
              </a:rPr>
              <a:t>formal parameters</a:t>
            </a:r>
            <a:r>
              <a:rPr lang="en-US" b="0" i="0" dirty="0">
                <a:solidFill>
                  <a:srgbClr val="000000"/>
                </a:solidFill>
                <a:effectLst/>
                <a:latin typeface="Rockwell" panose="02060603020205020403" pitchFamily="18" charset="0"/>
              </a:rPr>
              <a:t> used in method declarations, type parameters provide a way for you to re-use the same code with different inputs. </a:t>
            </a:r>
          </a:p>
          <a:p>
            <a:pPr algn="l">
              <a:buFont typeface="Arial" panose="020B0604020202020204" pitchFamily="34" charset="0"/>
              <a:buChar char="•"/>
            </a:pPr>
            <a:r>
              <a:rPr lang="en-US" b="0" i="0" dirty="0">
                <a:solidFill>
                  <a:srgbClr val="000000"/>
                </a:solidFill>
                <a:effectLst/>
                <a:latin typeface="Rockwell" panose="02060603020205020403" pitchFamily="18" charset="0"/>
              </a:rPr>
              <a:t>The difference is that the inputs to formal parameters are values, while the inputs to type parameters are types.</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rgbClr val="000000"/>
                </a:solidFill>
                <a:effectLst/>
                <a:latin typeface="Rockwell" panose="02060603020205020403" pitchFamily="18" charset="0"/>
              </a:rPr>
              <a:t>Code that uses generics has many benefits over non-generic code:</a:t>
            </a:r>
            <a:endParaRPr kumimoji="0" lang="en-US" altLang="en-US" sz="2400" b="0" i="0" u="none" strike="noStrike" cap="none" normalizeH="0" baseline="0" dirty="0">
              <a:ln>
                <a:noFill/>
              </a:ln>
              <a:solidFill>
                <a:schemeClr val="tx1"/>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rgbClr val="000000"/>
                </a:solidFill>
                <a:effectLst/>
                <a:latin typeface="Rockwell" panose="02060603020205020403" pitchFamily="18" charset="0"/>
              </a:rPr>
              <a:t>Stronger type checks at compile time.</a:t>
            </a:r>
            <a:br>
              <a:rPr kumimoji="0" lang="en-US" altLang="en-US" sz="2400" b="1" i="0" u="none" strike="noStrike" cap="none" normalizeH="0" baseline="0" dirty="0">
                <a:ln>
                  <a:noFill/>
                </a:ln>
                <a:solidFill>
                  <a:srgbClr val="000000"/>
                </a:solidFill>
                <a:effectLst/>
                <a:latin typeface="Rockwell" panose="02060603020205020403" pitchFamily="18" charset="0"/>
              </a:rPr>
            </a:br>
            <a:r>
              <a:rPr kumimoji="0" lang="en-US" altLang="en-US" sz="2400" b="0" i="0" u="none" strike="noStrike" cap="none" normalizeH="0" baseline="0" dirty="0">
                <a:ln>
                  <a:noFill/>
                </a:ln>
                <a:solidFill>
                  <a:srgbClr val="000000"/>
                </a:solidFill>
                <a:effectLst/>
                <a:latin typeface="Rockwell" panose="02060603020205020403" pitchFamily="18" charset="0"/>
              </a:rPr>
              <a:t>A Java compiler applies strong type checking to generic code and issues errors if the code violates type safety. Fixing compile-time errors is easier than fixing runtime errors, which can be difficult to find.</a:t>
            </a:r>
          </a:p>
          <a:p>
            <a:endParaRPr lang="en-IN" dirty="0"/>
          </a:p>
        </p:txBody>
      </p:sp>
      <p:sp>
        <p:nvSpPr>
          <p:cNvPr id="3" name="Content Placeholder 2">
            <a:extLst>
              <a:ext uri="{FF2B5EF4-FFF2-40B4-BE49-F238E27FC236}">
                <a16:creationId xmlns:a16="http://schemas.microsoft.com/office/drawing/2014/main" id="{E179F591-7978-B165-CDA8-910D7A14B010}"/>
              </a:ext>
            </a:extLst>
          </p:cNvPr>
          <p:cNvSpPr>
            <a:spLocks noGrp="1"/>
          </p:cNvSpPr>
          <p:nvPr>
            <p:ph sz="quarter" idx="10"/>
          </p:nvPr>
        </p:nvSpPr>
        <p:spPr/>
        <p:txBody>
          <a:bodyPr/>
          <a:lstStyle/>
          <a:p>
            <a:r>
              <a:rPr lang="en-IN" b="1" i="0" dirty="0">
                <a:solidFill>
                  <a:srgbClr val="333333"/>
                </a:solidFill>
                <a:effectLst/>
                <a:latin typeface="Arial" panose="020B0604020202020204" pitchFamily="34" charset="0"/>
              </a:rPr>
              <a:t>Why Use Generics?</a:t>
            </a:r>
          </a:p>
        </p:txBody>
      </p:sp>
    </p:spTree>
    <p:extLst>
      <p:ext uri="{BB962C8B-B14F-4D97-AF65-F5344CB8AC3E}">
        <p14:creationId xmlns:p14="http://schemas.microsoft.com/office/powerpoint/2010/main" val="714553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7DE976-31A2-3CC7-C8EF-91588A9CD66C}"/>
              </a:ext>
            </a:extLst>
          </p:cNvPr>
          <p:cNvSpPr>
            <a:spLocks noGrp="1"/>
          </p:cNvSpPr>
          <p:nvPr>
            <p:ph sz="quarter" idx="10"/>
          </p:nvPr>
        </p:nvSpPr>
        <p:spPr/>
        <p:txBody>
          <a:bodyPr/>
          <a:lstStyle/>
          <a:p>
            <a:r>
              <a:rPr lang="en-IN" dirty="0"/>
              <a:t>Advantages of Generics</a:t>
            </a:r>
          </a:p>
        </p:txBody>
      </p:sp>
      <p:sp>
        <p:nvSpPr>
          <p:cNvPr id="4" name="Rectangle 1">
            <a:extLst>
              <a:ext uri="{FF2B5EF4-FFF2-40B4-BE49-F238E27FC236}">
                <a16:creationId xmlns:a16="http://schemas.microsoft.com/office/drawing/2014/main" id="{C2596486-5F6C-20AC-1F0E-15319A0EEF69}"/>
              </a:ext>
            </a:extLst>
          </p:cNvPr>
          <p:cNvSpPr>
            <a:spLocks noGrp="1" noChangeArrowheads="1"/>
          </p:cNvSpPr>
          <p:nvPr>
            <p:ph idx="1"/>
          </p:nvPr>
        </p:nvSpPr>
        <p:spPr bwMode="auto">
          <a:xfrm>
            <a:off x="406400" y="1458010"/>
            <a:ext cx="11360727"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rgbClr val="000000"/>
                </a:solidFill>
                <a:effectLst/>
                <a:latin typeface="Rockwell" panose="02060603020205020403" pitchFamily="18" charset="0"/>
              </a:rPr>
              <a:t>Elimination of casts.</a:t>
            </a:r>
            <a:endParaRPr lang="en-US" altLang="en-US" b="1" dirty="0">
              <a:solidFill>
                <a:srgbClr val="000000"/>
              </a:solidFill>
              <a:latin typeface="Rockwell" panose="02060603020205020403"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00"/>
                </a:solidFill>
                <a:effectLst/>
                <a:latin typeface="Rockwell" panose="02060603020205020403" pitchFamily="18" charset="0"/>
              </a:rPr>
              <a:t>The following code snippet without generics requires casting:</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Rockwell" panose="02060603020205020403" pitchFamily="18" charset="0"/>
              </a:rPr>
              <a:t>	List </a:t>
            </a:r>
            <a:r>
              <a:rPr kumimoji="0" lang="en-US" altLang="en-US" b="0" i="0" u="none" strike="noStrike" cap="none" normalizeH="0" baseline="0" dirty="0" err="1">
                <a:ln>
                  <a:noFill/>
                </a:ln>
                <a:solidFill>
                  <a:srgbClr val="000000"/>
                </a:solidFill>
                <a:effectLst/>
                <a:latin typeface="Rockwell" panose="02060603020205020403" pitchFamily="18" charset="0"/>
              </a:rPr>
              <a:t>list</a:t>
            </a:r>
            <a:r>
              <a:rPr kumimoji="0" lang="en-US" altLang="en-US" b="0" i="0" u="none" strike="noStrike" cap="none" normalizeH="0" baseline="0" dirty="0">
                <a:ln>
                  <a:noFill/>
                </a:ln>
                <a:solidFill>
                  <a:srgbClr val="000000"/>
                </a:solidFill>
                <a:effectLst/>
                <a:latin typeface="Rockwell" panose="02060603020205020403" pitchFamily="18" charset="0"/>
              </a:rPr>
              <a:t> = new </a:t>
            </a:r>
            <a:r>
              <a:rPr kumimoji="0" lang="en-US" altLang="en-US" b="0" i="0" u="none" strike="noStrike" cap="none" normalizeH="0" baseline="0" dirty="0" err="1">
                <a:ln>
                  <a:noFill/>
                </a:ln>
                <a:solidFill>
                  <a:srgbClr val="000000"/>
                </a:solidFill>
                <a:effectLst/>
                <a:latin typeface="Rockwell" panose="02060603020205020403" pitchFamily="18" charset="0"/>
              </a:rPr>
              <a:t>ArrayList</a:t>
            </a:r>
            <a:r>
              <a:rPr kumimoji="0" lang="en-US" altLang="en-US" b="0" i="0" u="none" strike="noStrike" cap="none" normalizeH="0" baseline="0" dirty="0">
                <a:ln>
                  <a:noFill/>
                </a:ln>
                <a:solidFill>
                  <a:srgbClr val="000000"/>
                </a:solidFill>
                <a:effectLst/>
                <a:latin typeface="Rockwell" panose="02060603020205020403" pitchFamily="18"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Rockwell" panose="02060603020205020403" pitchFamily="18" charset="0"/>
              </a:rPr>
              <a:t>	</a:t>
            </a:r>
            <a:r>
              <a:rPr kumimoji="0" lang="en-US" altLang="en-US" b="0" i="0" u="none" strike="noStrike" cap="none" normalizeH="0" baseline="0" dirty="0" err="1">
                <a:ln>
                  <a:noFill/>
                </a:ln>
                <a:solidFill>
                  <a:srgbClr val="000000"/>
                </a:solidFill>
                <a:effectLst/>
                <a:latin typeface="Rockwell" panose="02060603020205020403" pitchFamily="18" charset="0"/>
              </a:rPr>
              <a:t>list.add</a:t>
            </a:r>
            <a:r>
              <a:rPr kumimoji="0" lang="en-US" altLang="en-US" b="0" i="0" u="none" strike="noStrike" cap="none" normalizeH="0" baseline="0" dirty="0">
                <a:ln>
                  <a:noFill/>
                </a:ln>
                <a:solidFill>
                  <a:srgbClr val="000000"/>
                </a:solidFill>
                <a:effectLst/>
                <a:latin typeface="Rockwell" panose="02060603020205020403" pitchFamily="18" charset="0"/>
              </a:rPr>
              <a:t>("hello");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Rockwell" panose="02060603020205020403" pitchFamily="18" charset="0"/>
              </a:rPr>
              <a:t>	String s = </a:t>
            </a:r>
            <a:r>
              <a:rPr kumimoji="0" lang="en-US" altLang="en-US" b="1" i="0" u="none" strike="noStrike" cap="none" normalizeH="0" baseline="0" dirty="0">
                <a:ln>
                  <a:noFill/>
                </a:ln>
                <a:solidFill>
                  <a:srgbClr val="000000"/>
                </a:solidFill>
                <a:effectLst/>
                <a:latin typeface="Rockwell" panose="02060603020205020403" pitchFamily="18" charset="0"/>
              </a:rPr>
              <a:t>(String)</a:t>
            </a:r>
            <a:r>
              <a:rPr kumimoji="0" lang="en-US" altLang="en-US" b="0" i="0" u="none" strike="noStrike" cap="none" normalizeH="0" baseline="0" dirty="0">
                <a:ln>
                  <a:noFill/>
                </a:ln>
                <a:solidFill>
                  <a:srgbClr val="000000"/>
                </a:solidFill>
                <a:effectLst/>
                <a:latin typeface="Rockwell" panose="02060603020205020403" pitchFamily="18" charset="0"/>
              </a:rPr>
              <a:t> </a:t>
            </a:r>
            <a:r>
              <a:rPr kumimoji="0" lang="en-US" altLang="en-US" b="0" i="0" u="none" strike="noStrike" cap="none" normalizeH="0" baseline="0" dirty="0" err="1">
                <a:ln>
                  <a:noFill/>
                </a:ln>
                <a:solidFill>
                  <a:srgbClr val="000000"/>
                </a:solidFill>
                <a:effectLst/>
                <a:latin typeface="Rockwell" panose="02060603020205020403" pitchFamily="18" charset="0"/>
              </a:rPr>
              <a:t>list.get</a:t>
            </a:r>
            <a:r>
              <a:rPr kumimoji="0" lang="en-US" altLang="en-US" b="0" i="0" u="none" strike="noStrike" cap="none" normalizeH="0" baseline="0" dirty="0">
                <a:ln>
                  <a:noFill/>
                </a:ln>
                <a:solidFill>
                  <a:srgbClr val="000000"/>
                </a:solidFill>
                <a:effectLst/>
                <a:latin typeface="Rockwell" panose="02060603020205020403" pitchFamily="18" charset="0"/>
              </a:rPr>
              <a:t>(0);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Rockwell" panose="02060603020205020403" pitchFamily="18" charset="0"/>
              </a:rPr>
              <a:t>When re-written to use generics, the code does not require casting:</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Rockwell" panose="02060603020205020403" pitchFamily="18" charset="0"/>
              </a:rPr>
              <a:t>	List&lt;String&gt; list = new </a:t>
            </a:r>
            <a:r>
              <a:rPr kumimoji="0" lang="en-US" altLang="en-US" b="0" i="0" u="none" strike="noStrike" cap="none" normalizeH="0" baseline="0" dirty="0" err="1">
                <a:ln>
                  <a:noFill/>
                </a:ln>
                <a:solidFill>
                  <a:srgbClr val="000000"/>
                </a:solidFill>
                <a:effectLst/>
                <a:latin typeface="Rockwell" panose="02060603020205020403" pitchFamily="18" charset="0"/>
              </a:rPr>
              <a:t>ArrayList</a:t>
            </a:r>
            <a:r>
              <a:rPr kumimoji="0" lang="en-US" altLang="en-US" b="0" i="0" u="none" strike="noStrike" cap="none" normalizeH="0" baseline="0" dirty="0">
                <a:ln>
                  <a:noFill/>
                </a:ln>
                <a:solidFill>
                  <a:srgbClr val="000000"/>
                </a:solidFill>
                <a:effectLst/>
                <a:latin typeface="Rockwell" panose="02060603020205020403" pitchFamily="18" charset="0"/>
              </a:rPr>
              <a:t>&lt;String&gt;();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Rockwell" panose="02060603020205020403" pitchFamily="18" charset="0"/>
              </a:rPr>
              <a:t>	</a:t>
            </a:r>
            <a:r>
              <a:rPr kumimoji="0" lang="en-US" altLang="en-US" b="0" i="0" u="none" strike="noStrike" cap="none" normalizeH="0" baseline="0" dirty="0" err="1">
                <a:ln>
                  <a:noFill/>
                </a:ln>
                <a:solidFill>
                  <a:srgbClr val="000000"/>
                </a:solidFill>
                <a:effectLst/>
                <a:latin typeface="Rockwell" panose="02060603020205020403" pitchFamily="18" charset="0"/>
              </a:rPr>
              <a:t>list.add</a:t>
            </a:r>
            <a:r>
              <a:rPr kumimoji="0" lang="en-US" altLang="en-US" b="0" i="0" u="none" strike="noStrike" cap="none" normalizeH="0" baseline="0" dirty="0">
                <a:ln>
                  <a:noFill/>
                </a:ln>
                <a:solidFill>
                  <a:srgbClr val="000000"/>
                </a:solidFill>
                <a:effectLst/>
                <a:latin typeface="Rockwell" panose="02060603020205020403" pitchFamily="18" charset="0"/>
              </a:rPr>
              <a:t>("hello");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Rockwell" panose="02060603020205020403" pitchFamily="18" charset="0"/>
              </a:rPr>
              <a:t>	String s = </a:t>
            </a:r>
            <a:r>
              <a:rPr kumimoji="0" lang="en-US" altLang="en-US" b="0" i="0" u="none" strike="noStrike" cap="none" normalizeH="0" baseline="0" dirty="0" err="1">
                <a:ln>
                  <a:noFill/>
                </a:ln>
                <a:solidFill>
                  <a:srgbClr val="000000"/>
                </a:solidFill>
                <a:effectLst/>
                <a:latin typeface="Rockwell" panose="02060603020205020403" pitchFamily="18" charset="0"/>
              </a:rPr>
              <a:t>list.get</a:t>
            </a:r>
            <a:r>
              <a:rPr kumimoji="0" lang="en-US" altLang="en-US" b="0" i="0" u="none" strike="noStrike" cap="none" normalizeH="0" baseline="0" dirty="0">
                <a:ln>
                  <a:noFill/>
                </a:ln>
                <a:solidFill>
                  <a:srgbClr val="000000"/>
                </a:solidFill>
                <a:effectLst/>
                <a:latin typeface="Rockwell" panose="02060603020205020403" pitchFamily="18" charset="0"/>
              </a:rPr>
              <a:t>(0); // no cast </a:t>
            </a:r>
          </a:p>
          <a:p>
            <a:pPr marL="0" marR="0" lvl="0" indent="0"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rgbClr val="000000"/>
                </a:solidFill>
                <a:effectLst/>
                <a:latin typeface="Rockwell" panose="02060603020205020403" pitchFamily="18" charset="0"/>
              </a:rPr>
              <a:t>Enabling programmers to implement generic algorithms.</a:t>
            </a:r>
            <a:endParaRPr lang="en-US" altLang="en-US" b="1" dirty="0">
              <a:solidFill>
                <a:srgbClr val="000000"/>
              </a:solidFill>
              <a:latin typeface="Rockwell" panose="02060603020205020403"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000000"/>
                </a:solidFill>
                <a:effectLst/>
                <a:latin typeface="Rockwell" panose="02060603020205020403" pitchFamily="18" charset="0"/>
              </a:rPr>
              <a:t>By using generics, programmers can implement generic algorithms that work on collections of different types, can be customized, and are type safe and easier to read.</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92518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5B94F2-0FC3-789C-BBED-487EF3DBF5CB}"/>
              </a:ext>
            </a:extLst>
          </p:cNvPr>
          <p:cNvSpPr>
            <a:spLocks noGrp="1"/>
          </p:cNvSpPr>
          <p:nvPr>
            <p:ph sz="quarter" idx="10"/>
          </p:nvPr>
        </p:nvSpPr>
        <p:spPr/>
        <p:txBody>
          <a:bodyPr/>
          <a:lstStyle/>
          <a:p>
            <a:r>
              <a:rPr lang="en-IN" b="1" i="0" dirty="0">
                <a:solidFill>
                  <a:srgbClr val="333333"/>
                </a:solidFill>
                <a:effectLst/>
                <a:latin typeface="Arial" panose="020B0604020202020204" pitchFamily="34" charset="0"/>
              </a:rPr>
              <a:t>Generic Types</a:t>
            </a:r>
          </a:p>
        </p:txBody>
      </p:sp>
      <p:sp>
        <p:nvSpPr>
          <p:cNvPr id="4" name="Rectangle 1">
            <a:extLst>
              <a:ext uri="{FF2B5EF4-FFF2-40B4-BE49-F238E27FC236}">
                <a16:creationId xmlns:a16="http://schemas.microsoft.com/office/drawing/2014/main" id="{2B5D5F3C-A23D-AF53-F365-F03AC19CFFC8}"/>
              </a:ext>
            </a:extLst>
          </p:cNvPr>
          <p:cNvSpPr>
            <a:spLocks noGrp="1" noChangeArrowheads="1"/>
          </p:cNvSpPr>
          <p:nvPr>
            <p:ph idx="1"/>
          </p:nvPr>
        </p:nvSpPr>
        <p:spPr bwMode="auto">
          <a:xfrm>
            <a:off x="443345" y="1381065"/>
            <a:ext cx="11305309"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60363" marR="0" lvl="0" indent="-360363"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Rockwell" panose="02060603020205020403" pitchFamily="18" charset="0"/>
              </a:rPr>
              <a:t>A </a:t>
            </a:r>
            <a:r>
              <a:rPr kumimoji="0" lang="en-US" altLang="en-US" sz="2000" b="0" i="1" u="none" strike="noStrike" cap="none" normalizeH="0" baseline="0" dirty="0">
                <a:ln>
                  <a:noFill/>
                </a:ln>
                <a:solidFill>
                  <a:srgbClr val="000000"/>
                </a:solidFill>
                <a:effectLst/>
                <a:latin typeface="Rockwell" panose="02060603020205020403" pitchFamily="18" charset="0"/>
              </a:rPr>
              <a:t>generic type</a:t>
            </a:r>
            <a:r>
              <a:rPr kumimoji="0" lang="en-US" altLang="en-US" sz="2000" b="0" i="0" u="none" strike="noStrike" cap="none" normalizeH="0" baseline="0" dirty="0">
                <a:ln>
                  <a:noFill/>
                </a:ln>
                <a:solidFill>
                  <a:srgbClr val="000000"/>
                </a:solidFill>
                <a:effectLst/>
                <a:latin typeface="Rockwell" panose="02060603020205020403" pitchFamily="18" charset="0"/>
              </a:rPr>
              <a:t> is a generic class or interface that is parameterized over types. </a:t>
            </a:r>
          </a:p>
          <a:p>
            <a:pPr marL="360363" marR="0" lvl="0" indent="-360363"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Rockwell" panose="02060603020205020403" pitchFamily="18" charset="0"/>
              </a:rPr>
              <a:t>The following Box class will be modified to demonstrate the concept.</a:t>
            </a:r>
            <a:endParaRPr kumimoji="0" lang="en-US" altLang="en-US" sz="2000" b="1" i="0" u="none" strike="noStrike" cap="none" normalizeH="0" baseline="0" dirty="0">
              <a:ln>
                <a:noFill/>
              </a:ln>
              <a:solidFill>
                <a:srgbClr val="333333"/>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rgbClr val="333333"/>
                </a:solidFill>
                <a:effectLst/>
                <a:latin typeface="Rockwell" panose="02060603020205020403" pitchFamily="18" charset="0"/>
              </a:rPr>
              <a:t>A Simple Box Class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000000"/>
                </a:solidFill>
                <a:effectLst/>
                <a:latin typeface="Rockwell" panose="02060603020205020403" pitchFamily="18" charset="0"/>
              </a:rPr>
              <a:t>Begin by examining a non-generic Box class that operates on objects of any type. It needs only to provide two methods: set, which adds an object to the box, and get, which retrieves it:</a:t>
            </a:r>
            <a:endParaRPr kumimoji="0" lang="en-US" altLang="en-US" sz="2000" b="0" i="0" u="none" strike="noStrike" cap="none" normalizeH="0" baseline="0" dirty="0">
              <a:ln>
                <a:noFill/>
              </a:ln>
              <a:solidFill>
                <a:schemeClr val="tx1"/>
              </a:solidFill>
              <a:effectLst/>
              <a:latin typeface="Rockwell" panose="02060603020205020403" pitchFamily="18" charset="0"/>
            </a:endParaRPr>
          </a:p>
          <a:p>
            <a:pPr marL="360363" marR="0" lvl="0" indent="27305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public class Box </a:t>
            </a:r>
          </a:p>
          <a:p>
            <a:pPr marL="360363" marR="0" lvl="0" indent="27305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 </a:t>
            </a:r>
          </a:p>
          <a:p>
            <a:pPr marL="360363" marR="0" lvl="0" indent="27305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private Object </a:t>
            </a:r>
            <a:r>
              <a:rPr kumimoji="0" lang="en-US" altLang="en-US" sz="2000" b="0" i="0" u="none" strike="noStrike" cap="none" normalizeH="0" baseline="0" dirty="0" err="1">
                <a:ln>
                  <a:noFill/>
                </a:ln>
                <a:solidFill>
                  <a:srgbClr val="000000"/>
                </a:solidFill>
                <a:effectLst/>
                <a:latin typeface="Rockwell" panose="02060603020205020403" pitchFamily="18" charset="0"/>
              </a:rPr>
              <a:t>object</a:t>
            </a:r>
            <a:r>
              <a:rPr kumimoji="0" lang="en-US" altLang="en-US" sz="2000" b="0" i="0" u="none" strike="noStrike" cap="none" normalizeH="0" baseline="0" dirty="0">
                <a:ln>
                  <a:noFill/>
                </a:ln>
                <a:solidFill>
                  <a:srgbClr val="000000"/>
                </a:solidFill>
                <a:effectLst/>
                <a:latin typeface="Rockwell" panose="02060603020205020403" pitchFamily="18" charset="0"/>
              </a:rPr>
              <a:t>; </a:t>
            </a:r>
          </a:p>
          <a:p>
            <a:pPr marL="360363" marR="0" lvl="0" indent="27305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public void set(Object object) </a:t>
            </a:r>
          </a:p>
          <a:p>
            <a:pPr marL="360363" marR="0" lvl="0" indent="27305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 </a:t>
            </a:r>
          </a:p>
          <a:p>
            <a:pPr marL="360363" marR="0" lvl="0" indent="27305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000000"/>
                </a:solidFill>
                <a:effectLst/>
                <a:latin typeface="Rockwell" panose="02060603020205020403" pitchFamily="18" charset="0"/>
              </a:rPr>
              <a:t>this.object</a:t>
            </a:r>
            <a:r>
              <a:rPr kumimoji="0" lang="en-US" altLang="en-US" sz="2000" b="0" i="0" u="none" strike="noStrike" cap="none" normalizeH="0" baseline="0" dirty="0">
                <a:ln>
                  <a:noFill/>
                </a:ln>
                <a:solidFill>
                  <a:srgbClr val="000000"/>
                </a:solidFill>
                <a:effectLst/>
                <a:latin typeface="Rockwell" panose="02060603020205020403" pitchFamily="18" charset="0"/>
              </a:rPr>
              <a:t> = object; </a:t>
            </a:r>
          </a:p>
          <a:p>
            <a:pPr marL="360363" marR="0" lvl="0" indent="27305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 </a:t>
            </a:r>
          </a:p>
          <a:p>
            <a:pPr marL="360363" marR="0" lvl="0" indent="27305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public Object get() </a:t>
            </a:r>
          </a:p>
          <a:p>
            <a:pPr marL="360363" marR="0" lvl="0" indent="27305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 </a:t>
            </a:r>
          </a:p>
          <a:p>
            <a:pPr marL="360363" marR="0" lvl="0" indent="27305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return object; </a:t>
            </a:r>
          </a:p>
          <a:p>
            <a:pPr marL="360363" marR="0" lvl="0" indent="27305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a:t>
            </a:r>
          </a:p>
          <a:p>
            <a:pPr marL="360363" marR="0" lvl="0" indent="27305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 } </a:t>
            </a:r>
            <a:endParaRPr kumimoji="0" lang="en-US" altLang="en-US" sz="2000" b="0" i="0" u="none" strike="noStrike" cap="none" normalizeH="0" baseline="0" dirty="0">
              <a:ln>
                <a:noFill/>
              </a:ln>
              <a:solidFill>
                <a:schemeClr val="tx1"/>
              </a:solidFill>
              <a:effectLst/>
              <a:latin typeface="Rockwell" panose="02060603020205020403" pitchFamily="18" charset="0"/>
            </a:endParaRPr>
          </a:p>
        </p:txBody>
      </p:sp>
    </p:spTree>
    <p:extLst>
      <p:ext uri="{BB962C8B-B14F-4D97-AF65-F5344CB8AC3E}">
        <p14:creationId xmlns:p14="http://schemas.microsoft.com/office/powerpoint/2010/main" val="627780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0979BA-1766-050B-284D-D20AF4B77FA8}"/>
              </a:ext>
            </a:extLst>
          </p:cNvPr>
          <p:cNvSpPr>
            <a:spLocks noGrp="1"/>
          </p:cNvSpPr>
          <p:nvPr>
            <p:ph idx="1"/>
          </p:nvPr>
        </p:nvSpPr>
        <p:spPr/>
        <p:txBody>
          <a:bodyPr/>
          <a:lstStyle/>
          <a:p>
            <a:r>
              <a:rPr kumimoji="0" lang="en-US" altLang="en-US" b="0" i="0" u="none" strike="noStrike" cap="none" normalizeH="0" baseline="0" dirty="0">
                <a:ln>
                  <a:noFill/>
                </a:ln>
                <a:solidFill>
                  <a:srgbClr val="000000"/>
                </a:solidFill>
                <a:effectLst/>
                <a:latin typeface="Rockwell" panose="02060603020205020403" pitchFamily="18" charset="0"/>
              </a:rPr>
              <a:t>What's the problem with the code?</a:t>
            </a:r>
          </a:p>
          <a:p>
            <a:endParaRPr kumimoji="0" lang="en-US" altLang="en-US" b="0" i="0" u="none" strike="noStrike" cap="none" normalizeH="0" baseline="0" dirty="0">
              <a:ln>
                <a:noFill/>
              </a:ln>
              <a:solidFill>
                <a:srgbClr val="000000"/>
              </a:solidFill>
              <a:effectLst/>
              <a:latin typeface="Rockwell" panose="02060603020205020403" pitchFamily="18" charset="0"/>
            </a:endParaRPr>
          </a:p>
          <a:p>
            <a:r>
              <a:rPr kumimoji="0" lang="en-US" altLang="en-US" b="0" i="0" u="none" strike="noStrike" cap="none" normalizeH="0" baseline="0" dirty="0">
                <a:ln>
                  <a:noFill/>
                </a:ln>
                <a:solidFill>
                  <a:srgbClr val="000000"/>
                </a:solidFill>
                <a:effectLst/>
                <a:latin typeface="Rockwell" panose="02060603020205020403" pitchFamily="18" charset="0"/>
              </a:rPr>
              <a:t>Since its methods accept or return an Object, you are free to pass in whatever you want, provided that it is not one of the primitive types. </a:t>
            </a:r>
          </a:p>
          <a:p>
            <a:endParaRPr kumimoji="0" lang="en-US" altLang="en-US" b="0" i="0" u="none" strike="noStrike" cap="none" normalizeH="0" baseline="0" dirty="0">
              <a:ln>
                <a:noFill/>
              </a:ln>
              <a:solidFill>
                <a:srgbClr val="000000"/>
              </a:solidFill>
              <a:effectLst/>
              <a:latin typeface="Rockwell" panose="02060603020205020403" pitchFamily="18" charset="0"/>
            </a:endParaRPr>
          </a:p>
          <a:p>
            <a:r>
              <a:rPr kumimoji="0" lang="en-US" altLang="en-US" b="0" i="0" u="none" strike="noStrike" cap="none" normalizeH="0" baseline="0" dirty="0">
                <a:ln>
                  <a:noFill/>
                </a:ln>
                <a:solidFill>
                  <a:srgbClr val="000000"/>
                </a:solidFill>
                <a:effectLst/>
                <a:latin typeface="Rockwell" panose="02060603020205020403" pitchFamily="18" charset="0"/>
              </a:rPr>
              <a:t>There is no way to verify, at compile time, how the class is used. </a:t>
            </a:r>
          </a:p>
          <a:p>
            <a:endParaRPr kumimoji="0" lang="en-US" altLang="en-US" b="0" i="0" u="none" strike="noStrike" cap="none" normalizeH="0" baseline="0" dirty="0">
              <a:ln>
                <a:noFill/>
              </a:ln>
              <a:solidFill>
                <a:srgbClr val="000000"/>
              </a:solidFill>
              <a:effectLst/>
              <a:latin typeface="Rockwell" panose="02060603020205020403" pitchFamily="18" charset="0"/>
            </a:endParaRPr>
          </a:p>
          <a:p>
            <a:r>
              <a:rPr kumimoji="0" lang="en-US" altLang="en-US" b="0" i="0" u="none" strike="noStrike" cap="none" normalizeH="0" baseline="0" dirty="0">
                <a:ln>
                  <a:noFill/>
                </a:ln>
                <a:solidFill>
                  <a:srgbClr val="000000"/>
                </a:solidFill>
                <a:effectLst/>
                <a:latin typeface="Rockwell" panose="02060603020205020403" pitchFamily="18" charset="0"/>
              </a:rPr>
              <a:t>One part of the code may place an Integer in the box and expect to get Integers out of it, while another part of the code may mistakenly pass in a String, resulting in a runtime error.</a:t>
            </a:r>
            <a:endParaRPr kumimoji="0" lang="en-US" altLang="en-US" b="0" i="0" u="none" strike="noStrike" cap="none" normalizeH="0" baseline="0" dirty="0">
              <a:ln>
                <a:noFill/>
              </a:ln>
              <a:solidFill>
                <a:schemeClr val="tx1"/>
              </a:solidFill>
              <a:effectLst/>
              <a:latin typeface="Rockwell" panose="02060603020205020403" pitchFamily="18" charset="0"/>
            </a:endParaRPr>
          </a:p>
          <a:p>
            <a:endParaRPr lang="en-IN" dirty="0"/>
          </a:p>
        </p:txBody>
      </p:sp>
      <p:sp>
        <p:nvSpPr>
          <p:cNvPr id="3" name="Content Placeholder 2">
            <a:extLst>
              <a:ext uri="{FF2B5EF4-FFF2-40B4-BE49-F238E27FC236}">
                <a16:creationId xmlns:a16="http://schemas.microsoft.com/office/drawing/2014/main" id="{E166E6BF-B711-7159-10EC-DFDA05425E6E}"/>
              </a:ext>
            </a:extLst>
          </p:cNvPr>
          <p:cNvSpPr>
            <a:spLocks noGrp="1"/>
          </p:cNvSpPr>
          <p:nvPr>
            <p:ph sz="quarter" idx="10"/>
          </p:nvPr>
        </p:nvSpPr>
        <p:spPr/>
        <p:txBody>
          <a:bodyPr/>
          <a:lstStyle/>
          <a:p>
            <a:r>
              <a:rPr lang="en-IN" b="1" i="0" dirty="0">
                <a:solidFill>
                  <a:srgbClr val="333333"/>
                </a:solidFill>
                <a:effectLst/>
                <a:latin typeface="Arial" panose="020B0604020202020204" pitchFamily="34" charset="0"/>
              </a:rPr>
              <a:t>Generic Types</a:t>
            </a:r>
          </a:p>
        </p:txBody>
      </p:sp>
    </p:spTree>
    <p:extLst>
      <p:ext uri="{BB962C8B-B14F-4D97-AF65-F5344CB8AC3E}">
        <p14:creationId xmlns:p14="http://schemas.microsoft.com/office/powerpoint/2010/main" val="1043574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C24829-9AE5-F5DE-BF9F-96D90009AA82}"/>
              </a:ext>
            </a:extLst>
          </p:cNvPr>
          <p:cNvSpPr>
            <a:spLocks noGrp="1"/>
          </p:cNvSpPr>
          <p:nvPr>
            <p:ph sz="quarter" idx="10"/>
          </p:nvPr>
        </p:nvSpPr>
        <p:spPr/>
        <p:txBody>
          <a:bodyPr/>
          <a:lstStyle/>
          <a:p>
            <a:r>
              <a:rPr lang="en-US" b="1" i="0" dirty="0">
                <a:solidFill>
                  <a:srgbClr val="333333"/>
                </a:solidFill>
                <a:effectLst/>
                <a:latin typeface="Arial" panose="020B0604020202020204" pitchFamily="34" charset="0"/>
              </a:rPr>
              <a:t>A Generic Version of the Box Class</a:t>
            </a:r>
          </a:p>
        </p:txBody>
      </p:sp>
      <p:sp>
        <p:nvSpPr>
          <p:cNvPr id="4" name="Rectangle 1">
            <a:extLst>
              <a:ext uri="{FF2B5EF4-FFF2-40B4-BE49-F238E27FC236}">
                <a16:creationId xmlns:a16="http://schemas.microsoft.com/office/drawing/2014/main" id="{1562DDC8-3496-E877-C7EA-1F9B01772FE4}"/>
              </a:ext>
            </a:extLst>
          </p:cNvPr>
          <p:cNvSpPr>
            <a:spLocks noGrp="1" noChangeArrowheads="1"/>
          </p:cNvSpPr>
          <p:nvPr>
            <p:ph idx="1"/>
          </p:nvPr>
        </p:nvSpPr>
        <p:spPr bwMode="auto">
          <a:xfrm>
            <a:off x="406400" y="1338790"/>
            <a:ext cx="11231418"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Rockwell" panose="02060603020205020403" pitchFamily="18" charset="0"/>
              </a:rPr>
              <a:t>A </a:t>
            </a:r>
            <a:r>
              <a:rPr kumimoji="0" lang="en-US" altLang="en-US" b="0" i="1" u="none" strike="noStrike" cap="none" normalizeH="0" baseline="0" dirty="0">
                <a:ln>
                  <a:noFill/>
                </a:ln>
                <a:solidFill>
                  <a:srgbClr val="000000"/>
                </a:solidFill>
                <a:effectLst/>
                <a:latin typeface="Rockwell" panose="02060603020205020403" pitchFamily="18" charset="0"/>
              </a:rPr>
              <a:t>generic class</a:t>
            </a:r>
            <a:r>
              <a:rPr kumimoji="0" lang="en-US" altLang="en-US" b="0" i="0" u="none" strike="noStrike" cap="none" normalizeH="0" baseline="0" dirty="0">
                <a:ln>
                  <a:noFill/>
                </a:ln>
                <a:solidFill>
                  <a:srgbClr val="000000"/>
                </a:solidFill>
                <a:effectLst/>
                <a:latin typeface="Rockwell" panose="02060603020205020403" pitchFamily="18" charset="0"/>
              </a:rPr>
              <a:t> is defined with the following format:</a:t>
            </a:r>
            <a:endParaRPr kumimoji="0" lang="en-US" altLang="en-US" b="0" i="0" u="none" strike="noStrike" cap="none" normalizeH="0" baseline="0" dirty="0">
              <a:ln>
                <a:noFill/>
              </a:ln>
              <a:solidFill>
                <a:schemeClr val="tx1"/>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Rockwell" panose="02060603020205020403" pitchFamily="18" charset="0"/>
              </a:rPr>
              <a:t>class name&lt;T1, T2, ..., Tn&gt; { /* Class code... */ }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000000"/>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Rockwell" panose="02060603020205020403" pitchFamily="18" charset="0"/>
              </a:rPr>
              <a:t>The type parameter section, delimited by angle brackets (&lt;&gt;), follows the class name.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000000"/>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Rockwell" panose="02060603020205020403" pitchFamily="18" charset="0"/>
              </a:rPr>
              <a:t>It specifies the </a:t>
            </a:r>
            <a:r>
              <a:rPr kumimoji="0" lang="en-US" altLang="en-US" b="0" i="1" u="none" strike="noStrike" cap="none" normalizeH="0" baseline="0" dirty="0">
                <a:ln>
                  <a:noFill/>
                </a:ln>
                <a:solidFill>
                  <a:srgbClr val="000000"/>
                </a:solidFill>
                <a:effectLst/>
                <a:latin typeface="Rockwell" panose="02060603020205020403" pitchFamily="18" charset="0"/>
              </a:rPr>
              <a:t>type parameters</a:t>
            </a:r>
            <a:r>
              <a:rPr kumimoji="0" lang="en-US" altLang="en-US" b="0" i="0" u="none" strike="noStrike" cap="none" normalizeH="0" baseline="0" dirty="0">
                <a:ln>
                  <a:noFill/>
                </a:ln>
                <a:solidFill>
                  <a:srgbClr val="000000"/>
                </a:solidFill>
                <a:effectLst/>
                <a:latin typeface="Rockwell" panose="02060603020205020403" pitchFamily="18" charset="0"/>
              </a:rPr>
              <a:t> (also called </a:t>
            </a:r>
            <a:r>
              <a:rPr kumimoji="0" lang="en-US" altLang="en-US" b="0" i="1" u="none" strike="noStrike" cap="none" normalizeH="0" baseline="0" dirty="0">
                <a:ln>
                  <a:noFill/>
                </a:ln>
                <a:solidFill>
                  <a:srgbClr val="000000"/>
                </a:solidFill>
                <a:effectLst/>
                <a:latin typeface="Rockwell" panose="02060603020205020403" pitchFamily="18" charset="0"/>
              </a:rPr>
              <a:t>type variables</a:t>
            </a:r>
            <a:r>
              <a:rPr kumimoji="0" lang="en-US" altLang="en-US" b="0" i="0" u="none" strike="noStrike" cap="none" normalizeH="0" baseline="0" dirty="0">
                <a:ln>
                  <a:noFill/>
                </a:ln>
                <a:solidFill>
                  <a:srgbClr val="000000"/>
                </a:solidFill>
                <a:effectLst/>
                <a:latin typeface="Rockwell" panose="02060603020205020403" pitchFamily="18" charset="0"/>
              </a:rPr>
              <a:t>) T1, T2, ..., and Tn.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Rockwell" panose="02060603020205020403" pitchFamily="18" charset="0"/>
              </a:rPr>
              <a:t>To update the Box class to use generics, you create a </a:t>
            </a:r>
            <a:r>
              <a:rPr kumimoji="0" lang="en-US" altLang="en-US" b="0" i="1" u="none" strike="noStrike" cap="none" normalizeH="0" baseline="0" dirty="0">
                <a:ln>
                  <a:noFill/>
                </a:ln>
                <a:solidFill>
                  <a:srgbClr val="000000"/>
                </a:solidFill>
                <a:effectLst/>
                <a:latin typeface="Rockwell" panose="02060603020205020403" pitchFamily="18" charset="0"/>
              </a:rPr>
              <a:t>generic type declaration</a:t>
            </a:r>
            <a:r>
              <a:rPr kumimoji="0" lang="en-US" altLang="en-US" b="0" i="0" u="none" strike="noStrike" cap="none" normalizeH="0" baseline="0" dirty="0">
                <a:ln>
                  <a:noFill/>
                </a:ln>
                <a:solidFill>
                  <a:srgbClr val="000000"/>
                </a:solidFill>
                <a:effectLst/>
                <a:latin typeface="Rockwell" panose="02060603020205020403" pitchFamily="18" charset="0"/>
              </a:rPr>
              <a:t> by changing the code "public class Box" to "public class Box&lt;T&gt;".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000000"/>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Rockwell" panose="02060603020205020403" pitchFamily="18" charset="0"/>
              </a:rPr>
              <a:t>This introduces the type variable, T, that can be used anywhere inside the class.</a:t>
            </a:r>
            <a:endParaRPr kumimoji="0" lang="en-US" altLang="en-US" sz="2000" b="0" i="0" u="none" strike="noStrike" cap="none" normalizeH="0" baseline="0" dirty="0">
              <a:ln>
                <a:noFill/>
              </a:ln>
              <a:solidFill>
                <a:schemeClr val="tx1"/>
              </a:solidFill>
              <a:effectLst/>
              <a:latin typeface="Rockwell" panose="02060603020205020403" pitchFamily="18" charset="0"/>
            </a:endParaRPr>
          </a:p>
        </p:txBody>
      </p:sp>
    </p:spTree>
    <p:extLst>
      <p:ext uri="{BB962C8B-B14F-4D97-AF65-F5344CB8AC3E}">
        <p14:creationId xmlns:p14="http://schemas.microsoft.com/office/powerpoint/2010/main" val="3696784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0D082A-8F15-CFB5-FFF6-3D333291D5B4}"/>
              </a:ext>
            </a:extLst>
          </p:cNvPr>
          <p:cNvSpPr>
            <a:spLocks noGrp="1"/>
          </p:cNvSpPr>
          <p:nvPr>
            <p:ph idx="1"/>
          </p:nvPr>
        </p:nvSpPr>
        <p:spPr>
          <a:xfrm>
            <a:off x="406400" y="1369292"/>
            <a:ext cx="10972800" cy="5123872"/>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With this change, the Box class becomes:</a:t>
            </a:r>
            <a:endParaRPr kumimoji="0" lang="en-US" altLang="en-US" sz="2000" b="0" i="0" u="none" strike="noStrike" cap="none" normalizeH="0" baseline="0" dirty="0">
              <a:ln>
                <a:noFill/>
              </a:ln>
              <a:solidFill>
                <a:schemeClr val="tx1"/>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 * Generic version of the Box class.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@param &lt;T&gt; the type of the value being boxed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public class Box&lt;T&gt; // T stands for "Type"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private T </a:t>
            </a:r>
            <a:r>
              <a:rPr kumimoji="0" lang="en-US" altLang="en-US" sz="2000" b="0" i="0" u="none" strike="noStrike" cap="none" normalizeH="0" baseline="0" dirty="0" err="1">
                <a:ln>
                  <a:noFill/>
                </a:ln>
                <a:solidFill>
                  <a:srgbClr val="000000"/>
                </a:solidFill>
                <a:effectLst/>
                <a:latin typeface="Rockwell" panose="02060603020205020403" pitchFamily="18" charset="0"/>
              </a:rPr>
              <a:t>t</a:t>
            </a:r>
            <a:r>
              <a:rPr kumimoji="0" lang="en-US" altLang="en-US" sz="2000" b="0" i="0" u="none" strike="noStrike" cap="none" normalizeH="0" baseline="0" dirty="0">
                <a:ln>
                  <a:noFill/>
                </a:ln>
                <a:solidFill>
                  <a:srgbClr val="000000"/>
                </a:solidFill>
                <a:effectLst/>
                <a:latin typeface="Rockwell" panose="02060603020205020403"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public void set(T 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this.t = 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public T get()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return 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 }</a:t>
            </a:r>
            <a:endParaRPr kumimoji="0" lang="en-US" altLang="en-US" sz="2000" b="0" i="0" u="none" strike="noStrike" cap="none" normalizeH="0" baseline="0" dirty="0">
              <a:ln>
                <a:noFill/>
              </a:ln>
              <a:solidFill>
                <a:schemeClr val="tx1"/>
              </a:solidFill>
              <a:effectLst/>
              <a:latin typeface="Rockwell" panose="02060603020205020403" pitchFamily="18" charset="0"/>
            </a:endParaRPr>
          </a:p>
          <a:p>
            <a:endParaRPr lang="en-IN" dirty="0"/>
          </a:p>
        </p:txBody>
      </p:sp>
      <p:sp>
        <p:nvSpPr>
          <p:cNvPr id="3" name="Content Placeholder 2">
            <a:extLst>
              <a:ext uri="{FF2B5EF4-FFF2-40B4-BE49-F238E27FC236}">
                <a16:creationId xmlns:a16="http://schemas.microsoft.com/office/drawing/2014/main" id="{FD424E7B-BDF6-A1E8-84D1-519B469C5CEA}"/>
              </a:ext>
            </a:extLst>
          </p:cNvPr>
          <p:cNvSpPr>
            <a:spLocks noGrp="1"/>
          </p:cNvSpPr>
          <p:nvPr>
            <p:ph sz="quarter" idx="10"/>
          </p:nvPr>
        </p:nvSpPr>
        <p:spPr/>
        <p:txBody>
          <a:bodyPr/>
          <a:lstStyle/>
          <a:p>
            <a:r>
              <a:rPr lang="en-US" b="1" i="0" dirty="0">
                <a:solidFill>
                  <a:srgbClr val="333333"/>
                </a:solidFill>
                <a:effectLst/>
                <a:latin typeface="Arial" panose="020B0604020202020204" pitchFamily="34" charset="0"/>
              </a:rPr>
              <a:t>A Generic Version of the Box Class</a:t>
            </a:r>
          </a:p>
        </p:txBody>
      </p:sp>
    </p:spTree>
    <p:extLst>
      <p:ext uri="{BB962C8B-B14F-4D97-AF65-F5344CB8AC3E}">
        <p14:creationId xmlns:p14="http://schemas.microsoft.com/office/powerpoint/2010/main" val="1398175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180CA8-1632-DD49-2F3B-91B7E9D3E8B0}"/>
              </a:ext>
            </a:extLst>
          </p:cNvPr>
          <p:cNvSpPr>
            <a:spLocks noGrp="1"/>
          </p:cNvSpPr>
          <p:nvPr>
            <p:ph sz="quarter" idx="10"/>
          </p:nvPr>
        </p:nvSpPr>
        <p:spPr/>
        <p:txBody>
          <a:bodyPr/>
          <a:lstStyle/>
          <a:p>
            <a:r>
              <a:rPr lang="en-US" b="1" i="0" dirty="0">
                <a:solidFill>
                  <a:srgbClr val="333333"/>
                </a:solidFill>
                <a:effectLst/>
                <a:latin typeface="Arial" panose="020B0604020202020204" pitchFamily="34" charset="0"/>
              </a:rPr>
              <a:t>A Generic Version of the Box Class</a:t>
            </a:r>
          </a:p>
          <a:p>
            <a:endParaRPr lang="en-IN" dirty="0"/>
          </a:p>
        </p:txBody>
      </p:sp>
      <p:sp>
        <p:nvSpPr>
          <p:cNvPr id="4" name="Rectangle 1">
            <a:extLst>
              <a:ext uri="{FF2B5EF4-FFF2-40B4-BE49-F238E27FC236}">
                <a16:creationId xmlns:a16="http://schemas.microsoft.com/office/drawing/2014/main" id="{E0C7CBD7-26A0-F5FC-49BF-9DB83F020E2E}"/>
              </a:ext>
            </a:extLst>
          </p:cNvPr>
          <p:cNvSpPr>
            <a:spLocks noGrp="1" noChangeArrowheads="1"/>
          </p:cNvSpPr>
          <p:nvPr>
            <p:ph idx="1"/>
          </p:nvPr>
        </p:nvSpPr>
        <p:spPr bwMode="auto">
          <a:xfrm>
            <a:off x="406400" y="1219854"/>
            <a:ext cx="11222182" cy="544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Rockwell" panose="02060603020205020403" pitchFamily="18" charset="0"/>
              </a:rPr>
              <a:t>As you can see, all occurrences of Object are replaced by 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Rockwell" panose="02060603020205020403" pitchFamily="18" charset="0"/>
              </a:rPr>
              <a:t>A type variable can be any </a:t>
            </a:r>
            <a:r>
              <a:rPr kumimoji="0" lang="en-US" altLang="en-US" sz="1800" b="1" i="0" u="none" strike="noStrike" cap="none" normalizeH="0" baseline="0" dirty="0">
                <a:ln>
                  <a:noFill/>
                </a:ln>
                <a:solidFill>
                  <a:srgbClr val="000000"/>
                </a:solidFill>
                <a:effectLst/>
                <a:latin typeface="Rockwell" panose="02060603020205020403" pitchFamily="18" charset="0"/>
              </a:rPr>
              <a:t>non-primitive</a:t>
            </a:r>
            <a:r>
              <a:rPr kumimoji="0" lang="en-US" altLang="en-US" sz="1800" b="0" i="0" u="none" strike="noStrike" cap="none" normalizeH="0" baseline="0" dirty="0">
                <a:ln>
                  <a:noFill/>
                </a:ln>
                <a:solidFill>
                  <a:srgbClr val="000000"/>
                </a:solidFill>
                <a:effectLst/>
                <a:latin typeface="Rockwell" panose="02060603020205020403" pitchFamily="18" charset="0"/>
              </a:rPr>
              <a:t> type you specify: any class type, any interface type, any array type, or even another type variable.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Rockwell" panose="02060603020205020403" pitchFamily="18" charset="0"/>
              </a:rPr>
              <a:t>This same technique can be applied to create generic interfaces.</a:t>
            </a:r>
          </a:p>
          <a:p>
            <a:pPr algn="l"/>
            <a:r>
              <a:rPr lang="en-US" sz="1800" b="1" i="0" dirty="0">
                <a:solidFill>
                  <a:srgbClr val="333333"/>
                </a:solidFill>
                <a:effectLst/>
                <a:latin typeface="Rockwell" panose="02060603020205020403" pitchFamily="18" charset="0"/>
              </a:rPr>
              <a:t>Type Parameter Naming Conventions</a:t>
            </a:r>
          </a:p>
          <a:p>
            <a:pPr algn="l"/>
            <a:r>
              <a:rPr lang="en-US" sz="1800" b="0" i="0" dirty="0">
                <a:solidFill>
                  <a:srgbClr val="000000"/>
                </a:solidFill>
                <a:effectLst/>
                <a:latin typeface="Rockwell" panose="02060603020205020403" pitchFamily="18" charset="0"/>
              </a:rPr>
              <a:t>By convention, type parameter names are single, uppercase letters. </a:t>
            </a:r>
          </a:p>
          <a:p>
            <a:pPr algn="l"/>
            <a:r>
              <a:rPr lang="en-US" sz="1800" b="0" i="0" dirty="0">
                <a:solidFill>
                  <a:srgbClr val="000000"/>
                </a:solidFill>
                <a:effectLst/>
                <a:latin typeface="Rockwell" panose="02060603020205020403" pitchFamily="18" charset="0"/>
              </a:rPr>
              <a:t>Without this convention, it would be difficult to tell the difference between a type variable and an ordinary class or interface name.</a:t>
            </a:r>
          </a:p>
          <a:p>
            <a:pPr algn="l"/>
            <a:r>
              <a:rPr lang="en-US" sz="1800" b="0" i="0" dirty="0">
                <a:solidFill>
                  <a:srgbClr val="000000"/>
                </a:solidFill>
                <a:effectLst/>
                <a:latin typeface="Rockwell" panose="02060603020205020403" pitchFamily="18" charset="0"/>
              </a:rPr>
              <a:t>The most commonly used type parameter names are:</a:t>
            </a:r>
          </a:p>
          <a:p>
            <a:pPr algn="l">
              <a:buFont typeface="Arial" panose="020B0604020202020204" pitchFamily="34" charset="0"/>
              <a:buChar char="•"/>
            </a:pPr>
            <a:r>
              <a:rPr lang="en-US" sz="1800" b="0" i="0" dirty="0">
                <a:solidFill>
                  <a:srgbClr val="000000"/>
                </a:solidFill>
                <a:effectLst/>
                <a:latin typeface="Rockwell" panose="02060603020205020403" pitchFamily="18" charset="0"/>
              </a:rPr>
              <a:t>E - Element (used extensively by the Java Collections Framework)</a:t>
            </a:r>
          </a:p>
          <a:p>
            <a:pPr algn="l">
              <a:buFont typeface="Arial" panose="020B0604020202020204" pitchFamily="34" charset="0"/>
              <a:buChar char="•"/>
            </a:pPr>
            <a:r>
              <a:rPr lang="en-US" sz="1800" b="0" i="0" dirty="0">
                <a:solidFill>
                  <a:srgbClr val="000000"/>
                </a:solidFill>
                <a:effectLst/>
                <a:latin typeface="Rockwell" panose="02060603020205020403" pitchFamily="18" charset="0"/>
              </a:rPr>
              <a:t>K - Key</a:t>
            </a:r>
          </a:p>
          <a:p>
            <a:pPr algn="l">
              <a:buFont typeface="Arial" panose="020B0604020202020204" pitchFamily="34" charset="0"/>
              <a:buChar char="•"/>
            </a:pPr>
            <a:r>
              <a:rPr lang="en-US" sz="1800" b="0" i="0" dirty="0">
                <a:solidFill>
                  <a:srgbClr val="000000"/>
                </a:solidFill>
                <a:effectLst/>
                <a:latin typeface="Rockwell" panose="02060603020205020403" pitchFamily="18" charset="0"/>
              </a:rPr>
              <a:t>N - Number</a:t>
            </a:r>
          </a:p>
          <a:p>
            <a:pPr algn="l">
              <a:buFont typeface="Arial" panose="020B0604020202020204" pitchFamily="34" charset="0"/>
              <a:buChar char="•"/>
            </a:pPr>
            <a:r>
              <a:rPr lang="en-US" sz="1800" b="0" i="0" dirty="0">
                <a:solidFill>
                  <a:srgbClr val="000000"/>
                </a:solidFill>
                <a:effectLst/>
                <a:latin typeface="Rockwell" panose="02060603020205020403" pitchFamily="18" charset="0"/>
              </a:rPr>
              <a:t>T - Type</a:t>
            </a:r>
          </a:p>
          <a:p>
            <a:pPr algn="l">
              <a:buFont typeface="Arial" panose="020B0604020202020204" pitchFamily="34" charset="0"/>
              <a:buChar char="•"/>
            </a:pPr>
            <a:r>
              <a:rPr lang="en-US" sz="1800" b="0" i="0" dirty="0">
                <a:solidFill>
                  <a:srgbClr val="000000"/>
                </a:solidFill>
                <a:effectLst/>
                <a:latin typeface="Rockwell" panose="02060603020205020403" pitchFamily="18" charset="0"/>
              </a:rPr>
              <a:t>V - Value</a:t>
            </a:r>
          </a:p>
          <a:p>
            <a:pPr algn="l">
              <a:buFont typeface="Arial" panose="020B0604020202020204" pitchFamily="34" charset="0"/>
              <a:buChar char="•"/>
            </a:pPr>
            <a:r>
              <a:rPr lang="en-US" sz="1800" b="0" i="0" dirty="0">
                <a:solidFill>
                  <a:srgbClr val="000000"/>
                </a:solidFill>
                <a:effectLst/>
                <a:latin typeface="Rockwell" panose="02060603020205020403" pitchFamily="18" charset="0"/>
              </a:rPr>
              <a:t>S,U,V etc. - 2nd, 3rd, 4th types</a:t>
            </a:r>
          </a:p>
          <a:p>
            <a:pPr algn="l"/>
            <a:r>
              <a:rPr lang="en-US" sz="1800" b="0" i="0" dirty="0">
                <a:solidFill>
                  <a:srgbClr val="000000"/>
                </a:solidFill>
                <a:effectLst/>
                <a:latin typeface="Rockwell" panose="02060603020205020403" pitchFamily="18" charset="0"/>
              </a:rPr>
              <a:t>You'll see these names used throughout the Java SE API.</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Rockwell" panose="02060603020205020403" pitchFamily="18" charset="0"/>
            </a:endParaRPr>
          </a:p>
        </p:txBody>
      </p:sp>
    </p:spTree>
    <p:extLst>
      <p:ext uri="{BB962C8B-B14F-4D97-AF65-F5344CB8AC3E}">
        <p14:creationId xmlns:p14="http://schemas.microsoft.com/office/powerpoint/2010/main" val="100121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676B88-03D7-4CA1-9474-956CE5E498CB}"/>
              </a:ext>
            </a:extLst>
          </p:cNvPr>
          <p:cNvSpPr>
            <a:spLocks noGrp="1"/>
          </p:cNvSpPr>
          <p:nvPr>
            <p:ph sz="quarter" idx="10"/>
          </p:nvPr>
        </p:nvSpPr>
        <p:spPr/>
        <p:txBody>
          <a:bodyPr/>
          <a:lstStyle/>
          <a:p>
            <a:r>
              <a:rPr lang="en-US" b="1" i="0" dirty="0">
                <a:solidFill>
                  <a:srgbClr val="333333"/>
                </a:solidFill>
                <a:effectLst/>
                <a:latin typeface="Arial" panose="020B0604020202020204" pitchFamily="34" charset="0"/>
              </a:rPr>
              <a:t>Invoking and Instantiating a Generic Type</a:t>
            </a:r>
          </a:p>
        </p:txBody>
      </p:sp>
      <p:sp>
        <p:nvSpPr>
          <p:cNvPr id="4" name="Rectangle 1">
            <a:extLst>
              <a:ext uri="{FF2B5EF4-FFF2-40B4-BE49-F238E27FC236}">
                <a16:creationId xmlns:a16="http://schemas.microsoft.com/office/drawing/2014/main" id="{3E811CF7-4EF9-F555-00A6-71BB0F067434}"/>
              </a:ext>
            </a:extLst>
          </p:cNvPr>
          <p:cNvSpPr>
            <a:spLocks noGrp="1" noChangeArrowheads="1"/>
          </p:cNvSpPr>
          <p:nvPr>
            <p:ph idx="1"/>
          </p:nvPr>
        </p:nvSpPr>
        <p:spPr bwMode="auto">
          <a:xfrm>
            <a:off x="406400" y="1508694"/>
            <a:ext cx="11296073"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60363" marR="0" lvl="0" indent="-360363"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To reference the generic Box class from within your code, you must perform a </a:t>
            </a:r>
            <a:r>
              <a:rPr kumimoji="0" lang="en-US" altLang="en-US" sz="2000" b="0" i="1" u="none" strike="noStrike" cap="none" normalizeH="0" baseline="0" dirty="0">
                <a:ln>
                  <a:noFill/>
                </a:ln>
                <a:solidFill>
                  <a:srgbClr val="000000"/>
                </a:solidFill>
                <a:effectLst/>
                <a:latin typeface="Rockwell" panose="02060603020205020403" pitchFamily="18" charset="0"/>
              </a:rPr>
              <a:t>generic type invocation</a:t>
            </a:r>
            <a:r>
              <a:rPr kumimoji="0" lang="en-US" altLang="en-US" sz="2000" b="0" i="0" u="none" strike="noStrike" cap="none" normalizeH="0" baseline="0" dirty="0">
                <a:ln>
                  <a:noFill/>
                </a:ln>
                <a:solidFill>
                  <a:srgbClr val="000000"/>
                </a:solidFill>
                <a:effectLst/>
                <a:latin typeface="Rockwell" panose="02060603020205020403" pitchFamily="18" charset="0"/>
              </a:rPr>
              <a:t>, which replaces T with some concrete value, such as Integer:</a:t>
            </a:r>
            <a:endParaRPr kumimoji="0" lang="en-US" altLang="en-US" sz="2000" b="0" i="0" u="none" strike="noStrike" cap="none" normalizeH="0" baseline="0" dirty="0">
              <a:ln>
                <a:noFill/>
              </a:ln>
              <a:solidFill>
                <a:schemeClr val="tx1"/>
              </a:solidFill>
              <a:effectLst/>
              <a:latin typeface="Rockwell" panose="02060603020205020403" pitchFamily="18" charset="0"/>
            </a:endParaRPr>
          </a:p>
          <a:p>
            <a:pPr marL="360363" marR="0" lvl="0" indent="-360363"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Rockwell" panose="02060603020205020403" pitchFamily="18" charset="0"/>
              </a:rPr>
              <a:t>Box&lt;Integer&gt; </a:t>
            </a:r>
            <a:r>
              <a:rPr kumimoji="0" lang="en-US" altLang="en-US" sz="2000" b="1" i="0" u="none" strike="noStrike" cap="none" normalizeH="0" baseline="0" dirty="0" err="1">
                <a:ln>
                  <a:noFill/>
                </a:ln>
                <a:solidFill>
                  <a:srgbClr val="000000"/>
                </a:solidFill>
                <a:effectLst/>
                <a:latin typeface="Rockwell" panose="02060603020205020403" pitchFamily="18" charset="0"/>
              </a:rPr>
              <a:t>integerBox</a:t>
            </a:r>
            <a:r>
              <a:rPr kumimoji="0" lang="en-US" altLang="en-US" sz="2000" b="1" i="0" u="none" strike="noStrike" cap="none" normalizeH="0" baseline="0" dirty="0">
                <a:ln>
                  <a:noFill/>
                </a:ln>
                <a:solidFill>
                  <a:srgbClr val="000000"/>
                </a:solidFill>
                <a:effectLst/>
                <a:latin typeface="Rockwell" panose="02060603020205020403" pitchFamily="18" charset="0"/>
              </a:rPr>
              <a:t>; </a:t>
            </a:r>
            <a:endParaRPr kumimoji="0" lang="en-US" altLang="en-US" sz="2000" b="1" i="0" u="none" strike="noStrike" cap="none" normalizeH="0" baseline="0" dirty="0">
              <a:ln>
                <a:noFill/>
              </a:ln>
              <a:solidFill>
                <a:schemeClr val="tx1"/>
              </a:solidFill>
              <a:effectLst/>
              <a:latin typeface="Rockwell" panose="02060603020205020403" pitchFamily="18" charset="0"/>
            </a:endParaRPr>
          </a:p>
          <a:p>
            <a:pPr marL="360363" marR="0" lvl="0" indent="-360363"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You can think of a generic type invocation as being similar to an ordinary method invocation, but instead of passing an argument to a method, you are passing a </a:t>
            </a:r>
            <a:r>
              <a:rPr kumimoji="0" lang="en-US" altLang="en-US" sz="2000" b="0" i="1" u="none" strike="noStrike" cap="none" normalizeH="0" baseline="0" dirty="0">
                <a:ln>
                  <a:noFill/>
                </a:ln>
                <a:solidFill>
                  <a:srgbClr val="000000"/>
                </a:solidFill>
                <a:effectLst/>
                <a:latin typeface="Rockwell" panose="02060603020205020403" pitchFamily="18" charset="0"/>
              </a:rPr>
              <a:t>type argument</a:t>
            </a:r>
            <a:r>
              <a:rPr kumimoji="0" lang="en-US" altLang="en-US" sz="2000" b="0" i="0" u="none" strike="noStrike" cap="none" normalizeH="0" baseline="0" dirty="0">
                <a:ln>
                  <a:noFill/>
                </a:ln>
                <a:solidFill>
                  <a:srgbClr val="000000"/>
                </a:solidFill>
                <a:effectLst/>
                <a:latin typeface="Rockwell" panose="02060603020205020403" pitchFamily="18" charset="0"/>
              </a:rPr>
              <a:t> — Integer in this case — to the Box class itself.</a:t>
            </a:r>
          </a:p>
          <a:p>
            <a:pPr marL="360363" marR="0" lvl="0" indent="-360363"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Like any other variable declaration, this code does not actually create a new Box object. </a:t>
            </a:r>
          </a:p>
          <a:p>
            <a:pPr marL="360363" marR="0" lvl="0" indent="-360363"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It simply declares that </a:t>
            </a:r>
            <a:r>
              <a:rPr kumimoji="0" lang="en-US" altLang="en-US" sz="2000" b="0" i="0" u="none" strike="noStrike" cap="none" normalizeH="0" baseline="0" dirty="0" err="1">
                <a:ln>
                  <a:noFill/>
                </a:ln>
                <a:solidFill>
                  <a:srgbClr val="000000"/>
                </a:solidFill>
                <a:effectLst/>
                <a:latin typeface="Rockwell" panose="02060603020205020403" pitchFamily="18" charset="0"/>
              </a:rPr>
              <a:t>integerBox</a:t>
            </a:r>
            <a:r>
              <a:rPr kumimoji="0" lang="en-US" altLang="en-US" sz="2000" b="0" i="0" u="none" strike="noStrike" cap="none" normalizeH="0" baseline="0" dirty="0">
                <a:ln>
                  <a:noFill/>
                </a:ln>
                <a:solidFill>
                  <a:srgbClr val="000000"/>
                </a:solidFill>
                <a:effectLst/>
                <a:latin typeface="Rockwell" panose="02060603020205020403" pitchFamily="18" charset="0"/>
              </a:rPr>
              <a:t> will hold a reference to a "Box of Integer", which is how Box&lt;Integer&gt; is read.</a:t>
            </a:r>
            <a:endParaRPr kumimoji="0" lang="en-US" altLang="en-US" sz="2000" b="0" i="0" u="none" strike="noStrike" cap="none" normalizeH="0" baseline="0" dirty="0">
              <a:ln>
                <a:noFill/>
              </a:ln>
              <a:solidFill>
                <a:schemeClr val="tx1"/>
              </a:solidFill>
              <a:effectLst/>
              <a:latin typeface="Rockwell" panose="02060603020205020403" pitchFamily="18" charset="0"/>
            </a:endParaRPr>
          </a:p>
          <a:p>
            <a:pPr marL="360363" marR="0" lvl="0" indent="-360363"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An invocation of a generic type is generally known as a </a:t>
            </a:r>
            <a:r>
              <a:rPr kumimoji="0" lang="en-US" altLang="en-US" sz="2000" b="0" i="1" u="none" strike="noStrike" cap="none" normalizeH="0" baseline="0" dirty="0">
                <a:ln>
                  <a:noFill/>
                </a:ln>
                <a:solidFill>
                  <a:srgbClr val="000000"/>
                </a:solidFill>
                <a:effectLst/>
                <a:latin typeface="Rockwell" panose="02060603020205020403" pitchFamily="18" charset="0"/>
              </a:rPr>
              <a:t>parameterized type</a:t>
            </a:r>
            <a:r>
              <a:rPr kumimoji="0" lang="en-US" altLang="en-US" sz="2000" b="0" i="0" u="none" strike="noStrike" cap="none" normalizeH="0" baseline="0" dirty="0">
                <a:ln>
                  <a:noFill/>
                </a:ln>
                <a:solidFill>
                  <a:srgbClr val="000000"/>
                </a:solidFill>
                <a:effectLst/>
                <a:latin typeface="Rockwell" panose="02060603020205020403" pitchFamily="18" charset="0"/>
              </a:rPr>
              <a:t>.</a:t>
            </a:r>
            <a:endParaRPr kumimoji="0" lang="en-US" altLang="en-US" sz="2000" b="0" i="0" u="none" strike="noStrike" cap="none" normalizeH="0" baseline="0" dirty="0">
              <a:ln>
                <a:noFill/>
              </a:ln>
              <a:solidFill>
                <a:schemeClr val="tx1"/>
              </a:solidFill>
              <a:effectLst/>
              <a:latin typeface="Rockwell" panose="02060603020205020403" pitchFamily="18" charset="0"/>
            </a:endParaRPr>
          </a:p>
          <a:p>
            <a:pPr marL="360363" marR="0" lvl="0" indent="-360363"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Rockwell" panose="02060603020205020403" pitchFamily="18" charset="0"/>
              </a:rPr>
              <a:t>To instantiate this class, use the new keyword, as usual, but place &lt;Integer&gt; between the class name and the parenthesis:</a:t>
            </a:r>
            <a:endParaRPr kumimoji="0" lang="en-US" altLang="en-US" sz="2000" b="0" i="0" u="none" strike="noStrike" cap="none" normalizeH="0" baseline="0" dirty="0">
              <a:ln>
                <a:noFill/>
              </a:ln>
              <a:solidFill>
                <a:schemeClr val="tx1"/>
              </a:solidFill>
              <a:effectLst/>
              <a:latin typeface="Rockwell" panose="02060603020205020403" pitchFamily="18" charset="0"/>
            </a:endParaRPr>
          </a:p>
          <a:p>
            <a:pPr marL="360363" marR="0" lvl="0" indent="-360363"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Rockwell" panose="02060603020205020403" pitchFamily="18" charset="0"/>
              </a:rPr>
              <a:t>Box&lt;Integer&gt; </a:t>
            </a:r>
            <a:r>
              <a:rPr kumimoji="0" lang="en-US" altLang="en-US" sz="2000" b="1" i="0" u="none" strike="noStrike" cap="none" normalizeH="0" baseline="0" dirty="0" err="1">
                <a:ln>
                  <a:noFill/>
                </a:ln>
                <a:solidFill>
                  <a:srgbClr val="000000"/>
                </a:solidFill>
                <a:effectLst/>
                <a:latin typeface="Rockwell" panose="02060603020205020403" pitchFamily="18" charset="0"/>
              </a:rPr>
              <a:t>integerBox</a:t>
            </a:r>
            <a:r>
              <a:rPr kumimoji="0" lang="en-US" altLang="en-US" sz="2000" b="1" i="0" u="none" strike="noStrike" cap="none" normalizeH="0" baseline="0" dirty="0">
                <a:ln>
                  <a:noFill/>
                </a:ln>
                <a:solidFill>
                  <a:srgbClr val="000000"/>
                </a:solidFill>
                <a:effectLst/>
                <a:latin typeface="Rockwell" panose="02060603020205020403" pitchFamily="18" charset="0"/>
              </a:rPr>
              <a:t> = new Box&lt;Integer&gt;();</a:t>
            </a:r>
            <a:endParaRPr kumimoji="0" lang="en-US" altLang="en-US" sz="2000" b="1" i="0" u="none" strike="noStrike" cap="none" normalizeH="0" baseline="0" dirty="0">
              <a:ln>
                <a:noFill/>
              </a:ln>
              <a:solidFill>
                <a:schemeClr val="tx1"/>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Rockwell" panose="020606030202050204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Rockwell" panose="02060603020205020403" pitchFamily="18" charset="0"/>
            </a:endParaRPr>
          </a:p>
        </p:txBody>
      </p:sp>
    </p:spTree>
    <p:extLst>
      <p:ext uri="{BB962C8B-B14F-4D97-AF65-F5344CB8AC3E}">
        <p14:creationId xmlns:p14="http://schemas.microsoft.com/office/powerpoint/2010/main" val="312897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B54D2B-D43E-F90D-F4D3-29BD158A663B}"/>
              </a:ext>
            </a:extLst>
          </p:cNvPr>
          <p:cNvSpPr>
            <a:spLocks noGrp="1"/>
          </p:cNvSpPr>
          <p:nvPr>
            <p:ph idx="1"/>
          </p:nvPr>
        </p:nvSpPr>
        <p:spPr>
          <a:xfrm>
            <a:off x="406400" y="1295400"/>
            <a:ext cx="10972800" cy="5160817"/>
          </a:xfrm>
        </p:spPr>
        <p:txBody>
          <a:bodyPr/>
          <a:lstStyle/>
          <a:p>
            <a:pPr algn="just"/>
            <a:r>
              <a:rPr lang="en-US" sz="2000" b="0" i="0" dirty="0">
                <a:solidFill>
                  <a:srgbClr val="000000"/>
                </a:solidFill>
                <a:effectLst/>
                <a:latin typeface="Rockwell" panose="02060603020205020403" pitchFamily="18" charset="0"/>
              </a:rPr>
              <a:t>You can write a single generic method declaration that can be called with arguments of different types. Based on the types of the arguments passed to the generic method, the compiler handles each method call appropriately. Following are the rules to define Generic Methods −</a:t>
            </a:r>
          </a:p>
          <a:p>
            <a:pPr algn="just">
              <a:buFont typeface="Arial" panose="020B0604020202020204" pitchFamily="34" charset="0"/>
              <a:buChar char="•"/>
            </a:pPr>
            <a:r>
              <a:rPr lang="en-US" sz="2000" b="0" i="0" dirty="0">
                <a:solidFill>
                  <a:srgbClr val="000000"/>
                </a:solidFill>
                <a:effectLst/>
                <a:latin typeface="Rockwell" panose="02060603020205020403" pitchFamily="18" charset="0"/>
              </a:rPr>
              <a:t>All generic method declarations have a </a:t>
            </a:r>
            <a:r>
              <a:rPr lang="en-US" sz="2000" b="1" i="0" dirty="0">
                <a:solidFill>
                  <a:srgbClr val="000000"/>
                </a:solidFill>
                <a:effectLst/>
                <a:latin typeface="Rockwell" panose="02060603020205020403" pitchFamily="18" charset="0"/>
              </a:rPr>
              <a:t>type parameter </a:t>
            </a:r>
            <a:r>
              <a:rPr lang="en-US" sz="2000" b="0" i="0" dirty="0">
                <a:solidFill>
                  <a:srgbClr val="000000"/>
                </a:solidFill>
                <a:effectLst/>
                <a:latin typeface="Rockwell" panose="02060603020205020403" pitchFamily="18" charset="0"/>
              </a:rPr>
              <a:t>section delimited by angle brackets (&lt; and &gt;) that precedes the method's return type ( &lt; E &gt; in the next example).</a:t>
            </a:r>
          </a:p>
          <a:p>
            <a:pPr algn="just">
              <a:buFont typeface="Arial" panose="020B0604020202020204" pitchFamily="34" charset="0"/>
              <a:buChar char="•"/>
            </a:pPr>
            <a:r>
              <a:rPr lang="en-US" sz="2000" b="0" i="0" dirty="0">
                <a:solidFill>
                  <a:srgbClr val="000000"/>
                </a:solidFill>
                <a:effectLst/>
                <a:latin typeface="Rockwell" panose="02060603020205020403" pitchFamily="18" charset="0"/>
              </a:rPr>
              <a:t>Each type parameter section contains one or more type parameters separated by commas. </a:t>
            </a:r>
            <a:r>
              <a:rPr lang="en-US" sz="2000" b="1" i="0" dirty="0">
                <a:solidFill>
                  <a:srgbClr val="000000"/>
                </a:solidFill>
                <a:effectLst/>
                <a:latin typeface="Rockwell" panose="02060603020205020403" pitchFamily="18" charset="0"/>
              </a:rPr>
              <a:t>A type parameter, also known as a type variable, is an identifier that specifies a generic type name.</a:t>
            </a:r>
          </a:p>
          <a:p>
            <a:pPr algn="just">
              <a:buFont typeface="Arial" panose="020B0604020202020204" pitchFamily="34" charset="0"/>
              <a:buChar char="•"/>
            </a:pPr>
            <a:r>
              <a:rPr lang="en-US" sz="2000" b="0" i="0" dirty="0">
                <a:solidFill>
                  <a:srgbClr val="000000"/>
                </a:solidFill>
                <a:effectLst/>
                <a:latin typeface="Rockwell" panose="02060603020205020403" pitchFamily="18" charset="0"/>
              </a:rPr>
              <a:t>The type parameters can be used to declare the return type and act as placeholders for the types of the arguments passed to the generic method, which are known as actual type arguments.</a:t>
            </a:r>
          </a:p>
          <a:p>
            <a:pPr algn="just">
              <a:buFont typeface="Arial" panose="020B0604020202020204" pitchFamily="34" charset="0"/>
              <a:buChar char="•"/>
            </a:pPr>
            <a:r>
              <a:rPr lang="en-US" sz="2000" b="0" i="0" dirty="0">
                <a:solidFill>
                  <a:srgbClr val="000000"/>
                </a:solidFill>
                <a:effectLst/>
                <a:latin typeface="Rockwell" panose="02060603020205020403" pitchFamily="18" charset="0"/>
              </a:rPr>
              <a:t>A generic method's body is declared like that of any other method. </a:t>
            </a:r>
          </a:p>
          <a:p>
            <a:pPr algn="just">
              <a:buFont typeface="Arial" panose="020B0604020202020204" pitchFamily="34" charset="0"/>
              <a:buChar char="•"/>
            </a:pPr>
            <a:r>
              <a:rPr lang="en-US" sz="2000" b="1" i="0" dirty="0">
                <a:solidFill>
                  <a:srgbClr val="000000"/>
                </a:solidFill>
                <a:effectLst/>
                <a:latin typeface="Rockwell" panose="02060603020205020403" pitchFamily="18" charset="0"/>
              </a:rPr>
              <a:t>Note that type parameters can represent only reference types, not primitive types (like int, double and char).</a:t>
            </a:r>
          </a:p>
          <a:p>
            <a:pPr marL="0" indent="0" algn="just"/>
            <a:endParaRPr lang="en-US" sz="2000" b="0" i="0" dirty="0">
              <a:solidFill>
                <a:srgbClr val="000000"/>
              </a:solidFill>
              <a:effectLst/>
              <a:latin typeface="Rockwell" panose="02060603020205020403" pitchFamily="18" charset="0"/>
            </a:endParaRPr>
          </a:p>
          <a:p>
            <a:endParaRPr lang="en-IN" dirty="0"/>
          </a:p>
        </p:txBody>
      </p:sp>
      <p:sp>
        <p:nvSpPr>
          <p:cNvPr id="3" name="Content Placeholder 2">
            <a:extLst>
              <a:ext uri="{FF2B5EF4-FFF2-40B4-BE49-F238E27FC236}">
                <a16:creationId xmlns:a16="http://schemas.microsoft.com/office/drawing/2014/main" id="{51548E49-CCEE-0A05-8F4B-D212883D8AA3}"/>
              </a:ext>
            </a:extLst>
          </p:cNvPr>
          <p:cNvSpPr>
            <a:spLocks noGrp="1"/>
          </p:cNvSpPr>
          <p:nvPr>
            <p:ph sz="quarter" idx="10"/>
          </p:nvPr>
        </p:nvSpPr>
        <p:spPr/>
        <p:txBody>
          <a:bodyPr/>
          <a:lstStyle/>
          <a:p>
            <a:r>
              <a:rPr lang="en-IN" b="0" i="0" dirty="0">
                <a:solidFill>
                  <a:srgbClr val="000000"/>
                </a:solidFill>
                <a:effectLst/>
                <a:latin typeface="Heebo" panose="020B0604020202020204" pitchFamily="2" charset="-79"/>
                <a:cs typeface="Heebo" panose="020B0604020202020204" pitchFamily="2" charset="-79"/>
              </a:rPr>
              <a:t>Generic Methods</a:t>
            </a:r>
          </a:p>
        </p:txBody>
      </p:sp>
    </p:spTree>
    <p:extLst>
      <p:ext uri="{BB962C8B-B14F-4D97-AF65-F5344CB8AC3E}">
        <p14:creationId xmlns:p14="http://schemas.microsoft.com/office/powerpoint/2010/main" val="74055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F4EC76-541C-1BA8-5C61-31524A6D33AC}"/>
              </a:ext>
            </a:extLst>
          </p:cNvPr>
          <p:cNvSpPr>
            <a:spLocks noGrp="1"/>
          </p:cNvSpPr>
          <p:nvPr>
            <p:ph idx="1"/>
          </p:nvPr>
        </p:nvSpPr>
        <p:spPr/>
        <p:txBody>
          <a:bodyPr/>
          <a:lstStyle/>
          <a:p>
            <a:pPr algn="just"/>
            <a:r>
              <a:rPr lang="en-US" sz="2000" b="0" i="0" dirty="0">
                <a:solidFill>
                  <a:srgbClr val="000000"/>
                </a:solidFill>
                <a:effectLst/>
                <a:latin typeface="Rockwell" panose="02060603020205020403" pitchFamily="18" charset="0"/>
              </a:rPr>
              <a:t>There may be times when you'll want to restrict the kinds of types that are allowed to be passed to a type parameter. </a:t>
            </a:r>
          </a:p>
          <a:p>
            <a:pPr algn="just"/>
            <a:r>
              <a:rPr lang="en-US" sz="2000" b="0" i="0" dirty="0">
                <a:solidFill>
                  <a:srgbClr val="000000"/>
                </a:solidFill>
                <a:effectLst/>
                <a:latin typeface="Rockwell" panose="02060603020205020403" pitchFamily="18" charset="0"/>
              </a:rPr>
              <a:t>For example, a method that operates on numbers might only want to accept instances of Number or its subclasses. </a:t>
            </a:r>
          </a:p>
          <a:p>
            <a:pPr algn="just"/>
            <a:r>
              <a:rPr lang="en-US" sz="2000" b="0" i="0" dirty="0">
                <a:solidFill>
                  <a:srgbClr val="000000"/>
                </a:solidFill>
                <a:effectLst/>
                <a:latin typeface="Rockwell" panose="02060603020205020403" pitchFamily="18" charset="0"/>
              </a:rPr>
              <a:t>This is what bounded type parameters are for.</a:t>
            </a:r>
          </a:p>
          <a:p>
            <a:pPr algn="just"/>
            <a:r>
              <a:rPr lang="en-US" sz="2000" b="0" i="0" dirty="0">
                <a:solidFill>
                  <a:srgbClr val="000000"/>
                </a:solidFill>
                <a:effectLst/>
                <a:latin typeface="Rockwell" panose="02060603020205020403" pitchFamily="18" charset="0"/>
              </a:rPr>
              <a:t>To declare a bounded type parameter, list the type parameter's name, followed by the extends keyword, followed by its upper bound.</a:t>
            </a:r>
          </a:p>
          <a:p>
            <a:pPr algn="l"/>
            <a:r>
              <a:rPr lang="en-US" sz="2000" b="0" i="0" dirty="0">
                <a:effectLst/>
                <a:latin typeface="Rockwell" panose="02060603020205020403" pitchFamily="18" charset="0"/>
                <a:cs typeface="Heebo" pitchFamily="2" charset="-79"/>
              </a:rPr>
              <a:t>Example</a:t>
            </a:r>
          </a:p>
          <a:p>
            <a:pPr algn="just"/>
            <a:r>
              <a:rPr lang="en-US" sz="2000" b="0" i="0" dirty="0">
                <a:solidFill>
                  <a:srgbClr val="000000"/>
                </a:solidFill>
                <a:effectLst/>
                <a:latin typeface="Rockwell" panose="02060603020205020403" pitchFamily="18" charset="0"/>
              </a:rPr>
              <a:t>Following example illustrates how extends is used in a general sense to mean either "extends" (as in classes) or "implements" (as in interfaces). </a:t>
            </a:r>
          </a:p>
          <a:p>
            <a:pPr algn="just"/>
            <a:r>
              <a:rPr lang="en-US" sz="2000" b="0" i="0" dirty="0">
                <a:solidFill>
                  <a:srgbClr val="000000"/>
                </a:solidFill>
                <a:effectLst/>
                <a:latin typeface="Rockwell" panose="02060603020205020403" pitchFamily="18" charset="0"/>
              </a:rPr>
              <a:t>This example is Generic method to return the largest of three Comparable objects −</a:t>
            </a:r>
          </a:p>
          <a:p>
            <a:pPr algn="just"/>
            <a:r>
              <a:rPr lang="en-US" sz="2000" dirty="0">
                <a:solidFill>
                  <a:srgbClr val="000000"/>
                </a:solidFill>
                <a:latin typeface="Rockwell" panose="02060603020205020403" pitchFamily="18" charset="0"/>
              </a:rPr>
              <a:t>What are Comparable objects? – Left as self study exercise.</a:t>
            </a:r>
            <a:endParaRPr lang="en-US" sz="2000" b="0" i="0" dirty="0">
              <a:solidFill>
                <a:srgbClr val="000000"/>
              </a:solidFill>
              <a:effectLst/>
              <a:latin typeface="Rockwell" panose="02060603020205020403" pitchFamily="18" charset="0"/>
            </a:endParaRPr>
          </a:p>
          <a:p>
            <a:pPr algn="just"/>
            <a:endParaRPr lang="en-US" sz="2000" b="0" i="0" dirty="0">
              <a:solidFill>
                <a:srgbClr val="000000"/>
              </a:solidFill>
              <a:effectLst/>
              <a:latin typeface="Rockwell" panose="02060603020205020403" pitchFamily="18" charset="0"/>
            </a:endParaRPr>
          </a:p>
          <a:p>
            <a:endParaRPr lang="en-IN" dirty="0"/>
          </a:p>
        </p:txBody>
      </p:sp>
      <p:sp>
        <p:nvSpPr>
          <p:cNvPr id="3" name="Content Placeholder 2">
            <a:extLst>
              <a:ext uri="{FF2B5EF4-FFF2-40B4-BE49-F238E27FC236}">
                <a16:creationId xmlns:a16="http://schemas.microsoft.com/office/drawing/2014/main" id="{A94897D7-7E93-07E1-56C0-FFC2C7E197FF}"/>
              </a:ext>
            </a:extLst>
          </p:cNvPr>
          <p:cNvSpPr>
            <a:spLocks noGrp="1"/>
          </p:cNvSpPr>
          <p:nvPr>
            <p:ph sz="quarter" idx="10"/>
          </p:nvPr>
        </p:nvSpPr>
        <p:spPr/>
        <p:txBody>
          <a:bodyPr/>
          <a:lstStyle/>
          <a:p>
            <a:r>
              <a:rPr lang="en-IN" b="0" i="0" dirty="0">
                <a:solidFill>
                  <a:srgbClr val="000000"/>
                </a:solidFill>
                <a:effectLst/>
                <a:latin typeface="Heebo" pitchFamily="2" charset="-79"/>
                <a:cs typeface="Heebo" pitchFamily="2" charset="-79"/>
              </a:rPr>
              <a:t>Bounded Type Parameters</a:t>
            </a:r>
          </a:p>
        </p:txBody>
      </p:sp>
    </p:spTree>
    <p:extLst>
      <p:ext uri="{BB962C8B-B14F-4D97-AF65-F5344CB8AC3E}">
        <p14:creationId xmlns:p14="http://schemas.microsoft.com/office/powerpoint/2010/main" val="241224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FD3779-A657-3E17-5373-FA2DA164123B}"/>
              </a:ext>
            </a:extLst>
          </p:cNvPr>
          <p:cNvSpPr>
            <a:spLocks noGrp="1"/>
          </p:cNvSpPr>
          <p:nvPr>
            <p:ph idx="1"/>
          </p:nvPr>
        </p:nvSpPr>
        <p:spPr/>
        <p:txBody>
          <a:bodyPr/>
          <a:lstStyle/>
          <a:p>
            <a:r>
              <a:rPr lang="en-US" dirty="0">
                <a:latin typeface="Rockwell" panose="02060603020205020403" pitchFamily="18" charset="0"/>
              </a:rPr>
              <a:t>In generic code, the question mark (?), called the wildcard, represents an unknown type. </a:t>
            </a:r>
          </a:p>
          <a:p>
            <a:r>
              <a:rPr lang="en-US" dirty="0">
                <a:latin typeface="Rockwell" panose="02060603020205020403" pitchFamily="18" charset="0"/>
              </a:rPr>
              <a:t>The wildcard can be used in a variety of situations: as the type of a parameter, field, or local variable; sometimes as a return type (though it is better programming practice to be more specific). </a:t>
            </a:r>
          </a:p>
          <a:p>
            <a:r>
              <a:rPr lang="en-US" dirty="0">
                <a:latin typeface="Rockwell" panose="02060603020205020403" pitchFamily="18" charset="0"/>
              </a:rPr>
              <a:t>The wildcard is never used as a type argument for a generic method invocation, a generic class instance creation, or a supertype.</a:t>
            </a:r>
          </a:p>
          <a:p>
            <a:endParaRPr lang="en-US" dirty="0">
              <a:latin typeface="Rockwell" panose="02060603020205020403" pitchFamily="18" charset="0"/>
            </a:endParaRPr>
          </a:p>
          <a:p>
            <a:r>
              <a:rPr lang="en-US" dirty="0">
                <a:latin typeface="Rockwell" panose="02060603020205020403" pitchFamily="18" charset="0"/>
              </a:rPr>
              <a:t>The following sections discuss wildcards in more detail, including upper bounded wildcards, lower bounded wildcards, and wildcard capture.</a:t>
            </a:r>
          </a:p>
          <a:p>
            <a:endParaRPr lang="en-IN" dirty="0"/>
          </a:p>
          <a:p>
            <a:endParaRPr lang="en-IN" dirty="0"/>
          </a:p>
          <a:p>
            <a:endParaRPr lang="en-IN" dirty="0"/>
          </a:p>
        </p:txBody>
      </p:sp>
      <p:sp>
        <p:nvSpPr>
          <p:cNvPr id="3" name="Content Placeholder 2">
            <a:extLst>
              <a:ext uri="{FF2B5EF4-FFF2-40B4-BE49-F238E27FC236}">
                <a16:creationId xmlns:a16="http://schemas.microsoft.com/office/drawing/2014/main" id="{58F473AC-C83C-79E0-9595-FF33668ED4DE}"/>
              </a:ext>
            </a:extLst>
          </p:cNvPr>
          <p:cNvSpPr>
            <a:spLocks noGrp="1"/>
          </p:cNvSpPr>
          <p:nvPr>
            <p:ph sz="quarter" idx="10"/>
          </p:nvPr>
        </p:nvSpPr>
        <p:spPr/>
        <p:txBody>
          <a:bodyPr/>
          <a:lstStyle/>
          <a:p>
            <a:r>
              <a:rPr lang="en-IN" dirty="0"/>
              <a:t>Wildcards in generics</a:t>
            </a:r>
          </a:p>
        </p:txBody>
      </p:sp>
    </p:spTree>
    <p:extLst>
      <p:ext uri="{BB962C8B-B14F-4D97-AF65-F5344CB8AC3E}">
        <p14:creationId xmlns:p14="http://schemas.microsoft.com/office/powerpoint/2010/main" val="3304290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2B604-E606-4DB8-C35E-5FCBD2C7EBD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5E9935-FF2B-9ACC-E3B3-FD5ACC7FA4C2}"/>
              </a:ext>
            </a:extLst>
          </p:cNvPr>
          <p:cNvSpPr>
            <a:spLocks noGrp="1"/>
          </p:cNvSpPr>
          <p:nvPr>
            <p:ph idx="1"/>
          </p:nvPr>
        </p:nvSpPr>
        <p:spPr>
          <a:xfrm>
            <a:off x="406400" y="1600201"/>
            <a:ext cx="10972800" cy="4966854"/>
          </a:xfrm>
        </p:spPr>
        <p:txBody>
          <a:bodyPr/>
          <a:lstStyle/>
          <a:p>
            <a:r>
              <a:rPr lang="en-US" sz="2200" dirty="0">
                <a:latin typeface="Rockwell" panose="02060603020205020403" pitchFamily="18" charset="0"/>
              </a:rPr>
              <a:t>You can use an upper bounded wildcard to relax the restrictions on a variable. </a:t>
            </a:r>
          </a:p>
          <a:p>
            <a:r>
              <a:rPr lang="en-US" sz="2200" dirty="0">
                <a:latin typeface="Rockwell" panose="02060603020205020403" pitchFamily="18" charset="0"/>
              </a:rPr>
              <a:t>For example, say you want to write a method that works on List&lt;Integer&gt;, List&lt;Double&gt;, and List&lt;Number&gt;; you can achieve this by using an upper bounded wildcard.</a:t>
            </a:r>
          </a:p>
          <a:p>
            <a:r>
              <a:rPr lang="en-US" sz="2200" dirty="0">
                <a:latin typeface="Rockwell" panose="02060603020205020403" pitchFamily="18" charset="0"/>
              </a:rPr>
              <a:t>To declare an upper-bounded wildcard, use the wildcard character ('?'), followed by the extends keyword, followed by its upper bound. </a:t>
            </a:r>
          </a:p>
          <a:p>
            <a:r>
              <a:rPr lang="en-US" sz="2200" dirty="0">
                <a:latin typeface="Rockwell" panose="02060603020205020403" pitchFamily="18" charset="0"/>
              </a:rPr>
              <a:t>Note that, in this context, extends is used in a general sense to mean either "extends" (as in classes) or "implements" (as in interfaces).</a:t>
            </a:r>
          </a:p>
          <a:p>
            <a:r>
              <a:rPr lang="en-US" sz="2200" dirty="0">
                <a:latin typeface="Rockwell" panose="02060603020205020403" pitchFamily="18" charset="0"/>
              </a:rPr>
              <a:t>To write the method that works on lists of Number and the subtypes of Number, such as Integer, Double, and Float, you would specify List&lt;? extends Number&gt;. </a:t>
            </a:r>
          </a:p>
          <a:p>
            <a:r>
              <a:rPr lang="en-US" sz="2200" dirty="0">
                <a:latin typeface="Rockwell" panose="02060603020205020403" pitchFamily="18" charset="0"/>
              </a:rPr>
              <a:t>The term List&lt;Number&gt; is more restrictive than List&lt;? extends Number&gt; because the former matches a list of type Number only, whereas the latter matches a list of type Number or any of its subclasses.</a:t>
            </a:r>
            <a:endParaRPr lang="en-IN" sz="2200" dirty="0">
              <a:latin typeface="Rockwell" panose="02060603020205020403" pitchFamily="18" charset="0"/>
            </a:endParaRPr>
          </a:p>
          <a:p>
            <a:endParaRPr lang="en-IN" sz="2000" dirty="0">
              <a:latin typeface="Rockwell" panose="02060603020205020403" pitchFamily="18" charset="0"/>
            </a:endParaRPr>
          </a:p>
          <a:p>
            <a:endParaRPr lang="en-IN" dirty="0"/>
          </a:p>
        </p:txBody>
      </p:sp>
      <p:sp>
        <p:nvSpPr>
          <p:cNvPr id="3" name="Content Placeholder 2">
            <a:extLst>
              <a:ext uri="{FF2B5EF4-FFF2-40B4-BE49-F238E27FC236}">
                <a16:creationId xmlns:a16="http://schemas.microsoft.com/office/drawing/2014/main" id="{61CD5C0C-35A8-9962-9C89-A9AD3A6524B9}"/>
              </a:ext>
            </a:extLst>
          </p:cNvPr>
          <p:cNvSpPr>
            <a:spLocks noGrp="1"/>
          </p:cNvSpPr>
          <p:nvPr>
            <p:ph sz="quarter" idx="10"/>
          </p:nvPr>
        </p:nvSpPr>
        <p:spPr/>
        <p:txBody>
          <a:bodyPr/>
          <a:lstStyle/>
          <a:p>
            <a:r>
              <a:rPr lang="en-IN" dirty="0"/>
              <a:t>Wildcards in generics - </a:t>
            </a:r>
            <a:r>
              <a:rPr lang="en-US" dirty="0"/>
              <a:t>Upper Bounded Wildcards</a:t>
            </a:r>
          </a:p>
        </p:txBody>
      </p:sp>
    </p:spTree>
    <p:extLst>
      <p:ext uri="{BB962C8B-B14F-4D97-AF65-F5344CB8AC3E}">
        <p14:creationId xmlns:p14="http://schemas.microsoft.com/office/powerpoint/2010/main" val="3896205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95655-A146-1918-D743-4FAAC82507C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4C0913-FE39-90A5-046E-A2C8AA9BD501}"/>
              </a:ext>
            </a:extLst>
          </p:cNvPr>
          <p:cNvSpPr>
            <a:spLocks noGrp="1"/>
          </p:cNvSpPr>
          <p:nvPr>
            <p:ph idx="1"/>
          </p:nvPr>
        </p:nvSpPr>
        <p:spPr>
          <a:xfrm>
            <a:off x="406400" y="1600201"/>
            <a:ext cx="10972800" cy="4966854"/>
          </a:xfrm>
        </p:spPr>
        <p:txBody>
          <a:bodyPr/>
          <a:lstStyle/>
          <a:p>
            <a:endParaRPr lang="en-IN" sz="2000" dirty="0">
              <a:latin typeface="Rockwell" panose="02060603020205020403" pitchFamily="18" charset="0"/>
            </a:endParaRPr>
          </a:p>
          <a:p>
            <a:endParaRPr lang="en-IN" dirty="0"/>
          </a:p>
        </p:txBody>
      </p:sp>
      <p:sp>
        <p:nvSpPr>
          <p:cNvPr id="3" name="Content Placeholder 2">
            <a:extLst>
              <a:ext uri="{FF2B5EF4-FFF2-40B4-BE49-F238E27FC236}">
                <a16:creationId xmlns:a16="http://schemas.microsoft.com/office/drawing/2014/main" id="{6A5BD956-FA84-69F7-2323-505273D1FFA9}"/>
              </a:ext>
            </a:extLst>
          </p:cNvPr>
          <p:cNvSpPr>
            <a:spLocks noGrp="1"/>
          </p:cNvSpPr>
          <p:nvPr>
            <p:ph sz="quarter" idx="10"/>
          </p:nvPr>
        </p:nvSpPr>
        <p:spPr/>
        <p:txBody>
          <a:bodyPr/>
          <a:lstStyle/>
          <a:p>
            <a:r>
              <a:rPr lang="en-IN" dirty="0"/>
              <a:t>Wildcards in generics – </a:t>
            </a:r>
            <a:r>
              <a:rPr lang="en-US" dirty="0"/>
              <a:t>Un-Bounded Wildcards</a:t>
            </a:r>
          </a:p>
        </p:txBody>
      </p:sp>
      <p:sp>
        <p:nvSpPr>
          <p:cNvPr id="5" name="TextBox 4">
            <a:extLst>
              <a:ext uri="{FF2B5EF4-FFF2-40B4-BE49-F238E27FC236}">
                <a16:creationId xmlns:a16="http://schemas.microsoft.com/office/drawing/2014/main" id="{0E9CCC9C-6A84-15A5-5512-BA222C8DC5B7}"/>
              </a:ext>
            </a:extLst>
          </p:cNvPr>
          <p:cNvSpPr txBox="1"/>
          <p:nvPr/>
        </p:nvSpPr>
        <p:spPr>
          <a:xfrm>
            <a:off x="618836" y="1440873"/>
            <a:ext cx="10871200" cy="4431983"/>
          </a:xfrm>
          <a:prstGeom prst="rect">
            <a:avLst/>
          </a:prstGeom>
          <a:noFill/>
        </p:spPr>
        <p:txBody>
          <a:bodyPr wrap="square">
            <a:spAutoFit/>
          </a:bodyPr>
          <a:lstStyle/>
          <a:p>
            <a:pPr marL="360363" indent="-360363"/>
            <a:r>
              <a:rPr lang="en-IN" sz="2400" dirty="0">
                <a:latin typeface="Rockwell" panose="02060603020205020403" pitchFamily="18" charset="0"/>
              </a:rPr>
              <a:t>The unbounded wildcard type is specified using the wildcard character (?), for example, List&lt;?&gt;. </a:t>
            </a:r>
          </a:p>
          <a:p>
            <a:pPr marL="360363" indent="-360363"/>
            <a:r>
              <a:rPr lang="en-IN" sz="2400" dirty="0">
                <a:latin typeface="Rockwell" panose="02060603020205020403" pitchFamily="18" charset="0"/>
              </a:rPr>
              <a:t>This is called a list of unknown type. </a:t>
            </a:r>
          </a:p>
          <a:p>
            <a:pPr marL="360363" indent="-360363"/>
            <a:r>
              <a:rPr lang="en-IN" sz="2400" dirty="0">
                <a:latin typeface="Rockwell" panose="02060603020205020403" pitchFamily="18" charset="0"/>
              </a:rPr>
              <a:t>There are two scenarios where an unbounded wildcard is a useful approach:</a:t>
            </a:r>
          </a:p>
          <a:p>
            <a:pPr marL="360363" indent="-360363"/>
            <a:r>
              <a:rPr lang="en-IN" sz="2400" dirty="0">
                <a:latin typeface="Rockwell" panose="02060603020205020403" pitchFamily="18" charset="0"/>
              </a:rPr>
              <a:t>1. If you are writing a method that can be implemented using functionality provided in the Object class.</a:t>
            </a:r>
          </a:p>
          <a:p>
            <a:pPr marL="360363" indent="-360363"/>
            <a:r>
              <a:rPr lang="en-IN" sz="2400" dirty="0">
                <a:latin typeface="Rockwell" panose="02060603020205020403" pitchFamily="18" charset="0"/>
              </a:rPr>
              <a:t>2. When the code is using methods in the generic class that don't depend on the type parameter. </a:t>
            </a:r>
          </a:p>
          <a:p>
            <a:pPr marL="360363" indent="-360363"/>
            <a:r>
              <a:rPr lang="en-IN" sz="2400" dirty="0">
                <a:latin typeface="Rockwell" panose="02060603020205020403" pitchFamily="18" charset="0"/>
              </a:rPr>
              <a:t>For example, </a:t>
            </a:r>
            <a:r>
              <a:rPr lang="en-IN" sz="2400" dirty="0" err="1">
                <a:latin typeface="Rockwell" panose="02060603020205020403" pitchFamily="18" charset="0"/>
              </a:rPr>
              <a:t>List.size</a:t>
            </a:r>
            <a:r>
              <a:rPr lang="en-IN" sz="2400" dirty="0">
                <a:latin typeface="Rockwell" panose="02060603020205020403" pitchFamily="18" charset="0"/>
              </a:rPr>
              <a:t> or </a:t>
            </a:r>
            <a:r>
              <a:rPr lang="en-IN" sz="2400" dirty="0" err="1">
                <a:latin typeface="Rockwell" panose="02060603020205020403" pitchFamily="18" charset="0"/>
              </a:rPr>
              <a:t>List.clear</a:t>
            </a:r>
            <a:r>
              <a:rPr lang="en-IN" sz="2400" dirty="0">
                <a:latin typeface="Rockwell" panose="02060603020205020403" pitchFamily="18" charset="0"/>
              </a:rPr>
              <a:t>. </a:t>
            </a:r>
          </a:p>
          <a:p>
            <a:pPr marL="360363" indent="-360363"/>
            <a:r>
              <a:rPr lang="en-US" sz="2400" dirty="0">
                <a:latin typeface="Rockwell" panose="02060603020205020403" pitchFamily="18" charset="0"/>
              </a:rPr>
              <a:t>In fact, Class&lt;?&gt; is so often used because most of the methods in Class&lt;T&gt; do not depend on T.</a:t>
            </a:r>
          </a:p>
          <a:p>
            <a:endParaRPr lang="en-IN" dirty="0"/>
          </a:p>
        </p:txBody>
      </p:sp>
    </p:spTree>
    <p:extLst>
      <p:ext uri="{BB962C8B-B14F-4D97-AF65-F5344CB8AC3E}">
        <p14:creationId xmlns:p14="http://schemas.microsoft.com/office/powerpoint/2010/main" val="439154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34380-7512-2A08-6E51-0036F394638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6051C1-CDAB-5E33-5DE4-3E09226A8943}"/>
              </a:ext>
            </a:extLst>
          </p:cNvPr>
          <p:cNvSpPr>
            <a:spLocks noGrp="1"/>
          </p:cNvSpPr>
          <p:nvPr>
            <p:ph idx="1"/>
          </p:nvPr>
        </p:nvSpPr>
        <p:spPr>
          <a:xfrm>
            <a:off x="406400" y="1600201"/>
            <a:ext cx="10972800" cy="4966854"/>
          </a:xfrm>
        </p:spPr>
        <p:txBody>
          <a:bodyPr/>
          <a:lstStyle/>
          <a:p>
            <a:endParaRPr lang="en-IN" sz="2000" dirty="0">
              <a:latin typeface="Rockwell" panose="02060603020205020403" pitchFamily="18" charset="0"/>
            </a:endParaRPr>
          </a:p>
          <a:p>
            <a:endParaRPr lang="en-IN" dirty="0"/>
          </a:p>
        </p:txBody>
      </p:sp>
      <p:sp>
        <p:nvSpPr>
          <p:cNvPr id="3" name="Content Placeholder 2">
            <a:extLst>
              <a:ext uri="{FF2B5EF4-FFF2-40B4-BE49-F238E27FC236}">
                <a16:creationId xmlns:a16="http://schemas.microsoft.com/office/drawing/2014/main" id="{4887F8EF-EB1A-0402-0D9A-20AE691BC8C7}"/>
              </a:ext>
            </a:extLst>
          </p:cNvPr>
          <p:cNvSpPr>
            <a:spLocks noGrp="1"/>
          </p:cNvSpPr>
          <p:nvPr>
            <p:ph sz="quarter" idx="10"/>
          </p:nvPr>
        </p:nvSpPr>
        <p:spPr/>
        <p:txBody>
          <a:bodyPr/>
          <a:lstStyle/>
          <a:p>
            <a:r>
              <a:rPr lang="en-IN" dirty="0"/>
              <a:t>Wildcards in generics – </a:t>
            </a:r>
            <a:r>
              <a:rPr lang="en-US" dirty="0"/>
              <a:t>Un-Bounded Wildcards</a:t>
            </a:r>
          </a:p>
        </p:txBody>
      </p:sp>
      <p:sp>
        <p:nvSpPr>
          <p:cNvPr id="5" name="TextBox 4">
            <a:extLst>
              <a:ext uri="{FF2B5EF4-FFF2-40B4-BE49-F238E27FC236}">
                <a16:creationId xmlns:a16="http://schemas.microsoft.com/office/drawing/2014/main" id="{722986B8-4580-74F0-2F48-15624110186B}"/>
              </a:ext>
            </a:extLst>
          </p:cNvPr>
          <p:cNvSpPr txBox="1"/>
          <p:nvPr/>
        </p:nvSpPr>
        <p:spPr>
          <a:xfrm>
            <a:off x="572655" y="1295400"/>
            <a:ext cx="10640290" cy="5401479"/>
          </a:xfrm>
          <a:prstGeom prst="rect">
            <a:avLst/>
          </a:prstGeom>
          <a:noFill/>
        </p:spPr>
        <p:txBody>
          <a:bodyPr wrap="square">
            <a:spAutoFit/>
          </a:bodyPr>
          <a:lstStyle/>
          <a:p>
            <a:r>
              <a:rPr lang="en-US" sz="2300" dirty="0">
                <a:latin typeface="Rockwell" panose="02060603020205020403" pitchFamily="18" charset="0"/>
              </a:rPr>
              <a:t>Consider the following method, </a:t>
            </a:r>
            <a:r>
              <a:rPr lang="en-US" sz="2300" dirty="0" err="1">
                <a:latin typeface="Rockwell" panose="02060603020205020403" pitchFamily="18" charset="0"/>
              </a:rPr>
              <a:t>printList</a:t>
            </a:r>
            <a:r>
              <a:rPr lang="en-US" sz="2300" dirty="0">
                <a:latin typeface="Rockwell" panose="02060603020205020403" pitchFamily="18" charset="0"/>
              </a:rPr>
              <a:t>:</a:t>
            </a:r>
          </a:p>
          <a:p>
            <a:r>
              <a:rPr lang="en-US" sz="2300" dirty="0">
                <a:latin typeface="Rockwell" panose="02060603020205020403" pitchFamily="18" charset="0"/>
              </a:rPr>
              <a:t>public static void </a:t>
            </a:r>
            <a:r>
              <a:rPr lang="en-US" sz="2300" dirty="0" err="1">
                <a:latin typeface="Rockwell" panose="02060603020205020403" pitchFamily="18" charset="0"/>
              </a:rPr>
              <a:t>printList</a:t>
            </a:r>
            <a:r>
              <a:rPr lang="en-US" sz="2300" dirty="0">
                <a:latin typeface="Rockwell" panose="02060603020205020403" pitchFamily="18" charset="0"/>
              </a:rPr>
              <a:t>(List&lt;Object&gt; list) {</a:t>
            </a:r>
          </a:p>
          <a:p>
            <a:r>
              <a:rPr lang="en-US" sz="2300" dirty="0">
                <a:latin typeface="Rockwell" panose="02060603020205020403" pitchFamily="18" charset="0"/>
              </a:rPr>
              <a:t>    for (Object </a:t>
            </a:r>
            <a:r>
              <a:rPr lang="en-US" sz="2300" dirty="0" err="1">
                <a:latin typeface="Rockwell" panose="02060603020205020403" pitchFamily="18" charset="0"/>
              </a:rPr>
              <a:t>elem</a:t>
            </a:r>
            <a:r>
              <a:rPr lang="en-US" sz="2300" dirty="0">
                <a:latin typeface="Rockwell" panose="02060603020205020403" pitchFamily="18" charset="0"/>
              </a:rPr>
              <a:t> : list)</a:t>
            </a:r>
          </a:p>
          <a:p>
            <a:r>
              <a:rPr lang="en-US" sz="2300" dirty="0">
                <a:latin typeface="Rockwell" panose="02060603020205020403" pitchFamily="18" charset="0"/>
              </a:rPr>
              <a:t>        </a:t>
            </a:r>
            <a:r>
              <a:rPr lang="en-US" sz="2300" dirty="0" err="1">
                <a:latin typeface="Rockwell" panose="02060603020205020403" pitchFamily="18" charset="0"/>
              </a:rPr>
              <a:t>System.out.println</a:t>
            </a:r>
            <a:r>
              <a:rPr lang="en-US" sz="2300" dirty="0">
                <a:latin typeface="Rockwell" panose="02060603020205020403" pitchFamily="18" charset="0"/>
              </a:rPr>
              <a:t>(</a:t>
            </a:r>
            <a:r>
              <a:rPr lang="en-US" sz="2300" dirty="0" err="1">
                <a:latin typeface="Rockwell" panose="02060603020205020403" pitchFamily="18" charset="0"/>
              </a:rPr>
              <a:t>elem</a:t>
            </a:r>
            <a:r>
              <a:rPr lang="en-US" sz="2300" dirty="0">
                <a:latin typeface="Rockwell" panose="02060603020205020403" pitchFamily="18" charset="0"/>
              </a:rPr>
              <a:t> + " ");</a:t>
            </a:r>
          </a:p>
          <a:p>
            <a:r>
              <a:rPr lang="en-US" sz="2300" dirty="0">
                <a:latin typeface="Rockwell" panose="02060603020205020403" pitchFamily="18" charset="0"/>
              </a:rPr>
              <a:t>    </a:t>
            </a:r>
            <a:r>
              <a:rPr lang="en-US" sz="2300" dirty="0" err="1">
                <a:latin typeface="Rockwell" panose="02060603020205020403" pitchFamily="18" charset="0"/>
              </a:rPr>
              <a:t>System.out.println</a:t>
            </a:r>
            <a:r>
              <a:rPr lang="en-US" sz="2300" dirty="0">
                <a:latin typeface="Rockwell" panose="02060603020205020403" pitchFamily="18" charset="0"/>
              </a:rPr>
              <a:t>();</a:t>
            </a:r>
          </a:p>
          <a:p>
            <a:r>
              <a:rPr lang="en-US" sz="2300" dirty="0">
                <a:latin typeface="Rockwell" panose="02060603020205020403" pitchFamily="18" charset="0"/>
              </a:rPr>
              <a:t>}</a:t>
            </a:r>
          </a:p>
          <a:p>
            <a:pPr marL="360363" indent="-360363"/>
            <a:r>
              <a:rPr lang="en-US" sz="2300" dirty="0">
                <a:latin typeface="Rockwell" panose="02060603020205020403" pitchFamily="18" charset="0"/>
              </a:rPr>
              <a:t>The goal of </a:t>
            </a:r>
            <a:r>
              <a:rPr lang="en-US" sz="2300" dirty="0" err="1">
                <a:latin typeface="Rockwell" panose="02060603020205020403" pitchFamily="18" charset="0"/>
              </a:rPr>
              <a:t>printList</a:t>
            </a:r>
            <a:r>
              <a:rPr lang="en-US" sz="2300" dirty="0">
                <a:latin typeface="Rockwell" panose="02060603020205020403" pitchFamily="18" charset="0"/>
              </a:rPr>
              <a:t> is to print a list of any type, but it fails to achieve that goal.</a:t>
            </a:r>
          </a:p>
          <a:p>
            <a:pPr marL="360363" indent="-360363"/>
            <a:r>
              <a:rPr lang="en-US" sz="2300" dirty="0">
                <a:latin typeface="Rockwell" panose="02060603020205020403" pitchFamily="18" charset="0"/>
              </a:rPr>
              <a:t>It prints only a list of Object instances; </a:t>
            </a:r>
          </a:p>
          <a:p>
            <a:pPr marL="360363" indent="-360363"/>
            <a:r>
              <a:rPr lang="en-US" sz="2300" dirty="0">
                <a:latin typeface="Rockwell" panose="02060603020205020403" pitchFamily="18" charset="0"/>
              </a:rPr>
              <a:t>It cannot print List&lt;Integer&gt;, List&lt;String&gt;, List&lt;Double&gt;, and so on, because they are not subtypes of List&lt;Object&gt;.</a:t>
            </a:r>
          </a:p>
          <a:p>
            <a:pPr marL="360363" indent="-360363"/>
            <a:r>
              <a:rPr lang="en-US" sz="2300" dirty="0">
                <a:latin typeface="Rockwell" panose="02060603020205020403" pitchFamily="18" charset="0"/>
              </a:rPr>
              <a:t> To write a generic </a:t>
            </a:r>
            <a:r>
              <a:rPr lang="en-US" sz="2300" dirty="0" err="1">
                <a:latin typeface="Rockwell" panose="02060603020205020403" pitchFamily="18" charset="0"/>
              </a:rPr>
              <a:t>printList</a:t>
            </a:r>
            <a:r>
              <a:rPr lang="en-US" sz="2300" dirty="0">
                <a:latin typeface="Rockwell" panose="02060603020205020403" pitchFamily="18" charset="0"/>
              </a:rPr>
              <a:t> method, use List&lt;?&gt;:</a:t>
            </a:r>
          </a:p>
          <a:p>
            <a:pPr marL="360363" indent="-360363"/>
            <a:endParaRPr lang="en-US" sz="2300" dirty="0">
              <a:latin typeface="Rockwell" panose="02060603020205020403" pitchFamily="18" charset="0"/>
            </a:endParaRPr>
          </a:p>
          <a:p>
            <a:pPr marL="360363" indent="-360363"/>
            <a:r>
              <a:rPr lang="en-US" sz="2300" dirty="0">
                <a:latin typeface="Rockwell" panose="02060603020205020403" pitchFamily="18" charset="0"/>
              </a:rPr>
              <a:t>Because for any concrete type A, List&lt;A&gt; is a subtype of List&lt;?&gt;, you can use </a:t>
            </a:r>
            <a:r>
              <a:rPr lang="en-US" sz="2300" dirty="0" err="1">
                <a:latin typeface="Rockwell" panose="02060603020205020403" pitchFamily="18" charset="0"/>
              </a:rPr>
              <a:t>printList</a:t>
            </a:r>
            <a:r>
              <a:rPr lang="en-US" sz="2300" dirty="0">
                <a:latin typeface="Rockwell" panose="02060603020205020403" pitchFamily="18" charset="0"/>
              </a:rPr>
              <a:t> to print a list of any type.</a:t>
            </a:r>
          </a:p>
        </p:txBody>
      </p:sp>
    </p:spTree>
    <p:extLst>
      <p:ext uri="{BB962C8B-B14F-4D97-AF65-F5344CB8AC3E}">
        <p14:creationId xmlns:p14="http://schemas.microsoft.com/office/powerpoint/2010/main" val="3281822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8E042-FB36-BFA6-7007-3D7524775AD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666CE7-D981-CAE1-C2B1-C18021F6FF61}"/>
              </a:ext>
            </a:extLst>
          </p:cNvPr>
          <p:cNvSpPr>
            <a:spLocks noGrp="1"/>
          </p:cNvSpPr>
          <p:nvPr>
            <p:ph idx="1"/>
          </p:nvPr>
        </p:nvSpPr>
        <p:spPr>
          <a:xfrm>
            <a:off x="406400" y="1600201"/>
            <a:ext cx="10972800" cy="4966854"/>
          </a:xfrm>
        </p:spPr>
        <p:txBody>
          <a:bodyPr/>
          <a:lstStyle/>
          <a:p>
            <a:endParaRPr lang="en-IN" sz="2000" dirty="0">
              <a:latin typeface="Rockwell" panose="02060603020205020403" pitchFamily="18" charset="0"/>
            </a:endParaRPr>
          </a:p>
          <a:p>
            <a:endParaRPr lang="en-IN" dirty="0"/>
          </a:p>
        </p:txBody>
      </p:sp>
      <p:sp>
        <p:nvSpPr>
          <p:cNvPr id="3" name="Content Placeholder 2">
            <a:extLst>
              <a:ext uri="{FF2B5EF4-FFF2-40B4-BE49-F238E27FC236}">
                <a16:creationId xmlns:a16="http://schemas.microsoft.com/office/drawing/2014/main" id="{D9BA9C6E-E7F3-39AA-67C4-AC0F2B494FA0}"/>
              </a:ext>
            </a:extLst>
          </p:cNvPr>
          <p:cNvSpPr>
            <a:spLocks noGrp="1"/>
          </p:cNvSpPr>
          <p:nvPr>
            <p:ph sz="quarter" idx="10"/>
          </p:nvPr>
        </p:nvSpPr>
        <p:spPr/>
        <p:txBody>
          <a:bodyPr/>
          <a:lstStyle/>
          <a:p>
            <a:r>
              <a:rPr lang="en-IN" dirty="0"/>
              <a:t>Wildcards in generics – </a:t>
            </a:r>
            <a:r>
              <a:rPr lang="en-US" dirty="0"/>
              <a:t>Lower Bounded Wildcards</a:t>
            </a:r>
          </a:p>
        </p:txBody>
      </p:sp>
      <p:sp>
        <p:nvSpPr>
          <p:cNvPr id="5" name="TextBox 4">
            <a:extLst>
              <a:ext uri="{FF2B5EF4-FFF2-40B4-BE49-F238E27FC236}">
                <a16:creationId xmlns:a16="http://schemas.microsoft.com/office/drawing/2014/main" id="{D91D8949-2272-B71C-B204-8772431CAFBD}"/>
              </a:ext>
            </a:extLst>
          </p:cNvPr>
          <p:cNvSpPr txBox="1"/>
          <p:nvPr/>
        </p:nvSpPr>
        <p:spPr>
          <a:xfrm>
            <a:off x="572655" y="1390779"/>
            <a:ext cx="11212945" cy="4832092"/>
          </a:xfrm>
          <a:prstGeom prst="rect">
            <a:avLst/>
          </a:prstGeom>
          <a:noFill/>
        </p:spPr>
        <p:txBody>
          <a:bodyPr wrap="square">
            <a:spAutoFit/>
          </a:bodyPr>
          <a:lstStyle/>
          <a:p>
            <a:pPr marL="360363" indent="-360363"/>
            <a:r>
              <a:rPr lang="en-US" sz="2400" dirty="0">
                <a:latin typeface="Rockwell" panose="02060603020205020403" pitchFamily="18" charset="0"/>
              </a:rPr>
              <a:t>The Upper Bounded Wildcards section shows that an upper bounded wildcard restricts the unknown type to be a specific type or a subtype of that type and is represented using the extends keyword. </a:t>
            </a:r>
          </a:p>
          <a:p>
            <a:pPr marL="360363" indent="-360363"/>
            <a:r>
              <a:rPr lang="en-US" sz="2400" dirty="0">
                <a:latin typeface="Rockwell" panose="02060603020205020403" pitchFamily="18" charset="0"/>
              </a:rPr>
              <a:t>In a similar way, a lower bounded wildcard restricts the unknown type to be a specific type or a </a:t>
            </a:r>
            <a:r>
              <a:rPr lang="en-US" sz="2400" b="1" dirty="0">
                <a:latin typeface="Rockwell" panose="02060603020205020403" pitchFamily="18" charset="0"/>
              </a:rPr>
              <a:t>super type </a:t>
            </a:r>
            <a:r>
              <a:rPr lang="en-US" sz="2400" dirty="0">
                <a:latin typeface="Rockwell" panose="02060603020205020403" pitchFamily="18" charset="0"/>
              </a:rPr>
              <a:t>of that type.</a:t>
            </a:r>
          </a:p>
          <a:p>
            <a:pPr marL="360363" indent="-360363"/>
            <a:r>
              <a:rPr lang="en-US" sz="2400" dirty="0">
                <a:latin typeface="Rockwell" panose="02060603020205020403" pitchFamily="18" charset="0"/>
              </a:rPr>
              <a:t>A lower bounded wildcard is expressed using the wildcard character ('?'), following by the </a:t>
            </a:r>
            <a:r>
              <a:rPr lang="en-US" sz="2400" b="1" dirty="0">
                <a:latin typeface="Rockwell" panose="02060603020205020403" pitchFamily="18" charset="0"/>
              </a:rPr>
              <a:t>super keyword</a:t>
            </a:r>
            <a:r>
              <a:rPr lang="en-US" sz="2400" dirty="0">
                <a:latin typeface="Rockwell" panose="02060603020205020403" pitchFamily="18" charset="0"/>
              </a:rPr>
              <a:t>, followed by its lower bound: </a:t>
            </a:r>
            <a:r>
              <a:rPr lang="en-US" sz="2400" b="1" dirty="0">
                <a:latin typeface="Rockwell" panose="02060603020205020403" pitchFamily="18" charset="0"/>
              </a:rPr>
              <a:t>&lt;? super A&gt;.</a:t>
            </a:r>
          </a:p>
          <a:p>
            <a:pPr marL="360363" indent="-360363"/>
            <a:r>
              <a:rPr lang="en-US" sz="2400" b="1" dirty="0">
                <a:latin typeface="Rockwell" panose="02060603020205020403" pitchFamily="18" charset="0"/>
              </a:rPr>
              <a:t>Note: </a:t>
            </a:r>
            <a:r>
              <a:rPr lang="en-US" sz="2400" dirty="0">
                <a:latin typeface="Rockwell" panose="02060603020205020403" pitchFamily="18" charset="0"/>
              </a:rPr>
              <a:t>You can specify an upper bound for a wildcard, or you can specify a lower bound, but you cannot specify both.</a:t>
            </a:r>
          </a:p>
          <a:p>
            <a:pPr marL="360363" indent="-360363"/>
            <a:r>
              <a:rPr lang="en-US" sz="2400" dirty="0">
                <a:latin typeface="Rockwell" panose="02060603020205020403" pitchFamily="18" charset="0"/>
              </a:rPr>
              <a:t>Say you want to write a method that puts Integer objects into a list. </a:t>
            </a:r>
          </a:p>
          <a:p>
            <a:pPr marL="360363" indent="-360363"/>
            <a:r>
              <a:rPr lang="en-US" sz="2400" dirty="0">
                <a:latin typeface="Rockwell" panose="02060603020205020403" pitchFamily="18" charset="0"/>
              </a:rPr>
              <a:t>To maximize flexibility, you would like the method to work on List&lt;Integer&gt;, List&lt;Number&gt;, and List&lt;Object&gt; — anything that can hold Integer values.</a:t>
            </a:r>
          </a:p>
          <a:p>
            <a:endParaRPr lang="en-IN" sz="2000" dirty="0">
              <a:latin typeface="Rockwell" panose="02060603020205020403" pitchFamily="18" charset="0"/>
            </a:endParaRPr>
          </a:p>
        </p:txBody>
      </p:sp>
    </p:spTree>
    <p:extLst>
      <p:ext uri="{BB962C8B-B14F-4D97-AF65-F5344CB8AC3E}">
        <p14:creationId xmlns:p14="http://schemas.microsoft.com/office/powerpoint/2010/main" val="3506879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84D78-19C7-D0F0-656E-17DFB8B50E5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B34C1E-7340-12AD-4D3C-64D2793BDBF5}"/>
              </a:ext>
            </a:extLst>
          </p:cNvPr>
          <p:cNvSpPr>
            <a:spLocks noGrp="1"/>
          </p:cNvSpPr>
          <p:nvPr>
            <p:ph idx="1"/>
          </p:nvPr>
        </p:nvSpPr>
        <p:spPr>
          <a:xfrm>
            <a:off x="406400" y="1600201"/>
            <a:ext cx="10972800" cy="4966854"/>
          </a:xfrm>
        </p:spPr>
        <p:txBody>
          <a:bodyPr/>
          <a:lstStyle/>
          <a:p>
            <a:endParaRPr lang="en-IN" sz="2000" dirty="0">
              <a:latin typeface="Rockwell" panose="02060603020205020403" pitchFamily="18" charset="0"/>
            </a:endParaRPr>
          </a:p>
          <a:p>
            <a:endParaRPr lang="en-IN" dirty="0"/>
          </a:p>
        </p:txBody>
      </p:sp>
      <p:sp>
        <p:nvSpPr>
          <p:cNvPr id="3" name="Content Placeholder 2">
            <a:extLst>
              <a:ext uri="{FF2B5EF4-FFF2-40B4-BE49-F238E27FC236}">
                <a16:creationId xmlns:a16="http://schemas.microsoft.com/office/drawing/2014/main" id="{5BDD5363-88B5-7C6B-69E4-0972F7A9FF54}"/>
              </a:ext>
            </a:extLst>
          </p:cNvPr>
          <p:cNvSpPr>
            <a:spLocks noGrp="1"/>
          </p:cNvSpPr>
          <p:nvPr>
            <p:ph sz="quarter" idx="10"/>
          </p:nvPr>
        </p:nvSpPr>
        <p:spPr/>
        <p:txBody>
          <a:bodyPr/>
          <a:lstStyle/>
          <a:p>
            <a:r>
              <a:rPr lang="en-IN" dirty="0"/>
              <a:t>Wildcards in generics – </a:t>
            </a:r>
            <a:r>
              <a:rPr lang="en-US" dirty="0"/>
              <a:t>Lower Bound Wildcards</a:t>
            </a:r>
          </a:p>
        </p:txBody>
      </p:sp>
      <p:sp>
        <p:nvSpPr>
          <p:cNvPr id="5" name="TextBox 4">
            <a:extLst>
              <a:ext uri="{FF2B5EF4-FFF2-40B4-BE49-F238E27FC236}">
                <a16:creationId xmlns:a16="http://schemas.microsoft.com/office/drawing/2014/main" id="{7A008986-2948-6A8B-EAF1-BE339A4BB28F}"/>
              </a:ext>
            </a:extLst>
          </p:cNvPr>
          <p:cNvSpPr txBox="1"/>
          <p:nvPr/>
        </p:nvSpPr>
        <p:spPr>
          <a:xfrm>
            <a:off x="572655" y="1390779"/>
            <a:ext cx="11212945" cy="4893647"/>
          </a:xfrm>
          <a:prstGeom prst="rect">
            <a:avLst/>
          </a:prstGeom>
          <a:noFill/>
        </p:spPr>
        <p:txBody>
          <a:bodyPr wrap="square">
            <a:spAutoFit/>
          </a:bodyPr>
          <a:lstStyle/>
          <a:p>
            <a:pPr marL="360363" indent="-360363"/>
            <a:r>
              <a:rPr lang="en-US" sz="2400" dirty="0">
                <a:latin typeface="Rockwell" panose="02060603020205020403" pitchFamily="18" charset="0"/>
              </a:rPr>
              <a:t>To write the method that works on lists of Integer and the supertypes of Integer, such as Integer, Number, and Object, you would specify </a:t>
            </a:r>
          </a:p>
          <a:p>
            <a:pPr marL="360363" indent="-360363"/>
            <a:r>
              <a:rPr lang="en-US" sz="2400" dirty="0">
                <a:latin typeface="Rockwell" panose="02060603020205020403" pitchFamily="18" charset="0"/>
              </a:rPr>
              <a:t>List&lt;? super Integer&gt;. </a:t>
            </a:r>
          </a:p>
          <a:p>
            <a:pPr marL="360363" indent="-360363"/>
            <a:r>
              <a:rPr lang="en-US" sz="2400" dirty="0">
                <a:latin typeface="Rockwell" panose="02060603020205020403" pitchFamily="18" charset="0"/>
              </a:rPr>
              <a:t>The term List&lt;Integer&gt; is more restrictive than List&lt;? super Integer&gt; because the former matches a list of type Integer only, whereas the latter matches a list of any type that is a supertype of Integer.</a:t>
            </a:r>
          </a:p>
          <a:p>
            <a:pPr marL="360363" indent="-360363"/>
            <a:r>
              <a:rPr lang="en-US" sz="2400" dirty="0">
                <a:latin typeface="Rockwell" panose="02060603020205020403" pitchFamily="18" charset="0"/>
              </a:rPr>
              <a:t>The following code adds the numbers 1 through 10 to the end of a list:</a:t>
            </a:r>
          </a:p>
          <a:p>
            <a:endParaRPr lang="en-US" sz="2400" dirty="0">
              <a:latin typeface="Rockwell" panose="02060603020205020403" pitchFamily="18" charset="0"/>
            </a:endParaRPr>
          </a:p>
          <a:p>
            <a:r>
              <a:rPr lang="en-US" sz="2400" dirty="0">
                <a:latin typeface="Rockwell" panose="02060603020205020403" pitchFamily="18" charset="0"/>
              </a:rPr>
              <a:t>public static void </a:t>
            </a:r>
            <a:r>
              <a:rPr lang="en-US" sz="2400" dirty="0" err="1">
                <a:latin typeface="Rockwell" panose="02060603020205020403" pitchFamily="18" charset="0"/>
              </a:rPr>
              <a:t>addNumbers</a:t>
            </a:r>
            <a:r>
              <a:rPr lang="en-US" sz="2400" dirty="0">
                <a:latin typeface="Rockwell" panose="02060603020205020403" pitchFamily="18" charset="0"/>
              </a:rPr>
              <a:t>(List</a:t>
            </a:r>
            <a:r>
              <a:rPr lang="en-US" sz="2400" b="1" dirty="0">
                <a:latin typeface="Rockwell" panose="02060603020205020403" pitchFamily="18" charset="0"/>
              </a:rPr>
              <a:t>&lt;? super Integer</a:t>
            </a:r>
            <a:r>
              <a:rPr lang="en-US" sz="2400" dirty="0">
                <a:latin typeface="Rockwell" panose="02060603020205020403" pitchFamily="18" charset="0"/>
              </a:rPr>
              <a:t>&gt; list) {</a:t>
            </a:r>
          </a:p>
          <a:p>
            <a:r>
              <a:rPr lang="en-US" sz="2400" dirty="0">
                <a:latin typeface="Rockwell" panose="02060603020205020403" pitchFamily="18" charset="0"/>
              </a:rPr>
              <a:t>    for (int </a:t>
            </a:r>
            <a:r>
              <a:rPr lang="en-US" sz="2400" dirty="0" err="1">
                <a:latin typeface="Rockwell" panose="02060603020205020403" pitchFamily="18" charset="0"/>
              </a:rPr>
              <a:t>i</a:t>
            </a:r>
            <a:r>
              <a:rPr lang="en-US" sz="2400" dirty="0">
                <a:latin typeface="Rockwell" panose="02060603020205020403" pitchFamily="18" charset="0"/>
              </a:rPr>
              <a:t> = 1; </a:t>
            </a:r>
            <a:r>
              <a:rPr lang="en-US" sz="2400" dirty="0" err="1">
                <a:latin typeface="Rockwell" panose="02060603020205020403" pitchFamily="18" charset="0"/>
              </a:rPr>
              <a:t>i</a:t>
            </a:r>
            <a:r>
              <a:rPr lang="en-US" sz="2400" dirty="0">
                <a:latin typeface="Rockwell" panose="02060603020205020403" pitchFamily="18" charset="0"/>
              </a:rPr>
              <a:t> &lt;= 10; </a:t>
            </a:r>
            <a:r>
              <a:rPr lang="en-US" sz="2400" dirty="0" err="1">
                <a:latin typeface="Rockwell" panose="02060603020205020403" pitchFamily="18" charset="0"/>
              </a:rPr>
              <a:t>i</a:t>
            </a:r>
            <a:r>
              <a:rPr lang="en-US" sz="2400" dirty="0">
                <a:latin typeface="Rockwell" panose="02060603020205020403" pitchFamily="18" charset="0"/>
              </a:rPr>
              <a:t>++) {</a:t>
            </a:r>
          </a:p>
          <a:p>
            <a:r>
              <a:rPr lang="en-US" sz="2400" dirty="0">
                <a:latin typeface="Rockwell" panose="02060603020205020403" pitchFamily="18" charset="0"/>
              </a:rPr>
              <a:t>        </a:t>
            </a:r>
            <a:r>
              <a:rPr lang="en-US" sz="2400" dirty="0" err="1">
                <a:latin typeface="Rockwell" panose="02060603020205020403" pitchFamily="18" charset="0"/>
              </a:rPr>
              <a:t>list.add</a:t>
            </a:r>
            <a:r>
              <a:rPr lang="en-US" sz="2400" dirty="0">
                <a:latin typeface="Rockwell" panose="02060603020205020403" pitchFamily="18" charset="0"/>
              </a:rPr>
              <a:t>(</a:t>
            </a:r>
            <a:r>
              <a:rPr lang="en-US" sz="2400" dirty="0" err="1">
                <a:latin typeface="Rockwell" panose="02060603020205020403" pitchFamily="18" charset="0"/>
              </a:rPr>
              <a:t>i</a:t>
            </a:r>
            <a:r>
              <a:rPr lang="en-US" sz="2400" dirty="0">
                <a:latin typeface="Rockwell" panose="02060603020205020403" pitchFamily="18" charset="0"/>
              </a:rPr>
              <a:t>);</a:t>
            </a:r>
          </a:p>
          <a:p>
            <a:r>
              <a:rPr lang="en-US" sz="2400" dirty="0">
                <a:latin typeface="Rockwell" panose="02060603020205020403" pitchFamily="18" charset="0"/>
              </a:rPr>
              <a:t>    }</a:t>
            </a:r>
          </a:p>
          <a:p>
            <a:r>
              <a:rPr lang="en-US" sz="2400" dirty="0">
                <a:latin typeface="Rockwell" panose="02060603020205020403" pitchFamily="18" charset="0"/>
              </a:rPr>
              <a:t>}</a:t>
            </a:r>
            <a:endParaRPr lang="en-IN" sz="2400" dirty="0">
              <a:latin typeface="Rockwell" panose="02060603020205020403" pitchFamily="18" charset="0"/>
            </a:endParaRPr>
          </a:p>
        </p:txBody>
      </p:sp>
    </p:spTree>
    <p:extLst>
      <p:ext uri="{BB962C8B-B14F-4D97-AF65-F5344CB8AC3E}">
        <p14:creationId xmlns:p14="http://schemas.microsoft.com/office/powerpoint/2010/main" val="353755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632DD1-06C8-FA2D-6A41-037F3C5073D1}"/>
              </a:ext>
            </a:extLst>
          </p:cNvPr>
          <p:cNvSpPr>
            <a:spLocks noGrp="1"/>
          </p:cNvSpPr>
          <p:nvPr>
            <p:ph idx="1"/>
          </p:nvPr>
        </p:nvSpPr>
        <p:spPr/>
        <p:txBody>
          <a:bodyPr/>
          <a:lstStyle/>
          <a:p>
            <a:r>
              <a:rPr lang="en-US" dirty="0"/>
              <a:t>Reference</a:t>
            </a:r>
          </a:p>
          <a:p>
            <a:r>
              <a:rPr lang="en-US" dirty="0">
                <a:hlinkClick r:id="rId2"/>
              </a:rPr>
              <a:t>https://docs.oracle.com/javase/tutorial/java/generics/index.html</a:t>
            </a:r>
            <a:endParaRPr lang="en-US" dirty="0"/>
          </a:p>
          <a:p>
            <a:r>
              <a:rPr lang="en-US">
                <a:hlinkClick r:id="rId3"/>
              </a:rPr>
              <a:t>https://www.tutorialspoint.com/java/java_generics.htm</a:t>
            </a:r>
            <a:endParaRPr lang="en-US"/>
          </a:p>
          <a:p>
            <a:endParaRPr lang="en-US" dirty="0"/>
          </a:p>
          <a:p>
            <a:r>
              <a:rPr lang="en-US" dirty="0"/>
              <a:t>References for further reading</a:t>
            </a:r>
          </a:p>
          <a:p>
            <a:r>
              <a:rPr lang="en-IN" dirty="0">
                <a:hlinkClick r:id="rId4"/>
              </a:rPr>
              <a:t>https://docs.oracle.com/javase/tutorial/extra/generics/index.html</a:t>
            </a:r>
            <a:endParaRPr lang="en-US" dirty="0"/>
          </a:p>
          <a:p>
            <a:endParaRPr lang="en-IN" dirty="0"/>
          </a:p>
        </p:txBody>
      </p:sp>
      <p:sp>
        <p:nvSpPr>
          <p:cNvPr id="3" name="Content Placeholder 2">
            <a:extLst>
              <a:ext uri="{FF2B5EF4-FFF2-40B4-BE49-F238E27FC236}">
                <a16:creationId xmlns:a16="http://schemas.microsoft.com/office/drawing/2014/main" id="{F1A1C805-E33D-BE59-D385-100033E77785}"/>
              </a:ext>
            </a:extLst>
          </p:cNvPr>
          <p:cNvSpPr>
            <a:spLocks noGrp="1"/>
          </p:cNvSpPr>
          <p:nvPr>
            <p:ph sz="quarter" idx="10"/>
          </p:nvPr>
        </p:nvSpPr>
        <p:spPr/>
        <p:txBody>
          <a:bodyPr/>
          <a:lstStyle/>
          <a:p>
            <a:endParaRPr lang="en-IN"/>
          </a:p>
        </p:txBody>
      </p:sp>
    </p:spTree>
    <p:extLst>
      <p:ext uri="{BB962C8B-B14F-4D97-AF65-F5344CB8AC3E}">
        <p14:creationId xmlns:p14="http://schemas.microsoft.com/office/powerpoint/2010/main" val="40182226"/>
      </p:ext>
    </p:extLst>
  </p:cSld>
  <p:clrMapOvr>
    <a:masterClrMapping/>
  </p:clrMapOvr>
</p:sld>
</file>

<file path=ppt/theme/theme1.xml><?xml version="1.0" encoding="utf-8"?>
<a:theme xmlns:a="http://schemas.openxmlformats.org/drawingml/2006/main" name="Pilani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ilaniTemplate" id="{8F0D2DFD-EC7F-4D0A-98D1-F33F22B163D3}" vid="{99A2A52D-FDB1-488E-9133-A1A0B416DB4C}"/>
    </a:ext>
  </a:extLst>
</a:theme>
</file>

<file path=docProps/app.xml><?xml version="1.0" encoding="utf-8"?>
<Properties xmlns="http://schemas.openxmlformats.org/officeDocument/2006/extended-properties" xmlns:vt="http://schemas.openxmlformats.org/officeDocument/2006/docPropsVTypes">
  <Template>PilaniTemplate</Template>
  <TotalTime>1228</TotalTime>
  <Words>2465</Words>
  <Application>Microsoft Office PowerPoint</Application>
  <PresentationFormat>Widescreen</PresentationFormat>
  <Paragraphs>181</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Heebo</vt:lpstr>
      <vt:lpstr>Rockwell</vt:lpstr>
      <vt:lpstr>Wingdings</vt:lpstr>
      <vt:lpstr>PilaniTemplate</vt:lpstr>
      <vt:lpstr>Object Oriented Programming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 and Design</dc:title>
  <dc:creator>sujatha s</dc:creator>
  <cp:lastModifiedBy>Ramya M</cp:lastModifiedBy>
  <cp:revision>21</cp:revision>
  <dcterms:created xsi:type="dcterms:W3CDTF">2022-07-27T04:31:02Z</dcterms:created>
  <dcterms:modified xsi:type="dcterms:W3CDTF">2025-11-28T10:05:17Z</dcterms:modified>
</cp:coreProperties>
</file>