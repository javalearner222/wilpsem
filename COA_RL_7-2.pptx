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0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22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6"/>
  </p:notesMasterIdLst>
  <p:sldIdLst>
    <p:sldId id="279" r:id="rId3"/>
    <p:sldId id="280" r:id="rId4"/>
    <p:sldId id="536" r:id="rId5"/>
    <p:sldId id="537" r:id="rId6"/>
    <p:sldId id="562" r:id="rId7"/>
    <p:sldId id="561" r:id="rId8"/>
    <p:sldId id="563" r:id="rId9"/>
    <p:sldId id="538" r:id="rId10"/>
    <p:sldId id="541" r:id="rId11"/>
    <p:sldId id="542" r:id="rId12"/>
    <p:sldId id="544" r:id="rId13"/>
    <p:sldId id="545" r:id="rId14"/>
    <p:sldId id="547" r:id="rId15"/>
    <p:sldId id="548" r:id="rId16"/>
    <p:sldId id="549" r:id="rId17"/>
    <p:sldId id="564" r:id="rId18"/>
    <p:sldId id="552" r:id="rId19"/>
    <p:sldId id="554" r:id="rId20"/>
    <p:sldId id="556" r:id="rId21"/>
    <p:sldId id="557" r:id="rId22"/>
    <p:sldId id="559" r:id="rId23"/>
    <p:sldId id="446" r:id="rId24"/>
    <p:sldId id="32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3B7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2D831-27D1-4804-BBE6-E7E773617FD4}" type="datetimeFigureOut">
              <a:rPr lang="en-IN" smtClean="0"/>
              <a:pPr/>
              <a:t>29-06-2012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C9D2F-5FCE-4B4F-80E6-E39EED6BD8E1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EC90E5-745A-45F5-B3B8-1B222E3271A2}" type="slidenum">
              <a:rPr lang="en-US"/>
              <a:pPr/>
              <a:t>11</a:t>
            </a:fld>
            <a:endParaRPr lang="en-US"/>
          </a:p>
        </p:txBody>
      </p:sp>
      <p:sp>
        <p:nvSpPr>
          <p:cNvPr id="911362" name="Rectangle 2"/>
          <p:cNvSpPr>
            <a:spLocks noChangeArrowheads="1"/>
          </p:cNvSpPr>
          <p:nvPr/>
        </p:nvSpPr>
        <p:spPr bwMode="auto">
          <a:xfrm>
            <a:off x="3886698" y="0"/>
            <a:ext cx="297130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86621" tIns="43311" rIns="86621" bIns="43311" anchor="ctr"/>
          <a:lstStyle/>
          <a:p>
            <a:endParaRPr lang="en-US"/>
          </a:p>
        </p:txBody>
      </p:sp>
      <p:sp>
        <p:nvSpPr>
          <p:cNvPr id="911363" name="Rectangle 3"/>
          <p:cNvSpPr>
            <a:spLocks noChangeArrowheads="1"/>
          </p:cNvSpPr>
          <p:nvPr/>
        </p:nvSpPr>
        <p:spPr bwMode="auto">
          <a:xfrm>
            <a:off x="3886698" y="8686800"/>
            <a:ext cx="297130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77" tIns="44444" rIns="90477" bIns="44444" anchor="b"/>
          <a:lstStyle/>
          <a:p>
            <a:pPr algn="r" defTabSz="914334"/>
            <a:r>
              <a:rPr lang="en-US" sz="1200" dirty="0"/>
              <a:t>42</a:t>
            </a:r>
          </a:p>
        </p:txBody>
      </p:sp>
      <p:sp>
        <p:nvSpPr>
          <p:cNvPr id="911364" name="Rectangle 4"/>
          <p:cNvSpPr>
            <a:spLocks noChangeArrowheads="1"/>
          </p:cNvSpPr>
          <p:nvPr/>
        </p:nvSpPr>
        <p:spPr bwMode="auto">
          <a:xfrm>
            <a:off x="0" y="8686800"/>
            <a:ext cx="2971304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86621" tIns="43311" rIns="86621" bIns="43311" anchor="ctr"/>
          <a:lstStyle/>
          <a:p>
            <a:endParaRPr lang="en-US"/>
          </a:p>
        </p:txBody>
      </p:sp>
      <p:sp>
        <p:nvSpPr>
          <p:cNvPr id="911365" name="Rectangle 5"/>
          <p:cNvSpPr>
            <a:spLocks noChangeArrowheads="1"/>
          </p:cNvSpPr>
          <p:nvPr/>
        </p:nvSpPr>
        <p:spPr bwMode="auto">
          <a:xfrm>
            <a:off x="0" y="0"/>
            <a:ext cx="2971304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86621" tIns="43311" rIns="86621" bIns="43311" anchor="ctr"/>
          <a:lstStyle/>
          <a:p>
            <a:endParaRPr lang="en-US"/>
          </a:p>
        </p:txBody>
      </p:sp>
      <p:sp>
        <p:nvSpPr>
          <p:cNvPr id="9113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/>
        </p:spPr>
      </p:sp>
      <p:sp>
        <p:nvSpPr>
          <p:cNvPr id="911367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wrap="square" lIns="90477" tIns="44444" rIns="90477" bIns="44444" anchor="t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616282-0F59-4660-A234-F409ADE82ECB}" type="slidenum">
              <a:rPr lang="en-US"/>
              <a:pPr/>
              <a:t>15</a:t>
            </a:fld>
            <a:endParaRPr lang="en-US"/>
          </a:p>
        </p:txBody>
      </p:sp>
      <p:sp>
        <p:nvSpPr>
          <p:cNvPr id="925698" name="Rectangle 2"/>
          <p:cNvSpPr>
            <a:spLocks noChangeArrowheads="1"/>
          </p:cNvSpPr>
          <p:nvPr/>
        </p:nvSpPr>
        <p:spPr bwMode="auto">
          <a:xfrm>
            <a:off x="3886698" y="0"/>
            <a:ext cx="297130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86621" tIns="43311" rIns="86621" bIns="43311" anchor="ctr"/>
          <a:lstStyle/>
          <a:p>
            <a:endParaRPr lang="en-US"/>
          </a:p>
        </p:txBody>
      </p:sp>
      <p:sp>
        <p:nvSpPr>
          <p:cNvPr id="925699" name="Rectangle 3"/>
          <p:cNvSpPr>
            <a:spLocks noChangeArrowheads="1"/>
          </p:cNvSpPr>
          <p:nvPr/>
        </p:nvSpPr>
        <p:spPr bwMode="auto">
          <a:xfrm>
            <a:off x="3886698" y="8686800"/>
            <a:ext cx="297130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77" tIns="44444" rIns="90477" bIns="44444" anchor="b"/>
          <a:lstStyle/>
          <a:p>
            <a:pPr algn="r" defTabSz="914334"/>
            <a:r>
              <a:rPr lang="en-US" sz="1200" dirty="0"/>
              <a:t>45</a:t>
            </a:r>
          </a:p>
        </p:txBody>
      </p:sp>
      <p:sp>
        <p:nvSpPr>
          <p:cNvPr id="925700" name="Rectangle 4"/>
          <p:cNvSpPr>
            <a:spLocks noChangeArrowheads="1"/>
          </p:cNvSpPr>
          <p:nvPr/>
        </p:nvSpPr>
        <p:spPr bwMode="auto">
          <a:xfrm>
            <a:off x="0" y="8686800"/>
            <a:ext cx="2971304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86621" tIns="43311" rIns="86621" bIns="43311" anchor="ctr"/>
          <a:lstStyle/>
          <a:p>
            <a:endParaRPr lang="en-US"/>
          </a:p>
        </p:txBody>
      </p:sp>
      <p:sp>
        <p:nvSpPr>
          <p:cNvPr id="925701" name="Rectangle 5"/>
          <p:cNvSpPr>
            <a:spLocks noChangeArrowheads="1"/>
          </p:cNvSpPr>
          <p:nvPr/>
        </p:nvSpPr>
        <p:spPr bwMode="auto">
          <a:xfrm>
            <a:off x="0" y="0"/>
            <a:ext cx="2971304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86621" tIns="43311" rIns="86621" bIns="43311" anchor="ctr"/>
          <a:lstStyle/>
          <a:p>
            <a:endParaRPr lang="en-US"/>
          </a:p>
        </p:txBody>
      </p:sp>
      <p:sp>
        <p:nvSpPr>
          <p:cNvPr id="9257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/>
        </p:spPr>
      </p:sp>
      <p:sp>
        <p:nvSpPr>
          <p:cNvPr id="925703" name="Rectangle 7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wrap="square" lIns="90477" tIns="44444" rIns="90477" bIns="44444" anchor="t"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3E96FD-EB0D-4748-975A-FD2C21F2AD30}" type="slidenum">
              <a:rPr lang="en-US"/>
              <a:pPr/>
              <a:t>19</a:t>
            </a:fld>
            <a:endParaRPr lang="en-US"/>
          </a:p>
        </p:txBody>
      </p:sp>
      <p:sp>
        <p:nvSpPr>
          <p:cNvPr id="935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B0D3CC-109A-4CCB-870D-FAF965D8602B}" type="slidenum">
              <a:rPr lang="en-US"/>
              <a:pPr/>
              <a:t>20</a:t>
            </a:fld>
            <a:endParaRPr lang="en-US"/>
          </a:p>
        </p:txBody>
      </p:sp>
      <p:sp>
        <p:nvSpPr>
          <p:cNvPr id="937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7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B2D371-09BF-4E76-8E7A-68B92DF9B23E}" type="slidenum">
              <a:rPr lang="en-US"/>
              <a:pPr/>
              <a:t>21</a:t>
            </a:fld>
            <a:endParaRPr lang="en-US"/>
          </a:p>
        </p:txBody>
      </p:sp>
      <p:sp>
        <p:nvSpPr>
          <p:cNvPr id="942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1"/>
            <a:ext cx="54864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fld id="{67F776DB-C4B4-46F1-926D-41EFCFC3A86A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</p:spTree>
    <p:extLst>
      <p:ext uri="{BB962C8B-B14F-4D97-AF65-F5344CB8AC3E}">
        <p14:creationId xmlns:p14="http://schemas.microsoft.com/office/powerpoint/2010/main" xmlns="" val="113624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858000" y="7620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6600" y="11708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4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48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8" name="Picture 7" descr="Picture 7.png"/>
          <p:cNvPicPr>
            <a:picLocks noChangeAspect="1"/>
          </p:cNvPicPr>
          <p:nvPr userDrawn="1"/>
        </p:nvPicPr>
        <p:blipFill>
          <a:blip r:embed="rId1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Computer Organization &amp; Architecture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267744" y="5410200"/>
            <a:ext cx="6266656" cy="533400"/>
          </a:xfrm>
        </p:spPr>
        <p:txBody>
          <a:bodyPr/>
          <a:lstStyle/>
          <a:p>
            <a:r>
              <a:rPr lang="en-US" dirty="0" err="1" smtClean="0"/>
              <a:t>Virendra</a:t>
            </a:r>
            <a:r>
              <a:rPr lang="en-US" dirty="0" smtClean="0"/>
              <a:t> Singh </a:t>
            </a:r>
            <a:r>
              <a:rPr lang="en-US" dirty="0" err="1" smtClean="0"/>
              <a:t>Shekhawat</a:t>
            </a:r>
            <a:endParaRPr lang="en-US" dirty="0" smtClean="0"/>
          </a:p>
          <a:p>
            <a:r>
              <a:rPr lang="en-US" dirty="0" smtClean="0"/>
              <a:t>Department of Computer Science and Information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4564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4800" y="4365104"/>
            <a:ext cx="8659688" cy="2088232"/>
          </a:xfrm>
        </p:spPr>
        <p:txBody>
          <a:bodyPr/>
          <a:lstStyle/>
          <a:p>
            <a:r>
              <a:rPr lang="en-US" sz="2800" dirty="0" smtClean="0">
                <a:latin typeface="+mj-lt"/>
              </a:rPr>
              <a:t>Module-7 (Lecture-2) </a:t>
            </a:r>
          </a:p>
          <a:p>
            <a:r>
              <a:rPr lang="en-US" sz="2400" b="0" dirty="0" smtClean="0">
                <a:latin typeface="+mj-lt"/>
              </a:rPr>
              <a:t>[Ref. Computer Organization and Architecture , 8</a:t>
            </a:r>
            <a:r>
              <a:rPr lang="en-US" sz="2400" b="0" baseline="30000" dirty="0" smtClean="0">
                <a:latin typeface="+mj-lt"/>
              </a:rPr>
              <a:t>th</a:t>
            </a:r>
            <a:r>
              <a:rPr lang="en-US" sz="2400" b="0" dirty="0" smtClean="0">
                <a:latin typeface="+mj-lt"/>
              </a:rPr>
              <a:t> Ed. by  William Stallings]</a:t>
            </a:r>
          </a:p>
          <a:p>
            <a:r>
              <a:rPr lang="en-US" sz="2400" b="0" dirty="0" smtClean="0">
                <a:latin typeface="+mj-lt"/>
              </a:rPr>
              <a:t>Topics</a:t>
            </a:r>
            <a:r>
              <a:rPr lang="en-US" sz="2400" b="0" dirty="0" smtClean="0">
                <a:latin typeface="+mj-lt"/>
              </a:rPr>
              <a:t>: Pipeline Hazards: Data Hazards, Resource Hazards, Control Hazards, RISC Pipeline</a:t>
            </a:r>
            <a:endParaRPr lang="en-US" sz="2400" b="0" dirty="0" smtClean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Four Stage Pipeline</a:t>
            </a:r>
          </a:p>
        </p:txBody>
      </p:sp>
      <p:sp>
        <p:nvSpPr>
          <p:cNvPr id="90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folHlink"/>
                </a:solidFill>
              </a:rPr>
              <a:t>Fetch:</a:t>
            </a:r>
            <a:r>
              <a:rPr lang="en-US" dirty="0"/>
              <a:t> Read the instruction from the memory</a:t>
            </a:r>
          </a:p>
          <a:p>
            <a:r>
              <a:rPr lang="en-US" dirty="0">
                <a:solidFill>
                  <a:schemeClr val="folHlink"/>
                </a:solidFill>
              </a:rPr>
              <a:t>Decode:</a:t>
            </a:r>
            <a:r>
              <a:rPr lang="en-US" dirty="0"/>
              <a:t> Decode the instruction and fetch the source operand(s)</a:t>
            </a:r>
          </a:p>
          <a:p>
            <a:r>
              <a:rPr lang="en-US" dirty="0">
                <a:solidFill>
                  <a:schemeClr val="folHlink"/>
                </a:solidFill>
              </a:rPr>
              <a:t>Execute:</a:t>
            </a:r>
            <a:r>
              <a:rPr lang="en-US" dirty="0"/>
              <a:t> Perform the ALU operation</a:t>
            </a:r>
          </a:p>
          <a:p>
            <a:r>
              <a:rPr lang="en-US" dirty="0">
                <a:solidFill>
                  <a:schemeClr val="folHlink"/>
                </a:solidFill>
              </a:rPr>
              <a:t>Write:</a:t>
            </a:r>
            <a:r>
              <a:rPr lang="en-US" dirty="0"/>
              <a:t> Store the result in the destination location</a:t>
            </a:r>
            <a:endParaRPr lang="en-US" sz="2400" dirty="0"/>
          </a:p>
          <a:p>
            <a:r>
              <a:rPr lang="en-US" dirty="0"/>
              <a:t>Note: </a:t>
            </a:r>
          </a:p>
          <a:p>
            <a:pPr lvl="1"/>
            <a:r>
              <a:rPr lang="en-US" i="1" dirty="0">
                <a:solidFill>
                  <a:schemeClr val="folHlink"/>
                </a:solidFill>
              </a:rPr>
              <a:t>Each stage in pipeline is expected to complete its operation in one clock cycle; hence the clock period should be sufficiently long to complete the task being performed in any stage.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03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03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Stalls/Hazards </a:t>
            </a:r>
            <a:r>
              <a:rPr lang="en-US" dirty="0"/>
              <a:t>in Pipeline</a:t>
            </a:r>
          </a:p>
        </p:txBody>
      </p:sp>
      <p:sp>
        <p:nvSpPr>
          <p:cNvPr id="904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340768"/>
            <a:ext cx="8713788" cy="511256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folHlink"/>
                </a:solidFill>
              </a:rPr>
              <a:t>Any condition that causes the pipeline to stall is called Hazard</a:t>
            </a:r>
          </a:p>
          <a:p>
            <a:endParaRPr lang="en-US" dirty="0" smtClean="0">
              <a:solidFill>
                <a:schemeClr val="folHlink"/>
              </a:solidFill>
            </a:endParaRPr>
          </a:p>
          <a:p>
            <a:r>
              <a:rPr lang="en-US" dirty="0" smtClean="0">
                <a:solidFill>
                  <a:schemeClr val="folHlink"/>
                </a:solidFill>
              </a:rPr>
              <a:t>Data </a:t>
            </a:r>
            <a:r>
              <a:rPr lang="en-US" dirty="0">
                <a:solidFill>
                  <a:schemeClr val="folHlink"/>
                </a:solidFill>
              </a:rPr>
              <a:t>Hazards</a:t>
            </a:r>
          </a:p>
          <a:p>
            <a:pPr lvl="1"/>
            <a:r>
              <a:rPr lang="en-US" dirty="0"/>
              <a:t>Any condition in which either the source or the destination operands of an instruction are not available at the expected time in the </a:t>
            </a:r>
            <a:r>
              <a:rPr lang="en-US" dirty="0" smtClean="0"/>
              <a:t>pipeline</a:t>
            </a:r>
            <a:endParaRPr lang="en-US" sz="4000" dirty="0">
              <a:solidFill>
                <a:srgbClr val="0033C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4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04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04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Hazards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568952" cy="5112568"/>
          </a:xfrm>
        </p:spPr>
        <p:txBody>
          <a:bodyPr/>
          <a:lstStyle/>
          <a:p>
            <a:r>
              <a:rPr lang="en-US" dirty="0" smtClean="0">
                <a:solidFill>
                  <a:schemeClr val="folHlink"/>
                </a:solidFill>
              </a:rPr>
              <a:t>Read After Write Hazard</a:t>
            </a:r>
          </a:p>
          <a:p>
            <a:pPr lvl="2">
              <a:buNone/>
            </a:pPr>
            <a:r>
              <a:rPr lang="en-US" sz="2800" dirty="0" smtClean="0"/>
              <a:t>I1: </a:t>
            </a:r>
            <a:r>
              <a:rPr lang="en-US" sz="2800" dirty="0" smtClean="0"/>
              <a:t>R1=R1+R2	</a:t>
            </a:r>
            <a:r>
              <a:rPr lang="en-US" sz="2800" dirty="0" smtClean="0"/>
              <a:t>	</a:t>
            </a:r>
            <a:endParaRPr lang="en-US" sz="2800" dirty="0" smtClean="0"/>
          </a:p>
          <a:p>
            <a:pPr lvl="2">
              <a:buNone/>
            </a:pPr>
            <a:r>
              <a:rPr lang="en-US" sz="2800" dirty="0" smtClean="0"/>
              <a:t>I2</a:t>
            </a:r>
            <a:r>
              <a:rPr lang="en-US" sz="2800" dirty="0" smtClean="0"/>
              <a:t>: </a:t>
            </a:r>
            <a:r>
              <a:rPr lang="en-US" sz="2800" dirty="0" smtClean="0"/>
              <a:t>R3=R1+3</a:t>
            </a:r>
            <a:endParaRPr lang="en-US" sz="28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5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for RAW Dependency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112568"/>
          </a:xfrm>
        </p:spPr>
        <p:txBody>
          <a:bodyPr>
            <a:normAutofit/>
          </a:bodyPr>
          <a:lstStyle/>
          <a:p>
            <a:r>
              <a:rPr lang="en-US" dirty="0" smtClean="0"/>
              <a:t>Hardware Solution</a:t>
            </a:r>
          </a:p>
          <a:p>
            <a:pPr lvl="1"/>
            <a:r>
              <a:rPr lang="en-US" dirty="0" smtClean="0">
                <a:solidFill>
                  <a:schemeClr val="folHlink"/>
                </a:solidFill>
              </a:rPr>
              <a:t>Operand Forwarding</a:t>
            </a:r>
          </a:p>
          <a:p>
            <a:endParaRPr lang="en-US" sz="3600" dirty="0" smtClean="0"/>
          </a:p>
          <a:p>
            <a:endParaRPr lang="en-US" sz="3600" dirty="0" smtClean="0"/>
          </a:p>
          <a:p>
            <a:r>
              <a:rPr lang="en-US" dirty="0" smtClean="0"/>
              <a:t>Software Solution</a:t>
            </a:r>
          </a:p>
          <a:p>
            <a:pPr lvl="1"/>
            <a:r>
              <a:rPr lang="en-US" dirty="0" smtClean="0"/>
              <a:t>Inserting NOP (No- Operation) instructions between I1 and I2</a:t>
            </a:r>
            <a:endParaRPr lang="en-US" sz="2400" dirty="0" smtClean="0"/>
          </a:p>
          <a:p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6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 Hazards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68760"/>
            <a:ext cx="8507288" cy="5112568"/>
          </a:xfrm>
        </p:spPr>
        <p:txBody>
          <a:bodyPr/>
          <a:lstStyle/>
          <a:p>
            <a:r>
              <a:rPr lang="en-US" dirty="0" smtClean="0"/>
              <a:t>One instruction may need to access memory as part of the </a:t>
            </a:r>
            <a:r>
              <a:rPr lang="en-US" dirty="0" smtClean="0">
                <a:solidFill>
                  <a:srgbClr val="8B3B7A"/>
                </a:solidFill>
              </a:rPr>
              <a:t>Write stage </a:t>
            </a:r>
            <a:r>
              <a:rPr lang="en-US" dirty="0" smtClean="0"/>
              <a:t>while another instruction is being </a:t>
            </a:r>
            <a:r>
              <a:rPr lang="en-US" dirty="0" smtClean="0">
                <a:solidFill>
                  <a:srgbClr val="8B3B7A"/>
                </a:solidFill>
              </a:rPr>
              <a:t>Fetched</a:t>
            </a:r>
          </a:p>
          <a:p>
            <a:pPr lvl="1"/>
            <a:r>
              <a:rPr lang="en-US" dirty="0" smtClean="0"/>
              <a:t>If instruction and </a:t>
            </a:r>
            <a:r>
              <a:rPr lang="en-US" dirty="0" smtClean="0"/>
              <a:t>data </a:t>
            </a:r>
            <a:r>
              <a:rPr lang="en-US" dirty="0" smtClean="0"/>
              <a:t>are in same cache unit there is a </a:t>
            </a:r>
            <a:r>
              <a:rPr lang="en-US" dirty="0" smtClean="0"/>
              <a:t>conflict</a:t>
            </a:r>
            <a:endParaRPr lang="en-US" dirty="0" smtClean="0"/>
          </a:p>
          <a:p>
            <a:pPr lvl="1"/>
            <a:r>
              <a:rPr lang="en-US" dirty="0" smtClean="0"/>
              <a:t>Called as Structural or Resource conflict or </a:t>
            </a:r>
            <a:r>
              <a:rPr lang="en-US" u="sng" dirty="0" smtClean="0">
                <a:solidFill>
                  <a:srgbClr val="CC0000"/>
                </a:solidFill>
              </a:rPr>
              <a:t>Resource Hazard</a:t>
            </a:r>
            <a:r>
              <a:rPr lang="en-US" dirty="0" smtClean="0">
                <a:solidFill>
                  <a:srgbClr val="CC0000"/>
                </a:solidFill>
              </a:rPr>
              <a:t> 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7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Instruction/Control </a:t>
            </a:r>
            <a:r>
              <a:rPr lang="en-US" dirty="0" smtClean="0"/>
              <a:t>Hazards</a:t>
            </a:r>
            <a:endParaRPr lang="en-US" dirty="0"/>
          </a:p>
        </p:txBody>
      </p:sp>
      <p:sp>
        <p:nvSpPr>
          <p:cNvPr id="90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40768"/>
            <a:ext cx="8735888" cy="5112568"/>
          </a:xfrm>
        </p:spPr>
        <p:txBody>
          <a:bodyPr>
            <a:normAutofit/>
          </a:bodyPr>
          <a:lstStyle/>
          <a:p>
            <a:r>
              <a:rPr lang="en-US" dirty="0"/>
              <a:t>If the required instruction is not </a:t>
            </a:r>
            <a:r>
              <a:rPr lang="en-US" dirty="0" smtClean="0"/>
              <a:t>available-</a:t>
            </a:r>
            <a:endParaRPr lang="en-US" dirty="0"/>
          </a:p>
          <a:p>
            <a:pPr lvl="1"/>
            <a:r>
              <a:rPr lang="en-US" dirty="0"/>
              <a:t>Example: Cache miss for instruction </a:t>
            </a:r>
            <a:r>
              <a:rPr lang="en-US" dirty="0" smtClean="0"/>
              <a:t>fetch, Branch instruction</a:t>
            </a:r>
            <a:endParaRPr lang="en-US" dirty="0"/>
          </a:p>
          <a:p>
            <a:pPr lvl="1"/>
            <a:r>
              <a:rPr lang="en-US" dirty="0"/>
              <a:t>Called as </a:t>
            </a:r>
            <a:r>
              <a:rPr lang="en-US" u="sng" dirty="0">
                <a:solidFill>
                  <a:srgbClr val="CC0000"/>
                </a:solidFill>
              </a:rPr>
              <a:t>control hazards</a:t>
            </a:r>
            <a:r>
              <a:rPr lang="en-US" dirty="0"/>
              <a:t> or Instruction </a:t>
            </a:r>
            <a:r>
              <a:rPr lang="en-US" dirty="0" smtClean="0"/>
              <a:t>hazards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8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Instruction </a:t>
            </a:r>
            <a:r>
              <a:rPr lang="en-US" dirty="0" smtClean="0"/>
              <a:t>Hazard</a:t>
            </a:r>
            <a:endParaRPr lang="en-US" dirty="0"/>
          </a:p>
        </p:txBody>
      </p:sp>
      <p:graphicFrame>
        <p:nvGraphicFramePr>
          <p:cNvPr id="907267" name="Group 3"/>
          <p:cNvGraphicFramePr>
            <a:graphicFrameLocks noGrp="1"/>
          </p:cNvGraphicFramePr>
          <p:nvPr/>
        </p:nvGraphicFramePr>
        <p:xfrm>
          <a:off x="1835150" y="1752600"/>
          <a:ext cx="5064125" cy="459360"/>
        </p:xfrm>
        <a:graphic>
          <a:graphicData uri="http://schemas.openxmlformats.org/drawingml/2006/table">
            <a:tbl>
              <a:tblPr/>
              <a:tblGrid>
                <a:gridCol w="633413"/>
                <a:gridCol w="633412"/>
                <a:gridCol w="631825"/>
                <a:gridCol w="633413"/>
                <a:gridCol w="633412"/>
                <a:gridCol w="633413"/>
                <a:gridCol w="631825"/>
                <a:gridCol w="633412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6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7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8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07359" name="Group 95"/>
          <p:cNvGraphicFramePr>
            <a:graphicFrameLocks noGrp="1"/>
          </p:cNvGraphicFramePr>
          <p:nvPr/>
        </p:nvGraphicFramePr>
        <p:xfrm>
          <a:off x="457200" y="2306638"/>
          <a:ext cx="1090613" cy="3560764"/>
        </p:xfrm>
        <a:graphic>
          <a:graphicData uri="http://schemas.openxmlformats.org/drawingml/2006/table">
            <a:tbl>
              <a:tblPr/>
              <a:tblGrid>
                <a:gridCol w="1090613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9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(Br)</a:t>
                      </a:r>
                      <a:endParaRPr kumimoji="0" lang="en-US" sz="2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9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</a:t>
                      </a:r>
                      <a:r>
                        <a:rPr kumimoji="0" lang="en-US" sz="2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9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07360" name="Group 96"/>
          <p:cNvGraphicFramePr>
            <a:graphicFrameLocks noGrp="1"/>
          </p:cNvGraphicFramePr>
          <p:nvPr/>
        </p:nvGraphicFramePr>
        <p:xfrm>
          <a:off x="1835150" y="2317750"/>
          <a:ext cx="2520950" cy="459360"/>
        </p:xfrm>
        <a:graphic>
          <a:graphicData uri="http://schemas.openxmlformats.org/drawingml/2006/table">
            <a:tbl>
              <a:tblPr/>
              <a:tblGrid>
                <a:gridCol w="630238"/>
                <a:gridCol w="630237"/>
                <a:gridCol w="630238"/>
                <a:gridCol w="630237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F1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07317" name="Group 53"/>
          <p:cNvGraphicFramePr>
            <a:graphicFrameLocks noGrp="1"/>
          </p:cNvGraphicFramePr>
          <p:nvPr/>
        </p:nvGraphicFramePr>
        <p:xfrm>
          <a:off x="2484438" y="2854325"/>
          <a:ext cx="1871662" cy="459360"/>
        </p:xfrm>
        <a:graphic>
          <a:graphicData uri="http://schemas.openxmlformats.org/drawingml/2006/table">
            <a:tbl>
              <a:tblPr/>
              <a:tblGrid>
                <a:gridCol w="623887"/>
                <a:gridCol w="623888"/>
                <a:gridCol w="623887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F2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D2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E2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07327" name="Group 63"/>
          <p:cNvGraphicFramePr>
            <a:graphicFrameLocks noGrp="1"/>
          </p:cNvGraphicFramePr>
          <p:nvPr/>
        </p:nvGraphicFramePr>
        <p:xfrm>
          <a:off x="3132138" y="3403600"/>
          <a:ext cx="1800225" cy="459360"/>
        </p:xfrm>
        <a:graphic>
          <a:graphicData uri="http://schemas.openxmlformats.org/drawingml/2006/table">
            <a:tbl>
              <a:tblPr/>
              <a:tblGrid>
                <a:gridCol w="600075"/>
                <a:gridCol w="600075"/>
                <a:gridCol w="600075"/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F3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D3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X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07337" name="Group 73"/>
          <p:cNvGraphicFramePr>
            <a:graphicFrameLocks noGrp="1"/>
          </p:cNvGraphicFramePr>
          <p:nvPr/>
        </p:nvGraphicFramePr>
        <p:xfrm>
          <a:off x="3708400" y="3884613"/>
          <a:ext cx="1223963" cy="459360"/>
        </p:xfrm>
        <a:graphic>
          <a:graphicData uri="http://schemas.openxmlformats.org/drawingml/2006/table">
            <a:tbl>
              <a:tblPr/>
              <a:tblGrid>
                <a:gridCol w="612775"/>
                <a:gridCol w="611188"/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F4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X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07345" name="Group 81"/>
          <p:cNvGraphicFramePr>
            <a:graphicFrameLocks noGrp="1"/>
          </p:cNvGraphicFramePr>
          <p:nvPr>
            <p:ph type="body" idx="1"/>
          </p:nvPr>
        </p:nvGraphicFramePr>
        <p:xfrm>
          <a:off x="4316413" y="4429125"/>
          <a:ext cx="2632075" cy="459360"/>
        </p:xfrm>
        <a:graphic>
          <a:graphicData uri="http://schemas.openxmlformats.org/drawingml/2006/table">
            <a:tbl>
              <a:tblPr/>
              <a:tblGrid>
                <a:gridCol w="658812"/>
                <a:gridCol w="657225"/>
                <a:gridCol w="658813"/>
                <a:gridCol w="657225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Fk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Dk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Ek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itchFamily="34" charset="0"/>
                        </a:rPr>
                        <a:t>Wk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07357" name="Text Box 93"/>
          <p:cNvSpPr txBox="1">
            <a:spLocks noChangeArrowheads="1"/>
          </p:cNvSpPr>
          <p:nvPr/>
        </p:nvSpPr>
        <p:spPr bwMode="auto">
          <a:xfrm>
            <a:off x="468313" y="1773238"/>
            <a:ext cx="12842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>
                <a:latin typeface="Cambria" pitchFamily="18" charset="0"/>
              </a:rPr>
              <a:t>Cycle/Instr</a:t>
            </a:r>
          </a:p>
        </p:txBody>
      </p:sp>
      <p:sp>
        <p:nvSpPr>
          <p:cNvPr id="907361" name="Text Box 97"/>
          <p:cNvSpPr txBox="1">
            <a:spLocks noChangeArrowheads="1"/>
          </p:cNvSpPr>
          <p:nvPr/>
        </p:nvSpPr>
        <p:spPr bwMode="auto">
          <a:xfrm>
            <a:off x="2627784" y="5229200"/>
            <a:ext cx="3456384" cy="8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2400" dirty="0" smtClean="0">
                <a:solidFill>
                  <a:schemeClr val="folHlink"/>
                </a:solidFill>
                <a:latin typeface="Gill Sans MT" pitchFamily="34" charset="0"/>
              </a:rPr>
              <a:t>Conditional branch?</a:t>
            </a:r>
          </a:p>
          <a:p>
            <a:r>
              <a:rPr lang="en-US" sz="2400" dirty="0" smtClean="0">
                <a:solidFill>
                  <a:schemeClr val="folHlink"/>
                </a:solidFill>
                <a:latin typeface="Gill Sans MT" pitchFamily="34" charset="0"/>
              </a:rPr>
              <a:t>Unconditional branch?</a:t>
            </a:r>
            <a:endParaRPr lang="en-US" sz="2400" dirty="0" smtClean="0">
              <a:solidFill>
                <a:schemeClr val="folHlink"/>
              </a:solidFill>
              <a:latin typeface="Gill Sans MT" pitchFamily="34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9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0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736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Handling Unconditional Branch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0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340768"/>
            <a:ext cx="8712968" cy="5184576"/>
          </a:xfrm>
        </p:spPr>
        <p:txBody>
          <a:bodyPr>
            <a:normAutofit/>
          </a:bodyPr>
          <a:lstStyle/>
          <a:p>
            <a:r>
              <a:rPr lang="en-US" sz="3200" dirty="0" smtClean="0"/>
              <a:t>Branc</a:t>
            </a:r>
            <a:r>
              <a:rPr lang="en-US" dirty="0" smtClean="0"/>
              <a:t>h will always be taken</a:t>
            </a:r>
            <a:endParaRPr lang="en-US" sz="3200" dirty="0" smtClean="0"/>
          </a:p>
          <a:p>
            <a:r>
              <a:rPr lang="en-US" dirty="0" smtClean="0"/>
              <a:t>C</a:t>
            </a:r>
            <a:r>
              <a:rPr lang="en-US" sz="3200" dirty="0" smtClean="0"/>
              <a:t>ompute </a:t>
            </a:r>
            <a:r>
              <a:rPr lang="en-US" sz="3200" dirty="0"/>
              <a:t>branch target address as soon as </a:t>
            </a:r>
            <a:r>
              <a:rPr lang="en-US" sz="3200" dirty="0" smtClean="0"/>
              <a:t>possible</a:t>
            </a:r>
            <a:endParaRPr lang="en-US" sz="3200" dirty="0"/>
          </a:p>
          <a:p>
            <a:pPr lvl="1"/>
            <a:r>
              <a:rPr lang="en-US" sz="2800" dirty="0"/>
              <a:t>Needs extra hardware to do it at </a:t>
            </a:r>
            <a:r>
              <a:rPr lang="en-US" sz="2800" dirty="0" smtClean="0"/>
              <a:t>Decode </a:t>
            </a:r>
            <a:r>
              <a:rPr lang="en-US" sz="2800" dirty="0" smtClean="0"/>
              <a:t>stage (e.g. Four stage pipeline)</a:t>
            </a:r>
            <a:endParaRPr lang="en-US" sz="2800" dirty="0"/>
          </a:p>
          <a:p>
            <a:r>
              <a:rPr lang="en-US" sz="3200" dirty="0"/>
              <a:t>Many processors employ fetch unit that can fetch instructions before they are </a:t>
            </a:r>
            <a:r>
              <a:rPr lang="en-US" sz="3200" dirty="0" smtClean="0"/>
              <a:t>needed</a:t>
            </a:r>
          </a:p>
          <a:p>
            <a:endParaRPr lang="en-US" sz="3200" dirty="0"/>
          </a:p>
          <a:p>
            <a:endParaRPr lang="en-US" sz="3200" dirty="0">
              <a:solidFill>
                <a:srgbClr val="0033CC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10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38" name="Rectangle 2"/>
          <p:cNvSpPr>
            <a:spLocks noChangeArrowheads="1"/>
          </p:cNvSpPr>
          <p:nvPr/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0339" name="Rectangle 3"/>
          <p:cNvSpPr>
            <a:spLocks noChangeArrowheads="1"/>
          </p:cNvSpPr>
          <p:nvPr/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0340" name="Rectangle 4"/>
          <p:cNvSpPr>
            <a:spLocks noGrp="1" noChangeArrowheads="1"/>
          </p:cNvSpPr>
          <p:nvPr>
            <p:ph type="title"/>
          </p:nvPr>
        </p:nvSpPr>
        <p:spPr>
          <a:xfrm>
            <a:off x="251520" y="274638"/>
            <a:ext cx="6264696" cy="850106"/>
          </a:xfrm>
          <a:noFill/>
          <a:ln/>
        </p:spPr>
        <p:txBody>
          <a:bodyPr lIns="90488" tIns="44450" rIns="90488" bIns="44450"/>
          <a:lstStyle/>
          <a:p>
            <a:r>
              <a:rPr lang="en-US" dirty="0" smtClean="0"/>
              <a:t>Handling Conditional Branches-1</a:t>
            </a:r>
            <a:endParaRPr lang="en-US" dirty="0"/>
          </a:p>
        </p:txBody>
      </p:sp>
      <p:sp>
        <p:nvSpPr>
          <p:cNvPr id="9103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712968" cy="4968552"/>
          </a:xfrm>
          <a:noFill/>
          <a:ln/>
        </p:spPr>
        <p:txBody>
          <a:bodyPr lIns="90488" tIns="44450" rIns="90488" bIns="44450">
            <a:normAutofit fontScale="92500"/>
          </a:bodyPr>
          <a:lstStyle/>
          <a:p>
            <a:pPr marL="342900" lvl="2" indent="-342900"/>
            <a:r>
              <a:rPr lang="en-US" sz="3000" dirty="0" smtClean="0"/>
              <a:t>The decision to the branch can’t be made until the execution of that </a:t>
            </a:r>
            <a:r>
              <a:rPr lang="en-US" sz="3000" dirty="0" smtClean="0"/>
              <a:t>instruction</a:t>
            </a:r>
            <a:endParaRPr lang="en-US" sz="3500" dirty="0" smtClean="0">
              <a:solidFill>
                <a:srgbClr val="8B3B7A"/>
              </a:solidFill>
            </a:endParaRPr>
          </a:p>
          <a:p>
            <a:r>
              <a:rPr lang="en-US" sz="3200" dirty="0" smtClean="0">
                <a:solidFill>
                  <a:srgbClr val="8B3B7A"/>
                </a:solidFill>
              </a:rPr>
              <a:t>Multiple </a:t>
            </a:r>
            <a:r>
              <a:rPr lang="en-US" sz="3200" dirty="0">
                <a:solidFill>
                  <a:srgbClr val="8B3B7A"/>
                </a:solidFill>
              </a:rPr>
              <a:t>Streams</a:t>
            </a:r>
          </a:p>
          <a:p>
            <a:pPr lvl="1"/>
            <a:r>
              <a:rPr lang="en-US" sz="2800" dirty="0"/>
              <a:t>Have two pipelines</a:t>
            </a:r>
          </a:p>
          <a:p>
            <a:pPr lvl="1"/>
            <a:r>
              <a:rPr lang="en-US" sz="2800" dirty="0" err="1"/>
              <a:t>Prefetch</a:t>
            </a:r>
            <a:r>
              <a:rPr lang="en-US" sz="2800" dirty="0"/>
              <a:t> each branch into a separate pipeline</a:t>
            </a:r>
          </a:p>
          <a:p>
            <a:pPr lvl="1"/>
            <a:r>
              <a:rPr lang="en-US" sz="2800" dirty="0"/>
              <a:t>Use appropriate </a:t>
            </a:r>
            <a:r>
              <a:rPr lang="en-US" sz="2800" dirty="0" smtClean="0"/>
              <a:t>pipeline</a:t>
            </a:r>
            <a:endParaRPr lang="en-US" sz="3200" dirty="0" smtClean="0">
              <a:solidFill>
                <a:srgbClr val="000099"/>
              </a:solidFill>
            </a:endParaRPr>
          </a:p>
          <a:p>
            <a:r>
              <a:rPr lang="en-US" sz="3200" dirty="0" smtClean="0">
                <a:solidFill>
                  <a:srgbClr val="8B3B7A"/>
                </a:solidFill>
              </a:rPr>
              <a:t>Drawbacks</a:t>
            </a:r>
            <a:endParaRPr lang="en-US" sz="3200" dirty="0">
              <a:solidFill>
                <a:srgbClr val="8B3B7A"/>
              </a:solidFill>
            </a:endParaRPr>
          </a:p>
          <a:p>
            <a:pPr lvl="1"/>
            <a:r>
              <a:rPr lang="en-US" sz="2800" dirty="0"/>
              <a:t>Leads to bus &amp; register contention</a:t>
            </a:r>
          </a:p>
          <a:p>
            <a:pPr lvl="1"/>
            <a:r>
              <a:rPr lang="en-US" sz="2800" dirty="0"/>
              <a:t>Multiple branches lead to further pipelines being needed</a:t>
            </a:r>
          </a:p>
          <a:p>
            <a:pPr lvl="1"/>
            <a:r>
              <a:rPr lang="en-US" sz="2800" dirty="0"/>
              <a:t>Used in IBM 370/168</a:t>
            </a:r>
            <a:endParaRPr lang="en-US" sz="2800" dirty="0">
              <a:solidFill>
                <a:srgbClr val="0033CC"/>
              </a:solidFill>
            </a:endParaRPr>
          </a:p>
          <a:p>
            <a:pPr>
              <a:buFont typeface="Wingdings" pitchFamily="2" charset="2"/>
              <a:buNone/>
            </a:pPr>
            <a:endParaRPr lang="en-US" sz="3200" dirty="0">
              <a:solidFill>
                <a:srgbClr val="0033CC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11</a:t>
            </a:fld>
            <a:endParaRPr lang="en-IN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10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10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10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10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910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910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10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910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74638"/>
            <a:ext cx="6264696" cy="850106"/>
          </a:xfrm>
        </p:spPr>
        <p:txBody>
          <a:bodyPr/>
          <a:lstStyle/>
          <a:p>
            <a:r>
              <a:rPr lang="en-US" dirty="0"/>
              <a:t>Handling Conditional </a:t>
            </a:r>
            <a:r>
              <a:rPr lang="en-US" dirty="0" smtClean="0"/>
              <a:t>Branches-2</a:t>
            </a:r>
            <a:endParaRPr lang="en-US" dirty="0"/>
          </a:p>
        </p:txBody>
      </p:sp>
      <p:sp>
        <p:nvSpPr>
          <p:cNvPr id="91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340768"/>
            <a:ext cx="8640960" cy="5040560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>
                <a:solidFill>
                  <a:srgbClr val="8B3B7A"/>
                </a:solidFill>
              </a:rPr>
              <a:t>Pre-fetch Branch Target</a:t>
            </a:r>
          </a:p>
          <a:p>
            <a:pPr lvl="1"/>
            <a:r>
              <a:rPr lang="en-US" dirty="0" smtClean="0"/>
              <a:t>Studies suggest that conditional branches are taken more than 50% of time</a:t>
            </a:r>
            <a:endParaRPr lang="en-US" sz="2800" dirty="0" smtClean="0"/>
          </a:p>
          <a:p>
            <a:pPr lvl="1"/>
            <a:r>
              <a:rPr lang="en-US" sz="2800" dirty="0" smtClean="0"/>
              <a:t>Branch target </a:t>
            </a:r>
            <a:r>
              <a:rPr lang="en-US" sz="2800" dirty="0" err="1" smtClean="0"/>
              <a:t>prefetching</a:t>
            </a:r>
            <a:r>
              <a:rPr lang="en-US" sz="2800" dirty="0" smtClean="0"/>
              <a:t> gives better result</a:t>
            </a:r>
            <a:endParaRPr lang="en-US" sz="2800" dirty="0"/>
          </a:p>
          <a:p>
            <a:pPr lvl="1"/>
            <a:r>
              <a:rPr lang="en-US" sz="2800" dirty="0" smtClean="0"/>
              <a:t>Used </a:t>
            </a:r>
            <a:r>
              <a:rPr lang="en-US" sz="2800" dirty="0"/>
              <a:t>by IBM </a:t>
            </a:r>
            <a:r>
              <a:rPr lang="en-US" sz="2800" dirty="0" smtClean="0"/>
              <a:t>360/91</a:t>
            </a:r>
          </a:p>
          <a:p>
            <a:r>
              <a:rPr lang="en-US" dirty="0" smtClean="0">
                <a:solidFill>
                  <a:srgbClr val="8B3B7A"/>
                </a:solidFill>
              </a:rPr>
              <a:t>Loop Buffer</a:t>
            </a:r>
          </a:p>
          <a:p>
            <a:pPr lvl="1"/>
            <a:r>
              <a:rPr lang="en-US" dirty="0" smtClean="0"/>
              <a:t>Very fast memory maintained by fetch stage of </a:t>
            </a:r>
            <a:r>
              <a:rPr lang="en-US" dirty="0" smtClean="0"/>
              <a:t>pipeline keeps n most recently fetched instructions, sequentially</a:t>
            </a:r>
            <a:endParaRPr lang="en-US" dirty="0" smtClean="0"/>
          </a:p>
          <a:p>
            <a:pPr lvl="1"/>
            <a:r>
              <a:rPr lang="en-US" dirty="0" smtClean="0"/>
              <a:t>Check buffer before fetching from memory</a:t>
            </a:r>
          </a:p>
          <a:p>
            <a:pPr lvl="1"/>
            <a:r>
              <a:rPr lang="en-US" dirty="0" smtClean="0"/>
              <a:t>Very good for small loops or jumps</a:t>
            </a:r>
          </a:p>
          <a:p>
            <a:pPr lvl="1"/>
            <a:r>
              <a:rPr lang="en-US" dirty="0" smtClean="0"/>
              <a:t>Used in CRAY-1</a:t>
            </a:r>
          </a:p>
          <a:p>
            <a:pPr lvl="1"/>
            <a:endParaRPr lang="en-US" sz="2800" dirty="0"/>
          </a:p>
          <a:p>
            <a:endParaRPr lang="en-US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1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1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91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91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91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91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91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12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912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5987008" cy="685800"/>
          </a:xfrm>
        </p:spPr>
        <p:txBody>
          <a:bodyPr/>
          <a:lstStyle/>
          <a:p>
            <a:r>
              <a:rPr lang="en-US" dirty="0" smtClean="0"/>
              <a:t>Review Questions</a:t>
            </a:r>
            <a:endParaRPr lang="en-US" dirty="0"/>
          </a:p>
        </p:txBody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640960" cy="504056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Consider the following sequence of instructions:		</a:t>
            </a:r>
            <a:endParaRPr lang="en-US" sz="2400" dirty="0" smtClean="0"/>
          </a:p>
          <a:p>
            <a:pPr>
              <a:lnSpc>
                <a:spcPct val="80000"/>
              </a:lnSpc>
              <a:buNone/>
            </a:pPr>
            <a:r>
              <a:rPr lang="en-US" sz="2400" dirty="0" smtClean="0">
                <a:solidFill>
                  <a:schemeClr val="folHlink"/>
                </a:solidFill>
              </a:rPr>
              <a:t>		</a:t>
            </a:r>
            <a:r>
              <a:rPr lang="pt-BR" sz="2400" dirty="0" smtClean="0">
                <a:solidFill>
                  <a:schemeClr val="folHlink"/>
                </a:solidFill>
              </a:rPr>
              <a:t>I1</a:t>
            </a:r>
            <a:r>
              <a:rPr lang="pt-BR" sz="2400" dirty="0">
                <a:solidFill>
                  <a:schemeClr val="folHlink"/>
                </a:solidFill>
              </a:rPr>
              <a:t>: add R1, R0, #20 (R1</a:t>
            </a:r>
            <a:r>
              <a:rPr lang="en-US" sz="2400" dirty="0">
                <a:solidFill>
                  <a:schemeClr val="folHlink"/>
                </a:solidFill>
                <a:sym typeface="Wingdings" pitchFamily="2" charset="2"/>
              </a:rPr>
              <a:t></a:t>
            </a:r>
            <a:r>
              <a:rPr lang="pt-BR" sz="2400" dirty="0">
                <a:solidFill>
                  <a:schemeClr val="folHlink"/>
                </a:solidFill>
              </a:rPr>
              <a:t> R0 + 20)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pt-BR" sz="2400" dirty="0">
                <a:solidFill>
                  <a:schemeClr val="folHlink"/>
                </a:solidFill>
              </a:rPr>
              <a:t>		I2: mul R2, R3, #2   (R2</a:t>
            </a:r>
            <a:r>
              <a:rPr lang="pt-BR" sz="2400" dirty="0">
                <a:solidFill>
                  <a:schemeClr val="folHlink"/>
                </a:solidFill>
                <a:sym typeface="Wingdings" pitchFamily="2" charset="2"/>
              </a:rPr>
              <a:t></a:t>
            </a:r>
            <a:r>
              <a:rPr lang="pt-BR" sz="2400" dirty="0">
                <a:solidFill>
                  <a:schemeClr val="folHlink"/>
                </a:solidFill>
              </a:rPr>
              <a:t> R3*2)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pt-BR" sz="2400" dirty="0">
                <a:solidFill>
                  <a:schemeClr val="folHlink"/>
                </a:solidFill>
              </a:rPr>
              <a:t>		I3: and R4, R1, R2   (R4</a:t>
            </a:r>
            <a:r>
              <a:rPr lang="pt-BR" sz="2400" dirty="0">
                <a:solidFill>
                  <a:schemeClr val="folHlink"/>
                </a:solidFill>
                <a:sym typeface="Wingdings" pitchFamily="2" charset="2"/>
              </a:rPr>
              <a:t></a:t>
            </a:r>
            <a:r>
              <a:rPr lang="pt-BR" sz="2400" dirty="0">
                <a:solidFill>
                  <a:schemeClr val="folHlink"/>
                </a:solidFill>
              </a:rPr>
              <a:t> R1 and R2)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pt-BR" sz="2400" dirty="0">
                <a:solidFill>
                  <a:schemeClr val="folHlink"/>
                </a:solidFill>
              </a:rPr>
              <a:t>		I4: add R5, R4, R2   (R5</a:t>
            </a:r>
            <a:r>
              <a:rPr lang="pt-BR" sz="2400" dirty="0">
                <a:solidFill>
                  <a:schemeClr val="folHlink"/>
                </a:solidFill>
                <a:sym typeface="Wingdings" pitchFamily="2" charset="2"/>
              </a:rPr>
              <a:t></a:t>
            </a:r>
            <a:r>
              <a:rPr lang="pt-BR" sz="2400" dirty="0">
                <a:solidFill>
                  <a:schemeClr val="folHlink"/>
                </a:solidFill>
              </a:rPr>
              <a:t> R4 + R2) </a:t>
            </a:r>
            <a:endParaRPr lang="en-US" sz="2400" dirty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2400" dirty="0"/>
              <a:t>These instructions are executed in a computer that has a four stage pipeline (</a:t>
            </a:r>
            <a:r>
              <a:rPr lang="en-US" sz="2400" b="1" dirty="0"/>
              <a:t>F</a:t>
            </a:r>
            <a:r>
              <a:rPr lang="en-US" sz="2400" dirty="0"/>
              <a:t>etch, </a:t>
            </a:r>
            <a:r>
              <a:rPr lang="en-US" sz="2400" b="1" dirty="0"/>
              <a:t>D</a:t>
            </a:r>
            <a:r>
              <a:rPr lang="en-US" sz="2400" dirty="0"/>
              <a:t>ecode, </a:t>
            </a:r>
            <a:r>
              <a:rPr lang="en-US" sz="2400" b="1" dirty="0"/>
              <a:t>E</a:t>
            </a:r>
            <a:r>
              <a:rPr lang="en-US" sz="2400" dirty="0"/>
              <a:t>xecute, </a:t>
            </a:r>
            <a:r>
              <a:rPr lang="en-US" sz="2400" b="1" dirty="0"/>
              <a:t>W</a:t>
            </a:r>
            <a:r>
              <a:rPr lang="en-US" sz="2400" dirty="0"/>
              <a:t>rite) discussed in </a:t>
            </a:r>
            <a:r>
              <a:rPr lang="en-US" sz="2400" dirty="0" smtClean="0"/>
              <a:t>this </a:t>
            </a:r>
            <a:r>
              <a:rPr lang="en-US" sz="2400" dirty="0"/>
              <a:t>class. Assume that all stages for all instructions requires one cycle each, except the </a:t>
            </a:r>
            <a:r>
              <a:rPr lang="en-US" sz="2400" b="1" dirty="0"/>
              <a:t>E</a:t>
            </a:r>
            <a:r>
              <a:rPr lang="en-US" sz="2400" dirty="0"/>
              <a:t>xecution stage of multiply instruction which requires two cycles.  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Draw a diagram to describe the operation being performed by each pipeline stage during each clock cycle. Show the stalls in pipeline, if any.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13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04664"/>
            <a:ext cx="6059016" cy="685800"/>
          </a:xfrm>
        </p:spPr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92365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23528" y="1447800"/>
            <a:ext cx="8458200" cy="2917304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267744" y="4581128"/>
            <a:ext cx="4392488" cy="18158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None/>
            </a:pPr>
            <a:r>
              <a:rPr lang="pt-BR" sz="2000" dirty="0" smtClean="0">
                <a:solidFill>
                  <a:schemeClr val="folHlink"/>
                </a:solidFill>
              </a:rPr>
              <a:t>I1: add R1, R0, #20 (R1</a:t>
            </a:r>
            <a:r>
              <a:rPr lang="en-US" sz="2000" dirty="0" smtClean="0">
                <a:solidFill>
                  <a:schemeClr val="folHlink"/>
                </a:solidFill>
                <a:sym typeface="Wingdings" pitchFamily="2" charset="2"/>
              </a:rPr>
              <a:t></a:t>
            </a:r>
            <a:r>
              <a:rPr lang="pt-BR" sz="2000" dirty="0" smtClean="0">
                <a:solidFill>
                  <a:schemeClr val="folHlink"/>
                </a:solidFill>
              </a:rPr>
              <a:t> R0 + 20</a:t>
            </a:r>
            <a:r>
              <a:rPr lang="pt-BR" sz="2000" dirty="0" smtClean="0">
                <a:solidFill>
                  <a:schemeClr val="folHlink"/>
                </a:solidFill>
              </a:rPr>
              <a:t>)</a:t>
            </a:r>
          </a:p>
          <a:p>
            <a:pPr>
              <a:lnSpc>
                <a:spcPct val="80000"/>
              </a:lnSpc>
              <a:buNone/>
            </a:pPr>
            <a:endParaRPr lang="pt-BR" sz="2000" dirty="0" smtClean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pt-BR" sz="2000" dirty="0" smtClean="0">
                <a:solidFill>
                  <a:schemeClr val="folHlink"/>
                </a:solidFill>
              </a:rPr>
              <a:t>I2</a:t>
            </a:r>
            <a:r>
              <a:rPr lang="pt-BR" sz="2000" dirty="0" smtClean="0">
                <a:solidFill>
                  <a:schemeClr val="folHlink"/>
                </a:solidFill>
              </a:rPr>
              <a:t>: mul R2, R3, #2   (R2</a:t>
            </a:r>
            <a:r>
              <a:rPr lang="pt-BR" sz="2000" dirty="0" smtClean="0">
                <a:solidFill>
                  <a:schemeClr val="folHlink"/>
                </a:solidFill>
                <a:sym typeface="Wingdings" pitchFamily="2" charset="2"/>
              </a:rPr>
              <a:t></a:t>
            </a:r>
            <a:r>
              <a:rPr lang="pt-BR" sz="2000" dirty="0" smtClean="0">
                <a:solidFill>
                  <a:schemeClr val="folHlink"/>
                </a:solidFill>
              </a:rPr>
              <a:t> R3*2)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pt-BR" sz="2000" dirty="0" smtClean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pt-BR" sz="2000" dirty="0" smtClean="0">
                <a:solidFill>
                  <a:schemeClr val="folHlink"/>
                </a:solidFill>
              </a:rPr>
              <a:t>I3</a:t>
            </a:r>
            <a:r>
              <a:rPr lang="pt-BR" sz="2000" dirty="0" smtClean="0">
                <a:solidFill>
                  <a:schemeClr val="folHlink"/>
                </a:solidFill>
              </a:rPr>
              <a:t>: and R4, R1, R2   (R4</a:t>
            </a:r>
            <a:r>
              <a:rPr lang="pt-BR" sz="2000" dirty="0" smtClean="0">
                <a:solidFill>
                  <a:schemeClr val="folHlink"/>
                </a:solidFill>
                <a:sym typeface="Wingdings" pitchFamily="2" charset="2"/>
              </a:rPr>
              <a:t></a:t>
            </a:r>
            <a:r>
              <a:rPr lang="pt-BR" sz="2000" dirty="0" smtClean="0">
                <a:solidFill>
                  <a:schemeClr val="folHlink"/>
                </a:solidFill>
              </a:rPr>
              <a:t> R1 and R2)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pt-BR" sz="2000" dirty="0" smtClean="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pt-BR" sz="2000" dirty="0" smtClean="0">
                <a:solidFill>
                  <a:schemeClr val="folHlink"/>
                </a:solidFill>
              </a:rPr>
              <a:t>I4</a:t>
            </a:r>
            <a:r>
              <a:rPr lang="pt-BR" sz="2000" dirty="0" smtClean="0">
                <a:solidFill>
                  <a:schemeClr val="folHlink"/>
                </a:solidFill>
              </a:rPr>
              <a:t>: add R5, R4, R2   (R5</a:t>
            </a:r>
            <a:r>
              <a:rPr lang="pt-BR" sz="2000" dirty="0" smtClean="0">
                <a:solidFill>
                  <a:schemeClr val="folHlink"/>
                </a:solidFill>
                <a:sym typeface="Wingdings" pitchFamily="2" charset="2"/>
              </a:rPr>
              <a:t></a:t>
            </a:r>
            <a:r>
              <a:rPr lang="pt-BR" sz="2000" dirty="0" smtClean="0">
                <a:solidFill>
                  <a:schemeClr val="folHlink"/>
                </a:solidFill>
              </a:rPr>
              <a:t> R4 + R2) </a:t>
            </a:r>
            <a:endParaRPr lang="en-US" sz="200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674" name="Rectangle 2"/>
          <p:cNvSpPr>
            <a:spLocks noChangeArrowheads="1"/>
          </p:cNvSpPr>
          <p:nvPr/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675" name="Rectangle 3"/>
          <p:cNvSpPr>
            <a:spLocks noChangeArrowheads="1"/>
          </p:cNvSpPr>
          <p:nvPr/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676" name="Rectangle 4"/>
          <p:cNvSpPr>
            <a:spLocks noGrp="1" noChangeArrowheads="1"/>
          </p:cNvSpPr>
          <p:nvPr>
            <p:ph type="title"/>
          </p:nvPr>
        </p:nvSpPr>
        <p:spPr>
          <a:xfrm>
            <a:off x="395536" y="188640"/>
            <a:ext cx="6120680" cy="850106"/>
          </a:xfrm>
          <a:noFill/>
          <a:ln/>
        </p:spPr>
        <p:txBody>
          <a:bodyPr lIns="90488" tIns="44450" rIns="90488" bIns="44450"/>
          <a:lstStyle/>
          <a:p>
            <a:r>
              <a:rPr lang="en-US" dirty="0" smtClean="0"/>
              <a:t>Prediction Based Algorithms for  </a:t>
            </a:r>
            <a:r>
              <a:rPr lang="en-US" dirty="0" smtClean="0"/>
              <a:t>Handling Conditional </a:t>
            </a:r>
            <a:r>
              <a:rPr lang="en-US" dirty="0" smtClean="0"/>
              <a:t>Branches</a:t>
            </a:r>
            <a:endParaRPr lang="en-US" dirty="0"/>
          </a:p>
        </p:txBody>
      </p:sp>
      <p:sp>
        <p:nvSpPr>
          <p:cNvPr id="92467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51520" y="1268760"/>
            <a:ext cx="8640960" cy="5400600"/>
          </a:xfrm>
          <a:noFill/>
          <a:ln/>
        </p:spPr>
        <p:txBody>
          <a:bodyPr lIns="90488" tIns="44450" rIns="90488" bIns="44450">
            <a:normAutofit lnSpcReduction="10000"/>
          </a:bodyPr>
          <a:lstStyle/>
          <a:p>
            <a:r>
              <a:rPr lang="en-US" sz="3200" dirty="0" smtClean="0">
                <a:solidFill>
                  <a:schemeClr val="folHlink"/>
                </a:solidFill>
              </a:rPr>
              <a:t>Predict </a:t>
            </a:r>
            <a:r>
              <a:rPr lang="en-US" sz="3200" dirty="0">
                <a:solidFill>
                  <a:schemeClr val="folHlink"/>
                </a:solidFill>
              </a:rPr>
              <a:t>never taken</a:t>
            </a:r>
          </a:p>
          <a:p>
            <a:pPr lvl="1"/>
            <a:r>
              <a:rPr lang="en-US" sz="2600" dirty="0"/>
              <a:t>Assume that jump will not </a:t>
            </a:r>
            <a:r>
              <a:rPr lang="en-US" sz="2600" dirty="0" smtClean="0"/>
              <a:t>happen. Always </a:t>
            </a:r>
            <a:r>
              <a:rPr lang="en-US" sz="2600" dirty="0"/>
              <a:t>fetch next instruction </a:t>
            </a:r>
            <a:endParaRPr lang="en-US" sz="2600" dirty="0" smtClean="0"/>
          </a:p>
          <a:p>
            <a:r>
              <a:rPr lang="en-US" dirty="0" smtClean="0">
                <a:solidFill>
                  <a:schemeClr val="folHlink"/>
                </a:solidFill>
              </a:rPr>
              <a:t>Predict </a:t>
            </a:r>
            <a:r>
              <a:rPr lang="en-US" dirty="0" smtClean="0">
                <a:solidFill>
                  <a:schemeClr val="folHlink"/>
                </a:solidFill>
              </a:rPr>
              <a:t>always taken</a:t>
            </a:r>
          </a:p>
          <a:p>
            <a:pPr lvl="1"/>
            <a:r>
              <a:rPr lang="en-US" dirty="0" smtClean="0"/>
              <a:t>Assume that jump will happen. Always fetch target instruction</a:t>
            </a:r>
            <a:endParaRPr lang="en-US" dirty="0" smtClean="0">
              <a:solidFill>
                <a:srgbClr val="000099"/>
              </a:solidFill>
            </a:endParaRPr>
          </a:p>
          <a:p>
            <a:r>
              <a:rPr lang="en-US" dirty="0" smtClean="0">
                <a:solidFill>
                  <a:schemeClr val="folHlink"/>
                </a:solidFill>
              </a:rPr>
              <a:t>Predict by </a:t>
            </a:r>
            <a:r>
              <a:rPr lang="en-US" dirty="0" err="1" smtClean="0">
                <a:solidFill>
                  <a:schemeClr val="folHlink"/>
                </a:solidFill>
              </a:rPr>
              <a:t>opcode</a:t>
            </a:r>
            <a:endParaRPr lang="en-US" dirty="0" smtClean="0">
              <a:solidFill>
                <a:schemeClr val="folHlink"/>
              </a:solidFill>
            </a:endParaRPr>
          </a:p>
          <a:p>
            <a:pPr lvl="1"/>
            <a:r>
              <a:rPr lang="en-US" dirty="0" smtClean="0"/>
              <a:t>Some instructions are more likely to result in a jump than </a:t>
            </a:r>
            <a:r>
              <a:rPr lang="en-US" dirty="0" smtClean="0"/>
              <a:t>others. Can </a:t>
            </a:r>
            <a:r>
              <a:rPr lang="en-US" dirty="0" smtClean="0"/>
              <a:t>get up to 75% </a:t>
            </a:r>
            <a:r>
              <a:rPr lang="en-US" dirty="0" smtClean="0"/>
              <a:t>success</a:t>
            </a:r>
          </a:p>
          <a:p>
            <a:r>
              <a:rPr lang="en-US" sz="3000" dirty="0" smtClean="0">
                <a:solidFill>
                  <a:schemeClr val="folHlink"/>
                </a:solidFill>
              </a:rPr>
              <a:t>Taken/Not taken switch</a:t>
            </a:r>
          </a:p>
          <a:p>
            <a:pPr lvl="1"/>
            <a:r>
              <a:rPr lang="en-US" sz="2600" dirty="0" smtClean="0"/>
              <a:t>Based on previous history</a:t>
            </a:r>
            <a:r>
              <a:rPr lang="en-US" sz="2600" dirty="0" smtClean="0"/>
              <a:t>.</a:t>
            </a:r>
          </a:p>
          <a:p>
            <a:pPr lvl="1"/>
            <a:endParaRPr lang="en-US" dirty="0" smtClean="0"/>
          </a:p>
          <a:p>
            <a:pPr>
              <a:buNone/>
            </a:pPr>
            <a:endParaRPr lang="en-US" sz="24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15</a:t>
            </a:fld>
            <a:endParaRPr lang="en-IN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4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24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924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9246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9246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9246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9246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9246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1-Bit Branch Predictor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16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Bit Branch Predictor</a:t>
            </a:r>
            <a:endParaRPr lang="en-US" dirty="0"/>
          </a:p>
        </p:txBody>
      </p:sp>
      <p:pic>
        <p:nvPicPr>
          <p:cNvPr id="93081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 cstate="print"/>
          <a:srcRect b="13513"/>
          <a:stretch>
            <a:fillRect/>
          </a:stretch>
        </p:blipFill>
        <p:spPr>
          <a:xfrm>
            <a:off x="3142994" y="1340768"/>
            <a:ext cx="6001006" cy="3246859"/>
          </a:xfrm>
          <a:noFill/>
          <a:ln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17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Delayed Branch</a:t>
            </a:r>
          </a:p>
        </p:txBody>
      </p:sp>
      <p:sp>
        <p:nvSpPr>
          <p:cNvPr id="933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340769"/>
            <a:ext cx="8640960" cy="5040560"/>
          </a:xfrm>
        </p:spPr>
        <p:txBody>
          <a:bodyPr/>
          <a:lstStyle/>
          <a:p>
            <a:r>
              <a:rPr lang="en-US" dirty="0" smtClean="0"/>
              <a:t>Do </a:t>
            </a:r>
            <a:r>
              <a:rPr lang="en-US" dirty="0"/>
              <a:t>not take jump until you have </a:t>
            </a:r>
            <a:r>
              <a:rPr lang="en-US" dirty="0" smtClean="0"/>
              <a:t>to…</a:t>
            </a:r>
            <a:endParaRPr lang="en-US" dirty="0"/>
          </a:p>
          <a:p>
            <a:r>
              <a:rPr lang="en-US" dirty="0"/>
              <a:t>Rearrange instructions</a:t>
            </a:r>
          </a:p>
          <a:p>
            <a:r>
              <a:rPr lang="en-US" dirty="0"/>
              <a:t>Example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solidFill>
                  <a:srgbClr val="0033CC"/>
                </a:solidFill>
              </a:rPr>
              <a:t>LOOP       </a:t>
            </a:r>
            <a:r>
              <a:rPr lang="en-US" sz="2400" dirty="0" err="1" smtClean="0">
                <a:solidFill>
                  <a:srgbClr val="0033CC"/>
                </a:solidFill>
              </a:rPr>
              <a:t>Shift_left</a:t>
            </a:r>
            <a:r>
              <a:rPr lang="en-US" sz="2400" dirty="0">
                <a:solidFill>
                  <a:srgbClr val="0033CC"/>
                </a:solidFill>
              </a:rPr>
              <a:t> </a:t>
            </a:r>
            <a:r>
              <a:rPr lang="en-US" sz="2400" dirty="0" smtClean="0">
                <a:solidFill>
                  <a:srgbClr val="0033CC"/>
                </a:solidFill>
              </a:rPr>
              <a:t>        R1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 smtClean="0">
                <a:solidFill>
                  <a:srgbClr val="0033CC"/>
                </a:solidFill>
              </a:rPr>
              <a:t>                 Decrement</a:t>
            </a:r>
            <a:r>
              <a:rPr lang="en-US" sz="2400" dirty="0">
                <a:solidFill>
                  <a:srgbClr val="0033CC"/>
                </a:solidFill>
              </a:rPr>
              <a:t> </a:t>
            </a:r>
            <a:r>
              <a:rPr lang="en-US" sz="2400" dirty="0" smtClean="0">
                <a:solidFill>
                  <a:srgbClr val="0033CC"/>
                </a:solidFill>
              </a:rPr>
              <a:t>     R2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 smtClean="0">
                <a:solidFill>
                  <a:srgbClr val="0033CC"/>
                </a:solidFill>
              </a:rPr>
              <a:t>                 </a:t>
            </a:r>
            <a:r>
              <a:rPr lang="en-US" sz="2400" dirty="0" err="1" smtClean="0">
                <a:solidFill>
                  <a:srgbClr val="0033CC"/>
                </a:solidFill>
              </a:rPr>
              <a:t>Brp</a:t>
            </a:r>
            <a:r>
              <a:rPr lang="en-US" sz="2400" dirty="0">
                <a:solidFill>
                  <a:srgbClr val="0033CC"/>
                </a:solidFill>
              </a:rPr>
              <a:t>	          </a:t>
            </a:r>
            <a:r>
              <a:rPr lang="en-US" sz="2400" dirty="0" smtClean="0">
                <a:solidFill>
                  <a:srgbClr val="0033CC"/>
                </a:solidFill>
              </a:rPr>
              <a:t>LOOP</a:t>
            </a:r>
            <a:endParaRPr lang="en-US" dirty="0">
              <a:solidFill>
                <a:srgbClr val="0033CC"/>
              </a:solidFill>
            </a:endParaRPr>
          </a:p>
          <a:p>
            <a:pPr lvl="1">
              <a:buFont typeface="Wingdings" pitchFamily="2" charset="2"/>
              <a:buNone/>
            </a:pPr>
            <a:r>
              <a:rPr lang="en-US" sz="2400" dirty="0">
                <a:solidFill>
                  <a:srgbClr val="0033CC"/>
                </a:solidFill>
              </a:rPr>
              <a:t>NEXT      </a:t>
            </a:r>
            <a:r>
              <a:rPr lang="en-US" sz="2400" dirty="0" smtClean="0">
                <a:solidFill>
                  <a:srgbClr val="0033CC"/>
                </a:solidFill>
              </a:rPr>
              <a:t> Add</a:t>
            </a:r>
            <a:r>
              <a:rPr lang="en-US" sz="2400" dirty="0">
                <a:solidFill>
                  <a:srgbClr val="0033CC"/>
                </a:solidFill>
              </a:rPr>
              <a:t>	</a:t>
            </a:r>
            <a:r>
              <a:rPr lang="en-US" sz="2400" dirty="0" smtClean="0">
                <a:solidFill>
                  <a:srgbClr val="0033CC"/>
                </a:solidFill>
              </a:rPr>
              <a:t>          R1,R3</a:t>
            </a:r>
            <a:endParaRPr lang="en-US" sz="2400" dirty="0">
              <a:solidFill>
                <a:srgbClr val="0033CC"/>
              </a:solidFill>
            </a:endParaRPr>
          </a:p>
        </p:txBody>
      </p:sp>
      <p:sp>
        <p:nvSpPr>
          <p:cNvPr id="933892" name="Text Box 4"/>
          <p:cNvSpPr txBox="1">
            <a:spLocks noChangeArrowheads="1"/>
          </p:cNvSpPr>
          <p:nvPr/>
        </p:nvSpPr>
        <p:spPr bwMode="auto">
          <a:xfrm>
            <a:off x="4860032" y="2852936"/>
            <a:ext cx="4032448" cy="194117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 lIns="0" tIns="46800" rIns="0" bIns="46800">
            <a:spAutoFit/>
          </a:bodyPr>
          <a:lstStyle/>
          <a:p>
            <a:pPr lvl="1"/>
            <a:r>
              <a:rPr kumimoji="1" lang="en-US" sz="2000" dirty="0">
                <a:solidFill>
                  <a:srgbClr val="0033CC"/>
                </a:solidFill>
                <a:latin typeface="Arial" charset="0"/>
              </a:rPr>
              <a:t>LOOP   Decrement	R2</a:t>
            </a:r>
          </a:p>
          <a:p>
            <a:pPr lvl="1"/>
            <a:r>
              <a:rPr kumimoji="1" lang="en-US" sz="2000" dirty="0">
                <a:solidFill>
                  <a:srgbClr val="0033CC"/>
                </a:solidFill>
                <a:latin typeface="Arial" charset="0"/>
              </a:rPr>
              <a:t>	      </a:t>
            </a:r>
            <a:r>
              <a:rPr kumimoji="1" lang="en-US" sz="2000" dirty="0" err="1" smtClean="0">
                <a:solidFill>
                  <a:srgbClr val="0033CC"/>
                </a:solidFill>
                <a:latin typeface="Arial" charset="0"/>
              </a:rPr>
              <a:t>Brp</a:t>
            </a:r>
            <a:r>
              <a:rPr kumimoji="1" lang="en-US" sz="2000" dirty="0" smtClean="0">
                <a:solidFill>
                  <a:srgbClr val="0033CC"/>
                </a:solidFill>
                <a:latin typeface="Arial" charset="0"/>
              </a:rPr>
              <a:t>  </a:t>
            </a:r>
            <a:r>
              <a:rPr kumimoji="1" lang="en-US" sz="2000" dirty="0">
                <a:solidFill>
                  <a:srgbClr val="0033CC"/>
                </a:solidFill>
                <a:latin typeface="Arial" charset="0"/>
              </a:rPr>
              <a:t>	LOOP</a:t>
            </a:r>
          </a:p>
          <a:p>
            <a:pPr lvl="1"/>
            <a:r>
              <a:rPr kumimoji="1" lang="en-US" sz="2000" dirty="0">
                <a:solidFill>
                  <a:srgbClr val="0033CC"/>
                </a:solidFill>
                <a:latin typeface="Arial" charset="0"/>
              </a:rPr>
              <a:t>	      </a:t>
            </a:r>
            <a:r>
              <a:rPr kumimoji="1" lang="en-US" sz="2000" dirty="0" err="1">
                <a:solidFill>
                  <a:srgbClr val="FF0000"/>
                </a:solidFill>
                <a:latin typeface="Arial" charset="0"/>
              </a:rPr>
              <a:t>Shift_left</a:t>
            </a:r>
            <a:r>
              <a:rPr kumimoji="1" lang="en-US" sz="2000" dirty="0">
                <a:solidFill>
                  <a:srgbClr val="FF0000"/>
                </a:solidFill>
                <a:latin typeface="Arial" charset="0"/>
              </a:rPr>
              <a:t>	R1</a:t>
            </a:r>
          </a:p>
          <a:p>
            <a:pPr lvl="1"/>
            <a:r>
              <a:rPr kumimoji="1" lang="en-US" sz="2000" dirty="0">
                <a:solidFill>
                  <a:srgbClr val="0033CC"/>
                </a:solidFill>
                <a:latin typeface="Arial" charset="0"/>
              </a:rPr>
              <a:t>NEXT   </a:t>
            </a:r>
            <a:r>
              <a:rPr kumimoji="1" lang="en-US" sz="2000" dirty="0" smtClean="0">
                <a:solidFill>
                  <a:srgbClr val="0033CC"/>
                </a:solidFill>
                <a:latin typeface="Arial" charset="0"/>
              </a:rPr>
              <a:t>Add</a:t>
            </a:r>
            <a:r>
              <a:rPr kumimoji="1" lang="en-US" sz="2000" dirty="0">
                <a:solidFill>
                  <a:srgbClr val="0033CC"/>
                </a:solidFill>
                <a:latin typeface="Arial" charset="0"/>
              </a:rPr>
              <a:t>	</a:t>
            </a:r>
            <a:r>
              <a:rPr kumimoji="1" lang="en-US" sz="2000" dirty="0" smtClean="0">
                <a:solidFill>
                  <a:srgbClr val="0033CC"/>
                </a:solidFill>
                <a:latin typeface="Arial" charset="0"/>
              </a:rPr>
              <a:t>	R1,R3</a:t>
            </a:r>
            <a:endParaRPr kumimoji="1" lang="en-US" sz="2000" dirty="0">
              <a:solidFill>
                <a:srgbClr val="0033CC"/>
              </a:solidFill>
              <a:latin typeface="Arial" charset="0"/>
            </a:endParaRPr>
          </a:p>
          <a:p>
            <a:endParaRPr lang="en-US" sz="2000" dirty="0">
              <a:latin typeface="Arial" charset="0"/>
            </a:endParaRPr>
          </a:p>
          <a:p>
            <a:r>
              <a:rPr lang="en-US" sz="2000" dirty="0" smtClean="0">
                <a:latin typeface="Arial" charset="0"/>
              </a:rPr>
              <a:t>       Reordered </a:t>
            </a:r>
            <a:r>
              <a:rPr lang="en-US" sz="2000" dirty="0">
                <a:latin typeface="Arial" charset="0"/>
              </a:rPr>
              <a:t>Instructions</a:t>
            </a:r>
          </a:p>
        </p:txBody>
      </p:sp>
      <p:sp>
        <p:nvSpPr>
          <p:cNvPr id="933893" name="Text Box 5"/>
          <p:cNvSpPr txBox="1">
            <a:spLocks noChangeArrowheads="1"/>
          </p:cNvSpPr>
          <p:nvPr/>
        </p:nvSpPr>
        <p:spPr bwMode="auto">
          <a:xfrm>
            <a:off x="395288" y="5589240"/>
            <a:ext cx="8281168" cy="710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en-US" sz="2000" dirty="0">
                <a:solidFill>
                  <a:srgbClr val="8B3B7A"/>
                </a:solidFill>
              </a:rPr>
              <a:t>The location following a </a:t>
            </a:r>
            <a:r>
              <a:rPr lang="en-US" sz="2000" dirty="0" smtClean="0">
                <a:solidFill>
                  <a:srgbClr val="8B3B7A"/>
                </a:solidFill>
              </a:rPr>
              <a:t>branch instruction </a:t>
            </a:r>
            <a:r>
              <a:rPr lang="en-US" sz="2000" dirty="0">
                <a:solidFill>
                  <a:srgbClr val="8B3B7A"/>
                </a:solidFill>
              </a:rPr>
              <a:t>is called a branch delay </a:t>
            </a:r>
            <a:r>
              <a:rPr lang="en-US" sz="2000" dirty="0" smtClean="0">
                <a:solidFill>
                  <a:srgbClr val="8B3B7A"/>
                </a:solidFill>
              </a:rPr>
              <a:t>slot</a:t>
            </a:r>
          </a:p>
          <a:p>
            <a:r>
              <a:rPr lang="en-US" sz="2000" dirty="0" smtClean="0">
                <a:solidFill>
                  <a:srgbClr val="8B3B7A"/>
                </a:solidFill>
              </a:rPr>
              <a:t>The objective is to utilize the slot by putting useful instruction.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18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3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3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3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3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93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93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93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3892" grpId="0" animBg="1"/>
      <p:bldP spid="93389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RISC Pipelining</a:t>
            </a:r>
          </a:p>
        </p:txBody>
      </p:sp>
      <p:sp>
        <p:nvSpPr>
          <p:cNvPr id="934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40767"/>
            <a:ext cx="8458200" cy="5040561"/>
          </a:xfrm>
        </p:spPr>
        <p:txBody>
          <a:bodyPr>
            <a:normAutofit lnSpcReduction="10000"/>
          </a:bodyPr>
          <a:lstStyle/>
          <a:p>
            <a:r>
              <a:rPr lang="en-GB" dirty="0" smtClean="0">
                <a:solidFill>
                  <a:srgbClr val="8B3B7A"/>
                </a:solidFill>
              </a:rPr>
              <a:t>Most </a:t>
            </a:r>
            <a:r>
              <a:rPr lang="en-GB" dirty="0">
                <a:solidFill>
                  <a:srgbClr val="8B3B7A"/>
                </a:solidFill>
              </a:rPr>
              <a:t>instructions are register to register</a:t>
            </a:r>
          </a:p>
          <a:p>
            <a:pPr lvl="1"/>
            <a:r>
              <a:rPr lang="en-GB" dirty="0" smtClean="0"/>
              <a:t>I</a:t>
            </a:r>
            <a:r>
              <a:rPr lang="en-GB" dirty="0"/>
              <a:t>: Instruction fetch</a:t>
            </a:r>
          </a:p>
          <a:p>
            <a:pPr lvl="1"/>
            <a:r>
              <a:rPr lang="en-GB" dirty="0"/>
              <a:t>E: Execute</a:t>
            </a:r>
          </a:p>
          <a:p>
            <a:pPr lvl="2"/>
            <a:r>
              <a:rPr lang="en-GB" dirty="0"/>
              <a:t>ALU operation with register input and output</a:t>
            </a:r>
            <a:endParaRPr lang="en-GB" dirty="0">
              <a:solidFill>
                <a:srgbClr val="000099"/>
              </a:solidFill>
            </a:endParaRPr>
          </a:p>
          <a:p>
            <a:r>
              <a:rPr lang="en-GB" dirty="0">
                <a:solidFill>
                  <a:srgbClr val="8B3B7A"/>
                </a:solidFill>
              </a:rPr>
              <a:t>For load and store</a:t>
            </a:r>
          </a:p>
          <a:p>
            <a:pPr lvl="1"/>
            <a:r>
              <a:rPr lang="en-GB" dirty="0" smtClean="0"/>
              <a:t>I</a:t>
            </a:r>
            <a:r>
              <a:rPr lang="en-GB" dirty="0"/>
              <a:t>: Instruction fetch</a:t>
            </a:r>
          </a:p>
          <a:p>
            <a:pPr lvl="1"/>
            <a:r>
              <a:rPr lang="en-GB" dirty="0"/>
              <a:t>E: Execute</a:t>
            </a:r>
          </a:p>
          <a:p>
            <a:pPr lvl="2"/>
            <a:r>
              <a:rPr lang="en-GB" dirty="0"/>
              <a:t>Calculate memory address</a:t>
            </a:r>
          </a:p>
          <a:p>
            <a:pPr lvl="1"/>
            <a:r>
              <a:rPr lang="en-GB" dirty="0"/>
              <a:t>D: Memory</a:t>
            </a:r>
          </a:p>
          <a:p>
            <a:pPr lvl="2"/>
            <a:r>
              <a:rPr lang="en-GB" dirty="0"/>
              <a:t>Register to memory or memory to register operation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19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RISC Pipeline Example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20</a:t>
            </a:fld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412776"/>
            <a:ext cx="6843083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79712" y="3767683"/>
            <a:ext cx="6578847" cy="2253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Four Stage RISC Pipelining</a:t>
            </a:r>
            <a:endParaRPr lang="en-US" dirty="0"/>
          </a:p>
        </p:txBody>
      </p:sp>
      <p:sp>
        <p:nvSpPr>
          <p:cNvPr id="94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68760"/>
            <a:ext cx="8568952" cy="5112568"/>
          </a:xfrm>
        </p:spPr>
        <p:txBody>
          <a:bodyPr/>
          <a:lstStyle/>
          <a:p>
            <a:r>
              <a:rPr lang="en-US" dirty="0"/>
              <a:t>E stage usually involves an ALU operation, it may be longer. So we can divide into two stages</a:t>
            </a:r>
          </a:p>
          <a:p>
            <a:pPr lvl="1"/>
            <a:r>
              <a:rPr lang="en-US" dirty="0"/>
              <a:t>E1: Register file read</a:t>
            </a:r>
          </a:p>
          <a:p>
            <a:pPr lvl="1"/>
            <a:r>
              <a:rPr lang="en-US" dirty="0"/>
              <a:t>E2: ALU operation and register write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21</a:t>
            </a:fld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5855" y="3356992"/>
            <a:ext cx="5736909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70912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Pipeline Hazards</a:t>
            </a:r>
          </a:p>
          <a:p>
            <a:pPr lvl="1"/>
            <a:r>
              <a:rPr lang="en-US" sz="3200" dirty="0" smtClean="0"/>
              <a:t>Data Hazards</a:t>
            </a:r>
          </a:p>
          <a:p>
            <a:pPr lvl="1"/>
            <a:r>
              <a:rPr lang="en-US" sz="3200" dirty="0" smtClean="0"/>
              <a:t>Resource Hazards</a:t>
            </a:r>
          </a:p>
          <a:p>
            <a:pPr lvl="1"/>
            <a:r>
              <a:rPr lang="en-US" sz="3200" dirty="0" smtClean="0"/>
              <a:t>Instruction </a:t>
            </a:r>
            <a:r>
              <a:rPr lang="en-US" sz="3200" dirty="0" smtClean="0"/>
              <a:t>Hazards</a:t>
            </a:r>
          </a:p>
          <a:p>
            <a:pPr lvl="2"/>
            <a:r>
              <a:rPr lang="en-US" dirty="0" smtClean="0"/>
              <a:t>Branch </a:t>
            </a:r>
            <a:r>
              <a:rPr lang="en-US" dirty="0" smtClean="0"/>
              <a:t>P</a:t>
            </a:r>
            <a:r>
              <a:rPr lang="en-US" dirty="0" smtClean="0"/>
              <a:t>rediction Algorithms</a:t>
            </a:r>
            <a:endParaRPr lang="en-US" dirty="0" smtClean="0"/>
          </a:p>
          <a:p>
            <a:r>
              <a:rPr lang="en-US" dirty="0" smtClean="0"/>
              <a:t>RISC Pipeline as an Example</a:t>
            </a:r>
          </a:p>
          <a:p>
            <a:pPr lvl="1"/>
            <a:endParaRPr lang="en-US" sz="32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sz="4400" dirty="0" smtClean="0"/>
              <a:t>Thank You!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23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94405D97371449A1F1274BEB9B26D" ma:contentTypeVersion="7" ma:contentTypeDescription="Create a new document." ma:contentTypeScope="" ma:versionID="4d714d6f4e02b8797c18bae80915866a">
  <xsd:schema xmlns:xsd="http://www.w3.org/2001/XMLSchema" xmlns:xs="http://www.w3.org/2001/XMLSchema" xmlns:p="http://schemas.microsoft.com/office/2006/metadata/properties" xmlns:ns2="682cbc32-fee7-4912-b25f-d1e036e61d30" targetNamespace="http://schemas.microsoft.com/office/2006/metadata/properties" ma:root="true" ma:fieldsID="89d7d93295ea2ddc158f52b603a4dbe0" ns2:_="">
    <xsd:import namespace="682cbc32-fee7-4912-b25f-d1e036e61d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cbc32-fee7-4912-b25f-d1e036e61d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9554025-841B-49A2-8B4C-5FCEE3EA1BFB}"/>
</file>

<file path=customXml/itemProps2.xml><?xml version="1.0" encoding="utf-8"?>
<ds:datastoreItem xmlns:ds="http://schemas.openxmlformats.org/officeDocument/2006/customXml" ds:itemID="{8A722C7A-83DA-430E-97B7-1FD4C962C349}"/>
</file>

<file path=customXml/itemProps3.xml><?xml version="1.0" encoding="utf-8"?>
<ds:datastoreItem xmlns:ds="http://schemas.openxmlformats.org/officeDocument/2006/customXml" ds:itemID="{8AA443A1-125F-4DFA-9C69-ACB9F0254643}"/>
</file>

<file path=docProps/app.xml><?xml version="1.0" encoding="utf-8"?>
<Properties xmlns="http://schemas.openxmlformats.org/officeDocument/2006/extended-properties" xmlns:vt="http://schemas.openxmlformats.org/officeDocument/2006/docPropsVTypes">
  <TotalTime>2450</TotalTime>
  <Words>784</Words>
  <Application>Microsoft Office PowerPoint</Application>
  <PresentationFormat>On-screen Show (4:3)</PresentationFormat>
  <Paragraphs>196</Paragraphs>
  <Slides>23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Office Theme</vt:lpstr>
      <vt:lpstr>1_Office Theme</vt:lpstr>
      <vt:lpstr>Computer Organization &amp; Architecture</vt:lpstr>
      <vt:lpstr>Slide 2</vt:lpstr>
      <vt:lpstr>Four Stage Pipeline</vt:lpstr>
      <vt:lpstr>Stalls/Hazards in Pipeline</vt:lpstr>
      <vt:lpstr>Data Hazards</vt:lpstr>
      <vt:lpstr>Solution for RAW Dependency</vt:lpstr>
      <vt:lpstr>Resource Hazards</vt:lpstr>
      <vt:lpstr>Instruction/Control Hazards</vt:lpstr>
      <vt:lpstr>Example: Instruction Hazard</vt:lpstr>
      <vt:lpstr>Handling Unconditional Branch</vt:lpstr>
      <vt:lpstr>Handling Conditional Branches-1</vt:lpstr>
      <vt:lpstr>Handling Conditional Branches-2</vt:lpstr>
      <vt:lpstr>Review Questions</vt:lpstr>
      <vt:lpstr>Solution</vt:lpstr>
      <vt:lpstr>Prediction Based Algorithms for  Handling Conditional Branches</vt:lpstr>
      <vt:lpstr>1-Bit Branch Predictor</vt:lpstr>
      <vt:lpstr>Two Bit Branch Predictor</vt:lpstr>
      <vt:lpstr>Delayed Branch</vt:lpstr>
      <vt:lpstr>RISC Pipelining</vt:lpstr>
      <vt:lpstr>RISC Pipeline Example</vt:lpstr>
      <vt:lpstr>Four Stage RISC Pipelining</vt:lpstr>
      <vt:lpstr>Summary</vt:lpstr>
      <vt:lpstr>Slide 23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Pilani presentation</dc:title>
  <dc:creator>lakshya</dc:creator>
  <cp:lastModifiedBy>Dell</cp:lastModifiedBy>
  <cp:revision>252</cp:revision>
  <dcterms:created xsi:type="dcterms:W3CDTF">2012-01-02T05:05:52Z</dcterms:created>
  <dcterms:modified xsi:type="dcterms:W3CDTF">2012-06-29T05:44:45Z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0x01010028994405D97371449A1F1274BEB9B26D</vt:lpwstr>
  </property>
</Properties>
</file>